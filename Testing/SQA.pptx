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773E3-3471-E8FC-A1F6-5E545FB385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865BD1-1F37-0B2E-F8B9-78B85EDAC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5A7B49-0D7B-C40C-E28E-CBCC4BD2DFAB}"/>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5" name="Footer Placeholder 4">
            <a:extLst>
              <a:ext uri="{FF2B5EF4-FFF2-40B4-BE49-F238E27FC236}">
                <a16:creationId xmlns:a16="http://schemas.microsoft.com/office/drawing/2014/main" id="{419BB8D1-1605-B8B6-4D35-6E0C77D389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541A0A-97AB-D86A-7FC9-15BE84C6D6B0}"/>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1890413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21B91-1CAA-82CD-FEB8-FE7304C415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983696-862A-7A47-72A2-FF89E12651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0341A-F451-885E-DF31-03E2E11CEB82}"/>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5" name="Footer Placeholder 4">
            <a:extLst>
              <a:ext uri="{FF2B5EF4-FFF2-40B4-BE49-F238E27FC236}">
                <a16:creationId xmlns:a16="http://schemas.microsoft.com/office/drawing/2014/main" id="{AF2813C0-B8B1-E549-C9DC-D6DAD7ED1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6909D5-A214-3EC2-6F99-1DFF65713004}"/>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1309155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CBF85-D499-BC2D-925B-2468C81B01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9B3436-0693-A6BB-0D8B-D9EB9A8231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60C83C-2319-6FF0-C779-2D8C6717EF1F}"/>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5" name="Footer Placeholder 4">
            <a:extLst>
              <a:ext uri="{FF2B5EF4-FFF2-40B4-BE49-F238E27FC236}">
                <a16:creationId xmlns:a16="http://schemas.microsoft.com/office/drawing/2014/main" id="{3B4B7F95-4ACA-5BAD-1023-F5545690E5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80839F-F3A9-B553-E6E4-1B61C528D454}"/>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1369055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330B3-BFF9-3BEB-FDAA-03A54671E8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0D4D6A-912F-98CA-5B43-D5DCCC238B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15FEFE-B36A-0661-F671-457BA42634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2203DE-EC73-82F8-9F67-922C81D5ABFC}"/>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6" name="Footer Placeholder 5">
            <a:extLst>
              <a:ext uri="{FF2B5EF4-FFF2-40B4-BE49-F238E27FC236}">
                <a16:creationId xmlns:a16="http://schemas.microsoft.com/office/drawing/2014/main" id="{A0E3731E-D838-D108-C8B6-3F827FF5A7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71C27-E424-F821-D976-BE99D2C4E67C}"/>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194224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D7052-7E8C-2CB8-18C1-7EF89B1BAD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734046-27BD-554D-B0A2-40245311F0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01D748-52C1-56F4-C2A2-97BA2B2C53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22CBE1-33DA-BC7A-93DA-81C48A279A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5BCECF-6066-2734-7218-C1E28088EC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ED97C6-7A3B-C5C5-2AF5-4164C80EDF56}"/>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8" name="Footer Placeholder 7">
            <a:extLst>
              <a:ext uri="{FF2B5EF4-FFF2-40B4-BE49-F238E27FC236}">
                <a16:creationId xmlns:a16="http://schemas.microsoft.com/office/drawing/2014/main" id="{CE3DD146-606B-7549-A6A8-EDC3E8D11C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3AC261-2ABC-BA10-5CFE-4C42704E5745}"/>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1044071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8A41-90B3-9D98-F5C7-1E3E817855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6359C-1F29-DC24-9573-0AF6C6B2FB28}"/>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4" name="Footer Placeholder 3">
            <a:extLst>
              <a:ext uri="{FF2B5EF4-FFF2-40B4-BE49-F238E27FC236}">
                <a16:creationId xmlns:a16="http://schemas.microsoft.com/office/drawing/2014/main" id="{1A81DE7F-7F54-B97F-4913-98F5A5328E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B0104-A615-7A71-0A88-9669D178614C}"/>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233111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3018CD-10D8-31C8-8F64-EC0E376446A8}"/>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3" name="Footer Placeholder 2">
            <a:extLst>
              <a:ext uri="{FF2B5EF4-FFF2-40B4-BE49-F238E27FC236}">
                <a16:creationId xmlns:a16="http://schemas.microsoft.com/office/drawing/2014/main" id="{49A0E8F8-7FD1-E9AF-471A-A16FC9DC19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50B4DE-041C-4901-ACDA-EA4856B34840}"/>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3936725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B5F3-988E-6CE3-8FC8-536E9A2645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A23048-2D30-A56A-0D78-FC1455B1A3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50C182-2EF1-3AE5-0094-250901400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0ACDCC-2446-B6FA-025F-62896120295A}"/>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6" name="Footer Placeholder 5">
            <a:extLst>
              <a:ext uri="{FF2B5EF4-FFF2-40B4-BE49-F238E27FC236}">
                <a16:creationId xmlns:a16="http://schemas.microsoft.com/office/drawing/2014/main" id="{BD7BDA52-D71A-ACAC-E2A2-BBA3C47234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F822FD-7C5B-1BD8-ED05-EDE570FF384D}"/>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3617805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3F33D-0B5D-4648-5977-0607DE1E1F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C94A75-A064-1153-698D-8089D7248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36203F-A318-A31F-BA32-1B4E44475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DD16DB-8D83-18CE-D70A-4EA5D97E16C1}"/>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6" name="Footer Placeholder 5">
            <a:extLst>
              <a:ext uri="{FF2B5EF4-FFF2-40B4-BE49-F238E27FC236}">
                <a16:creationId xmlns:a16="http://schemas.microsoft.com/office/drawing/2014/main" id="{F851816B-F7ED-B024-E548-FB660D31D2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0156D0-3A05-9E4C-2CF0-F48617B68F0E}"/>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974433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49835-DB06-6E91-92D2-C28B3BD05A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6B08EE-96A3-E894-2806-2151FDB91D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936CD1-6374-A496-9E24-59F85B651763}"/>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5" name="Footer Placeholder 4">
            <a:extLst>
              <a:ext uri="{FF2B5EF4-FFF2-40B4-BE49-F238E27FC236}">
                <a16:creationId xmlns:a16="http://schemas.microsoft.com/office/drawing/2014/main" id="{AECBDF26-F089-DEBF-0F60-A71682194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81D90-8FF2-936C-EFE3-315D7160717C}"/>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27395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CAA685-3EC8-B66E-AEA3-5AC13E07AE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DDB890-FBA1-36C2-E804-EEA94B8E18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E91AD6-2FE3-AEA8-3637-18BCA78E01E2}"/>
              </a:ext>
            </a:extLst>
          </p:cNvPr>
          <p:cNvSpPr>
            <a:spLocks noGrp="1"/>
          </p:cNvSpPr>
          <p:nvPr>
            <p:ph type="dt" sz="half" idx="10"/>
          </p:nvPr>
        </p:nvSpPr>
        <p:spPr/>
        <p:txBody>
          <a:bodyPr/>
          <a:lstStyle/>
          <a:p>
            <a:fld id="{C0508B5B-D0EE-4358-821C-49C703259290}" type="datetimeFigureOut">
              <a:rPr lang="en-US" smtClean="0"/>
              <a:t>9/1/2025</a:t>
            </a:fld>
            <a:endParaRPr lang="en-US"/>
          </a:p>
        </p:txBody>
      </p:sp>
      <p:sp>
        <p:nvSpPr>
          <p:cNvPr id="5" name="Footer Placeholder 4">
            <a:extLst>
              <a:ext uri="{FF2B5EF4-FFF2-40B4-BE49-F238E27FC236}">
                <a16:creationId xmlns:a16="http://schemas.microsoft.com/office/drawing/2014/main" id="{41D4BBF9-DFD1-81C2-5F7F-9FCB038B43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DBC887-619F-BB32-4860-1E1BAF62D5D7}"/>
              </a:ext>
            </a:extLst>
          </p:cNvPr>
          <p:cNvSpPr>
            <a:spLocks noGrp="1"/>
          </p:cNvSpPr>
          <p:nvPr>
            <p:ph type="sldNum" sz="quarter" idx="12"/>
          </p:nvPr>
        </p:nvSpPr>
        <p:spPr/>
        <p:txBody>
          <a:bodyPr/>
          <a:lstStyle/>
          <a:p>
            <a:fld id="{AE331521-720C-4E97-B6A0-6A47FB363F8F}" type="slidenum">
              <a:rPr lang="en-US" smtClean="0"/>
              <a:t>‹#›</a:t>
            </a:fld>
            <a:endParaRPr lang="en-US"/>
          </a:p>
        </p:txBody>
      </p:sp>
    </p:spTree>
    <p:extLst>
      <p:ext uri="{BB962C8B-B14F-4D97-AF65-F5344CB8AC3E}">
        <p14:creationId xmlns:p14="http://schemas.microsoft.com/office/powerpoint/2010/main" val="101093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54B280-DDC7-04C5-864A-72EF4F956D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E94A3E-DA49-9DE8-9583-CF516C36B7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0AED9C-ADB7-7BDC-93EC-1FC1F60671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508B5B-D0EE-4358-821C-49C703259290}" type="datetimeFigureOut">
              <a:rPr lang="en-US" smtClean="0"/>
              <a:t>9/1/2025</a:t>
            </a:fld>
            <a:endParaRPr lang="en-US"/>
          </a:p>
        </p:txBody>
      </p:sp>
      <p:sp>
        <p:nvSpPr>
          <p:cNvPr id="5" name="Footer Placeholder 4">
            <a:extLst>
              <a:ext uri="{FF2B5EF4-FFF2-40B4-BE49-F238E27FC236}">
                <a16:creationId xmlns:a16="http://schemas.microsoft.com/office/drawing/2014/main" id="{09CCA0C7-2B80-69B8-7564-6A3411B5C9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BDF787-4523-7AF6-FE21-5FF1CE5CBC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331521-720C-4E97-B6A0-6A47FB363F8F}" type="slidenum">
              <a:rPr lang="en-US" smtClean="0"/>
              <a:t>‹#›</a:t>
            </a:fld>
            <a:endParaRPr lang="en-US"/>
          </a:p>
        </p:txBody>
      </p:sp>
    </p:spTree>
    <p:extLst>
      <p:ext uri="{BB962C8B-B14F-4D97-AF65-F5344CB8AC3E}">
        <p14:creationId xmlns:p14="http://schemas.microsoft.com/office/powerpoint/2010/main" val="1604443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D4C4D-FC92-9E37-9C79-DE70DA2461D4}"/>
              </a:ext>
            </a:extLst>
          </p:cNvPr>
          <p:cNvSpPr>
            <a:spLocks noGrp="1"/>
          </p:cNvSpPr>
          <p:nvPr>
            <p:ph type="ctrTitle"/>
          </p:nvPr>
        </p:nvSpPr>
        <p:spPr>
          <a:xfrm>
            <a:off x="1524000" y="1520575"/>
            <a:ext cx="9144000" cy="2887038"/>
          </a:xfrm>
        </p:spPr>
        <p:txBody>
          <a:bodyPr>
            <a:normAutofit fontScale="90000"/>
          </a:bodyPr>
          <a:lstStyle/>
          <a:p>
            <a:r>
              <a:rPr lang="en-US" b="1" dirty="0"/>
              <a:t>Software Quality Assurance Plan in Software Development</a:t>
            </a:r>
            <a:br>
              <a:rPr lang="en-US" b="1" dirty="0"/>
            </a:br>
            <a:endParaRPr lang="en-US" dirty="0"/>
          </a:p>
        </p:txBody>
      </p:sp>
      <p:sp>
        <p:nvSpPr>
          <p:cNvPr id="3" name="Subtitle 2">
            <a:extLst>
              <a:ext uri="{FF2B5EF4-FFF2-40B4-BE49-F238E27FC236}">
                <a16:creationId xmlns:a16="http://schemas.microsoft.com/office/drawing/2014/main" id="{40F0544A-C83E-8269-98FF-ED0686BBDECE}"/>
              </a:ext>
            </a:extLst>
          </p:cNvPr>
          <p:cNvSpPr>
            <a:spLocks noGrp="1"/>
          </p:cNvSpPr>
          <p:nvPr>
            <p:ph type="subTitle" idx="1"/>
          </p:nvPr>
        </p:nvSpPr>
        <p:spPr/>
        <p:txBody>
          <a:bodyPr/>
          <a:lstStyle/>
          <a:p>
            <a:r>
              <a:rPr lang="en-US" dirty="0"/>
              <a:t>Unit 3</a:t>
            </a:r>
          </a:p>
          <a:p>
            <a:endParaRPr lang="en-US" dirty="0"/>
          </a:p>
        </p:txBody>
      </p:sp>
    </p:spTree>
    <p:extLst>
      <p:ext uri="{BB962C8B-B14F-4D97-AF65-F5344CB8AC3E}">
        <p14:creationId xmlns:p14="http://schemas.microsoft.com/office/powerpoint/2010/main" val="424240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470E5-8C6D-F1F8-3C4E-B092FC52723E}"/>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2B1F4E38-2210-E760-80EC-9B34748726AE}"/>
              </a:ext>
            </a:extLst>
          </p:cNvPr>
          <p:cNvSpPr>
            <a:spLocks noGrp="1"/>
          </p:cNvSpPr>
          <p:nvPr>
            <p:ph idx="1"/>
          </p:nvPr>
        </p:nvSpPr>
        <p:spPr/>
        <p:txBody>
          <a:bodyPr/>
          <a:lstStyle/>
          <a:p>
            <a:pPr marL="0" indent="0" algn="just" fontAlgn="base">
              <a:buNone/>
            </a:pPr>
            <a:r>
              <a:rPr lang="en-US" dirty="0"/>
              <a:t>A software quality assurance plan's main goal is to guarantee that the market's product or service is trouble- and bug-free. Additionally, it must fulfill the specifications listed in the SRS (software requirement specification).</a:t>
            </a:r>
          </a:p>
          <a:p>
            <a:pPr marL="0" indent="0" algn="just" fontAlgn="base">
              <a:buNone/>
            </a:pPr>
            <a:r>
              <a:rPr lang="en-US" b="1" dirty="0"/>
              <a:t>An SQA plan serves three purposes. It includes the following:</a:t>
            </a:r>
          </a:p>
          <a:p>
            <a:pPr algn="just" fontAlgn="base"/>
            <a:endParaRPr lang="en-US" dirty="0"/>
          </a:p>
          <a:p>
            <a:pPr lvl="1" algn="just" fontAlgn="base"/>
            <a:r>
              <a:rPr lang="en-US" dirty="0"/>
              <a:t>Determining the QA duties assigned to the concerned team.</a:t>
            </a:r>
          </a:p>
          <a:p>
            <a:pPr lvl="1" algn="just" fontAlgn="base"/>
            <a:r>
              <a:rPr lang="en-US" dirty="0"/>
              <a:t>A list of the areas that require review, audit, and examination.</a:t>
            </a:r>
          </a:p>
          <a:p>
            <a:pPr lvl="1" algn="just" fontAlgn="base"/>
            <a:r>
              <a:rPr lang="en-US" dirty="0"/>
              <a:t>Determines the work products for SQA.</a:t>
            </a:r>
          </a:p>
          <a:p>
            <a:pPr algn="just"/>
            <a:endParaRPr lang="en-US" dirty="0"/>
          </a:p>
        </p:txBody>
      </p:sp>
    </p:spTree>
    <p:extLst>
      <p:ext uri="{BB962C8B-B14F-4D97-AF65-F5344CB8AC3E}">
        <p14:creationId xmlns:p14="http://schemas.microsoft.com/office/powerpoint/2010/main" val="2903512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5F384E-9AC7-4F0B-BC90-FD8945672227}"/>
              </a:ext>
            </a:extLst>
          </p:cNvPr>
          <p:cNvPicPr>
            <a:picLocks noChangeAspect="1"/>
          </p:cNvPicPr>
          <p:nvPr/>
        </p:nvPicPr>
        <p:blipFill>
          <a:blip r:embed="rId2"/>
          <a:stretch>
            <a:fillRect/>
          </a:stretch>
        </p:blipFill>
        <p:spPr>
          <a:xfrm>
            <a:off x="6705318" y="1982911"/>
            <a:ext cx="5486682" cy="3832261"/>
          </a:xfrm>
          <a:prstGeom prst="rect">
            <a:avLst/>
          </a:prstGeom>
        </p:spPr>
      </p:pic>
      <p:sp>
        <p:nvSpPr>
          <p:cNvPr id="2" name="Title 1">
            <a:extLst>
              <a:ext uri="{FF2B5EF4-FFF2-40B4-BE49-F238E27FC236}">
                <a16:creationId xmlns:a16="http://schemas.microsoft.com/office/drawing/2014/main" id="{3D1A0DDB-434F-240E-6483-242D0534D5E9}"/>
              </a:ext>
            </a:extLst>
          </p:cNvPr>
          <p:cNvSpPr>
            <a:spLocks noGrp="1"/>
          </p:cNvSpPr>
          <p:nvPr>
            <p:ph type="title"/>
          </p:nvPr>
        </p:nvSpPr>
        <p:spPr/>
        <p:txBody>
          <a:bodyPr/>
          <a:lstStyle/>
          <a:p>
            <a:r>
              <a:rPr lang="en-US" dirty="0"/>
              <a:t>What is a Software Quality Assurance Plan?</a:t>
            </a:r>
          </a:p>
        </p:txBody>
      </p:sp>
      <p:sp>
        <p:nvSpPr>
          <p:cNvPr id="3" name="Content Placeholder 2">
            <a:extLst>
              <a:ext uri="{FF2B5EF4-FFF2-40B4-BE49-F238E27FC236}">
                <a16:creationId xmlns:a16="http://schemas.microsoft.com/office/drawing/2014/main" id="{D8E04D56-5DE9-2CF6-81BF-A3B0A22F855B}"/>
              </a:ext>
            </a:extLst>
          </p:cNvPr>
          <p:cNvSpPr>
            <a:spLocks noGrp="1"/>
          </p:cNvSpPr>
          <p:nvPr>
            <p:ph idx="1"/>
          </p:nvPr>
        </p:nvSpPr>
        <p:spPr>
          <a:xfrm>
            <a:off x="349322" y="1825625"/>
            <a:ext cx="6493268" cy="4667250"/>
          </a:xfrm>
        </p:spPr>
        <p:txBody>
          <a:bodyPr>
            <a:normAutofit fontScale="77500" lnSpcReduction="20000"/>
          </a:bodyPr>
          <a:lstStyle/>
          <a:p>
            <a:pPr algn="just"/>
            <a:r>
              <a:rPr lang="en-US" dirty="0"/>
              <a:t>A Quality Assurance Plan (QAP) is a document or set of documents that outlines the systematic processes, procedures, and standards for ensuring the quality of a product or service. </a:t>
            </a:r>
          </a:p>
          <a:p>
            <a:pPr algn="just"/>
            <a:r>
              <a:rPr lang="en-US" dirty="0"/>
              <a:t>It is a key component of quality management and is used in various industries to establish and maintain a consistent level of quality in deliverables. </a:t>
            </a:r>
          </a:p>
          <a:p>
            <a:pPr algn="just"/>
            <a:r>
              <a:rPr lang="en-US" dirty="0"/>
              <a:t>For a software product or service, an SQA plan will be used in conjunction with the typical development, prototyping, design, production, and release cycle. </a:t>
            </a:r>
          </a:p>
          <a:p>
            <a:pPr algn="just"/>
            <a:r>
              <a:rPr lang="en-US" dirty="0"/>
              <a:t>An SQA plan will include several components, such as purpose, references, configuration and management, tools, code controls, testing methodology, problem reporting and remedial measures, and more, for easy documentation and referencing.</a:t>
            </a:r>
          </a:p>
        </p:txBody>
      </p:sp>
    </p:spTree>
    <p:extLst>
      <p:ext uri="{BB962C8B-B14F-4D97-AF65-F5344CB8AC3E}">
        <p14:creationId xmlns:p14="http://schemas.microsoft.com/office/powerpoint/2010/main" val="184378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E672-774A-1CCC-C2F8-93054154A1A4}"/>
              </a:ext>
            </a:extLst>
          </p:cNvPr>
          <p:cNvSpPr>
            <a:spLocks noGrp="1"/>
          </p:cNvSpPr>
          <p:nvPr>
            <p:ph type="title"/>
          </p:nvPr>
        </p:nvSpPr>
        <p:spPr/>
        <p:txBody>
          <a:bodyPr/>
          <a:lstStyle/>
          <a:p>
            <a:r>
              <a:rPr lang="en-US" dirty="0"/>
              <a:t>Importance of Software Quality Assurance Plan</a:t>
            </a:r>
          </a:p>
        </p:txBody>
      </p:sp>
      <p:sp>
        <p:nvSpPr>
          <p:cNvPr id="3" name="Content Placeholder 2">
            <a:extLst>
              <a:ext uri="{FF2B5EF4-FFF2-40B4-BE49-F238E27FC236}">
                <a16:creationId xmlns:a16="http://schemas.microsoft.com/office/drawing/2014/main" id="{3D548EEB-F754-29BA-D0DD-BCE4CFDC2E67}"/>
              </a:ext>
            </a:extLst>
          </p:cNvPr>
          <p:cNvSpPr>
            <a:spLocks noGrp="1"/>
          </p:cNvSpPr>
          <p:nvPr>
            <p:ph idx="1"/>
          </p:nvPr>
        </p:nvSpPr>
        <p:spPr/>
        <p:txBody>
          <a:bodyPr/>
          <a:lstStyle/>
          <a:p>
            <a:pPr algn="just" fontAlgn="base"/>
            <a:r>
              <a:rPr lang="en-US" b="1" dirty="0"/>
              <a:t>Quality Standards and Guidelines:</a:t>
            </a:r>
            <a:r>
              <a:rPr lang="en-US" dirty="0"/>
              <a:t> The SQA Plan lays out the requirements and guidelines to make sure the programme satisfies predetermined standards for quality.</a:t>
            </a:r>
          </a:p>
          <a:p>
            <a:pPr algn="just" fontAlgn="base"/>
            <a:r>
              <a:rPr lang="en-US" b="1" dirty="0"/>
              <a:t>Risk management:</a:t>
            </a:r>
            <a:r>
              <a:rPr lang="en-US" dirty="0"/>
              <a:t> It is the process of recognizing, evaluating and controlling risks in order to reduce the possibility of errors and other problems with quality.</a:t>
            </a:r>
          </a:p>
          <a:p>
            <a:pPr algn="just" fontAlgn="base"/>
            <a:r>
              <a:rPr lang="en-US" b="1" dirty="0"/>
              <a:t>Standardization and Consistency:</a:t>
            </a:r>
            <a:r>
              <a:rPr lang="en-US" dirty="0"/>
              <a:t> The strategy guarantees consistent methods, processes, and procedures, fostering a unified and well-structured approach to quality assurance.</a:t>
            </a:r>
          </a:p>
          <a:p>
            <a:pPr algn="just"/>
            <a:endParaRPr lang="en-US" dirty="0"/>
          </a:p>
        </p:txBody>
      </p:sp>
    </p:spTree>
    <p:extLst>
      <p:ext uri="{BB962C8B-B14F-4D97-AF65-F5344CB8AC3E}">
        <p14:creationId xmlns:p14="http://schemas.microsoft.com/office/powerpoint/2010/main" val="1708961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00BD5-8261-FCB4-A31A-A98764042C6C}"/>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A6205F8-224B-E5A8-F453-3A4A26E8033D}"/>
              </a:ext>
            </a:extLst>
          </p:cNvPr>
          <p:cNvSpPr>
            <a:spLocks noGrp="1"/>
          </p:cNvSpPr>
          <p:nvPr>
            <p:ph idx="1"/>
          </p:nvPr>
        </p:nvSpPr>
        <p:spPr/>
        <p:txBody>
          <a:bodyPr/>
          <a:lstStyle/>
          <a:p>
            <a:pPr algn="just" fontAlgn="base"/>
            <a:r>
              <a:rPr lang="en-US" b="1" dirty="0"/>
              <a:t>Customer Satisfaction:</a:t>
            </a:r>
            <a:r>
              <a:rPr lang="en-US" dirty="0"/>
              <a:t> The SQA Plan helps to ensure that the finished product satisfies customer needs, which in turn increases overall customer satisfaction.</a:t>
            </a:r>
          </a:p>
          <a:p>
            <a:pPr algn="just" fontAlgn="base"/>
            <a:r>
              <a:rPr lang="en-US" b="1" dirty="0"/>
              <a:t>Resource optimization:</a:t>
            </a:r>
            <a:r>
              <a:rPr lang="en-US" dirty="0"/>
              <a:t> It is the process of defining roles, responsibilities, and procedures in order to maximize resource utilization and minimize needless rework.</a:t>
            </a:r>
          </a:p>
          <a:p>
            <a:pPr algn="just" fontAlgn="base"/>
            <a:r>
              <a:rPr lang="en-US" b="1" dirty="0"/>
              <a:t>Early Issue Detection:</a:t>
            </a:r>
            <a:r>
              <a:rPr lang="en-US" dirty="0"/>
              <a:t> SQA Plans help identify problems early on, which lowers the expense and work involved in fixing them.</a:t>
            </a:r>
          </a:p>
          <a:p>
            <a:pPr algn="just"/>
            <a:endParaRPr lang="en-US" dirty="0"/>
          </a:p>
        </p:txBody>
      </p:sp>
    </p:spTree>
    <p:extLst>
      <p:ext uri="{BB962C8B-B14F-4D97-AF65-F5344CB8AC3E}">
        <p14:creationId xmlns:p14="http://schemas.microsoft.com/office/powerpoint/2010/main" val="2170141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1002-D2E2-A93D-343A-6443B062F370}"/>
              </a:ext>
            </a:extLst>
          </p:cNvPr>
          <p:cNvSpPr>
            <a:spLocks noGrp="1"/>
          </p:cNvSpPr>
          <p:nvPr>
            <p:ph type="title"/>
          </p:nvPr>
        </p:nvSpPr>
        <p:spPr/>
        <p:txBody>
          <a:bodyPr/>
          <a:lstStyle/>
          <a:p>
            <a:r>
              <a:rPr lang="en-US" dirty="0"/>
              <a:t>Objectives And Goals of Software Quality Assurance Plan:</a:t>
            </a:r>
          </a:p>
        </p:txBody>
      </p:sp>
      <p:sp>
        <p:nvSpPr>
          <p:cNvPr id="3" name="Content Placeholder 2">
            <a:extLst>
              <a:ext uri="{FF2B5EF4-FFF2-40B4-BE49-F238E27FC236}">
                <a16:creationId xmlns:a16="http://schemas.microsoft.com/office/drawing/2014/main" id="{D846B87E-EAC5-EF18-0C7E-683C5BF7CDC1}"/>
              </a:ext>
            </a:extLst>
          </p:cNvPr>
          <p:cNvSpPr>
            <a:spLocks noGrp="1"/>
          </p:cNvSpPr>
          <p:nvPr>
            <p:ph idx="1"/>
          </p:nvPr>
        </p:nvSpPr>
        <p:spPr/>
        <p:txBody>
          <a:bodyPr/>
          <a:lstStyle/>
          <a:p>
            <a:pPr algn="just"/>
            <a:r>
              <a:rPr lang="en-US" dirty="0"/>
              <a:t>The objectives and goals of a Quality Assurance Plan (QAP) are to ensure that the products or services meet specified quality standards and requirements. </a:t>
            </a:r>
          </a:p>
          <a:p>
            <a:pPr algn="just"/>
            <a:r>
              <a:rPr lang="en-US" dirty="0"/>
              <a:t>The plan serves as a roadmap for implementing quality assurance processes throughout a project or organizational activity. </a:t>
            </a:r>
          </a:p>
          <a:p>
            <a:pPr algn="just"/>
            <a:r>
              <a:rPr lang="en-US" dirty="0"/>
              <a:t>The specific objectives and goals can vary depending on the nature of the project or industry, but common elements include:</a:t>
            </a:r>
          </a:p>
        </p:txBody>
      </p:sp>
    </p:spTree>
    <p:extLst>
      <p:ext uri="{BB962C8B-B14F-4D97-AF65-F5344CB8AC3E}">
        <p14:creationId xmlns:p14="http://schemas.microsoft.com/office/powerpoint/2010/main" val="660709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4600-9164-6FDC-1BA9-9152C8EC3976}"/>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8CC51F91-6B7C-569D-826F-38EF498C500A}"/>
              </a:ext>
            </a:extLst>
          </p:cNvPr>
          <p:cNvSpPr>
            <a:spLocks noGrp="1"/>
          </p:cNvSpPr>
          <p:nvPr>
            <p:ph idx="1"/>
          </p:nvPr>
        </p:nvSpPr>
        <p:spPr/>
        <p:txBody>
          <a:bodyPr>
            <a:normAutofit fontScale="92500" lnSpcReduction="20000"/>
          </a:bodyPr>
          <a:lstStyle/>
          <a:p>
            <a:pPr marL="0" indent="0" fontAlgn="base">
              <a:buNone/>
            </a:pPr>
            <a:r>
              <a:rPr lang="en-US" b="1" u="sng" dirty="0"/>
              <a:t>Compliance with Standards and Regulations</a:t>
            </a:r>
            <a:r>
              <a:rPr lang="en-US" b="1" dirty="0"/>
              <a:t>:</a:t>
            </a:r>
          </a:p>
          <a:p>
            <a:pPr fontAlgn="base"/>
            <a:r>
              <a:rPr lang="en-US" b="1" dirty="0"/>
              <a:t>Objective:</a:t>
            </a:r>
            <a:r>
              <a:rPr lang="en-US" dirty="0"/>
              <a:t> Ensure that the project or product complies with relevant industry standards, regulatory requirements, and any other applicable guidelines.</a:t>
            </a:r>
          </a:p>
          <a:p>
            <a:pPr fontAlgn="base"/>
            <a:r>
              <a:rPr lang="en-US" b="1" dirty="0"/>
              <a:t>Goal:</a:t>
            </a:r>
            <a:r>
              <a:rPr lang="en-US" dirty="0"/>
              <a:t> Achieve and maintain adherence to established quality standards to meet legal and regulatory obligations.</a:t>
            </a:r>
          </a:p>
          <a:p>
            <a:pPr marL="0" indent="0" fontAlgn="base">
              <a:buNone/>
            </a:pPr>
            <a:r>
              <a:rPr lang="en-US" b="1" u="sng" dirty="0"/>
              <a:t>Customer Satisfaction</a:t>
            </a:r>
            <a:r>
              <a:rPr lang="en-US" b="1" dirty="0"/>
              <a:t>:</a:t>
            </a:r>
          </a:p>
          <a:p>
            <a:pPr fontAlgn="base"/>
            <a:r>
              <a:rPr lang="en-US" b="1" dirty="0"/>
              <a:t>Objective:</a:t>
            </a:r>
            <a:r>
              <a:rPr lang="en-US" dirty="0"/>
              <a:t> Enhance customer satisfaction by delivering products or services that meet or exceed customer expectations.</a:t>
            </a:r>
          </a:p>
          <a:p>
            <a:pPr fontAlgn="base"/>
            <a:r>
              <a:rPr lang="en-US" b="1" dirty="0"/>
              <a:t>Goal:</a:t>
            </a:r>
            <a:r>
              <a:rPr lang="en-US" dirty="0"/>
              <a:t> Identify and prioritize customer requirements, and incorporate them into the quality assurance processes to create a positive customer experience.</a:t>
            </a:r>
          </a:p>
          <a:p>
            <a:endParaRPr lang="en-US" dirty="0"/>
          </a:p>
        </p:txBody>
      </p:sp>
    </p:spTree>
    <p:extLst>
      <p:ext uri="{BB962C8B-B14F-4D97-AF65-F5344CB8AC3E}">
        <p14:creationId xmlns:p14="http://schemas.microsoft.com/office/powerpoint/2010/main" val="2043553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3BDB9-2178-0A04-CAF6-C7A2CDD1263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BB6E2610-8336-C96D-DF5F-8BC4766069AB}"/>
              </a:ext>
            </a:extLst>
          </p:cNvPr>
          <p:cNvSpPr>
            <a:spLocks noGrp="1"/>
          </p:cNvSpPr>
          <p:nvPr>
            <p:ph idx="1"/>
          </p:nvPr>
        </p:nvSpPr>
        <p:spPr/>
        <p:txBody>
          <a:bodyPr>
            <a:normAutofit fontScale="92500" lnSpcReduction="10000"/>
          </a:bodyPr>
          <a:lstStyle/>
          <a:p>
            <a:pPr marL="0" indent="0" fontAlgn="base">
              <a:buNone/>
            </a:pPr>
            <a:r>
              <a:rPr lang="en-US" b="1" u="sng" dirty="0"/>
              <a:t>Defect Prevention</a:t>
            </a:r>
            <a:r>
              <a:rPr lang="en-US" b="1" dirty="0"/>
              <a:t>:</a:t>
            </a:r>
          </a:p>
          <a:p>
            <a:pPr fontAlgn="base"/>
            <a:r>
              <a:rPr lang="en-US" b="1" dirty="0"/>
              <a:t>Objective:</a:t>
            </a:r>
            <a:r>
              <a:rPr lang="en-US" dirty="0"/>
              <a:t> Implement measures to prevent defects, errors, or issues in the early stages of the project lifecycle.</a:t>
            </a:r>
          </a:p>
          <a:p>
            <a:pPr fontAlgn="base"/>
            <a:r>
              <a:rPr lang="en-US" b="1" dirty="0"/>
              <a:t>Goal:</a:t>
            </a:r>
            <a:r>
              <a:rPr lang="en-US" dirty="0"/>
              <a:t> Identify potential sources of defects, analyze root causes, and take proactive steps to eliminate or minimize the occurrence of defects.</a:t>
            </a:r>
          </a:p>
          <a:p>
            <a:pPr marL="0" indent="0" fontAlgn="base">
              <a:buNone/>
            </a:pPr>
            <a:r>
              <a:rPr lang="en-US" b="1" u="sng" dirty="0"/>
              <a:t>Consistency and Reliability</a:t>
            </a:r>
            <a:r>
              <a:rPr lang="en-US" b="1" dirty="0"/>
              <a:t>:</a:t>
            </a:r>
          </a:p>
          <a:p>
            <a:pPr fontAlgn="base"/>
            <a:r>
              <a:rPr lang="en-US" b="1" dirty="0"/>
              <a:t>Objective: </a:t>
            </a:r>
            <a:r>
              <a:rPr lang="en-US" dirty="0"/>
              <a:t>Establish a consistent and reliable process for the development or delivery of products and services.</a:t>
            </a:r>
          </a:p>
          <a:p>
            <a:pPr fontAlgn="base"/>
            <a:r>
              <a:rPr lang="en-US" b="1" dirty="0"/>
              <a:t>Goal: </a:t>
            </a:r>
            <a:r>
              <a:rPr lang="en-US" dirty="0"/>
              <a:t>Ensure that the quality of deliverables is consistent over time and across different phases of the project, promoting reliability and predictability.</a:t>
            </a:r>
          </a:p>
          <a:p>
            <a:endParaRPr lang="en-US" dirty="0"/>
          </a:p>
        </p:txBody>
      </p:sp>
    </p:spTree>
    <p:extLst>
      <p:ext uri="{BB962C8B-B14F-4D97-AF65-F5344CB8AC3E}">
        <p14:creationId xmlns:p14="http://schemas.microsoft.com/office/powerpoint/2010/main" val="1374659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FF629-D608-B92A-E18A-D4349CE6FE5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E8A69603-FF86-D0B7-09A4-40DE33B95BD3}"/>
              </a:ext>
            </a:extLst>
          </p:cNvPr>
          <p:cNvSpPr>
            <a:spLocks noGrp="1"/>
          </p:cNvSpPr>
          <p:nvPr>
            <p:ph idx="1"/>
          </p:nvPr>
        </p:nvSpPr>
        <p:spPr/>
        <p:txBody>
          <a:bodyPr>
            <a:normAutofit fontScale="92500" lnSpcReduction="10000"/>
          </a:bodyPr>
          <a:lstStyle/>
          <a:p>
            <a:pPr marL="0" indent="0" fontAlgn="base">
              <a:buNone/>
            </a:pPr>
            <a:r>
              <a:rPr lang="en-US" b="1" u="sng" dirty="0"/>
              <a:t>Process Improvement</a:t>
            </a:r>
            <a:r>
              <a:rPr lang="en-US" b="1" dirty="0"/>
              <a:t>:</a:t>
            </a:r>
          </a:p>
          <a:p>
            <a:pPr fontAlgn="base"/>
            <a:r>
              <a:rPr lang="en-US" b="1" dirty="0"/>
              <a:t>Objective:</a:t>
            </a:r>
            <a:r>
              <a:rPr lang="en-US" dirty="0"/>
              <a:t> Continuously improve processes to enhance efficiency, effectiveness, and overall quality.</a:t>
            </a:r>
          </a:p>
          <a:p>
            <a:pPr fontAlgn="base"/>
            <a:r>
              <a:rPr lang="en-US" b="1" dirty="0"/>
              <a:t>Goal:</a:t>
            </a:r>
            <a:r>
              <a:rPr lang="en-US" dirty="0"/>
              <a:t> Implement feedback mechanisms, conduct regular process assessments, and identify opportunities for improvement to optimize the quality assurance process.</a:t>
            </a:r>
          </a:p>
          <a:p>
            <a:pPr marL="0" indent="0" fontAlgn="base">
              <a:buNone/>
            </a:pPr>
            <a:r>
              <a:rPr lang="en-US" b="1" u="sng" dirty="0"/>
              <a:t>Risk Management</a:t>
            </a:r>
            <a:r>
              <a:rPr lang="en-US" b="1" dirty="0"/>
              <a:t>:</a:t>
            </a:r>
          </a:p>
          <a:p>
            <a:pPr fontAlgn="base"/>
            <a:r>
              <a:rPr lang="en-US" b="1" dirty="0"/>
              <a:t>Objective:</a:t>
            </a:r>
            <a:r>
              <a:rPr lang="en-US" dirty="0"/>
              <a:t> Identify and manage risks that could impact the quality of the project or product.</a:t>
            </a:r>
          </a:p>
          <a:p>
            <a:pPr fontAlgn="base"/>
            <a:r>
              <a:rPr lang="en-US" b="1" dirty="0"/>
              <a:t>Goal:</a:t>
            </a:r>
            <a:r>
              <a:rPr lang="en-US" dirty="0"/>
              <a:t> Develop strategies to assess, mitigate, and monitor risks that may affect the achievement of quality objectives.</a:t>
            </a:r>
          </a:p>
          <a:p>
            <a:endParaRPr lang="en-US" dirty="0"/>
          </a:p>
        </p:txBody>
      </p:sp>
    </p:spTree>
    <p:extLst>
      <p:ext uri="{BB962C8B-B14F-4D97-AF65-F5344CB8AC3E}">
        <p14:creationId xmlns:p14="http://schemas.microsoft.com/office/powerpoint/2010/main" val="1085072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06DF6-2223-B796-B1F5-9D7923F5EA5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DBFE02B-94A0-29E1-ED31-37E0C89DB38D}"/>
              </a:ext>
            </a:extLst>
          </p:cNvPr>
          <p:cNvSpPr>
            <a:spLocks noGrp="1"/>
          </p:cNvSpPr>
          <p:nvPr>
            <p:ph idx="1"/>
          </p:nvPr>
        </p:nvSpPr>
        <p:spPr/>
        <p:txBody>
          <a:bodyPr>
            <a:normAutofit fontScale="92500" lnSpcReduction="10000"/>
          </a:bodyPr>
          <a:lstStyle/>
          <a:p>
            <a:pPr marL="0" indent="0" fontAlgn="base">
              <a:buNone/>
            </a:pPr>
            <a:r>
              <a:rPr lang="en-US" b="1" u="sng" dirty="0"/>
              <a:t>Clear Roles and Responsibilities</a:t>
            </a:r>
            <a:r>
              <a:rPr lang="en-US" b="1" dirty="0"/>
              <a:t>:</a:t>
            </a:r>
          </a:p>
          <a:p>
            <a:pPr fontAlgn="base"/>
            <a:r>
              <a:rPr lang="en-US" b="1" dirty="0"/>
              <a:t>Objective:</a:t>
            </a:r>
            <a:r>
              <a:rPr lang="en-US" dirty="0"/>
              <a:t> Clearly define roles and responsibilities related to quality assurance activities.</a:t>
            </a:r>
          </a:p>
          <a:p>
            <a:pPr fontAlgn="base"/>
            <a:r>
              <a:rPr lang="en-US" b="1" dirty="0"/>
              <a:t>Goal:</a:t>
            </a:r>
            <a:r>
              <a:rPr lang="en-US" dirty="0"/>
              <a:t> Ensure that team members understand their roles in maintaining and improving quality, fostering accountability and collaboration.</a:t>
            </a:r>
          </a:p>
          <a:p>
            <a:pPr marL="0" indent="0" fontAlgn="base">
              <a:buNone/>
            </a:pPr>
            <a:r>
              <a:rPr lang="en-US" b="1" u="sng" dirty="0"/>
              <a:t>Documentation and Traceability</a:t>
            </a:r>
            <a:r>
              <a:rPr lang="en-US" b="1" dirty="0"/>
              <a:t>:</a:t>
            </a:r>
          </a:p>
          <a:p>
            <a:pPr fontAlgn="base"/>
            <a:r>
              <a:rPr lang="en-US" b="1" dirty="0"/>
              <a:t>Objective: </a:t>
            </a:r>
            <a:r>
              <a:rPr lang="en-US" dirty="0"/>
              <a:t>Establish a robust documentation process to track and trace quality-related activities and decisions.</a:t>
            </a:r>
          </a:p>
          <a:p>
            <a:pPr fontAlgn="base"/>
            <a:r>
              <a:rPr lang="en-US" b="1" dirty="0"/>
              <a:t>Goal:</a:t>
            </a:r>
            <a:r>
              <a:rPr lang="en-US" dirty="0"/>
              <a:t> Create comprehensive records that enable transparency, accountability, and the ability to trace the development or production process.</a:t>
            </a:r>
          </a:p>
          <a:p>
            <a:endParaRPr lang="en-US" dirty="0"/>
          </a:p>
        </p:txBody>
      </p:sp>
    </p:spTree>
    <p:extLst>
      <p:ext uri="{BB962C8B-B14F-4D97-AF65-F5344CB8AC3E}">
        <p14:creationId xmlns:p14="http://schemas.microsoft.com/office/powerpoint/2010/main" val="378291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619CA-C1FF-B3E5-5C8C-587F44F2E243}"/>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19871F8D-2B9F-BA05-465E-89ACC4800D19}"/>
              </a:ext>
            </a:extLst>
          </p:cNvPr>
          <p:cNvSpPr>
            <a:spLocks noGrp="1"/>
          </p:cNvSpPr>
          <p:nvPr>
            <p:ph idx="1"/>
          </p:nvPr>
        </p:nvSpPr>
        <p:spPr/>
        <p:txBody>
          <a:bodyPr>
            <a:normAutofit fontScale="92500" lnSpcReduction="10000"/>
          </a:bodyPr>
          <a:lstStyle/>
          <a:p>
            <a:pPr marL="0" indent="0" fontAlgn="base">
              <a:buNone/>
            </a:pPr>
            <a:r>
              <a:rPr lang="en-US" b="1" u="sng" dirty="0"/>
              <a:t>Training and Competence</a:t>
            </a:r>
            <a:r>
              <a:rPr lang="en-US" b="1" dirty="0"/>
              <a:t>:</a:t>
            </a:r>
          </a:p>
          <a:p>
            <a:pPr fontAlgn="base"/>
            <a:r>
              <a:rPr lang="en-US" b="1" dirty="0"/>
              <a:t>Objective: </a:t>
            </a:r>
            <a:r>
              <a:rPr lang="en-US" dirty="0"/>
              <a:t>Ensure that team members are adequately trained and possess the necessary competencies to perform quality assurance tasks.</a:t>
            </a:r>
          </a:p>
          <a:p>
            <a:pPr fontAlgn="base"/>
            <a:r>
              <a:rPr lang="en-US" b="1" dirty="0"/>
              <a:t>Goal: </a:t>
            </a:r>
            <a:r>
              <a:rPr lang="en-US" dirty="0"/>
              <a:t>Provide ongoing training to enhance the skills and knowledge of individuals involved in quality assurance.</a:t>
            </a:r>
          </a:p>
          <a:p>
            <a:pPr marL="0" indent="0" fontAlgn="base">
              <a:buNone/>
            </a:pPr>
            <a:r>
              <a:rPr lang="en-US" b="1" u="sng" dirty="0"/>
              <a:t>Continuous Monitoring and Reporting</a:t>
            </a:r>
            <a:r>
              <a:rPr lang="en-US" b="1" dirty="0"/>
              <a:t>:</a:t>
            </a:r>
          </a:p>
          <a:p>
            <a:pPr fontAlgn="base"/>
            <a:r>
              <a:rPr lang="en-US" b="1" dirty="0"/>
              <a:t>Objective: </a:t>
            </a:r>
            <a:r>
              <a:rPr lang="en-US" dirty="0"/>
              <a:t>Monitor quality metrics and report on the status of quality assurance activities.</a:t>
            </a:r>
          </a:p>
          <a:p>
            <a:pPr fontAlgn="base"/>
            <a:r>
              <a:rPr lang="en-US" b="1" dirty="0"/>
              <a:t>Goal: </a:t>
            </a:r>
            <a:r>
              <a:rPr lang="en-US" dirty="0"/>
              <a:t>Implement regular monitoring and reporting mechanisms to track progress, identify issues, and make data-driven decisions to maintain or improve quality.</a:t>
            </a:r>
          </a:p>
          <a:p>
            <a:endParaRPr lang="en-US" dirty="0"/>
          </a:p>
        </p:txBody>
      </p:sp>
    </p:spTree>
    <p:extLst>
      <p:ext uri="{BB962C8B-B14F-4D97-AF65-F5344CB8AC3E}">
        <p14:creationId xmlns:p14="http://schemas.microsoft.com/office/powerpoint/2010/main" val="2621709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266F1-6D69-9024-D985-7BB813C7C4A1}"/>
              </a:ext>
            </a:extLst>
          </p:cNvPr>
          <p:cNvSpPr>
            <a:spLocks noGrp="1"/>
          </p:cNvSpPr>
          <p:nvPr>
            <p:ph type="title"/>
          </p:nvPr>
        </p:nvSpPr>
        <p:spPr/>
        <p:txBody>
          <a:bodyPr/>
          <a:lstStyle/>
          <a:p>
            <a:r>
              <a:rPr lang="en-US" dirty="0"/>
              <a:t>Steps to Develop Software Quality Assurance Plan:</a:t>
            </a:r>
          </a:p>
        </p:txBody>
      </p:sp>
      <p:sp>
        <p:nvSpPr>
          <p:cNvPr id="3" name="Content Placeholder 2">
            <a:extLst>
              <a:ext uri="{FF2B5EF4-FFF2-40B4-BE49-F238E27FC236}">
                <a16:creationId xmlns:a16="http://schemas.microsoft.com/office/drawing/2014/main" id="{6162943B-C1B0-1678-A026-E6AE7A49B752}"/>
              </a:ext>
            </a:extLst>
          </p:cNvPr>
          <p:cNvSpPr>
            <a:spLocks noGrp="1"/>
          </p:cNvSpPr>
          <p:nvPr>
            <p:ph idx="1"/>
          </p:nvPr>
        </p:nvSpPr>
        <p:spPr/>
        <p:txBody>
          <a:bodyPr/>
          <a:lstStyle/>
          <a:p>
            <a:pPr marL="0" indent="0">
              <a:buNone/>
            </a:pPr>
            <a:r>
              <a:rPr lang="en-US" dirty="0"/>
              <a:t>Developing a Quality Assurance Plan (QAP) involves a systematic process to ensure that the plan effectively addresses the quality requirements of a project or process. Here are the steps to develop a Quality Assurance Plan:</a:t>
            </a:r>
          </a:p>
          <a:p>
            <a:pPr marL="0" indent="0">
              <a:buNone/>
            </a:pPr>
            <a:endParaRPr lang="en-US" dirty="0"/>
          </a:p>
        </p:txBody>
      </p:sp>
    </p:spTree>
    <p:extLst>
      <p:ext uri="{BB962C8B-B14F-4D97-AF65-F5344CB8AC3E}">
        <p14:creationId xmlns:p14="http://schemas.microsoft.com/office/powerpoint/2010/main" val="3495102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60F35-FEF1-9AAE-CF7B-403E5763B20B}"/>
              </a:ext>
            </a:extLst>
          </p:cNvPr>
          <p:cNvSpPr>
            <a:spLocks noGrp="1"/>
          </p:cNvSpPr>
          <p:nvPr>
            <p:ph idx="1"/>
          </p:nvPr>
        </p:nvSpPr>
        <p:spPr>
          <a:xfrm>
            <a:off x="838200" y="410966"/>
            <a:ext cx="10515600" cy="5765997"/>
          </a:xfrm>
        </p:spPr>
        <p:txBody>
          <a:bodyPr/>
          <a:lstStyle/>
          <a:p>
            <a:pPr marL="0" indent="0" fontAlgn="base">
              <a:buNone/>
            </a:pPr>
            <a:r>
              <a:rPr lang="en-US" b="1" u="sng" dirty="0"/>
              <a:t>Define Project Objectives and Scope</a:t>
            </a:r>
            <a:r>
              <a:rPr lang="en-US" b="1" dirty="0"/>
              <a:t>:</a:t>
            </a:r>
          </a:p>
          <a:p>
            <a:pPr fontAlgn="base"/>
            <a:r>
              <a:rPr lang="en-US" dirty="0"/>
              <a:t>Clearly articulate the objectives and scope of the project or process for which the Quality Assurance Plan is being developed. Understand the goals, deliverables, and stakeholders involved.</a:t>
            </a:r>
          </a:p>
          <a:p>
            <a:pPr marL="0" indent="0" fontAlgn="base">
              <a:buNone/>
            </a:pPr>
            <a:r>
              <a:rPr lang="en-US" b="1" u="sng" dirty="0"/>
              <a:t>Identify Quality Standards and Criteria</a:t>
            </a:r>
            <a:r>
              <a:rPr lang="en-US" b="1" dirty="0"/>
              <a:t>:</a:t>
            </a:r>
          </a:p>
          <a:p>
            <a:pPr fontAlgn="base"/>
            <a:r>
              <a:rPr lang="en-US" dirty="0"/>
              <a:t>Determine the relevant quality standards, regulations, and criteria that are applicable to the project. This may include industry standards, legal requirements, and internal organizational standards.</a:t>
            </a:r>
          </a:p>
          <a:p>
            <a:pPr marL="0" indent="0" fontAlgn="base">
              <a:buNone/>
            </a:pPr>
            <a:r>
              <a:rPr lang="en-US" b="1" u="sng" dirty="0"/>
              <a:t>Identify Stakeholders</a:t>
            </a:r>
            <a:r>
              <a:rPr lang="en-US" b="1" dirty="0"/>
              <a:t>:</a:t>
            </a:r>
          </a:p>
          <a:p>
            <a:pPr fontAlgn="base"/>
            <a:r>
              <a:rPr lang="en-US" dirty="0"/>
              <a:t>Identify and involve key stakeholders who have an interest in or will be affected by the quality of the project or process. This includes project managers, team members, customers, and any regulatory bodies.</a:t>
            </a:r>
          </a:p>
          <a:p>
            <a:endParaRPr lang="en-US" dirty="0"/>
          </a:p>
        </p:txBody>
      </p:sp>
    </p:spTree>
    <p:extLst>
      <p:ext uri="{BB962C8B-B14F-4D97-AF65-F5344CB8AC3E}">
        <p14:creationId xmlns:p14="http://schemas.microsoft.com/office/powerpoint/2010/main" val="3894866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8A9DD-21D1-4956-4642-9094D136DBBE}"/>
              </a:ext>
            </a:extLst>
          </p:cNvPr>
          <p:cNvSpPr>
            <a:spLocks noGrp="1"/>
          </p:cNvSpPr>
          <p:nvPr>
            <p:ph idx="1"/>
          </p:nvPr>
        </p:nvSpPr>
        <p:spPr>
          <a:xfrm>
            <a:off x="838200" y="472611"/>
            <a:ext cx="10515600" cy="5704352"/>
          </a:xfrm>
        </p:spPr>
        <p:txBody>
          <a:bodyPr>
            <a:normAutofit lnSpcReduction="10000"/>
          </a:bodyPr>
          <a:lstStyle/>
          <a:p>
            <a:pPr marL="0" indent="0" fontAlgn="base">
              <a:buNone/>
            </a:pPr>
            <a:r>
              <a:rPr lang="en-US" b="1" u="sng" dirty="0"/>
              <a:t>Define Roles and Responsibilities</a:t>
            </a:r>
            <a:r>
              <a:rPr lang="en-US" b="1" dirty="0"/>
              <a:t>:</a:t>
            </a:r>
          </a:p>
          <a:p>
            <a:pPr fontAlgn="base"/>
            <a:r>
              <a:rPr lang="en-US" dirty="0"/>
              <a:t>Clearly define the roles and responsibilities of individuals or teams involved in quality assurance activities. This ensures accountability and clarity in the execution of quality-related tasks.</a:t>
            </a:r>
          </a:p>
          <a:p>
            <a:pPr marL="0" indent="0" fontAlgn="base">
              <a:buNone/>
            </a:pPr>
            <a:r>
              <a:rPr lang="en-US" b="1" u="sng" dirty="0"/>
              <a:t>Conduct a Risk Assessment</a:t>
            </a:r>
            <a:r>
              <a:rPr lang="en-US" b="1" dirty="0"/>
              <a:t>:</a:t>
            </a:r>
          </a:p>
          <a:p>
            <a:pPr fontAlgn="base"/>
            <a:r>
              <a:rPr lang="en-US" dirty="0"/>
              <a:t>Identify potential risks to the quality of the project. Assess the impact and likelihood of these risks and develop strategies for risk mitigation and management.</a:t>
            </a:r>
          </a:p>
          <a:p>
            <a:pPr marL="0" indent="0" fontAlgn="base">
              <a:buNone/>
            </a:pPr>
            <a:r>
              <a:rPr lang="en-US" b="1" u="sng" dirty="0"/>
              <a:t>Establish Quality Assurance Activities</a:t>
            </a:r>
            <a:r>
              <a:rPr lang="en-US" b="1" dirty="0"/>
              <a:t>:</a:t>
            </a:r>
          </a:p>
          <a:p>
            <a:pPr fontAlgn="base"/>
            <a:r>
              <a:rPr lang="en-US" dirty="0"/>
              <a:t>Determine the specific activities and tasks that will be carried out to ensure quality throughout the project lifecycle. This may include reviews, inspections, audits, testing, and other quality control measures.</a:t>
            </a:r>
          </a:p>
          <a:p>
            <a:endParaRPr lang="en-US" dirty="0"/>
          </a:p>
        </p:txBody>
      </p:sp>
    </p:spTree>
    <p:extLst>
      <p:ext uri="{BB962C8B-B14F-4D97-AF65-F5344CB8AC3E}">
        <p14:creationId xmlns:p14="http://schemas.microsoft.com/office/powerpoint/2010/main" val="136309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35250C-F7F6-FB91-C41D-F4FA7CF900C2}"/>
              </a:ext>
            </a:extLst>
          </p:cNvPr>
          <p:cNvSpPr>
            <a:spLocks noGrp="1"/>
          </p:cNvSpPr>
          <p:nvPr>
            <p:ph idx="1"/>
          </p:nvPr>
        </p:nvSpPr>
        <p:spPr>
          <a:xfrm>
            <a:off x="838200" y="513708"/>
            <a:ext cx="10515600" cy="5663255"/>
          </a:xfrm>
        </p:spPr>
        <p:txBody>
          <a:bodyPr>
            <a:normAutofit/>
          </a:bodyPr>
          <a:lstStyle/>
          <a:p>
            <a:pPr marL="0" indent="0" fontAlgn="base">
              <a:buNone/>
            </a:pPr>
            <a:r>
              <a:rPr lang="en-US" b="1" u="sng" dirty="0"/>
              <a:t>Develop Testing and Inspection Procedures</a:t>
            </a:r>
            <a:r>
              <a:rPr lang="en-US" b="1" dirty="0"/>
              <a:t>:</a:t>
            </a:r>
          </a:p>
          <a:p>
            <a:pPr fontAlgn="base"/>
            <a:r>
              <a:rPr lang="en-US" dirty="0"/>
              <a:t>If applicable, create detailed testing and inspection procedures. This includes developing test plans, test cases, and acceptance criteria to ensure that the product or service meets quality standards.</a:t>
            </a:r>
          </a:p>
          <a:p>
            <a:pPr marL="0" indent="0" fontAlgn="base">
              <a:buNone/>
            </a:pPr>
            <a:r>
              <a:rPr lang="en-US" b="1" u="sng" dirty="0"/>
              <a:t>Document Processes and Procedures</a:t>
            </a:r>
            <a:r>
              <a:rPr lang="en-US" b="1" dirty="0"/>
              <a:t>:</a:t>
            </a:r>
          </a:p>
          <a:p>
            <a:pPr fontAlgn="base"/>
            <a:r>
              <a:rPr lang="en-US" dirty="0"/>
              <a:t>Document the processes and procedures that will be followed to implement quality assurance activities. This documentation serves as a reference for team members and provides a basis for consistency.</a:t>
            </a:r>
          </a:p>
          <a:p>
            <a:pPr marL="0" indent="0" fontAlgn="base">
              <a:buNone/>
            </a:pPr>
            <a:r>
              <a:rPr lang="en-US" b="1" u="sng" dirty="0"/>
              <a:t>Establish Documentation and Reporting Mechanisms</a:t>
            </a:r>
            <a:r>
              <a:rPr lang="en-US" b="1" dirty="0"/>
              <a:t>:</a:t>
            </a:r>
          </a:p>
          <a:p>
            <a:pPr fontAlgn="base"/>
            <a:r>
              <a:rPr lang="en-US" dirty="0"/>
              <a:t>Define the documentation requirements for tracking and reporting quality-related information. This may include reports, checklists, and records of quality assessments.</a:t>
            </a:r>
          </a:p>
          <a:p>
            <a:endParaRPr lang="en-US" dirty="0"/>
          </a:p>
        </p:txBody>
      </p:sp>
    </p:spTree>
    <p:extLst>
      <p:ext uri="{BB962C8B-B14F-4D97-AF65-F5344CB8AC3E}">
        <p14:creationId xmlns:p14="http://schemas.microsoft.com/office/powerpoint/2010/main" val="2061539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BBFE76-1DD5-3008-2857-C3BA2B223C7D}"/>
              </a:ext>
            </a:extLst>
          </p:cNvPr>
          <p:cNvSpPr>
            <a:spLocks noGrp="1"/>
          </p:cNvSpPr>
          <p:nvPr>
            <p:ph idx="1"/>
          </p:nvPr>
        </p:nvSpPr>
        <p:spPr>
          <a:xfrm>
            <a:off x="838200" y="585627"/>
            <a:ext cx="10515600" cy="5591336"/>
          </a:xfrm>
        </p:spPr>
        <p:txBody>
          <a:bodyPr>
            <a:normAutofit lnSpcReduction="10000"/>
          </a:bodyPr>
          <a:lstStyle/>
          <a:p>
            <a:pPr marL="0" indent="0" fontAlgn="base">
              <a:buNone/>
            </a:pPr>
            <a:r>
              <a:rPr lang="en-US" b="1" u="sng" dirty="0"/>
              <a:t>Allocate Resources and Training</a:t>
            </a:r>
            <a:r>
              <a:rPr lang="en-US" b="1" dirty="0"/>
              <a:t>:</a:t>
            </a:r>
          </a:p>
          <a:p>
            <a:pPr fontAlgn="base"/>
            <a:r>
              <a:rPr lang="en-US" dirty="0"/>
              <a:t>Specify the resources, tools, and training that will be provided to team members to support quality assurance efforts. Ensure that team members have the necessary skills and knowledge.</a:t>
            </a:r>
          </a:p>
          <a:p>
            <a:pPr marL="0" indent="0" fontAlgn="base">
              <a:buNone/>
            </a:pPr>
            <a:r>
              <a:rPr lang="en-US" b="1" u="sng" dirty="0"/>
              <a:t>Define Change Control Processes</a:t>
            </a:r>
            <a:r>
              <a:rPr lang="en-US" b="1" dirty="0"/>
              <a:t>:</a:t>
            </a:r>
          </a:p>
          <a:p>
            <a:pPr fontAlgn="base"/>
            <a:r>
              <a:rPr lang="en-US" dirty="0"/>
              <a:t>Establish a process for managing changes to the project or product to ensure that they do not negatively impact quality. This includes a change control board and a structured process for reviewing and approving changes.</a:t>
            </a:r>
          </a:p>
          <a:p>
            <a:pPr marL="0" indent="0" fontAlgn="base">
              <a:buNone/>
            </a:pPr>
            <a:r>
              <a:rPr lang="en-US" b="1" u="sng" dirty="0"/>
              <a:t>Review and Approval</a:t>
            </a:r>
            <a:r>
              <a:rPr lang="en-US" b="1" dirty="0"/>
              <a:t>:</a:t>
            </a:r>
          </a:p>
          <a:p>
            <a:pPr fontAlgn="base"/>
            <a:r>
              <a:rPr lang="en-US" dirty="0"/>
              <a:t>Seek input and feedback from relevant stakeholders on the draft Quality Assurance Plan. Revise the plan based on feedback and obtain formal approval before implementation.</a:t>
            </a:r>
          </a:p>
          <a:p>
            <a:endParaRPr lang="en-US" dirty="0"/>
          </a:p>
        </p:txBody>
      </p:sp>
    </p:spTree>
    <p:extLst>
      <p:ext uri="{BB962C8B-B14F-4D97-AF65-F5344CB8AC3E}">
        <p14:creationId xmlns:p14="http://schemas.microsoft.com/office/powerpoint/2010/main" val="3451619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F27E55-C82F-65B2-C89F-6CC810E97C73}"/>
              </a:ext>
            </a:extLst>
          </p:cNvPr>
          <p:cNvSpPr>
            <a:spLocks noGrp="1"/>
          </p:cNvSpPr>
          <p:nvPr>
            <p:ph idx="1"/>
          </p:nvPr>
        </p:nvSpPr>
        <p:spPr>
          <a:xfrm>
            <a:off x="838200" y="832207"/>
            <a:ext cx="10515600" cy="5344756"/>
          </a:xfrm>
        </p:spPr>
        <p:txBody>
          <a:bodyPr/>
          <a:lstStyle/>
          <a:p>
            <a:pPr marL="0" indent="0" fontAlgn="base">
              <a:buNone/>
            </a:pPr>
            <a:r>
              <a:rPr lang="en-US" b="1" u="sng" dirty="0"/>
              <a:t>Monitoring and Continuous Improvement</a:t>
            </a:r>
            <a:r>
              <a:rPr lang="en-US" b="1" dirty="0"/>
              <a:t>:</a:t>
            </a:r>
          </a:p>
          <a:p>
            <a:pPr fontAlgn="base"/>
            <a:r>
              <a:rPr lang="en-US" dirty="0"/>
              <a:t>Continuously monitor quality metrics, track progress, and identify opportunities for improvement. Regularly review and update the Quality Assurance Plan to adapt to changes and enhance its effectiveness.</a:t>
            </a:r>
          </a:p>
          <a:p>
            <a:pPr marL="0" indent="0" fontAlgn="base">
              <a:buNone/>
            </a:pPr>
            <a:r>
              <a:rPr lang="en-US" b="1" u="sng" dirty="0"/>
              <a:t>Communication and Training</a:t>
            </a:r>
            <a:r>
              <a:rPr lang="en-US" b="1" dirty="0"/>
              <a:t>:</a:t>
            </a:r>
          </a:p>
          <a:p>
            <a:pPr fontAlgn="base"/>
            <a:r>
              <a:rPr lang="en-US" dirty="0"/>
              <a:t>Communicate the Quality Assurance Plan to all relevant stakeholders and provide training as necessary. Ensure that everyone involved understands their roles and responsibilities in maintaining and improving quality.</a:t>
            </a:r>
          </a:p>
          <a:p>
            <a:endParaRPr lang="en-US" dirty="0"/>
          </a:p>
        </p:txBody>
      </p:sp>
    </p:spTree>
    <p:extLst>
      <p:ext uri="{BB962C8B-B14F-4D97-AF65-F5344CB8AC3E}">
        <p14:creationId xmlns:p14="http://schemas.microsoft.com/office/powerpoint/2010/main" val="1298007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212CE-D0BB-7250-A4FC-0377BB24CD3E}"/>
              </a:ext>
            </a:extLst>
          </p:cNvPr>
          <p:cNvSpPr>
            <a:spLocks noGrp="1"/>
          </p:cNvSpPr>
          <p:nvPr>
            <p:ph type="title"/>
          </p:nvPr>
        </p:nvSpPr>
        <p:spPr/>
        <p:txBody>
          <a:bodyPr/>
          <a:lstStyle/>
          <a:p>
            <a:r>
              <a:rPr lang="en-US" dirty="0"/>
              <a:t>SQA implementation phase:</a:t>
            </a:r>
            <a:br>
              <a:rPr lang="en-US" dirty="0"/>
            </a:br>
            <a:endParaRPr lang="en-US" dirty="0"/>
          </a:p>
        </p:txBody>
      </p:sp>
      <p:sp>
        <p:nvSpPr>
          <p:cNvPr id="3" name="Content Placeholder 2">
            <a:extLst>
              <a:ext uri="{FF2B5EF4-FFF2-40B4-BE49-F238E27FC236}">
                <a16:creationId xmlns:a16="http://schemas.microsoft.com/office/drawing/2014/main" id="{43172DD4-F600-4290-C2CF-1856A21C9A84}"/>
              </a:ext>
            </a:extLst>
          </p:cNvPr>
          <p:cNvSpPr>
            <a:spLocks noGrp="1"/>
          </p:cNvSpPr>
          <p:nvPr>
            <p:ph idx="1"/>
          </p:nvPr>
        </p:nvSpPr>
        <p:spPr/>
        <p:txBody>
          <a:bodyPr>
            <a:normAutofit fontScale="92500" lnSpcReduction="10000"/>
          </a:bodyPr>
          <a:lstStyle/>
          <a:p>
            <a:pPr fontAlgn="base"/>
            <a:r>
              <a:rPr lang="en-US" dirty="0"/>
              <a:t>Developers work with the SQA team to construct a development plan before beginning to build an application. The Software Quality Assurance (SQA) team produces the Software Quality Assurance plan, and the developers write the Software Development Life Cycle (SDLC) plan. If the documentation created by the developers and the SQA are well-written and structured, the application that is going to be developed is already 50% finished.</a:t>
            </a:r>
          </a:p>
          <a:p>
            <a:pPr fontAlgn="base"/>
            <a:r>
              <a:rPr lang="en-US" dirty="0"/>
              <a:t>The SQA team's duty during this stage is to guarantee that the intended application's suggested features are implemented. The application will monitor not only the implementation process but also the development process. Certain design techniques, such language or framework, can be applied. In order to assist the development team in choosing the appropriate framework language.</a:t>
            </a:r>
          </a:p>
          <a:p>
            <a:endParaRPr lang="en-US" dirty="0"/>
          </a:p>
        </p:txBody>
      </p:sp>
    </p:spTree>
    <p:extLst>
      <p:ext uri="{BB962C8B-B14F-4D97-AF65-F5344CB8AC3E}">
        <p14:creationId xmlns:p14="http://schemas.microsoft.com/office/powerpoint/2010/main" val="845086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EFCBB-3614-A8F4-2AB2-5B34B96DAD8C}"/>
              </a:ext>
            </a:extLst>
          </p:cNvPr>
          <p:cNvSpPr>
            <a:spLocks noGrp="1"/>
          </p:cNvSpPr>
          <p:nvPr>
            <p:ph type="title"/>
          </p:nvPr>
        </p:nvSpPr>
        <p:spPr/>
        <p:txBody>
          <a:bodyPr/>
          <a:lstStyle/>
          <a:p>
            <a:r>
              <a:rPr lang="en-US" dirty="0"/>
              <a:t>Best Practices for Creating Software Quality Assurance Plan:</a:t>
            </a:r>
          </a:p>
        </p:txBody>
      </p:sp>
      <p:sp>
        <p:nvSpPr>
          <p:cNvPr id="3" name="Content Placeholder 2">
            <a:extLst>
              <a:ext uri="{FF2B5EF4-FFF2-40B4-BE49-F238E27FC236}">
                <a16:creationId xmlns:a16="http://schemas.microsoft.com/office/drawing/2014/main" id="{D072FFE0-F8C8-53EB-B76A-F001633BE36F}"/>
              </a:ext>
            </a:extLst>
          </p:cNvPr>
          <p:cNvSpPr>
            <a:spLocks noGrp="1"/>
          </p:cNvSpPr>
          <p:nvPr>
            <p:ph idx="1"/>
          </p:nvPr>
        </p:nvSpPr>
        <p:spPr/>
        <p:txBody>
          <a:bodyPr>
            <a:normAutofit fontScale="70000" lnSpcReduction="20000"/>
          </a:bodyPr>
          <a:lstStyle/>
          <a:p>
            <a:pPr marL="0" indent="0">
              <a:buNone/>
            </a:pPr>
            <a:r>
              <a:rPr lang="en-US" dirty="0"/>
              <a:t>Creating a Software Quality Assurance (SQA) plan is essential to ensure the development of high-quality software. Here are some best practices to consider when creating a Software Quality Assurance Plan:</a:t>
            </a:r>
          </a:p>
          <a:p>
            <a:pPr marL="0" indent="0">
              <a:buNone/>
            </a:pPr>
            <a:endParaRPr lang="en-US" dirty="0"/>
          </a:p>
          <a:p>
            <a:pPr marL="0" indent="0" fontAlgn="base">
              <a:buNone/>
            </a:pPr>
            <a:r>
              <a:rPr lang="en-US" b="1" u="sng" dirty="0"/>
              <a:t>Understand Project Objectives</a:t>
            </a:r>
            <a:r>
              <a:rPr lang="en-US" b="1" dirty="0"/>
              <a:t>:</a:t>
            </a:r>
          </a:p>
          <a:p>
            <a:pPr fontAlgn="base"/>
            <a:r>
              <a:rPr lang="en-US" dirty="0"/>
              <a:t>Clearly understand the objectives, goals, and scope of the software development project. This understanding is critical for tailoring the SQA plan to the specific needs of the project.</a:t>
            </a:r>
          </a:p>
          <a:p>
            <a:pPr marL="0" indent="0" fontAlgn="base">
              <a:buNone/>
            </a:pPr>
            <a:r>
              <a:rPr lang="en-US" b="1" u="sng" dirty="0"/>
              <a:t>Define Quality Standards</a:t>
            </a:r>
            <a:r>
              <a:rPr lang="en-US" b="1" dirty="0"/>
              <a:t>:</a:t>
            </a:r>
          </a:p>
          <a:p>
            <a:pPr fontAlgn="base"/>
            <a:r>
              <a:rPr lang="en-US" dirty="0"/>
              <a:t>Identify and document the relevant quality standards, guidelines, and best practices that the software must adhere to. This may include industry standards, regulatory requirements, and internal organizational standards.</a:t>
            </a:r>
          </a:p>
          <a:p>
            <a:pPr marL="0" indent="0" fontAlgn="base">
              <a:buNone/>
            </a:pPr>
            <a:r>
              <a:rPr lang="en-US" b="1" u="sng" dirty="0"/>
              <a:t>Involve Stakeholders</a:t>
            </a:r>
            <a:r>
              <a:rPr lang="en-US" b="1" dirty="0"/>
              <a:t>:</a:t>
            </a:r>
          </a:p>
          <a:p>
            <a:pPr fontAlgn="base"/>
            <a:r>
              <a:rPr lang="en-US" dirty="0"/>
              <a:t>Engage key stakeholders, including developers, testers, project managers, and customers, in the creation of the SQA plan. Ensure that their perspectives and requirements are considered.</a:t>
            </a:r>
          </a:p>
          <a:p>
            <a:pPr marL="0" indent="0">
              <a:buNone/>
            </a:pPr>
            <a:endParaRPr lang="en-US" dirty="0"/>
          </a:p>
        </p:txBody>
      </p:sp>
    </p:spTree>
    <p:extLst>
      <p:ext uri="{BB962C8B-B14F-4D97-AF65-F5344CB8AC3E}">
        <p14:creationId xmlns:p14="http://schemas.microsoft.com/office/powerpoint/2010/main" val="118905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74DF-B90D-1D47-7217-0E6BB19FA35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582A189-E6C0-9101-213F-5DCDE6D834E8}"/>
              </a:ext>
            </a:extLst>
          </p:cNvPr>
          <p:cNvSpPr>
            <a:spLocks noGrp="1"/>
          </p:cNvSpPr>
          <p:nvPr>
            <p:ph idx="1"/>
          </p:nvPr>
        </p:nvSpPr>
        <p:spPr/>
        <p:txBody>
          <a:bodyPr>
            <a:normAutofit fontScale="92500" lnSpcReduction="20000"/>
          </a:bodyPr>
          <a:lstStyle/>
          <a:p>
            <a:pPr marL="0" indent="0" fontAlgn="base">
              <a:buNone/>
            </a:pPr>
            <a:r>
              <a:rPr lang="en-US" b="1" u="sng" dirty="0"/>
              <a:t>Set Clear Roles and Responsibilities</a:t>
            </a:r>
            <a:r>
              <a:rPr lang="en-US" b="1" dirty="0"/>
              <a:t>:</a:t>
            </a:r>
          </a:p>
          <a:p>
            <a:pPr fontAlgn="base"/>
            <a:r>
              <a:rPr lang="en-US" dirty="0"/>
              <a:t>Clearly define the roles and responsibilities of individuals or teams involved in SQA activities. This includes roles such as SQA manager, testers, developers, and project managers.</a:t>
            </a:r>
          </a:p>
          <a:p>
            <a:pPr marL="0" indent="0" fontAlgn="base">
              <a:buNone/>
            </a:pPr>
            <a:r>
              <a:rPr lang="en-US" b="1" u="sng" dirty="0"/>
              <a:t>Establish Testing Processes</a:t>
            </a:r>
            <a:r>
              <a:rPr lang="en-US" b="1" dirty="0"/>
              <a:t>:</a:t>
            </a:r>
          </a:p>
          <a:p>
            <a:pPr fontAlgn="base"/>
            <a:r>
              <a:rPr lang="en-US" dirty="0"/>
              <a:t>Define the testing processes, including types of testing (e.g., unit testing, integration testing, system testing, etc.), testing techniques, and tools to be used. Clearly articulate the criteria for success in each testing phase.</a:t>
            </a:r>
          </a:p>
          <a:p>
            <a:pPr marL="0" indent="0" fontAlgn="base">
              <a:buNone/>
            </a:pPr>
            <a:r>
              <a:rPr lang="en-US" b="1" u="sng" dirty="0"/>
              <a:t>Incorporate Automated Testing</a:t>
            </a:r>
            <a:r>
              <a:rPr lang="en-US" b="1" dirty="0"/>
              <a:t>:</a:t>
            </a:r>
          </a:p>
          <a:p>
            <a:pPr fontAlgn="base"/>
            <a:r>
              <a:rPr lang="en-US" dirty="0"/>
              <a:t>Integrate automated testing into the testing processes where applicable. Automated testing can improve efficiency, coverage, and the repeatability of tests, especially for repetitive and regression testing.</a:t>
            </a:r>
          </a:p>
          <a:p>
            <a:endParaRPr lang="en-US" dirty="0"/>
          </a:p>
        </p:txBody>
      </p:sp>
    </p:spTree>
    <p:extLst>
      <p:ext uri="{BB962C8B-B14F-4D97-AF65-F5344CB8AC3E}">
        <p14:creationId xmlns:p14="http://schemas.microsoft.com/office/powerpoint/2010/main" val="1504236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5DB7-E600-3E48-6013-4845EE855D51}"/>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8C3EB0B-895D-A300-AFF8-9C9180A9F577}"/>
              </a:ext>
            </a:extLst>
          </p:cNvPr>
          <p:cNvSpPr>
            <a:spLocks noGrp="1"/>
          </p:cNvSpPr>
          <p:nvPr>
            <p:ph idx="1"/>
          </p:nvPr>
        </p:nvSpPr>
        <p:spPr/>
        <p:txBody>
          <a:bodyPr>
            <a:normAutofit fontScale="92500" lnSpcReduction="20000"/>
          </a:bodyPr>
          <a:lstStyle/>
          <a:p>
            <a:pPr marL="0" indent="0" fontAlgn="base">
              <a:buNone/>
            </a:pPr>
            <a:r>
              <a:rPr lang="en-US" b="1" u="sng" dirty="0"/>
              <a:t>Document Test Plans and Cases</a:t>
            </a:r>
            <a:r>
              <a:rPr lang="en-US" b="1" dirty="0"/>
              <a:t>:</a:t>
            </a:r>
          </a:p>
          <a:p>
            <a:pPr fontAlgn="base"/>
            <a:r>
              <a:rPr lang="en-US" dirty="0"/>
              <a:t>Develop comprehensive test plans and test cases that cover the functional and non-functional requirements of the software. Test documentation serves as a reference for testers and ensures comprehensive coverage.</a:t>
            </a:r>
          </a:p>
          <a:p>
            <a:pPr marL="0" indent="0" fontAlgn="base">
              <a:buNone/>
            </a:pPr>
            <a:r>
              <a:rPr lang="en-US" b="1" u="sng" dirty="0"/>
              <a:t>Implement Code Reviews</a:t>
            </a:r>
            <a:r>
              <a:rPr lang="en-US" b="1" dirty="0"/>
              <a:t>:</a:t>
            </a:r>
          </a:p>
          <a:p>
            <a:pPr fontAlgn="base"/>
            <a:r>
              <a:rPr lang="en-US" dirty="0"/>
              <a:t>Integrate code reviews as part of the development process. Code reviews help identify defects early in the development lifecycle, improving code quality and reducing the likelihood of defects reaching later stages.</a:t>
            </a:r>
          </a:p>
          <a:p>
            <a:pPr marL="0" indent="0" fontAlgn="base">
              <a:buNone/>
            </a:pPr>
            <a:r>
              <a:rPr lang="en-US" b="1" u="sng" dirty="0"/>
              <a:t>Utilize Continuous Integration (CI) and Continuous Deployment (CD)</a:t>
            </a:r>
            <a:r>
              <a:rPr lang="en-US" b="1" dirty="0"/>
              <a:t>:</a:t>
            </a:r>
          </a:p>
          <a:p>
            <a:pPr fontAlgn="base"/>
            <a:r>
              <a:rPr lang="en-US" dirty="0"/>
              <a:t>Implement CI/CD practices to automate the integration and deployment processes. This ensures that changes are regularly and consistently tested, reducing the risk of integration issues and improving overall software quality.</a:t>
            </a:r>
          </a:p>
          <a:p>
            <a:endParaRPr lang="en-US" dirty="0"/>
          </a:p>
        </p:txBody>
      </p:sp>
    </p:spTree>
    <p:extLst>
      <p:ext uri="{BB962C8B-B14F-4D97-AF65-F5344CB8AC3E}">
        <p14:creationId xmlns:p14="http://schemas.microsoft.com/office/powerpoint/2010/main" val="2821158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4FAF8-10E1-3DB5-FEE2-4F2608C46E1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693F12CB-8D41-96E3-99F5-BE808D97E81C}"/>
              </a:ext>
            </a:extLst>
          </p:cNvPr>
          <p:cNvSpPr>
            <a:spLocks noGrp="1"/>
          </p:cNvSpPr>
          <p:nvPr>
            <p:ph idx="1"/>
          </p:nvPr>
        </p:nvSpPr>
        <p:spPr/>
        <p:txBody>
          <a:bodyPr/>
          <a:lstStyle/>
          <a:p>
            <a:pPr marL="0" indent="0" fontAlgn="base">
              <a:buNone/>
            </a:pPr>
            <a:r>
              <a:rPr lang="en-US" b="1" u="sng" dirty="0"/>
              <a:t>Implement Configuration Management</a:t>
            </a:r>
            <a:r>
              <a:rPr lang="en-US" b="1" dirty="0"/>
              <a:t>:</a:t>
            </a:r>
          </a:p>
          <a:p>
            <a:pPr fontAlgn="base"/>
            <a:r>
              <a:rPr lang="en-US" dirty="0"/>
              <a:t>Use configuration management practices to manage changes to the software, including version control, baseline management, and change control. This helps maintain consistency and traceability in software development.</a:t>
            </a:r>
          </a:p>
          <a:p>
            <a:endParaRPr lang="en-US" dirty="0"/>
          </a:p>
        </p:txBody>
      </p:sp>
    </p:spTree>
    <p:extLst>
      <p:ext uri="{BB962C8B-B14F-4D97-AF65-F5344CB8AC3E}">
        <p14:creationId xmlns:p14="http://schemas.microsoft.com/office/powerpoint/2010/main" val="3463706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9F24-DFB1-7707-FEFC-9E4486E5F053}"/>
              </a:ext>
            </a:extLst>
          </p:cNvPr>
          <p:cNvSpPr>
            <a:spLocks noGrp="1"/>
          </p:cNvSpPr>
          <p:nvPr>
            <p:ph type="title"/>
          </p:nvPr>
        </p:nvSpPr>
        <p:spPr/>
        <p:txBody>
          <a:bodyPr/>
          <a:lstStyle/>
          <a:p>
            <a:r>
              <a:rPr lang="en-US" dirty="0"/>
              <a:t>Why is SQA Plan Important for Software Companies?</a:t>
            </a:r>
          </a:p>
        </p:txBody>
      </p:sp>
      <p:sp>
        <p:nvSpPr>
          <p:cNvPr id="3" name="Content Placeholder 2">
            <a:extLst>
              <a:ext uri="{FF2B5EF4-FFF2-40B4-BE49-F238E27FC236}">
                <a16:creationId xmlns:a16="http://schemas.microsoft.com/office/drawing/2014/main" id="{EA28ED56-82C8-56B5-BF9B-AD679A66A759}"/>
              </a:ext>
            </a:extLst>
          </p:cNvPr>
          <p:cNvSpPr>
            <a:spLocks noGrp="1"/>
          </p:cNvSpPr>
          <p:nvPr>
            <p:ph idx="1"/>
          </p:nvPr>
        </p:nvSpPr>
        <p:spPr/>
        <p:txBody>
          <a:bodyPr>
            <a:normAutofit fontScale="92500" lnSpcReduction="20000"/>
          </a:bodyPr>
          <a:lstStyle/>
          <a:p>
            <a:pPr marL="0" indent="0">
              <a:buNone/>
            </a:pPr>
            <a:r>
              <a:rPr lang="en-US" dirty="0"/>
              <a:t>Here are some key reasons why an SQA plan is important for software companies:</a:t>
            </a:r>
          </a:p>
          <a:p>
            <a:pPr marL="0" indent="0">
              <a:buNone/>
            </a:pPr>
            <a:endParaRPr lang="en-US" dirty="0"/>
          </a:p>
          <a:p>
            <a:pPr fontAlgn="base"/>
            <a:r>
              <a:rPr lang="en-US" b="1" u="sng" dirty="0"/>
              <a:t>Quality Assurance and Customer Satisfaction</a:t>
            </a:r>
            <a:r>
              <a:rPr lang="en-US" dirty="0"/>
              <a:t>: An SQA plan establishes processes and standards to ensure that software products meet or exceed customer expectations. High-quality software contributes to customer satisfaction, enhances the company's reputation, and fosters customer loyalty.</a:t>
            </a:r>
          </a:p>
          <a:p>
            <a:pPr fontAlgn="base"/>
            <a:r>
              <a:rPr lang="en-US" b="1" u="sng" dirty="0"/>
              <a:t>Compliance with Standards and Regulations</a:t>
            </a:r>
            <a:r>
              <a:rPr lang="en-US" dirty="0"/>
              <a:t>: Many industries have specific standards and regulations that software products must adhere to. An SQA plan helps ensure compliance with these standards, reducing the risk of legal issues and demonstrating the company's commitment to quality.</a:t>
            </a:r>
          </a:p>
          <a:p>
            <a:pPr marL="0" indent="0">
              <a:buNone/>
            </a:pPr>
            <a:endParaRPr lang="en-US" dirty="0"/>
          </a:p>
        </p:txBody>
      </p:sp>
    </p:spTree>
    <p:extLst>
      <p:ext uri="{BB962C8B-B14F-4D97-AF65-F5344CB8AC3E}">
        <p14:creationId xmlns:p14="http://schemas.microsoft.com/office/powerpoint/2010/main" val="1494459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DDC0-5988-F914-52BB-E98DCEB2A2E3}"/>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0991A7DB-90D7-A29F-F473-399CB633521A}"/>
              </a:ext>
            </a:extLst>
          </p:cNvPr>
          <p:cNvSpPr>
            <a:spLocks noGrp="1"/>
          </p:cNvSpPr>
          <p:nvPr>
            <p:ph idx="1"/>
          </p:nvPr>
        </p:nvSpPr>
        <p:spPr/>
        <p:txBody>
          <a:bodyPr/>
          <a:lstStyle/>
          <a:p>
            <a:pPr fontAlgn="base"/>
            <a:r>
              <a:rPr lang="en-US" b="1" u="sng" dirty="0"/>
              <a:t>Early Detection and Prevention of Defects</a:t>
            </a:r>
            <a:r>
              <a:rPr lang="en-US" dirty="0"/>
              <a:t>: The SQA plan includes processes for early detection and prevention of defects. This involves activities such as code reviews, testing, and inspections, which help identify and address issues in the early stages of the development lifecycle, reducing the cost and impact of defects.</a:t>
            </a:r>
          </a:p>
          <a:p>
            <a:pPr fontAlgn="base"/>
            <a:r>
              <a:rPr lang="en-US" b="1" u="sng" dirty="0"/>
              <a:t>Cost Reduction</a:t>
            </a:r>
            <a:r>
              <a:rPr lang="en-US" dirty="0"/>
              <a:t>: Identifying and fixing defects early in the development process is more cost-effective than addressing them in later stages or after the software is released. An SQA plan helps minimize the number of defects that reach production, reducing maintenance costs and improving overall efficiency.</a:t>
            </a:r>
          </a:p>
          <a:p>
            <a:endParaRPr lang="en-US" dirty="0"/>
          </a:p>
        </p:txBody>
      </p:sp>
    </p:spTree>
    <p:extLst>
      <p:ext uri="{BB962C8B-B14F-4D97-AF65-F5344CB8AC3E}">
        <p14:creationId xmlns:p14="http://schemas.microsoft.com/office/powerpoint/2010/main" val="2437061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E1145-40DA-0737-E22A-1FAC6706B38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BBCF5EF9-ED72-1E17-D53A-50D089877A61}"/>
              </a:ext>
            </a:extLst>
          </p:cNvPr>
          <p:cNvSpPr>
            <a:spLocks noGrp="1"/>
          </p:cNvSpPr>
          <p:nvPr>
            <p:ph idx="1"/>
          </p:nvPr>
        </p:nvSpPr>
        <p:spPr/>
        <p:txBody>
          <a:bodyPr>
            <a:normAutofit fontScale="92500" lnSpcReduction="20000"/>
          </a:bodyPr>
          <a:lstStyle/>
          <a:p>
            <a:pPr fontAlgn="base"/>
            <a:r>
              <a:rPr lang="en-US" b="1" u="sng" dirty="0"/>
              <a:t>Improved Collaboration and Communication</a:t>
            </a:r>
            <a:r>
              <a:rPr lang="en-US" dirty="0"/>
              <a:t>: The SQA plan defines roles, responsibilities, and communication channels within the development team. This clarity fosters better collaboration among team members, reducing misunderstandings and improving the overall efficiency of the development process.</a:t>
            </a:r>
          </a:p>
          <a:p>
            <a:pPr fontAlgn="base"/>
            <a:r>
              <a:rPr lang="en-US" b="1" u="sng" dirty="0"/>
              <a:t>Risk Management</a:t>
            </a:r>
            <a:r>
              <a:rPr lang="en-US" dirty="0"/>
              <a:t>: An SQA plan includes risk management strategies to identify, assess, and mitigate risks that could impact software quality. This proactive approach helps the company address potential issues before they become significant problems.</a:t>
            </a:r>
          </a:p>
          <a:p>
            <a:pPr fontAlgn="base"/>
            <a:r>
              <a:rPr lang="en-US" b="1" u="sng" dirty="0"/>
              <a:t>Enhanced Productivity and Efficiency</a:t>
            </a:r>
            <a:r>
              <a:rPr lang="en-US" dirty="0"/>
              <a:t>: Standardized processes outlined in the SQA plan contribute to improved productivity and efficiency. Consistent methodologies and practices help streamline development, testing, and release processes, leading to faster and more reliable software delivery.</a:t>
            </a:r>
          </a:p>
          <a:p>
            <a:endParaRPr lang="en-US" dirty="0"/>
          </a:p>
        </p:txBody>
      </p:sp>
    </p:spTree>
    <p:extLst>
      <p:ext uri="{BB962C8B-B14F-4D97-AF65-F5344CB8AC3E}">
        <p14:creationId xmlns:p14="http://schemas.microsoft.com/office/powerpoint/2010/main" val="1901801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E0BB2-CD6C-CD93-319F-050B84B9A8FD}"/>
              </a:ext>
            </a:extLst>
          </p:cNvPr>
          <p:cNvSpPr>
            <a:spLocks noGrp="1"/>
          </p:cNvSpPr>
          <p:nvPr>
            <p:ph type="title"/>
          </p:nvPr>
        </p:nvSpPr>
        <p:spPr/>
        <p:txBody>
          <a:bodyPr/>
          <a:lstStyle/>
          <a:p>
            <a:r>
              <a:rPr lang="en-US" dirty="0"/>
              <a:t>Pros of Software Quality Assurance Plan:</a:t>
            </a:r>
          </a:p>
        </p:txBody>
      </p:sp>
      <p:sp>
        <p:nvSpPr>
          <p:cNvPr id="3" name="Content Placeholder 2">
            <a:extLst>
              <a:ext uri="{FF2B5EF4-FFF2-40B4-BE49-F238E27FC236}">
                <a16:creationId xmlns:a16="http://schemas.microsoft.com/office/drawing/2014/main" id="{D64323F0-CD2C-5BE9-A652-2D6F7474436D}"/>
              </a:ext>
            </a:extLst>
          </p:cNvPr>
          <p:cNvSpPr>
            <a:spLocks noGrp="1"/>
          </p:cNvSpPr>
          <p:nvPr>
            <p:ph idx="1"/>
          </p:nvPr>
        </p:nvSpPr>
        <p:spPr/>
        <p:txBody>
          <a:bodyPr>
            <a:normAutofit fontScale="92500" lnSpcReduction="10000"/>
          </a:bodyPr>
          <a:lstStyle/>
          <a:p>
            <a:pPr fontAlgn="base"/>
            <a:r>
              <a:rPr lang="en-US" b="1" dirty="0"/>
              <a:t>Early Defect Identification</a:t>
            </a:r>
            <a:r>
              <a:rPr lang="en-US" dirty="0"/>
              <a:t>: SQA strategies lessen the possibility of expensive problems later in the software development life cycle by facilitating the early discovery and resolution of flaws.</a:t>
            </a:r>
          </a:p>
          <a:p>
            <a:pPr fontAlgn="base"/>
            <a:r>
              <a:rPr lang="en-US" b="1" dirty="0"/>
              <a:t>Enhanced Quality of Product:</a:t>
            </a:r>
            <a:r>
              <a:rPr lang="en-US" dirty="0"/>
              <a:t> SQA plans help to improve the overall quality of the software product by setting quality standards and procedures, which raises customer satisfaction.</a:t>
            </a:r>
          </a:p>
          <a:p>
            <a:pPr fontAlgn="base"/>
            <a:r>
              <a:rPr lang="en-US" b="1" dirty="0"/>
              <a:t>Adherence to the standards</a:t>
            </a:r>
            <a:r>
              <a:rPr lang="en-US" dirty="0"/>
              <a:t>: It plans guarantee adherence to industry norms, legal mandates, and optimal methodologies, offering a structure for producing software of superior quality.</a:t>
            </a:r>
          </a:p>
          <a:p>
            <a:pPr fontAlgn="base"/>
            <a:r>
              <a:rPr lang="en-US" b="1" dirty="0"/>
              <a:t>Improved Cooperation Among Teams:</a:t>
            </a:r>
            <a:r>
              <a:rPr lang="en-US" dirty="0"/>
              <a:t> The SQA plan's well-defined roles and duties encourage productive teamwork and guarantee that everyone is on the same page with the quality goals.</a:t>
            </a:r>
          </a:p>
          <a:p>
            <a:endParaRPr lang="en-US" dirty="0"/>
          </a:p>
        </p:txBody>
      </p:sp>
    </p:spTree>
    <p:extLst>
      <p:ext uri="{BB962C8B-B14F-4D97-AF65-F5344CB8AC3E}">
        <p14:creationId xmlns:p14="http://schemas.microsoft.com/office/powerpoint/2010/main" val="1888306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C19A6-2AD1-D9D3-3B91-CD43B1AB546D}"/>
              </a:ext>
            </a:extLst>
          </p:cNvPr>
          <p:cNvSpPr>
            <a:spLocks noGrp="1"/>
          </p:cNvSpPr>
          <p:nvPr>
            <p:ph type="title"/>
          </p:nvPr>
        </p:nvSpPr>
        <p:spPr/>
        <p:txBody>
          <a:bodyPr/>
          <a:lstStyle/>
          <a:p>
            <a:r>
              <a:rPr lang="en-US" dirty="0"/>
              <a:t>Cons of Software Quality Assurance Plan:</a:t>
            </a:r>
          </a:p>
        </p:txBody>
      </p:sp>
      <p:sp>
        <p:nvSpPr>
          <p:cNvPr id="3" name="Content Placeholder 2">
            <a:extLst>
              <a:ext uri="{FF2B5EF4-FFF2-40B4-BE49-F238E27FC236}">
                <a16:creationId xmlns:a16="http://schemas.microsoft.com/office/drawing/2014/main" id="{BDA0289A-9DA8-5D1E-0894-3C7311ECFD8C}"/>
              </a:ext>
            </a:extLst>
          </p:cNvPr>
          <p:cNvSpPr>
            <a:spLocks noGrp="1"/>
          </p:cNvSpPr>
          <p:nvPr>
            <p:ph idx="1"/>
          </p:nvPr>
        </p:nvSpPr>
        <p:spPr/>
        <p:txBody>
          <a:bodyPr>
            <a:normAutofit fontScale="92500" lnSpcReduction="20000"/>
          </a:bodyPr>
          <a:lstStyle/>
          <a:p>
            <a:pPr fontAlgn="base"/>
            <a:r>
              <a:rPr lang="en-US" b="1" dirty="0"/>
              <a:t>Overhead in Small Projects: </a:t>
            </a:r>
            <a:r>
              <a:rPr lang="en-US" dirty="0"/>
              <a:t>The cost of developing and upholding a detailed SQA plan may be excessive for small projects compared to their scope and complexity.</a:t>
            </a:r>
          </a:p>
          <a:p>
            <a:pPr fontAlgn="base"/>
            <a:r>
              <a:rPr lang="en-US" b="1" dirty="0"/>
              <a:t>Opposition to Change: </a:t>
            </a:r>
            <a:r>
              <a:rPr lang="en-US" dirty="0"/>
              <a:t>An SQA strategy may involve changes that teams accustomed to their current workflows find difficult to accept, which could result in a time of adjustment and resistance.</a:t>
            </a:r>
          </a:p>
          <a:p>
            <a:pPr fontAlgn="base"/>
            <a:r>
              <a:rPr lang="en-US" b="1" dirty="0"/>
              <a:t>Documentation Complexity:</a:t>
            </a:r>
            <a:r>
              <a:rPr lang="en-US" dirty="0"/>
              <a:t> SQA plans with high documentation requirements run the risk of adding complexity and coming off as bureaucratic to teams, which makes it difficult to keep documentation up to date.</a:t>
            </a:r>
          </a:p>
          <a:p>
            <a:pPr fontAlgn="base"/>
            <a:r>
              <a:rPr lang="en-US" b="1" dirty="0"/>
              <a:t>Reliance on Human Elements:</a:t>
            </a:r>
            <a:r>
              <a:rPr lang="en-US" dirty="0"/>
              <a:t> An SQA plan's performance depends on human elements like procedure adherence and attention to detail, which makes human mistake a possibility.</a:t>
            </a:r>
          </a:p>
          <a:p>
            <a:endParaRPr lang="en-US" dirty="0"/>
          </a:p>
        </p:txBody>
      </p:sp>
    </p:spTree>
    <p:extLst>
      <p:ext uri="{BB962C8B-B14F-4D97-AF65-F5344CB8AC3E}">
        <p14:creationId xmlns:p14="http://schemas.microsoft.com/office/powerpoint/2010/main" val="363585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8CF4-139A-F68C-1837-B2A4645260F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D0CB1D9-C8AA-FAD1-4723-C2951D7E5AF2}"/>
              </a:ext>
            </a:extLst>
          </p:cNvPr>
          <p:cNvSpPr>
            <a:spLocks noGrp="1"/>
          </p:cNvSpPr>
          <p:nvPr>
            <p:ph idx="1"/>
          </p:nvPr>
        </p:nvSpPr>
        <p:spPr/>
        <p:txBody>
          <a:bodyPr/>
          <a:lstStyle/>
          <a:p>
            <a:pPr marL="0" indent="0">
              <a:buNone/>
            </a:pPr>
            <a:r>
              <a:rPr lang="en-US" dirty="0"/>
              <a:t>In conclusion, a Software Quality Assurance (SQA) plan is a fundamental and indispensable component for software companies aiming to deliver high-quality products and maintain a competitive edge in the market. The significance of an SQA plan lies in its ability to establish systematic processes, standards, and practices that ensure software products meet or exceed customer expectations.</a:t>
            </a:r>
          </a:p>
        </p:txBody>
      </p:sp>
    </p:spTree>
    <p:extLst>
      <p:ext uri="{BB962C8B-B14F-4D97-AF65-F5344CB8AC3E}">
        <p14:creationId xmlns:p14="http://schemas.microsoft.com/office/powerpoint/2010/main" val="4119103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5BFAE-9A99-E0EF-D6C9-EDE7A69B9D62}"/>
              </a:ext>
            </a:extLst>
          </p:cNvPr>
          <p:cNvSpPr>
            <a:spLocks noGrp="1"/>
          </p:cNvSpPr>
          <p:nvPr>
            <p:ph type="title"/>
          </p:nvPr>
        </p:nvSpPr>
        <p:spPr/>
        <p:txBody>
          <a:bodyPr/>
          <a:lstStyle/>
          <a:p>
            <a:r>
              <a:rPr lang="en-US" dirty="0"/>
              <a:t>Software Quality Framework</a:t>
            </a:r>
          </a:p>
        </p:txBody>
      </p:sp>
      <p:sp>
        <p:nvSpPr>
          <p:cNvPr id="3" name="Content Placeholder 2">
            <a:extLst>
              <a:ext uri="{FF2B5EF4-FFF2-40B4-BE49-F238E27FC236}">
                <a16:creationId xmlns:a16="http://schemas.microsoft.com/office/drawing/2014/main" id="{7C9A79B8-D85C-24AB-39C5-051747E856CB}"/>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Software Quality Framework is a model for software quality that ensures quality by connecting and integrating the different views of software quality. This article focuses on discussing the Software Quality Framework.</a:t>
            </a:r>
          </a:p>
        </p:txBody>
      </p:sp>
    </p:spTree>
    <p:extLst>
      <p:ext uri="{BB962C8B-B14F-4D97-AF65-F5344CB8AC3E}">
        <p14:creationId xmlns:p14="http://schemas.microsoft.com/office/powerpoint/2010/main" val="297378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3523F-F4A7-CBB7-EDFE-0D4E6D389923}"/>
              </a:ext>
            </a:extLst>
          </p:cNvPr>
          <p:cNvSpPr>
            <a:spLocks noGrp="1"/>
          </p:cNvSpPr>
          <p:nvPr>
            <p:ph type="title"/>
          </p:nvPr>
        </p:nvSpPr>
        <p:spPr/>
        <p:txBody>
          <a:bodyPr/>
          <a:lstStyle/>
          <a:p>
            <a:r>
              <a:rPr lang="en-US" dirty="0"/>
              <a:t>What is a Software Quality Framework?</a:t>
            </a:r>
          </a:p>
        </p:txBody>
      </p:sp>
      <p:sp>
        <p:nvSpPr>
          <p:cNvPr id="3" name="Content Placeholder 2">
            <a:extLst>
              <a:ext uri="{FF2B5EF4-FFF2-40B4-BE49-F238E27FC236}">
                <a16:creationId xmlns:a16="http://schemas.microsoft.com/office/drawing/2014/main" id="{CE483CEB-DEE5-474F-E8DE-98F38503ED86}"/>
              </a:ext>
            </a:extLst>
          </p:cNvPr>
          <p:cNvSpPr>
            <a:spLocks noGrp="1"/>
          </p:cNvSpPr>
          <p:nvPr>
            <p:ph idx="1"/>
          </p:nvPr>
        </p:nvSpPr>
        <p:spPr/>
        <p:txBody>
          <a:bodyPr>
            <a:normAutofit lnSpcReduction="10000"/>
          </a:bodyPr>
          <a:lstStyle/>
          <a:p>
            <a:pPr marL="0" indent="0" fontAlgn="base">
              <a:buNone/>
            </a:pPr>
            <a:r>
              <a:rPr lang="en-US" dirty="0"/>
              <a:t>Software Quality Framework connects the customer view with the developer's view of software quality and it treats software as a product.</a:t>
            </a:r>
          </a:p>
          <a:p>
            <a:pPr fontAlgn="base"/>
            <a:r>
              <a:rPr lang="en-US" dirty="0"/>
              <a:t>The software product view describes the characteristics of a product that bear on its ability to satisfy stated and implied needs. </a:t>
            </a:r>
          </a:p>
          <a:p>
            <a:pPr fontAlgn="base"/>
            <a:r>
              <a:rPr lang="en-US" dirty="0"/>
              <a:t>This is a framework that describes all the different concepts relating to quality in a common way measured by a qualitative scale that can be understood and interpreted commonly.</a:t>
            </a:r>
          </a:p>
          <a:p>
            <a:pPr marL="0" indent="0" fontAlgn="base">
              <a:buNone/>
            </a:pPr>
            <a:r>
              <a:rPr lang="en-US" dirty="0"/>
              <a:t>Therefore, the most influential factor for the developers is the customer perception. This framework connects the developer with the customer to derive a common interpretation of quality. </a:t>
            </a:r>
          </a:p>
          <a:p>
            <a:endParaRPr lang="en-US" dirty="0"/>
          </a:p>
        </p:txBody>
      </p:sp>
    </p:spTree>
    <p:extLst>
      <p:ext uri="{BB962C8B-B14F-4D97-AF65-F5344CB8AC3E}">
        <p14:creationId xmlns:p14="http://schemas.microsoft.com/office/powerpoint/2010/main" val="2631697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B0175-6725-821C-7789-A376BCA5784B}"/>
              </a:ext>
            </a:extLst>
          </p:cNvPr>
          <p:cNvSpPr>
            <a:spLocks noGrp="1"/>
          </p:cNvSpPr>
          <p:nvPr>
            <p:ph type="title"/>
          </p:nvPr>
        </p:nvSpPr>
        <p:spPr/>
        <p:txBody>
          <a:bodyPr/>
          <a:lstStyle/>
          <a:p>
            <a:r>
              <a:rPr lang="en-US" dirty="0"/>
              <a:t>Developers View </a:t>
            </a:r>
          </a:p>
        </p:txBody>
      </p:sp>
      <p:sp>
        <p:nvSpPr>
          <p:cNvPr id="3" name="Content Placeholder 2">
            <a:extLst>
              <a:ext uri="{FF2B5EF4-FFF2-40B4-BE49-F238E27FC236}">
                <a16:creationId xmlns:a16="http://schemas.microsoft.com/office/drawing/2014/main" id="{A69F1AAA-E217-67E3-B8F6-1A975E13DDBE}"/>
              </a:ext>
            </a:extLst>
          </p:cNvPr>
          <p:cNvSpPr>
            <a:spLocks noGrp="1"/>
          </p:cNvSpPr>
          <p:nvPr>
            <p:ph idx="1"/>
          </p:nvPr>
        </p:nvSpPr>
        <p:spPr/>
        <p:txBody>
          <a:bodyPr/>
          <a:lstStyle/>
          <a:p>
            <a:pPr marL="0" indent="0">
              <a:buNone/>
            </a:pPr>
            <a:endParaRPr lang="en-US" dirty="0"/>
          </a:p>
          <a:p>
            <a:pPr marL="0" indent="0">
              <a:buNone/>
            </a:pPr>
            <a:r>
              <a:rPr lang="en-US" dirty="0"/>
              <a:t>Validation and verification are two independent methods used together to check that a software product meets the requirements and that it fulfills its intended purpose. Validation checks that the product design satisfies the purposeful usage and verification checks for errors in the software.</a:t>
            </a:r>
          </a:p>
        </p:txBody>
      </p:sp>
    </p:spTree>
    <p:extLst>
      <p:ext uri="{BB962C8B-B14F-4D97-AF65-F5344CB8AC3E}">
        <p14:creationId xmlns:p14="http://schemas.microsoft.com/office/powerpoint/2010/main" val="4032087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00AD-575C-A94F-3B0B-87F218E8BEE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A83F14E-0271-7FFE-1523-BD2F0338784D}"/>
              </a:ext>
            </a:extLst>
          </p:cNvPr>
          <p:cNvSpPr>
            <a:spLocks noGrp="1"/>
          </p:cNvSpPr>
          <p:nvPr>
            <p:ph idx="1"/>
          </p:nvPr>
        </p:nvSpPr>
        <p:spPr/>
        <p:txBody>
          <a:bodyPr/>
          <a:lstStyle/>
          <a:p>
            <a:pPr fontAlgn="base"/>
            <a:r>
              <a:rPr lang="en-US" dirty="0"/>
              <a:t>The primary concern for developers is in the design and engineering processes involved in producing software.</a:t>
            </a:r>
          </a:p>
          <a:p>
            <a:pPr fontAlgn="base"/>
            <a:r>
              <a:rPr lang="en-US" dirty="0"/>
              <a:t>Quality can be measured by the degree of conformance to predetermined requirements and standards, and deviations from these standards can lead to poor quality and low reliability.</a:t>
            </a:r>
          </a:p>
          <a:p>
            <a:pPr fontAlgn="base"/>
            <a:r>
              <a:rPr lang="en-US" dirty="0"/>
              <a:t>While validation and verification are used by the developers to improve the software, the two methods don’t represent a quantifiable quality measurement. </a:t>
            </a:r>
          </a:p>
          <a:p>
            <a:pPr fontAlgn="base"/>
            <a:r>
              <a:rPr lang="en-US" dirty="0"/>
              <a:t>The developer's view of software quality and the customer's view of software quality are both different things. </a:t>
            </a:r>
          </a:p>
          <a:p>
            <a:endParaRPr lang="en-US" dirty="0"/>
          </a:p>
        </p:txBody>
      </p:sp>
    </p:spTree>
    <p:extLst>
      <p:ext uri="{BB962C8B-B14F-4D97-AF65-F5344CB8AC3E}">
        <p14:creationId xmlns:p14="http://schemas.microsoft.com/office/powerpoint/2010/main" val="776310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958B8-59EA-BAA8-F930-D905C7037B49}"/>
              </a:ext>
            </a:extLst>
          </p:cNvPr>
          <p:cNvSpPr>
            <a:spLocks noGrp="1"/>
          </p:cNvSpPr>
          <p:nvPr>
            <p:ph type="title"/>
          </p:nvPr>
        </p:nvSpPr>
        <p:spPr/>
        <p:txBody>
          <a:bodyPr/>
          <a:lstStyle/>
          <a:p>
            <a:r>
              <a:rPr lang="en-US" dirty="0"/>
              <a:t>Ex.</a:t>
            </a:r>
          </a:p>
        </p:txBody>
      </p:sp>
      <p:sp>
        <p:nvSpPr>
          <p:cNvPr id="3" name="Content Placeholder 2">
            <a:extLst>
              <a:ext uri="{FF2B5EF4-FFF2-40B4-BE49-F238E27FC236}">
                <a16:creationId xmlns:a16="http://schemas.microsoft.com/office/drawing/2014/main" id="{F2FE77D7-1BB8-2BFB-35BE-29AE16650FF3}"/>
              </a:ext>
            </a:extLst>
          </p:cNvPr>
          <p:cNvSpPr>
            <a:spLocks noGrp="1"/>
          </p:cNvSpPr>
          <p:nvPr>
            <p:ph idx="1"/>
          </p:nvPr>
        </p:nvSpPr>
        <p:spPr/>
        <p:txBody>
          <a:bodyPr/>
          <a:lstStyle/>
          <a:p>
            <a:pPr marL="0" indent="0" fontAlgn="base">
              <a:buNone/>
            </a:pPr>
            <a:r>
              <a:rPr lang="en-US" dirty="0"/>
              <a:t>For example, the customer understands or describes the quality of operation as meeting the requirement while the developers use different factors to describe the software quality. The developer view of quality in the software is influenced by many factors. This model stresses on 3 primary ones:</a:t>
            </a:r>
          </a:p>
          <a:p>
            <a:pPr fontAlgn="base"/>
            <a:r>
              <a:rPr lang="en-US" b="1" i="1" dirty="0"/>
              <a:t>The code:</a:t>
            </a:r>
            <a:r>
              <a:rPr lang="en-US" i="1" dirty="0"/>
              <a:t> It is measured by its correctness and reliability.</a:t>
            </a:r>
          </a:p>
          <a:p>
            <a:pPr fontAlgn="base"/>
            <a:r>
              <a:rPr lang="en-US" b="1" i="1" dirty="0"/>
              <a:t>The data:</a:t>
            </a:r>
            <a:r>
              <a:rPr lang="en-US" i="1" dirty="0"/>
              <a:t> The application integrity measures it.</a:t>
            </a:r>
          </a:p>
          <a:p>
            <a:pPr fontAlgn="base"/>
            <a:r>
              <a:rPr lang="en-US" b="1" i="1" dirty="0"/>
              <a:t>Maintainability:</a:t>
            </a:r>
            <a:r>
              <a:rPr lang="en-US" i="1" dirty="0"/>
              <a:t> It has different measures the simplest is the mean time to change.</a:t>
            </a:r>
          </a:p>
          <a:p>
            <a:endParaRPr lang="en-US" dirty="0"/>
          </a:p>
        </p:txBody>
      </p:sp>
    </p:spTree>
    <p:extLst>
      <p:ext uri="{BB962C8B-B14F-4D97-AF65-F5344CB8AC3E}">
        <p14:creationId xmlns:p14="http://schemas.microsoft.com/office/powerpoint/2010/main" val="2919361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1764C-8519-FC8E-9C9B-ADD832FB1B22}"/>
              </a:ext>
            </a:extLst>
          </p:cNvPr>
          <p:cNvSpPr>
            <a:spLocks noGrp="1"/>
          </p:cNvSpPr>
          <p:nvPr>
            <p:ph type="title"/>
          </p:nvPr>
        </p:nvSpPr>
        <p:spPr/>
        <p:txBody>
          <a:bodyPr/>
          <a:lstStyle/>
          <a:p>
            <a:r>
              <a:rPr lang="en-US" dirty="0"/>
              <a:t>Users View</a:t>
            </a:r>
          </a:p>
        </p:txBody>
      </p:sp>
      <p:sp>
        <p:nvSpPr>
          <p:cNvPr id="3" name="Content Placeholder 2">
            <a:extLst>
              <a:ext uri="{FF2B5EF4-FFF2-40B4-BE49-F238E27FC236}">
                <a16:creationId xmlns:a16="http://schemas.microsoft.com/office/drawing/2014/main" id="{0668CCE1-4C48-B78B-5F41-9BF3C0B67233}"/>
              </a:ext>
            </a:extLst>
          </p:cNvPr>
          <p:cNvSpPr>
            <a:spLocks noGrp="1"/>
          </p:cNvSpPr>
          <p:nvPr>
            <p:ph idx="1"/>
          </p:nvPr>
        </p:nvSpPr>
        <p:spPr/>
        <p:txBody>
          <a:bodyPr>
            <a:normAutofit fontScale="92500" lnSpcReduction="20000"/>
          </a:bodyPr>
          <a:lstStyle/>
          <a:p>
            <a:pPr marL="0" indent="0" fontAlgn="base">
              <a:buNone/>
            </a:pPr>
            <a:r>
              <a:rPr lang="en-US" dirty="0"/>
              <a:t>When the user acquires software, he/she always expect a high-quality software. When end users develop their software then quality is different. End-user programming, a phrase popularized by which is programming to achieve the result of a program primarily for personal, rather than public use.</a:t>
            </a:r>
          </a:p>
          <a:p>
            <a:pPr fontAlgn="base"/>
            <a:r>
              <a:rPr lang="en-US" dirty="0"/>
              <a:t>The important distinction here is that software itself is not primarily intended for use by many users with varying needs. </a:t>
            </a:r>
          </a:p>
          <a:p>
            <a:pPr fontAlgn="base"/>
            <a:r>
              <a:rPr lang="en-US" dirty="0"/>
              <a:t>For example, a teacher may write a spreadsheet to track student's test scores.</a:t>
            </a:r>
          </a:p>
          <a:p>
            <a:pPr fontAlgn="base"/>
            <a:r>
              <a:rPr lang="en-US" dirty="0"/>
              <a:t>In these end-user programming situations, the program is a means to an end that could be used to accomplish a goal.</a:t>
            </a:r>
          </a:p>
          <a:p>
            <a:pPr fontAlgn="base"/>
            <a:r>
              <a:rPr lang="en-US" dirty="0"/>
              <a:t>In contradiction to end-user programming, professional programming has the goal of producing software for others to use. </a:t>
            </a:r>
          </a:p>
          <a:p>
            <a:endParaRPr lang="en-US" dirty="0"/>
          </a:p>
        </p:txBody>
      </p:sp>
    </p:spTree>
    <p:extLst>
      <p:ext uri="{BB962C8B-B14F-4D97-AF65-F5344CB8AC3E}">
        <p14:creationId xmlns:p14="http://schemas.microsoft.com/office/powerpoint/2010/main" val="760058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75BC-C4AD-EBAC-7E49-0B388F3F894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3EE817A-8180-71DF-9DE9-4A8A793485C5}"/>
              </a:ext>
            </a:extLst>
          </p:cNvPr>
          <p:cNvSpPr>
            <a:spLocks noGrp="1"/>
          </p:cNvSpPr>
          <p:nvPr>
            <p:ph idx="1"/>
          </p:nvPr>
        </p:nvSpPr>
        <p:spPr/>
        <p:txBody>
          <a:bodyPr/>
          <a:lstStyle/>
          <a:p>
            <a:pPr fontAlgn="base"/>
            <a:r>
              <a:rPr lang="en-US" dirty="0"/>
              <a:t>For example, the moment a novice Web developer moves from designing a web page for himself to designing a Web page for others, the nature of this activity has changed. </a:t>
            </a:r>
          </a:p>
          <a:p>
            <a:pPr fontAlgn="base"/>
            <a:r>
              <a:rPr lang="en-US" dirty="0"/>
              <a:t>Users find software quality as a fit between their goals and software's functionality.</a:t>
            </a:r>
          </a:p>
          <a:p>
            <a:pPr fontAlgn="base"/>
            <a:r>
              <a:rPr lang="en-US" dirty="0"/>
              <a:t>The better the quality, the more likely the user will be satisfied with the soft-ware.</a:t>
            </a:r>
          </a:p>
          <a:p>
            <a:pPr fontAlgn="base"/>
            <a:r>
              <a:rPr lang="en-US" dirty="0"/>
              <a:t>When the quality is bad, developers must meet user needs or face a diminishing demand for their software.</a:t>
            </a:r>
          </a:p>
          <a:p>
            <a:endParaRPr lang="en-US" dirty="0"/>
          </a:p>
        </p:txBody>
      </p:sp>
    </p:spTree>
    <p:extLst>
      <p:ext uri="{BB962C8B-B14F-4D97-AF65-F5344CB8AC3E}">
        <p14:creationId xmlns:p14="http://schemas.microsoft.com/office/powerpoint/2010/main" val="1077707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BBDBD-AA7B-3D0F-405F-F58F23725396}"/>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176AC374-0D40-47F7-50C2-A6391EEA4FE5}"/>
              </a:ext>
            </a:extLst>
          </p:cNvPr>
          <p:cNvSpPr>
            <a:spLocks noGrp="1"/>
          </p:cNvSpPr>
          <p:nvPr>
            <p:ph idx="1"/>
          </p:nvPr>
        </p:nvSpPr>
        <p:spPr/>
        <p:txBody>
          <a:bodyPr/>
          <a:lstStyle/>
          <a:p>
            <a:pPr marL="0" indent="0">
              <a:buNone/>
            </a:pPr>
            <a:r>
              <a:rPr lang="en-US" dirty="0"/>
              <a:t>Therefore, the user understands quality as fitness for purpose. Avoiding complexity and keeping software simple, considerably lessens the implementation risk of software. In some instances, users abandoned the implementation of a complex software because the software developers were expecting the users to change their business and to go with the way the software works. </a:t>
            </a:r>
          </a:p>
        </p:txBody>
      </p:sp>
    </p:spTree>
    <p:extLst>
      <p:ext uri="{BB962C8B-B14F-4D97-AF65-F5344CB8AC3E}">
        <p14:creationId xmlns:p14="http://schemas.microsoft.com/office/powerpoint/2010/main" val="853579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04D6-F56F-2BFD-E1DC-4A19C32484A1}"/>
              </a:ext>
            </a:extLst>
          </p:cNvPr>
          <p:cNvSpPr>
            <a:spLocks noGrp="1"/>
          </p:cNvSpPr>
          <p:nvPr>
            <p:ph type="title"/>
          </p:nvPr>
        </p:nvSpPr>
        <p:spPr/>
        <p:txBody>
          <a:bodyPr/>
          <a:lstStyle/>
          <a:p>
            <a:r>
              <a:rPr lang="en-US" dirty="0"/>
              <a:t>Product View</a:t>
            </a:r>
          </a:p>
        </p:txBody>
      </p:sp>
      <p:sp>
        <p:nvSpPr>
          <p:cNvPr id="3" name="Content Placeholder 2">
            <a:extLst>
              <a:ext uri="{FF2B5EF4-FFF2-40B4-BE49-F238E27FC236}">
                <a16:creationId xmlns:a16="http://schemas.microsoft.com/office/drawing/2014/main" id="{C20A2438-E909-BD8A-26F4-DABDABAF160A}"/>
              </a:ext>
            </a:extLst>
          </p:cNvPr>
          <p:cNvSpPr>
            <a:spLocks noGrp="1"/>
          </p:cNvSpPr>
          <p:nvPr>
            <p:ph idx="1"/>
          </p:nvPr>
        </p:nvSpPr>
        <p:spPr/>
        <p:txBody>
          <a:bodyPr>
            <a:normAutofit fontScale="92500" lnSpcReduction="10000"/>
          </a:bodyPr>
          <a:lstStyle/>
          <a:p>
            <a:pPr marL="0" indent="0" fontAlgn="base">
              <a:buNone/>
            </a:pPr>
            <a:r>
              <a:rPr lang="en-US" dirty="0"/>
              <a:t>The product view describes quality as correlated to inherent characteristics of the product. Product quality is defined as the set of characteristics and features of a product that gives contribution to its ability to fulfill given requirements.</a:t>
            </a:r>
          </a:p>
          <a:p>
            <a:pPr fontAlgn="base"/>
            <a:r>
              <a:rPr lang="en-US" dirty="0"/>
              <a:t>Product quality can be measured by the value-based view which sees the quality as dependent on the amount a customer is willing to pay for it.</a:t>
            </a:r>
          </a:p>
          <a:p>
            <a:pPr fontAlgn="base"/>
            <a:r>
              <a:rPr lang="en-US" dirty="0"/>
              <a:t>According to the users, a high-quality product is one that satisfies their expectations and preferences while meeting their requirement.</a:t>
            </a:r>
          </a:p>
          <a:p>
            <a:pPr fontAlgn="base"/>
            <a:r>
              <a:rPr lang="en-US" dirty="0"/>
              <a:t>Satisfaction of end users of the product represents craft to learn, use, upgrade the product and when asked to participate in rating the product, a positive rating is given.</a:t>
            </a:r>
          </a:p>
          <a:p>
            <a:endParaRPr lang="en-US" dirty="0"/>
          </a:p>
        </p:txBody>
      </p:sp>
    </p:spTree>
    <p:extLst>
      <p:ext uri="{BB962C8B-B14F-4D97-AF65-F5344CB8AC3E}">
        <p14:creationId xmlns:p14="http://schemas.microsoft.com/office/powerpoint/2010/main" val="2097204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3476</Words>
  <Application>Microsoft Office PowerPoint</Application>
  <PresentationFormat>Widescreen</PresentationFormat>
  <Paragraphs>184</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Software Quality Assurance Plan in Software Development </vt:lpstr>
      <vt:lpstr>Definition</vt:lpstr>
      <vt:lpstr>What is a Software Quality Assurance Plan?</vt:lpstr>
      <vt:lpstr>Importance of Software Quality Assurance Plan</vt:lpstr>
      <vt:lpstr>Cont.</vt:lpstr>
      <vt:lpstr>Objectives And Goals of Software Quality Assurance Plan:</vt:lpstr>
      <vt:lpstr>Cont.</vt:lpstr>
      <vt:lpstr>Cont.</vt:lpstr>
      <vt:lpstr>Cont.</vt:lpstr>
      <vt:lpstr>Cont.</vt:lpstr>
      <vt:lpstr>Cont.</vt:lpstr>
      <vt:lpstr>Steps to Develop Software Quality Assurance Plan:</vt:lpstr>
      <vt:lpstr>PowerPoint Presentation</vt:lpstr>
      <vt:lpstr>PowerPoint Presentation</vt:lpstr>
      <vt:lpstr>PowerPoint Presentation</vt:lpstr>
      <vt:lpstr>PowerPoint Presentation</vt:lpstr>
      <vt:lpstr>PowerPoint Presentation</vt:lpstr>
      <vt:lpstr>SQA implementation phase: </vt:lpstr>
      <vt:lpstr>Best Practices for Creating Software Quality Assurance Plan:</vt:lpstr>
      <vt:lpstr>Cont.</vt:lpstr>
      <vt:lpstr>Cont.</vt:lpstr>
      <vt:lpstr>Cont.</vt:lpstr>
      <vt:lpstr>Why is SQA Plan Important for Software Companies?</vt:lpstr>
      <vt:lpstr>Cont.</vt:lpstr>
      <vt:lpstr>Cont.</vt:lpstr>
      <vt:lpstr>Pros of Software Quality Assurance Plan:</vt:lpstr>
      <vt:lpstr>Cons of Software Quality Assurance Plan:</vt:lpstr>
      <vt:lpstr>Conclusion:</vt:lpstr>
      <vt:lpstr>Software Quality Framework</vt:lpstr>
      <vt:lpstr>What is a Software Quality Framework?</vt:lpstr>
      <vt:lpstr>Developers View </vt:lpstr>
      <vt:lpstr>Cont.</vt:lpstr>
      <vt:lpstr>Ex.</vt:lpstr>
      <vt:lpstr>Users View</vt:lpstr>
      <vt:lpstr>Cont.</vt:lpstr>
      <vt:lpstr>Cont.</vt:lpstr>
      <vt:lpstr>Product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106263</dc:creator>
  <cp:lastModifiedBy>106263</cp:lastModifiedBy>
  <cp:revision>30</cp:revision>
  <dcterms:created xsi:type="dcterms:W3CDTF">2025-08-31T14:54:15Z</dcterms:created>
  <dcterms:modified xsi:type="dcterms:W3CDTF">2025-09-01T04:40:16Z</dcterms:modified>
</cp:coreProperties>
</file>