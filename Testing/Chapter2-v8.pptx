
<file path=[Content_Types].xml><?xml version="1.0" encoding="utf-8"?>
<Types xmlns="http://schemas.openxmlformats.org/package/2006/content-types">
  <Default Extension="vml" ContentType="application/vnd.openxmlformats-officedocument.vmlDrawing"/>
  <Default Extension="bin" ContentType="application/vnd.openxmlformats-officedocument.oleObject"/>
  <Default Extension="wav" ContentType="audio/x-wav"/>
  <Default Extension="jpeg" ContentType="image/jpeg"/>
  <Default Extension="JPG" ContentType="image/.jpg"/>
  <Default Extension="png" ContentType="image/png"/>
  <Default Extension="emf" ContentType="image/x-e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48" r:id="rId1"/>
  </p:sldMasterIdLst>
  <p:notesMasterIdLst>
    <p:notesMasterId r:id="rId4"/>
  </p:notesMasterIdLst>
  <p:sldIdLst>
    <p:sldId id="960" r:id="rId3"/>
    <p:sldId id="1041" r:id="rId5"/>
    <p:sldId id="1054" r:id="rId6"/>
    <p:sldId id="1055" r:id="rId7"/>
    <p:sldId id="965" r:id="rId8"/>
    <p:sldId id="1056" r:id="rId9"/>
    <p:sldId id="1057" r:id="rId10"/>
    <p:sldId id="1058" r:id="rId11"/>
    <p:sldId id="1059" r:id="rId12"/>
    <p:sldId id="1060" r:id="rId13"/>
    <p:sldId id="1061" r:id="rId14"/>
    <p:sldId id="1062" r:id="rId15"/>
    <p:sldId id="1063" r:id="rId16"/>
    <p:sldId id="1064" r:id="rId17"/>
    <p:sldId id="1065" r:id="rId18"/>
    <p:sldId id="1066" r:id="rId19"/>
    <p:sldId id="1042" r:id="rId20"/>
    <p:sldId id="1068" r:id="rId21"/>
    <p:sldId id="1069" r:id="rId22"/>
    <p:sldId id="1070" r:id="rId23"/>
    <p:sldId id="1072" r:id="rId24"/>
    <p:sldId id="1073" r:id="rId25"/>
    <p:sldId id="1074" r:id="rId26"/>
    <p:sldId id="1075" r:id="rId27"/>
    <p:sldId id="1076" r:id="rId28"/>
    <p:sldId id="1077" r:id="rId29"/>
    <p:sldId id="1078" r:id="rId30"/>
    <p:sldId id="1079" r:id="rId31"/>
    <p:sldId id="1080" r:id="rId32"/>
    <p:sldId id="1081" r:id="rId33"/>
    <p:sldId id="1082" r:id="rId34"/>
    <p:sldId id="1083" r:id="rId35"/>
    <p:sldId id="1084" r:id="rId36"/>
    <p:sldId id="1085" r:id="rId37"/>
    <p:sldId id="1086" r:id="rId38"/>
    <p:sldId id="1087" r:id="rId39"/>
    <p:sldId id="1088" r:id="rId40"/>
    <p:sldId id="1089" r:id="rId41"/>
    <p:sldId id="1095" r:id="rId42"/>
    <p:sldId id="1093" r:id="rId43"/>
    <p:sldId id="1094" r:id="rId44"/>
    <p:sldId id="1096" r:id="rId45"/>
    <p:sldId id="1097" r:id="rId46"/>
    <p:sldId id="1100" r:id="rId47"/>
    <p:sldId id="1098" r:id="rId48"/>
    <p:sldId id="1099" r:id="rId49"/>
    <p:sldId id="1160" r:id="rId50"/>
    <p:sldId id="1049" r:id="rId51"/>
    <p:sldId id="1101" r:id="rId52"/>
    <p:sldId id="1102" r:id="rId53"/>
    <p:sldId id="1103" r:id="rId54"/>
    <p:sldId id="1104" r:id="rId55"/>
    <p:sldId id="1106" r:id="rId56"/>
    <p:sldId id="1107" r:id="rId57"/>
    <p:sldId id="1108" r:id="rId58"/>
    <p:sldId id="1109" r:id="rId59"/>
    <p:sldId id="1110" r:id="rId60"/>
    <p:sldId id="1050" r:id="rId61"/>
    <p:sldId id="1161" r:id="rId62"/>
    <p:sldId id="1162" r:id="rId63"/>
    <p:sldId id="1164" r:id="rId64"/>
    <p:sldId id="1165" r:id="rId65"/>
    <p:sldId id="1163" r:id="rId66"/>
    <p:sldId id="1166" r:id="rId67"/>
    <p:sldId id="1112" r:id="rId68"/>
    <p:sldId id="1167" r:id="rId69"/>
    <p:sldId id="1113" r:id="rId70"/>
    <p:sldId id="1114" r:id="rId71"/>
    <p:sldId id="1115" r:id="rId72"/>
    <p:sldId id="1116" r:id="rId73"/>
    <p:sldId id="1125" r:id="rId74"/>
    <p:sldId id="1117" r:id="rId75"/>
    <p:sldId id="1118" r:id="rId76"/>
    <p:sldId id="1119" r:id="rId77"/>
    <p:sldId id="1120" r:id="rId78"/>
    <p:sldId id="1121" r:id="rId79"/>
    <p:sldId id="1122" r:id="rId80"/>
    <p:sldId id="1123" r:id="rId81"/>
    <p:sldId id="1124" r:id="rId82"/>
    <p:sldId id="1051" r:id="rId83"/>
    <p:sldId id="1127" r:id="rId84"/>
    <p:sldId id="1126" r:id="rId85"/>
    <p:sldId id="1128" r:id="rId86"/>
    <p:sldId id="1129" r:id="rId87"/>
    <p:sldId id="1130" r:id="rId88"/>
    <p:sldId id="1131" r:id="rId89"/>
    <p:sldId id="1132" r:id="rId90"/>
    <p:sldId id="1133" r:id="rId91"/>
    <p:sldId id="1134" r:id="rId92"/>
    <p:sldId id="1052" r:id="rId93"/>
    <p:sldId id="1135" r:id="rId94"/>
    <p:sldId id="1136" r:id="rId95"/>
    <p:sldId id="1137" r:id="rId96"/>
    <p:sldId id="1138" r:id="rId97"/>
    <p:sldId id="1141" r:id="rId98"/>
    <p:sldId id="1142" r:id="rId99"/>
    <p:sldId id="1143" r:id="rId100"/>
    <p:sldId id="1139" r:id="rId101"/>
    <p:sldId id="1140" r:id="rId102"/>
    <p:sldId id="1144" r:id="rId103"/>
    <p:sldId id="1146" r:id="rId104"/>
    <p:sldId id="533" r:id="rId105"/>
    <p:sldId id="534" r:id="rId106"/>
    <p:sldId id="1145" r:id="rId107"/>
    <p:sldId id="1147" r:id="rId108"/>
    <p:sldId id="1053" r:id="rId109"/>
    <p:sldId id="1148" r:id="rId110"/>
    <p:sldId id="1149" r:id="rId111"/>
    <p:sldId id="1150" r:id="rId112"/>
    <p:sldId id="1151" r:id="rId113"/>
    <p:sldId id="1152" r:id="rId114"/>
    <p:sldId id="1153" r:id="rId115"/>
    <p:sldId id="1154" r:id="rId116"/>
    <p:sldId id="1155" r:id="rId117"/>
    <p:sldId id="1156" r:id="rId118"/>
    <p:sldId id="1157" r:id="rId119"/>
    <p:sldId id="1158" r:id="rId120"/>
    <p:sldId id="1159" r:id="rId121"/>
    <p:sldId id="1048" r:id="rId12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104" userDrawn="1">
          <p15:clr>
            <a:srgbClr val="A4A3A4"/>
          </p15:clr>
        </p15:guide>
        <p15:guide id="2" pos="57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9CDFF9"/>
    <a:srgbClr val="010086"/>
    <a:srgbClr val="CCCCFF"/>
    <a:srgbClr val="3C6CDF"/>
    <a:srgbClr val="0000A8"/>
    <a:srgbClr val="C96B72"/>
    <a:srgbClr val="B8C2C9"/>
    <a:srgbClr val="D6DCE0"/>
    <a:srgbClr val="01008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38331"/>
    <p:restoredTop sz="79592"/>
  </p:normalViewPr>
  <p:slideViewPr>
    <p:cSldViewPr snapToGrid="0" snapToObjects="1" showGuides="1">
      <p:cViewPr varScale="1">
        <p:scale>
          <a:sx n="76" d="100"/>
          <a:sy n="76" d="100"/>
        </p:scale>
        <p:origin x="216" y="624"/>
      </p:cViewPr>
      <p:guideLst>
        <p:guide orient="horz" pos="1104"/>
        <p:guide pos="576"/>
      </p:guideLst>
    </p:cSldViewPr>
  </p:slideViewPr>
  <p:outlineViewPr>
    <p:cViewPr>
      <p:scale>
        <a:sx n="33" d="100"/>
        <a:sy n="33" d="100"/>
      </p:scale>
      <p:origin x="0" y="-415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99" Type="http://schemas.openxmlformats.org/officeDocument/2006/relationships/slide" Target="slides/slide96.xml"/><Relationship Id="rId98" Type="http://schemas.openxmlformats.org/officeDocument/2006/relationships/slide" Target="slides/slide95.xml"/><Relationship Id="rId97" Type="http://schemas.openxmlformats.org/officeDocument/2006/relationships/slide" Target="slides/slide94.xml"/><Relationship Id="rId96" Type="http://schemas.openxmlformats.org/officeDocument/2006/relationships/slide" Target="slides/slide93.xml"/><Relationship Id="rId95" Type="http://schemas.openxmlformats.org/officeDocument/2006/relationships/slide" Target="slides/slide92.xml"/><Relationship Id="rId94" Type="http://schemas.openxmlformats.org/officeDocument/2006/relationships/slide" Target="slides/slide91.xml"/><Relationship Id="rId93" Type="http://schemas.openxmlformats.org/officeDocument/2006/relationships/slide" Target="slides/slide90.xml"/><Relationship Id="rId92" Type="http://schemas.openxmlformats.org/officeDocument/2006/relationships/slide" Target="slides/slide89.xml"/><Relationship Id="rId91" Type="http://schemas.openxmlformats.org/officeDocument/2006/relationships/slide" Target="slides/slide88.xml"/><Relationship Id="rId90" Type="http://schemas.openxmlformats.org/officeDocument/2006/relationships/slide" Target="slides/slide87.xml"/><Relationship Id="rId9" Type="http://schemas.openxmlformats.org/officeDocument/2006/relationships/slide" Target="slides/slide6.xml"/><Relationship Id="rId89" Type="http://schemas.openxmlformats.org/officeDocument/2006/relationships/slide" Target="slides/slide86.xml"/><Relationship Id="rId88" Type="http://schemas.openxmlformats.org/officeDocument/2006/relationships/slide" Target="slides/slide85.xml"/><Relationship Id="rId87" Type="http://schemas.openxmlformats.org/officeDocument/2006/relationships/slide" Target="slides/slide84.xml"/><Relationship Id="rId86" Type="http://schemas.openxmlformats.org/officeDocument/2006/relationships/slide" Target="slides/slide83.xml"/><Relationship Id="rId85" Type="http://schemas.openxmlformats.org/officeDocument/2006/relationships/slide" Target="slides/slide82.xml"/><Relationship Id="rId84" Type="http://schemas.openxmlformats.org/officeDocument/2006/relationships/slide" Target="slides/slide81.xml"/><Relationship Id="rId83" Type="http://schemas.openxmlformats.org/officeDocument/2006/relationships/slide" Target="slides/slide80.xml"/><Relationship Id="rId82" Type="http://schemas.openxmlformats.org/officeDocument/2006/relationships/slide" Target="slides/slide79.xml"/><Relationship Id="rId81" Type="http://schemas.openxmlformats.org/officeDocument/2006/relationships/slide" Target="slides/slide78.xml"/><Relationship Id="rId80" Type="http://schemas.openxmlformats.org/officeDocument/2006/relationships/slide" Target="slides/slide77.xml"/><Relationship Id="rId8" Type="http://schemas.openxmlformats.org/officeDocument/2006/relationships/slide" Target="slides/slide5.xml"/><Relationship Id="rId79" Type="http://schemas.openxmlformats.org/officeDocument/2006/relationships/slide" Target="slides/slide76.xml"/><Relationship Id="rId78" Type="http://schemas.openxmlformats.org/officeDocument/2006/relationships/slide" Target="slides/slide75.xml"/><Relationship Id="rId77" Type="http://schemas.openxmlformats.org/officeDocument/2006/relationships/slide" Target="slides/slide74.xml"/><Relationship Id="rId76" Type="http://schemas.openxmlformats.org/officeDocument/2006/relationships/slide" Target="slides/slide73.xml"/><Relationship Id="rId75" Type="http://schemas.openxmlformats.org/officeDocument/2006/relationships/slide" Target="slides/slide72.xml"/><Relationship Id="rId74" Type="http://schemas.openxmlformats.org/officeDocument/2006/relationships/slide" Target="slides/slide71.xml"/><Relationship Id="rId73" Type="http://schemas.openxmlformats.org/officeDocument/2006/relationships/slide" Target="slides/slide70.xml"/><Relationship Id="rId72" Type="http://schemas.openxmlformats.org/officeDocument/2006/relationships/slide" Target="slides/slide69.xml"/><Relationship Id="rId71" Type="http://schemas.openxmlformats.org/officeDocument/2006/relationships/slide" Target="slides/slide68.xml"/><Relationship Id="rId70" Type="http://schemas.openxmlformats.org/officeDocument/2006/relationships/slide" Target="slides/slide67.xml"/><Relationship Id="rId7" Type="http://schemas.openxmlformats.org/officeDocument/2006/relationships/slide" Target="slides/slide4.xml"/><Relationship Id="rId69" Type="http://schemas.openxmlformats.org/officeDocument/2006/relationships/slide" Target="slides/slide66.xml"/><Relationship Id="rId68" Type="http://schemas.openxmlformats.org/officeDocument/2006/relationships/slide" Target="slides/slide65.xml"/><Relationship Id="rId67" Type="http://schemas.openxmlformats.org/officeDocument/2006/relationships/slide" Target="slides/slide64.xml"/><Relationship Id="rId66" Type="http://schemas.openxmlformats.org/officeDocument/2006/relationships/slide" Target="slides/slide63.xml"/><Relationship Id="rId65" Type="http://schemas.openxmlformats.org/officeDocument/2006/relationships/slide" Target="slides/slide62.xml"/><Relationship Id="rId64" Type="http://schemas.openxmlformats.org/officeDocument/2006/relationships/slide" Target="slides/slide61.xml"/><Relationship Id="rId63" Type="http://schemas.openxmlformats.org/officeDocument/2006/relationships/slide" Target="slides/slide60.xml"/><Relationship Id="rId62" Type="http://schemas.openxmlformats.org/officeDocument/2006/relationships/slide" Target="slides/slide59.xml"/><Relationship Id="rId61" Type="http://schemas.openxmlformats.org/officeDocument/2006/relationships/slide" Target="slides/slide58.xml"/><Relationship Id="rId60" Type="http://schemas.openxmlformats.org/officeDocument/2006/relationships/slide" Target="slides/slide57.xml"/><Relationship Id="rId6" Type="http://schemas.openxmlformats.org/officeDocument/2006/relationships/slide" Target="slides/slide3.xml"/><Relationship Id="rId59" Type="http://schemas.openxmlformats.org/officeDocument/2006/relationships/slide" Target="slides/slide56.xml"/><Relationship Id="rId58" Type="http://schemas.openxmlformats.org/officeDocument/2006/relationships/slide" Target="slides/slide55.xml"/><Relationship Id="rId57" Type="http://schemas.openxmlformats.org/officeDocument/2006/relationships/slide" Target="slides/slide54.xml"/><Relationship Id="rId56" Type="http://schemas.openxmlformats.org/officeDocument/2006/relationships/slide" Target="slides/slide53.xml"/><Relationship Id="rId55" Type="http://schemas.openxmlformats.org/officeDocument/2006/relationships/slide" Target="slides/slide52.xml"/><Relationship Id="rId54" Type="http://schemas.openxmlformats.org/officeDocument/2006/relationships/slide" Target="slides/slide51.xml"/><Relationship Id="rId53" Type="http://schemas.openxmlformats.org/officeDocument/2006/relationships/slide" Target="slides/slide50.xml"/><Relationship Id="rId52" Type="http://schemas.openxmlformats.org/officeDocument/2006/relationships/slide" Target="slides/slide49.xml"/><Relationship Id="rId51" Type="http://schemas.openxmlformats.org/officeDocument/2006/relationships/slide" Target="slides/slide48.xml"/><Relationship Id="rId50" Type="http://schemas.openxmlformats.org/officeDocument/2006/relationships/slide" Target="slides/slide47.xml"/><Relationship Id="rId5" Type="http://schemas.openxmlformats.org/officeDocument/2006/relationships/slide" Target="slides/slide2.xml"/><Relationship Id="rId49" Type="http://schemas.openxmlformats.org/officeDocument/2006/relationships/slide" Target="slides/slide46.xml"/><Relationship Id="rId48" Type="http://schemas.openxmlformats.org/officeDocument/2006/relationships/slide" Target="slides/slide45.xml"/><Relationship Id="rId47" Type="http://schemas.openxmlformats.org/officeDocument/2006/relationships/slide" Target="slides/slide44.xml"/><Relationship Id="rId46" Type="http://schemas.openxmlformats.org/officeDocument/2006/relationships/slide" Target="slides/slide43.xml"/><Relationship Id="rId45" Type="http://schemas.openxmlformats.org/officeDocument/2006/relationships/slide" Target="slides/slide42.xml"/><Relationship Id="rId44" Type="http://schemas.openxmlformats.org/officeDocument/2006/relationships/slide" Target="slides/slide41.xml"/><Relationship Id="rId43" Type="http://schemas.openxmlformats.org/officeDocument/2006/relationships/slide" Target="slides/slide40.xml"/><Relationship Id="rId42" Type="http://schemas.openxmlformats.org/officeDocument/2006/relationships/slide" Target="slides/slide39.xml"/><Relationship Id="rId41" Type="http://schemas.openxmlformats.org/officeDocument/2006/relationships/slide" Target="slides/slide38.xml"/><Relationship Id="rId40" Type="http://schemas.openxmlformats.org/officeDocument/2006/relationships/slide" Target="slides/slide37.xml"/><Relationship Id="rId4" Type="http://schemas.openxmlformats.org/officeDocument/2006/relationships/notesMaster" Target="notesMasters/notesMaster1.xml"/><Relationship Id="rId39" Type="http://schemas.openxmlformats.org/officeDocument/2006/relationships/slide" Target="slides/slide36.xml"/><Relationship Id="rId38" Type="http://schemas.openxmlformats.org/officeDocument/2006/relationships/slide" Target="slides/slide35.xml"/><Relationship Id="rId37" Type="http://schemas.openxmlformats.org/officeDocument/2006/relationships/slide" Target="slides/slide34.xml"/><Relationship Id="rId36" Type="http://schemas.openxmlformats.org/officeDocument/2006/relationships/slide" Target="slides/slide33.xml"/><Relationship Id="rId35" Type="http://schemas.openxmlformats.org/officeDocument/2006/relationships/slide" Target="slides/slide32.xml"/><Relationship Id="rId34" Type="http://schemas.openxmlformats.org/officeDocument/2006/relationships/slide" Target="slides/slide31.xml"/><Relationship Id="rId33" Type="http://schemas.openxmlformats.org/officeDocument/2006/relationships/slide" Target="slides/slide30.xml"/><Relationship Id="rId32" Type="http://schemas.openxmlformats.org/officeDocument/2006/relationships/slide" Target="slides/slide29.xml"/><Relationship Id="rId31" Type="http://schemas.openxmlformats.org/officeDocument/2006/relationships/slide" Target="slides/slide28.xml"/><Relationship Id="rId30" Type="http://schemas.openxmlformats.org/officeDocument/2006/relationships/slide" Target="slides/slide27.xml"/><Relationship Id="rId3" Type="http://schemas.openxmlformats.org/officeDocument/2006/relationships/slide" Target="slides/slide1.xml"/><Relationship Id="rId29" Type="http://schemas.openxmlformats.org/officeDocument/2006/relationships/slide" Target="slides/slide26.xml"/><Relationship Id="rId28" Type="http://schemas.openxmlformats.org/officeDocument/2006/relationships/slide" Target="slides/slide25.xml"/><Relationship Id="rId27" Type="http://schemas.openxmlformats.org/officeDocument/2006/relationships/slide" Target="slides/slide24.xml"/><Relationship Id="rId26" Type="http://schemas.openxmlformats.org/officeDocument/2006/relationships/slide" Target="slides/slide23.xml"/><Relationship Id="rId25" Type="http://schemas.openxmlformats.org/officeDocument/2006/relationships/slide" Target="slides/slide22.xml"/><Relationship Id="rId24" Type="http://schemas.openxmlformats.org/officeDocument/2006/relationships/slide" Target="slides/slide21.xml"/><Relationship Id="rId23" Type="http://schemas.openxmlformats.org/officeDocument/2006/relationships/slide" Target="slides/slide20.xml"/><Relationship Id="rId22" Type="http://schemas.openxmlformats.org/officeDocument/2006/relationships/slide" Target="slides/slide19.xml"/><Relationship Id="rId21" Type="http://schemas.openxmlformats.org/officeDocument/2006/relationships/slide" Target="slides/slide18.xml"/><Relationship Id="rId20" Type="http://schemas.openxmlformats.org/officeDocument/2006/relationships/slide" Target="slides/slide17.xml"/><Relationship Id="rId2" Type="http://schemas.openxmlformats.org/officeDocument/2006/relationships/theme" Target="theme/theme1.xml"/><Relationship Id="rId19" Type="http://schemas.openxmlformats.org/officeDocument/2006/relationships/slide" Target="slides/slide16.xml"/><Relationship Id="rId18" Type="http://schemas.openxmlformats.org/officeDocument/2006/relationships/slide" Target="slides/slide15.xml"/><Relationship Id="rId17" Type="http://schemas.openxmlformats.org/officeDocument/2006/relationships/slide" Target="slides/slide14.xml"/><Relationship Id="rId16" Type="http://schemas.openxmlformats.org/officeDocument/2006/relationships/slide" Target="slides/slide13.xml"/><Relationship Id="rId15" Type="http://schemas.openxmlformats.org/officeDocument/2006/relationships/slide" Target="slides/slide12.xml"/><Relationship Id="rId14" Type="http://schemas.openxmlformats.org/officeDocument/2006/relationships/slide" Target="slides/slide11.xml"/><Relationship Id="rId13" Type="http://schemas.openxmlformats.org/officeDocument/2006/relationships/slide" Target="slides/slide10.xml"/><Relationship Id="rId125" Type="http://schemas.openxmlformats.org/officeDocument/2006/relationships/tableStyles" Target="tableStyles.xml"/><Relationship Id="rId124" Type="http://schemas.openxmlformats.org/officeDocument/2006/relationships/viewProps" Target="viewProps.xml"/><Relationship Id="rId123" Type="http://schemas.openxmlformats.org/officeDocument/2006/relationships/presProps" Target="presProps.xml"/><Relationship Id="rId122" Type="http://schemas.openxmlformats.org/officeDocument/2006/relationships/slide" Target="slides/slide119.xml"/><Relationship Id="rId121" Type="http://schemas.openxmlformats.org/officeDocument/2006/relationships/slide" Target="slides/slide118.xml"/><Relationship Id="rId120" Type="http://schemas.openxmlformats.org/officeDocument/2006/relationships/slide" Target="slides/slide117.xml"/><Relationship Id="rId12" Type="http://schemas.openxmlformats.org/officeDocument/2006/relationships/slide" Target="slides/slide9.xml"/><Relationship Id="rId119" Type="http://schemas.openxmlformats.org/officeDocument/2006/relationships/slide" Target="slides/slide116.xml"/><Relationship Id="rId118" Type="http://schemas.openxmlformats.org/officeDocument/2006/relationships/slide" Target="slides/slide115.xml"/><Relationship Id="rId117" Type="http://schemas.openxmlformats.org/officeDocument/2006/relationships/slide" Target="slides/slide114.xml"/><Relationship Id="rId116" Type="http://schemas.openxmlformats.org/officeDocument/2006/relationships/slide" Target="slides/slide113.xml"/><Relationship Id="rId115" Type="http://schemas.openxmlformats.org/officeDocument/2006/relationships/slide" Target="slides/slide112.xml"/><Relationship Id="rId114" Type="http://schemas.openxmlformats.org/officeDocument/2006/relationships/slide" Target="slides/slide111.xml"/><Relationship Id="rId113" Type="http://schemas.openxmlformats.org/officeDocument/2006/relationships/slide" Target="slides/slide110.xml"/><Relationship Id="rId112" Type="http://schemas.openxmlformats.org/officeDocument/2006/relationships/slide" Target="slides/slide109.xml"/><Relationship Id="rId111" Type="http://schemas.openxmlformats.org/officeDocument/2006/relationships/slide" Target="slides/slide108.xml"/><Relationship Id="rId110" Type="http://schemas.openxmlformats.org/officeDocument/2006/relationships/slide" Target="slides/slide107.xml"/><Relationship Id="rId11" Type="http://schemas.openxmlformats.org/officeDocument/2006/relationships/slide" Target="slides/slide8.xml"/><Relationship Id="rId109" Type="http://schemas.openxmlformats.org/officeDocument/2006/relationships/slide" Target="slides/slide106.xml"/><Relationship Id="rId108" Type="http://schemas.openxmlformats.org/officeDocument/2006/relationships/slide" Target="slides/slide105.xml"/><Relationship Id="rId107" Type="http://schemas.openxmlformats.org/officeDocument/2006/relationships/slide" Target="slides/slide104.xml"/><Relationship Id="rId106" Type="http://schemas.openxmlformats.org/officeDocument/2006/relationships/slide" Target="slides/slide103.xml"/><Relationship Id="rId105" Type="http://schemas.openxmlformats.org/officeDocument/2006/relationships/slide" Target="slides/slide102.xml"/><Relationship Id="rId104" Type="http://schemas.openxmlformats.org/officeDocument/2006/relationships/slide" Target="slides/slide101.xml"/><Relationship Id="rId103" Type="http://schemas.openxmlformats.org/officeDocument/2006/relationships/slide" Target="slides/slide100.xml"/><Relationship Id="rId102" Type="http://schemas.openxmlformats.org/officeDocument/2006/relationships/slide" Target="slides/slide99.xml"/><Relationship Id="rId101" Type="http://schemas.openxmlformats.org/officeDocument/2006/relationships/slide" Target="slides/slide98.xml"/><Relationship Id="rId100" Type="http://schemas.openxmlformats.org/officeDocument/2006/relationships/slide" Target="slides/slide97.xml"/><Relationship Id="rId10" Type="http://schemas.openxmlformats.org/officeDocument/2006/relationships/slide" Target="slides/slide7.xml"/><Relationship Id="rId1" Type="http://schemas.openxmlformats.org/officeDocument/2006/relationships/slideMaster" Target="slideMasters/slideMaster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4.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endParaRPr lang="en-US"/>
          </a:p>
          <a:p>
            <a:pPr lvl="1"/>
            <a:r>
              <a:rPr lang="en-US"/>
              <a:t>Second level</a:t>
            </a:r>
            <a:endParaRPr lang="en-US"/>
          </a:p>
          <a:p>
            <a:pPr lvl="2"/>
            <a:r>
              <a:rPr lang="en-US"/>
              <a:t>Third level</a:t>
            </a:r>
            <a:endParaRPr lang="en-US"/>
          </a:p>
          <a:p>
            <a:pPr lvl="3"/>
            <a:r>
              <a:rPr lang="en-US"/>
              <a:t>Fourth level</a:t>
            </a:r>
            <a:endParaRPr lang="en-US"/>
          </a:p>
          <a:p>
            <a:pPr lvl="4"/>
            <a:r>
              <a:rPr lang="en-US"/>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fld>
            <a:endParaRPr 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8.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0.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2.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3.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4.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5.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6.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7.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8.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9.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0.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1.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2.xml"/></Relationships>
</file>

<file path=ppt/notesSlides/_rels/notesSlide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xml"/></Relationships>
</file>

<file path=ppt/notesSlides/_rels/notesSlide4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xml"/></Relationships>
</file>

<file path=ppt/notesSlides/_rels/notesSlide4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xml"/></Relationships>
</file>

<file path=ppt/notesSlides/_rels/notesSlide4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xml"/></Relationships>
</file>

<file path=ppt/notesSlides/_rels/notesSlide4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7.xml"/></Relationships>
</file>

<file path=ppt/notesSlides/_rels/notesSlide4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8.xml"/></Relationships>
</file>

<file path=ppt/notesSlides/_rels/notesSlide4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9.xml"/></Relationships>
</file>

<file path=ppt/notesSlides/_rels/notesSlide5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0.xml"/></Relationships>
</file>

<file path=ppt/notesSlides/_rels/notesSlide5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1.xml"/></Relationships>
</file>

<file path=ppt/notesSlides/_rels/notesSlide5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2.xml"/></Relationships>
</file>

<file path=ppt/notesSlides/_rels/notesSlide5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3.xml"/></Relationships>
</file>

<file path=ppt/notesSlides/_rels/notesSlide5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4.xml"/></Relationships>
</file>

<file path=ppt/notesSlides/_rels/notesSlide5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5.xml"/></Relationships>
</file>

<file path=ppt/notesSlides/_rels/notesSlide5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6.xml"/></Relationships>
</file>

<file path=ppt/notesSlides/_rels/notesSlide5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7.xml"/></Relationships>
</file>

<file path=ppt/notesSlides/_rels/notesSlide5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8.xml"/></Relationships>
</file>

<file path=ppt/notesSlides/_rels/notesSlide5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5.xml"/></Relationships>
</file>

<file path=ppt/notesSlides/_rels/notesSlide6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7.xml"/></Relationships>
</file>

<file path=ppt/notesSlides/_rels/notesSlide6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8.xml"/></Relationships>
</file>

<file path=ppt/notesSlides/_rels/notesSlide6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9.xml"/></Relationships>
</file>

<file path=ppt/notesSlides/_rels/notesSlide6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0.xml"/></Relationships>
</file>

<file path=ppt/notesSlides/_rels/notesSlide6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1.xml"/></Relationships>
</file>

<file path=ppt/notesSlides/_rels/notesSlide6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2.xml"/></Relationships>
</file>

<file path=ppt/notesSlides/_rels/notesSlide6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3.xml"/></Relationships>
</file>

<file path=ppt/notesSlides/_rels/notesSlide6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4.xml"/></Relationships>
</file>

<file path=ppt/notesSlides/_rels/notesSlide6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5.xml"/></Relationships>
</file>

<file path=ppt/notesSlides/_rels/notesSlide6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6.xml"/></Relationships>
</file>

<file path=ppt/notesSlides/_rels/notesSlide7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7.xml"/></Relationships>
</file>

<file path=ppt/notesSlides/_rels/notesSlide7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8.xml"/></Relationships>
</file>

<file path=ppt/notesSlides/_rels/notesSlide7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9.xml"/></Relationships>
</file>

<file path=ppt/notesSlides/_rels/notesSlide7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0.xml"/></Relationships>
</file>

<file path=ppt/notesSlides/_rels/notesSlide7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1.xml"/></Relationships>
</file>

<file path=ppt/notesSlides/_rels/notesSlide7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2.xml"/></Relationships>
</file>

<file path=ppt/notesSlides/_rels/notesSlide7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3.xml"/></Relationships>
</file>

<file path=ppt/notesSlides/_rels/notesSlide7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4.xml"/></Relationships>
</file>

<file path=ppt/notesSlides/_rels/notesSlide7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5.xml"/></Relationships>
</file>

<file path=ppt/notesSlides/_rels/notesSlide7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6.xml"/></Relationships>
</file>

<file path=ppt/notesSlides/_rels/notesSlide8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7.xml"/></Relationships>
</file>

<file path=ppt/notesSlides/_rels/notesSlide8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8.xml"/></Relationships>
</file>

<file path=ppt/notesSlides/_rels/notesSlide8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9.xml"/></Relationships>
</file>

<file path=ppt/notesSlides/_rels/notesSlide8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0.xml"/></Relationships>
</file>

<file path=ppt/notesSlides/_rels/notesSlide8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1.xml"/></Relationships>
</file>

<file path=ppt/notesSlides/_rels/notesSlide8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2.xml"/></Relationships>
</file>

<file path=ppt/notesSlides/_rels/notesSlide8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3.xml"/></Relationships>
</file>

<file path=ppt/notesSlides/_rels/notesSlide8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4.xml"/></Relationships>
</file>

<file path=ppt/notesSlides/_rels/notesSlide8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5.xml"/></Relationships>
</file>

<file path=ppt/notesSlides/_rels/notesSlide8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6.xml"/></Relationships>
</file>

<file path=ppt/notesSlides/_rels/notesSlide9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7.xml"/></Relationships>
</file>

<file path=ppt/notesSlides/_rels/notesSlide9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8.xml"/></Relationships>
</file>

<file path=ppt/notesSlides/_rels/notesSlide9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9.xml"/></Relationships>
</file>

<file path=ppt/notesSlides/_rels/notesSlide9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0.xml"/></Relationships>
</file>

<file path=ppt/notesSlides/_rels/notesSlide9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1.xml"/></Relationships>
</file>

<file path=ppt/notesSlides/_rels/notesSlide9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2.xml"/></Relationships>
</file>

<file path=ppt/notesSlides/_rels/notesSlide9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3.xml"/></Relationships>
</file>

<file path=ppt/notesSlides/_rels/notesSlide9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4.xml"/></Relationships>
</file>

<file path=ppt/notesSlides/_rels/notesSlide9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5.xml"/></Relationships>
</file>

<file path=ppt/notesSlides/_rels/notesSlide9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6.xml"/></Relationships>
</file>

<file path=ppt/notesSlides/_rels/notesSlide10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7.xml"/></Relationships>
</file>

<file path=ppt/notesSlides/_rels/notesSlide10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8.xml"/></Relationships>
</file>

<file path=ppt/notesSlides/_rels/notesSlide10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9.xml"/></Relationships>
</file>

<file path=ppt/notesSlides/_rels/notesSlide10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0.xml"/></Relationships>
</file>

<file path=ppt/notesSlides/_rels/notesSlide10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1.xml"/></Relationships>
</file>

<file path=ppt/notesSlides/_rels/notesSlide10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2.xml"/></Relationships>
</file>

<file path=ppt/notesSlides/_rels/notesSlide10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3.xml"/></Relationships>
</file>

<file path=ppt/notesSlides/_rels/notesSlide10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4.xml"/></Relationships>
</file>

<file path=ppt/notesSlides/_rels/notesSlide10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5.xml"/></Relationships>
</file>

<file path=ppt/notesSlides/_rels/notesSlide10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6.xml"/></Relationships>
</file>

<file path=ppt/notesSlides/_rels/notesSlide1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7.xml"/></Relationships>
</file>

<file path=ppt/notesSlides/_rels/notesSlide1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8.xml"/></Relationships>
</file>

<file path=ppt/notesSlides/_rels/notesSlide1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9.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endParaRPr lang="en-US" dirty="0"/>
          </a:p>
          <a:p>
            <a:endParaRPr lang="en-US" dirty="0"/>
          </a:p>
          <a:p>
            <a:r>
              <a:rPr lang="en-US" dirty="0"/>
              <a:t>8.0  (April 2020)</a:t>
            </a:r>
            <a:endParaRPr lang="en-US" dirty="0"/>
          </a:p>
          <a:p>
            <a:pPr marL="171450" indent="-171450">
              <a:buFont typeface="Arial" panose="020B0604020202020204" pitchFamily="34" charset="0"/>
              <a:buChar char="•"/>
            </a:pPr>
            <a:r>
              <a:rPr lang="en-US" dirty="0"/>
              <a:t>All slides reformatted for 16:9 aspect ratio</a:t>
            </a:r>
            <a:endParaRPr lang="en-US" dirty="0"/>
          </a:p>
          <a:p>
            <a:pPr marL="171450" indent="-171450">
              <a:buFont typeface="Arial" panose="020B0604020202020204" pitchFamily="34" charset="0"/>
              <a:buChar char="•"/>
            </a:pPr>
            <a:r>
              <a:rPr lang="en-US" dirty="0"/>
              <a:t>All slides updated to 8</a:t>
            </a:r>
            <a:r>
              <a:rPr lang="en-US" baseline="30000" dirty="0"/>
              <a:t>th</a:t>
            </a:r>
            <a:r>
              <a:rPr lang="en-US" dirty="0"/>
              <a:t> edition material</a:t>
            </a:r>
            <a:endParaRPr lang="en-US" dirty="0"/>
          </a:p>
          <a:p>
            <a:pPr marL="171450" indent="-171450">
              <a:buFont typeface="Arial" panose="020B0604020202020204" pitchFamily="34" charset="0"/>
              <a:buChar char="•"/>
            </a:pPr>
            <a:r>
              <a:rPr lang="en-US" dirty="0"/>
              <a:t>Use of Calibri font, rather that Gill Sans MT</a:t>
            </a:r>
            <a:endParaRPr lang="en-US" dirty="0"/>
          </a:p>
          <a:p>
            <a:pPr marL="171450" indent="-171450">
              <a:buFont typeface="Arial" panose="020B0604020202020204" pitchFamily="34" charset="0"/>
              <a:buChar char="•"/>
            </a:pPr>
            <a:r>
              <a:rPr lang="en-US" dirty="0"/>
              <a:t>Add LOTS more animation throughout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t>
            </a:r>
            <a:r>
              <a:rPr lang="en-US" baseline="0" dirty="0"/>
              <a:t> poor content providers – like in real-estate, location is everything.  servers want to be close to clients.</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why minutes (recall earlier delay versus arrival rate curve from Chapter 1)</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shortest job first: decreased average delay!</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7105">
              <a:defRPr sz="2000">
                <a:solidFill>
                  <a:schemeClr val="tx1"/>
                </a:solidFill>
                <a:latin typeface="Arial" panose="020B0604020202020204" pitchFamily="34" charset="0"/>
                <a:ea typeface="MS PGothic" panose="020B0600070205080204" pitchFamily="34" charset="-128"/>
              </a:defRPr>
            </a:lvl1pPr>
            <a:lvl2pPr marL="742950" indent="-285750" defTabSz="967105">
              <a:defRPr sz="2000">
                <a:solidFill>
                  <a:schemeClr val="tx1"/>
                </a:solidFill>
                <a:latin typeface="Arial" panose="020B0604020202020204" pitchFamily="34" charset="0"/>
                <a:ea typeface="MS PGothic" panose="020B0600070205080204" pitchFamily="34" charset="-128"/>
              </a:defRPr>
            </a:lvl2pPr>
            <a:lvl3pPr marL="1143000" indent="-228600" defTabSz="967105">
              <a:defRPr sz="2000">
                <a:solidFill>
                  <a:schemeClr val="tx1"/>
                </a:solidFill>
                <a:latin typeface="Arial" panose="020B0604020202020204" pitchFamily="34" charset="0"/>
                <a:ea typeface="MS PGothic" panose="020B0600070205080204" pitchFamily="34" charset="-128"/>
              </a:defRPr>
            </a:lvl3pPr>
            <a:lvl4pPr marL="1600200" indent="-228600" defTabSz="967105">
              <a:defRPr sz="2000">
                <a:solidFill>
                  <a:schemeClr val="tx1"/>
                </a:solidFill>
                <a:latin typeface="Arial" panose="020B0604020202020204" pitchFamily="34" charset="0"/>
                <a:ea typeface="MS PGothic" panose="020B0600070205080204" pitchFamily="34" charset="-128"/>
              </a:defRPr>
            </a:lvl4pPr>
            <a:lvl5pPr marL="2057400" indent="-228600" defTabSz="967105">
              <a:defRPr sz="2000">
                <a:solidFill>
                  <a:schemeClr val="tx1"/>
                </a:solidFill>
                <a:latin typeface="Arial" panose="020B0604020202020204" pitchFamily="34" charset="0"/>
                <a:ea typeface="MS PGothic" panose="020B0600070205080204" pitchFamily="34" charset="-128"/>
              </a:defRPr>
            </a:lvl5pPr>
            <a:lvl6pPr marL="2514600" indent="-228600" defTabSz="967105"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defTabSz="967105"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defTabSz="967105"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defTabSz="967105"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r" defTabSz="967105" rtl="0" eaLnBrk="0" fontAlgn="base" latinLnBrk="0" hangingPunct="0">
              <a:lnSpc>
                <a:spcPct val="100000"/>
              </a:lnSpc>
              <a:spcBef>
                <a:spcPct val="0"/>
              </a:spcBef>
              <a:spcAft>
                <a:spcPct val="0"/>
              </a:spcAft>
              <a:buClrTx/>
              <a:buSzTx/>
              <a:buFontTx/>
              <a:buNone/>
              <a:defRPr/>
            </a:pPr>
            <a:fld id="{58888FC7-8584-A54F-A1F0-E9C044658D3E}" type="slidenum">
              <a:rPr kumimoji="0" lang="en-US" altLang="en-US" sz="13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fld>
            <a:endParaRPr kumimoji="0" lang="en-US" altLang="en-US" sz="13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212994" name="Rectangle 2"/>
          <p:cNvSpPr>
            <a:spLocks noGrp="1" noRot="1" noChangeAspect="1" noChangeArrowheads="1" noTextEdit="1"/>
          </p:cNvSpPr>
          <p:nvPr>
            <p:ph type="sldImg"/>
          </p:nvPr>
        </p:nvSpPr>
        <p:spPr/>
      </p:sp>
      <p:sp>
        <p:nvSpPr>
          <p:cNvPr id="212995"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ea typeface="MS PGothic" panose="020B0600070205080204" pitchFamily="34" charset="-128"/>
              </a:rPr>
              <a:t>Akamai: 100,000+ servers in 1000+ clusters in 1000+ networks in 70+ countries serving trillions of requests a day.</a:t>
            </a:r>
            <a:endParaRPr lang="en-US" altLang="en-US">
              <a:ea typeface="MS PGothic" panose="020B0600070205080204" pitchFamily="34" charset="-128"/>
            </a:endParaRPr>
          </a:p>
          <a:p>
            <a:endParaRPr lang="en-US" altLang="en-US">
              <a:ea typeface="MS PGothic" panose="020B0600070205080204" pitchFamily="34" charset="-128"/>
            </a:endParaRPr>
          </a:p>
          <a:p>
            <a:r>
              <a:rPr lang="en-US" altLang="en-US">
                <a:ea typeface="MS PGothic" panose="020B0600070205080204" pitchFamily="34" charset="-128"/>
              </a:rPr>
              <a:t>How many people use Netflix?</a:t>
            </a:r>
            <a:endParaRPr lang="en-US" altLang="en-US">
              <a:ea typeface="MS PGothic" panose="020B0600070205080204" pitchFamily="34" charset="-128"/>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7105">
              <a:defRPr sz="2000">
                <a:solidFill>
                  <a:schemeClr val="tx1"/>
                </a:solidFill>
                <a:latin typeface="Arial" panose="020B0604020202020204" pitchFamily="34" charset="0"/>
                <a:ea typeface="MS PGothic" panose="020B0600070205080204" pitchFamily="34" charset="-128"/>
              </a:defRPr>
            </a:lvl1pPr>
            <a:lvl2pPr marL="742950" indent="-285750" defTabSz="967105">
              <a:defRPr sz="2000">
                <a:solidFill>
                  <a:schemeClr val="tx1"/>
                </a:solidFill>
                <a:latin typeface="Arial" panose="020B0604020202020204" pitchFamily="34" charset="0"/>
                <a:ea typeface="MS PGothic" panose="020B0600070205080204" pitchFamily="34" charset="-128"/>
              </a:defRPr>
            </a:lvl2pPr>
            <a:lvl3pPr marL="1143000" indent="-228600" defTabSz="967105">
              <a:defRPr sz="2000">
                <a:solidFill>
                  <a:schemeClr val="tx1"/>
                </a:solidFill>
                <a:latin typeface="Arial" panose="020B0604020202020204" pitchFamily="34" charset="0"/>
                <a:ea typeface="MS PGothic" panose="020B0600070205080204" pitchFamily="34" charset="-128"/>
              </a:defRPr>
            </a:lvl3pPr>
            <a:lvl4pPr marL="1600200" indent="-228600" defTabSz="967105">
              <a:defRPr sz="2000">
                <a:solidFill>
                  <a:schemeClr val="tx1"/>
                </a:solidFill>
                <a:latin typeface="Arial" panose="020B0604020202020204" pitchFamily="34" charset="0"/>
                <a:ea typeface="MS PGothic" panose="020B0600070205080204" pitchFamily="34" charset="-128"/>
              </a:defRPr>
            </a:lvl4pPr>
            <a:lvl5pPr marL="2057400" indent="-228600" defTabSz="967105">
              <a:defRPr sz="2000">
                <a:solidFill>
                  <a:schemeClr val="tx1"/>
                </a:solidFill>
                <a:latin typeface="Arial" panose="020B0604020202020204" pitchFamily="34" charset="0"/>
                <a:ea typeface="MS PGothic" panose="020B0600070205080204" pitchFamily="34" charset="-128"/>
              </a:defRPr>
            </a:lvl5pPr>
            <a:lvl6pPr marL="2514600" indent="-228600" defTabSz="967105"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defTabSz="967105"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defTabSz="967105"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defTabSz="967105"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r">
              <a:spcBef>
                <a:spcPct val="0"/>
              </a:spcBef>
              <a:buClrTx/>
              <a:buSzTx/>
              <a:buFontTx/>
              <a:buNone/>
            </a:pPr>
            <a:fld id="{CE157223-41AB-CB48-9D29-70289FC738BB}" type="slidenum">
              <a:rPr lang="en-US" altLang="en-US" sz="1300">
                <a:solidFill>
                  <a:srgbClr val="000000"/>
                </a:solidFill>
                <a:latin typeface="Times New Roman" panose="02020603050405020304" pitchFamily="18" charset="0"/>
              </a:rPr>
            </a:fld>
            <a:endParaRPr lang="en-US" altLang="en-US" sz="1300">
              <a:solidFill>
                <a:srgbClr val="000000"/>
              </a:solidFill>
              <a:latin typeface="Times New Roman" panose="02020603050405020304" pitchFamily="18" charset="0"/>
            </a:endParaRPr>
          </a:p>
        </p:txBody>
      </p:sp>
      <p:sp>
        <p:nvSpPr>
          <p:cNvPr id="215042" name="Rectangle 2"/>
          <p:cNvSpPr>
            <a:spLocks noGrp="1" noRot="1" noChangeAspect="1" noChangeArrowheads="1" noTextEdit="1"/>
          </p:cNvSpPr>
          <p:nvPr>
            <p:ph type="sldImg"/>
          </p:nvPr>
        </p:nvSpPr>
        <p:spPr/>
      </p:sp>
      <p:sp>
        <p:nvSpPr>
          <p:cNvPr id="215043"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ea typeface="MS PGothic" panose="020B0600070205080204" pitchFamily="34" charset="-128"/>
              </a:rPr>
              <a:t>peak load: 7million viewers, 2 Tbytes via </a:t>
            </a:r>
            <a:endParaRPr lang="en-US" altLang="en-US">
              <a:ea typeface="MS PGothic" panose="020B0600070205080204" pitchFamily="34" charset="-128"/>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endParaRPr lang="en-US" dirty="0"/>
          </a:p>
          <a:p>
            <a:endParaRPr lang="en-US" dirty="0"/>
          </a:p>
          <a:p>
            <a:r>
              <a:rPr lang="en-US" dirty="0"/>
              <a:t>7.01 (January 2020)</a:t>
            </a:r>
            <a:endParaRPr lang="en-US" dirty="0"/>
          </a:p>
          <a:p>
            <a:pPr marL="171450" indent="-171450">
              <a:buFont typeface="Arial" panose="020B0604020202020204" pitchFamily="34" charset="0"/>
              <a:buChar char="•"/>
            </a:pPr>
            <a:r>
              <a:rPr lang="en-US" dirty="0"/>
              <a:t>All slides reformatted for 16:9 aspect ratio</a:t>
            </a:r>
            <a:endParaRPr lang="en-US" dirty="0"/>
          </a:p>
          <a:p>
            <a:pPr marL="171450" indent="-171450">
              <a:buFont typeface="Arial" panose="020B0604020202020204" pitchFamily="34" charset="0"/>
              <a:buChar char="•"/>
            </a:pPr>
            <a:r>
              <a:rPr lang="en-US" dirty="0"/>
              <a:t>Use of Calibri font, rather that Gill Sans MT</a:t>
            </a:r>
            <a:endParaRPr lang="en-US" dirty="0"/>
          </a:p>
          <a:p>
            <a:pPr marL="171450" indent="-171450">
              <a:buFont typeface="Arial" panose="020B0604020202020204" pitchFamily="34" charset="0"/>
              <a:buChar char="•"/>
            </a:pPr>
            <a:r>
              <a:rPr lang="en-US" dirty="0"/>
              <a:t>Updated slide content for 2020 link technologies and applications</a:t>
            </a:r>
            <a:endParaRPr lang="en-US" dirty="0"/>
          </a:p>
          <a:p>
            <a:pPr marL="171450" indent="-171450">
              <a:buFont typeface="Arial" panose="020B0604020202020204" pitchFamily="34" charset="0"/>
              <a:buChar char="•"/>
            </a:pPr>
            <a:r>
              <a:rPr lang="en-US" dirty="0"/>
              <a:t>Add more animation throughout</a:t>
            </a:r>
            <a:endParaRPr lang="en-US" dirty="0"/>
          </a:p>
          <a:p>
            <a:pPr marL="171450" indent="-171450">
              <a:buFont typeface="Arial" panose="020B0604020202020204" pitchFamily="34" charset="0"/>
              <a:buChar char="•"/>
            </a:pPr>
            <a:r>
              <a:rPr lang="en-US" dirty="0"/>
              <a:t>New Master slide </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fld>
            <a:endParaRPr 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a:p>
        </p:txBody>
      </p:sp>
      <p:sp>
        <p:nvSpPr>
          <p:cNvPr id="10" name="Slide Number Placeholder 5"/>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fld>
            <a:endParaRPr lang="en-US"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838200" y="1724027"/>
            <a:ext cx="10515600" cy="4351338"/>
          </a:xfrm>
        </p:spPr>
        <p:txBody>
          <a:bodyPr/>
          <a:lstStyle/>
          <a:p>
            <a:pPr lvl="0"/>
            <a:r>
              <a:rPr lang="en-US" dirty="0"/>
              <a:t>Click to edit Master text styles</a:t>
            </a:r>
            <a:endParaRPr lang="en-US" dirty="0"/>
          </a:p>
          <a:p>
            <a:pPr lvl="1"/>
            <a:r>
              <a:rPr lang="en-US" dirty="0"/>
              <a:t>Second level</a:t>
            </a:r>
            <a:endParaRPr lang="en-US" dirty="0"/>
          </a:p>
          <a:p>
            <a:pPr lvl="2"/>
            <a:r>
              <a:rPr lang="en-US" dirty="0"/>
              <a:t>Third level</a:t>
            </a:r>
            <a:endParaRPr lang="en-US" dirty="0"/>
          </a:p>
          <a:p>
            <a:pPr lvl="3"/>
            <a:r>
              <a:rPr lang="en-US" dirty="0"/>
              <a:t>Fourth level</a:t>
            </a:r>
            <a:endParaRPr lang="en-US" dirty="0"/>
          </a:p>
          <a:p>
            <a:pPr lvl="4"/>
            <a:r>
              <a:rPr lang="en-US" dirty="0"/>
              <a:t>Fifth level</a:t>
            </a:r>
            <a:endParaRPr lang="en-US" dirty="0"/>
          </a:p>
        </p:txBody>
      </p:sp>
      <p:sp>
        <p:nvSpPr>
          <p:cNvPr id="8" name="Title 7"/>
          <p:cNvSpPr>
            <a:spLocks noGrp="1"/>
          </p:cNvSpPr>
          <p:nvPr>
            <p:ph type="title"/>
          </p:nvPr>
        </p:nvSpPr>
        <p:spPr/>
        <p:txBody>
          <a:bodyPr/>
          <a:lstStyle/>
          <a:p>
            <a:r>
              <a:rPr lang="en-US" dirty="0"/>
              <a:t>Click to edit Master title style</a:t>
            </a:r>
            <a:endParaRPr lang="en-US" dirty="0"/>
          </a:p>
        </p:txBody>
      </p:sp>
      <p:sp>
        <p:nvSpPr>
          <p:cNvPr id="10" name="Slide Number Placeholder 5"/>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fld>
            <a:endParaRPr lang="en-US"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endParaRPr lang="en-US"/>
          </a:p>
          <a:p>
            <a:pPr lvl="1"/>
            <a:r>
              <a:rPr lang="en-US"/>
              <a:t>Second level</a:t>
            </a:r>
            <a:endParaRPr lang="en-US"/>
          </a:p>
          <a:p>
            <a:pPr lvl="2"/>
            <a:r>
              <a:rPr lang="en-US"/>
              <a:t>Third level</a:t>
            </a:r>
            <a:endParaRPr lang="en-US"/>
          </a:p>
          <a:p>
            <a:pPr lvl="3"/>
            <a:r>
              <a:rPr lang="en-US"/>
              <a:t>Fourth level</a:t>
            </a:r>
            <a:endParaRPr lang="en-US"/>
          </a:p>
          <a:p>
            <a:pPr lvl="4"/>
            <a:r>
              <a:rPr lang="en-US"/>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endParaRPr lang="en-US"/>
          </a:p>
          <a:p>
            <a:pPr lvl="1"/>
            <a:r>
              <a:rPr lang="en-US"/>
              <a:t>Second level</a:t>
            </a:r>
            <a:endParaRPr lang="en-US"/>
          </a:p>
          <a:p>
            <a:pPr lvl="2"/>
            <a:r>
              <a:rPr lang="en-US"/>
              <a:t>Third level</a:t>
            </a:r>
            <a:endParaRPr lang="en-US"/>
          </a:p>
          <a:p>
            <a:pPr lvl="3"/>
            <a:r>
              <a:rPr lang="en-US"/>
              <a:t>Fourth level</a:t>
            </a:r>
            <a:endParaRPr lang="en-US"/>
          </a:p>
          <a:p>
            <a:pPr lvl="4"/>
            <a:r>
              <a:rPr lang="en-US"/>
              <a:t>Fifth level</a:t>
            </a:r>
            <a:endParaRPr lang="en-US"/>
          </a:p>
        </p:txBody>
      </p:sp>
      <p:sp>
        <p:nvSpPr>
          <p:cNvPr id="10" name="Slide Number Placeholder 5"/>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fld>
            <a:endParaRPr lang="en-US"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a:p>
        </p:txBody>
      </p:sp>
      <p:sp>
        <p:nvSpPr>
          <p:cNvPr id="8" name="Slide Number Placeholder 5"/>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fld>
            <a:endParaRPr lang="en-US" dirty="0"/>
          </a:p>
        </p:txBody>
      </p:sp>
    </p:spTree>
  </p:cSld>
  <p:clrMapOvr>
    <a:masterClrMapping/>
  </p:clrMapOvr>
</p:sldLayout>
</file>

<file path=ppt/slideMasters/_rels/slideMaster1.xml.rels><?xml version="1.0" encoding="UTF-8" standalone="yes"?>
<Relationships xmlns="http://schemas.openxmlformats.org/package/2006/relationships"><Relationship Id="rId5" Type="http://schemas.openxmlformats.org/officeDocument/2006/relationships/theme" Target="../theme/theme1.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endParaRPr lang="en-US" dirty="0"/>
          </a:p>
          <a:p>
            <a:pPr lvl="1"/>
            <a:r>
              <a:rPr lang="en-US" dirty="0"/>
              <a:t>Second level</a:t>
            </a:r>
            <a:endParaRPr lang="en-US" dirty="0"/>
          </a:p>
          <a:p>
            <a:pPr lvl="2"/>
            <a:r>
              <a:rPr lang="en-US" dirty="0"/>
              <a:t>Third level</a:t>
            </a:r>
            <a:endParaRPr lang="en-US" dirty="0"/>
          </a:p>
          <a:p>
            <a:pPr lvl="3"/>
            <a:r>
              <a:rPr lang="en-US" dirty="0"/>
              <a:t>Fourth level</a:t>
            </a:r>
            <a:endParaRPr lang="en-US" dirty="0"/>
          </a:p>
          <a:p>
            <a:pPr lvl="4"/>
            <a:r>
              <a:rPr lang="en-US" dirty="0"/>
              <a:t>Fifth level</a:t>
            </a:r>
            <a:endParaRPr lang="en-US" dirty="0"/>
          </a:p>
        </p:txBody>
      </p:sp>
      <p:sp>
        <p:nvSpPr>
          <p:cNvPr id="6" name="Slide Number Placeholder 5"/>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fld>
            <a:endParaRPr lang="en-US" dirty="0"/>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4.xml"/><Relationship Id="rId1" Type="http://schemas.openxmlformats.org/officeDocument/2006/relationships/image" Target="../media/image1.jpeg"/></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4.xml"/><Relationship Id="rId1" Type="http://schemas.openxmlformats.org/officeDocument/2006/relationships/image" Target="../media/image2.jpe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9" Type="http://schemas.openxmlformats.org/officeDocument/2006/relationships/image" Target="../media/image11.png"/><Relationship Id="rId8" Type="http://schemas.openxmlformats.org/officeDocument/2006/relationships/image" Target="../media/image10.png"/><Relationship Id="rId7" Type="http://schemas.openxmlformats.org/officeDocument/2006/relationships/image" Target="../media/image9.png"/><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3" Type="http://schemas.openxmlformats.org/officeDocument/2006/relationships/image" Target="../media/image5.png"/><Relationship Id="rId23" Type="http://schemas.openxmlformats.org/officeDocument/2006/relationships/notesSlide" Target="../notesSlides/notesSlide5.xml"/><Relationship Id="rId22" Type="http://schemas.openxmlformats.org/officeDocument/2006/relationships/slideLayout" Target="../slideLayouts/slideLayout3.xml"/><Relationship Id="rId21" Type="http://schemas.openxmlformats.org/officeDocument/2006/relationships/image" Target="../media/image23.png"/><Relationship Id="rId20" Type="http://schemas.openxmlformats.org/officeDocument/2006/relationships/image" Target="../media/image22.png"/><Relationship Id="rId2" Type="http://schemas.openxmlformats.org/officeDocument/2006/relationships/image" Target="../media/image4.png"/><Relationship Id="rId19" Type="http://schemas.openxmlformats.org/officeDocument/2006/relationships/image" Target="../media/image21.png"/><Relationship Id="rId18" Type="http://schemas.openxmlformats.org/officeDocument/2006/relationships/image" Target="../media/image20.png"/><Relationship Id="rId17" Type="http://schemas.openxmlformats.org/officeDocument/2006/relationships/image" Target="../media/image19.png"/><Relationship Id="rId16" Type="http://schemas.openxmlformats.org/officeDocument/2006/relationships/image" Target="../media/image18.png"/><Relationship Id="rId15" Type="http://schemas.openxmlformats.org/officeDocument/2006/relationships/image" Target="../media/image17.png"/><Relationship Id="rId14" Type="http://schemas.openxmlformats.org/officeDocument/2006/relationships/image" Target="../media/image16.png"/><Relationship Id="rId13" Type="http://schemas.openxmlformats.org/officeDocument/2006/relationships/image" Target="../media/image15.png"/><Relationship Id="rId12" Type="http://schemas.openxmlformats.org/officeDocument/2006/relationships/image" Target="../media/image14.png"/><Relationship Id="rId11" Type="http://schemas.openxmlformats.org/officeDocument/2006/relationships/image" Target="../media/image13.png"/><Relationship Id="rId10" Type="http://schemas.openxmlformats.org/officeDocument/2006/relationships/image" Target="../media/image12.png"/><Relationship Id="rId1" Type="http://schemas.openxmlformats.org/officeDocument/2006/relationships/image" Target="../media/image3.png"/></Relationships>
</file>

<file path=ppt/slides/_rels/slide6.xml.rels><?xml version="1.0" encoding="UTF-8" standalone="yes"?>
<Relationships xmlns="http://schemas.openxmlformats.org/package/2006/relationships"><Relationship Id="rId9" Type="http://schemas.openxmlformats.org/officeDocument/2006/relationships/image" Target="../media/image11.png"/><Relationship Id="rId8" Type="http://schemas.openxmlformats.org/officeDocument/2006/relationships/image" Target="../media/image10.png"/><Relationship Id="rId7" Type="http://schemas.openxmlformats.org/officeDocument/2006/relationships/image" Target="../media/image9.png"/><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3" Type="http://schemas.openxmlformats.org/officeDocument/2006/relationships/image" Target="../media/image5.png"/><Relationship Id="rId23" Type="http://schemas.openxmlformats.org/officeDocument/2006/relationships/notesSlide" Target="../notesSlides/notesSlide6.xml"/><Relationship Id="rId22" Type="http://schemas.openxmlformats.org/officeDocument/2006/relationships/slideLayout" Target="../slideLayouts/slideLayout3.xml"/><Relationship Id="rId21" Type="http://schemas.openxmlformats.org/officeDocument/2006/relationships/image" Target="../media/image23.png"/><Relationship Id="rId20" Type="http://schemas.openxmlformats.org/officeDocument/2006/relationships/image" Target="../media/image22.png"/><Relationship Id="rId2" Type="http://schemas.openxmlformats.org/officeDocument/2006/relationships/image" Target="../media/image4.png"/><Relationship Id="rId19" Type="http://schemas.openxmlformats.org/officeDocument/2006/relationships/image" Target="../media/image21.png"/><Relationship Id="rId18" Type="http://schemas.openxmlformats.org/officeDocument/2006/relationships/image" Target="../media/image20.png"/><Relationship Id="rId17" Type="http://schemas.openxmlformats.org/officeDocument/2006/relationships/image" Target="../media/image19.png"/><Relationship Id="rId16" Type="http://schemas.openxmlformats.org/officeDocument/2006/relationships/image" Target="../media/image18.png"/><Relationship Id="rId15" Type="http://schemas.openxmlformats.org/officeDocument/2006/relationships/image" Target="../media/image17.png"/><Relationship Id="rId14" Type="http://schemas.openxmlformats.org/officeDocument/2006/relationships/image" Target="../media/image16.png"/><Relationship Id="rId13" Type="http://schemas.openxmlformats.org/officeDocument/2006/relationships/image" Target="../media/image15.png"/><Relationship Id="rId12" Type="http://schemas.openxmlformats.org/officeDocument/2006/relationships/image" Target="../media/image14.png"/><Relationship Id="rId11" Type="http://schemas.openxmlformats.org/officeDocument/2006/relationships/image" Target="../media/image13.png"/><Relationship Id="rId10" Type="http://schemas.openxmlformats.org/officeDocument/2006/relationships/image" Target="../media/image12.png"/><Relationship Id="rId1" Type="http://schemas.openxmlformats.org/officeDocument/2006/relationships/image" Target="../media/image3.png"/></Relationships>
</file>

<file path=ppt/slides/_rels/slide7.xml.rels><?xml version="1.0" encoding="UTF-8" standalone="yes"?>
<Relationships xmlns="http://schemas.openxmlformats.org/package/2006/relationships"><Relationship Id="rId9" Type="http://schemas.openxmlformats.org/officeDocument/2006/relationships/image" Target="../media/image12.png"/><Relationship Id="rId8" Type="http://schemas.openxmlformats.org/officeDocument/2006/relationships/image" Target="../media/image10.png"/><Relationship Id="rId7" Type="http://schemas.openxmlformats.org/officeDocument/2006/relationships/image" Target="../media/image9.png"/><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3" Type="http://schemas.openxmlformats.org/officeDocument/2006/relationships/image" Target="../media/image5.png"/><Relationship Id="rId23" Type="http://schemas.openxmlformats.org/officeDocument/2006/relationships/notesSlide" Target="../notesSlides/notesSlide7.xml"/><Relationship Id="rId22" Type="http://schemas.openxmlformats.org/officeDocument/2006/relationships/slideLayout" Target="../slideLayouts/slideLayout3.xml"/><Relationship Id="rId21" Type="http://schemas.openxmlformats.org/officeDocument/2006/relationships/image" Target="../media/image15.png"/><Relationship Id="rId20" Type="http://schemas.openxmlformats.org/officeDocument/2006/relationships/image" Target="../media/image11.png"/><Relationship Id="rId2" Type="http://schemas.openxmlformats.org/officeDocument/2006/relationships/image" Target="../media/image4.png"/><Relationship Id="rId19" Type="http://schemas.openxmlformats.org/officeDocument/2006/relationships/image" Target="../media/image23.png"/><Relationship Id="rId18" Type="http://schemas.openxmlformats.org/officeDocument/2006/relationships/image" Target="../media/image22.png"/><Relationship Id="rId17" Type="http://schemas.openxmlformats.org/officeDocument/2006/relationships/image" Target="../media/image21.png"/><Relationship Id="rId16" Type="http://schemas.openxmlformats.org/officeDocument/2006/relationships/image" Target="../media/image20.png"/><Relationship Id="rId15" Type="http://schemas.openxmlformats.org/officeDocument/2006/relationships/image" Target="../media/image19.png"/><Relationship Id="rId14" Type="http://schemas.openxmlformats.org/officeDocument/2006/relationships/image" Target="../media/image18.png"/><Relationship Id="rId13" Type="http://schemas.openxmlformats.org/officeDocument/2006/relationships/image" Target="../media/image17.png"/><Relationship Id="rId12" Type="http://schemas.openxmlformats.org/officeDocument/2006/relationships/image" Target="../media/image16.png"/><Relationship Id="rId11" Type="http://schemas.openxmlformats.org/officeDocument/2006/relationships/image" Target="../media/image14.png"/><Relationship Id="rId10" Type="http://schemas.openxmlformats.org/officeDocument/2006/relationships/image" Target="../media/image13.png"/><Relationship Id="rId1" Type="http://schemas.openxmlformats.org/officeDocument/2006/relationships/image" Target="../media/image3.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4.xml"/><Relationship Id="rId1" Type="http://schemas.openxmlformats.org/officeDocument/2006/relationships/image" Target="../media/image24.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4.xml"/><Relationship Id="rId1" Type="http://schemas.openxmlformats.org/officeDocument/2006/relationships/image" Target="../media/image2.jpe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4" Type="http://schemas.openxmlformats.org/officeDocument/2006/relationships/notesSlide" Target="../notesSlides/notesSlide19.xml"/><Relationship Id="rId3" Type="http://schemas.openxmlformats.org/officeDocument/2006/relationships/slideLayout" Target="../slideLayouts/slideLayout4.xml"/><Relationship Id="rId2" Type="http://schemas.openxmlformats.org/officeDocument/2006/relationships/image" Target="../media/image24.png"/><Relationship Id="rId1" Type="http://schemas.openxmlformats.org/officeDocument/2006/relationships/image" Target="../media/image25.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4.xml"/><Relationship Id="rId1" Type="http://schemas.openxmlformats.org/officeDocument/2006/relationships/image" Target="../media/image24.pn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4.xml"/><Relationship Id="rId1" Type="http://schemas.openxmlformats.org/officeDocument/2006/relationships/image" Target="../media/image24.png"/></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4.xml"/><Relationship Id="rId1" Type="http://schemas.openxmlformats.org/officeDocument/2006/relationships/image" Target="../media/image24.pn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4" Type="http://schemas.openxmlformats.org/officeDocument/2006/relationships/notesSlide" Target="../notesSlides/notesSlide32.xml"/><Relationship Id="rId3" Type="http://schemas.openxmlformats.org/officeDocument/2006/relationships/slideLayout" Target="../slideLayouts/slideLayout4.xml"/><Relationship Id="rId2" Type="http://schemas.openxmlformats.org/officeDocument/2006/relationships/image" Target="../media/image26.png"/><Relationship Id="rId1" Type="http://schemas.openxmlformats.org/officeDocument/2006/relationships/image" Target="../media/image24.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4.xml"/><Relationship Id="rId1" Type="http://schemas.openxmlformats.org/officeDocument/2006/relationships/image" Target="../media/image24.pn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4" Type="http://schemas.openxmlformats.org/officeDocument/2006/relationships/notesSlide" Target="../notesSlides/notesSlide36.xml"/><Relationship Id="rId3" Type="http://schemas.openxmlformats.org/officeDocument/2006/relationships/slideLayout" Target="../slideLayouts/slideLayout4.xml"/><Relationship Id="rId2" Type="http://schemas.openxmlformats.org/officeDocument/2006/relationships/image" Target="../media/image27.png"/><Relationship Id="rId1" Type="http://schemas.openxmlformats.org/officeDocument/2006/relationships/image" Target="../media/image24.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4.xml"/><Relationship Id="rId1" Type="http://schemas.openxmlformats.org/officeDocument/2006/relationships/image" Target="../media/image28.png"/></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4.xml"/><Relationship Id="rId1" Type="http://schemas.openxmlformats.org/officeDocument/2006/relationships/image" Target="../media/image28.png"/></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4.xml"/><Relationship Id="rId1" Type="http://schemas.openxmlformats.org/officeDocument/2006/relationships/image" Target="../media/image28.png"/></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4.xml"/><Relationship Id="rId1" Type="http://schemas.openxmlformats.org/officeDocument/2006/relationships/image" Target="../media/image28.png"/></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4.xml"/><Relationship Id="rId1" Type="http://schemas.openxmlformats.org/officeDocument/2006/relationships/image" Target="../media/image24.png"/></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4.xml"/><Relationship Id="rId1" Type="http://schemas.openxmlformats.org/officeDocument/2006/relationships/image" Target="../media/image24.png"/></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4.xml"/><Relationship Id="rId1" Type="http://schemas.openxmlformats.org/officeDocument/2006/relationships/image" Target="../media/image24.png"/></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4.xml"/><Relationship Id="rId1" Type="http://schemas.openxmlformats.org/officeDocument/2006/relationships/image" Target="../media/image2.jpeg"/></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4.xml"/><Relationship Id="rId1" Type="http://schemas.openxmlformats.org/officeDocument/2006/relationships/image" Target="../media/image24.png"/></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4.xml"/><Relationship Id="rId1" Type="http://schemas.openxmlformats.org/officeDocument/2006/relationships/image" Target="../media/image24.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5" Type="http://schemas.openxmlformats.org/officeDocument/2006/relationships/notesSlide" Target="../notesSlides/notesSlide52.xml"/><Relationship Id="rId4" Type="http://schemas.openxmlformats.org/officeDocument/2006/relationships/slideLayout" Target="../slideLayouts/slideLayout4.xml"/><Relationship Id="rId3" Type="http://schemas.openxmlformats.org/officeDocument/2006/relationships/image" Target="../media/image30.png"/><Relationship Id="rId2" Type="http://schemas.openxmlformats.org/officeDocument/2006/relationships/image" Target="../media/image29.png"/><Relationship Id="rId1" Type="http://schemas.openxmlformats.org/officeDocument/2006/relationships/image" Target="../media/image24.png"/></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5" Type="http://schemas.openxmlformats.org/officeDocument/2006/relationships/notesSlide" Target="../notesSlides/notesSlide57.xml"/><Relationship Id="rId4" Type="http://schemas.openxmlformats.org/officeDocument/2006/relationships/slideLayout" Target="../slideLayouts/slideLayout4.xml"/><Relationship Id="rId3" Type="http://schemas.openxmlformats.org/officeDocument/2006/relationships/image" Target="../media/image24.png"/><Relationship Id="rId2" Type="http://schemas.openxmlformats.org/officeDocument/2006/relationships/image" Target="../media/image30.png"/><Relationship Id="rId1" Type="http://schemas.openxmlformats.org/officeDocument/2006/relationships/image" Target="../media/image29.png"/></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4.xml"/><Relationship Id="rId1" Type="http://schemas.openxmlformats.org/officeDocument/2006/relationships/image" Target="../media/image2.jpeg"/></Relationships>
</file>

<file path=ppt/slides/_rels/slide59.xml.rels><?xml version="1.0" encoding="UTF-8" standalone="yes"?>
<Relationships xmlns="http://schemas.openxmlformats.org/package/2006/relationships"><Relationship Id="rId8" Type="http://schemas.openxmlformats.org/officeDocument/2006/relationships/slideLayout" Target="../slideLayouts/slideLayout4.xml"/><Relationship Id="rId7" Type="http://schemas.openxmlformats.org/officeDocument/2006/relationships/hyperlink" Target="http://www.webopedia.com/TERM/P/SMTP.html" TargetMode="External"/><Relationship Id="rId6" Type="http://schemas.openxmlformats.org/officeDocument/2006/relationships/hyperlink" Target="http://www.webopedia.com/TERM/P/standard.html" TargetMode="External"/><Relationship Id="rId5" Type="http://schemas.openxmlformats.org/officeDocument/2006/relationships/hyperlink" Target="http://www.webopedia.com/TERM/P/IMAP.html" TargetMode="External"/><Relationship Id="rId4" Type="http://schemas.openxmlformats.org/officeDocument/2006/relationships/hyperlink" Target="http://www.webopedia.com/TERM/P/e_mail_client.html" TargetMode="External"/><Relationship Id="rId3" Type="http://schemas.openxmlformats.org/officeDocument/2006/relationships/hyperlink" Target="http://www.webopedia.com/TERM/P/server.html" TargetMode="External"/><Relationship Id="rId2" Type="http://schemas.openxmlformats.org/officeDocument/2006/relationships/hyperlink" Target="http://www.webopedia.com/TERM/P/e_mail.html" TargetMode="External"/><Relationship Id="rId1" Type="http://schemas.openxmlformats.org/officeDocument/2006/relationships/hyperlink" Target="http://www.webopedia.com/TERM/P/protocol.html" TargetMode="Externa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3" Type="http://schemas.openxmlformats.org/officeDocument/2006/relationships/slideLayout" Target="../slideLayouts/slideLayout4.xml"/><Relationship Id="rId2" Type="http://schemas.openxmlformats.org/officeDocument/2006/relationships/image" Target="../media/image32.png"/><Relationship Id="rId1" Type="http://schemas.openxmlformats.org/officeDocument/2006/relationships/image" Target="../media/image31.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4.xml"/><Relationship Id="rId1" Type="http://schemas.openxmlformats.org/officeDocument/2006/relationships/image" Target="../media/image33.png"/></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3" Type="http://schemas.openxmlformats.org/officeDocument/2006/relationships/notesSlide" Target="../notesSlides/notesSlide65.xml"/><Relationship Id="rId2" Type="http://schemas.openxmlformats.org/officeDocument/2006/relationships/slideLayout" Target="../slideLayouts/slideLayout4.xml"/><Relationship Id="rId1" Type="http://schemas.openxmlformats.org/officeDocument/2006/relationships/image" Target="../media/image24.png"/></Relationships>
</file>

<file path=ppt/slides/_rels/slide73.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4.xml"/><Relationship Id="rId1" Type="http://schemas.openxmlformats.org/officeDocument/2006/relationships/image" Target="../media/image24.png"/></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73.xml"/><Relationship Id="rId2" Type="http://schemas.openxmlformats.org/officeDocument/2006/relationships/slideLayout" Target="../slideLayouts/slideLayout4.xml"/><Relationship Id="rId1" Type="http://schemas.openxmlformats.org/officeDocument/2006/relationships/image" Target="../media/image2.jpeg"/></Relationships>
</file>

<file path=ppt/slides/_rels/slide81.xml.rels><?xml version="1.0" encoding="UTF-8" standalone="yes"?>
<Relationships xmlns="http://schemas.openxmlformats.org/package/2006/relationships"><Relationship Id="rId9" Type="http://schemas.openxmlformats.org/officeDocument/2006/relationships/image" Target="../media/image12.png"/><Relationship Id="rId8" Type="http://schemas.openxmlformats.org/officeDocument/2006/relationships/image" Target="../media/image10.png"/><Relationship Id="rId7" Type="http://schemas.openxmlformats.org/officeDocument/2006/relationships/image" Target="../media/image9.png"/><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3" Type="http://schemas.openxmlformats.org/officeDocument/2006/relationships/image" Target="../media/image5.png"/><Relationship Id="rId23" Type="http://schemas.openxmlformats.org/officeDocument/2006/relationships/notesSlide" Target="../notesSlides/notesSlide74.xml"/><Relationship Id="rId22" Type="http://schemas.openxmlformats.org/officeDocument/2006/relationships/slideLayout" Target="../slideLayouts/slideLayout3.xml"/><Relationship Id="rId21" Type="http://schemas.openxmlformats.org/officeDocument/2006/relationships/image" Target="../media/image15.png"/><Relationship Id="rId20" Type="http://schemas.openxmlformats.org/officeDocument/2006/relationships/image" Target="../media/image11.png"/><Relationship Id="rId2" Type="http://schemas.openxmlformats.org/officeDocument/2006/relationships/image" Target="../media/image4.png"/><Relationship Id="rId19" Type="http://schemas.openxmlformats.org/officeDocument/2006/relationships/image" Target="../media/image23.png"/><Relationship Id="rId18" Type="http://schemas.openxmlformats.org/officeDocument/2006/relationships/image" Target="../media/image22.png"/><Relationship Id="rId17" Type="http://schemas.openxmlformats.org/officeDocument/2006/relationships/image" Target="../media/image21.png"/><Relationship Id="rId16" Type="http://schemas.openxmlformats.org/officeDocument/2006/relationships/image" Target="../media/image20.png"/><Relationship Id="rId15" Type="http://schemas.openxmlformats.org/officeDocument/2006/relationships/image" Target="../media/image19.png"/><Relationship Id="rId14" Type="http://schemas.openxmlformats.org/officeDocument/2006/relationships/image" Target="../media/image18.png"/><Relationship Id="rId13" Type="http://schemas.openxmlformats.org/officeDocument/2006/relationships/image" Target="../media/image17.png"/><Relationship Id="rId12" Type="http://schemas.openxmlformats.org/officeDocument/2006/relationships/image" Target="../media/image16.png"/><Relationship Id="rId11" Type="http://schemas.openxmlformats.org/officeDocument/2006/relationships/image" Target="../media/image14.png"/><Relationship Id="rId10" Type="http://schemas.openxmlformats.org/officeDocument/2006/relationships/image" Target="../media/image13.png"/><Relationship Id="rId1" Type="http://schemas.openxmlformats.org/officeDocument/2006/relationships/image" Target="../media/image3.png"/></Relationships>
</file>

<file path=ppt/slides/_rels/slide82.xml.rels><?xml version="1.0" encoding="UTF-8" standalone="yes"?>
<Relationships xmlns="http://schemas.openxmlformats.org/package/2006/relationships"><Relationship Id="rId3" Type="http://schemas.openxmlformats.org/officeDocument/2006/relationships/notesSlide" Target="../notesSlides/notesSlide75.xml"/><Relationship Id="rId2" Type="http://schemas.openxmlformats.org/officeDocument/2006/relationships/slideLayout" Target="../slideLayouts/slideLayout3.xml"/><Relationship Id="rId1" Type="http://schemas.openxmlformats.org/officeDocument/2006/relationships/image" Target="../media/image24.png"/></Relationships>
</file>

<file path=ppt/slides/_rels/slide83.xml.rels><?xml version="1.0" encoding="UTF-8" standalone="yes"?>
<Relationships xmlns="http://schemas.openxmlformats.org/package/2006/relationships"><Relationship Id="rId3" Type="http://schemas.openxmlformats.org/officeDocument/2006/relationships/notesSlide" Target="../notesSlides/notesSlide76.xml"/><Relationship Id="rId2" Type="http://schemas.openxmlformats.org/officeDocument/2006/relationships/slideLayout" Target="../slideLayouts/slideLayout3.xml"/><Relationship Id="rId1" Type="http://schemas.openxmlformats.org/officeDocument/2006/relationships/image" Target="../media/image24.png"/></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77.xml"/><Relationship Id="rId2" Type="http://schemas.openxmlformats.org/officeDocument/2006/relationships/slideLayout" Target="../slideLayouts/slideLayout3.xml"/><Relationship Id="rId1" Type="http://schemas.openxmlformats.org/officeDocument/2006/relationships/image" Target="../media/image24.png"/></Relationships>
</file>

<file path=ppt/slides/_rels/slide85.xml.rels><?xml version="1.0" encoding="UTF-8" standalone="yes"?>
<Relationships xmlns="http://schemas.openxmlformats.org/package/2006/relationships"><Relationship Id="rId5" Type="http://schemas.openxmlformats.org/officeDocument/2006/relationships/notesSlide" Target="../notesSlides/notesSlide78.xml"/><Relationship Id="rId4" Type="http://schemas.openxmlformats.org/officeDocument/2006/relationships/vmlDrawing" Target="../drawings/vmlDrawing1.vml"/><Relationship Id="rId3" Type="http://schemas.openxmlformats.org/officeDocument/2006/relationships/slideLayout" Target="../slideLayouts/slideLayout3.xml"/><Relationship Id="rId2" Type="http://schemas.openxmlformats.org/officeDocument/2006/relationships/image" Target="../media/image34.emf"/><Relationship Id="rId1" Type="http://schemas.openxmlformats.org/officeDocument/2006/relationships/oleObject" Target="../embeddings/oleObject1.bin"/></Relationships>
</file>

<file path=ppt/slides/_rels/slide86.xml.rels><?xml version="1.0" encoding="UTF-8" standalone="yes"?>
<Relationships xmlns="http://schemas.openxmlformats.org/package/2006/relationships"><Relationship Id="rId5" Type="http://schemas.openxmlformats.org/officeDocument/2006/relationships/notesSlide" Target="../notesSlides/notesSlide79.xml"/><Relationship Id="rId4" Type="http://schemas.openxmlformats.org/officeDocument/2006/relationships/slideLayout" Target="../slideLayouts/slideLayout3.xml"/><Relationship Id="rId3" Type="http://schemas.openxmlformats.org/officeDocument/2006/relationships/image" Target="../media/image35.png"/><Relationship Id="rId2" Type="http://schemas.openxmlformats.org/officeDocument/2006/relationships/image" Target="../media/image24.png"/><Relationship Id="rId1" Type="http://schemas.openxmlformats.org/officeDocument/2006/relationships/image" Target="../media/image29.png"/></Relationships>
</file>

<file path=ppt/slides/_rels/slide87.xml.rels><?xml version="1.0" encoding="UTF-8" standalone="yes"?>
<Relationships xmlns="http://schemas.openxmlformats.org/package/2006/relationships"><Relationship Id="rId5" Type="http://schemas.openxmlformats.org/officeDocument/2006/relationships/notesSlide" Target="../notesSlides/notesSlide80.xml"/><Relationship Id="rId4" Type="http://schemas.openxmlformats.org/officeDocument/2006/relationships/slideLayout" Target="../slideLayouts/slideLayout3.xml"/><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image" Target="../media/image29.png"/></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5" Type="http://schemas.openxmlformats.org/officeDocument/2006/relationships/notesSlide" Target="../notesSlides/notesSlide82.xml"/><Relationship Id="rId4" Type="http://schemas.openxmlformats.org/officeDocument/2006/relationships/slideLayout" Target="../slideLayouts/slideLayout3.xml"/><Relationship Id="rId3" Type="http://schemas.openxmlformats.org/officeDocument/2006/relationships/image" Target="../media/image24.png"/><Relationship Id="rId2" Type="http://schemas.openxmlformats.org/officeDocument/2006/relationships/image" Target="../media/image30.png"/><Relationship Id="rId1" Type="http://schemas.openxmlformats.org/officeDocument/2006/relationships/image" Target="../media/image29.png"/></Relationships>
</file>

<file path=ppt/slides/_rels/slide90.xml.rels><?xml version="1.0" encoding="UTF-8" standalone="yes"?>
<Relationships xmlns="http://schemas.openxmlformats.org/package/2006/relationships"><Relationship Id="rId3" Type="http://schemas.openxmlformats.org/officeDocument/2006/relationships/notesSlide" Target="../notesSlides/notesSlide83.xml"/><Relationship Id="rId2" Type="http://schemas.openxmlformats.org/officeDocument/2006/relationships/slideLayout" Target="../slideLayouts/slideLayout4.xml"/><Relationship Id="rId1" Type="http://schemas.openxmlformats.org/officeDocument/2006/relationships/image" Target="../media/image2.jpeg"/></Relationships>
</file>

<file path=ppt/slides/_rels/slide91.xml.rels><?xml version="1.0" encoding="UTF-8" standalone="yes"?>
<Relationships xmlns="http://schemas.openxmlformats.org/package/2006/relationships"><Relationship Id="rId7" Type="http://schemas.openxmlformats.org/officeDocument/2006/relationships/notesSlide" Target="../notesSlides/notesSlide84.xml"/><Relationship Id="rId6" Type="http://schemas.openxmlformats.org/officeDocument/2006/relationships/slideLayout" Target="../slideLayouts/slideLayout3.xml"/><Relationship Id="rId5" Type="http://schemas.openxmlformats.org/officeDocument/2006/relationships/image" Target="../media/image42.png"/><Relationship Id="rId4" Type="http://schemas.openxmlformats.org/officeDocument/2006/relationships/image" Target="../media/image41.png"/><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image" Target="../media/image38.png"/></Relationships>
</file>

<file path=ppt/slides/_rels/slide92.xml.rels><?xml version="1.0" encoding="UTF-8" standalone="yes"?>
<Relationships xmlns="http://schemas.openxmlformats.org/package/2006/relationships"><Relationship Id="rId3" Type="http://schemas.openxmlformats.org/officeDocument/2006/relationships/notesSlide" Target="../notesSlides/notesSlide85.xml"/><Relationship Id="rId2" Type="http://schemas.openxmlformats.org/officeDocument/2006/relationships/slideLayout" Target="../slideLayouts/slideLayout3.xml"/><Relationship Id="rId1" Type="http://schemas.openxmlformats.org/officeDocument/2006/relationships/image" Target="../media/image43.png"/></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86.xml"/><Relationship Id="rId2" Type="http://schemas.openxmlformats.org/officeDocument/2006/relationships/slideLayout" Target="../slideLayouts/slideLayout3.xml"/><Relationship Id="rId1" Type="http://schemas.openxmlformats.org/officeDocument/2006/relationships/image" Target="../media/image43.png"/></Relationships>
</file>

<file path=ppt/slides/_rels/slide94.xml.rels><?xml version="1.0" encoding="UTF-8" standalone="yes"?>
<Relationships xmlns="http://schemas.openxmlformats.org/package/2006/relationships"><Relationship Id="rId4" Type="http://schemas.openxmlformats.org/officeDocument/2006/relationships/notesSlide" Target="../notesSlides/notesSlide87.xml"/><Relationship Id="rId3" Type="http://schemas.openxmlformats.org/officeDocument/2006/relationships/slideLayout" Target="../slideLayouts/slideLayout2.xml"/><Relationship Id="rId2" Type="http://schemas.openxmlformats.org/officeDocument/2006/relationships/image" Target="../media/image45.jpeg"/><Relationship Id="rId1" Type="http://schemas.openxmlformats.org/officeDocument/2006/relationships/image" Target="../media/image44.png"/></Relationships>
</file>

<file path=ppt/slides/_rels/slide95.xml.rels><?xml version="1.0" encoding="UTF-8" standalone="yes"?>
<Relationships xmlns="http://schemas.openxmlformats.org/package/2006/relationships"><Relationship Id="rId4" Type="http://schemas.openxmlformats.org/officeDocument/2006/relationships/notesSlide" Target="../notesSlides/notesSlide88.xml"/><Relationship Id="rId3" Type="http://schemas.openxmlformats.org/officeDocument/2006/relationships/slideLayout" Target="../slideLayouts/slideLayout2.xml"/><Relationship Id="rId2" Type="http://schemas.openxmlformats.org/officeDocument/2006/relationships/image" Target="../media/image45.jpeg"/><Relationship Id="rId1" Type="http://schemas.openxmlformats.org/officeDocument/2006/relationships/image" Target="../media/image44.png"/></Relationships>
</file>

<file path=ppt/slides/_rels/slide96.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2.xml"/><Relationship Id="rId1" Type="http://schemas.openxmlformats.org/officeDocument/2006/relationships/image" Target="../media/image46.jpeg"/></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4" Type="http://schemas.openxmlformats.org/officeDocument/2006/relationships/notesSlide" Target="../notesSlides/notesSlide91.xml"/><Relationship Id="rId3" Type="http://schemas.openxmlformats.org/officeDocument/2006/relationships/slideLayout" Target="../slideLayouts/slideLayout2.xml"/><Relationship Id="rId2" Type="http://schemas.openxmlformats.org/officeDocument/2006/relationships/image" Target="../media/image45.jpeg"/><Relationship Id="rId1" Type="http://schemas.openxmlformats.org/officeDocument/2006/relationships/image" Target="../media/image44.png"/></Relationships>
</file>

<file path=ppt/slides/_rels/slide99.xml.rels><?xml version="1.0" encoding="UTF-8" standalone="yes"?>
<Relationships xmlns="http://schemas.openxmlformats.org/package/2006/relationships"><Relationship Id="rId4" Type="http://schemas.openxmlformats.org/officeDocument/2006/relationships/notesSlide" Target="../notesSlides/notesSlide92.xml"/><Relationship Id="rId3" Type="http://schemas.openxmlformats.org/officeDocument/2006/relationships/slideLayout" Target="../slideLayouts/slideLayout2.xml"/><Relationship Id="rId2" Type="http://schemas.openxmlformats.org/officeDocument/2006/relationships/image" Target="../media/image45.jpeg"/><Relationship Id="rId1" Type="http://schemas.openxmlformats.org/officeDocument/2006/relationships/image" Target="../media/image44.png"/></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4" Type="http://schemas.openxmlformats.org/officeDocument/2006/relationships/notesSlide" Target="../notesSlides/notesSlide94.xml"/><Relationship Id="rId3" Type="http://schemas.openxmlformats.org/officeDocument/2006/relationships/slideLayout" Target="../slideLayouts/slideLayout2.xml"/><Relationship Id="rId2" Type="http://schemas.openxmlformats.org/officeDocument/2006/relationships/image" Target="../media/image48.png"/><Relationship Id="rId1" Type="http://schemas.openxmlformats.org/officeDocument/2006/relationships/image" Target="../media/image47.png"/></Relationships>
</file>

<file path=ppt/slides/_rels/slide102.xml.rels><?xml version="1.0" encoding="UTF-8" standalone="yes"?>
<Relationships xmlns="http://schemas.openxmlformats.org/package/2006/relationships"><Relationship Id="rId7" Type="http://schemas.openxmlformats.org/officeDocument/2006/relationships/notesSlide" Target="../notesSlides/notesSlide95.xml"/><Relationship Id="rId6" Type="http://schemas.openxmlformats.org/officeDocument/2006/relationships/slideLayout" Target="../slideLayouts/slideLayout2.xml"/><Relationship Id="rId5" Type="http://schemas.openxmlformats.org/officeDocument/2006/relationships/audio" Target="../media/audio1.wav"/><Relationship Id="rId4" Type="http://schemas.openxmlformats.org/officeDocument/2006/relationships/image" Target="../media/image52.jpeg"/><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image" Target="../media/image49.png"/></Relationships>
</file>

<file path=ppt/slides/_rels/slide103.xml.rels><?xml version="1.0" encoding="UTF-8" standalone="yes"?>
<Relationships xmlns="http://schemas.openxmlformats.org/package/2006/relationships"><Relationship Id="rId5" Type="http://schemas.openxmlformats.org/officeDocument/2006/relationships/notesSlide" Target="../notesSlides/notesSlide96.xml"/><Relationship Id="rId4" Type="http://schemas.openxmlformats.org/officeDocument/2006/relationships/slideLayout" Target="../slideLayouts/slideLayout2.xml"/><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image" Target="../media/image49.png"/></Relationships>
</file>

<file path=ppt/slides/_rels/slide104.xml.rels><?xml version="1.0" encoding="UTF-8" standalone="yes"?>
<Relationships xmlns="http://schemas.openxmlformats.org/package/2006/relationships"><Relationship Id="rId4" Type="http://schemas.openxmlformats.org/officeDocument/2006/relationships/notesSlide" Target="../notesSlides/notesSlide97.xml"/><Relationship Id="rId3" Type="http://schemas.openxmlformats.org/officeDocument/2006/relationships/slideLayout" Target="../slideLayouts/slideLayout2.xml"/><Relationship Id="rId2" Type="http://schemas.openxmlformats.org/officeDocument/2006/relationships/image" Target="../media/image30.png"/><Relationship Id="rId1" Type="http://schemas.openxmlformats.org/officeDocument/2006/relationships/image" Target="../media/image24.png"/></Relationships>
</file>

<file path=ppt/slides/_rels/slide105.xml.rels><?xml version="1.0" encoding="UTF-8" standalone="yes"?>
<Relationships xmlns="http://schemas.openxmlformats.org/package/2006/relationships"><Relationship Id="rId4" Type="http://schemas.openxmlformats.org/officeDocument/2006/relationships/notesSlide" Target="../notesSlides/notesSlide98.xml"/><Relationship Id="rId3" Type="http://schemas.openxmlformats.org/officeDocument/2006/relationships/slideLayout" Target="../slideLayouts/slideLayout2.xml"/><Relationship Id="rId2" Type="http://schemas.openxmlformats.org/officeDocument/2006/relationships/image" Target="../media/image30.png"/><Relationship Id="rId1" Type="http://schemas.openxmlformats.org/officeDocument/2006/relationships/image" Target="../media/image24.png"/></Relationships>
</file>

<file path=ppt/slides/_rels/slide106.xml.rels><?xml version="1.0" encoding="UTF-8" standalone="yes"?>
<Relationships xmlns="http://schemas.openxmlformats.org/package/2006/relationships"><Relationship Id="rId3" Type="http://schemas.openxmlformats.org/officeDocument/2006/relationships/notesSlide" Target="../notesSlides/notesSlide99.xml"/><Relationship Id="rId2" Type="http://schemas.openxmlformats.org/officeDocument/2006/relationships/slideLayout" Target="../slideLayouts/slideLayout4.xml"/><Relationship Id="rId1" Type="http://schemas.openxmlformats.org/officeDocument/2006/relationships/image" Target="../media/image2.jpeg"/></Relationships>
</file>

<file path=ppt/slides/_rels/slide107.xml.rels><?xml version="1.0" encoding="UTF-8" standalone="yes"?>
<Relationships xmlns="http://schemas.openxmlformats.org/package/2006/relationships"><Relationship Id="rId3" Type="http://schemas.openxmlformats.org/officeDocument/2006/relationships/notesSlide" Target="../notesSlides/notesSlide100.xml"/><Relationship Id="rId2" Type="http://schemas.openxmlformats.org/officeDocument/2006/relationships/slideLayout" Target="../slideLayouts/slideLayout2.xml"/><Relationship Id="rId1" Type="http://schemas.openxmlformats.org/officeDocument/2006/relationships/image" Target="../media/image24.png"/></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103.xml"/><Relationship Id="rId2" Type="http://schemas.openxmlformats.org/officeDocument/2006/relationships/slideLayout" Target="../slideLayouts/slideLayout2.xml"/><Relationship Id="rId1" Type="http://schemas.openxmlformats.org/officeDocument/2006/relationships/image" Target="../media/image24.png"/></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3" Type="http://schemas.openxmlformats.org/officeDocument/2006/relationships/notesSlide" Target="../notesSlides/notesSlide107.xml"/><Relationship Id="rId2" Type="http://schemas.openxmlformats.org/officeDocument/2006/relationships/slideLayout" Target="../slideLayouts/slideLayout2.xml"/><Relationship Id="rId1" Type="http://schemas.openxmlformats.org/officeDocument/2006/relationships/image" Target="../media/image24.png"/></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a:spLocks noChangeArrowheads="1"/>
          </p:cNvSpPr>
          <p:nvPr/>
        </p:nvSpPr>
        <p:spPr bwMode="auto">
          <a:xfrm>
            <a:off x="1325035" y="561975"/>
            <a:ext cx="537845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eaLnBrk="1" hangingPunct="1">
              <a:lnSpc>
                <a:spcPct val="85000"/>
              </a:lnSpc>
            </a:pPr>
            <a:r>
              <a:rPr lang="en-US" altLang="en-US" sz="5400" b="1" dirty="0">
                <a:solidFill>
                  <a:srgbClr val="000099"/>
                </a:solidFill>
                <a:latin typeface="+mj-lt"/>
              </a:rPr>
              <a:t>Chapter 2</a:t>
            </a:r>
            <a:br>
              <a:rPr lang="en-US" altLang="en-US" sz="6000" b="1" dirty="0">
                <a:solidFill>
                  <a:srgbClr val="000099"/>
                </a:solidFill>
                <a:latin typeface="+mj-lt"/>
              </a:rPr>
            </a:br>
            <a:r>
              <a:rPr lang="en-US" altLang="en-US" sz="5400" b="1" dirty="0">
                <a:solidFill>
                  <a:srgbClr val="000099"/>
                </a:solidFill>
                <a:latin typeface="+mj-lt"/>
              </a:rPr>
              <a:t>Application Layer</a:t>
            </a:r>
            <a:endParaRPr lang="en-US" altLang="en-US" sz="5400" b="1" dirty="0">
              <a:solidFill>
                <a:srgbClr val="000099"/>
              </a:solidFill>
              <a:latin typeface="+mj-lt"/>
            </a:endParaRPr>
          </a:p>
        </p:txBody>
      </p:sp>
      <p:sp>
        <p:nvSpPr>
          <p:cNvPr id="7" name="Text Box 6"/>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r>
              <a:rPr lang="en-US" altLang="en-US" sz="1800" dirty="0">
                <a:latin typeface="+mn-lt"/>
              </a:rPr>
              <a:t>A note on the use of these PowerPoint slides:</a:t>
            </a:r>
            <a:endParaRPr lang="en-US" altLang="en-US" sz="1800" dirty="0">
              <a:latin typeface="+mn-lt"/>
            </a:endParaRP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endParaRPr lang="en-US" altLang="ja-JP" sz="1400" dirty="0">
              <a:latin typeface="+mn-lt"/>
            </a:endParaRPr>
          </a:p>
          <a:p>
            <a:pPr>
              <a:lnSpc>
                <a:spcPct val="85000"/>
              </a:lnSpc>
            </a:pPr>
            <a:endParaRPr lang="en-US" altLang="en-US" sz="1400" dirty="0"/>
          </a:p>
        </p:txBody>
      </p:sp>
      <p:sp>
        <p:nvSpPr>
          <p:cNvPr id="8" name="Text Box 7"/>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355" indent="-173355">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830" indent="-168275">
              <a:buClr>
                <a:srgbClr val="0000A8"/>
              </a:buClr>
              <a:buSzPct val="75000"/>
              <a:buFont typeface="Wingdings" panose="05000000000000000000"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endParaRPr lang="en-US" altLang="ja-JP" sz="1400" dirty="0">
              <a:latin typeface="+mn-lt"/>
              <a:cs typeface="Calibri" panose="020F0502020204030204" pitchFamily="34" charset="0"/>
            </a:endParaRPr>
          </a:p>
          <a:p>
            <a:pPr marL="290830" indent="-168275">
              <a:buClr>
                <a:srgbClr val="0000A8"/>
              </a:buClr>
              <a:buSzPct val="75000"/>
              <a:buFont typeface="Wingdings" panose="05000000000000000000"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endParaRPr lang="en-US" altLang="en-US" sz="1400" dirty="0">
              <a:latin typeface="+mn-lt"/>
              <a:cs typeface="Calibri" panose="020F0502020204030204" pitchFamily="34" charset="0"/>
            </a:endParaRPr>
          </a:p>
          <a:p>
            <a:pPr>
              <a:lnSpc>
                <a:spcPct val="85000"/>
              </a:lnSpc>
              <a:buClr>
                <a:schemeClr val="accent2"/>
              </a:buClr>
              <a:buFont typeface="Wingdings" panose="05000000000000000000" pitchFamily="2" charset="2"/>
              <a:buNone/>
            </a:pPr>
            <a:endParaRPr lang="en-US" altLang="en-US" sz="1400" dirty="0">
              <a:latin typeface="+mn-lt"/>
            </a:endParaRPr>
          </a:p>
          <a:p>
            <a:pPr marL="15875" indent="0">
              <a:lnSpc>
                <a:spcPct val="85000"/>
              </a:lnSpc>
              <a:buClr>
                <a:schemeClr val="accent2"/>
              </a:buClr>
              <a:buFont typeface="Wingdings" panose="05000000000000000000" pitchFamily="2" charset="2"/>
              <a:buNone/>
            </a:pPr>
            <a:r>
              <a:rPr lang="en-US" altLang="en-US" sz="1400" dirty="0">
                <a:latin typeface="+mn-lt"/>
              </a:rPr>
              <a:t>For a revision history, see the slide note for this page. </a:t>
            </a:r>
            <a:endParaRPr lang="en-US" altLang="en-US" sz="1400" dirty="0">
              <a:latin typeface="+mn-lt"/>
            </a:endParaRPr>
          </a:p>
          <a:p>
            <a:pPr marL="15875" indent="0">
              <a:lnSpc>
                <a:spcPct val="85000"/>
              </a:lnSpc>
              <a:buClr>
                <a:schemeClr val="accent2"/>
              </a:buClr>
              <a:buFont typeface="Wingdings" panose="05000000000000000000" pitchFamily="2" charset="2"/>
              <a:buNone/>
            </a:pPr>
            <a:endParaRPr lang="en-US" altLang="en-US" sz="1400" dirty="0">
              <a:latin typeface="+mn-lt"/>
            </a:endParaRPr>
          </a:p>
          <a:p>
            <a:pPr marL="15875" indent="0">
              <a:lnSpc>
                <a:spcPct val="85000"/>
              </a:lnSpc>
              <a:buClr>
                <a:schemeClr val="accent2"/>
              </a:buClr>
              <a:buFont typeface="Wingdings" panose="05000000000000000000" pitchFamily="2" charset="2"/>
              <a:buNone/>
            </a:pPr>
            <a:r>
              <a:rPr lang="en-US" altLang="en-US" sz="1400" dirty="0">
                <a:latin typeface="+mn-lt"/>
              </a:rPr>
              <a:t>Thanks and enjoy!  JFK/KWR</a:t>
            </a:r>
            <a:endParaRPr lang="en-US" altLang="en-US" sz="1400" dirty="0">
              <a:latin typeface="+mn-lt"/>
            </a:endParaRP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endParaRPr lang="en-US" altLang="en-US" sz="1400" dirty="0">
              <a:latin typeface="+mn-lt"/>
            </a:endParaRP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2" name="Slide Number Placeholder 1"/>
          <p:cNvSpPr>
            <a:spLocks noGrp="1"/>
          </p:cNvSpPr>
          <p:nvPr>
            <p:ph type="sldNum" sz="quarter" idx="4"/>
          </p:nvPr>
        </p:nvSpPr>
        <p:spPr/>
        <p:txBody>
          <a:bodyPr/>
          <a:lstStyle/>
          <a:p>
            <a:r>
              <a:rPr lang="en-US" dirty="0"/>
              <a:t>Application Layer: 2-</a:t>
            </a:r>
            <a:fld id="{C4204591-24BD-A542-B9D5-F8D8A88D2FEE}" type="slidenum">
              <a:rPr lang="en-US" smtClean="0"/>
            </a:fld>
            <a:endParaRPr lang="en-US" dirty="0"/>
          </a:p>
        </p:txBody>
      </p:sp>
      <p:sp>
        <p:nvSpPr>
          <p:cNvPr id="11" name="Rectangle 10"/>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pic>
        <p:nvPicPr>
          <p:cNvPr id="12" name="Picture 11" descr="A picture containing outdoor, water, bridge, building&#10;&#10;Description automatically generated"/>
          <p:cNvPicPr>
            <a:picLocks noChangeAspect="1"/>
          </p:cNvPicPr>
          <p:nvPr/>
        </p:nvPicPr>
        <p:blipFill>
          <a:blip r:embed="rId1"/>
          <a:stretch>
            <a:fillRect/>
          </a:stretch>
        </p:blipFill>
        <p:spPr>
          <a:xfrm>
            <a:off x="8135257" y="887185"/>
            <a:ext cx="3040743" cy="3800929"/>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layer: overview</a:t>
            </a:r>
            <a:endParaRPr lang="en-US" sz="4400" dirty="0"/>
          </a:p>
        </p:txBody>
      </p:sp>
      <p:sp>
        <p:nvSpPr>
          <p:cNvPr id="10" name="Content Placeholder 3"/>
          <p:cNvSpPr txBox="1"/>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955" indent="-401955">
              <a:defRPr/>
            </a:pPr>
            <a:r>
              <a:rPr lang="en-US" sz="3200" dirty="0">
                <a:solidFill>
                  <a:srgbClr val="CC0000"/>
                </a:solidFill>
                <a:latin typeface="Calibri" panose="020F0502020204030204" pitchFamily="34" charset="0"/>
                <a:cs typeface="Calibri" panose="020F0502020204030204" pitchFamily="34" charset="0"/>
              </a:rPr>
              <a:t>Principles of network applications</a:t>
            </a:r>
            <a:endParaRPr lang="en-US" sz="3200" dirty="0">
              <a:solidFill>
                <a:srgbClr val="CC0000"/>
              </a:solidFill>
              <a:latin typeface="Calibri" panose="020F0502020204030204" pitchFamily="34" charset="0"/>
              <a:cs typeface="Calibri" panose="020F0502020204030204" pitchFamily="34" charset="0"/>
            </a:endParaRPr>
          </a:p>
          <a:p>
            <a:pPr marL="401955" indent="-401955">
              <a:defRPr/>
            </a:pPr>
            <a:r>
              <a:rPr lang="en-US" sz="3200" dirty="0">
                <a:latin typeface="Calibri" panose="020F0502020204030204" pitchFamily="34" charset="0"/>
                <a:cs typeface="Calibri" panose="020F0502020204030204" pitchFamily="34" charset="0"/>
              </a:rPr>
              <a:t>Web and HTTP</a:t>
            </a:r>
            <a:endParaRPr lang="en-US" sz="3200" dirty="0">
              <a:latin typeface="Calibri" panose="020F0502020204030204" pitchFamily="34" charset="0"/>
              <a:cs typeface="Calibri" panose="020F0502020204030204" pitchFamily="34" charset="0"/>
            </a:endParaRPr>
          </a:p>
          <a:p>
            <a:pPr marL="401955" indent="-401955">
              <a:defRPr/>
            </a:pPr>
            <a:r>
              <a:rPr lang="en-US" sz="3200" dirty="0">
                <a:latin typeface="Calibri" panose="020F0502020204030204" pitchFamily="34" charset="0"/>
                <a:cs typeface="Calibri" panose="020F0502020204030204" pitchFamily="34" charset="0"/>
              </a:rPr>
              <a:t>E-mail, SMTP, IMAP</a:t>
            </a:r>
            <a:endParaRPr lang="en-US" sz="3200" dirty="0">
              <a:latin typeface="Calibri" panose="020F0502020204030204" pitchFamily="34" charset="0"/>
              <a:cs typeface="Calibri" panose="020F0502020204030204" pitchFamily="34" charset="0"/>
            </a:endParaRPr>
          </a:p>
          <a:p>
            <a:pPr marL="401955" indent="-401955">
              <a:defRPr/>
            </a:pPr>
            <a:r>
              <a:rPr lang="en-US" sz="3200" dirty="0">
                <a:latin typeface="Calibri" panose="020F0502020204030204" pitchFamily="34" charset="0"/>
                <a:cs typeface="Calibri" panose="020F0502020204030204" pitchFamily="34" charset="0"/>
              </a:rPr>
              <a:t>The Domain Name System DNS</a:t>
            </a:r>
            <a:endParaRPr lang="en-US" sz="3200" dirty="0">
              <a:latin typeface="Calibri" panose="020F0502020204030204" pitchFamily="34" charset="0"/>
              <a:cs typeface="Calibri" panose="020F0502020204030204" pitchFamily="34" charset="0"/>
            </a:endParaRPr>
          </a:p>
          <a:p>
            <a:endParaRPr lang="en-US" dirty="0"/>
          </a:p>
        </p:txBody>
      </p:sp>
      <p:sp>
        <p:nvSpPr>
          <p:cNvPr id="11" name="Rectangle 4"/>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r>
              <a:rPr lang="en-US" altLang="en-US" sz="3200" dirty="0">
                <a:ea typeface="MS PGothic" panose="020B0600070205080204" pitchFamily="34" charset="-128"/>
              </a:rPr>
              <a:t>P2P applications</a:t>
            </a:r>
            <a:endParaRPr lang="en-US" altLang="en-US" sz="3200" dirty="0">
              <a:ea typeface="MS PGothic" panose="020B0600070205080204" pitchFamily="34" charset="-128"/>
            </a:endParaRPr>
          </a:p>
          <a:p>
            <a:pPr marL="349250" indent="-349250"/>
            <a:r>
              <a:rPr lang="en-US" altLang="en-US" sz="3200" dirty="0">
                <a:ea typeface="MS PGothic" panose="020B0600070205080204" pitchFamily="34" charset="-128"/>
              </a:rPr>
              <a:t>video streaming and content distribution networks</a:t>
            </a:r>
            <a:endParaRPr lang="en-US" altLang="en-US" sz="3200" dirty="0">
              <a:ea typeface="MS PGothic" panose="020B0600070205080204" pitchFamily="34" charset="-128"/>
            </a:endParaRPr>
          </a:p>
          <a:p>
            <a:pPr marL="349250" indent="-349250"/>
            <a:r>
              <a:rPr lang="en-US" altLang="en-US" sz="3200" dirty="0">
                <a:ea typeface="MS PGothic" panose="020B0600070205080204" pitchFamily="34" charset="-128"/>
              </a:rPr>
              <a:t>socket programming with UDP and TCP</a:t>
            </a:r>
            <a:endParaRPr lang="en-US" altLang="en-US" sz="3200" dirty="0">
              <a:ea typeface="MS PGothic" panose="020B0600070205080204" pitchFamily="34" charset="-128"/>
            </a:endParaRPr>
          </a:p>
          <a:p>
            <a:pPr>
              <a:buFont typeface="Wingdings" panose="05000000000000000000" pitchFamily="2" charset="2"/>
              <a:buNone/>
            </a:pPr>
            <a:endParaRPr lang="en-US" altLang="en-US" sz="2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pic>
        <p:nvPicPr>
          <p:cNvPr id="7" name="Picture 6" descr="Kurose&amp;Ross 8th edition photo"/>
          <p:cNvPicPr>
            <a:picLocks noChangeAspect="1"/>
          </p:cNvPicPr>
          <p:nvPr/>
        </p:nvPicPr>
        <p:blipFill>
          <a:blip r:embed="rId1"/>
          <a:stretch>
            <a:fillRect/>
          </a:stretch>
        </p:blipFill>
        <p:spPr>
          <a:xfrm>
            <a:off x="6957391" y="4125913"/>
            <a:ext cx="3087757" cy="2315818"/>
          </a:xfrm>
          <a:prstGeom prst="rect">
            <a:avLst/>
          </a:prstGeom>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a:t>
            </a:r>
            <a:r>
              <a:rPr lang="en-US" altLang="en-US" dirty="0">
                <a:cs typeface="Calibri" panose="020F0502020204030204" pitchFamily="34" charset="0"/>
              </a:rPr>
              <a:t>l</a:t>
            </a:r>
            <a:r>
              <a:rPr lang="en-US" altLang="en-US" sz="4400" dirty="0">
                <a:cs typeface="Calibri" panose="020F0502020204030204" pitchFamily="34" charset="0"/>
              </a:rPr>
              <a:t>ayer: overview</a:t>
            </a:r>
            <a:endParaRPr lang="en-US" sz="4400" dirty="0"/>
          </a:p>
        </p:txBody>
      </p:sp>
      <p:sp>
        <p:nvSpPr>
          <p:cNvPr id="10" name="Content Placeholder 3"/>
          <p:cNvSpPr txBox="1"/>
          <p:nvPr/>
        </p:nvSpPr>
        <p:spPr>
          <a:xfrm>
            <a:off x="747307" y="1406319"/>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None/>
            </a:pPr>
            <a:r>
              <a:rPr lang="en-US" altLang="en-US" sz="3200" dirty="0">
                <a:solidFill>
                  <a:srgbClr val="CC0000"/>
                </a:solidFill>
                <a:ea typeface="MS PGothic" panose="020B0600070205080204" pitchFamily="34" charset="-128"/>
              </a:rPr>
              <a:t>Our goals: </a:t>
            </a:r>
            <a:endParaRPr lang="en-US" altLang="en-US" sz="3200" dirty="0">
              <a:solidFill>
                <a:srgbClr val="CC0000"/>
              </a:solidFill>
              <a:ea typeface="MS PGothic" panose="020B0600070205080204" pitchFamily="34" charset="-128"/>
            </a:endParaRPr>
          </a:p>
          <a:p>
            <a:pPr marL="460375" indent="-346075"/>
            <a:r>
              <a:rPr lang="en-US" altLang="en-US" sz="3200" dirty="0">
                <a:ea typeface="MS PGothic" panose="020B0600070205080204" pitchFamily="34" charset="-128"/>
              </a:rPr>
              <a:t>conceptual </a:t>
            </a:r>
            <a:r>
              <a:rPr lang="en-US" altLang="en-US" sz="3200" i="1" dirty="0">
                <a:ea typeface="MS PGothic" panose="020B0600070205080204" pitchFamily="34" charset="-128"/>
              </a:rPr>
              <a:t>and</a:t>
            </a:r>
            <a:r>
              <a:rPr lang="en-US" altLang="en-US" sz="3200" dirty="0">
                <a:ea typeface="MS PGothic" panose="020B0600070205080204" pitchFamily="34" charset="-128"/>
              </a:rPr>
              <a:t> implementation aspects of application-layer protocols</a:t>
            </a:r>
            <a:endParaRPr lang="en-US" altLang="en-US" sz="3200" dirty="0">
              <a:ea typeface="MS PGothic" panose="020B0600070205080204" pitchFamily="34" charset="-128"/>
            </a:endParaRPr>
          </a:p>
          <a:p>
            <a:pPr lvl="1"/>
            <a:r>
              <a:rPr lang="en-US" altLang="en-US" sz="3200" dirty="0">
                <a:ea typeface="MS PGothic" panose="020B0600070205080204" pitchFamily="34" charset="-128"/>
              </a:rPr>
              <a:t>transport-layer service models</a:t>
            </a:r>
            <a:endParaRPr lang="en-US" altLang="en-US" sz="3200" dirty="0">
              <a:ea typeface="MS PGothic" panose="020B0600070205080204" pitchFamily="34" charset="-128"/>
            </a:endParaRPr>
          </a:p>
          <a:p>
            <a:pPr lvl="1"/>
            <a:r>
              <a:rPr lang="en-US" altLang="en-US" sz="3200" dirty="0">
                <a:ea typeface="MS PGothic" panose="020B0600070205080204" pitchFamily="34" charset="-128"/>
              </a:rPr>
              <a:t>client-server paradigm</a:t>
            </a:r>
            <a:endParaRPr lang="en-US" altLang="en-US" sz="3200" dirty="0">
              <a:ea typeface="MS PGothic" panose="020B0600070205080204" pitchFamily="34" charset="-128"/>
            </a:endParaRPr>
          </a:p>
          <a:p>
            <a:pPr lvl="1"/>
            <a:r>
              <a:rPr lang="en-US" altLang="en-US" sz="3200" dirty="0">
                <a:ea typeface="MS PGothic" panose="020B0600070205080204" pitchFamily="34" charset="-128"/>
              </a:rPr>
              <a:t>peer-to-peer paradigm</a:t>
            </a:r>
            <a:endParaRPr lang="en-US" altLang="en-US" sz="2800" dirty="0">
              <a:ea typeface="MS PGothic" panose="020B0600070205080204" pitchFamily="34" charset="-128"/>
            </a:endParaRPr>
          </a:p>
          <a:p>
            <a:endParaRPr lang="en-US" sz="3600" dirty="0"/>
          </a:p>
        </p:txBody>
      </p:sp>
      <p:sp>
        <p:nvSpPr>
          <p:cNvPr id="11" name="Rectangle 4"/>
          <p:cNvSpPr txBox="1">
            <a:spLocks noChangeArrowheads="1"/>
          </p:cNvSpPr>
          <p:nvPr/>
        </p:nvSpPr>
        <p:spPr>
          <a:xfrm>
            <a:off x="6516985" y="1399497"/>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r>
              <a:rPr lang="en-US" altLang="en-US" sz="3200" dirty="0">
                <a:ea typeface="MS PGothic" panose="020B0600070205080204" pitchFamily="34" charset="-128"/>
              </a:rPr>
              <a:t>learn about protocols by examining popular application-layer protocols</a:t>
            </a:r>
            <a:endParaRPr lang="en-US" altLang="en-US" sz="3200" dirty="0">
              <a:ea typeface="MS PGothic" panose="020B0600070205080204" pitchFamily="34" charset="-128"/>
            </a:endParaRPr>
          </a:p>
          <a:p>
            <a:pPr marL="692150" lvl="1" indent="-349250"/>
            <a:r>
              <a:rPr lang="en-US" altLang="en-US" sz="2800" dirty="0">
                <a:ea typeface="MS PGothic" panose="020B0600070205080204" pitchFamily="34" charset="-128"/>
              </a:rPr>
              <a:t>HTTP</a:t>
            </a:r>
            <a:endParaRPr lang="en-US" altLang="en-US" sz="2800" dirty="0">
              <a:ea typeface="MS PGothic" panose="020B0600070205080204" pitchFamily="34" charset="-128"/>
            </a:endParaRPr>
          </a:p>
          <a:p>
            <a:pPr marL="692150" lvl="1" indent="-349250"/>
            <a:r>
              <a:rPr lang="en-US" altLang="en-US" sz="2800" dirty="0">
                <a:ea typeface="MS PGothic" panose="020B0600070205080204" pitchFamily="34" charset="-128"/>
              </a:rPr>
              <a:t>SMTP, IMAP</a:t>
            </a:r>
            <a:endParaRPr lang="en-US" altLang="en-US" sz="2800" dirty="0">
              <a:ea typeface="MS PGothic" panose="020B0600070205080204" pitchFamily="34" charset="-128"/>
            </a:endParaRPr>
          </a:p>
          <a:p>
            <a:pPr marL="692150" lvl="1" indent="-349250"/>
            <a:r>
              <a:rPr lang="en-US" altLang="en-US" sz="2800" dirty="0">
                <a:ea typeface="MS PGothic" panose="020B0600070205080204" pitchFamily="34" charset="-128"/>
              </a:rPr>
              <a:t>DNS</a:t>
            </a:r>
            <a:endParaRPr lang="en-US" altLang="en-US" sz="2800" dirty="0">
              <a:ea typeface="MS PGothic" panose="020B0600070205080204" pitchFamily="34" charset="-128"/>
            </a:endParaRPr>
          </a:p>
          <a:p>
            <a:pPr marL="349250" indent="-349250"/>
            <a:r>
              <a:rPr lang="en-US" altLang="en-US" sz="3200" dirty="0">
                <a:ea typeface="MS PGothic" panose="020B0600070205080204" pitchFamily="34" charset="-128"/>
              </a:rPr>
              <a:t>programming network applications</a:t>
            </a:r>
            <a:endParaRPr lang="en-US" altLang="en-US" sz="3200" dirty="0">
              <a:ea typeface="MS PGothic" panose="020B0600070205080204" pitchFamily="34" charset="-128"/>
            </a:endParaRPr>
          </a:p>
          <a:p>
            <a:pPr marL="692150" lvl="1" indent="-349250"/>
            <a:r>
              <a:rPr lang="en-US" altLang="en-US" sz="2800" dirty="0">
                <a:ea typeface="MS PGothic" panose="020B0600070205080204" pitchFamily="34" charset="-128"/>
              </a:rPr>
              <a:t>socket API</a:t>
            </a:r>
            <a:endParaRPr lang="en-US" altLang="en-US" sz="20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Some </a:t>
            </a:r>
            <a:r>
              <a:rPr lang="en-US" altLang="en-US" dirty="0">
                <a:ea typeface="MS PGothic" panose="020B0600070205080204" pitchFamily="34" charset="-128"/>
              </a:rPr>
              <a:t>n</a:t>
            </a:r>
            <a:r>
              <a:rPr lang="en-US" altLang="en-US" sz="4400" dirty="0">
                <a:ea typeface="MS PGothic" panose="020B0600070205080204" pitchFamily="34" charset="-128"/>
              </a:rPr>
              <a:t>etwork apps</a:t>
            </a:r>
            <a:endParaRPr lang="en-US" sz="4400" dirty="0"/>
          </a:p>
        </p:txBody>
      </p:sp>
      <p:sp>
        <p:nvSpPr>
          <p:cNvPr id="10" name="Content Placeholder 3"/>
          <p:cNvSpPr txBox="1"/>
          <p:nvPr/>
        </p:nvSpPr>
        <p:spPr>
          <a:xfrm>
            <a:off x="914400"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indent="-332105">
              <a:buClr>
                <a:srgbClr val="0000A8"/>
              </a:buClr>
            </a:pPr>
            <a:r>
              <a:rPr lang="en-US" altLang="en-US" sz="3200" dirty="0">
                <a:ea typeface="MS PGothic" panose="020B0600070205080204" pitchFamily="34" charset="-128"/>
              </a:rPr>
              <a:t>social networking</a:t>
            </a:r>
            <a:endParaRPr lang="en-US" altLang="en-US" sz="3200" dirty="0">
              <a:ea typeface="MS PGothic" panose="020B0600070205080204" pitchFamily="34" charset="-128"/>
            </a:endParaRPr>
          </a:p>
          <a:p>
            <a:pPr marL="346075" indent="-332105">
              <a:buClr>
                <a:srgbClr val="0000A8"/>
              </a:buClr>
            </a:pPr>
            <a:r>
              <a:rPr lang="en-US" altLang="en-US" sz="3200" dirty="0">
                <a:ea typeface="MS PGothic" panose="020B0600070205080204" pitchFamily="34" charset="-128"/>
              </a:rPr>
              <a:t>Web</a:t>
            </a:r>
            <a:endParaRPr lang="en-US" altLang="en-US" sz="3200" dirty="0">
              <a:ea typeface="MS PGothic" panose="020B0600070205080204" pitchFamily="34" charset="-128"/>
            </a:endParaRPr>
          </a:p>
          <a:p>
            <a:pPr marL="346075" indent="-332105">
              <a:buClr>
                <a:srgbClr val="0000A8"/>
              </a:buClr>
            </a:pPr>
            <a:r>
              <a:rPr lang="en-US" altLang="en-US" sz="3200" dirty="0">
                <a:ea typeface="MS PGothic" panose="020B0600070205080204" pitchFamily="34" charset="-128"/>
              </a:rPr>
              <a:t>text messaging</a:t>
            </a:r>
            <a:endParaRPr lang="en-US" altLang="en-US" sz="3200" dirty="0">
              <a:ea typeface="MS PGothic" panose="020B0600070205080204" pitchFamily="34" charset="-128"/>
            </a:endParaRPr>
          </a:p>
          <a:p>
            <a:pPr marL="346075" indent="-332105">
              <a:buClr>
                <a:srgbClr val="0000A8"/>
              </a:buClr>
            </a:pPr>
            <a:r>
              <a:rPr lang="en-US" altLang="en-US" sz="3200" dirty="0">
                <a:ea typeface="MS PGothic" panose="020B0600070205080204" pitchFamily="34" charset="-128"/>
              </a:rPr>
              <a:t>e-mail</a:t>
            </a:r>
            <a:endParaRPr lang="en-US" altLang="en-US" sz="3200" dirty="0">
              <a:ea typeface="MS PGothic" panose="020B0600070205080204" pitchFamily="34" charset="-128"/>
            </a:endParaRPr>
          </a:p>
          <a:p>
            <a:pPr marL="346075" indent="-332105">
              <a:buClr>
                <a:srgbClr val="0000A8"/>
              </a:buClr>
            </a:pPr>
            <a:r>
              <a:rPr lang="en-US" altLang="en-US" sz="3200" dirty="0">
                <a:ea typeface="MS PGothic" panose="020B0600070205080204" pitchFamily="34" charset="-128"/>
              </a:rPr>
              <a:t>multi-user network games</a:t>
            </a:r>
            <a:endParaRPr lang="en-US" altLang="en-US" sz="3200" dirty="0">
              <a:ea typeface="MS PGothic" panose="020B0600070205080204" pitchFamily="34" charset="-128"/>
            </a:endParaRPr>
          </a:p>
          <a:p>
            <a:pPr marL="346075" indent="-332105">
              <a:buClr>
                <a:srgbClr val="0000A8"/>
              </a:buClr>
            </a:pPr>
            <a:r>
              <a:rPr lang="en-US" altLang="en-US" sz="3200" dirty="0">
                <a:ea typeface="MS PGothic" panose="020B0600070205080204" pitchFamily="34" charset="-128"/>
              </a:rPr>
              <a:t>streaming stored video (YouTube, Hulu, Netflix) </a:t>
            </a:r>
            <a:endParaRPr lang="en-US" altLang="en-US" sz="3200" dirty="0">
              <a:ea typeface="MS PGothic" panose="020B0600070205080204" pitchFamily="34" charset="-128"/>
            </a:endParaRPr>
          </a:p>
          <a:p>
            <a:pPr marL="346075" indent="-332105">
              <a:buClr>
                <a:srgbClr val="0000A8"/>
              </a:buClr>
            </a:pPr>
            <a:r>
              <a:rPr lang="en-US" altLang="en-US" sz="3200" dirty="0">
                <a:ea typeface="MS PGothic" panose="020B0600070205080204" pitchFamily="34" charset="-128"/>
              </a:rPr>
              <a:t>P2P file sharing</a:t>
            </a:r>
            <a:endParaRPr lang="en-US" altLang="en-US" sz="3200" dirty="0">
              <a:ea typeface="MS PGothic" panose="020B0600070205080204" pitchFamily="34" charset="-128"/>
            </a:endParaRPr>
          </a:p>
          <a:p>
            <a:endParaRPr lang="en-US" sz="36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6" name="Content Placeholder 3"/>
          <p:cNvSpPr txBox="1"/>
          <p:nvPr/>
        </p:nvSpPr>
        <p:spPr>
          <a:xfrm>
            <a:off x="6468101"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indent="-332105">
              <a:buClr>
                <a:srgbClr val="0000A8"/>
              </a:buClr>
            </a:pPr>
            <a:r>
              <a:rPr lang="en-US" altLang="en-US" sz="3200" dirty="0">
                <a:ea typeface="MS PGothic" panose="020B0600070205080204" pitchFamily="34" charset="-128"/>
              </a:rPr>
              <a:t>voice over IP (e.g., Skype)</a:t>
            </a:r>
            <a:endParaRPr lang="en-US" altLang="en-US" sz="3200" dirty="0">
              <a:ea typeface="MS PGothic" panose="020B0600070205080204" pitchFamily="34" charset="-128"/>
            </a:endParaRPr>
          </a:p>
          <a:p>
            <a:pPr marL="346075" indent="-332105">
              <a:buClr>
                <a:srgbClr val="0000A8"/>
              </a:buClr>
            </a:pPr>
            <a:r>
              <a:rPr lang="en-US" altLang="en-US" sz="3200" dirty="0">
                <a:ea typeface="MS PGothic" panose="020B0600070205080204" pitchFamily="34" charset="-128"/>
              </a:rPr>
              <a:t>real-time video conferencing</a:t>
            </a:r>
            <a:endParaRPr lang="en-US" altLang="en-US" sz="3200" dirty="0">
              <a:ea typeface="MS PGothic" panose="020B0600070205080204" pitchFamily="34" charset="-128"/>
            </a:endParaRPr>
          </a:p>
          <a:p>
            <a:pPr marL="346075" indent="-332105">
              <a:buClr>
                <a:srgbClr val="0000A8"/>
              </a:buClr>
            </a:pPr>
            <a:r>
              <a:rPr lang="en-US" altLang="en-US" sz="3200" dirty="0">
                <a:ea typeface="MS PGothic" panose="020B0600070205080204" pitchFamily="34" charset="-128"/>
              </a:rPr>
              <a:t>Internet search</a:t>
            </a:r>
            <a:endParaRPr lang="en-US" altLang="en-US" sz="3200" dirty="0">
              <a:ea typeface="MS PGothic" panose="020B0600070205080204" pitchFamily="34" charset="-128"/>
            </a:endParaRPr>
          </a:p>
          <a:p>
            <a:pPr marL="346075" indent="-332105">
              <a:buClr>
                <a:srgbClr val="0000A8"/>
              </a:buClr>
            </a:pPr>
            <a:r>
              <a:rPr lang="en-US" altLang="en-US" sz="3200" dirty="0">
                <a:ea typeface="MS PGothic" panose="020B0600070205080204" pitchFamily="34" charset="-128"/>
              </a:rPr>
              <a:t>remote login</a:t>
            </a:r>
            <a:endParaRPr lang="en-US" altLang="en-US" sz="3200" dirty="0">
              <a:ea typeface="MS PGothic" panose="020B0600070205080204" pitchFamily="34" charset="-128"/>
            </a:endParaRPr>
          </a:p>
          <a:p>
            <a:pPr marL="346075" indent="-332105">
              <a:buClr>
                <a:srgbClr val="0000A8"/>
              </a:buClr>
            </a:pPr>
            <a:r>
              <a:rPr lang="en-US" altLang="en-US" sz="3200" dirty="0">
                <a:ea typeface="MS PGothic" panose="020B0600070205080204" pitchFamily="34" charset="-128"/>
              </a:rPr>
              <a:t>…</a:t>
            </a:r>
            <a:endParaRPr lang="en-US" altLang="en-US" sz="3200" dirty="0">
              <a:ea typeface="MS PGothic" panose="020B0600070205080204" pitchFamily="34" charset="-128"/>
            </a:endParaRPr>
          </a:p>
          <a:p>
            <a:pPr marL="13970" indent="0">
              <a:buClr>
                <a:srgbClr val="0000A8"/>
              </a:buClr>
              <a:buNone/>
            </a:pPr>
            <a:endParaRPr lang="en-US" sz="3600" dirty="0"/>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1" fmla="*/ 434989 w 1537226"/>
              <a:gd name="connsiteY0-2" fmla="*/ 253346 h 1763594"/>
              <a:gd name="connsiteX1-3" fmla="*/ 488 w 1537226"/>
              <a:gd name="connsiteY1-4" fmla="*/ 921706 h 1763594"/>
              <a:gd name="connsiteX2-5" fmla="*/ 368142 w 1537226"/>
              <a:gd name="connsiteY2-6" fmla="*/ 1489812 h 1763594"/>
              <a:gd name="connsiteX3-7" fmla="*/ 1187008 w 1537226"/>
              <a:gd name="connsiteY3-8" fmla="*/ 1757156 h 1763594"/>
              <a:gd name="connsiteX4-9" fmla="*/ 1521239 w 1537226"/>
              <a:gd name="connsiteY4-10" fmla="*/ 1239177 h 1763594"/>
              <a:gd name="connsiteX5-11" fmla="*/ 1468998 w 1537226"/>
              <a:gd name="connsiteY5-12" fmla="*/ 654362 h 1763594"/>
              <a:gd name="connsiteX6-13" fmla="*/ 1337412 w 1537226"/>
              <a:gd name="connsiteY6-14" fmla="*/ 136383 h 1763594"/>
              <a:gd name="connsiteX7-15" fmla="*/ 1086739 w 1537226"/>
              <a:gd name="connsiteY7-16" fmla="*/ 2711 h 1763594"/>
              <a:gd name="connsiteX8-17" fmla="*/ 434989 w 1537226"/>
              <a:gd name="connsiteY8-18" fmla="*/ 253346 h 1763594"/>
              <a:gd name="connsiteX0-19" fmla="*/ 434989 w 1537226"/>
              <a:gd name="connsiteY0-20" fmla="*/ 253346 h 1763594"/>
              <a:gd name="connsiteX1-21" fmla="*/ 488 w 1537226"/>
              <a:gd name="connsiteY1-22" fmla="*/ 921706 h 1763594"/>
              <a:gd name="connsiteX2-23" fmla="*/ 368142 w 1537226"/>
              <a:gd name="connsiteY2-24" fmla="*/ 1489812 h 1763594"/>
              <a:gd name="connsiteX3-25" fmla="*/ 1187008 w 1537226"/>
              <a:gd name="connsiteY3-26" fmla="*/ 1757156 h 1763594"/>
              <a:gd name="connsiteX4-27" fmla="*/ 1521239 w 1537226"/>
              <a:gd name="connsiteY4-28" fmla="*/ 1239177 h 1763594"/>
              <a:gd name="connsiteX5-29" fmla="*/ 1468998 w 1537226"/>
              <a:gd name="connsiteY5-30" fmla="*/ 654362 h 1763594"/>
              <a:gd name="connsiteX6-31" fmla="*/ 1337412 w 1537226"/>
              <a:gd name="connsiteY6-32" fmla="*/ 136383 h 1763594"/>
              <a:gd name="connsiteX7-33" fmla="*/ 839572 w 1537226"/>
              <a:gd name="connsiteY7-34" fmla="*/ 2711 h 1763594"/>
              <a:gd name="connsiteX8-35" fmla="*/ 434989 w 1537226"/>
              <a:gd name="connsiteY8-36" fmla="*/ 253346 h 1763594"/>
              <a:gd name="connsiteX0-37" fmla="*/ 360357 w 1536743"/>
              <a:gd name="connsiteY0-38" fmla="*/ 534641 h 1782088"/>
              <a:gd name="connsiteX1-39" fmla="*/ 5 w 1536743"/>
              <a:gd name="connsiteY1-40" fmla="*/ 940200 h 1782088"/>
              <a:gd name="connsiteX2-41" fmla="*/ 367659 w 1536743"/>
              <a:gd name="connsiteY2-42" fmla="*/ 1508306 h 1782088"/>
              <a:gd name="connsiteX3-43" fmla="*/ 1186525 w 1536743"/>
              <a:gd name="connsiteY3-44" fmla="*/ 1775650 h 1782088"/>
              <a:gd name="connsiteX4-45" fmla="*/ 1520756 w 1536743"/>
              <a:gd name="connsiteY4-46" fmla="*/ 1257671 h 1782088"/>
              <a:gd name="connsiteX5-47" fmla="*/ 1468515 w 1536743"/>
              <a:gd name="connsiteY5-48" fmla="*/ 672856 h 1782088"/>
              <a:gd name="connsiteX6-49" fmla="*/ 1336929 w 1536743"/>
              <a:gd name="connsiteY6-50" fmla="*/ 154877 h 1782088"/>
              <a:gd name="connsiteX7-51" fmla="*/ 839089 w 1536743"/>
              <a:gd name="connsiteY7-52" fmla="*/ 21205 h 1782088"/>
              <a:gd name="connsiteX8-53" fmla="*/ 360357 w 1536743"/>
              <a:gd name="connsiteY8-54" fmla="*/ 534641 h 1782088"/>
              <a:gd name="connsiteX0-55" fmla="*/ 360355 w 1536741"/>
              <a:gd name="connsiteY0-56" fmla="*/ 534641 h 1782088"/>
              <a:gd name="connsiteX1-57" fmla="*/ 3 w 1536741"/>
              <a:gd name="connsiteY1-58" fmla="*/ 940200 h 1782088"/>
              <a:gd name="connsiteX2-59" fmla="*/ 367657 w 1536741"/>
              <a:gd name="connsiteY2-60" fmla="*/ 1508306 h 1782088"/>
              <a:gd name="connsiteX3-61" fmla="*/ 1186523 w 1536741"/>
              <a:gd name="connsiteY3-62" fmla="*/ 1775650 h 1782088"/>
              <a:gd name="connsiteX4-63" fmla="*/ 1520754 w 1536741"/>
              <a:gd name="connsiteY4-64" fmla="*/ 1257671 h 1782088"/>
              <a:gd name="connsiteX5-65" fmla="*/ 1468513 w 1536741"/>
              <a:gd name="connsiteY5-66" fmla="*/ 672856 h 1782088"/>
              <a:gd name="connsiteX6-67" fmla="*/ 1336927 w 1536741"/>
              <a:gd name="connsiteY6-68" fmla="*/ 154877 h 1782088"/>
              <a:gd name="connsiteX7-69" fmla="*/ 839087 w 1536741"/>
              <a:gd name="connsiteY7-70" fmla="*/ 21205 h 1782088"/>
              <a:gd name="connsiteX8-71" fmla="*/ 360355 w 1536741"/>
              <a:gd name="connsiteY8-72" fmla="*/ 534641 h 1782088"/>
              <a:gd name="connsiteX0-73" fmla="*/ 382604 w 1558990"/>
              <a:gd name="connsiteY0-74" fmla="*/ 534641 h 1810599"/>
              <a:gd name="connsiteX1-75" fmla="*/ 22252 w 1558990"/>
              <a:gd name="connsiteY1-76" fmla="*/ 940200 h 1810599"/>
              <a:gd name="connsiteX2-77" fmla="*/ 167457 w 1558990"/>
              <a:gd name="connsiteY2-78" fmla="*/ 1672556 h 1810599"/>
              <a:gd name="connsiteX3-79" fmla="*/ 1208772 w 1558990"/>
              <a:gd name="connsiteY3-80" fmla="*/ 1775650 h 1810599"/>
              <a:gd name="connsiteX4-81" fmla="*/ 1543003 w 1558990"/>
              <a:gd name="connsiteY4-82" fmla="*/ 1257671 h 1810599"/>
              <a:gd name="connsiteX5-83" fmla="*/ 1490762 w 1558990"/>
              <a:gd name="connsiteY5-84" fmla="*/ 672856 h 1810599"/>
              <a:gd name="connsiteX6-85" fmla="*/ 1359176 w 1558990"/>
              <a:gd name="connsiteY6-86" fmla="*/ 154877 h 1810599"/>
              <a:gd name="connsiteX7-87" fmla="*/ 861336 w 1558990"/>
              <a:gd name="connsiteY7-88" fmla="*/ 21205 h 1810599"/>
              <a:gd name="connsiteX8-89" fmla="*/ 382604 w 1558990"/>
              <a:gd name="connsiteY8-90" fmla="*/ 534641 h 1810599"/>
              <a:gd name="connsiteX0-91" fmla="*/ 393458 w 1593840"/>
              <a:gd name="connsiteY0-92" fmla="*/ 534641 h 1793264"/>
              <a:gd name="connsiteX1-93" fmla="*/ 33106 w 1593840"/>
              <a:gd name="connsiteY1-94" fmla="*/ 940200 h 1793264"/>
              <a:gd name="connsiteX2-95" fmla="*/ 178311 w 1593840"/>
              <a:gd name="connsiteY2-96" fmla="*/ 1672556 h 1793264"/>
              <a:gd name="connsiteX3-97" fmla="*/ 1464139 w 1593840"/>
              <a:gd name="connsiteY3-98" fmla="*/ 1752440 h 1793264"/>
              <a:gd name="connsiteX4-99" fmla="*/ 1553857 w 1593840"/>
              <a:gd name="connsiteY4-100" fmla="*/ 1257671 h 1793264"/>
              <a:gd name="connsiteX5-101" fmla="*/ 1501616 w 1593840"/>
              <a:gd name="connsiteY5-102" fmla="*/ 672856 h 1793264"/>
              <a:gd name="connsiteX6-103" fmla="*/ 1370030 w 1593840"/>
              <a:gd name="connsiteY6-104" fmla="*/ 154877 h 1793264"/>
              <a:gd name="connsiteX7-105" fmla="*/ 872190 w 1593840"/>
              <a:gd name="connsiteY7-106" fmla="*/ 21205 h 1793264"/>
              <a:gd name="connsiteX8-107" fmla="*/ 393458 w 1593840"/>
              <a:gd name="connsiteY8-108" fmla="*/ 534641 h 1793264"/>
              <a:gd name="connsiteX0-109" fmla="*/ 393458 w 1566550"/>
              <a:gd name="connsiteY0-110" fmla="*/ 534641 h 1840341"/>
              <a:gd name="connsiteX1-111" fmla="*/ 33106 w 1566550"/>
              <a:gd name="connsiteY1-112" fmla="*/ 940200 h 1840341"/>
              <a:gd name="connsiteX2-113" fmla="*/ 178311 w 1566550"/>
              <a:gd name="connsiteY2-114" fmla="*/ 1672556 h 1840341"/>
              <a:gd name="connsiteX3-115" fmla="*/ 1464139 w 1566550"/>
              <a:gd name="connsiteY3-116" fmla="*/ 1752440 h 1840341"/>
              <a:gd name="connsiteX4-117" fmla="*/ 1553857 w 1566550"/>
              <a:gd name="connsiteY4-118" fmla="*/ 1257671 h 1840341"/>
              <a:gd name="connsiteX5-119" fmla="*/ 1501616 w 1566550"/>
              <a:gd name="connsiteY5-120" fmla="*/ 672856 h 1840341"/>
              <a:gd name="connsiteX6-121" fmla="*/ 1370030 w 1566550"/>
              <a:gd name="connsiteY6-122" fmla="*/ 154877 h 1840341"/>
              <a:gd name="connsiteX7-123" fmla="*/ 872190 w 1566550"/>
              <a:gd name="connsiteY7-124" fmla="*/ 21205 h 1840341"/>
              <a:gd name="connsiteX8-125" fmla="*/ 393458 w 1566550"/>
              <a:gd name="connsiteY8-126" fmla="*/ 534641 h 1840341"/>
              <a:gd name="connsiteX0-127" fmla="*/ 393458 w 1555557"/>
              <a:gd name="connsiteY0-128" fmla="*/ 534641 h 1787187"/>
              <a:gd name="connsiteX1-129" fmla="*/ 33106 w 1555557"/>
              <a:gd name="connsiteY1-130" fmla="*/ 940200 h 1787187"/>
              <a:gd name="connsiteX2-131" fmla="*/ 178311 w 1555557"/>
              <a:gd name="connsiteY2-132" fmla="*/ 1672556 h 1787187"/>
              <a:gd name="connsiteX3-133" fmla="*/ 1464139 w 1555557"/>
              <a:gd name="connsiteY3-134" fmla="*/ 1752440 h 1787187"/>
              <a:gd name="connsiteX4-135" fmla="*/ 1553857 w 1555557"/>
              <a:gd name="connsiteY4-136" fmla="*/ 1257671 h 1787187"/>
              <a:gd name="connsiteX5-137" fmla="*/ 1501616 w 1555557"/>
              <a:gd name="connsiteY5-138" fmla="*/ 672856 h 1787187"/>
              <a:gd name="connsiteX6-139" fmla="*/ 1370030 w 1555557"/>
              <a:gd name="connsiteY6-140" fmla="*/ 154877 h 1787187"/>
              <a:gd name="connsiteX7-141" fmla="*/ 872190 w 1555557"/>
              <a:gd name="connsiteY7-142" fmla="*/ 21205 h 1787187"/>
              <a:gd name="connsiteX8-143" fmla="*/ 393458 w 1555557"/>
              <a:gd name="connsiteY8-144" fmla="*/ 534641 h 1787187"/>
              <a:gd name="connsiteX0-145" fmla="*/ 401126 w 1664928"/>
              <a:gd name="connsiteY0-146" fmla="*/ 534641 h 1783934"/>
              <a:gd name="connsiteX1-147" fmla="*/ 40774 w 1664928"/>
              <a:gd name="connsiteY1-148" fmla="*/ 940200 h 1783934"/>
              <a:gd name="connsiteX2-149" fmla="*/ 185979 w 1664928"/>
              <a:gd name="connsiteY2-150" fmla="*/ 1672556 h 1783934"/>
              <a:gd name="connsiteX3-151" fmla="*/ 1618513 w 1664928"/>
              <a:gd name="connsiteY3-152" fmla="*/ 1747798 h 1783934"/>
              <a:gd name="connsiteX4-153" fmla="*/ 1561525 w 1664928"/>
              <a:gd name="connsiteY4-154" fmla="*/ 1257671 h 1783934"/>
              <a:gd name="connsiteX5-155" fmla="*/ 1509284 w 1664928"/>
              <a:gd name="connsiteY5-156" fmla="*/ 672856 h 1783934"/>
              <a:gd name="connsiteX6-157" fmla="*/ 1377698 w 1664928"/>
              <a:gd name="connsiteY6-158" fmla="*/ 154877 h 1783934"/>
              <a:gd name="connsiteX7-159" fmla="*/ 879858 w 1664928"/>
              <a:gd name="connsiteY7-160" fmla="*/ 21205 h 1783934"/>
              <a:gd name="connsiteX8-161" fmla="*/ 401126 w 1664928"/>
              <a:gd name="connsiteY8-162" fmla="*/ 534641 h 1783934"/>
              <a:gd name="connsiteX0-163" fmla="*/ 408119 w 1718774"/>
              <a:gd name="connsiteY0-164" fmla="*/ 534641 h 1826522"/>
              <a:gd name="connsiteX1-165" fmla="*/ 47767 w 1718774"/>
              <a:gd name="connsiteY1-166" fmla="*/ 940200 h 1826522"/>
              <a:gd name="connsiteX2-167" fmla="*/ 179001 w 1718774"/>
              <a:gd name="connsiteY2-168" fmla="*/ 1742186 h 1826522"/>
              <a:gd name="connsiteX3-169" fmla="*/ 1625506 w 1718774"/>
              <a:gd name="connsiteY3-170" fmla="*/ 1747798 h 1826522"/>
              <a:gd name="connsiteX4-171" fmla="*/ 1568518 w 1718774"/>
              <a:gd name="connsiteY4-172" fmla="*/ 1257671 h 1826522"/>
              <a:gd name="connsiteX5-173" fmla="*/ 1516277 w 1718774"/>
              <a:gd name="connsiteY5-174" fmla="*/ 672856 h 1826522"/>
              <a:gd name="connsiteX6-175" fmla="*/ 1384691 w 1718774"/>
              <a:gd name="connsiteY6-176" fmla="*/ 154877 h 1826522"/>
              <a:gd name="connsiteX7-177" fmla="*/ 886851 w 1718774"/>
              <a:gd name="connsiteY7-178" fmla="*/ 21205 h 1826522"/>
              <a:gd name="connsiteX8-179" fmla="*/ 408119 w 1718774"/>
              <a:gd name="connsiteY8-180" fmla="*/ 534641 h 1826522"/>
              <a:gd name="connsiteX0-181" fmla="*/ 477759 w 1796623"/>
              <a:gd name="connsiteY0-182" fmla="*/ 534641 h 1818043"/>
              <a:gd name="connsiteX1-183" fmla="*/ 117407 w 1796623"/>
              <a:gd name="connsiteY1-184" fmla="*/ 940200 h 1818043"/>
              <a:gd name="connsiteX2-185" fmla="*/ 136864 w 1796623"/>
              <a:gd name="connsiteY2-186" fmla="*/ 1728260 h 1818043"/>
              <a:gd name="connsiteX3-187" fmla="*/ 1695146 w 1796623"/>
              <a:gd name="connsiteY3-188" fmla="*/ 1747798 h 1818043"/>
              <a:gd name="connsiteX4-189" fmla="*/ 1638158 w 1796623"/>
              <a:gd name="connsiteY4-190" fmla="*/ 1257671 h 1818043"/>
              <a:gd name="connsiteX5-191" fmla="*/ 1585917 w 1796623"/>
              <a:gd name="connsiteY5-192" fmla="*/ 672856 h 1818043"/>
              <a:gd name="connsiteX6-193" fmla="*/ 1454331 w 1796623"/>
              <a:gd name="connsiteY6-194" fmla="*/ 154877 h 1818043"/>
              <a:gd name="connsiteX7-195" fmla="*/ 956491 w 1796623"/>
              <a:gd name="connsiteY7-196" fmla="*/ 21205 h 1818043"/>
              <a:gd name="connsiteX8-197" fmla="*/ 477759 w 1796623"/>
              <a:gd name="connsiteY8-198" fmla="*/ 534641 h 1818043"/>
              <a:gd name="connsiteX0-199" fmla="*/ 396783 w 1688820"/>
              <a:gd name="connsiteY0-200" fmla="*/ 534641 h 1815615"/>
              <a:gd name="connsiteX1-201" fmla="*/ 36431 w 1688820"/>
              <a:gd name="connsiteY1-202" fmla="*/ 940200 h 1815615"/>
              <a:gd name="connsiteX2-203" fmla="*/ 55888 w 1688820"/>
              <a:gd name="connsiteY2-204" fmla="*/ 1728260 h 1815615"/>
              <a:gd name="connsiteX3-205" fmla="*/ 421834 w 1688820"/>
              <a:gd name="connsiteY3-206" fmla="*/ 1798118 h 1815615"/>
              <a:gd name="connsiteX4-207" fmla="*/ 1614170 w 1688820"/>
              <a:gd name="connsiteY4-208" fmla="*/ 1747798 h 1815615"/>
              <a:gd name="connsiteX5-209" fmla="*/ 1557182 w 1688820"/>
              <a:gd name="connsiteY5-210" fmla="*/ 1257671 h 1815615"/>
              <a:gd name="connsiteX6-211" fmla="*/ 1504941 w 1688820"/>
              <a:gd name="connsiteY6-212" fmla="*/ 672856 h 1815615"/>
              <a:gd name="connsiteX7-213" fmla="*/ 1373355 w 1688820"/>
              <a:gd name="connsiteY7-214" fmla="*/ 154877 h 1815615"/>
              <a:gd name="connsiteX8-215" fmla="*/ 875515 w 1688820"/>
              <a:gd name="connsiteY8-216" fmla="*/ 21205 h 1815615"/>
              <a:gd name="connsiteX9" fmla="*/ 396783 w 1688820"/>
              <a:gd name="connsiteY9" fmla="*/ 534641 h 1815615"/>
              <a:gd name="connsiteX0-217" fmla="*/ 394951 w 1689541"/>
              <a:gd name="connsiteY0-218" fmla="*/ 534641 h 1877271"/>
              <a:gd name="connsiteX1-219" fmla="*/ 34599 w 1689541"/>
              <a:gd name="connsiteY1-220" fmla="*/ 940200 h 1877271"/>
              <a:gd name="connsiteX2-221" fmla="*/ 54056 w 1689541"/>
              <a:gd name="connsiteY2-222" fmla="*/ 1728260 h 1877271"/>
              <a:gd name="connsiteX3-223" fmla="*/ 385071 w 1689541"/>
              <a:gd name="connsiteY3-224" fmla="*/ 1877032 h 1877271"/>
              <a:gd name="connsiteX4-225" fmla="*/ 1612338 w 1689541"/>
              <a:gd name="connsiteY4-226" fmla="*/ 1747798 h 1877271"/>
              <a:gd name="connsiteX5-227" fmla="*/ 1555350 w 1689541"/>
              <a:gd name="connsiteY5-228" fmla="*/ 1257671 h 1877271"/>
              <a:gd name="connsiteX6-229" fmla="*/ 1503109 w 1689541"/>
              <a:gd name="connsiteY6-230" fmla="*/ 672856 h 1877271"/>
              <a:gd name="connsiteX7-231" fmla="*/ 1371523 w 1689541"/>
              <a:gd name="connsiteY7-232" fmla="*/ 154877 h 1877271"/>
              <a:gd name="connsiteX8-233" fmla="*/ 873683 w 1689541"/>
              <a:gd name="connsiteY8-234" fmla="*/ 21205 h 1877271"/>
              <a:gd name="connsiteX9-235" fmla="*/ 394951 w 1689541"/>
              <a:gd name="connsiteY9-236" fmla="*/ 534641 h 1877271"/>
              <a:gd name="connsiteX0-237" fmla="*/ 394949 w 1689541"/>
              <a:gd name="connsiteY0-238" fmla="*/ 534641 h 1877032"/>
              <a:gd name="connsiteX1-239" fmla="*/ 34597 w 1689541"/>
              <a:gd name="connsiteY1-240" fmla="*/ 940200 h 1877032"/>
              <a:gd name="connsiteX2-241" fmla="*/ 54054 w 1689541"/>
              <a:gd name="connsiteY2-242" fmla="*/ 1728260 h 1877032"/>
              <a:gd name="connsiteX3-243" fmla="*/ 385069 w 1689541"/>
              <a:gd name="connsiteY3-244" fmla="*/ 1877032 h 1877032"/>
              <a:gd name="connsiteX4-245" fmla="*/ 1612336 w 1689541"/>
              <a:gd name="connsiteY4-246" fmla="*/ 1747798 h 1877032"/>
              <a:gd name="connsiteX5-247" fmla="*/ 1555348 w 1689541"/>
              <a:gd name="connsiteY5-248" fmla="*/ 1257671 h 1877032"/>
              <a:gd name="connsiteX6-249" fmla="*/ 1503107 w 1689541"/>
              <a:gd name="connsiteY6-250" fmla="*/ 672856 h 1877032"/>
              <a:gd name="connsiteX7-251" fmla="*/ 1371521 w 1689541"/>
              <a:gd name="connsiteY7-252" fmla="*/ 154877 h 1877032"/>
              <a:gd name="connsiteX8-253" fmla="*/ 873681 w 1689541"/>
              <a:gd name="connsiteY8-254" fmla="*/ 21205 h 1877032"/>
              <a:gd name="connsiteX9-255" fmla="*/ 394949 w 1689541"/>
              <a:gd name="connsiteY9-256" fmla="*/ 534641 h 1877032"/>
              <a:gd name="connsiteX0-257" fmla="*/ 394949 w 1683795"/>
              <a:gd name="connsiteY0-258" fmla="*/ 534641 h 1877032"/>
              <a:gd name="connsiteX1-259" fmla="*/ 34597 w 1683795"/>
              <a:gd name="connsiteY1-260" fmla="*/ 940200 h 1877032"/>
              <a:gd name="connsiteX2-261" fmla="*/ 54054 w 1683795"/>
              <a:gd name="connsiteY2-262" fmla="*/ 1728260 h 1877032"/>
              <a:gd name="connsiteX3-263" fmla="*/ 385069 w 1683795"/>
              <a:gd name="connsiteY3-264" fmla="*/ 1877032 h 1877032"/>
              <a:gd name="connsiteX4-265" fmla="*/ 1605349 w 1683795"/>
              <a:gd name="connsiteY4-266" fmla="*/ 1798860 h 1877032"/>
              <a:gd name="connsiteX5-267" fmla="*/ 1555348 w 1683795"/>
              <a:gd name="connsiteY5-268" fmla="*/ 1257671 h 1877032"/>
              <a:gd name="connsiteX6-269" fmla="*/ 1503107 w 1683795"/>
              <a:gd name="connsiteY6-270" fmla="*/ 672856 h 1877032"/>
              <a:gd name="connsiteX7-271" fmla="*/ 1371521 w 1683795"/>
              <a:gd name="connsiteY7-272" fmla="*/ 154877 h 1877032"/>
              <a:gd name="connsiteX8-273" fmla="*/ 873681 w 1683795"/>
              <a:gd name="connsiteY8-274" fmla="*/ 21205 h 1877032"/>
              <a:gd name="connsiteX9-275" fmla="*/ 394949 w 1683795"/>
              <a:gd name="connsiteY9-276" fmla="*/ 534641 h 1877032"/>
              <a:gd name="connsiteX0-277" fmla="*/ 394949 w 1720794"/>
              <a:gd name="connsiteY0-278" fmla="*/ 534641 h 1877032"/>
              <a:gd name="connsiteX1-279" fmla="*/ 34597 w 1720794"/>
              <a:gd name="connsiteY1-280" fmla="*/ 940200 h 1877032"/>
              <a:gd name="connsiteX2-281" fmla="*/ 54054 w 1720794"/>
              <a:gd name="connsiteY2-282" fmla="*/ 1728260 h 1877032"/>
              <a:gd name="connsiteX3-283" fmla="*/ 385069 w 1720794"/>
              <a:gd name="connsiteY3-284" fmla="*/ 1877032 h 1877032"/>
              <a:gd name="connsiteX4-285" fmla="*/ 1605349 w 1720794"/>
              <a:gd name="connsiteY4-286" fmla="*/ 1798860 h 1877032"/>
              <a:gd name="connsiteX5-287" fmla="*/ 1555348 w 1720794"/>
              <a:gd name="connsiteY5-288" fmla="*/ 1257671 h 1877032"/>
              <a:gd name="connsiteX6-289" fmla="*/ 1503107 w 1720794"/>
              <a:gd name="connsiteY6-290" fmla="*/ 672856 h 1877032"/>
              <a:gd name="connsiteX7-291" fmla="*/ 1371521 w 1720794"/>
              <a:gd name="connsiteY7-292" fmla="*/ 154877 h 1877032"/>
              <a:gd name="connsiteX8-293" fmla="*/ 873681 w 1720794"/>
              <a:gd name="connsiteY8-294" fmla="*/ 21205 h 1877032"/>
              <a:gd name="connsiteX9-295" fmla="*/ 394949 w 1720794"/>
              <a:gd name="connsiteY9-296" fmla="*/ 534641 h 1877032"/>
              <a:gd name="connsiteX0-297" fmla="*/ 394949 w 1720794"/>
              <a:gd name="connsiteY0-298" fmla="*/ 534641 h 1877032"/>
              <a:gd name="connsiteX1-299" fmla="*/ 34597 w 1720794"/>
              <a:gd name="connsiteY1-300" fmla="*/ 940200 h 1877032"/>
              <a:gd name="connsiteX2-301" fmla="*/ 54054 w 1720794"/>
              <a:gd name="connsiteY2-302" fmla="*/ 1728260 h 1877032"/>
              <a:gd name="connsiteX3-303" fmla="*/ 385069 w 1720794"/>
              <a:gd name="connsiteY3-304" fmla="*/ 1877032 h 1877032"/>
              <a:gd name="connsiteX4-305" fmla="*/ 1605349 w 1720794"/>
              <a:gd name="connsiteY4-306" fmla="*/ 1798860 h 1877032"/>
              <a:gd name="connsiteX5-307" fmla="*/ 1555348 w 1720794"/>
              <a:gd name="connsiteY5-308" fmla="*/ 1257671 h 1877032"/>
              <a:gd name="connsiteX6-309" fmla="*/ 1503107 w 1720794"/>
              <a:gd name="connsiteY6-310" fmla="*/ 672856 h 1877032"/>
              <a:gd name="connsiteX7-311" fmla="*/ 1371521 w 1720794"/>
              <a:gd name="connsiteY7-312" fmla="*/ 154877 h 1877032"/>
              <a:gd name="connsiteX8-313" fmla="*/ 873681 w 1720794"/>
              <a:gd name="connsiteY8-314" fmla="*/ 21205 h 1877032"/>
              <a:gd name="connsiteX9-315" fmla="*/ 394949 w 1720794"/>
              <a:gd name="connsiteY9-316" fmla="*/ 534641 h 1877032"/>
              <a:gd name="connsiteX0-317" fmla="*/ 394949 w 1671512"/>
              <a:gd name="connsiteY0-318" fmla="*/ 534641 h 1877032"/>
              <a:gd name="connsiteX1-319" fmla="*/ 34597 w 1671512"/>
              <a:gd name="connsiteY1-320" fmla="*/ 940200 h 1877032"/>
              <a:gd name="connsiteX2-321" fmla="*/ 54054 w 1671512"/>
              <a:gd name="connsiteY2-322" fmla="*/ 1728260 h 1877032"/>
              <a:gd name="connsiteX3-323" fmla="*/ 385069 w 1671512"/>
              <a:gd name="connsiteY3-324" fmla="*/ 1877032 h 1877032"/>
              <a:gd name="connsiteX4-325" fmla="*/ 1605349 w 1671512"/>
              <a:gd name="connsiteY4-326" fmla="*/ 1798860 h 1877032"/>
              <a:gd name="connsiteX5-327" fmla="*/ 1555348 w 1671512"/>
              <a:gd name="connsiteY5-328" fmla="*/ 1257671 h 1877032"/>
              <a:gd name="connsiteX6-329" fmla="*/ 1503107 w 1671512"/>
              <a:gd name="connsiteY6-330" fmla="*/ 672856 h 1877032"/>
              <a:gd name="connsiteX7-331" fmla="*/ 1371521 w 1671512"/>
              <a:gd name="connsiteY7-332" fmla="*/ 154877 h 1877032"/>
              <a:gd name="connsiteX8-333" fmla="*/ 873681 w 1671512"/>
              <a:gd name="connsiteY8-334" fmla="*/ 21205 h 1877032"/>
              <a:gd name="connsiteX9-335" fmla="*/ 394949 w 1671512"/>
              <a:gd name="connsiteY9-336" fmla="*/ 534641 h 1877032"/>
              <a:gd name="connsiteX0-337" fmla="*/ 394949 w 1677296"/>
              <a:gd name="connsiteY0-338" fmla="*/ 534641 h 1877032"/>
              <a:gd name="connsiteX1-339" fmla="*/ 34597 w 1677296"/>
              <a:gd name="connsiteY1-340" fmla="*/ 940200 h 1877032"/>
              <a:gd name="connsiteX2-341" fmla="*/ 54054 w 1677296"/>
              <a:gd name="connsiteY2-342" fmla="*/ 1728260 h 1877032"/>
              <a:gd name="connsiteX3-343" fmla="*/ 385069 w 1677296"/>
              <a:gd name="connsiteY3-344" fmla="*/ 1877032 h 1877032"/>
              <a:gd name="connsiteX4-345" fmla="*/ 1612334 w 1677296"/>
              <a:gd name="connsiteY4-346" fmla="*/ 1840637 h 1877032"/>
              <a:gd name="connsiteX5-347" fmla="*/ 1555348 w 1677296"/>
              <a:gd name="connsiteY5-348" fmla="*/ 1257671 h 1877032"/>
              <a:gd name="connsiteX6-349" fmla="*/ 1503107 w 1677296"/>
              <a:gd name="connsiteY6-350" fmla="*/ 672856 h 1877032"/>
              <a:gd name="connsiteX7-351" fmla="*/ 1371521 w 1677296"/>
              <a:gd name="connsiteY7-352" fmla="*/ 154877 h 1877032"/>
              <a:gd name="connsiteX8-353" fmla="*/ 873681 w 1677296"/>
              <a:gd name="connsiteY8-354" fmla="*/ 21205 h 1877032"/>
              <a:gd name="connsiteX9-355" fmla="*/ 394949 w 1677296"/>
              <a:gd name="connsiteY9-356" fmla="*/ 534641 h 1877032"/>
              <a:gd name="connsiteX0-357" fmla="*/ 394949 w 1677298"/>
              <a:gd name="connsiteY0-358" fmla="*/ 534641 h 1877032"/>
              <a:gd name="connsiteX1-359" fmla="*/ 34597 w 1677298"/>
              <a:gd name="connsiteY1-360" fmla="*/ 940200 h 1877032"/>
              <a:gd name="connsiteX2-361" fmla="*/ 54054 w 1677298"/>
              <a:gd name="connsiteY2-362" fmla="*/ 1728260 h 1877032"/>
              <a:gd name="connsiteX3-363" fmla="*/ 385069 w 1677298"/>
              <a:gd name="connsiteY3-364" fmla="*/ 1877032 h 1877032"/>
              <a:gd name="connsiteX4-365" fmla="*/ 1612334 w 1677298"/>
              <a:gd name="connsiteY4-366" fmla="*/ 1840637 h 1877032"/>
              <a:gd name="connsiteX5-367" fmla="*/ 1555348 w 1677298"/>
              <a:gd name="connsiteY5-368" fmla="*/ 1257671 h 1877032"/>
              <a:gd name="connsiteX6-369" fmla="*/ 1503107 w 1677298"/>
              <a:gd name="connsiteY6-370" fmla="*/ 672856 h 1877032"/>
              <a:gd name="connsiteX7-371" fmla="*/ 1371521 w 1677298"/>
              <a:gd name="connsiteY7-372" fmla="*/ 154877 h 1877032"/>
              <a:gd name="connsiteX8-373" fmla="*/ 873681 w 1677298"/>
              <a:gd name="connsiteY8-374" fmla="*/ 21205 h 1877032"/>
              <a:gd name="connsiteX9-375" fmla="*/ 394949 w 1677298"/>
              <a:gd name="connsiteY9-376" fmla="*/ 534641 h 1877032"/>
              <a:gd name="connsiteX0-377" fmla="*/ 394949 w 1677296"/>
              <a:gd name="connsiteY0-378" fmla="*/ 534641 h 1904936"/>
              <a:gd name="connsiteX1-379" fmla="*/ 34597 w 1677296"/>
              <a:gd name="connsiteY1-380" fmla="*/ 940200 h 1904936"/>
              <a:gd name="connsiteX2-381" fmla="*/ 54054 w 1677296"/>
              <a:gd name="connsiteY2-382" fmla="*/ 1728260 h 1904936"/>
              <a:gd name="connsiteX3-383" fmla="*/ 385069 w 1677296"/>
              <a:gd name="connsiteY3-384" fmla="*/ 1877032 h 1904936"/>
              <a:gd name="connsiteX4-385" fmla="*/ 1612334 w 1677296"/>
              <a:gd name="connsiteY4-386" fmla="*/ 1840637 h 1904936"/>
              <a:gd name="connsiteX5-387" fmla="*/ 1555348 w 1677296"/>
              <a:gd name="connsiteY5-388" fmla="*/ 1257671 h 1904936"/>
              <a:gd name="connsiteX6-389" fmla="*/ 1503107 w 1677296"/>
              <a:gd name="connsiteY6-390" fmla="*/ 672856 h 1904936"/>
              <a:gd name="connsiteX7-391" fmla="*/ 1371521 w 1677296"/>
              <a:gd name="connsiteY7-392" fmla="*/ 154877 h 1904936"/>
              <a:gd name="connsiteX8-393" fmla="*/ 873681 w 1677296"/>
              <a:gd name="connsiteY8-394" fmla="*/ 21205 h 1904936"/>
              <a:gd name="connsiteX9-395" fmla="*/ 394949 w 1677296"/>
              <a:gd name="connsiteY9-396" fmla="*/ 534641 h 1904936"/>
              <a:gd name="connsiteX0-397" fmla="*/ 461539 w 1743887"/>
              <a:gd name="connsiteY0-398" fmla="*/ 534641 h 1904936"/>
              <a:gd name="connsiteX1-399" fmla="*/ 101187 w 1743887"/>
              <a:gd name="connsiteY1-400" fmla="*/ 940200 h 1904936"/>
              <a:gd name="connsiteX2-401" fmla="*/ 22840 w 1743887"/>
              <a:gd name="connsiteY2-402" fmla="*/ 1737812 h 1904936"/>
              <a:gd name="connsiteX3-403" fmla="*/ 451659 w 1743887"/>
              <a:gd name="connsiteY3-404" fmla="*/ 1877032 h 1904936"/>
              <a:gd name="connsiteX4-405" fmla="*/ 1678924 w 1743887"/>
              <a:gd name="connsiteY4-406" fmla="*/ 1840637 h 1904936"/>
              <a:gd name="connsiteX5-407" fmla="*/ 1621938 w 1743887"/>
              <a:gd name="connsiteY5-408" fmla="*/ 1257671 h 1904936"/>
              <a:gd name="connsiteX6-409" fmla="*/ 1569697 w 1743887"/>
              <a:gd name="connsiteY6-410" fmla="*/ 672856 h 1904936"/>
              <a:gd name="connsiteX7-411" fmla="*/ 1438111 w 1743887"/>
              <a:gd name="connsiteY7-412" fmla="*/ 154877 h 1904936"/>
              <a:gd name="connsiteX8-413" fmla="*/ 940271 w 1743887"/>
              <a:gd name="connsiteY8-414" fmla="*/ 21205 h 1904936"/>
              <a:gd name="connsiteX9-415" fmla="*/ 461539 w 1743887"/>
              <a:gd name="connsiteY9-416" fmla="*/ 534641 h 1904936"/>
              <a:gd name="connsiteX0-417" fmla="*/ 452050 w 1756359"/>
              <a:gd name="connsiteY0-418" fmla="*/ 534641 h 1891359"/>
              <a:gd name="connsiteX1-419" fmla="*/ 91698 w 1756359"/>
              <a:gd name="connsiteY1-420" fmla="*/ 940200 h 1891359"/>
              <a:gd name="connsiteX2-421" fmla="*/ 13351 w 1756359"/>
              <a:gd name="connsiteY2-422" fmla="*/ 1737812 h 1891359"/>
              <a:gd name="connsiteX3-423" fmla="*/ 309435 w 1756359"/>
              <a:gd name="connsiteY3-424" fmla="*/ 1891359 h 1891359"/>
              <a:gd name="connsiteX4-425" fmla="*/ 1669435 w 1756359"/>
              <a:gd name="connsiteY4-426" fmla="*/ 1840637 h 1891359"/>
              <a:gd name="connsiteX5-427" fmla="*/ 1612449 w 1756359"/>
              <a:gd name="connsiteY5-428" fmla="*/ 1257671 h 1891359"/>
              <a:gd name="connsiteX6-429" fmla="*/ 1560208 w 1756359"/>
              <a:gd name="connsiteY6-430" fmla="*/ 672856 h 1891359"/>
              <a:gd name="connsiteX7-431" fmla="*/ 1428622 w 1756359"/>
              <a:gd name="connsiteY7-432" fmla="*/ 154877 h 1891359"/>
              <a:gd name="connsiteX8-433" fmla="*/ 930782 w 1756359"/>
              <a:gd name="connsiteY8-434" fmla="*/ 21205 h 1891359"/>
              <a:gd name="connsiteX9-435" fmla="*/ 452050 w 1756359"/>
              <a:gd name="connsiteY9-436" fmla="*/ 534641 h 1891359"/>
              <a:gd name="connsiteX0-437" fmla="*/ 452050 w 1756257"/>
              <a:gd name="connsiteY0-438" fmla="*/ 534641 h 1891359"/>
              <a:gd name="connsiteX1-439" fmla="*/ 91698 w 1756257"/>
              <a:gd name="connsiteY1-440" fmla="*/ 940200 h 1891359"/>
              <a:gd name="connsiteX2-441" fmla="*/ 13351 w 1756257"/>
              <a:gd name="connsiteY2-442" fmla="*/ 1737812 h 1891359"/>
              <a:gd name="connsiteX3-443" fmla="*/ 309435 w 1756257"/>
              <a:gd name="connsiteY3-444" fmla="*/ 1891359 h 1891359"/>
              <a:gd name="connsiteX4-445" fmla="*/ 1669435 w 1756257"/>
              <a:gd name="connsiteY4-446" fmla="*/ 1840637 h 1891359"/>
              <a:gd name="connsiteX5-447" fmla="*/ 1612449 w 1756257"/>
              <a:gd name="connsiteY5-448" fmla="*/ 1257671 h 1891359"/>
              <a:gd name="connsiteX6-449" fmla="*/ 1563496 w 1756257"/>
              <a:gd name="connsiteY6-450" fmla="*/ 959631 h 1891359"/>
              <a:gd name="connsiteX7-451" fmla="*/ 1560208 w 1756257"/>
              <a:gd name="connsiteY7-452" fmla="*/ 672856 h 1891359"/>
              <a:gd name="connsiteX8-453" fmla="*/ 1428622 w 1756257"/>
              <a:gd name="connsiteY8-454" fmla="*/ 154877 h 1891359"/>
              <a:gd name="connsiteX9-455" fmla="*/ 930782 w 1756257"/>
              <a:gd name="connsiteY9-456" fmla="*/ 21205 h 1891359"/>
              <a:gd name="connsiteX10" fmla="*/ 452050 w 1756257"/>
              <a:gd name="connsiteY10" fmla="*/ 534641 h 1891359"/>
              <a:gd name="connsiteX0-457" fmla="*/ 452050 w 1764590"/>
              <a:gd name="connsiteY0-458" fmla="*/ 534641 h 1891359"/>
              <a:gd name="connsiteX1-459" fmla="*/ 91698 w 1764590"/>
              <a:gd name="connsiteY1-460" fmla="*/ 940200 h 1891359"/>
              <a:gd name="connsiteX2-461" fmla="*/ 13351 w 1764590"/>
              <a:gd name="connsiteY2-462" fmla="*/ 1737812 h 1891359"/>
              <a:gd name="connsiteX3-463" fmla="*/ 309435 w 1764590"/>
              <a:gd name="connsiteY3-464" fmla="*/ 1891359 h 1891359"/>
              <a:gd name="connsiteX4-465" fmla="*/ 1669435 w 1764590"/>
              <a:gd name="connsiteY4-466" fmla="*/ 1840637 h 1891359"/>
              <a:gd name="connsiteX5-467" fmla="*/ 1612449 w 1764590"/>
              <a:gd name="connsiteY5-468" fmla="*/ 1257671 h 1891359"/>
              <a:gd name="connsiteX6-469" fmla="*/ 1309780 w 1764590"/>
              <a:gd name="connsiteY6-470" fmla="*/ 1046341 h 1891359"/>
              <a:gd name="connsiteX7-471" fmla="*/ 1560208 w 1764590"/>
              <a:gd name="connsiteY7-472" fmla="*/ 672856 h 1891359"/>
              <a:gd name="connsiteX8-473" fmla="*/ 1428622 w 1764590"/>
              <a:gd name="connsiteY8-474" fmla="*/ 154877 h 1891359"/>
              <a:gd name="connsiteX9-475" fmla="*/ 930782 w 1764590"/>
              <a:gd name="connsiteY9-476" fmla="*/ 21205 h 1891359"/>
              <a:gd name="connsiteX10-477" fmla="*/ 452050 w 1764590"/>
              <a:gd name="connsiteY10-478" fmla="*/ 534641 h 1891359"/>
              <a:gd name="connsiteX0-479" fmla="*/ 452050 w 1764592"/>
              <a:gd name="connsiteY0-480" fmla="*/ 534641 h 1891359"/>
              <a:gd name="connsiteX1-481" fmla="*/ 91698 w 1764592"/>
              <a:gd name="connsiteY1-482" fmla="*/ 940200 h 1891359"/>
              <a:gd name="connsiteX2-483" fmla="*/ 13351 w 1764592"/>
              <a:gd name="connsiteY2-484" fmla="*/ 1737812 h 1891359"/>
              <a:gd name="connsiteX3-485" fmla="*/ 309435 w 1764592"/>
              <a:gd name="connsiteY3-486" fmla="*/ 1891359 h 1891359"/>
              <a:gd name="connsiteX4-487" fmla="*/ 1669435 w 1764592"/>
              <a:gd name="connsiteY4-488" fmla="*/ 1840637 h 1891359"/>
              <a:gd name="connsiteX5-489" fmla="*/ 1612449 w 1764592"/>
              <a:gd name="connsiteY5-490" fmla="*/ 1257671 h 1891359"/>
              <a:gd name="connsiteX6-491" fmla="*/ 1309780 w 1764592"/>
              <a:gd name="connsiteY6-492" fmla="*/ 1046341 h 1891359"/>
              <a:gd name="connsiteX7-493" fmla="*/ 1560208 w 1764592"/>
              <a:gd name="connsiteY7-494" fmla="*/ 672856 h 1891359"/>
              <a:gd name="connsiteX8-495" fmla="*/ 1428622 w 1764592"/>
              <a:gd name="connsiteY8-496" fmla="*/ 154877 h 1891359"/>
              <a:gd name="connsiteX9-497" fmla="*/ 930782 w 1764592"/>
              <a:gd name="connsiteY9-498" fmla="*/ 21205 h 1891359"/>
              <a:gd name="connsiteX10-499" fmla="*/ 452050 w 1764592"/>
              <a:gd name="connsiteY10-500" fmla="*/ 534641 h 1891359"/>
              <a:gd name="connsiteX0-501" fmla="*/ 452050 w 1764590"/>
              <a:gd name="connsiteY0-502" fmla="*/ 534641 h 1891359"/>
              <a:gd name="connsiteX1-503" fmla="*/ 91698 w 1764590"/>
              <a:gd name="connsiteY1-504" fmla="*/ 940200 h 1891359"/>
              <a:gd name="connsiteX2-505" fmla="*/ 13351 w 1764590"/>
              <a:gd name="connsiteY2-506" fmla="*/ 1737812 h 1891359"/>
              <a:gd name="connsiteX3-507" fmla="*/ 309435 w 1764590"/>
              <a:gd name="connsiteY3-508" fmla="*/ 1891359 h 1891359"/>
              <a:gd name="connsiteX4-509" fmla="*/ 1669435 w 1764590"/>
              <a:gd name="connsiteY4-510" fmla="*/ 1840637 h 1891359"/>
              <a:gd name="connsiteX5-511" fmla="*/ 1612449 w 1764590"/>
              <a:gd name="connsiteY5-512" fmla="*/ 1257671 h 1891359"/>
              <a:gd name="connsiteX6-513" fmla="*/ 1309780 w 1764590"/>
              <a:gd name="connsiteY6-514" fmla="*/ 1046341 h 1891359"/>
              <a:gd name="connsiteX7-515" fmla="*/ 1560208 w 1764590"/>
              <a:gd name="connsiteY7-516" fmla="*/ 672856 h 1891359"/>
              <a:gd name="connsiteX8-517" fmla="*/ 1428622 w 1764590"/>
              <a:gd name="connsiteY8-518" fmla="*/ 154877 h 1891359"/>
              <a:gd name="connsiteX9-519" fmla="*/ 930782 w 1764590"/>
              <a:gd name="connsiteY9-520" fmla="*/ 21205 h 1891359"/>
              <a:gd name="connsiteX10-521" fmla="*/ 452050 w 1764590"/>
              <a:gd name="connsiteY10-522" fmla="*/ 534641 h 1891359"/>
              <a:gd name="connsiteX0-523" fmla="*/ 452050 w 1792731"/>
              <a:gd name="connsiteY0-524" fmla="*/ 534641 h 1891359"/>
              <a:gd name="connsiteX1-525" fmla="*/ 91698 w 1792731"/>
              <a:gd name="connsiteY1-526" fmla="*/ 940200 h 1891359"/>
              <a:gd name="connsiteX2-527" fmla="*/ 13351 w 1792731"/>
              <a:gd name="connsiteY2-528" fmla="*/ 1737812 h 1891359"/>
              <a:gd name="connsiteX3-529" fmla="*/ 309435 w 1792731"/>
              <a:gd name="connsiteY3-530" fmla="*/ 1891359 h 1891359"/>
              <a:gd name="connsiteX4-531" fmla="*/ 1669435 w 1792731"/>
              <a:gd name="connsiteY4-532" fmla="*/ 1840637 h 1891359"/>
              <a:gd name="connsiteX5-533" fmla="*/ 1688563 w 1792731"/>
              <a:gd name="connsiteY5-534" fmla="*/ 1292355 h 1891359"/>
              <a:gd name="connsiteX6-535" fmla="*/ 1309780 w 1792731"/>
              <a:gd name="connsiteY6-536" fmla="*/ 1046341 h 1891359"/>
              <a:gd name="connsiteX7-537" fmla="*/ 1560208 w 1792731"/>
              <a:gd name="connsiteY7-538" fmla="*/ 672856 h 1891359"/>
              <a:gd name="connsiteX8-539" fmla="*/ 1428622 w 1792731"/>
              <a:gd name="connsiteY8-540" fmla="*/ 154877 h 1891359"/>
              <a:gd name="connsiteX9-541" fmla="*/ 930782 w 1792731"/>
              <a:gd name="connsiteY9-542" fmla="*/ 21205 h 1891359"/>
              <a:gd name="connsiteX10-543" fmla="*/ 452050 w 1792731"/>
              <a:gd name="connsiteY10-544" fmla="*/ 534641 h 1891359"/>
              <a:gd name="connsiteX0-545" fmla="*/ 452050 w 1814809"/>
              <a:gd name="connsiteY0-546" fmla="*/ 534641 h 1891359"/>
              <a:gd name="connsiteX1-547" fmla="*/ 91698 w 1814809"/>
              <a:gd name="connsiteY1-548" fmla="*/ 940200 h 1891359"/>
              <a:gd name="connsiteX2-549" fmla="*/ 13351 w 1814809"/>
              <a:gd name="connsiteY2-550" fmla="*/ 1737812 h 1891359"/>
              <a:gd name="connsiteX3-551" fmla="*/ 309435 w 1814809"/>
              <a:gd name="connsiteY3-552" fmla="*/ 1891359 h 1891359"/>
              <a:gd name="connsiteX4-553" fmla="*/ 1669435 w 1814809"/>
              <a:gd name="connsiteY4-554" fmla="*/ 1840637 h 1891359"/>
              <a:gd name="connsiteX5-555" fmla="*/ 1688563 w 1814809"/>
              <a:gd name="connsiteY5-556" fmla="*/ 1292355 h 1891359"/>
              <a:gd name="connsiteX6-557" fmla="*/ 1309780 w 1814809"/>
              <a:gd name="connsiteY6-558" fmla="*/ 1046341 h 1891359"/>
              <a:gd name="connsiteX7-559" fmla="*/ 1560208 w 1814809"/>
              <a:gd name="connsiteY7-560" fmla="*/ 672856 h 1891359"/>
              <a:gd name="connsiteX8-561" fmla="*/ 1428622 w 1814809"/>
              <a:gd name="connsiteY8-562" fmla="*/ 154877 h 1891359"/>
              <a:gd name="connsiteX9-563" fmla="*/ 930782 w 1814809"/>
              <a:gd name="connsiteY9-564" fmla="*/ 21205 h 1891359"/>
              <a:gd name="connsiteX10-565" fmla="*/ 452050 w 1814809"/>
              <a:gd name="connsiteY10-566" fmla="*/ 534641 h 1891359"/>
              <a:gd name="connsiteX0-567" fmla="*/ 452050 w 1814809"/>
              <a:gd name="connsiteY0-568" fmla="*/ 534641 h 1891359"/>
              <a:gd name="connsiteX1-569" fmla="*/ 91698 w 1814809"/>
              <a:gd name="connsiteY1-570" fmla="*/ 940200 h 1891359"/>
              <a:gd name="connsiteX2-571" fmla="*/ 13351 w 1814809"/>
              <a:gd name="connsiteY2-572" fmla="*/ 1737812 h 1891359"/>
              <a:gd name="connsiteX3-573" fmla="*/ 309435 w 1814809"/>
              <a:gd name="connsiteY3-574" fmla="*/ 1891359 h 1891359"/>
              <a:gd name="connsiteX4-575" fmla="*/ 1669435 w 1814809"/>
              <a:gd name="connsiteY4-576" fmla="*/ 1840637 h 1891359"/>
              <a:gd name="connsiteX5-577" fmla="*/ 1688563 w 1814809"/>
              <a:gd name="connsiteY5-578" fmla="*/ 1292355 h 1891359"/>
              <a:gd name="connsiteX6-579" fmla="*/ 1309780 w 1814809"/>
              <a:gd name="connsiteY6-580" fmla="*/ 1046341 h 1891359"/>
              <a:gd name="connsiteX7-581" fmla="*/ 1619996 w 1814809"/>
              <a:gd name="connsiteY7-582" fmla="*/ 526399 h 1891359"/>
              <a:gd name="connsiteX8-583" fmla="*/ 1428622 w 1814809"/>
              <a:gd name="connsiteY8-584" fmla="*/ 154877 h 1891359"/>
              <a:gd name="connsiteX9-585" fmla="*/ 930782 w 1814809"/>
              <a:gd name="connsiteY9-586" fmla="*/ 21205 h 1891359"/>
              <a:gd name="connsiteX10-587" fmla="*/ 452050 w 1814809"/>
              <a:gd name="connsiteY10-588" fmla="*/ 534641 h 1891359"/>
              <a:gd name="connsiteX0-589" fmla="*/ 452050 w 1814809"/>
              <a:gd name="connsiteY0-590" fmla="*/ 542872 h 1899590"/>
              <a:gd name="connsiteX1-591" fmla="*/ 91698 w 1814809"/>
              <a:gd name="connsiteY1-592" fmla="*/ 948431 h 1899590"/>
              <a:gd name="connsiteX2-593" fmla="*/ 13351 w 1814809"/>
              <a:gd name="connsiteY2-594" fmla="*/ 1746043 h 1899590"/>
              <a:gd name="connsiteX3-595" fmla="*/ 309435 w 1814809"/>
              <a:gd name="connsiteY3-596" fmla="*/ 1899590 h 1899590"/>
              <a:gd name="connsiteX4-597" fmla="*/ 1669435 w 1814809"/>
              <a:gd name="connsiteY4-598" fmla="*/ 1848868 h 1899590"/>
              <a:gd name="connsiteX5-599" fmla="*/ 1688563 w 1814809"/>
              <a:gd name="connsiteY5-600" fmla="*/ 1300586 h 1899590"/>
              <a:gd name="connsiteX6-601" fmla="*/ 1309780 w 1814809"/>
              <a:gd name="connsiteY6-602" fmla="*/ 1054572 h 1899590"/>
              <a:gd name="connsiteX7-603" fmla="*/ 1619996 w 1814809"/>
              <a:gd name="connsiteY7-604" fmla="*/ 534630 h 1899590"/>
              <a:gd name="connsiteX8-605" fmla="*/ 1488411 w 1814809"/>
              <a:gd name="connsiteY8-606" fmla="*/ 129049 h 1899590"/>
              <a:gd name="connsiteX9-607" fmla="*/ 930782 w 1814809"/>
              <a:gd name="connsiteY9-608" fmla="*/ 29436 h 1899590"/>
              <a:gd name="connsiteX10-609" fmla="*/ 452050 w 1814809"/>
              <a:gd name="connsiteY10-610" fmla="*/ 542872 h 1899590"/>
              <a:gd name="connsiteX0-611" fmla="*/ 452050 w 1814809"/>
              <a:gd name="connsiteY0-612" fmla="*/ 540513 h 1897231"/>
              <a:gd name="connsiteX1-613" fmla="*/ 91698 w 1814809"/>
              <a:gd name="connsiteY1-614" fmla="*/ 946072 h 1897231"/>
              <a:gd name="connsiteX2-615" fmla="*/ 13351 w 1814809"/>
              <a:gd name="connsiteY2-616" fmla="*/ 1743684 h 1897231"/>
              <a:gd name="connsiteX3-617" fmla="*/ 309435 w 1814809"/>
              <a:gd name="connsiteY3-618" fmla="*/ 1897231 h 1897231"/>
              <a:gd name="connsiteX4-619" fmla="*/ 1669435 w 1814809"/>
              <a:gd name="connsiteY4-620" fmla="*/ 1846509 h 1897231"/>
              <a:gd name="connsiteX5-621" fmla="*/ 1688563 w 1814809"/>
              <a:gd name="connsiteY5-622" fmla="*/ 1298227 h 1897231"/>
              <a:gd name="connsiteX6-623" fmla="*/ 1309780 w 1814809"/>
              <a:gd name="connsiteY6-624" fmla="*/ 1052213 h 1897231"/>
              <a:gd name="connsiteX7-625" fmla="*/ 1619996 w 1814809"/>
              <a:gd name="connsiteY7-626" fmla="*/ 532271 h 1897231"/>
              <a:gd name="connsiteX8-627" fmla="*/ 1488411 w 1814809"/>
              <a:gd name="connsiteY8-628" fmla="*/ 126690 h 1897231"/>
              <a:gd name="connsiteX9-629" fmla="*/ 930782 w 1814809"/>
              <a:gd name="connsiteY9-630" fmla="*/ 27077 h 1897231"/>
              <a:gd name="connsiteX10-631" fmla="*/ 452050 w 1814809"/>
              <a:gd name="connsiteY10-632" fmla="*/ 540513 h 1897231"/>
              <a:gd name="connsiteX0-633" fmla="*/ 452050 w 1814809"/>
              <a:gd name="connsiteY0-634" fmla="*/ 540513 h 1897231"/>
              <a:gd name="connsiteX1-635" fmla="*/ 91698 w 1814809"/>
              <a:gd name="connsiteY1-636" fmla="*/ 946072 h 1897231"/>
              <a:gd name="connsiteX2-637" fmla="*/ 13351 w 1814809"/>
              <a:gd name="connsiteY2-638" fmla="*/ 1743684 h 1897231"/>
              <a:gd name="connsiteX3-639" fmla="*/ 309435 w 1814809"/>
              <a:gd name="connsiteY3-640" fmla="*/ 1897231 h 1897231"/>
              <a:gd name="connsiteX4-641" fmla="*/ 1669435 w 1814809"/>
              <a:gd name="connsiteY4-642" fmla="*/ 1846509 h 1897231"/>
              <a:gd name="connsiteX5-643" fmla="*/ 1688563 w 1814809"/>
              <a:gd name="connsiteY5-644" fmla="*/ 1298227 h 1897231"/>
              <a:gd name="connsiteX6-645" fmla="*/ 1309780 w 1814809"/>
              <a:gd name="connsiteY6-646" fmla="*/ 1052213 h 1897231"/>
              <a:gd name="connsiteX7-647" fmla="*/ 1619996 w 1814809"/>
              <a:gd name="connsiteY7-648" fmla="*/ 532271 h 1897231"/>
              <a:gd name="connsiteX8-649" fmla="*/ 1488411 w 1814809"/>
              <a:gd name="connsiteY8-650" fmla="*/ 126690 h 1897231"/>
              <a:gd name="connsiteX9-651" fmla="*/ 930782 w 1814809"/>
              <a:gd name="connsiteY9-652" fmla="*/ 27077 h 1897231"/>
              <a:gd name="connsiteX10-653" fmla="*/ 452050 w 1814809"/>
              <a:gd name="connsiteY10-654" fmla="*/ 540513 h 1897231"/>
              <a:gd name="connsiteX0-655" fmla="*/ 288567 w 1811701"/>
              <a:gd name="connsiteY0-656" fmla="*/ 555674 h 1898251"/>
              <a:gd name="connsiteX1-657" fmla="*/ 88590 w 1811701"/>
              <a:gd name="connsiteY1-658" fmla="*/ 947092 h 1898251"/>
              <a:gd name="connsiteX2-659" fmla="*/ 10243 w 1811701"/>
              <a:gd name="connsiteY2-660" fmla="*/ 1744704 h 1898251"/>
              <a:gd name="connsiteX3-661" fmla="*/ 306327 w 1811701"/>
              <a:gd name="connsiteY3-662" fmla="*/ 1898251 h 1898251"/>
              <a:gd name="connsiteX4-663" fmla="*/ 1666327 w 1811701"/>
              <a:gd name="connsiteY4-664" fmla="*/ 1847529 h 1898251"/>
              <a:gd name="connsiteX5-665" fmla="*/ 1685455 w 1811701"/>
              <a:gd name="connsiteY5-666" fmla="*/ 1299247 h 1898251"/>
              <a:gd name="connsiteX6-667" fmla="*/ 1306672 w 1811701"/>
              <a:gd name="connsiteY6-668" fmla="*/ 1053233 h 1898251"/>
              <a:gd name="connsiteX7-669" fmla="*/ 1616888 w 1811701"/>
              <a:gd name="connsiteY7-670" fmla="*/ 533291 h 1898251"/>
              <a:gd name="connsiteX8-671" fmla="*/ 1485303 w 1811701"/>
              <a:gd name="connsiteY8-672" fmla="*/ 127710 h 1898251"/>
              <a:gd name="connsiteX9-673" fmla="*/ 927674 w 1811701"/>
              <a:gd name="connsiteY9-674" fmla="*/ 28097 h 1898251"/>
              <a:gd name="connsiteX10-675" fmla="*/ 288567 w 1811701"/>
              <a:gd name="connsiteY10-676" fmla="*/ 555674 h 1898251"/>
              <a:gd name="connsiteX0-677" fmla="*/ 288567 w 1811701"/>
              <a:gd name="connsiteY0-678" fmla="*/ 479828 h 1822405"/>
              <a:gd name="connsiteX1-679" fmla="*/ 88590 w 1811701"/>
              <a:gd name="connsiteY1-680" fmla="*/ 871246 h 1822405"/>
              <a:gd name="connsiteX2-681" fmla="*/ 10243 w 1811701"/>
              <a:gd name="connsiteY2-682" fmla="*/ 1668858 h 1822405"/>
              <a:gd name="connsiteX3-683" fmla="*/ 306327 w 1811701"/>
              <a:gd name="connsiteY3-684" fmla="*/ 1822405 h 1822405"/>
              <a:gd name="connsiteX4-685" fmla="*/ 1666327 w 1811701"/>
              <a:gd name="connsiteY4-686" fmla="*/ 1771683 h 1822405"/>
              <a:gd name="connsiteX5-687" fmla="*/ 1685455 w 1811701"/>
              <a:gd name="connsiteY5-688" fmla="*/ 1223401 h 1822405"/>
              <a:gd name="connsiteX6-689" fmla="*/ 1306672 w 1811701"/>
              <a:gd name="connsiteY6-690" fmla="*/ 977387 h 1822405"/>
              <a:gd name="connsiteX7-691" fmla="*/ 1616888 w 1811701"/>
              <a:gd name="connsiteY7-692" fmla="*/ 457445 h 1822405"/>
              <a:gd name="connsiteX8-693" fmla="*/ 1485303 w 1811701"/>
              <a:gd name="connsiteY8-694" fmla="*/ 51864 h 1822405"/>
              <a:gd name="connsiteX9-695" fmla="*/ 895599 w 1811701"/>
              <a:gd name="connsiteY9-696" fmla="*/ 79530 h 1822405"/>
              <a:gd name="connsiteX10-697" fmla="*/ 288567 w 1811701"/>
              <a:gd name="connsiteY10-698" fmla="*/ 479828 h 1822405"/>
              <a:gd name="connsiteX0-699" fmla="*/ 288567 w 1811701"/>
              <a:gd name="connsiteY0-700" fmla="*/ 419258 h 1761835"/>
              <a:gd name="connsiteX1-701" fmla="*/ 88590 w 1811701"/>
              <a:gd name="connsiteY1-702" fmla="*/ 810676 h 1761835"/>
              <a:gd name="connsiteX2-703" fmla="*/ 10243 w 1811701"/>
              <a:gd name="connsiteY2-704" fmla="*/ 1608288 h 1761835"/>
              <a:gd name="connsiteX3-705" fmla="*/ 306327 w 1811701"/>
              <a:gd name="connsiteY3-706" fmla="*/ 1761835 h 1761835"/>
              <a:gd name="connsiteX4-707" fmla="*/ 1666327 w 1811701"/>
              <a:gd name="connsiteY4-708" fmla="*/ 1711113 h 1761835"/>
              <a:gd name="connsiteX5-709" fmla="*/ 1685455 w 1811701"/>
              <a:gd name="connsiteY5-710" fmla="*/ 1162831 h 1761835"/>
              <a:gd name="connsiteX6-711" fmla="*/ 1306672 w 1811701"/>
              <a:gd name="connsiteY6-712" fmla="*/ 916817 h 1761835"/>
              <a:gd name="connsiteX7-713" fmla="*/ 1616888 w 1811701"/>
              <a:gd name="connsiteY7-714" fmla="*/ 396875 h 1761835"/>
              <a:gd name="connsiteX8-715" fmla="*/ 1373040 w 1811701"/>
              <a:gd name="connsiteY8-716" fmla="*/ 118574 h 1761835"/>
              <a:gd name="connsiteX9-717" fmla="*/ 895599 w 1811701"/>
              <a:gd name="connsiteY9-718" fmla="*/ 18960 h 1761835"/>
              <a:gd name="connsiteX10-719" fmla="*/ 288567 w 1811701"/>
              <a:gd name="connsiteY10-720" fmla="*/ 419258 h 1761835"/>
              <a:gd name="connsiteX0-721" fmla="*/ 288567 w 1811701"/>
              <a:gd name="connsiteY0-722" fmla="*/ 419258 h 1761835"/>
              <a:gd name="connsiteX1-723" fmla="*/ 88590 w 1811701"/>
              <a:gd name="connsiteY1-724" fmla="*/ 810676 h 1761835"/>
              <a:gd name="connsiteX2-725" fmla="*/ 10243 w 1811701"/>
              <a:gd name="connsiteY2-726" fmla="*/ 1608288 h 1761835"/>
              <a:gd name="connsiteX3-727" fmla="*/ 306327 w 1811701"/>
              <a:gd name="connsiteY3-728" fmla="*/ 1761835 h 1761835"/>
              <a:gd name="connsiteX4-729" fmla="*/ 1666327 w 1811701"/>
              <a:gd name="connsiteY4-730" fmla="*/ 1711113 h 1761835"/>
              <a:gd name="connsiteX5-731" fmla="*/ 1685455 w 1811701"/>
              <a:gd name="connsiteY5-732" fmla="*/ 1162831 h 1761835"/>
              <a:gd name="connsiteX6-733" fmla="*/ 1306672 w 1811701"/>
              <a:gd name="connsiteY6-734" fmla="*/ 916817 h 1761835"/>
              <a:gd name="connsiteX7-735" fmla="*/ 1584814 w 1811701"/>
              <a:gd name="connsiteY7-736" fmla="*/ 510012 h 1761835"/>
              <a:gd name="connsiteX8-737" fmla="*/ 1373040 w 1811701"/>
              <a:gd name="connsiteY8-738" fmla="*/ 118574 h 1761835"/>
              <a:gd name="connsiteX9-739" fmla="*/ 895599 w 1811701"/>
              <a:gd name="connsiteY9-740" fmla="*/ 18960 h 1761835"/>
              <a:gd name="connsiteX10-741" fmla="*/ 288567 w 1811701"/>
              <a:gd name="connsiteY10-742" fmla="*/ 419258 h 1761835"/>
              <a:gd name="connsiteX0-743" fmla="*/ 288567 w 1770444"/>
              <a:gd name="connsiteY0-744" fmla="*/ 419258 h 1761835"/>
              <a:gd name="connsiteX1-745" fmla="*/ 88590 w 1770444"/>
              <a:gd name="connsiteY1-746" fmla="*/ 810676 h 1761835"/>
              <a:gd name="connsiteX2-747" fmla="*/ 10243 w 1770444"/>
              <a:gd name="connsiteY2-748" fmla="*/ 1608288 h 1761835"/>
              <a:gd name="connsiteX3-749" fmla="*/ 306327 w 1770444"/>
              <a:gd name="connsiteY3-750" fmla="*/ 1761835 h 1761835"/>
              <a:gd name="connsiteX4-751" fmla="*/ 1666327 w 1770444"/>
              <a:gd name="connsiteY4-752" fmla="*/ 1711113 h 1761835"/>
              <a:gd name="connsiteX5-753" fmla="*/ 1589229 w 1770444"/>
              <a:gd name="connsiteY5-754" fmla="*/ 1176973 h 1761835"/>
              <a:gd name="connsiteX6-755" fmla="*/ 1306672 w 1770444"/>
              <a:gd name="connsiteY6-756" fmla="*/ 916817 h 1761835"/>
              <a:gd name="connsiteX7-757" fmla="*/ 1584814 w 1770444"/>
              <a:gd name="connsiteY7-758" fmla="*/ 510012 h 1761835"/>
              <a:gd name="connsiteX8-759" fmla="*/ 1373040 w 1770444"/>
              <a:gd name="connsiteY8-760" fmla="*/ 118574 h 1761835"/>
              <a:gd name="connsiteX9-761" fmla="*/ 895599 w 1770444"/>
              <a:gd name="connsiteY9-762" fmla="*/ 18960 h 1761835"/>
              <a:gd name="connsiteX10-763" fmla="*/ 288567 w 1770444"/>
              <a:gd name="connsiteY10-764" fmla="*/ 419258 h 1761835"/>
              <a:gd name="connsiteX0-765" fmla="*/ 288567 w 1592514"/>
              <a:gd name="connsiteY0-766" fmla="*/ 419258 h 1863058"/>
              <a:gd name="connsiteX1-767" fmla="*/ 88590 w 1592514"/>
              <a:gd name="connsiteY1-768" fmla="*/ 810676 h 1863058"/>
              <a:gd name="connsiteX2-769" fmla="*/ 10243 w 1592514"/>
              <a:gd name="connsiteY2-770" fmla="*/ 1608288 h 1863058"/>
              <a:gd name="connsiteX3-771" fmla="*/ 306327 w 1592514"/>
              <a:gd name="connsiteY3-772" fmla="*/ 1761835 h 1863058"/>
              <a:gd name="connsiteX4-773" fmla="*/ 1377650 w 1592514"/>
              <a:gd name="connsiteY4-774" fmla="*/ 1838393 h 1863058"/>
              <a:gd name="connsiteX5-775" fmla="*/ 1589229 w 1592514"/>
              <a:gd name="connsiteY5-776" fmla="*/ 1176973 h 1863058"/>
              <a:gd name="connsiteX6-777" fmla="*/ 1306672 w 1592514"/>
              <a:gd name="connsiteY6-778" fmla="*/ 916817 h 1863058"/>
              <a:gd name="connsiteX7-779" fmla="*/ 1584814 w 1592514"/>
              <a:gd name="connsiteY7-780" fmla="*/ 510012 h 1863058"/>
              <a:gd name="connsiteX8-781" fmla="*/ 1373040 w 1592514"/>
              <a:gd name="connsiteY8-782" fmla="*/ 118574 h 1863058"/>
              <a:gd name="connsiteX9-783" fmla="*/ 895599 w 1592514"/>
              <a:gd name="connsiteY9-784" fmla="*/ 18960 h 1863058"/>
              <a:gd name="connsiteX10-785" fmla="*/ 288567 w 1592514"/>
              <a:gd name="connsiteY10-786" fmla="*/ 419258 h 1863058"/>
              <a:gd name="connsiteX0-787" fmla="*/ 421322 w 1594935"/>
              <a:gd name="connsiteY0-788" fmla="*/ 616342 h 1876292"/>
              <a:gd name="connsiteX1-789" fmla="*/ 91011 w 1594935"/>
              <a:gd name="connsiteY1-790" fmla="*/ 823910 h 1876292"/>
              <a:gd name="connsiteX2-791" fmla="*/ 12664 w 1594935"/>
              <a:gd name="connsiteY2-792" fmla="*/ 1621522 h 1876292"/>
              <a:gd name="connsiteX3-793" fmla="*/ 308748 w 1594935"/>
              <a:gd name="connsiteY3-794" fmla="*/ 1775069 h 1876292"/>
              <a:gd name="connsiteX4-795" fmla="*/ 1380071 w 1594935"/>
              <a:gd name="connsiteY4-796" fmla="*/ 1851627 h 1876292"/>
              <a:gd name="connsiteX5-797" fmla="*/ 1591650 w 1594935"/>
              <a:gd name="connsiteY5-798" fmla="*/ 1190207 h 1876292"/>
              <a:gd name="connsiteX6-799" fmla="*/ 1309093 w 1594935"/>
              <a:gd name="connsiteY6-800" fmla="*/ 930051 h 1876292"/>
              <a:gd name="connsiteX7-801" fmla="*/ 1587235 w 1594935"/>
              <a:gd name="connsiteY7-802" fmla="*/ 523246 h 1876292"/>
              <a:gd name="connsiteX8-803" fmla="*/ 1375461 w 1594935"/>
              <a:gd name="connsiteY8-804" fmla="*/ 131808 h 1876292"/>
              <a:gd name="connsiteX9-805" fmla="*/ 898020 w 1594935"/>
              <a:gd name="connsiteY9-806" fmla="*/ 32194 h 1876292"/>
              <a:gd name="connsiteX10-807" fmla="*/ 421322 w 1594935"/>
              <a:gd name="connsiteY10-808" fmla="*/ 616342 h 1876292"/>
              <a:gd name="connsiteX0-809" fmla="*/ 413257 w 1586870"/>
              <a:gd name="connsiteY0-810" fmla="*/ 616342 h 1876292"/>
              <a:gd name="connsiteX1-811" fmla="*/ 140873 w 1586870"/>
              <a:gd name="connsiteY1-812" fmla="*/ 993617 h 1876292"/>
              <a:gd name="connsiteX2-813" fmla="*/ 4599 w 1586870"/>
              <a:gd name="connsiteY2-814" fmla="*/ 1621522 h 1876292"/>
              <a:gd name="connsiteX3-815" fmla="*/ 300683 w 1586870"/>
              <a:gd name="connsiteY3-816" fmla="*/ 1775069 h 1876292"/>
              <a:gd name="connsiteX4-817" fmla="*/ 1372006 w 1586870"/>
              <a:gd name="connsiteY4-818" fmla="*/ 1851627 h 1876292"/>
              <a:gd name="connsiteX5-819" fmla="*/ 1583585 w 1586870"/>
              <a:gd name="connsiteY5-820" fmla="*/ 1190207 h 1876292"/>
              <a:gd name="connsiteX6-821" fmla="*/ 1301028 w 1586870"/>
              <a:gd name="connsiteY6-822" fmla="*/ 930051 h 1876292"/>
              <a:gd name="connsiteX7-823" fmla="*/ 1579170 w 1586870"/>
              <a:gd name="connsiteY7-824" fmla="*/ 523246 h 1876292"/>
              <a:gd name="connsiteX8-825" fmla="*/ 1367396 w 1586870"/>
              <a:gd name="connsiteY8-826" fmla="*/ 131808 h 1876292"/>
              <a:gd name="connsiteX9-827" fmla="*/ 889955 w 1586870"/>
              <a:gd name="connsiteY9-828" fmla="*/ 32194 h 1876292"/>
              <a:gd name="connsiteX10-829" fmla="*/ 413257 w 1586870"/>
              <a:gd name="connsiteY10-830" fmla="*/ 616342 h 1876292"/>
              <a:gd name="connsiteX0-831" fmla="*/ 284962 w 1458575"/>
              <a:gd name="connsiteY0-832" fmla="*/ 616342 h 1908017"/>
              <a:gd name="connsiteX1-833" fmla="*/ 12578 w 1458575"/>
              <a:gd name="connsiteY1-834" fmla="*/ 993617 h 1908017"/>
              <a:gd name="connsiteX2-835" fmla="*/ 172388 w 1458575"/>
              <a:gd name="connsiteY2-836" fmla="*/ 1775069 h 1908017"/>
              <a:gd name="connsiteX3-837" fmla="*/ 1243711 w 1458575"/>
              <a:gd name="connsiteY3-838" fmla="*/ 1851627 h 1908017"/>
              <a:gd name="connsiteX4-839" fmla="*/ 1455290 w 1458575"/>
              <a:gd name="connsiteY4-840" fmla="*/ 1190207 h 1908017"/>
              <a:gd name="connsiteX5-841" fmla="*/ 1172733 w 1458575"/>
              <a:gd name="connsiteY5-842" fmla="*/ 930051 h 1908017"/>
              <a:gd name="connsiteX6-843" fmla="*/ 1450875 w 1458575"/>
              <a:gd name="connsiteY6-844" fmla="*/ 523246 h 1908017"/>
              <a:gd name="connsiteX7-845" fmla="*/ 1239101 w 1458575"/>
              <a:gd name="connsiteY7-846" fmla="*/ 131808 h 1908017"/>
              <a:gd name="connsiteX8-847" fmla="*/ 761660 w 1458575"/>
              <a:gd name="connsiteY8-848" fmla="*/ 32194 h 1908017"/>
              <a:gd name="connsiteX9-849" fmla="*/ 284962 w 1458575"/>
              <a:gd name="connsiteY9-850" fmla="*/ 616342 h 1908017"/>
              <a:gd name="connsiteX0-851" fmla="*/ 343858 w 1519131"/>
              <a:gd name="connsiteY0-852" fmla="*/ 616342 h 1885036"/>
              <a:gd name="connsiteX1-853" fmla="*/ 71474 w 1519131"/>
              <a:gd name="connsiteY1-854" fmla="*/ 993617 h 1885036"/>
              <a:gd name="connsiteX2-855" fmla="*/ 115432 w 1519131"/>
              <a:gd name="connsiteY2-856" fmla="*/ 1704358 h 1885036"/>
              <a:gd name="connsiteX3-857" fmla="*/ 1302607 w 1519131"/>
              <a:gd name="connsiteY3-858" fmla="*/ 1851627 h 1885036"/>
              <a:gd name="connsiteX4-859" fmla="*/ 1514186 w 1519131"/>
              <a:gd name="connsiteY4-860" fmla="*/ 1190207 h 1885036"/>
              <a:gd name="connsiteX5-861" fmla="*/ 1231629 w 1519131"/>
              <a:gd name="connsiteY5-862" fmla="*/ 930051 h 1885036"/>
              <a:gd name="connsiteX6-863" fmla="*/ 1509771 w 1519131"/>
              <a:gd name="connsiteY6-864" fmla="*/ 523246 h 1885036"/>
              <a:gd name="connsiteX7-865" fmla="*/ 1297997 w 1519131"/>
              <a:gd name="connsiteY7-866" fmla="*/ 131808 h 1885036"/>
              <a:gd name="connsiteX8-867" fmla="*/ 820556 w 1519131"/>
              <a:gd name="connsiteY8-868" fmla="*/ 32194 h 1885036"/>
              <a:gd name="connsiteX9-869" fmla="*/ 343858 w 1519131"/>
              <a:gd name="connsiteY9-870" fmla="*/ 616342 h 1885036"/>
              <a:gd name="connsiteX0-871" fmla="*/ 343858 w 1549812"/>
              <a:gd name="connsiteY0-872" fmla="*/ 616342 h 1800235"/>
              <a:gd name="connsiteX1-873" fmla="*/ 71474 w 1549812"/>
              <a:gd name="connsiteY1-874" fmla="*/ 993617 h 1800235"/>
              <a:gd name="connsiteX2-875" fmla="*/ 115432 w 1549812"/>
              <a:gd name="connsiteY2-876" fmla="*/ 1704358 h 1800235"/>
              <a:gd name="connsiteX3-877" fmla="*/ 1389496 w 1549812"/>
              <a:gd name="connsiteY3-878" fmla="*/ 1724347 h 1800235"/>
              <a:gd name="connsiteX4-879" fmla="*/ 1514186 w 1549812"/>
              <a:gd name="connsiteY4-880" fmla="*/ 1190207 h 1800235"/>
              <a:gd name="connsiteX5-881" fmla="*/ 1231629 w 1549812"/>
              <a:gd name="connsiteY5-882" fmla="*/ 930051 h 1800235"/>
              <a:gd name="connsiteX6-883" fmla="*/ 1509771 w 1549812"/>
              <a:gd name="connsiteY6-884" fmla="*/ 523246 h 1800235"/>
              <a:gd name="connsiteX7-885" fmla="*/ 1297997 w 1549812"/>
              <a:gd name="connsiteY7-886" fmla="*/ 131808 h 1800235"/>
              <a:gd name="connsiteX8-887" fmla="*/ 820556 w 1549812"/>
              <a:gd name="connsiteY8-888" fmla="*/ 32194 h 1800235"/>
              <a:gd name="connsiteX9-889" fmla="*/ 343858 w 1549812"/>
              <a:gd name="connsiteY9-890" fmla="*/ 616342 h 180023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235" y="connsiteY9-236"/>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13" name="Freeform 417"/>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grpSp>
        <p:nvGrpSpPr>
          <p:cNvPr id="14" name="Group 418"/>
          <p:cNvGrpSpPr/>
          <p:nvPr/>
        </p:nvGrpSpPr>
        <p:grpSpPr bwMode="auto">
          <a:xfrm>
            <a:off x="7205350" y="3289251"/>
            <a:ext cx="1458912" cy="933450"/>
            <a:chOff x="2889" y="1631"/>
            <a:chExt cx="980" cy="743"/>
          </a:xfrm>
        </p:grpSpPr>
        <p:sp>
          <p:nvSpPr>
            <p:cNvPr id="369" name="Rectangle 419"/>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370" name="AutoShape 420"/>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grpSp>
      <p:sp>
        <p:nvSpPr>
          <p:cNvPr id="21" name="Freeform 427"/>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endParaRPr lang="en-US" altLang="en-US" sz="1400" dirty="0">
              <a:latin typeface="+mn-lt"/>
            </a:endParaRPr>
          </a:p>
        </p:txBody>
      </p:sp>
      <p:sp>
        <p:nvSpPr>
          <p:cNvPr id="69" name="Text Box 580"/>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endParaRPr lang="en-US" altLang="en-US" sz="1400" dirty="0">
              <a:latin typeface="+mn-lt"/>
            </a:endParaRPr>
          </a:p>
        </p:txBody>
      </p:sp>
      <p:sp>
        <p:nvSpPr>
          <p:cNvPr id="70" name="Text Box 580"/>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endParaRPr lang="en-US" altLang="en-US" sz="1400" dirty="0">
              <a:latin typeface="+mn-lt"/>
            </a:endParaRPr>
          </a:p>
          <a:p>
            <a:pPr>
              <a:lnSpc>
                <a:spcPct val="80000"/>
              </a:lnSpc>
              <a:spcBef>
                <a:spcPct val="0"/>
              </a:spcBef>
              <a:buClrTx/>
              <a:buSzTx/>
              <a:buFontTx/>
              <a:buNone/>
            </a:pPr>
            <a:r>
              <a:rPr lang="en-US" altLang="en-US" sz="1400" dirty="0">
                <a:latin typeface="+mn-lt"/>
              </a:rPr>
              <a:t>          network</a:t>
            </a:r>
            <a:endParaRPr lang="en-US" altLang="en-US" sz="1400" dirty="0">
              <a:latin typeface="+mn-lt"/>
            </a:endParaRPr>
          </a:p>
        </p:txBody>
      </p:sp>
      <p:sp>
        <p:nvSpPr>
          <p:cNvPr id="372" name="Freeform 371"/>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1" fmla="*/ 434989 w 1537226"/>
              <a:gd name="connsiteY0-2" fmla="*/ 253346 h 1763594"/>
              <a:gd name="connsiteX1-3" fmla="*/ 488 w 1537226"/>
              <a:gd name="connsiteY1-4" fmla="*/ 921706 h 1763594"/>
              <a:gd name="connsiteX2-5" fmla="*/ 368142 w 1537226"/>
              <a:gd name="connsiteY2-6" fmla="*/ 1489812 h 1763594"/>
              <a:gd name="connsiteX3-7" fmla="*/ 1187008 w 1537226"/>
              <a:gd name="connsiteY3-8" fmla="*/ 1757156 h 1763594"/>
              <a:gd name="connsiteX4-9" fmla="*/ 1521239 w 1537226"/>
              <a:gd name="connsiteY4-10" fmla="*/ 1239177 h 1763594"/>
              <a:gd name="connsiteX5-11" fmla="*/ 1468998 w 1537226"/>
              <a:gd name="connsiteY5-12" fmla="*/ 654362 h 1763594"/>
              <a:gd name="connsiteX6-13" fmla="*/ 1337412 w 1537226"/>
              <a:gd name="connsiteY6-14" fmla="*/ 136383 h 1763594"/>
              <a:gd name="connsiteX7-15" fmla="*/ 1086739 w 1537226"/>
              <a:gd name="connsiteY7-16" fmla="*/ 2711 h 1763594"/>
              <a:gd name="connsiteX8-17" fmla="*/ 434989 w 1537226"/>
              <a:gd name="connsiteY8-18" fmla="*/ 253346 h 1763594"/>
              <a:gd name="connsiteX0-19" fmla="*/ 434989 w 1537226"/>
              <a:gd name="connsiteY0-20" fmla="*/ 253346 h 1763594"/>
              <a:gd name="connsiteX1-21" fmla="*/ 488 w 1537226"/>
              <a:gd name="connsiteY1-22" fmla="*/ 921706 h 1763594"/>
              <a:gd name="connsiteX2-23" fmla="*/ 368142 w 1537226"/>
              <a:gd name="connsiteY2-24" fmla="*/ 1489812 h 1763594"/>
              <a:gd name="connsiteX3-25" fmla="*/ 1187008 w 1537226"/>
              <a:gd name="connsiteY3-26" fmla="*/ 1757156 h 1763594"/>
              <a:gd name="connsiteX4-27" fmla="*/ 1521239 w 1537226"/>
              <a:gd name="connsiteY4-28" fmla="*/ 1239177 h 1763594"/>
              <a:gd name="connsiteX5-29" fmla="*/ 1468998 w 1537226"/>
              <a:gd name="connsiteY5-30" fmla="*/ 654362 h 1763594"/>
              <a:gd name="connsiteX6-31" fmla="*/ 1337412 w 1537226"/>
              <a:gd name="connsiteY6-32" fmla="*/ 136383 h 1763594"/>
              <a:gd name="connsiteX7-33" fmla="*/ 839572 w 1537226"/>
              <a:gd name="connsiteY7-34" fmla="*/ 2711 h 1763594"/>
              <a:gd name="connsiteX8-35" fmla="*/ 434989 w 1537226"/>
              <a:gd name="connsiteY8-36" fmla="*/ 253346 h 1763594"/>
              <a:gd name="connsiteX0-37" fmla="*/ 360357 w 1536743"/>
              <a:gd name="connsiteY0-38" fmla="*/ 534641 h 1782088"/>
              <a:gd name="connsiteX1-39" fmla="*/ 5 w 1536743"/>
              <a:gd name="connsiteY1-40" fmla="*/ 940200 h 1782088"/>
              <a:gd name="connsiteX2-41" fmla="*/ 367659 w 1536743"/>
              <a:gd name="connsiteY2-42" fmla="*/ 1508306 h 1782088"/>
              <a:gd name="connsiteX3-43" fmla="*/ 1186525 w 1536743"/>
              <a:gd name="connsiteY3-44" fmla="*/ 1775650 h 1782088"/>
              <a:gd name="connsiteX4-45" fmla="*/ 1520756 w 1536743"/>
              <a:gd name="connsiteY4-46" fmla="*/ 1257671 h 1782088"/>
              <a:gd name="connsiteX5-47" fmla="*/ 1468515 w 1536743"/>
              <a:gd name="connsiteY5-48" fmla="*/ 672856 h 1782088"/>
              <a:gd name="connsiteX6-49" fmla="*/ 1336929 w 1536743"/>
              <a:gd name="connsiteY6-50" fmla="*/ 154877 h 1782088"/>
              <a:gd name="connsiteX7-51" fmla="*/ 839089 w 1536743"/>
              <a:gd name="connsiteY7-52" fmla="*/ 21205 h 1782088"/>
              <a:gd name="connsiteX8-53" fmla="*/ 360357 w 1536743"/>
              <a:gd name="connsiteY8-54" fmla="*/ 534641 h 1782088"/>
              <a:gd name="connsiteX0-55" fmla="*/ 360355 w 1536741"/>
              <a:gd name="connsiteY0-56" fmla="*/ 534641 h 1782088"/>
              <a:gd name="connsiteX1-57" fmla="*/ 3 w 1536741"/>
              <a:gd name="connsiteY1-58" fmla="*/ 940200 h 1782088"/>
              <a:gd name="connsiteX2-59" fmla="*/ 367657 w 1536741"/>
              <a:gd name="connsiteY2-60" fmla="*/ 1508306 h 1782088"/>
              <a:gd name="connsiteX3-61" fmla="*/ 1186523 w 1536741"/>
              <a:gd name="connsiteY3-62" fmla="*/ 1775650 h 1782088"/>
              <a:gd name="connsiteX4-63" fmla="*/ 1520754 w 1536741"/>
              <a:gd name="connsiteY4-64" fmla="*/ 1257671 h 1782088"/>
              <a:gd name="connsiteX5-65" fmla="*/ 1468513 w 1536741"/>
              <a:gd name="connsiteY5-66" fmla="*/ 672856 h 1782088"/>
              <a:gd name="connsiteX6-67" fmla="*/ 1336927 w 1536741"/>
              <a:gd name="connsiteY6-68" fmla="*/ 154877 h 1782088"/>
              <a:gd name="connsiteX7-69" fmla="*/ 839087 w 1536741"/>
              <a:gd name="connsiteY7-70" fmla="*/ 21205 h 1782088"/>
              <a:gd name="connsiteX8-71" fmla="*/ 360355 w 1536741"/>
              <a:gd name="connsiteY8-72" fmla="*/ 534641 h 1782088"/>
              <a:gd name="connsiteX0-73" fmla="*/ 360355 w 1534770"/>
              <a:gd name="connsiteY0-74" fmla="*/ 553225 h 1800672"/>
              <a:gd name="connsiteX1-75" fmla="*/ 3 w 1534770"/>
              <a:gd name="connsiteY1-76" fmla="*/ 958784 h 1800672"/>
              <a:gd name="connsiteX2-77" fmla="*/ 367657 w 1534770"/>
              <a:gd name="connsiteY2-78" fmla="*/ 1526890 h 1800672"/>
              <a:gd name="connsiteX3-79" fmla="*/ 1186523 w 1534770"/>
              <a:gd name="connsiteY3-80" fmla="*/ 1794234 h 1800672"/>
              <a:gd name="connsiteX4-81" fmla="*/ 1520754 w 1534770"/>
              <a:gd name="connsiteY4-82" fmla="*/ 1276255 h 1800672"/>
              <a:gd name="connsiteX5-83" fmla="*/ 1468513 w 1534770"/>
              <a:gd name="connsiteY5-84" fmla="*/ 691440 h 1800672"/>
              <a:gd name="connsiteX6-85" fmla="*/ 1435794 w 1534770"/>
              <a:gd name="connsiteY6-86" fmla="*/ 107761 h 1800672"/>
              <a:gd name="connsiteX7-87" fmla="*/ 839087 w 1534770"/>
              <a:gd name="connsiteY7-88" fmla="*/ 39789 h 1800672"/>
              <a:gd name="connsiteX8-89" fmla="*/ 360355 w 1534770"/>
              <a:gd name="connsiteY8-90" fmla="*/ 553225 h 1800672"/>
              <a:gd name="connsiteX0-91" fmla="*/ 360355 w 1580585"/>
              <a:gd name="connsiteY0-92" fmla="*/ 553225 h 1880420"/>
              <a:gd name="connsiteX1-93" fmla="*/ 3 w 1580585"/>
              <a:gd name="connsiteY1-94" fmla="*/ 958784 h 1880420"/>
              <a:gd name="connsiteX2-95" fmla="*/ 367657 w 1580585"/>
              <a:gd name="connsiteY2-96" fmla="*/ 1526890 h 1880420"/>
              <a:gd name="connsiteX3-97" fmla="*/ 1186523 w 1580585"/>
              <a:gd name="connsiteY3-98" fmla="*/ 1794234 h 1880420"/>
              <a:gd name="connsiteX4-99" fmla="*/ 1570188 w 1580585"/>
              <a:gd name="connsiteY4-100" fmla="*/ 1785433 h 1880420"/>
              <a:gd name="connsiteX5-101" fmla="*/ 1468513 w 1580585"/>
              <a:gd name="connsiteY5-102" fmla="*/ 691440 h 1880420"/>
              <a:gd name="connsiteX6-103" fmla="*/ 1435794 w 1580585"/>
              <a:gd name="connsiteY6-104" fmla="*/ 107761 h 1880420"/>
              <a:gd name="connsiteX7-105" fmla="*/ 839087 w 1580585"/>
              <a:gd name="connsiteY7-106" fmla="*/ 39789 h 1880420"/>
              <a:gd name="connsiteX8-107" fmla="*/ 360355 w 1580585"/>
              <a:gd name="connsiteY8-108" fmla="*/ 553225 h 1880420"/>
              <a:gd name="connsiteX0-109" fmla="*/ 316588 w 1580732"/>
              <a:gd name="connsiteY0-110" fmla="*/ 359285 h 1867156"/>
              <a:gd name="connsiteX1-111" fmla="*/ 150 w 1580732"/>
              <a:gd name="connsiteY1-112" fmla="*/ 945520 h 1867156"/>
              <a:gd name="connsiteX2-113" fmla="*/ 367804 w 1580732"/>
              <a:gd name="connsiteY2-114" fmla="*/ 1513626 h 1867156"/>
              <a:gd name="connsiteX3-115" fmla="*/ 1186670 w 1580732"/>
              <a:gd name="connsiteY3-116" fmla="*/ 1780970 h 1867156"/>
              <a:gd name="connsiteX4-117" fmla="*/ 1570335 w 1580732"/>
              <a:gd name="connsiteY4-118" fmla="*/ 1772169 h 1867156"/>
              <a:gd name="connsiteX5-119" fmla="*/ 1468660 w 1580732"/>
              <a:gd name="connsiteY5-120" fmla="*/ 678176 h 1867156"/>
              <a:gd name="connsiteX6-121" fmla="*/ 1435941 w 1580732"/>
              <a:gd name="connsiteY6-122" fmla="*/ 94497 h 1867156"/>
              <a:gd name="connsiteX7-123" fmla="*/ 839234 w 1580732"/>
              <a:gd name="connsiteY7-124" fmla="*/ 26525 h 1867156"/>
              <a:gd name="connsiteX8-125" fmla="*/ 316588 w 1580732"/>
              <a:gd name="connsiteY8-126" fmla="*/ 359285 h 1867156"/>
              <a:gd name="connsiteX0-127" fmla="*/ 163575 w 1427719"/>
              <a:gd name="connsiteY0-128" fmla="*/ 359285 h 1867156"/>
              <a:gd name="connsiteX1-129" fmla="*/ 836 w 1427719"/>
              <a:gd name="connsiteY1-130" fmla="*/ 1076921 h 1867156"/>
              <a:gd name="connsiteX2-131" fmla="*/ 214791 w 1427719"/>
              <a:gd name="connsiteY2-132" fmla="*/ 1513626 h 1867156"/>
              <a:gd name="connsiteX3-133" fmla="*/ 1033657 w 1427719"/>
              <a:gd name="connsiteY3-134" fmla="*/ 1780970 h 1867156"/>
              <a:gd name="connsiteX4-135" fmla="*/ 1417322 w 1427719"/>
              <a:gd name="connsiteY4-136" fmla="*/ 1772169 h 1867156"/>
              <a:gd name="connsiteX5-137" fmla="*/ 1315647 w 1427719"/>
              <a:gd name="connsiteY5-138" fmla="*/ 678176 h 1867156"/>
              <a:gd name="connsiteX6-139" fmla="*/ 1282928 w 1427719"/>
              <a:gd name="connsiteY6-140" fmla="*/ 94497 h 1867156"/>
              <a:gd name="connsiteX7-141" fmla="*/ 686221 w 1427719"/>
              <a:gd name="connsiteY7-142" fmla="*/ 26525 h 1867156"/>
              <a:gd name="connsiteX8-143" fmla="*/ 163575 w 1427719"/>
              <a:gd name="connsiteY8-144" fmla="*/ 359285 h 1867156"/>
              <a:gd name="connsiteX0-145" fmla="*/ 163575 w 1426632"/>
              <a:gd name="connsiteY0-146" fmla="*/ 394322 h 1902193"/>
              <a:gd name="connsiteX1-147" fmla="*/ 836 w 1426632"/>
              <a:gd name="connsiteY1-148" fmla="*/ 1111958 h 1902193"/>
              <a:gd name="connsiteX2-149" fmla="*/ 214791 w 1426632"/>
              <a:gd name="connsiteY2-150" fmla="*/ 1548663 h 1902193"/>
              <a:gd name="connsiteX3-151" fmla="*/ 1033657 w 1426632"/>
              <a:gd name="connsiteY3-152" fmla="*/ 1816007 h 1902193"/>
              <a:gd name="connsiteX4-153" fmla="*/ 1417322 w 1426632"/>
              <a:gd name="connsiteY4-154" fmla="*/ 1807206 h 1902193"/>
              <a:gd name="connsiteX5-155" fmla="*/ 1315647 w 1426632"/>
              <a:gd name="connsiteY5-156" fmla="*/ 713213 h 1902193"/>
              <a:gd name="connsiteX6-157" fmla="*/ 1401843 w 1426632"/>
              <a:gd name="connsiteY6-158" fmla="*/ 63834 h 1902193"/>
              <a:gd name="connsiteX7-159" fmla="*/ 686221 w 1426632"/>
              <a:gd name="connsiteY7-160" fmla="*/ 61562 h 1902193"/>
              <a:gd name="connsiteX8-161" fmla="*/ 163575 w 1426632"/>
              <a:gd name="connsiteY8-162" fmla="*/ 394322 h 1902193"/>
              <a:gd name="connsiteX0-163" fmla="*/ 163575 w 1435249"/>
              <a:gd name="connsiteY0-164" fmla="*/ 394322 h 1885560"/>
              <a:gd name="connsiteX1-165" fmla="*/ 836 w 1435249"/>
              <a:gd name="connsiteY1-166" fmla="*/ 1111958 h 1885560"/>
              <a:gd name="connsiteX2-167" fmla="*/ 214791 w 1435249"/>
              <a:gd name="connsiteY2-168" fmla="*/ 1548663 h 1885560"/>
              <a:gd name="connsiteX3-169" fmla="*/ 1033657 w 1435249"/>
              <a:gd name="connsiteY3-170" fmla="*/ 1816007 h 1885560"/>
              <a:gd name="connsiteX4-171" fmla="*/ 1417322 w 1435249"/>
              <a:gd name="connsiteY4-172" fmla="*/ 1807206 h 1885560"/>
              <a:gd name="connsiteX5-173" fmla="*/ 1375103 w 1435249"/>
              <a:gd name="connsiteY5-174" fmla="*/ 943164 h 1885560"/>
              <a:gd name="connsiteX6-175" fmla="*/ 1401843 w 1435249"/>
              <a:gd name="connsiteY6-176" fmla="*/ 63834 h 1885560"/>
              <a:gd name="connsiteX7-177" fmla="*/ 686221 w 1435249"/>
              <a:gd name="connsiteY7-178" fmla="*/ 61562 h 1885560"/>
              <a:gd name="connsiteX8-179" fmla="*/ 163575 w 1435249"/>
              <a:gd name="connsiteY8-180" fmla="*/ 394322 h 1885560"/>
              <a:gd name="connsiteX0-181" fmla="*/ 128947 w 1438213"/>
              <a:gd name="connsiteY0-182" fmla="*/ 345176 h 1883146"/>
              <a:gd name="connsiteX1-183" fmla="*/ 3802 w 1438213"/>
              <a:gd name="connsiteY1-184" fmla="*/ 1109544 h 1883146"/>
              <a:gd name="connsiteX2-185" fmla="*/ 217757 w 1438213"/>
              <a:gd name="connsiteY2-186" fmla="*/ 1546249 h 1883146"/>
              <a:gd name="connsiteX3-187" fmla="*/ 1036623 w 1438213"/>
              <a:gd name="connsiteY3-188" fmla="*/ 1813593 h 1883146"/>
              <a:gd name="connsiteX4-189" fmla="*/ 1420288 w 1438213"/>
              <a:gd name="connsiteY4-190" fmla="*/ 1804792 h 1883146"/>
              <a:gd name="connsiteX5-191" fmla="*/ 1378069 w 1438213"/>
              <a:gd name="connsiteY5-192" fmla="*/ 940750 h 1883146"/>
              <a:gd name="connsiteX6-193" fmla="*/ 1404809 w 1438213"/>
              <a:gd name="connsiteY6-194" fmla="*/ 61420 h 1883146"/>
              <a:gd name="connsiteX7-195" fmla="*/ 689187 w 1438213"/>
              <a:gd name="connsiteY7-196" fmla="*/ 59148 h 1883146"/>
              <a:gd name="connsiteX8-197" fmla="*/ 128947 w 1438213"/>
              <a:gd name="connsiteY8-198" fmla="*/ 345176 h 1883146"/>
              <a:gd name="connsiteX0-199" fmla="*/ 126587 w 1435854"/>
              <a:gd name="connsiteY0-200" fmla="*/ 353278 h 1891248"/>
              <a:gd name="connsiteX1-201" fmla="*/ 1442 w 1435854"/>
              <a:gd name="connsiteY1-202" fmla="*/ 1117646 h 1891248"/>
              <a:gd name="connsiteX2-203" fmla="*/ 215397 w 1435854"/>
              <a:gd name="connsiteY2-204" fmla="*/ 1554351 h 1891248"/>
              <a:gd name="connsiteX3-205" fmla="*/ 1034263 w 1435854"/>
              <a:gd name="connsiteY3-206" fmla="*/ 1821695 h 1891248"/>
              <a:gd name="connsiteX4-207" fmla="*/ 1417928 w 1435854"/>
              <a:gd name="connsiteY4-208" fmla="*/ 1812894 h 1891248"/>
              <a:gd name="connsiteX5-209" fmla="*/ 1375709 w 1435854"/>
              <a:gd name="connsiteY5-210" fmla="*/ 948852 h 1891248"/>
              <a:gd name="connsiteX6-211" fmla="*/ 1402449 w 1435854"/>
              <a:gd name="connsiteY6-212" fmla="*/ 69522 h 1891248"/>
              <a:gd name="connsiteX7-213" fmla="*/ 221605 w 1435854"/>
              <a:gd name="connsiteY7-214" fmla="*/ 47778 h 1891248"/>
              <a:gd name="connsiteX8-215" fmla="*/ 126587 w 1435854"/>
              <a:gd name="connsiteY8-216" fmla="*/ 353278 h 1891248"/>
              <a:gd name="connsiteX0-217" fmla="*/ 35803 w 1453152"/>
              <a:gd name="connsiteY0-218" fmla="*/ 439993 h 1896181"/>
              <a:gd name="connsiteX1-219" fmla="*/ 18740 w 1453152"/>
              <a:gd name="connsiteY1-220" fmla="*/ 1122579 h 1896181"/>
              <a:gd name="connsiteX2-221" fmla="*/ 232695 w 1453152"/>
              <a:gd name="connsiteY2-222" fmla="*/ 1559284 h 1896181"/>
              <a:gd name="connsiteX3-223" fmla="*/ 1051561 w 1453152"/>
              <a:gd name="connsiteY3-224" fmla="*/ 1826628 h 1896181"/>
              <a:gd name="connsiteX4-225" fmla="*/ 1435226 w 1453152"/>
              <a:gd name="connsiteY4-226" fmla="*/ 1817827 h 1896181"/>
              <a:gd name="connsiteX5-227" fmla="*/ 1393007 w 1453152"/>
              <a:gd name="connsiteY5-228" fmla="*/ 953785 h 1896181"/>
              <a:gd name="connsiteX6-229" fmla="*/ 1419747 w 1453152"/>
              <a:gd name="connsiteY6-230" fmla="*/ 74455 h 1896181"/>
              <a:gd name="connsiteX7-231" fmla="*/ 238903 w 1453152"/>
              <a:gd name="connsiteY7-232" fmla="*/ 52711 h 1896181"/>
              <a:gd name="connsiteX8-233" fmla="*/ 35803 w 1453152"/>
              <a:gd name="connsiteY8-234" fmla="*/ 439993 h 1896181"/>
              <a:gd name="connsiteX0-235" fmla="*/ 35803 w 1447873"/>
              <a:gd name="connsiteY0-236" fmla="*/ 439993 h 1952840"/>
              <a:gd name="connsiteX1-237" fmla="*/ 18740 w 1447873"/>
              <a:gd name="connsiteY1-238" fmla="*/ 1122579 h 1952840"/>
              <a:gd name="connsiteX2-239" fmla="*/ 232695 w 1447873"/>
              <a:gd name="connsiteY2-240" fmla="*/ 1559284 h 1952840"/>
              <a:gd name="connsiteX3-241" fmla="*/ 1130848 w 1447873"/>
              <a:gd name="connsiteY3-242" fmla="*/ 1925181 h 1952840"/>
              <a:gd name="connsiteX4-243" fmla="*/ 1435226 w 1447873"/>
              <a:gd name="connsiteY4-244" fmla="*/ 1817827 h 1952840"/>
              <a:gd name="connsiteX5-245" fmla="*/ 1393007 w 1447873"/>
              <a:gd name="connsiteY5-246" fmla="*/ 953785 h 1952840"/>
              <a:gd name="connsiteX6-247" fmla="*/ 1419747 w 1447873"/>
              <a:gd name="connsiteY6-248" fmla="*/ 74455 h 1952840"/>
              <a:gd name="connsiteX7-249" fmla="*/ 238903 w 1447873"/>
              <a:gd name="connsiteY7-250" fmla="*/ 52711 h 1952840"/>
              <a:gd name="connsiteX8-251" fmla="*/ 35803 w 1447873"/>
              <a:gd name="connsiteY8-252" fmla="*/ 439993 h 195284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grpSp>
        <p:nvGrpSpPr>
          <p:cNvPr id="374" name="Group 373"/>
          <p:cNvGrpSpPr/>
          <p:nvPr/>
        </p:nvGrpSpPr>
        <p:grpSpPr>
          <a:xfrm>
            <a:off x="10837700" y="3928050"/>
            <a:ext cx="687393" cy="721548"/>
            <a:chOff x="5203089" y="1751190"/>
            <a:chExt cx="858331" cy="662414"/>
          </a:xfrm>
        </p:grpSpPr>
        <p:sp>
          <p:nvSpPr>
            <p:cNvPr id="382" name="Freeform 381"/>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1" fmla="*/ 3618 w 651290"/>
                <a:gd name="connsiteY0-2" fmla="*/ 593378 h 593378"/>
                <a:gd name="connsiteX1-3" fmla="*/ 0 w 651290"/>
                <a:gd name="connsiteY1-4" fmla="*/ 242416 h 593378"/>
                <a:gd name="connsiteX2-5" fmla="*/ 423338 w 651290"/>
                <a:gd name="connsiteY2-6" fmla="*/ 101308 h 593378"/>
                <a:gd name="connsiteX3-7" fmla="*/ 647672 w 651290"/>
                <a:gd name="connsiteY3-8" fmla="*/ 0 h 593378"/>
                <a:gd name="connsiteX4-9" fmla="*/ 651290 w 651290"/>
                <a:gd name="connsiteY4-10" fmla="*/ 593378 h 593378"/>
                <a:gd name="connsiteX5-11" fmla="*/ 3618 w 651290"/>
                <a:gd name="connsiteY5-12" fmla="*/ 593378 h 593378"/>
                <a:gd name="connsiteX0-13" fmla="*/ 3618 w 651290"/>
                <a:gd name="connsiteY0-14" fmla="*/ 662124 h 662124"/>
                <a:gd name="connsiteX1-15" fmla="*/ 0 w 651290"/>
                <a:gd name="connsiteY1-16" fmla="*/ 311162 h 662124"/>
                <a:gd name="connsiteX2-17" fmla="*/ 376300 w 651290"/>
                <a:gd name="connsiteY2-18" fmla="*/ 0 h 662124"/>
                <a:gd name="connsiteX3-19" fmla="*/ 647672 w 651290"/>
                <a:gd name="connsiteY3-20" fmla="*/ 68746 h 662124"/>
                <a:gd name="connsiteX4-21" fmla="*/ 651290 w 651290"/>
                <a:gd name="connsiteY4-22" fmla="*/ 662124 h 662124"/>
                <a:gd name="connsiteX5-23" fmla="*/ 3618 w 651290"/>
                <a:gd name="connsiteY5-24" fmla="*/ 662124 h 662124"/>
                <a:gd name="connsiteX0-25" fmla="*/ 0 w 647672"/>
                <a:gd name="connsiteY0-26" fmla="*/ 662124 h 662124"/>
                <a:gd name="connsiteX1-27" fmla="*/ 123021 w 647672"/>
                <a:gd name="connsiteY1-28" fmla="*/ 83217 h 662124"/>
                <a:gd name="connsiteX2-29" fmla="*/ 372682 w 647672"/>
                <a:gd name="connsiteY2-30" fmla="*/ 0 h 662124"/>
                <a:gd name="connsiteX3-31" fmla="*/ 644054 w 647672"/>
                <a:gd name="connsiteY3-32" fmla="*/ 68746 h 662124"/>
                <a:gd name="connsiteX4-33" fmla="*/ 647672 w 647672"/>
                <a:gd name="connsiteY4-34" fmla="*/ 662124 h 662124"/>
                <a:gd name="connsiteX5-35" fmla="*/ 0 w 647672"/>
                <a:gd name="connsiteY5-36" fmla="*/ 662124 h 662124"/>
                <a:gd name="connsiteX0-37" fmla="*/ 7238 w 524651"/>
                <a:gd name="connsiteY0-38" fmla="*/ 669360 h 669360"/>
                <a:gd name="connsiteX1-39" fmla="*/ 0 w 524651"/>
                <a:gd name="connsiteY1-40" fmla="*/ 83217 h 669360"/>
                <a:gd name="connsiteX2-41" fmla="*/ 249661 w 524651"/>
                <a:gd name="connsiteY2-42" fmla="*/ 0 h 669360"/>
                <a:gd name="connsiteX3-43" fmla="*/ 521033 w 524651"/>
                <a:gd name="connsiteY3-44" fmla="*/ 68746 h 669360"/>
                <a:gd name="connsiteX4-45" fmla="*/ 524651 w 524651"/>
                <a:gd name="connsiteY4-46" fmla="*/ 662124 h 669360"/>
                <a:gd name="connsiteX5-47" fmla="*/ 7238 w 524651"/>
                <a:gd name="connsiteY5-48" fmla="*/ 669360 h 669360"/>
                <a:gd name="connsiteX0-49" fmla="*/ 438 w 528706"/>
                <a:gd name="connsiteY0-50" fmla="*/ 665742 h 665742"/>
                <a:gd name="connsiteX1-51" fmla="*/ 4055 w 528706"/>
                <a:gd name="connsiteY1-52" fmla="*/ 83217 h 665742"/>
                <a:gd name="connsiteX2-53" fmla="*/ 253716 w 528706"/>
                <a:gd name="connsiteY2-54" fmla="*/ 0 h 665742"/>
                <a:gd name="connsiteX3-55" fmla="*/ 525088 w 528706"/>
                <a:gd name="connsiteY3-56" fmla="*/ 68746 h 665742"/>
                <a:gd name="connsiteX4-57" fmla="*/ 528706 w 528706"/>
                <a:gd name="connsiteY4-58" fmla="*/ 662124 h 665742"/>
                <a:gd name="connsiteX5-59" fmla="*/ 438 w 528706"/>
                <a:gd name="connsiteY5-60" fmla="*/ 665742 h 665742"/>
                <a:gd name="connsiteX0-61" fmla="*/ 155 w 546514"/>
                <a:gd name="connsiteY0-62" fmla="*/ 662124 h 662124"/>
                <a:gd name="connsiteX1-63" fmla="*/ 21863 w 546514"/>
                <a:gd name="connsiteY1-64" fmla="*/ 83217 h 662124"/>
                <a:gd name="connsiteX2-65" fmla="*/ 271524 w 546514"/>
                <a:gd name="connsiteY2-66" fmla="*/ 0 h 662124"/>
                <a:gd name="connsiteX3-67" fmla="*/ 542896 w 546514"/>
                <a:gd name="connsiteY3-68" fmla="*/ 68746 h 662124"/>
                <a:gd name="connsiteX4-69" fmla="*/ 546514 w 546514"/>
                <a:gd name="connsiteY4-70" fmla="*/ 662124 h 662124"/>
                <a:gd name="connsiteX5-71" fmla="*/ 155 w 546514"/>
                <a:gd name="connsiteY5-72" fmla="*/ 662124 h 662124"/>
                <a:gd name="connsiteX0-73" fmla="*/ 10856 w 524651"/>
                <a:gd name="connsiteY0-74" fmla="*/ 658506 h 662124"/>
                <a:gd name="connsiteX1-75" fmla="*/ 0 w 524651"/>
                <a:gd name="connsiteY1-76" fmla="*/ 83217 h 662124"/>
                <a:gd name="connsiteX2-77" fmla="*/ 249661 w 524651"/>
                <a:gd name="connsiteY2-78" fmla="*/ 0 h 662124"/>
                <a:gd name="connsiteX3-79" fmla="*/ 521033 w 524651"/>
                <a:gd name="connsiteY3-80" fmla="*/ 68746 h 662124"/>
                <a:gd name="connsiteX4-81" fmla="*/ 524651 w 524651"/>
                <a:gd name="connsiteY4-82" fmla="*/ 662124 h 662124"/>
                <a:gd name="connsiteX5-83" fmla="*/ 10856 w 524651"/>
                <a:gd name="connsiteY5-84" fmla="*/ 658506 h 66212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383" name="Freeform 382"/>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cxnSp>
          <p:nvCxnSpPr>
            <p:cNvPr id="384" name="Straight Connector 383"/>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p:cNvGrpSpPr/>
          <p:nvPr/>
        </p:nvGrpSpPr>
        <p:grpSpPr>
          <a:xfrm>
            <a:off x="10771171" y="3194171"/>
            <a:ext cx="594613" cy="648336"/>
            <a:chOff x="5203089" y="1751190"/>
            <a:chExt cx="858331" cy="662414"/>
          </a:xfrm>
        </p:grpSpPr>
        <p:sp>
          <p:nvSpPr>
            <p:cNvPr id="399" name="Freeform 398"/>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1" fmla="*/ 3618 w 651290"/>
                <a:gd name="connsiteY0-2" fmla="*/ 593378 h 593378"/>
                <a:gd name="connsiteX1-3" fmla="*/ 0 w 651290"/>
                <a:gd name="connsiteY1-4" fmla="*/ 242416 h 593378"/>
                <a:gd name="connsiteX2-5" fmla="*/ 423338 w 651290"/>
                <a:gd name="connsiteY2-6" fmla="*/ 101308 h 593378"/>
                <a:gd name="connsiteX3-7" fmla="*/ 647672 w 651290"/>
                <a:gd name="connsiteY3-8" fmla="*/ 0 h 593378"/>
                <a:gd name="connsiteX4-9" fmla="*/ 651290 w 651290"/>
                <a:gd name="connsiteY4-10" fmla="*/ 593378 h 593378"/>
                <a:gd name="connsiteX5-11" fmla="*/ 3618 w 651290"/>
                <a:gd name="connsiteY5-12" fmla="*/ 593378 h 593378"/>
                <a:gd name="connsiteX0-13" fmla="*/ 3618 w 651290"/>
                <a:gd name="connsiteY0-14" fmla="*/ 662124 h 662124"/>
                <a:gd name="connsiteX1-15" fmla="*/ 0 w 651290"/>
                <a:gd name="connsiteY1-16" fmla="*/ 311162 h 662124"/>
                <a:gd name="connsiteX2-17" fmla="*/ 376300 w 651290"/>
                <a:gd name="connsiteY2-18" fmla="*/ 0 h 662124"/>
                <a:gd name="connsiteX3-19" fmla="*/ 647672 w 651290"/>
                <a:gd name="connsiteY3-20" fmla="*/ 68746 h 662124"/>
                <a:gd name="connsiteX4-21" fmla="*/ 651290 w 651290"/>
                <a:gd name="connsiteY4-22" fmla="*/ 662124 h 662124"/>
                <a:gd name="connsiteX5-23" fmla="*/ 3618 w 651290"/>
                <a:gd name="connsiteY5-24" fmla="*/ 662124 h 662124"/>
                <a:gd name="connsiteX0-25" fmla="*/ 0 w 647672"/>
                <a:gd name="connsiteY0-26" fmla="*/ 662124 h 662124"/>
                <a:gd name="connsiteX1-27" fmla="*/ 123021 w 647672"/>
                <a:gd name="connsiteY1-28" fmla="*/ 83217 h 662124"/>
                <a:gd name="connsiteX2-29" fmla="*/ 372682 w 647672"/>
                <a:gd name="connsiteY2-30" fmla="*/ 0 h 662124"/>
                <a:gd name="connsiteX3-31" fmla="*/ 644054 w 647672"/>
                <a:gd name="connsiteY3-32" fmla="*/ 68746 h 662124"/>
                <a:gd name="connsiteX4-33" fmla="*/ 647672 w 647672"/>
                <a:gd name="connsiteY4-34" fmla="*/ 662124 h 662124"/>
                <a:gd name="connsiteX5-35" fmla="*/ 0 w 647672"/>
                <a:gd name="connsiteY5-36" fmla="*/ 662124 h 662124"/>
                <a:gd name="connsiteX0-37" fmla="*/ 7238 w 524651"/>
                <a:gd name="connsiteY0-38" fmla="*/ 669360 h 669360"/>
                <a:gd name="connsiteX1-39" fmla="*/ 0 w 524651"/>
                <a:gd name="connsiteY1-40" fmla="*/ 83217 h 669360"/>
                <a:gd name="connsiteX2-41" fmla="*/ 249661 w 524651"/>
                <a:gd name="connsiteY2-42" fmla="*/ 0 h 669360"/>
                <a:gd name="connsiteX3-43" fmla="*/ 521033 w 524651"/>
                <a:gd name="connsiteY3-44" fmla="*/ 68746 h 669360"/>
                <a:gd name="connsiteX4-45" fmla="*/ 524651 w 524651"/>
                <a:gd name="connsiteY4-46" fmla="*/ 662124 h 669360"/>
                <a:gd name="connsiteX5-47" fmla="*/ 7238 w 524651"/>
                <a:gd name="connsiteY5-48" fmla="*/ 669360 h 669360"/>
                <a:gd name="connsiteX0-49" fmla="*/ 438 w 528706"/>
                <a:gd name="connsiteY0-50" fmla="*/ 665742 h 665742"/>
                <a:gd name="connsiteX1-51" fmla="*/ 4055 w 528706"/>
                <a:gd name="connsiteY1-52" fmla="*/ 83217 h 665742"/>
                <a:gd name="connsiteX2-53" fmla="*/ 253716 w 528706"/>
                <a:gd name="connsiteY2-54" fmla="*/ 0 h 665742"/>
                <a:gd name="connsiteX3-55" fmla="*/ 525088 w 528706"/>
                <a:gd name="connsiteY3-56" fmla="*/ 68746 h 665742"/>
                <a:gd name="connsiteX4-57" fmla="*/ 528706 w 528706"/>
                <a:gd name="connsiteY4-58" fmla="*/ 662124 h 665742"/>
                <a:gd name="connsiteX5-59" fmla="*/ 438 w 528706"/>
                <a:gd name="connsiteY5-60" fmla="*/ 665742 h 665742"/>
                <a:gd name="connsiteX0-61" fmla="*/ 155 w 546514"/>
                <a:gd name="connsiteY0-62" fmla="*/ 662124 h 662124"/>
                <a:gd name="connsiteX1-63" fmla="*/ 21863 w 546514"/>
                <a:gd name="connsiteY1-64" fmla="*/ 83217 h 662124"/>
                <a:gd name="connsiteX2-65" fmla="*/ 271524 w 546514"/>
                <a:gd name="connsiteY2-66" fmla="*/ 0 h 662124"/>
                <a:gd name="connsiteX3-67" fmla="*/ 542896 w 546514"/>
                <a:gd name="connsiteY3-68" fmla="*/ 68746 h 662124"/>
                <a:gd name="connsiteX4-69" fmla="*/ 546514 w 546514"/>
                <a:gd name="connsiteY4-70" fmla="*/ 662124 h 662124"/>
                <a:gd name="connsiteX5-71" fmla="*/ 155 w 546514"/>
                <a:gd name="connsiteY5-72" fmla="*/ 662124 h 662124"/>
                <a:gd name="connsiteX0-73" fmla="*/ 10856 w 524651"/>
                <a:gd name="connsiteY0-74" fmla="*/ 658506 h 662124"/>
                <a:gd name="connsiteX1-75" fmla="*/ 0 w 524651"/>
                <a:gd name="connsiteY1-76" fmla="*/ 83217 h 662124"/>
                <a:gd name="connsiteX2-77" fmla="*/ 249661 w 524651"/>
                <a:gd name="connsiteY2-78" fmla="*/ 0 h 662124"/>
                <a:gd name="connsiteX3-79" fmla="*/ 521033 w 524651"/>
                <a:gd name="connsiteY3-80" fmla="*/ 68746 h 662124"/>
                <a:gd name="connsiteX4-81" fmla="*/ 524651 w 524651"/>
                <a:gd name="connsiteY4-82" fmla="*/ 662124 h 662124"/>
                <a:gd name="connsiteX5-83" fmla="*/ 10856 w 524651"/>
                <a:gd name="connsiteY5-84" fmla="*/ 658506 h 66212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400" name="Freeform 399"/>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cxnSp>
          <p:nvCxnSpPr>
            <p:cNvPr id="401" name="Straight Connector 400"/>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1" fmla="*/ 434989 w 1537226"/>
              <a:gd name="connsiteY0-2" fmla="*/ 253346 h 1763594"/>
              <a:gd name="connsiteX1-3" fmla="*/ 488 w 1537226"/>
              <a:gd name="connsiteY1-4" fmla="*/ 921706 h 1763594"/>
              <a:gd name="connsiteX2-5" fmla="*/ 368142 w 1537226"/>
              <a:gd name="connsiteY2-6" fmla="*/ 1489812 h 1763594"/>
              <a:gd name="connsiteX3-7" fmla="*/ 1187008 w 1537226"/>
              <a:gd name="connsiteY3-8" fmla="*/ 1757156 h 1763594"/>
              <a:gd name="connsiteX4-9" fmla="*/ 1521239 w 1537226"/>
              <a:gd name="connsiteY4-10" fmla="*/ 1239177 h 1763594"/>
              <a:gd name="connsiteX5-11" fmla="*/ 1468998 w 1537226"/>
              <a:gd name="connsiteY5-12" fmla="*/ 654362 h 1763594"/>
              <a:gd name="connsiteX6-13" fmla="*/ 1337412 w 1537226"/>
              <a:gd name="connsiteY6-14" fmla="*/ 136383 h 1763594"/>
              <a:gd name="connsiteX7-15" fmla="*/ 1086739 w 1537226"/>
              <a:gd name="connsiteY7-16" fmla="*/ 2711 h 1763594"/>
              <a:gd name="connsiteX8-17" fmla="*/ 434989 w 1537226"/>
              <a:gd name="connsiteY8-18" fmla="*/ 253346 h 1763594"/>
              <a:gd name="connsiteX0-19" fmla="*/ 434989 w 1537226"/>
              <a:gd name="connsiteY0-20" fmla="*/ 253346 h 1763594"/>
              <a:gd name="connsiteX1-21" fmla="*/ 488 w 1537226"/>
              <a:gd name="connsiteY1-22" fmla="*/ 921706 h 1763594"/>
              <a:gd name="connsiteX2-23" fmla="*/ 368142 w 1537226"/>
              <a:gd name="connsiteY2-24" fmla="*/ 1489812 h 1763594"/>
              <a:gd name="connsiteX3-25" fmla="*/ 1187008 w 1537226"/>
              <a:gd name="connsiteY3-26" fmla="*/ 1757156 h 1763594"/>
              <a:gd name="connsiteX4-27" fmla="*/ 1521239 w 1537226"/>
              <a:gd name="connsiteY4-28" fmla="*/ 1239177 h 1763594"/>
              <a:gd name="connsiteX5-29" fmla="*/ 1468998 w 1537226"/>
              <a:gd name="connsiteY5-30" fmla="*/ 654362 h 1763594"/>
              <a:gd name="connsiteX6-31" fmla="*/ 1337412 w 1537226"/>
              <a:gd name="connsiteY6-32" fmla="*/ 136383 h 1763594"/>
              <a:gd name="connsiteX7-33" fmla="*/ 839572 w 1537226"/>
              <a:gd name="connsiteY7-34" fmla="*/ 2711 h 1763594"/>
              <a:gd name="connsiteX8-35" fmla="*/ 434989 w 1537226"/>
              <a:gd name="connsiteY8-36" fmla="*/ 253346 h 1763594"/>
              <a:gd name="connsiteX0-37" fmla="*/ 360357 w 1536743"/>
              <a:gd name="connsiteY0-38" fmla="*/ 534641 h 1782088"/>
              <a:gd name="connsiteX1-39" fmla="*/ 5 w 1536743"/>
              <a:gd name="connsiteY1-40" fmla="*/ 940200 h 1782088"/>
              <a:gd name="connsiteX2-41" fmla="*/ 367659 w 1536743"/>
              <a:gd name="connsiteY2-42" fmla="*/ 1508306 h 1782088"/>
              <a:gd name="connsiteX3-43" fmla="*/ 1186525 w 1536743"/>
              <a:gd name="connsiteY3-44" fmla="*/ 1775650 h 1782088"/>
              <a:gd name="connsiteX4-45" fmla="*/ 1520756 w 1536743"/>
              <a:gd name="connsiteY4-46" fmla="*/ 1257671 h 1782088"/>
              <a:gd name="connsiteX5-47" fmla="*/ 1468515 w 1536743"/>
              <a:gd name="connsiteY5-48" fmla="*/ 672856 h 1782088"/>
              <a:gd name="connsiteX6-49" fmla="*/ 1336929 w 1536743"/>
              <a:gd name="connsiteY6-50" fmla="*/ 154877 h 1782088"/>
              <a:gd name="connsiteX7-51" fmla="*/ 839089 w 1536743"/>
              <a:gd name="connsiteY7-52" fmla="*/ 21205 h 1782088"/>
              <a:gd name="connsiteX8-53" fmla="*/ 360357 w 1536743"/>
              <a:gd name="connsiteY8-54" fmla="*/ 534641 h 1782088"/>
              <a:gd name="connsiteX0-55" fmla="*/ 360355 w 1536741"/>
              <a:gd name="connsiteY0-56" fmla="*/ 534641 h 1782088"/>
              <a:gd name="connsiteX1-57" fmla="*/ 3 w 1536741"/>
              <a:gd name="connsiteY1-58" fmla="*/ 940200 h 1782088"/>
              <a:gd name="connsiteX2-59" fmla="*/ 367657 w 1536741"/>
              <a:gd name="connsiteY2-60" fmla="*/ 1508306 h 1782088"/>
              <a:gd name="connsiteX3-61" fmla="*/ 1186523 w 1536741"/>
              <a:gd name="connsiteY3-62" fmla="*/ 1775650 h 1782088"/>
              <a:gd name="connsiteX4-63" fmla="*/ 1520754 w 1536741"/>
              <a:gd name="connsiteY4-64" fmla="*/ 1257671 h 1782088"/>
              <a:gd name="connsiteX5-65" fmla="*/ 1468513 w 1536741"/>
              <a:gd name="connsiteY5-66" fmla="*/ 672856 h 1782088"/>
              <a:gd name="connsiteX6-67" fmla="*/ 1336927 w 1536741"/>
              <a:gd name="connsiteY6-68" fmla="*/ 154877 h 1782088"/>
              <a:gd name="connsiteX7-69" fmla="*/ 839087 w 1536741"/>
              <a:gd name="connsiteY7-70" fmla="*/ 21205 h 1782088"/>
              <a:gd name="connsiteX8-71" fmla="*/ 360355 w 1536741"/>
              <a:gd name="connsiteY8-72" fmla="*/ 534641 h 1782088"/>
              <a:gd name="connsiteX0-73" fmla="*/ 360355 w 1494463"/>
              <a:gd name="connsiteY0-74" fmla="*/ 534641 h 1775651"/>
              <a:gd name="connsiteX1-75" fmla="*/ 3 w 1494463"/>
              <a:gd name="connsiteY1-76" fmla="*/ 940200 h 1775651"/>
              <a:gd name="connsiteX2-77" fmla="*/ 367657 w 1494463"/>
              <a:gd name="connsiteY2-78" fmla="*/ 1508306 h 1775651"/>
              <a:gd name="connsiteX3-79" fmla="*/ 1186523 w 1494463"/>
              <a:gd name="connsiteY3-80" fmla="*/ 1775650 h 1775651"/>
              <a:gd name="connsiteX4-81" fmla="*/ 1467465 w 1494463"/>
              <a:gd name="connsiteY4-82" fmla="*/ 1510813 h 1775651"/>
              <a:gd name="connsiteX5-83" fmla="*/ 1468513 w 1494463"/>
              <a:gd name="connsiteY5-84" fmla="*/ 672856 h 1775651"/>
              <a:gd name="connsiteX6-85" fmla="*/ 1336927 w 1494463"/>
              <a:gd name="connsiteY6-86" fmla="*/ 154877 h 1775651"/>
              <a:gd name="connsiteX7-87" fmla="*/ 839087 w 1494463"/>
              <a:gd name="connsiteY7-88" fmla="*/ 21205 h 1775651"/>
              <a:gd name="connsiteX8-89" fmla="*/ 360355 w 1494463"/>
              <a:gd name="connsiteY8-90" fmla="*/ 534641 h 1775651"/>
              <a:gd name="connsiteX0-91" fmla="*/ 360355 w 1491064"/>
              <a:gd name="connsiteY0-92" fmla="*/ 552327 h 1793337"/>
              <a:gd name="connsiteX1-93" fmla="*/ 3 w 1491064"/>
              <a:gd name="connsiteY1-94" fmla="*/ 957886 h 1793337"/>
              <a:gd name="connsiteX2-95" fmla="*/ 367657 w 1491064"/>
              <a:gd name="connsiteY2-96" fmla="*/ 1525992 h 1793337"/>
              <a:gd name="connsiteX3-97" fmla="*/ 1186523 w 1491064"/>
              <a:gd name="connsiteY3-98" fmla="*/ 1793336 h 1793337"/>
              <a:gd name="connsiteX4-99" fmla="*/ 1467465 w 1491064"/>
              <a:gd name="connsiteY4-100" fmla="*/ 1528499 h 1793337"/>
              <a:gd name="connsiteX5-101" fmla="*/ 1468513 w 1491064"/>
              <a:gd name="connsiteY5-102" fmla="*/ 690542 h 1793337"/>
              <a:gd name="connsiteX6-103" fmla="*/ 1407977 w 1491064"/>
              <a:gd name="connsiteY6-104" fmla="*/ 109278 h 1793337"/>
              <a:gd name="connsiteX7-105" fmla="*/ 839087 w 1491064"/>
              <a:gd name="connsiteY7-106" fmla="*/ 38891 h 1793337"/>
              <a:gd name="connsiteX8-107" fmla="*/ 360355 w 1491064"/>
              <a:gd name="connsiteY8-108" fmla="*/ 552327 h 1793337"/>
              <a:gd name="connsiteX0-109" fmla="*/ 360355 w 1502818"/>
              <a:gd name="connsiteY0-110" fmla="*/ 552327 h 1612281"/>
              <a:gd name="connsiteX1-111" fmla="*/ 3 w 1502818"/>
              <a:gd name="connsiteY1-112" fmla="*/ 957886 h 1612281"/>
              <a:gd name="connsiteX2-113" fmla="*/ 367657 w 1502818"/>
              <a:gd name="connsiteY2-114" fmla="*/ 1525992 h 1612281"/>
              <a:gd name="connsiteX3-115" fmla="*/ 1026659 w 1502818"/>
              <a:gd name="connsiteY3-116" fmla="*/ 1582385 h 1612281"/>
              <a:gd name="connsiteX4-117" fmla="*/ 1467465 w 1502818"/>
              <a:gd name="connsiteY4-118" fmla="*/ 1528499 h 1612281"/>
              <a:gd name="connsiteX5-119" fmla="*/ 1468513 w 1502818"/>
              <a:gd name="connsiteY5-120" fmla="*/ 690542 h 1612281"/>
              <a:gd name="connsiteX6-121" fmla="*/ 1407977 w 1502818"/>
              <a:gd name="connsiteY6-122" fmla="*/ 109278 h 1612281"/>
              <a:gd name="connsiteX7-123" fmla="*/ 839087 w 1502818"/>
              <a:gd name="connsiteY7-124" fmla="*/ 38891 h 1612281"/>
              <a:gd name="connsiteX8-125" fmla="*/ 360355 w 1502818"/>
              <a:gd name="connsiteY8-126" fmla="*/ 552327 h 1612281"/>
              <a:gd name="connsiteX0-127" fmla="*/ 360384 w 1502847"/>
              <a:gd name="connsiteY0-128" fmla="*/ 552327 h 1803602"/>
              <a:gd name="connsiteX1-129" fmla="*/ 32 w 1502847"/>
              <a:gd name="connsiteY1-130" fmla="*/ 957886 h 1803602"/>
              <a:gd name="connsiteX2-131" fmla="*/ 385448 w 1502847"/>
              <a:gd name="connsiteY2-132" fmla="*/ 1779134 h 1803602"/>
              <a:gd name="connsiteX3-133" fmla="*/ 1026688 w 1502847"/>
              <a:gd name="connsiteY3-134" fmla="*/ 1582385 h 1803602"/>
              <a:gd name="connsiteX4-135" fmla="*/ 1467494 w 1502847"/>
              <a:gd name="connsiteY4-136" fmla="*/ 1528499 h 1803602"/>
              <a:gd name="connsiteX5-137" fmla="*/ 1468542 w 1502847"/>
              <a:gd name="connsiteY5-138" fmla="*/ 690542 h 1803602"/>
              <a:gd name="connsiteX6-139" fmla="*/ 1408006 w 1502847"/>
              <a:gd name="connsiteY6-140" fmla="*/ 109278 h 1803602"/>
              <a:gd name="connsiteX7-141" fmla="*/ 839116 w 1502847"/>
              <a:gd name="connsiteY7-142" fmla="*/ 38891 h 1803602"/>
              <a:gd name="connsiteX8-143" fmla="*/ 360384 w 1502847"/>
              <a:gd name="connsiteY8-144" fmla="*/ 552327 h 1803602"/>
              <a:gd name="connsiteX0-145" fmla="*/ 360384 w 1502847"/>
              <a:gd name="connsiteY0-146" fmla="*/ 552327 h 1826319"/>
              <a:gd name="connsiteX1-147" fmla="*/ 32 w 1502847"/>
              <a:gd name="connsiteY1-148" fmla="*/ 957886 h 1826319"/>
              <a:gd name="connsiteX2-149" fmla="*/ 385448 w 1502847"/>
              <a:gd name="connsiteY2-150" fmla="*/ 1779134 h 1826319"/>
              <a:gd name="connsiteX3-151" fmla="*/ 1026688 w 1502847"/>
              <a:gd name="connsiteY3-152" fmla="*/ 1582385 h 1826319"/>
              <a:gd name="connsiteX4-153" fmla="*/ 1467494 w 1502847"/>
              <a:gd name="connsiteY4-154" fmla="*/ 1528499 h 1826319"/>
              <a:gd name="connsiteX5-155" fmla="*/ 1468542 w 1502847"/>
              <a:gd name="connsiteY5-156" fmla="*/ 690542 h 1826319"/>
              <a:gd name="connsiteX6-157" fmla="*/ 1408006 w 1502847"/>
              <a:gd name="connsiteY6-158" fmla="*/ 109278 h 1826319"/>
              <a:gd name="connsiteX7-159" fmla="*/ 839116 w 1502847"/>
              <a:gd name="connsiteY7-160" fmla="*/ 38891 h 1826319"/>
              <a:gd name="connsiteX8-161" fmla="*/ 360384 w 1502847"/>
              <a:gd name="connsiteY8-162" fmla="*/ 552327 h 1826319"/>
              <a:gd name="connsiteX0-163" fmla="*/ 289852 w 1503366"/>
              <a:gd name="connsiteY0-164" fmla="*/ 461730 h 1820101"/>
              <a:gd name="connsiteX1-165" fmla="*/ 551 w 1503366"/>
              <a:gd name="connsiteY1-166" fmla="*/ 951668 h 1820101"/>
              <a:gd name="connsiteX2-167" fmla="*/ 385967 w 1503366"/>
              <a:gd name="connsiteY2-168" fmla="*/ 1772916 h 1820101"/>
              <a:gd name="connsiteX3-169" fmla="*/ 1027207 w 1503366"/>
              <a:gd name="connsiteY3-170" fmla="*/ 1576167 h 1820101"/>
              <a:gd name="connsiteX4-171" fmla="*/ 1468013 w 1503366"/>
              <a:gd name="connsiteY4-172" fmla="*/ 1522281 h 1820101"/>
              <a:gd name="connsiteX5-173" fmla="*/ 1469061 w 1503366"/>
              <a:gd name="connsiteY5-174" fmla="*/ 684324 h 1820101"/>
              <a:gd name="connsiteX6-175" fmla="*/ 1408525 w 1503366"/>
              <a:gd name="connsiteY6-176" fmla="*/ 103060 h 1820101"/>
              <a:gd name="connsiteX7-177" fmla="*/ 839635 w 1503366"/>
              <a:gd name="connsiteY7-178" fmla="*/ 32673 h 1820101"/>
              <a:gd name="connsiteX8-179" fmla="*/ 289852 w 1503366"/>
              <a:gd name="connsiteY8-180" fmla="*/ 461730 h 1820101"/>
              <a:gd name="connsiteX0-181" fmla="*/ 293376 w 1506890"/>
              <a:gd name="connsiteY0-182" fmla="*/ 461730 h 1820101"/>
              <a:gd name="connsiteX1-183" fmla="*/ 4075 w 1506890"/>
              <a:gd name="connsiteY1-184" fmla="*/ 951668 h 1820101"/>
              <a:gd name="connsiteX2-185" fmla="*/ 389491 w 1506890"/>
              <a:gd name="connsiteY2-186" fmla="*/ 1772916 h 1820101"/>
              <a:gd name="connsiteX3-187" fmla="*/ 1030731 w 1506890"/>
              <a:gd name="connsiteY3-188" fmla="*/ 1576167 h 1820101"/>
              <a:gd name="connsiteX4-189" fmla="*/ 1471537 w 1506890"/>
              <a:gd name="connsiteY4-190" fmla="*/ 1522281 h 1820101"/>
              <a:gd name="connsiteX5-191" fmla="*/ 1472585 w 1506890"/>
              <a:gd name="connsiteY5-192" fmla="*/ 684324 h 1820101"/>
              <a:gd name="connsiteX6-193" fmla="*/ 1412049 w 1506890"/>
              <a:gd name="connsiteY6-194" fmla="*/ 103060 h 1820101"/>
              <a:gd name="connsiteX7-195" fmla="*/ 843159 w 1506890"/>
              <a:gd name="connsiteY7-196" fmla="*/ 32673 h 1820101"/>
              <a:gd name="connsiteX8-197" fmla="*/ 293376 w 1506890"/>
              <a:gd name="connsiteY8-198" fmla="*/ 461730 h 1820101"/>
              <a:gd name="connsiteX0-199" fmla="*/ 203955 w 1545103"/>
              <a:gd name="connsiteY0-200" fmla="*/ 206126 h 1802639"/>
              <a:gd name="connsiteX1-201" fmla="*/ 42288 w 1545103"/>
              <a:gd name="connsiteY1-202" fmla="*/ 934206 h 1802639"/>
              <a:gd name="connsiteX2-203" fmla="*/ 427704 w 1545103"/>
              <a:gd name="connsiteY2-204" fmla="*/ 1755454 h 1802639"/>
              <a:gd name="connsiteX3-205" fmla="*/ 1068944 w 1545103"/>
              <a:gd name="connsiteY3-206" fmla="*/ 1558705 h 1802639"/>
              <a:gd name="connsiteX4-207" fmla="*/ 1509750 w 1545103"/>
              <a:gd name="connsiteY4-208" fmla="*/ 1504819 h 1802639"/>
              <a:gd name="connsiteX5-209" fmla="*/ 1510798 w 1545103"/>
              <a:gd name="connsiteY5-210" fmla="*/ 666862 h 1802639"/>
              <a:gd name="connsiteX6-211" fmla="*/ 1450262 w 1545103"/>
              <a:gd name="connsiteY6-212" fmla="*/ 85598 h 1802639"/>
              <a:gd name="connsiteX7-213" fmla="*/ 881372 w 1545103"/>
              <a:gd name="connsiteY7-214" fmla="*/ 15211 h 1802639"/>
              <a:gd name="connsiteX8-215" fmla="*/ 203955 w 1545103"/>
              <a:gd name="connsiteY8-216" fmla="*/ 206126 h 1802639"/>
              <a:gd name="connsiteX0-217" fmla="*/ 147252 w 1634267"/>
              <a:gd name="connsiteY0-218" fmla="*/ 113266 h 1796376"/>
              <a:gd name="connsiteX1-219" fmla="*/ 131452 w 1634267"/>
              <a:gd name="connsiteY1-220" fmla="*/ 927943 h 1796376"/>
              <a:gd name="connsiteX2-221" fmla="*/ 516868 w 1634267"/>
              <a:gd name="connsiteY2-222" fmla="*/ 1749191 h 1796376"/>
              <a:gd name="connsiteX3-223" fmla="*/ 1158108 w 1634267"/>
              <a:gd name="connsiteY3-224" fmla="*/ 1552442 h 1796376"/>
              <a:gd name="connsiteX4-225" fmla="*/ 1598914 w 1634267"/>
              <a:gd name="connsiteY4-226" fmla="*/ 1498556 h 1796376"/>
              <a:gd name="connsiteX5-227" fmla="*/ 1599962 w 1634267"/>
              <a:gd name="connsiteY5-228" fmla="*/ 660599 h 1796376"/>
              <a:gd name="connsiteX6-229" fmla="*/ 1539426 w 1634267"/>
              <a:gd name="connsiteY6-230" fmla="*/ 79335 h 1796376"/>
              <a:gd name="connsiteX7-231" fmla="*/ 970536 w 1634267"/>
              <a:gd name="connsiteY7-232" fmla="*/ 8948 h 1796376"/>
              <a:gd name="connsiteX8-233" fmla="*/ 147252 w 1634267"/>
              <a:gd name="connsiteY8-234" fmla="*/ 113266 h 179637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573" name="TextBox 572"/>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endParaRPr lang="en-US" sz="1400" dirty="0"/>
          </a:p>
        </p:txBody>
      </p:sp>
      <p:sp>
        <p:nvSpPr>
          <p:cNvPr id="655" name="Rectangle 654"/>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endParaRPr lang="en-US" sz="1400" dirty="0"/>
          </a:p>
        </p:txBody>
      </p:sp>
      <p:sp>
        <p:nvSpPr>
          <p:cNvPr id="657" name="TextBox 656"/>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endParaRPr lang="en-US" sz="1050" dirty="0"/>
          </a:p>
          <a:p>
            <a:pPr>
              <a:lnSpc>
                <a:spcPct val="90000"/>
              </a:lnSpc>
            </a:pPr>
            <a:r>
              <a:rPr lang="en-US" sz="1050" dirty="0"/>
              <a:t>network</a:t>
            </a:r>
            <a:endParaRPr lang="en-US" sz="1050" dirty="0"/>
          </a:p>
        </p:txBody>
      </p:sp>
      <p:sp>
        <p:nvSpPr>
          <p:cNvPr id="658" name="TextBox 657"/>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endParaRPr lang="en-US" sz="1400" dirty="0"/>
          </a:p>
          <a:p>
            <a:pPr>
              <a:lnSpc>
                <a:spcPct val="90000"/>
              </a:lnSpc>
            </a:pPr>
            <a:r>
              <a:rPr lang="en-US" sz="1400" dirty="0"/>
              <a:t>provider </a:t>
            </a:r>
            <a:endParaRPr lang="en-US" sz="1400" dirty="0"/>
          </a:p>
          <a:p>
            <a:pPr>
              <a:lnSpc>
                <a:spcPct val="90000"/>
              </a:lnSpc>
            </a:pPr>
            <a:r>
              <a:rPr lang="en-US" sz="1400" dirty="0"/>
              <a:t>network</a:t>
            </a:r>
            <a:endParaRPr lang="en-US" sz="1000" dirty="0"/>
          </a:p>
        </p:txBody>
      </p:sp>
      <p:cxnSp>
        <p:nvCxnSpPr>
          <p:cNvPr id="830" name="Straight Connector 829"/>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p:cNvGrpSpPr/>
          <p:nvPr/>
        </p:nvGrpSpPr>
        <p:grpSpPr>
          <a:xfrm>
            <a:off x="7562238" y="2127325"/>
            <a:ext cx="3578867" cy="3640283"/>
            <a:chOff x="7562238" y="2127325"/>
            <a:chExt cx="3578867" cy="3640283"/>
          </a:xfrm>
        </p:grpSpPr>
        <p:grpSp>
          <p:nvGrpSpPr>
            <p:cNvPr id="800" name="Group 799"/>
            <p:cNvGrpSpPr/>
            <p:nvPr/>
          </p:nvGrpSpPr>
          <p:grpSpPr>
            <a:xfrm>
              <a:off x="7857253" y="2127325"/>
              <a:ext cx="3283852" cy="3640283"/>
              <a:chOff x="7881336" y="2104198"/>
              <a:chExt cx="3283852" cy="3640283"/>
            </a:xfrm>
          </p:grpSpPr>
          <p:sp>
            <p:nvSpPr>
              <p:cNvPr id="22" name="Line 428"/>
              <p:cNvSpPr>
                <a:spLocks noChangeShapeType="1"/>
              </p:cNvSpPr>
              <p:nvPr/>
            </p:nvSpPr>
            <p:spPr bwMode="auto">
              <a:xfrm rot="16200000" flipV="1">
                <a:off x="9813692" y="5228612"/>
                <a:ext cx="388062" cy="75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24" name="Line 430"/>
              <p:cNvSpPr>
                <a:spLocks noChangeShapeType="1"/>
              </p:cNvSpPr>
              <p:nvPr/>
            </p:nvSpPr>
            <p:spPr bwMode="auto">
              <a:xfrm rot="16200000">
                <a:off x="10234009" y="5382159"/>
                <a:ext cx="0" cy="11430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p:cNvSpPr>
                <a:spLocks noChangeShapeType="1"/>
              </p:cNvSpPr>
              <p:nvPr/>
            </p:nvSpPr>
            <p:spPr bwMode="auto">
              <a:xfrm>
                <a:off x="9457042" y="4815390"/>
                <a:ext cx="524483" cy="26153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6" name="Line 432"/>
              <p:cNvSpPr>
                <a:spLocks noChangeShapeType="1"/>
              </p:cNvSpPr>
              <p:nvPr/>
            </p:nvSpPr>
            <p:spPr bwMode="auto">
              <a:xfrm flipV="1">
                <a:off x="8874149" y="4815390"/>
                <a:ext cx="569255" cy="24626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7" name="Line 433"/>
              <p:cNvSpPr>
                <a:spLocks noChangeShapeType="1"/>
              </p:cNvSpPr>
              <p:nvPr/>
            </p:nvSpPr>
            <p:spPr bwMode="auto">
              <a:xfrm flipV="1">
                <a:off x="8845827" y="5085749"/>
                <a:ext cx="1030502"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8" name="Line 435"/>
              <p:cNvSpPr>
                <a:spLocks noChangeShapeType="1"/>
              </p:cNvSpPr>
              <p:nvPr/>
            </p:nvSpPr>
            <p:spPr bwMode="auto">
              <a:xfrm>
                <a:off x="8234290" y="5094207"/>
                <a:ext cx="226800" cy="1270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dirty="0"/>
              </a:p>
            </p:txBody>
          </p:sp>
          <p:sp>
            <p:nvSpPr>
              <p:cNvPr id="29" name="Line 436"/>
              <p:cNvSpPr>
                <a:spLocks noChangeShapeType="1"/>
              </p:cNvSpPr>
              <p:nvPr/>
            </p:nvSpPr>
            <p:spPr bwMode="auto">
              <a:xfrm flipV="1">
                <a:off x="7972450" y="5267343"/>
                <a:ext cx="412750" cy="1270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0" name="Line 439"/>
              <p:cNvSpPr>
                <a:spLocks noChangeShapeType="1"/>
              </p:cNvSpPr>
              <p:nvPr/>
            </p:nvSpPr>
            <p:spPr bwMode="auto">
              <a:xfrm flipH="1">
                <a:off x="8397900" y="5259125"/>
                <a:ext cx="68080" cy="29396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1" name="Line 440"/>
              <p:cNvSpPr>
                <a:spLocks noChangeShapeType="1"/>
              </p:cNvSpPr>
              <p:nvPr/>
            </p:nvSpPr>
            <p:spPr bwMode="auto">
              <a:xfrm flipH="1" flipV="1">
                <a:off x="8512814" y="5284804"/>
                <a:ext cx="280374" cy="26987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2" name="Line 441"/>
              <p:cNvSpPr>
                <a:spLocks noChangeShapeType="1"/>
              </p:cNvSpPr>
              <p:nvPr/>
            </p:nvSpPr>
            <p:spPr bwMode="auto">
              <a:xfrm>
                <a:off x="8512814" y="5234921"/>
                <a:ext cx="914184" cy="46862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3" name="Line 443"/>
              <p:cNvSpPr>
                <a:spLocks noChangeShapeType="1"/>
              </p:cNvSpPr>
              <p:nvPr/>
            </p:nvSpPr>
            <p:spPr bwMode="auto">
              <a:xfrm>
                <a:off x="8271861" y="3806843"/>
                <a:ext cx="0" cy="13176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9" name="Line 449"/>
              <p:cNvSpPr>
                <a:spLocks noChangeShapeType="1"/>
              </p:cNvSpPr>
              <p:nvPr/>
            </p:nvSpPr>
            <p:spPr bwMode="auto">
              <a:xfrm flipV="1">
                <a:off x="7881336" y="4017980"/>
                <a:ext cx="168275"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528" name="Line 428"/>
              <p:cNvSpPr>
                <a:spLocks noChangeShapeType="1"/>
              </p:cNvSpPr>
              <p:nvPr/>
            </p:nvSpPr>
            <p:spPr bwMode="auto">
              <a:xfrm rot="16200000" flipV="1">
                <a:off x="9909628" y="5560344"/>
                <a:ext cx="366793" cy="1482"/>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537" name="Line 440"/>
              <p:cNvSpPr>
                <a:spLocks noChangeShapeType="1"/>
              </p:cNvSpPr>
              <p:nvPr/>
            </p:nvSpPr>
            <p:spPr bwMode="auto">
              <a:xfrm flipV="1">
                <a:off x="8483508" y="5013435"/>
                <a:ext cx="404236" cy="2077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cxnSp>
            <p:nvCxnSpPr>
              <p:cNvPr id="564" name="Straight Connector 563"/>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p:cNvSpPr>
                <a:spLocks noChangeShapeType="1"/>
              </p:cNvSpPr>
              <p:nvPr/>
            </p:nvSpPr>
            <p:spPr bwMode="auto">
              <a:xfrm flipV="1">
                <a:off x="9402788" y="4090252"/>
                <a:ext cx="429324" cy="70560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19" name="Line 424"/>
              <p:cNvSpPr>
                <a:spLocks noChangeShapeType="1"/>
              </p:cNvSpPr>
              <p:nvPr/>
            </p:nvSpPr>
            <p:spPr bwMode="auto">
              <a:xfrm flipV="1">
                <a:off x="8268637" y="4024329"/>
                <a:ext cx="969051"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pic>
          <p:nvPicPr>
            <p:cNvPr id="262" name="Picture 778" descr="antenna_radiation_stylized"/>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p:cNvSpPr>
              <a:spLocks noChangeArrowheads="1"/>
            </p:cNvSpPr>
            <p:nvPr/>
          </p:nvSpPr>
          <p:spPr bwMode="auto">
            <a:xfrm>
              <a:off x="8174541" y="2292995"/>
              <a:ext cx="52388" cy="49485"/>
            </a:xfrm>
            <a:prstGeom prst="ellipse">
              <a:avLst/>
            </a:prstGeom>
            <a:solidFill>
              <a:schemeClr val="tx2"/>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39" name="Line 426"/>
          <p:cNvSpPr>
            <a:spLocks noChangeShapeType="1"/>
          </p:cNvSpPr>
          <p:nvPr/>
        </p:nvSpPr>
        <p:spPr bwMode="auto">
          <a:xfrm>
            <a:off x="8207860" y="2700359"/>
            <a:ext cx="227964" cy="17435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nvGrpSpPr>
          <p:cNvPr id="241" name="Group 783"/>
          <p:cNvGrpSpPr/>
          <p:nvPr/>
        </p:nvGrpSpPr>
        <p:grpSpPr bwMode="auto">
          <a:xfrm>
            <a:off x="8050698" y="2309376"/>
            <a:ext cx="298450" cy="464008"/>
            <a:chOff x="3130" y="3288"/>
            <a:chExt cx="410" cy="742"/>
          </a:xfrm>
        </p:grpSpPr>
        <p:sp>
          <p:nvSpPr>
            <p:cNvPr id="244" name="Line 270"/>
            <p:cNvSpPr>
              <a:spLocks noChangeShapeType="1"/>
            </p:cNvSpPr>
            <p:nvPr/>
          </p:nvSpPr>
          <p:spPr bwMode="auto">
            <a:xfrm flipH="1">
              <a:off x="3130" y="3288"/>
              <a:ext cx="205" cy="6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5" name="Line 271"/>
            <p:cNvSpPr>
              <a:spLocks noChangeShapeType="1"/>
            </p:cNvSpPr>
            <p:nvPr/>
          </p:nvSpPr>
          <p:spPr bwMode="auto">
            <a:xfrm>
              <a:off x="3335" y="3288"/>
              <a:ext cx="205" cy="669"/>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6" name="Line 272"/>
            <p:cNvSpPr>
              <a:spLocks noChangeShapeType="1"/>
            </p:cNvSpPr>
            <p:nvPr/>
          </p:nvSpPr>
          <p:spPr bwMode="auto">
            <a:xfrm>
              <a:off x="3130" y="3957"/>
              <a:ext cx="205" cy="73"/>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7" name="Line 273"/>
            <p:cNvSpPr>
              <a:spLocks noChangeShapeType="1"/>
            </p:cNvSpPr>
            <p:nvPr/>
          </p:nvSpPr>
          <p:spPr bwMode="auto">
            <a:xfrm flipH="1">
              <a:off x="3335" y="3957"/>
              <a:ext cx="205" cy="73"/>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8" name="Line 274"/>
            <p:cNvSpPr>
              <a:spLocks noChangeShapeType="1"/>
            </p:cNvSpPr>
            <p:nvPr/>
          </p:nvSpPr>
          <p:spPr bwMode="auto">
            <a:xfrm>
              <a:off x="3335" y="3303"/>
              <a:ext cx="0" cy="72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9" name="Line 275"/>
            <p:cNvSpPr>
              <a:spLocks noChangeShapeType="1"/>
            </p:cNvSpPr>
            <p:nvPr/>
          </p:nvSpPr>
          <p:spPr bwMode="auto">
            <a:xfrm flipV="1">
              <a:off x="3130" y="3888"/>
              <a:ext cx="205" cy="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0" name="Line 276"/>
            <p:cNvSpPr>
              <a:spLocks noChangeShapeType="1"/>
            </p:cNvSpPr>
            <p:nvPr/>
          </p:nvSpPr>
          <p:spPr bwMode="auto">
            <a:xfrm flipH="1" flipV="1">
              <a:off x="3335" y="3888"/>
              <a:ext cx="205" cy="69"/>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1" name="Line 277"/>
            <p:cNvSpPr>
              <a:spLocks noChangeShapeType="1"/>
            </p:cNvSpPr>
            <p:nvPr/>
          </p:nvSpPr>
          <p:spPr bwMode="auto">
            <a:xfrm>
              <a:off x="3217" y="3668"/>
              <a:ext cx="118" cy="5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2" name="Line 278"/>
            <p:cNvSpPr>
              <a:spLocks noChangeShapeType="1"/>
            </p:cNvSpPr>
            <p:nvPr/>
          </p:nvSpPr>
          <p:spPr bwMode="auto">
            <a:xfrm flipV="1">
              <a:off x="3335" y="3668"/>
              <a:ext cx="124" cy="5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3" name="Line 279"/>
            <p:cNvSpPr>
              <a:spLocks noChangeShapeType="1"/>
            </p:cNvSpPr>
            <p:nvPr/>
          </p:nvSpPr>
          <p:spPr bwMode="auto">
            <a:xfrm>
              <a:off x="3178" y="3766"/>
              <a:ext cx="152" cy="7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4" name="Line 280"/>
            <p:cNvSpPr>
              <a:spLocks noChangeShapeType="1"/>
            </p:cNvSpPr>
            <p:nvPr/>
          </p:nvSpPr>
          <p:spPr bwMode="auto">
            <a:xfrm flipV="1">
              <a:off x="3335" y="3781"/>
              <a:ext cx="153" cy="6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5" name="Line 281"/>
            <p:cNvSpPr>
              <a:spLocks noChangeShapeType="1"/>
            </p:cNvSpPr>
            <p:nvPr/>
          </p:nvSpPr>
          <p:spPr bwMode="auto">
            <a:xfrm flipV="1">
              <a:off x="3335" y="3567"/>
              <a:ext cx="78" cy="2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6" name="Line 282"/>
            <p:cNvSpPr>
              <a:spLocks noChangeShapeType="1"/>
            </p:cNvSpPr>
            <p:nvPr/>
          </p:nvSpPr>
          <p:spPr bwMode="auto">
            <a:xfrm flipV="1">
              <a:off x="3335" y="3428"/>
              <a:ext cx="49" cy="21"/>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7" name="Line 283"/>
            <p:cNvSpPr>
              <a:spLocks noChangeShapeType="1"/>
            </p:cNvSpPr>
            <p:nvPr/>
          </p:nvSpPr>
          <p:spPr bwMode="auto">
            <a:xfrm>
              <a:off x="3247" y="3558"/>
              <a:ext cx="95" cy="3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8" name="Line 284"/>
            <p:cNvSpPr>
              <a:spLocks noChangeShapeType="1"/>
            </p:cNvSpPr>
            <p:nvPr/>
          </p:nvSpPr>
          <p:spPr bwMode="auto">
            <a:xfrm>
              <a:off x="3289" y="3422"/>
              <a:ext cx="55" cy="3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grpSp>
      <p:pic>
        <p:nvPicPr>
          <p:cNvPr id="261" name="Picture 777" descr="access_point_stylized_smal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p:cNvGrpSpPr/>
          <p:nvPr/>
        </p:nvGrpSpPr>
        <p:grpSpPr>
          <a:xfrm>
            <a:off x="9783558" y="4989983"/>
            <a:ext cx="393760" cy="218578"/>
            <a:chOff x="7493876" y="2774731"/>
            <a:chExt cx="1481958" cy="894622"/>
          </a:xfrm>
        </p:grpSpPr>
        <p:sp>
          <p:nvSpPr>
            <p:cNvPr id="472" name="Freeform 471"/>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73" name="Oval 472"/>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74" name="Group 473"/>
            <p:cNvGrpSpPr/>
            <p:nvPr/>
          </p:nvGrpSpPr>
          <p:grpSpPr>
            <a:xfrm>
              <a:off x="7713663" y="2848339"/>
              <a:ext cx="1042107" cy="425543"/>
              <a:chOff x="7786941" y="2884917"/>
              <a:chExt cx="897649" cy="353919"/>
            </a:xfrm>
          </p:grpSpPr>
          <p:sp>
            <p:nvSpPr>
              <p:cNvPr id="475" name="Freeform 474"/>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p:cNvGrpSpPr/>
          <p:nvPr/>
        </p:nvGrpSpPr>
        <p:grpSpPr>
          <a:xfrm>
            <a:off x="9849365" y="5339037"/>
            <a:ext cx="309740" cy="190838"/>
            <a:chOff x="3668110" y="2448910"/>
            <a:chExt cx="3794234" cy="2165130"/>
          </a:xfrm>
        </p:grpSpPr>
        <p:sp>
          <p:nvSpPr>
            <p:cNvPr id="521" name="Rectangle 520"/>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p:cNvGrpSpPr/>
            <p:nvPr/>
          </p:nvGrpSpPr>
          <p:grpSpPr>
            <a:xfrm>
              <a:off x="3941378" y="2603243"/>
              <a:ext cx="3202061" cy="1066110"/>
              <a:chOff x="7939341" y="3037317"/>
              <a:chExt cx="897649" cy="353919"/>
            </a:xfrm>
          </p:grpSpPr>
          <p:sp>
            <p:nvSpPr>
              <p:cNvPr id="524" name="Freeform 523"/>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p:cNvGrpSpPr/>
          <p:nvPr/>
        </p:nvGrpSpPr>
        <p:grpSpPr>
          <a:xfrm>
            <a:off x="8676619" y="4967420"/>
            <a:ext cx="393760" cy="218578"/>
            <a:chOff x="7493876" y="2774731"/>
            <a:chExt cx="1481958" cy="894622"/>
          </a:xfrm>
        </p:grpSpPr>
        <p:sp>
          <p:nvSpPr>
            <p:cNvPr id="480" name="Freeform 479"/>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81" name="Oval 480"/>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82" name="Group 481"/>
            <p:cNvGrpSpPr/>
            <p:nvPr/>
          </p:nvGrpSpPr>
          <p:grpSpPr>
            <a:xfrm>
              <a:off x="7713663" y="2848339"/>
              <a:ext cx="1042107" cy="425543"/>
              <a:chOff x="7786941" y="2884917"/>
              <a:chExt cx="897649" cy="353919"/>
            </a:xfrm>
          </p:grpSpPr>
          <p:sp>
            <p:nvSpPr>
              <p:cNvPr id="483" name="Freeform 482"/>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p:cNvGrpSpPr/>
          <p:nvPr/>
        </p:nvGrpSpPr>
        <p:grpSpPr>
          <a:xfrm>
            <a:off x="8311520" y="5194433"/>
            <a:ext cx="309740" cy="190838"/>
            <a:chOff x="3668110" y="2448910"/>
            <a:chExt cx="3794234" cy="2165130"/>
          </a:xfrm>
        </p:grpSpPr>
        <p:sp>
          <p:nvSpPr>
            <p:cNvPr id="530" name="Rectangle 529"/>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p:cNvGrpSpPr/>
            <p:nvPr/>
          </p:nvGrpSpPr>
          <p:grpSpPr>
            <a:xfrm>
              <a:off x="3941378" y="2603243"/>
              <a:ext cx="3202061" cy="1066110"/>
              <a:chOff x="7939341" y="3037317"/>
              <a:chExt cx="897649" cy="353919"/>
            </a:xfrm>
          </p:grpSpPr>
          <p:sp>
            <p:nvSpPr>
              <p:cNvPr id="533" name="Freeform 532"/>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07" name="Group 406"/>
          <p:cNvGrpSpPr/>
          <p:nvPr/>
        </p:nvGrpSpPr>
        <p:grpSpPr>
          <a:xfrm>
            <a:off x="8439827" y="2812309"/>
            <a:ext cx="353678" cy="168275"/>
            <a:chOff x="7493876" y="2774731"/>
            <a:chExt cx="1481958" cy="894622"/>
          </a:xfrm>
        </p:grpSpPr>
        <p:sp>
          <p:nvSpPr>
            <p:cNvPr id="408" name="Freeform 407"/>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09" name="Oval 408"/>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10" name="Group 409"/>
            <p:cNvGrpSpPr/>
            <p:nvPr/>
          </p:nvGrpSpPr>
          <p:grpSpPr>
            <a:xfrm>
              <a:off x="7713663" y="2848339"/>
              <a:ext cx="1042107" cy="425543"/>
              <a:chOff x="7786941" y="2884917"/>
              <a:chExt cx="897649" cy="353919"/>
            </a:xfrm>
          </p:grpSpPr>
          <p:sp>
            <p:nvSpPr>
              <p:cNvPr id="411" name="Freeform 410"/>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15" name="Group 414"/>
          <p:cNvGrpSpPr/>
          <p:nvPr/>
        </p:nvGrpSpPr>
        <p:grpSpPr>
          <a:xfrm>
            <a:off x="8050070" y="3965994"/>
            <a:ext cx="354986" cy="175668"/>
            <a:chOff x="7493876" y="2774731"/>
            <a:chExt cx="1481958" cy="894622"/>
          </a:xfrm>
        </p:grpSpPr>
        <p:sp>
          <p:nvSpPr>
            <p:cNvPr id="416" name="Freeform 41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17" name="Oval 416"/>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18" name="Group 417"/>
            <p:cNvGrpSpPr/>
            <p:nvPr/>
          </p:nvGrpSpPr>
          <p:grpSpPr>
            <a:xfrm>
              <a:off x="7713663" y="2848339"/>
              <a:ext cx="1042107" cy="425543"/>
              <a:chOff x="7786941" y="2884917"/>
              <a:chExt cx="897649" cy="353919"/>
            </a:xfrm>
          </p:grpSpPr>
          <p:sp>
            <p:nvSpPr>
              <p:cNvPr id="419" name="Freeform 41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55" name="Group 454"/>
          <p:cNvGrpSpPr/>
          <p:nvPr/>
        </p:nvGrpSpPr>
        <p:grpSpPr>
          <a:xfrm>
            <a:off x="10884085" y="3601365"/>
            <a:ext cx="170989" cy="97052"/>
            <a:chOff x="7493876" y="2774731"/>
            <a:chExt cx="1481958" cy="894622"/>
          </a:xfrm>
        </p:grpSpPr>
        <p:sp>
          <p:nvSpPr>
            <p:cNvPr id="456" name="Freeform 45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57" name="Oval 456"/>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58" name="Group 457"/>
            <p:cNvGrpSpPr/>
            <p:nvPr/>
          </p:nvGrpSpPr>
          <p:grpSpPr>
            <a:xfrm>
              <a:off x="7713663" y="2848339"/>
              <a:ext cx="1042107" cy="425543"/>
              <a:chOff x="7786941" y="2884917"/>
              <a:chExt cx="897649" cy="353919"/>
            </a:xfrm>
          </p:grpSpPr>
          <p:sp>
            <p:nvSpPr>
              <p:cNvPr id="459" name="Freeform 45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15" name="Group 614"/>
          <p:cNvGrpSpPr/>
          <p:nvPr/>
        </p:nvGrpSpPr>
        <p:grpSpPr>
          <a:xfrm>
            <a:off x="10410609" y="3496138"/>
            <a:ext cx="353678" cy="198344"/>
            <a:chOff x="7493876" y="2774731"/>
            <a:chExt cx="1481958" cy="894622"/>
          </a:xfrm>
        </p:grpSpPr>
        <p:sp>
          <p:nvSpPr>
            <p:cNvPr id="616" name="Freeform 61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617" name="Oval 616"/>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618" name="Group 617"/>
            <p:cNvGrpSpPr/>
            <p:nvPr/>
          </p:nvGrpSpPr>
          <p:grpSpPr>
            <a:xfrm>
              <a:off x="7713663" y="2848339"/>
              <a:ext cx="1042107" cy="425543"/>
              <a:chOff x="7786941" y="2884917"/>
              <a:chExt cx="897649" cy="353919"/>
            </a:xfrm>
          </p:grpSpPr>
          <p:sp>
            <p:nvSpPr>
              <p:cNvPr id="619" name="Freeform 61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p:cNvGrpSpPr/>
          <p:nvPr/>
        </p:nvGrpSpPr>
        <p:grpSpPr>
          <a:xfrm>
            <a:off x="9948724" y="2202292"/>
            <a:ext cx="353678" cy="198344"/>
            <a:chOff x="7493876" y="2774731"/>
            <a:chExt cx="1481958" cy="894622"/>
          </a:xfrm>
        </p:grpSpPr>
        <p:sp>
          <p:nvSpPr>
            <p:cNvPr id="578" name="Freeform 577"/>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79" name="Oval 578"/>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80" name="Group 579"/>
            <p:cNvGrpSpPr/>
            <p:nvPr/>
          </p:nvGrpSpPr>
          <p:grpSpPr>
            <a:xfrm>
              <a:off x="7713663" y="2848339"/>
              <a:ext cx="1042107" cy="425543"/>
              <a:chOff x="7786941" y="2884917"/>
              <a:chExt cx="897649" cy="353919"/>
            </a:xfrm>
          </p:grpSpPr>
          <p:sp>
            <p:nvSpPr>
              <p:cNvPr id="581" name="Freeform 580"/>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p:cNvGrpSpPr/>
          <p:nvPr/>
        </p:nvGrpSpPr>
        <p:grpSpPr>
          <a:xfrm>
            <a:off x="10527214" y="2613367"/>
            <a:ext cx="353678" cy="198344"/>
            <a:chOff x="7493876" y="2774731"/>
            <a:chExt cx="1481958" cy="894622"/>
          </a:xfrm>
        </p:grpSpPr>
        <p:sp>
          <p:nvSpPr>
            <p:cNvPr id="594" name="Freeform 593"/>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95" name="Oval 594"/>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96" name="Group 595"/>
            <p:cNvGrpSpPr/>
            <p:nvPr/>
          </p:nvGrpSpPr>
          <p:grpSpPr>
            <a:xfrm>
              <a:off x="7713663" y="2848339"/>
              <a:ext cx="1042107" cy="425543"/>
              <a:chOff x="7786941" y="2884917"/>
              <a:chExt cx="897649" cy="353919"/>
            </a:xfrm>
          </p:grpSpPr>
          <p:sp>
            <p:nvSpPr>
              <p:cNvPr id="597" name="Freeform 596"/>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p:cNvGrpSpPr/>
          <p:nvPr/>
        </p:nvGrpSpPr>
        <p:grpSpPr>
          <a:xfrm>
            <a:off x="10643825" y="2107963"/>
            <a:ext cx="353678" cy="198344"/>
            <a:chOff x="7493876" y="2774731"/>
            <a:chExt cx="1481958" cy="894622"/>
          </a:xfrm>
        </p:grpSpPr>
        <p:sp>
          <p:nvSpPr>
            <p:cNvPr id="602" name="Freeform 601"/>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603" name="Oval 602"/>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604" name="Group 603"/>
            <p:cNvGrpSpPr/>
            <p:nvPr/>
          </p:nvGrpSpPr>
          <p:grpSpPr>
            <a:xfrm>
              <a:off x="7713663" y="2848339"/>
              <a:ext cx="1042107" cy="425543"/>
              <a:chOff x="7786941" y="2884917"/>
              <a:chExt cx="897649" cy="353919"/>
            </a:xfrm>
          </p:grpSpPr>
          <p:sp>
            <p:nvSpPr>
              <p:cNvPr id="605" name="Freeform 604"/>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p:cNvGrpSpPr/>
          <p:nvPr/>
        </p:nvGrpSpPr>
        <p:grpSpPr>
          <a:xfrm>
            <a:off x="9098788" y="3956624"/>
            <a:ext cx="367224" cy="240304"/>
            <a:chOff x="7493876" y="2774731"/>
            <a:chExt cx="1481958" cy="894622"/>
          </a:xfrm>
        </p:grpSpPr>
        <p:sp>
          <p:nvSpPr>
            <p:cNvPr id="555" name="Freeform 554"/>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56" name="Oval 555"/>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57" name="Group 556"/>
            <p:cNvGrpSpPr/>
            <p:nvPr/>
          </p:nvGrpSpPr>
          <p:grpSpPr>
            <a:xfrm>
              <a:off x="7713663" y="2848339"/>
              <a:ext cx="1042107" cy="425543"/>
              <a:chOff x="7786941" y="2884917"/>
              <a:chExt cx="897649" cy="353919"/>
            </a:xfrm>
          </p:grpSpPr>
          <p:sp>
            <p:nvSpPr>
              <p:cNvPr id="558" name="Freeform 557"/>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p:cNvGrpSpPr/>
          <p:nvPr/>
        </p:nvGrpSpPr>
        <p:grpSpPr>
          <a:xfrm>
            <a:off x="9980126" y="2661565"/>
            <a:ext cx="353678" cy="198344"/>
            <a:chOff x="7493876" y="2774731"/>
            <a:chExt cx="1481958" cy="894622"/>
          </a:xfrm>
        </p:grpSpPr>
        <p:sp>
          <p:nvSpPr>
            <p:cNvPr id="586" name="Freeform 58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87" name="Oval 586"/>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88" name="Group 587"/>
            <p:cNvGrpSpPr/>
            <p:nvPr/>
          </p:nvGrpSpPr>
          <p:grpSpPr>
            <a:xfrm>
              <a:off x="7713663" y="2848339"/>
              <a:ext cx="1042107" cy="425543"/>
              <a:chOff x="7786941" y="2884917"/>
              <a:chExt cx="897649" cy="353919"/>
            </a:xfrm>
          </p:grpSpPr>
          <p:sp>
            <p:nvSpPr>
              <p:cNvPr id="589" name="Freeform 58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p:cNvGrpSpPr/>
          <p:nvPr/>
        </p:nvGrpSpPr>
        <p:grpSpPr>
          <a:xfrm>
            <a:off x="9497138" y="3394032"/>
            <a:ext cx="367224" cy="240304"/>
            <a:chOff x="7493876" y="2774731"/>
            <a:chExt cx="1481958" cy="894622"/>
          </a:xfrm>
        </p:grpSpPr>
        <p:sp>
          <p:nvSpPr>
            <p:cNvPr id="539" name="Freeform 538"/>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40" name="Oval 539"/>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41" name="Group 540"/>
            <p:cNvGrpSpPr/>
            <p:nvPr/>
          </p:nvGrpSpPr>
          <p:grpSpPr>
            <a:xfrm>
              <a:off x="7713663" y="2848339"/>
              <a:ext cx="1042107" cy="425543"/>
              <a:chOff x="7786941" y="2884917"/>
              <a:chExt cx="897649" cy="353919"/>
            </a:xfrm>
          </p:grpSpPr>
          <p:sp>
            <p:nvSpPr>
              <p:cNvPr id="542" name="Freeform 541"/>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p:cNvGrpSpPr/>
          <p:nvPr/>
        </p:nvGrpSpPr>
        <p:grpSpPr>
          <a:xfrm>
            <a:off x="9601554" y="3999763"/>
            <a:ext cx="367224" cy="240304"/>
            <a:chOff x="7493876" y="2774731"/>
            <a:chExt cx="1481958" cy="894622"/>
          </a:xfrm>
        </p:grpSpPr>
        <p:sp>
          <p:nvSpPr>
            <p:cNvPr id="547" name="Freeform 546"/>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48" name="Oval 547"/>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49" name="Group 548"/>
            <p:cNvGrpSpPr/>
            <p:nvPr/>
          </p:nvGrpSpPr>
          <p:grpSpPr>
            <a:xfrm>
              <a:off x="7713663" y="2848339"/>
              <a:ext cx="1042107" cy="425543"/>
              <a:chOff x="7786941" y="2884917"/>
              <a:chExt cx="897649" cy="353919"/>
            </a:xfrm>
          </p:grpSpPr>
          <p:sp>
            <p:nvSpPr>
              <p:cNvPr id="550" name="Freeform 549"/>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p:cNvGrpSpPr/>
          <p:nvPr/>
        </p:nvGrpSpPr>
        <p:grpSpPr>
          <a:xfrm>
            <a:off x="10375259" y="3992325"/>
            <a:ext cx="353678" cy="198344"/>
            <a:chOff x="7493876" y="2774731"/>
            <a:chExt cx="1481958" cy="894622"/>
          </a:xfrm>
        </p:grpSpPr>
        <p:sp>
          <p:nvSpPr>
            <p:cNvPr id="624" name="Freeform 623"/>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625" name="Oval 624"/>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626" name="Group 625"/>
            <p:cNvGrpSpPr/>
            <p:nvPr/>
          </p:nvGrpSpPr>
          <p:grpSpPr>
            <a:xfrm>
              <a:off x="7713663" y="2848339"/>
              <a:ext cx="1042107" cy="425543"/>
              <a:chOff x="7786941" y="2884917"/>
              <a:chExt cx="897649" cy="353919"/>
            </a:xfrm>
          </p:grpSpPr>
          <p:sp>
            <p:nvSpPr>
              <p:cNvPr id="627" name="Freeform 626"/>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p:cNvGrpSpPr/>
          <p:nvPr/>
        </p:nvGrpSpPr>
        <p:grpSpPr>
          <a:xfrm>
            <a:off x="9247893" y="4775686"/>
            <a:ext cx="393760" cy="218578"/>
            <a:chOff x="7493876" y="2774731"/>
            <a:chExt cx="1481958" cy="894622"/>
          </a:xfrm>
        </p:grpSpPr>
        <p:sp>
          <p:nvSpPr>
            <p:cNvPr id="464" name="Freeform 463"/>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65" name="Oval 464"/>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66" name="Group 465"/>
            <p:cNvGrpSpPr/>
            <p:nvPr/>
          </p:nvGrpSpPr>
          <p:grpSpPr>
            <a:xfrm>
              <a:off x="7713663" y="2848339"/>
              <a:ext cx="1042107" cy="425543"/>
              <a:chOff x="7786941" y="2884917"/>
              <a:chExt cx="897649" cy="353919"/>
            </a:xfrm>
          </p:grpSpPr>
          <p:sp>
            <p:nvSpPr>
              <p:cNvPr id="467" name="Freeform 466"/>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47" name="Group 446"/>
          <p:cNvGrpSpPr/>
          <p:nvPr/>
        </p:nvGrpSpPr>
        <p:grpSpPr>
          <a:xfrm>
            <a:off x="10925982" y="4369125"/>
            <a:ext cx="228295" cy="120400"/>
            <a:chOff x="7493876" y="2774731"/>
            <a:chExt cx="1481958" cy="894622"/>
          </a:xfrm>
        </p:grpSpPr>
        <p:sp>
          <p:nvSpPr>
            <p:cNvPr id="448" name="Freeform 447"/>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49" name="Oval 448"/>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50" name="Group 449"/>
            <p:cNvGrpSpPr/>
            <p:nvPr/>
          </p:nvGrpSpPr>
          <p:grpSpPr>
            <a:xfrm>
              <a:off x="7713663" y="2848339"/>
              <a:ext cx="1042107" cy="425543"/>
              <a:chOff x="7786941" y="2884917"/>
              <a:chExt cx="897649" cy="353919"/>
            </a:xfrm>
          </p:grpSpPr>
          <p:sp>
            <p:nvSpPr>
              <p:cNvPr id="451" name="Freeform 450"/>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785" name="Group 784"/>
          <p:cNvGrpSpPr/>
          <p:nvPr/>
        </p:nvGrpSpPr>
        <p:grpSpPr>
          <a:xfrm>
            <a:off x="7439074" y="2356613"/>
            <a:ext cx="534987" cy="407988"/>
            <a:chOff x="7432700" y="2327293"/>
            <a:chExt cx="534987" cy="407988"/>
          </a:xfrm>
        </p:grpSpPr>
        <p:pic>
          <p:nvPicPr>
            <p:cNvPr id="73" name="Picture 1017" descr="antenna_stylize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76" name="Picture 1020" descr="screen"/>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78" name="Freeform 1022"/>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79" name="Freeform 1023"/>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0" name="Freeform 1024"/>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1" name="Freeform 1025"/>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2" name="Freeform 1026"/>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83" name="Group 1027"/>
            <p:cNvGrpSpPr/>
            <p:nvPr/>
          </p:nvGrpSpPr>
          <p:grpSpPr bwMode="auto">
            <a:xfrm>
              <a:off x="7594735" y="2642220"/>
              <a:ext cx="98740" cy="36846"/>
              <a:chOff x="1740" y="2642"/>
              <a:chExt cx="752" cy="327"/>
            </a:xfrm>
          </p:grpSpPr>
          <p:sp>
            <p:nvSpPr>
              <p:cNvPr id="169" name="Freeform 1028"/>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0" name="Freeform 1029"/>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1" name="Freeform 1030"/>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2" name="Freeform 1031"/>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3" name="Freeform 1032"/>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4" name="Freeform 1033"/>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84" name="Freeform 1034"/>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5" name="Freeform 1035"/>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6" name="Freeform 1036"/>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7" name="Freeform 1037"/>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8" name="Freeform 1038"/>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9" name="Freeform 1039"/>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grpSp>
        <p:nvGrpSpPr>
          <p:cNvPr id="740" name="Group 739"/>
          <p:cNvGrpSpPr/>
          <p:nvPr/>
        </p:nvGrpSpPr>
        <p:grpSpPr>
          <a:xfrm>
            <a:off x="8637781" y="2319727"/>
            <a:ext cx="530702" cy="478009"/>
            <a:chOff x="8631407" y="2290407"/>
            <a:chExt cx="530702" cy="478009"/>
          </a:xfrm>
        </p:grpSpPr>
        <p:pic>
          <p:nvPicPr>
            <p:cNvPr id="110" name="Picture 568" descr="light2.png"/>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p:cNvGrpSpPr/>
          <p:nvPr/>
        </p:nvGrpSpPr>
        <p:grpSpPr>
          <a:xfrm>
            <a:off x="8499539" y="2059124"/>
            <a:ext cx="849312" cy="226109"/>
            <a:chOff x="8493165" y="2029804"/>
            <a:chExt cx="849312" cy="226109"/>
          </a:xfrm>
        </p:grpSpPr>
        <p:pic>
          <p:nvPicPr>
            <p:cNvPr id="48" name="Picture 603" descr="car_icon_small"/>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p:cNvGrpSpPr/>
          <p:nvPr/>
        </p:nvGrpSpPr>
        <p:grpSpPr>
          <a:xfrm>
            <a:off x="7493518" y="3325424"/>
            <a:ext cx="857739" cy="583764"/>
            <a:chOff x="7487144" y="3296104"/>
            <a:chExt cx="857739" cy="583764"/>
          </a:xfrm>
        </p:grpSpPr>
        <p:grpSp>
          <p:nvGrpSpPr>
            <p:cNvPr id="792" name="Group 791"/>
            <p:cNvGrpSpPr/>
            <p:nvPr/>
          </p:nvGrpSpPr>
          <p:grpSpPr>
            <a:xfrm>
              <a:off x="7487144" y="3389820"/>
              <a:ext cx="350807" cy="305517"/>
              <a:chOff x="7487144" y="3389820"/>
              <a:chExt cx="350807" cy="305517"/>
            </a:xfrm>
          </p:grpSpPr>
          <p:pic>
            <p:nvPicPr>
              <p:cNvPr id="91" name="Picture 1115" descr="antenna_stylized"/>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94" name="Picture 1118" descr="screen"/>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6" name="Freeform 1120"/>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7" name="Freeform 1121"/>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8" name="Freeform 1122"/>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9" name="Freeform 1123"/>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0" name="Freeform 1124"/>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01" name="Group 1125"/>
              <p:cNvGrpSpPr/>
              <p:nvPr/>
            </p:nvGrpSpPr>
            <p:grpSpPr bwMode="auto">
              <a:xfrm>
                <a:off x="7593395" y="3625649"/>
                <a:ext cx="64747" cy="27592"/>
                <a:chOff x="1740" y="2642"/>
                <a:chExt cx="752" cy="327"/>
              </a:xfrm>
            </p:grpSpPr>
            <p:sp>
              <p:nvSpPr>
                <p:cNvPr id="140" name="Freeform 112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1" name="Freeform 112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2" name="Freeform 112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3" name="Freeform 112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4" name="Freeform 113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5" name="Freeform 113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102" name="Freeform 1132"/>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3" name="Freeform 1133"/>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4" name="Freeform 1134"/>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5" name="Freeform 1135"/>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6" name="Freeform 1136"/>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7" name="Freeform 1137"/>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grpSp>
          <p:nvGrpSpPr>
            <p:cNvPr id="108" name="Group 1139"/>
            <p:cNvGrpSpPr/>
            <p:nvPr/>
          </p:nvGrpSpPr>
          <p:grpSpPr bwMode="auto">
            <a:xfrm flipH="1">
              <a:off x="7985622" y="3537823"/>
              <a:ext cx="359261" cy="342045"/>
              <a:chOff x="2839" y="3501"/>
              <a:chExt cx="755" cy="803"/>
            </a:xfrm>
          </p:grpSpPr>
          <p:pic>
            <p:nvPicPr>
              <p:cNvPr id="138" name="Picture 1140" descr="desktop_computer_stylized_medium"/>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694" name="Group 693"/>
            <p:cNvGrpSpPr/>
            <p:nvPr/>
          </p:nvGrpSpPr>
          <p:grpSpPr>
            <a:xfrm>
              <a:off x="7797061" y="3296104"/>
              <a:ext cx="347997" cy="396620"/>
              <a:chOff x="7797061" y="3296104"/>
              <a:chExt cx="347997" cy="396620"/>
            </a:xfrm>
          </p:grpSpPr>
          <p:pic>
            <p:nvPicPr>
              <p:cNvPr id="113" name="Picture 571" descr="fridge2.png"/>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p:cNvGrpSpPr/>
          <p:nvPr/>
        </p:nvGrpSpPr>
        <p:grpSpPr>
          <a:xfrm>
            <a:off x="11064947" y="3428485"/>
            <a:ext cx="518448" cy="1212242"/>
            <a:chOff x="11058573" y="3399165"/>
            <a:chExt cx="518448" cy="1212242"/>
          </a:xfrm>
        </p:grpSpPr>
        <p:grpSp>
          <p:nvGrpSpPr>
            <p:cNvPr id="375" name="Group 374"/>
            <p:cNvGrpSpPr/>
            <p:nvPr/>
          </p:nvGrpSpPr>
          <p:grpSpPr>
            <a:xfrm>
              <a:off x="11087182" y="4159591"/>
              <a:ext cx="489839" cy="451816"/>
              <a:chOff x="5103720" y="2693365"/>
              <a:chExt cx="611650" cy="414788"/>
            </a:xfrm>
          </p:grpSpPr>
          <p:cxnSp>
            <p:nvCxnSpPr>
              <p:cNvPr id="376" name="Straight Connector 375"/>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p:cNvGrpSpPr/>
              <p:nvPr/>
            </p:nvGrpSpPr>
            <p:grpSpPr>
              <a:xfrm>
                <a:off x="5275406" y="2693365"/>
                <a:ext cx="439964" cy="414788"/>
                <a:chOff x="5275406" y="2711455"/>
                <a:chExt cx="452949" cy="405518"/>
              </a:xfrm>
            </p:grpSpPr>
            <p:pic>
              <p:nvPicPr>
                <p:cNvPr id="379" name="Picture 378" descr="server_rack.png"/>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p:cNvGrpSpPr/>
            <p:nvPr/>
          </p:nvGrpSpPr>
          <p:grpSpPr>
            <a:xfrm>
              <a:off x="11058573" y="3399165"/>
              <a:ext cx="423724" cy="405973"/>
              <a:chOff x="5103720" y="2693365"/>
              <a:chExt cx="611650" cy="414788"/>
            </a:xfrm>
          </p:grpSpPr>
          <p:cxnSp>
            <p:nvCxnSpPr>
              <p:cNvPr id="393" name="Straight Connector 392"/>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p:cNvGrpSpPr/>
              <p:nvPr/>
            </p:nvGrpSpPr>
            <p:grpSpPr>
              <a:xfrm>
                <a:off x="5275406" y="2693365"/>
                <a:ext cx="439964" cy="414788"/>
                <a:chOff x="5275406" y="2711455"/>
                <a:chExt cx="452949" cy="405518"/>
              </a:xfrm>
            </p:grpSpPr>
            <p:pic>
              <p:nvPicPr>
                <p:cNvPr id="396" name="Picture 395" descr="server_rack.png"/>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p:cNvGrpSpPr/>
          <p:nvPr/>
        </p:nvGrpSpPr>
        <p:grpSpPr bwMode="auto">
          <a:xfrm>
            <a:off x="10288915" y="5273951"/>
            <a:ext cx="177192" cy="330833"/>
            <a:chOff x="4140" y="429"/>
            <a:chExt cx="1425" cy="2396"/>
          </a:xfrm>
        </p:grpSpPr>
        <p:sp>
          <p:nvSpPr>
            <p:cNvPr id="207"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0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0"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p:cNvGrpSpPr/>
            <p:nvPr/>
          </p:nvGrpSpPr>
          <p:grpSpPr bwMode="auto">
            <a:xfrm>
              <a:off x="4749" y="668"/>
              <a:ext cx="581" cy="145"/>
              <a:chOff x="614" y="2568"/>
              <a:chExt cx="725" cy="139"/>
            </a:xfrm>
          </p:grpSpPr>
          <p:sp>
            <p:nvSpPr>
              <p:cNvPr id="23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p:cNvGrpSpPr/>
            <p:nvPr/>
          </p:nvGrpSpPr>
          <p:grpSpPr bwMode="auto">
            <a:xfrm>
              <a:off x="4747" y="994"/>
              <a:ext cx="581" cy="134"/>
              <a:chOff x="614" y="2568"/>
              <a:chExt cx="725" cy="139"/>
            </a:xfrm>
          </p:grpSpPr>
          <p:sp>
            <p:nvSpPr>
              <p:cNvPr id="23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p:cNvGrpSpPr/>
            <p:nvPr/>
          </p:nvGrpSpPr>
          <p:grpSpPr bwMode="auto">
            <a:xfrm>
              <a:off x="4735" y="1627"/>
              <a:ext cx="582" cy="151"/>
              <a:chOff x="614" y="2568"/>
              <a:chExt cx="725" cy="139"/>
            </a:xfrm>
          </p:grpSpPr>
          <p:sp>
            <p:nvSpPr>
              <p:cNvPr id="23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9" name="Group 969"/>
            <p:cNvGrpSpPr/>
            <p:nvPr/>
          </p:nvGrpSpPr>
          <p:grpSpPr bwMode="auto">
            <a:xfrm>
              <a:off x="4739" y="1327"/>
              <a:ext cx="582" cy="139"/>
              <a:chOff x="614" y="2568"/>
              <a:chExt cx="725" cy="139"/>
            </a:xfrm>
          </p:grpSpPr>
          <p:sp>
            <p:nvSpPr>
              <p:cNvPr id="23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22"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2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2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4" name="Group 590"/>
          <p:cNvGrpSpPr/>
          <p:nvPr/>
        </p:nvGrpSpPr>
        <p:grpSpPr bwMode="auto">
          <a:xfrm flipH="1">
            <a:off x="7980855" y="4900161"/>
            <a:ext cx="345630" cy="320302"/>
            <a:chOff x="2839" y="3501"/>
            <a:chExt cx="755" cy="803"/>
          </a:xfrm>
        </p:grpSpPr>
        <p:pic>
          <p:nvPicPr>
            <p:cNvPr id="367" name="Picture 591" descr="desktop_computer_stylized_medium"/>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90" name="Group 1064"/>
          <p:cNvGrpSpPr/>
          <p:nvPr/>
        </p:nvGrpSpPr>
        <p:grpSpPr bwMode="auto">
          <a:xfrm>
            <a:off x="9201681" y="5852809"/>
            <a:ext cx="310186" cy="307808"/>
            <a:chOff x="877" y="1008"/>
            <a:chExt cx="2747" cy="2591"/>
          </a:xfrm>
        </p:grpSpPr>
        <p:pic>
          <p:nvPicPr>
            <p:cNvPr id="146" name="Picture 1065" descr="antenna_stylized"/>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149" name="Picture 1068" descr="screen"/>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1" name="Freeform 1070"/>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2" name="Freeform 1071"/>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3" name="Freeform 1072"/>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4" name="Freeform 1073"/>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5" name="Freeform 1074"/>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56" name="Group 1075"/>
            <p:cNvGrpSpPr/>
            <p:nvPr/>
          </p:nvGrpSpPr>
          <p:grpSpPr bwMode="auto">
            <a:xfrm>
              <a:off x="1709" y="3008"/>
              <a:ext cx="507" cy="234"/>
              <a:chOff x="1740" y="2642"/>
              <a:chExt cx="752" cy="327"/>
            </a:xfrm>
          </p:grpSpPr>
          <p:sp>
            <p:nvSpPr>
              <p:cNvPr id="163" name="Freeform 107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4" name="Freeform 107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5" name="Freeform 107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6" name="Freeform 107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7" name="Freeform 108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8" name="Freeform 108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157" name="Freeform 1082"/>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8" name="Freeform 1083"/>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9" name="Freeform 1084"/>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0" name="Freeform 1085"/>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1" name="Freeform 1086"/>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2" name="Freeform 1087"/>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grpSp>
        <p:nvGrpSpPr>
          <p:cNvPr id="490" name="Group 590"/>
          <p:cNvGrpSpPr/>
          <p:nvPr/>
        </p:nvGrpSpPr>
        <p:grpSpPr bwMode="auto">
          <a:xfrm flipH="1">
            <a:off x="8153909" y="5504657"/>
            <a:ext cx="345630" cy="320302"/>
            <a:chOff x="2839" y="3501"/>
            <a:chExt cx="755" cy="803"/>
          </a:xfrm>
        </p:grpSpPr>
        <p:pic>
          <p:nvPicPr>
            <p:cNvPr id="491" name="Picture 591" descr="desktop_computer_stylized_medium"/>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493" name="Group 590"/>
          <p:cNvGrpSpPr/>
          <p:nvPr/>
        </p:nvGrpSpPr>
        <p:grpSpPr bwMode="auto">
          <a:xfrm flipH="1">
            <a:off x="8552134" y="5526130"/>
            <a:ext cx="345630" cy="320302"/>
            <a:chOff x="2839" y="3501"/>
            <a:chExt cx="755" cy="803"/>
          </a:xfrm>
        </p:grpSpPr>
        <p:pic>
          <p:nvPicPr>
            <p:cNvPr id="494" name="Picture 591" descr="desktop_computer_stylized_medium"/>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496" name="Group 1064"/>
          <p:cNvGrpSpPr/>
          <p:nvPr/>
        </p:nvGrpSpPr>
        <p:grpSpPr bwMode="auto">
          <a:xfrm>
            <a:off x="9534746" y="5795138"/>
            <a:ext cx="319264" cy="253379"/>
            <a:chOff x="877" y="1008"/>
            <a:chExt cx="2747" cy="2591"/>
          </a:xfrm>
        </p:grpSpPr>
        <p:pic>
          <p:nvPicPr>
            <p:cNvPr id="497" name="Picture 1065" descr="antenna_stylized"/>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500" name="Picture 1068" descr="screen"/>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2" name="Freeform 1070"/>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3" name="Freeform 1071"/>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4" name="Freeform 1072"/>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5" name="Freeform 1073"/>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6" name="Freeform 1074"/>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507" name="Group 1075"/>
            <p:cNvGrpSpPr/>
            <p:nvPr/>
          </p:nvGrpSpPr>
          <p:grpSpPr bwMode="auto">
            <a:xfrm>
              <a:off x="1709" y="3008"/>
              <a:ext cx="507" cy="234"/>
              <a:chOff x="1740" y="2642"/>
              <a:chExt cx="752" cy="327"/>
            </a:xfrm>
          </p:grpSpPr>
          <p:sp>
            <p:nvSpPr>
              <p:cNvPr id="514" name="Freeform 107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5" name="Freeform 107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6" name="Freeform 107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7" name="Freeform 107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8" name="Freeform 108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9" name="Freeform 108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508" name="Freeform 1082"/>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9" name="Freeform 1083"/>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0" name="Freeform 1084"/>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1" name="Freeform 1085"/>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2" name="Freeform 1086"/>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3" name="Freeform 1087"/>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175" name="Freeform 984"/>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7" name="Freeform 986"/>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8" name="Freeform 987"/>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9" name="Rectangle 988"/>
          <p:cNvSpPr>
            <a:spLocks noChangeArrowheads="1"/>
          </p:cNvSpPr>
          <p:nvPr/>
        </p:nvSpPr>
        <p:spPr bwMode="auto">
          <a:xfrm>
            <a:off x="10026299" y="5674399"/>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p:cNvGrpSpPr/>
          <p:nvPr/>
        </p:nvGrpSpPr>
        <p:grpSpPr bwMode="auto">
          <a:xfrm>
            <a:off x="10091149" y="5671195"/>
            <a:ext cx="69903" cy="21117"/>
            <a:chOff x="614" y="2568"/>
            <a:chExt cx="725" cy="139"/>
          </a:xfrm>
        </p:grpSpPr>
        <p:sp>
          <p:nvSpPr>
            <p:cNvPr id="205" name="AutoShape 990"/>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p:cNvSpPr>
            <a:spLocks noChangeArrowheads="1"/>
          </p:cNvSpPr>
          <p:nvPr/>
        </p:nvSpPr>
        <p:spPr bwMode="auto">
          <a:xfrm>
            <a:off x="10027502" y="5722750"/>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p:cNvGrpSpPr/>
          <p:nvPr/>
        </p:nvGrpSpPr>
        <p:grpSpPr bwMode="auto">
          <a:xfrm>
            <a:off x="10090909" y="5718672"/>
            <a:ext cx="69903" cy="19515"/>
            <a:chOff x="614" y="2568"/>
            <a:chExt cx="725" cy="139"/>
          </a:xfrm>
        </p:grpSpPr>
        <p:sp>
          <p:nvSpPr>
            <p:cNvPr id="203" name="AutoShape 994"/>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p:cNvSpPr>
            <a:spLocks noChangeArrowheads="1"/>
          </p:cNvSpPr>
          <p:nvPr/>
        </p:nvSpPr>
        <p:spPr bwMode="auto">
          <a:xfrm>
            <a:off x="10027502" y="5771101"/>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p:cNvSpPr>
            <a:spLocks noChangeArrowheads="1"/>
          </p:cNvSpPr>
          <p:nvPr/>
        </p:nvSpPr>
        <p:spPr bwMode="auto">
          <a:xfrm>
            <a:off x="10028705" y="5814938"/>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p:cNvGrpSpPr/>
          <p:nvPr/>
        </p:nvGrpSpPr>
        <p:grpSpPr bwMode="auto">
          <a:xfrm>
            <a:off x="10089465" y="5810860"/>
            <a:ext cx="70024" cy="21991"/>
            <a:chOff x="614" y="2568"/>
            <a:chExt cx="725" cy="139"/>
          </a:xfrm>
        </p:grpSpPr>
        <p:sp>
          <p:nvSpPr>
            <p:cNvPr id="201" name="AutoShape 999"/>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87" name="Group 1002"/>
          <p:cNvGrpSpPr/>
          <p:nvPr/>
        </p:nvGrpSpPr>
        <p:grpSpPr bwMode="auto">
          <a:xfrm>
            <a:off x="10089946" y="5767169"/>
            <a:ext cx="70024" cy="20243"/>
            <a:chOff x="614" y="2568"/>
            <a:chExt cx="725" cy="139"/>
          </a:xfrm>
        </p:grpSpPr>
        <p:sp>
          <p:nvSpPr>
            <p:cNvPr id="199" name="AutoShape 1003"/>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0" name="Freeform 1007"/>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1" name="Oval 1008"/>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3" name="AutoShape 1010"/>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9" name="Rectangle 8"/>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0"/>
          <p:cNvGrpSpPr/>
          <p:nvPr/>
        </p:nvGrpSpPr>
        <p:grpSpPr>
          <a:xfrm>
            <a:off x="7680324" y="1814171"/>
            <a:ext cx="2755429" cy="4250670"/>
            <a:chOff x="7680324" y="1814171"/>
            <a:chExt cx="2755429" cy="4250670"/>
          </a:xfrm>
        </p:grpSpPr>
        <p:grpSp>
          <p:nvGrpSpPr>
            <p:cNvPr id="49" name="Group 652"/>
            <p:cNvGrpSpPr/>
            <p:nvPr/>
          </p:nvGrpSpPr>
          <p:grpSpPr bwMode="auto">
            <a:xfrm>
              <a:off x="7750224" y="1859725"/>
              <a:ext cx="415925" cy="385763"/>
              <a:chOff x="2751" y="1851"/>
              <a:chExt cx="462" cy="478"/>
            </a:xfrm>
          </p:grpSpPr>
          <p:pic>
            <p:nvPicPr>
              <p:cNvPr id="359" name="Picture 653" descr="iphone_stylized_small"/>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p:cNvGrpSpPr/>
            <p:nvPr/>
          </p:nvGrpSpPr>
          <p:grpSpPr bwMode="auto">
            <a:xfrm flipH="1">
              <a:off x="7773981" y="5281060"/>
              <a:ext cx="345630" cy="320302"/>
              <a:chOff x="2839" y="3501"/>
              <a:chExt cx="755" cy="803"/>
            </a:xfrm>
          </p:grpSpPr>
          <p:pic>
            <p:nvPicPr>
              <p:cNvPr id="488" name="Picture 591" descr="desktop_computer_stylized_medium"/>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sp>
          <p:nvSpPr>
            <p:cNvPr id="612" name="Oval 611"/>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5" name="Oval 634"/>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8" name="Oval 637"/>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71" name="Group 618"/>
          <p:cNvGrpSpPr/>
          <p:nvPr/>
        </p:nvGrpSpPr>
        <p:grpSpPr bwMode="auto">
          <a:xfrm>
            <a:off x="8005845" y="1168489"/>
            <a:ext cx="1065213" cy="965200"/>
            <a:chOff x="4047" y="420"/>
            <a:chExt cx="671" cy="608"/>
          </a:xfrm>
        </p:grpSpPr>
        <p:sp>
          <p:nvSpPr>
            <p:cNvPr id="572" name="Rectangle 227"/>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p>
          </p:txBody>
        </p:sp>
        <p:sp>
          <p:nvSpPr>
            <p:cNvPr id="575" name="Rectangle 228"/>
            <p:cNvSpPr>
              <a:spLocks noChangeArrowheads="1"/>
            </p:cNvSpPr>
            <p:nvPr/>
          </p:nvSpPr>
          <p:spPr bwMode="auto">
            <a:xfrm>
              <a:off x="4245" y="435"/>
              <a:ext cx="435" cy="504"/>
            </a:xfrm>
            <a:prstGeom prst="rect">
              <a:avLst/>
            </a:prstGeom>
            <a:solidFill>
              <a:schemeClr val="bg1"/>
            </a:solidFill>
            <a:ln w="12700">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p>
          </p:txBody>
        </p:sp>
        <p:sp>
          <p:nvSpPr>
            <p:cNvPr id="576" name="Rectangle 229"/>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p>
          </p:txBody>
        </p:sp>
        <p:sp>
          <p:nvSpPr>
            <p:cNvPr id="609" name="Text Box 230"/>
            <p:cNvSpPr txBox="1">
              <a:spLocks noChangeArrowheads="1"/>
            </p:cNvSpPr>
            <p:nvPr/>
          </p:nvSpPr>
          <p:spPr bwMode="auto">
            <a:xfrm>
              <a:off x="4205" y="421"/>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000" dirty="0">
                  <a:solidFill>
                    <a:schemeClr val="bg1"/>
                  </a:solidFill>
                </a:rPr>
                <a:t>application</a:t>
              </a:r>
              <a:endParaRPr lang="en-US" altLang="en-US" sz="1000" dirty="0"/>
            </a:p>
            <a:p>
              <a:pPr algn="ctr">
                <a:spcBef>
                  <a:spcPct val="0"/>
                </a:spcBef>
                <a:buClrTx/>
                <a:buSzTx/>
                <a:buFontTx/>
                <a:buNone/>
              </a:pPr>
              <a:r>
                <a:rPr lang="en-US" altLang="en-US" sz="1000" dirty="0"/>
                <a:t>transport</a:t>
              </a:r>
              <a:endParaRPr lang="en-US" altLang="en-US" sz="1000" dirty="0"/>
            </a:p>
            <a:p>
              <a:pPr algn="ctr">
                <a:spcBef>
                  <a:spcPct val="0"/>
                </a:spcBef>
                <a:buClrTx/>
                <a:buSzTx/>
                <a:buFontTx/>
                <a:buNone/>
              </a:pPr>
              <a:r>
                <a:rPr lang="en-US" altLang="en-US" sz="1000" dirty="0"/>
                <a:t>network</a:t>
              </a:r>
              <a:endParaRPr lang="en-US" altLang="en-US" sz="1000" dirty="0"/>
            </a:p>
            <a:p>
              <a:pPr algn="ctr">
                <a:spcBef>
                  <a:spcPct val="0"/>
                </a:spcBef>
                <a:buClrTx/>
                <a:buSzTx/>
                <a:buFontTx/>
                <a:buNone/>
              </a:pPr>
              <a:r>
                <a:rPr lang="en-US" altLang="en-US" sz="1000" dirty="0"/>
                <a:t>data link</a:t>
              </a:r>
              <a:endParaRPr lang="en-US" altLang="en-US" sz="1000" dirty="0"/>
            </a:p>
            <a:p>
              <a:pPr algn="ctr">
                <a:spcBef>
                  <a:spcPct val="0"/>
                </a:spcBef>
                <a:buClrTx/>
                <a:buSzTx/>
                <a:buFontTx/>
                <a:buNone/>
              </a:pPr>
              <a:r>
                <a:rPr lang="en-US" altLang="en-US" sz="1000" dirty="0"/>
                <a:t>physical</a:t>
              </a:r>
              <a:endParaRPr lang="en-US" altLang="en-US" sz="2400" dirty="0"/>
            </a:p>
          </p:txBody>
        </p:sp>
        <p:sp>
          <p:nvSpPr>
            <p:cNvPr id="610" name="Line 231"/>
            <p:cNvSpPr>
              <a:spLocks noChangeShapeType="1"/>
            </p:cNvSpPr>
            <p:nvPr/>
          </p:nvSpPr>
          <p:spPr bwMode="auto">
            <a:xfrm>
              <a:off x="4245" y="651"/>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611" name="Line 232"/>
            <p:cNvSpPr>
              <a:spLocks noChangeShapeType="1"/>
            </p:cNvSpPr>
            <p:nvPr/>
          </p:nvSpPr>
          <p:spPr bwMode="auto">
            <a:xfrm>
              <a:off x="4251" y="738"/>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613" name="Line 233"/>
            <p:cNvSpPr>
              <a:spLocks noChangeShapeType="1"/>
            </p:cNvSpPr>
            <p:nvPr/>
          </p:nvSpPr>
          <p:spPr bwMode="auto">
            <a:xfrm>
              <a:off x="4251" y="82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614" name="Freeform 917"/>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grpSp>
        <p:nvGrpSpPr>
          <p:cNvPr id="631" name="Group 619"/>
          <p:cNvGrpSpPr/>
          <p:nvPr/>
        </p:nvGrpSpPr>
        <p:grpSpPr bwMode="auto">
          <a:xfrm>
            <a:off x="10104523" y="4743539"/>
            <a:ext cx="1050926" cy="974725"/>
            <a:chOff x="4047" y="414"/>
            <a:chExt cx="662" cy="614"/>
          </a:xfrm>
        </p:grpSpPr>
        <p:sp>
          <p:nvSpPr>
            <p:cNvPr id="632" name="Rectangle 227"/>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p>
          </p:txBody>
        </p:sp>
        <p:sp>
          <p:nvSpPr>
            <p:cNvPr id="633" name="Rectangle 228"/>
            <p:cNvSpPr>
              <a:spLocks noChangeArrowheads="1"/>
            </p:cNvSpPr>
            <p:nvPr/>
          </p:nvSpPr>
          <p:spPr bwMode="auto">
            <a:xfrm>
              <a:off x="4245" y="435"/>
              <a:ext cx="435" cy="504"/>
            </a:xfrm>
            <a:prstGeom prst="rect">
              <a:avLst/>
            </a:prstGeom>
            <a:solidFill>
              <a:schemeClr val="bg1"/>
            </a:solidFill>
            <a:ln w="12700">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p>
          </p:txBody>
        </p:sp>
        <p:sp>
          <p:nvSpPr>
            <p:cNvPr id="634" name="Rectangle 229"/>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p>
          </p:txBody>
        </p:sp>
        <p:sp>
          <p:nvSpPr>
            <p:cNvPr id="636" name="Text Box 230"/>
            <p:cNvSpPr txBox="1">
              <a:spLocks noChangeArrowheads="1"/>
            </p:cNvSpPr>
            <p:nvPr/>
          </p:nvSpPr>
          <p:spPr bwMode="auto">
            <a:xfrm>
              <a:off x="4196" y="414"/>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000" dirty="0">
                  <a:solidFill>
                    <a:schemeClr val="bg1"/>
                  </a:solidFill>
                </a:rPr>
                <a:t>application</a:t>
              </a:r>
              <a:endParaRPr lang="en-US" altLang="en-US" sz="1000" dirty="0"/>
            </a:p>
            <a:p>
              <a:pPr algn="ctr">
                <a:spcBef>
                  <a:spcPct val="0"/>
                </a:spcBef>
                <a:buClrTx/>
                <a:buSzTx/>
                <a:buFontTx/>
                <a:buNone/>
              </a:pPr>
              <a:r>
                <a:rPr lang="en-US" altLang="en-US" sz="1000" dirty="0"/>
                <a:t>transport</a:t>
              </a:r>
              <a:endParaRPr lang="en-US" altLang="en-US" sz="1000" dirty="0"/>
            </a:p>
            <a:p>
              <a:pPr algn="ctr">
                <a:spcBef>
                  <a:spcPct val="0"/>
                </a:spcBef>
                <a:buClrTx/>
                <a:buSzTx/>
                <a:buFontTx/>
                <a:buNone/>
              </a:pPr>
              <a:r>
                <a:rPr lang="en-US" altLang="en-US" sz="1000" dirty="0"/>
                <a:t>network</a:t>
              </a:r>
              <a:endParaRPr lang="en-US" altLang="en-US" sz="1000" dirty="0"/>
            </a:p>
            <a:p>
              <a:pPr algn="ctr">
                <a:spcBef>
                  <a:spcPct val="0"/>
                </a:spcBef>
                <a:buClrTx/>
                <a:buSzTx/>
                <a:buFontTx/>
                <a:buNone/>
              </a:pPr>
              <a:r>
                <a:rPr lang="en-US" altLang="en-US" sz="1000" dirty="0"/>
                <a:t>data link</a:t>
              </a:r>
              <a:endParaRPr lang="en-US" altLang="en-US" sz="1000" dirty="0"/>
            </a:p>
            <a:p>
              <a:pPr algn="ctr">
                <a:spcBef>
                  <a:spcPct val="0"/>
                </a:spcBef>
                <a:buClrTx/>
                <a:buSzTx/>
                <a:buFontTx/>
                <a:buNone/>
              </a:pPr>
              <a:r>
                <a:rPr lang="en-US" altLang="en-US" sz="1000" dirty="0"/>
                <a:t>physical</a:t>
              </a:r>
              <a:endParaRPr lang="en-US" altLang="en-US" sz="2400" dirty="0"/>
            </a:p>
          </p:txBody>
        </p:sp>
        <p:sp>
          <p:nvSpPr>
            <p:cNvPr id="637" name="Line 231"/>
            <p:cNvSpPr>
              <a:spLocks noChangeShapeType="1"/>
            </p:cNvSpPr>
            <p:nvPr/>
          </p:nvSpPr>
          <p:spPr bwMode="auto">
            <a:xfrm>
              <a:off x="4245" y="651"/>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639" name="Line 232"/>
            <p:cNvSpPr>
              <a:spLocks noChangeShapeType="1"/>
            </p:cNvSpPr>
            <p:nvPr/>
          </p:nvSpPr>
          <p:spPr bwMode="auto">
            <a:xfrm>
              <a:off x="4251" y="738"/>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640" name="Line 233"/>
            <p:cNvSpPr>
              <a:spLocks noChangeShapeType="1"/>
            </p:cNvSpPr>
            <p:nvPr/>
          </p:nvSpPr>
          <p:spPr bwMode="auto">
            <a:xfrm>
              <a:off x="4251" y="82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641" name="Freeform 917"/>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grpSp>
        <p:nvGrpSpPr>
          <p:cNvPr id="642" name="Group 628"/>
          <p:cNvGrpSpPr/>
          <p:nvPr/>
        </p:nvGrpSpPr>
        <p:grpSpPr bwMode="auto">
          <a:xfrm>
            <a:off x="7962986" y="4374557"/>
            <a:ext cx="1060451" cy="965200"/>
            <a:chOff x="4047" y="420"/>
            <a:chExt cx="668" cy="608"/>
          </a:xfrm>
        </p:grpSpPr>
        <p:sp>
          <p:nvSpPr>
            <p:cNvPr id="643" name="Rectangle 227"/>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p>
          </p:txBody>
        </p:sp>
        <p:sp>
          <p:nvSpPr>
            <p:cNvPr id="644" name="Rectangle 228"/>
            <p:cNvSpPr>
              <a:spLocks noChangeArrowheads="1"/>
            </p:cNvSpPr>
            <p:nvPr/>
          </p:nvSpPr>
          <p:spPr bwMode="auto">
            <a:xfrm>
              <a:off x="4245" y="435"/>
              <a:ext cx="435" cy="504"/>
            </a:xfrm>
            <a:prstGeom prst="rect">
              <a:avLst/>
            </a:prstGeom>
            <a:solidFill>
              <a:schemeClr val="bg1"/>
            </a:solidFill>
            <a:ln w="12700">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p>
          </p:txBody>
        </p:sp>
        <p:sp>
          <p:nvSpPr>
            <p:cNvPr id="645" name="Rectangle 229"/>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p>
          </p:txBody>
        </p:sp>
        <p:sp>
          <p:nvSpPr>
            <p:cNvPr id="646" name="Text Box 230"/>
            <p:cNvSpPr txBox="1">
              <a:spLocks noChangeArrowheads="1"/>
            </p:cNvSpPr>
            <p:nvPr/>
          </p:nvSpPr>
          <p:spPr bwMode="auto">
            <a:xfrm>
              <a:off x="4202" y="423"/>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000" dirty="0">
                  <a:solidFill>
                    <a:schemeClr val="bg1"/>
                  </a:solidFill>
                </a:rPr>
                <a:t>application</a:t>
              </a:r>
              <a:endParaRPr lang="en-US" altLang="en-US" sz="1000" dirty="0"/>
            </a:p>
            <a:p>
              <a:pPr algn="ctr">
                <a:spcBef>
                  <a:spcPct val="0"/>
                </a:spcBef>
                <a:buClrTx/>
                <a:buSzTx/>
                <a:buFontTx/>
                <a:buNone/>
              </a:pPr>
              <a:r>
                <a:rPr lang="en-US" altLang="en-US" sz="1000" dirty="0"/>
                <a:t>transport</a:t>
              </a:r>
              <a:endParaRPr lang="en-US" altLang="en-US" sz="1000" dirty="0"/>
            </a:p>
            <a:p>
              <a:pPr algn="ctr">
                <a:spcBef>
                  <a:spcPct val="0"/>
                </a:spcBef>
                <a:buClrTx/>
                <a:buSzTx/>
                <a:buFontTx/>
                <a:buNone/>
              </a:pPr>
              <a:r>
                <a:rPr lang="en-US" altLang="en-US" sz="1000" dirty="0"/>
                <a:t>network</a:t>
              </a:r>
              <a:endParaRPr lang="en-US" altLang="en-US" sz="1000" dirty="0"/>
            </a:p>
            <a:p>
              <a:pPr algn="ctr">
                <a:spcBef>
                  <a:spcPct val="0"/>
                </a:spcBef>
                <a:buClrTx/>
                <a:buSzTx/>
                <a:buFontTx/>
                <a:buNone/>
              </a:pPr>
              <a:r>
                <a:rPr lang="en-US" altLang="en-US" sz="1000" dirty="0"/>
                <a:t>data link</a:t>
              </a:r>
              <a:endParaRPr lang="en-US" altLang="en-US" sz="1000" dirty="0"/>
            </a:p>
            <a:p>
              <a:pPr algn="ctr">
                <a:spcBef>
                  <a:spcPct val="0"/>
                </a:spcBef>
                <a:buClrTx/>
                <a:buSzTx/>
                <a:buFontTx/>
                <a:buNone/>
              </a:pPr>
              <a:r>
                <a:rPr lang="en-US" altLang="en-US" sz="1000" dirty="0"/>
                <a:t>physical</a:t>
              </a:r>
              <a:endParaRPr lang="en-US" altLang="en-US" sz="2400" dirty="0"/>
            </a:p>
          </p:txBody>
        </p:sp>
        <p:sp>
          <p:nvSpPr>
            <p:cNvPr id="647" name="Line 231"/>
            <p:cNvSpPr>
              <a:spLocks noChangeShapeType="1"/>
            </p:cNvSpPr>
            <p:nvPr/>
          </p:nvSpPr>
          <p:spPr bwMode="auto">
            <a:xfrm>
              <a:off x="4245" y="651"/>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648" name="Line 232"/>
            <p:cNvSpPr>
              <a:spLocks noChangeShapeType="1"/>
            </p:cNvSpPr>
            <p:nvPr/>
          </p:nvSpPr>
          <p:spPr bwMode="auto">
            <a:xfrm>
              <a:off x="4251" y="738"/>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649" name="Line 233"/>
            <p:cNvSpPr>
              <a:spLocks noChangeShapeType="1"/>
            </p:cNvSpPr>
            <p:nvPr/>
          </p:nvSpPr>
          <p:spPr bwMode="auto">
            <a:xfrm>
              <a:off x="4251" y="825"/>
              <a:ext cx="435" cy="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650" name="Freeform 917"/>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651" name="Line 913"/>
          <p:cNvSpPr>
            <a:spLocks noChangeShapeType="1"/>
          </p:cNvSpPr>
          <p:nvPr/>
        </p:nvSpPr>
        <p:spPr bwMode="auto">
          <a:xfrm>
            <a:off x="8998030" y="4451439"/>
            <a:ext cx="1290637" cy="54133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52" name="Line 911"/>
          <p:cNvSpPr>
            <a:spLocks noChangeShapeType="1"/>
          </p:cNvSpPr>
          <p:nvPr/>
        </p:nvSpPr>
        <p:spPr bwMode="auto">
          <a:xfrm>
            <a:off x="9093280" y="1325651"/>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Creating a network </a:t>
            </a:r>
            <a:r>
              <a:rPr lang="en-US" altLang="en-US" dirty="0">
                <a:ea typeface="MS PGothic" panose="020B0600070205080204" pitchFamily="34" charset="-128"/>
              </a:rPr>
              <a:t>a</a:t>
            </a:r>
            <a:r>
              <a:rPr lang="en-US" altLang="en-US" sz="4400" dirty="0">
                <a:ea typeface="MS PGothic" panose="020B0600070205080204" pitchFamily="34" charset="-128"/>
              </a:rPr>
              <a:t>pp</a:t>
            </a:r>
            <a:endParaRPr lang="en-US" sz="4400" dirty="0"/>
          </a:p>
        </p:txBody>
      </p:sp>
      <p:sp>
        <p:nvSpPr>
          <p:cNvPr id="656" name="Content Placeholder 3"/>
          <p:cNvSpPr txBox="1"/>
          <p:nvPr/>
        </p:nvSpPr>
        <p:spPr>
          <a:xfrm>
            <a:off x="889178" y="1334086"/>
            <a:ext cx="5309184"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970" indent="0">
              <a:buClr>
                <a:srgbClr val="0000A8"/>
              </a:buClr>
              <a:buNone/>
            </a:pPr>
            <a:r>
              <a:rPr lang="en-US" altLang="en-US" dirty="0">
                <a:solidFill>
                  <a:srgbClr val="C00000"/>
                </a:solidFill>
                <a:ea typeface="MS PGothic" panose="020B0600070205080204" pitchFamily="34" charset="-128"/>
              </a:rPr>
              <a:t>write programs that:</a:t>
            </a:r>
            <a:endParaRPr lang="en-US" altLang="en-US" dirty="0">
              <a:solidFill>
                <a:srgbClr val="C00000"/>
              </a:solidFill>
              <a:ea typeface="MS PGothic" panose="020B0600070205080204" pitchFamily="34" charset="-128"/>
            </a:endParaRPr>
          </a:p>
          <a:p>
            <a:pPr marL="346075" indent="-231775"/>
            <a:r>
              <a:rPr lang="en-US" altLang="en-US" sz="2400" dirty="0">
                <a:ea typeface="MS PGothic" panose="020B0600070205080204" pitchFamily="34" charset="-128"/>
              </a:rPr>
              <a:t>run on (different) end systems</a:t>
            </a:r>
            <a:endParaRPr lang="en-US" altLang="en-US" sz="2400" dirty="0">
              <a:ea typeface="MS PGothic" panose="020B0600070205080204" pitchFamily="34" charset="-128"/>
            </a:endParaRPr>
          </a:p>
          <a:p>
            <a:pPr marL="346075" indent="-231775"/>
            <a:r>
              <a:rPr lang="en-US" altLang="en-US" sz="2400" dirty="0">
                <a:ea typeface="MS PGothic" panose="020B0600070205080204" pitchFamily="34" charset="-128"/>
              </a:rPr>
              <a:t>communicate over network</a:t>
            </a:r>
            <a:endParaRPr lang="en-US" altLang="en-US" sz="2400" dirty="0">
              <a:ea typeface="MS PGothic" panose="020B0600070205080204" pitchFamily="34" charset="-128"/>
            </a:endParaRPr>
          </a:p>
          <a:p>
            <a:pPr marL="346075" indent="-231775"/>
            <a:r>
              <a:rPr lang="en-US" altLang="en-US" sz="2400" dirty="0">
                <a:ea typeface="MS PGothic" panose="020B0600070205080204" pitchFamily="34" charset="-128"/>
              </a:rPr>
              <a:t>e.g., web server software communicates with browser software</a:t>
            </a:r>
            <a:endParaRPr lang="en-US" altLang="en-US" sz="2400" dirty="0">
              <a:ea typeface="MS PGothic" panose="020B0600070205080204" pitchFamily="34" charset="-128"/>
            </a:endParaRPr>
          </a:p>
          <a:p>
            <a:pPr marL="13970" indent="0">
              <a:buClr>
                <a:srgbClr val="0000A8"/>
              </a:buClr>
              <a:buNone/>
            </a:pPr>
            <a:r>
              <a:rPr lang="en-US" altLang="en-US" dirty="0">
                <a:solidFill>
                  <a:srgbClr val="C00000"/>
                </a:solidFill>
                <a:ea typeface="MS PGothic" panose="020B0600070205080204" pitchFamily="34" charset="-128"/>
              </a:rPr>
              <a:t>no need to write software for network-core devices</a:t>
            </a:r>
            <a:endParaRPr lang="en-US" altLang="en-US" dirty="0">
              <a:solidFill>
                <a:srgbClr val="C00000"/>
              </a:solidFill>
              <a:ea typeface="MS PGothic" panose="020B0600070205080204" pitchFamily="34" charset="-128"/>
            </a:endParaRPr>
          </a:p>
          <a:p>
            <a:pPr marL="346075" indent="-231775"/>
            <a:r>
              <a:rPr lang="en-US" altLang="en-US" sz="2400" dirty="0">
                <a:ea typeface="MS PGothic" panose="020B0600070205080204" pitchFamily="34" charset="-128"/>
              </a:rPr>
              <a:t>network-core devices do not run user applications </a:t>
            </a:r>
            <a:endParaRPr lang="en-US" altLang="en-US" sz="2400" dirty="0">
              <a:ea typeface="MS PGothic" panose="020B0600070205080204" pitchFamily="34" charset="-128"/>
            </a:endParaRPr>
          </a:p>
          <a:p>
            <a:pPr marL="346075" indent="-231775"/>
            <a:r>
              <a:rPr lang="en-US" altLang="en-US" sz="2400" dirty="0">
                <a:ea typeface="MS PGothic" panose="020B0600070205080204" pitchFamily="34" charset="-128"/>
              </a:rPr>
              <a:t>applications on end systems  allows for rapid app development, propagation</a:t>
            </a:r>
            <a:endParaRPr lang="en-US" altLang="en-US" sz="2400" dirty="0">
              <a:ea typeface="MS PGothic" panose="020B0600070205080204" pitchFamily="34" charset="-128"/>
            </a:endParaRPr>
          </a:p>
          <a:p>
            <a:endParaRPr lang="en-US" sz="3200" dirty="0"/>
          </a:p>
        </p:txBody>
      </p:sp>
      <p:grpSp>
        <p:nvGrpSpPr>
          <p:cNvPr id="661" name="Group 950"/>
          <p:cNvGrpSpPr/>
          <p:nvPr/>
        </p:nvGrpSpPr>
        <p:grpSpPr bwMode="auto">
          <a:xfrm>
            <a:off x="10002508" y="5616400"/>
            <a:ext cx="214974" cy="403920"/>
            <a:chOff x="4140" y="429"/>
            <a:chExt cx="1425" cy="2396"/>
          </a:xfrm>
        </p:grpSpPr>
        <p:sp>
          <p:nvSpPr>
            <p:cNvPr id="662"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3"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64"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5"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6"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67" name="Group 956"/>
            <p:cNvGrpSpPr/>
            <p:nvPr/>
          </p:nvGrpSpPr>
          <p:grpSpPr bwMode="auto">
            <a:xfrm>
              <a:off x="4749" y="668"/>
              <a:ext cx="581" cy="145"/>
              <a:chOff x="614" y="2568"/>
              <a:chExt cx="725" cy="139"/>
            </a:xfrm>
          </p:grpSpPr>
          <p:sp>
            <p:nvSpPr>
              <p:cNvPr id="692"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93"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68"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69" name="Group 960"/>
            <p:cNvGrpSpPr/>
            <p:nvPr/>
          </p:nvGrpSpPr>
          <p:grpSpPr bwMode="auto">
            <a:xfrm>
              <a:off x="4747" y="994"/>
              <a:ext cx="581" cy="134"/>
              <a:chOff x="614" y="2568"/>
              <a:chExt cx="725" cy="139"/>
            </a:xfrm>
          </p:grpSpPr>
          <p:sp>
            <p:nvSpPr>
              <p:cNvPr id="690"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91"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0"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1"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72" name="Group 965"/>
            <p:cNvGrpSpPr/>
            <p:nvPr/>
          </p:nvGrpSpPr>
          <p:grpSpPr bwMode="auto">
            <a:xfrm>
              <a:off x="4735" y="1627"/>
              <a:ext cx="582" cy="151"/>
              <a:chOff x="614" y="2568"/>
              <a:chExt cx="725" cy="139"/>
            </a:xfrm>
          </p:grpSpPr>
          <p:sp>
            <p:nvSpPr>
              <p:cNvPr id="688"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9"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3"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674" name="Group 969"/>
            <p:cNvGrpSpPr/>
            <p:nvPr/>
          </p:nvGrpSpPr>
          <p:grpSpPr bwMode="auto">
            <a:xfrm>
              <a:off x="4739" y="1327"/>
              <a:ext cx="582" cy="139"/>
              <a:chOff x="614" y="2568"/>
              <a:chExt cx="725" cy="139"/>
            </a:xfrm>
          </p:grpSpPr>
          <p:sp>
            <p:nvSpPr>
              <p:cNvPr id="686"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7"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5"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6"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77"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78"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9"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80"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1"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2"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3"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684"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5"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59"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1"/>
                                        </p:tgtEl>
                                        <p:attrNameLst>
                                          <p:attrName>style.visibility</p:attrName>
                                        </p:attrNameLst>
                                      </p:cBhvr>
                                      <p:to>
                                        <p:strVal val="visible"/>
                                      </p:to>
                                    </p:set>
                                    <p:animEffect transition="in" filter="dissolve">
                                      <p:cBhvr>
                                        <p:cTn id="12" dur="500"/>
                                        <p:tgtEl>
                                          <p:spTgt spid="571"/>
                                        </p:tgtEl>
                                      </p:cBhvr>
                                    </p:animEffect>
                                  </p:childTnLst>
                                </p:cTn>
                              </p:par>
                              <p:par>
                                <p:cTn id="13" presetID="9" presetClass="entr" presetSubtype="0" fill="hold" nodeType="withEffect">
                                  <p:stCondLst>
                                    <p:cond delay="0"/>
                                  </p:stCondLst>
                                  <p:childTnLst>
                                    <p:set>
                                      <p:cBhvr>
                                        <p:cTn id="14" dur="1" fill="hold">
                                          <p:stCondLst>
                                            <p:cond delay="0"/>
                                          </p:stCondLst>
                                        </p:cTn>
                                        <p:tgtEl>
                                          <p:spTgt spid="631"/>
                                        </p:tgtEl>
                                        <p:attrNameLst>
                                          <p:attrName>style.visibility</p:attrName>
                                        </p:attrNameLst>
                                      </p:cBhvr>
                                      <p:to>
                                        <p:strVal val="visible"/>
                                      </p:to>
                                    </p:set>
                                    <p:animEffect transition="in" filter="dissolve">
                                      <p:cBhvr>
                                        <p:cTn id="15" dur="500"/>
                                        <p:tgtEl>
                                          <p:spTgt spid="631"/>
                                        </p:tgtEl>
                                      </p:cBhvr>
                                    </p:animEffect>
                                  </p:childTnLst>
                                </p:cTn>
                              </p:par>
                              <p:par>
                                <p:cTn id="16" presetID="9" presetClass="entr" presetSubtype="0" fill="hold" nodeType="withEffect">
                                  <p:stCondLst>
                                    <p:cond delay="0"/>
                                  </p:stCondLst>
                                  <p:childTnLst>
                                    <p:set>
                                      <p:cBhvr>
                                        <p:cTn id="17" dur="1" fill="hold">
                                          <p:stCondLst>
                                            <p:cond delay="0"/>
                                          </p:stCondLst>
                                        </p:cTn>
                                        <p:tgtEl>
                                          <p:spTgt spid="642"/>
                                        </p:tgtEl>
                                        <p:attrNameLst>
                                          <p:attrName>style.visibility</p:attrName>
                                        </p:attrNameLst>
                                      </p:cBhvr>
                                      <p:to>
                                        <p:strVal val="visible"/>
                                      </p:to>
                                    </p:set>
                                    <p:animEffect transition="in" filter="dissolve">
                                      <p:cBhvr>
                                        <p:cTn id="18" dur="500"/>
                                        <p:tgtEl>
                                          <p:spTgt spid="642"/>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652"/>
                                        </p:tgtEl>
                                        <p:attrNameLst>
                                          <p:attrName>style.visibility</p:attrName>
                                        </p:attrNameLst>
                                      </p:cBhvr>
                                      <p:to>
                                        <p:strVal val="visible"/>
                                      </p:to>
                                    </p:set>
                                    <p:animEffect transition="in" filter="dissolve">
                                      <p:cBhvr>
                                        <p:cTn id="23" dur="500"/>
                                        <p:tgtEl>
                                          <p:spTgt spid="652"/>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651"/>
                                        </p:tgtEl>
                                        <p:attrNameLst>
                                          <p:attrName>style.visibility</p:attrName>
                                        </p:attrNameLst>
                                      </p:cBhvr>
                                      <p:to>
                                        <p:strVal val="visible"/>
                                      </p:to>
                                    </p:set>
                                    <p:animEffect transition="in" filter="dissolve">
                                      <p:cBhvr>
                                        <p:cTn id="26" dur="500"/>
                                        <p:tgtEl>
                                          <p:spTgt spid="6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51" grpId="0" animBg="1"/>
      <p:bldP spid="652"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1" fmla="*/ 434989 w 1537226"/>
              <a:gd name="connsiteY0-2" fmla="*/ 253346 h 1763594"/>
              <a:gd name="connsiteX1-3" fmla="*/ 488 w 1537226"/>
              <a:gd name="connsiteY1-4" fmla="*/ 921706 h 1763594"/>
              <a:gd name="connsiteX2-5" fmla="*/ 368142 w 1537226"/>
              <a:gd name="connsiteY2-6" fmla="*/ 1489812 h 1763594"/>
              <a:gd name="connsiteX3-7" fmla="*/ 1187008 w 1537226"/>
              <a:gd name="connsiteY3-8" fmla="*/ 1757156 h 1763594"/>
              <a:gd name="connsiteX4-9" fmla="*/ 1521239 w 1537226"/>
              <a:gd name="connsiteY4-10" fmla="*/ 1239177 h 1763594"/>
              <a:gd name="connsiteX5-11" fmla="*/ 1468998 w 1537226"/>
              <a:gd name="connsiteY5-12" fmla="*/ 654362 h 1763594"/>
              <a:gd name="connsiteX6-13" fmla="*/ 1337412 w 1537226"/>
              <a:gd name="connsiteY6-14" fmla="*/ 136383 h 1763594"/>
              <a:gd name="connsiteX7-15" fmla="*/ 1086739 w 1537226"/>
              <a:gd name="connsiteY7-16" fmla="*/ 2711 h 1763594"/>
              <a:gd name="connsiteX8-17" fmla="*/ 434989 w 1537226"/>
              <a:gd name="connsiteY8-18" fmla="*/ 253346 h 1763594"/>
              <a:gd name="connsiteX0-19" fmla="*/ 434989 w 1537226"/>
              <a:gd name="connsiteY0-20" fmla="*/ 253346 h 1763594"/>
              <a:gd name="connsiteX1-21" fmla="*/ 488 w 1537226"/>
              <a:gd name="connsiteY1-22" fmla="*/ 921706 h 1763594"/>
              <a:gd name="connsiteX2-23" fmla="*/ 368142 w 1537226"/>
              <a:gd name="connsiteY2-24" fmla="*/ 1489812 h 1763594"/>
              <a:gd name="connsiteX3-25" fmla="*/ 1187008 w 1537226"/>
              <a:gd name="connsiteY3-26" fmla="*/ 1757156 h 1763594"/>
              <a:gd name="connsiteX4-27" fmla="*/ 1521239 w 1537226"/>
              <a:gd name="connsiteY4-28" fmla="*/ 1239177 h 1763594"/>
              <a:gd name="connsiteX5-29" fmla="*/ 1468998 w 1537226"/>
              <a:gd name="connsiteY5-30" fmla="*/ 654362 h 1763594"/>
              <a:gd name="connsiteX6-31" fmla="*/ 1337412 w 1537226"/>
              <a:gd name="connsiteY6-32" fmla="*/ 136383 h 1763594"/>
              <a:gd name="connsiteX7-33" fmla="*/ 839572 w 1537226"/>
              <a:gd name="connsiteY7-34" fmla="*/ 2711 h 1763594"/>
              <a:gd name="connsiteX8-35" fmla="*/ 434989 w 1537226"/>
              <a:gd name="connsiteY8-36" fmla="*/ 253346 h 1763594"/>
              <a:gd name="connsiteX0-37" fmla="*/ 360357 w 1536743"/>
              <a:gd name="connsiteY0-38" fmla="*/ 534641 h 1782088"/>
              <a:gd name="connsiteX1-39" fmla="*/ 5 w 1536743"/>
              <a:gd name="connsiteY1-40" fmla="*/ 940200 h 1782088"/>
              <a:gd name="connsiteX2-41" fmla="*/ 367659 w 1536743"/>
              <a:gd name="connsiteY2-42" fmla="*/ 1508306 h 1782088"/>
              <a:gd name="connsiteX3-43" fmla="*/ 1186525 w 1536743"/>
              <a:gd name="connsiteY3-44" fmla="*/ 1775650 h 1782088"/>
              <a:gd name="connsiteX4-45" fmla="*/ 1520756 w 1536743"/>
              <a:gd name="connsiteY4-46" fmla="*/ 1257671 h 1782088"/>
              <a:gd name="connsiteX5-47" fmla="*/ 1468515 w 1536743"/>
              <a:gd name="connsiteY5-48" fmla="*/ 672856 h 1782088"/>
              <a:gd name="connsiteX6-49" fmla="*/ 1336929 w 1536743"/>
              <a:gd name="connsiteY6-50" fmla="*/ 154877 h 1782088"/>
              <a:gd name="connsiteX7-51" fmla="*/ 839089 w 1536743"/>
              <a:gd name="connsiteY7-52" fmla="*/ 21205 h 1782088"/>
              <a:gd name="connsiteX8-53" fmla="*/ 360357 w 1536743"/>
              <a:gd name="connsiteY8-54" fmla="*/ 534641 h 1782088"/>
              <a:gd name="connsiteX0-55" fmla="*/ 360355 w 1536741"/>
              <a:gd name="connsiteY0-56" fmla="*/ 534641 h 1782088"/>
              <a:gd name="connsiteX1-57" fmla="*/ 3 w 1536741"/>
              <a:gd name="connsiteY1-58" fmla="*/ 940200 h 1782088"/>
              <a:gd name="connsiteX2-59" fmla="*/ 367657 w 1536741"/>
              <a:gd name="connsiteY2-60" fmla="*/ 1508306 h 1782088"/>
              <a:gd name="connsiteX3-61" fmla="*/ 1186523 w 1536741"/>
              <a:gd name="connsiteY3-62" fmla="*/ 1775650 h 1782088"/>
              <a:gd name="connsiteX4-63" fmla="*/ 1520754 w 1536741"/>
              <a:gd name="connsiteY4-64" fmla="*/ 1257671 h 1782088"/>
              <a:gd name="connsiteX5-65" fmla="*/ 1468513 w 1536741"/>
              <a:gd name="connsiteY5-66" fmla="*/ 672856 h 1782088"/>
              <a:gd name="connsiteX6-67" fmla="*/ 1336927 w 1536741"/>
              <a:gd name="connsiteY6-68" fmla="*/ 154877 h 1782088"/>
              <a:gd name="connsiteX7-69" fmla="*/ 839087 w 1536741"/>
              <a:gd name="connsiteY7-70" fmla="*/ 21205 h 1782088"/>
              <a:gd name="connsiteX8-71" fmla="*/ 360355 w 1536741"/>
              <a:gd name="connsiteY8-72" fmla="*/ 534641 h 1782088"/>
              <a:gd name="connsiteX0-73" fmla="*/ 382604 w 1558990"/>
              <a:gd name="connsiteY0-74" fmla="*/ 534641 h 1810599"/>
              <a:gd name="connsiteX1-75" fmla="*/ 22252 w 1558990"/>
              <a:gd name="connsiteY1-76" fmla="*/ 940200 h 1810599"/>
              <a:gd name="connsiteX2-77" fmla="*/ 167457 w 1558990"/>
              <a:gd name="connsiteY2-78" fmla="*/ 1672556 h 1810599"/>
              <a:gd name="connsiteX3-79" fmla="*/ 1208772 w 1558990"/>
              <a:gd name="connsiteY3-80" fmla="*/ 1775650 h 1810599"/>
              <a:gd name="connsiteX4-81" fmla="*/ 1543003 w 1558990"/>
              <a:gd name="connsiteY4-82" fmla="*/ 1257671 h 1810599"/>
              <a:gd name="connsiteX5-83" fmla="*/ 1490762 w 1558990"/>
              <a:gd name="connsiteY5-84" fmla="*/ 672856 h 1810599"/>
              <a:gd name="connsiteX6-85" fmla="*/ 1359176 w 1558990"/>
              <a:gd name="connsiteY6-86" fmla="*/ 154877 h 1810599"/>
              <a:gd name="connsiteX7-87" fmla="*/ 861336 w 1558990"/>
              <a:gd name="connsiteY7-88" fmla="*/ 21205 h 1810599"/>
              <a:gd name="connsiteX8-89" fmla="*/ 382604 w 1558990"/>
              <a:gd name="connsiteY8-90" fmla="*/ 534641 h 1810599"/>
              <a:gd name="connsiteX0-91" fmla="*/ 393458 w 1593840"/>
              <a:gd name="connsiteY0-92" fmla="*/ 534641 h 1793264"/>
              <a:gd name="connsiteX1-93" fmla="*/ 33106 w 1593840"/>
              <a:gd name="connsiteY1-94" fmla="*/ 940200 h 1793264"/>
              <a:gd name="connsiteX2-95" fmla="*/ 178311 w 1593840"/>
              <a:gd name="connsiteY2-96" fmla="*/ 1672556 h 1793264"/>
              <a:gd name="connsiteX3-97" fmla="*/ 1464139 w 1593840"/>
              <a:gd name="connsiteY3-98" fmla="*/ 1752440 h 1793264"/>
              <a:gd name="connsiteX4-99" fmla="*/ 1553857 w 1593840"/>
              <a:gd name="connsiteY4-100" fmla="*/ 1257671 h 1793264"/>
              <a:gd name="connsiteX5-101" fmla="*/ 1501616 w 1593840"/>
              <a:gd name="connsiteY5-102" fmla="*/ 672856 h 1793264"/>
              <a:gd name="connsiteX6-103" fmla="*/ 1370030 w 1593840"/>
              <a:gd name="connsiteY6-104" fmla="*/ 154877 h 1793264"/>
              <a:gd name="connsiteX7-105" fmla="*/ 872190 w 1593840"/>
              <a:gd name="connsiteY7-106" fmla="*/ 21205 h 1793264"/>
              <a:gd name="connsiteX8-107" fmla="*/ 393458 w 1593840"/>
              <a:gd name="connsiteY8-108" fmla="*/ 534641 h 1793264"/>
              <a:gd name="connsiteX0-109" fmla="*/ 393458 w 1566550"/>
              <a:gd name="connsiteY0-110" fmla="*/ 534641 h 1840341"/>
              <a:gd name="connsiteX1-111" fmla="*/ 33106 w 1566550"/>
              <a:gd name="connsiteY1-112" fmla="*/ 940200 h 1840341"/>
              <a:gd name="connsiteX2-113" fmla="*/ 178311 w 1566550"/>
              <a:gd name="connsiteY2-114" fmla="*/ 1672556 h 1840341"/>
              <a:gd name="connsiteX3-115" fmla="*/ 1464139 w 1566550"/>
              <a:gd name="connsiteY3-116" fmla="*/ 1752440 h 1840341"/>
              <a:gd name="connsiteX4-117" fmla="*/ 1553857 w 1566550"/>
              <a:gd name="connsiteY4-118" fmla="*/ 1257671 h 1840341"/>
              <a:gd name="connsiteX5-119" fmla="*/ 1501616 w 1566550"/>
              <a:gd name="connsiteY5-120" fmla="*/ 672856 h 1840341"/>
              <a:gd name="connsiteX6-121" fmla="*/ 1370030 w 1566550"/>
              <a:gd name="connsiteY6-122" fmla="*/ 154877 h 1840341"/>
              <a:gd name="connsiteX7-123" fmla="*/ 872190 w 1566550"/>
              <a:gd name="connsiteY7-124" fmla="*/ 21205 h 1840341"/>
              <a:gd name="connsiteX8-125" fmla="*/ 393458 w 1566550"/>
              <a:gd name="connsiteY8-126" fmla="*/ 534641 h 1840341"/>
              <a:gd name="connsiteX0-127" fmla="*/ 393458 w 1555557"/>
              <a:gd name="connsiteY0-128" fmla="*/ 534641 h 1787187"/>
              <a:gd name="connsiteX1-129" fmla="*/ 33106 w 1555557"/>
              <a:gd name="connsiteY1-130" fmla="*/ 940200 h 1787187"/>
              <a:gd name="connsiteX2-131" fmla="*/ 178311 w 1555557"/>
              <a:gd name="connsiteY2-132" fmla="*/ 1672556 h 1787187"/>
              <a:gd name="connsiteX3-133" fmla="*/ 1464139 w 1555557"/>
              <a:gd name="connsiteY3-134" fmla="*/ 1752440 h 1787187"/>
              <a:gd name="connsiteX4-135" fmla="*/ 1553857 w 1555557"/>
              <a:gd name="connsiteY4-136" fmla="*/ 1257671 h 1787187"/>
              <a:gd name="connsiteX5-137" fmla="*/ 1501616 w 1555557"/>
              <a:gd name="connsiteY5-138" fmla="*/ 672856 h 1787187"/>
              <a:gd name="connsiteX6-139" fmla="*/ 1370030 w 1555557"/>
              <a:gd name="connsiteY6-140" fmla="*/ 154877 h 1787187"/>
              <a:gd name="connsiteX7-141" fmla="*/ 872190 w 1555557"/>
              <a:gd name="connsiteY7-142" fmla="*/ 21205 h 1787187"/>
              <a:gd name="connsiteX8-143" fmla="*/ 393458 w 1555557"/>
              <a:gd name="connsiteY8-144" fmla="*/ 534641 h 1787187"/>
              <a:gd name="connsiteX0-145" fmla="*/ 401126 w 1664928"/>
              <a:gd name="connsiteY0-146" fmla="*/ 534641 h 1783934"/>
              <a:gd name="connsiteX1-147" fmla="*/ 40774 w 1664928"/>
              <a:gd name="connsiteY1-148" fmla="*/ 940200 h 1783934"/>
              <a:gd name="connsiteX2-149" fmla="*/ 185979 w 1664928"/>
              <a:gd name="connsiteY2-150" fmla="*/ 1672556 h 1783934"/>
              <a:gd name="connsiteX3-151" fmla="*/ 1618513 w 1664928"/>
              <a:gd name="connsiteY3-152" fmla="*/ 1747798 h 1783934"/>
              <a:gd name="connsiteX4-153" fmla="*/ 1561525 w 1664928"/>
              <a:gd name="connsiteY4-154" fmla="*/ 1257671 h 1783934"/>
              <a:gd name="connsiteX5-155" fmla="*/ 1509284 w 1664928"/>
              <a:gd name="connsiteY5-156" fmla="*/ 672856 h 1783934"/>
              <a:gd name="connsiteX6-157" fmla="*/ 1377698 w 1664928"/>
              <a:gd name="connsiteY6-158" fmla="*/ 154877 h 1783934"/>
              <a:gd name="connsiteX7-159" fmla="*/ 879858 w 1664928"/>
              <a:gd name="connsiteY7-160" fmla="*/ 21205 h 1783934"/>
              <a:gd name="connsiteX8-161" fmla="*/ 401126 w 1664928"/>
              <a:gd name="connsiteY8-162" fmla="*/ 534641 h 1783934"/>
              <a:gd name="connsiteX0-163" fmla="*/ 408119 w 1718774"/>
              <a:gd name="connsiteY0-164" fmla="*/ 534641 h 1826522"/>
              <a:gd name="connsiteX1-165" fmla="*/ 47767 w 1718774"/>
              <a:gd name="connsiteY1-166" fmla="*/ 940200 h 1826522"/>
              <a:gd name="connsiteX2-167" fmla="*/ 179001 w 1718774"/>
              <a:gd name="connsiteY2-168" fmla="*/ 1742186 h 1826522"/>
              <a:gd name="connsiteX3-169" fmla="*/ 1625506 w 1718774"/>
              <a:gd name="connsiteY3-170" fmla="*/ 1747798 h 1826522"/>
              <a:gd name="connsiteX4-171" fmla="*/ 1568518 w 1718774"/>
              <a:gd name="connsiteY4-172" fmla="*/ 1257671 h 1826522"/>
              <a:gd name="connsiteX5-173" fmla="*/ 1516277 w 1718774"/>
              <a:gd name="connsiteY5-174" fmla="*/ 672856 h 1826522"/>
              <a:gd name="connsiteX6-175" fmla="*/ 1384691 w 1718774"/>
              <a:gd name="connsiteY6-176" fmla="*/ 154877 h 1826522"/>
              <a:gd name="connsiteX7-177" fmla="*/ 886851 w 1718774"/>
              <a:gd name="connsiteY7-178" fmla="*/ 21205 h 1826522"/>
              <a:gd name="connsiteX8-179" fmla="*/ 408119 w 1718774"/>
              <a:gd name="connsiteY8-180" fmla="*/ 534641 h 1826522"/>
              <a:gd name="connsiteX0-181" fmla="*/ 477759 w 1796623"/>
              <a:gd name="connsiteY0-182" fmla="*/ 534641 h 1818043"/>
              <a:gd name="connsiteX1-183" fmla="*/ 117407 w 1796623"/>
              <a:gd name="connsiteY1-184" fmla="*/ 940200 h 1818043"/>
              <a:gd name="connsiteX2-185" fmla="*/ 136864 w 1796623"/>
              <a:gd name="connsiteY2-186" fmla="*/ 1728260 h 1818043"/>
              <a:gd name="connsiteX3-187" fmla="*/ 1695146 w 1796623"/>
              <a:gd name="connsiteY3-188" fmla="*/ 1747798 h 1818043"/>
              <a:gd name="connsiteX4-189" fmla="*/ 1638158 w 1796623"/>
              <a:gd name="connsiteY4-190" fmla="*/ 1257671 h 1818043"/>
              <a:gd name="connsiteX5-191" fmla="*/ 1585917 w 1796623"/>
              <a:gd name="connsiteY5-192" fmla="*/ 672856 h 1818043"/>
              <a:gd name="connsiteX6-193" fmla="*/ 1454331 w 1796623"/>
              <a:gd name="connsiteY6-194" fmla="*/ 154877 h 1818043"/>
              <a:gd name="connsiteX7-195" fmla="*/ 956491 w 1796623"/>
              <a:gd name="connsiteY7-196" fmla="*/ 21205 h 1818043"/>
              <a:gd name="connsiteX8-197" fmla="*/ 477759 w 1796623"/>
              <a:gd name="connsiteY8-198" fmla="*/ 534641 h 1818043"/>
              <a:gd name="connsiteX0-199" fmla="*/ 396783 w 1688820"/>
              <a:gd name="connsiteY0-200" fmla="*/ 534641 h 1815615"/>
              <a:gd name="connsiteX1-201" fmla="*/ 36431 w 1688820"/>
              <a:gd name="connsiteY1-202" fmla="*/ 940200 h 1815615"/>
              <a:gd name="connsiteX2-203" fmla="*/ 55888 w 1688820"/>
              <a:gd name="connsiteY2-204" fmla="*/ 1728260 h 1815615"/>
              <a:gd name="connsiteX3-205" fmla="*/ 421834 w 1688820"/>
              <a:gd name="connsiteY3-206" fmla="*/ 1798118 h 1815615"/>
              <a:gd name="connsiteX4-207" fmla="*/ 1614170 w 1688820"/>
              <a:gd name="connsiteY4-208" fmla="*/ 1747798 h 1815615"/>
              <a:gd name="connsiteX5-209" fmla="*/ 1557182 w 1688820"/>
              <a:gd name="connsiteY5-210" fmla="*/ 1257671 h 1815615"/>
              <a:gd name="connsiteX6-211" fmla="*/ 1504941 w 1688820"/>
              <a:gd name="connsiteY6-212" fmla="*/ 672856 h 1815615"/>
              <a:gd name="connsiteX7-213" fmla="*/ 1373355 w 1688820"/>
              <a:gd name="connsiteY7-214" fmla="*/ 154877 h 1815615"/>
              <a:gd name="connsiteX8-215" fmla="*/ 875515 w 1688820"/>
              <a:gd name="connsiteY8-216" fmla="*/ 21205 h 1815615"/>
              <a:gd name="connsiteX9" fmla="*/ 396783 w 1688820"/>
              <a:gd name="connsiteY9" fmla="*/ 534641 h 1815615"/>
              <a:gd name="connsiteX0-217" fmla="*/ 394951 w 1689541"/>
              <a:gd name="connsiteY0-218" fmla="*/ 534641 h 1877271"/>
              <a:gd name="connsiteX1-219" fmla="*/ 34599 w 1689541"/>
              <a:gd name="connsiteY1-220" fmla="*/ 940200 h 1877271"/>
              <a:gd name="connsiteX2-221" fmla="*/ 54056 w 1689541"/>
              <a:gd name="connsiteY2-222" fmla="*/ 1728260 h 1877271"/>
              <a:gd name="connsiteX3-223" fmla="*/ 385071 w 1689541"/>
              <a:gd name="connsiteY3-224" fmla="*/ 1877032 h 1877271"/>
              <a:gd name="connsiteX4-225" fmla="*/ 1612338 w 1689541"/>
              <a:gd name="connsiteY4-226" fmla="*/ 1747798 h 1877271"/>
              <a:gd name="connsiteX5-227" fmla="*/ 1555350 w 1689541"/>
              <a:gd name="connsiteY5-228" fmla="*/ 1257671 h 1877271"/>
              <a:gd name="connsiteX6-229" fmla="*/ 1503109 w 1689541"/>
              <a:gd name="connsiteY6-230" fmla="*/ 672856 h 1877271"/>
              <a:gd name="connsiteX7-231" fmla="*/ 1371523 w 1689541"/>
              <a:gd name="connsiteY7-232" fmla="*/ 154877 h 1877271"/>
              <a:gd name="connsiteX8-233" fmla="*/ 873683 w 1689541"/>
              <a:gd name="connsiteY8-234" fmla="*/ 21205 h 1877271"/>
              <a:gd name="connsiteX9-235" fmla="*/ 394951 w 1689541"/>
              <a:gd name="connsiteY9-236" fmla="*/ 534641 h 1877271"/>
              <a:gd name="connsiteX0-237" fmla="*/ 394949 w 1689541"/>
              <a:gd name="connsiteY0-238" fmla="*/ 534641 h 1877032"/>
              <a:gd name="connsiteX1-239" fmla="*/ 34597 w 1689541"/>
              <a:gd name="connsiteY1-240" fmla="*/ 940200 h 1877032"/>
              <a:gd name="connsiteX2-241" fmla="*/ 54054 w 1689541"/>
              <a:gd name="connsiteY2-242" fmla="*/ 1728260 h 1877032"/>
              <a:gd name="connsiteX3-243" fmla="*/ 385069 w 1689541"/>
              <a:gd name="connsiteY3-244" fmla="*/ 1877032 h 1877032"/>
              <a:gd name="connsiteX4-245" fmla="*/ 1612336 w 1689541"/>
              <a:gd name="connsiteY4-246" fmla="*/ 1747798 h 1877032"/>
              <a:gd name="connsiteX5-247" fmla="*/ 1555348 w 1689541"/>
              <a:gd name="connsiteY5-248" fmla="*/ 1257671 h 1877032"/>
              <a:gd name="connsiteX6-249" fmla="*/ 1503107 w 1689541"/>
              <a:gd name="connsiteY6-250" fmla="*/ 672856 h 1877032"/>
              <a:gd name="connsiteX7-251" fmla="*/ 1371521 w 1689541"/>
              <a:gd name="connsiteY7-252" fmla="*/ 154877 h 1877032"/>
              <a:gd name="connsiteX8-253" fmla="*/ 873681 w 1689541"/>
              <a:gd name="connsiteY8-254" fmla="*/ 21205 h 1877032"/>
              <a:gd name="connsiteX9-255" fmla="*/ 394949 w 1689541"/>
              <a:gd name="connsiteY9-256" fmla="*/ 534641 h 1877032"/>
              <a:gd name="connsiteX0-257" fmla="*/ 394949 w 1683795"/>
              <a:gd name="connsiteY0-258" fmla="*/ 534641 h 1877032"/>
              <a:gd name="connsiteX1-259" fmla="*/ 34597 w 1683795"/>
              <a:gd name="connsiteY1-260" fmla="*/ 940200 h 1877032"/>
              <a:gd name="connsiteX2-261" fmla="*/ 54054 w 1683795"/>
              <a:gd name="connsiteY2-262" fmla="*/ 1728260 h 1877032"/>
              <a:gd name="connsiteX3-263" fmla="*/ 385069 w 1683795"/>
              <a:gd name="connsiteY3-264" fmla="*/ 1877032 h 1877032"/>
              <a:gd name="connsiteX4-265" fmla="*/ 1605349 w 1683795"/>
              <a:gd name="connsiteY4-266" fmla="*/ 1798860 h 1877032"/>
              <a:gd name="connsiteX5-267" fmla="*/ 1555348 w 1683795"/>
              <a:gd name="connsiteY5-268" fmla="*/ 1257671 h 1877032"/>
              <a:gd name="connsiteX6-269" fmla="*/ 1503107 w 1683795"/>
              <a:gd name="connsiteY6-270" fmla="*/ 672856 h 1877032"/>
              <a:gd name="connsiteX7-271" fmla="*/ 1371521 w 1683795"/>
              <a:gd name="connsiteY7-272" fmla="*/ 154877 h 1877032"/>
              <a:gd name="connsiteX8-273" fmla="*/ 873681 w 1683795"/>
              <a:gd name="connsiteY8-274" fmla="*/ 21205 h 1877032"/>
              <a:gd name="connsiteX9-275" fmla="*/ 394949 w 1683795"/>
              <a:gd name="connsiteY9-276" fmla="*/ 534641 h 1877032"/>
              <a:gd name="connsiteX0-277" fmla="*/ 394949 w 1720794"/>
              <a:gd name="connsiteY0-278" fmla="*/ 534641 h 1877032"/>
              <a:gd name="connsiteX1-279" fmla="*/ 34597 w 1720794"/>
              <a:gd name="connsiteY1-280" fmla="*/ 940200 h 1877032"/>
              <a:gd name="connsiteX2-281" fmla="*/ 54054 w 1720794"/>
              <a:gd name="connsiteY2-282" fmla="*/ 1728260 h 1877032"/>
              <a:gd name="connsiteX3-283" fmla="*/ 385069 w 1720794"/>
              <a:gd name="connsiteY3-284" fmla="*/ 1877032 h 1877032"/>
              <a:gd name="connsiteX4-285" fmla="*/ 1605349 w 1720794"/>
              <a:gd name="connsiteY4-286" fmla="*/ 1798860 h 1877032"/>
              <a:gd name="connsiteX5-287" fmla="*/ 1555348 w 1720794"/>
              <a:gd name="connsiteY5-288" fmla="*/ 1257671 h 1877032"/>
              <a:gd name="connsiteX6-289" fmla="*/ 1503107 w 1720794"/>
              <a:gd name="connsiteY6-290" fmla="*/ 672856 h 1877032"/>
              <a:gd name="connsiteX7-291" fmla="*/ 1371521 w 1720794"/>
              <a:gd name="connsiteY7-292" fmla="*/ 154877 h 1877032"/>
              <a:gd name="connsiteX8-293" fmla="*/ 873681 w 1720794"/>
              <a:gd name="connsiteY8-294" fmla="*/ 21205 h 1877032"/>
              <a:gd name="connsiteX9-295" fmla="*/ 394949 w 1720794"/>
              <a:gd name="connsiteY9-296" fmla="*/ 534641 h 1877032"/>
              <a:gd name="connsiteX0-297" fmla="*/ 394949 w 1720794"/>
              <a:gd name="connsiteY0-298" fmla="*/ 534641 h 1877032"/>
              <a:gd name="connsiteX1-299" fmla="*/ 34597 w 1720794"/>
              <a:gd name="connsiteY1-300" fmla="*/ 940200 h 1877032"/>
              <a:gd name="connsiteX2-301" fmla="*/ 54054 w 1720794"/>
              <a:gd name="connsiteY2-302" fmla="*/ 1728260 h 1877032"/>
              <a:gd name="connsiteX3-303" fmla="*/ 385069 w 1720794"/>
              <a:gd name="connsiteY3-304" fmla="*/ 1877032 h 1877032"/>
              <a:gd name="connsiteX4-305" fmla="*/ 1605349 w 1720794"/>
              <a:gd name="connsiteY4-306" fmla="*/ 1798860 h 1877032"/>
              <a:gd name="connsiteX5-307" fmla="*/ 1555348 w 1720794"/>
              <a:gd name="connsiteY5-308" fmla="*/ 1257671 h 1877032"/>
              <a:gd name="connsiteX6-309" fmla="*/ 1503107 w 1720794"/>
              <a:gd name="connsiteY6-310" fmla="*/ 672856 h 1877032"/>
              <a:gd name="connsiteX7-311" fmla="*/ 1371521 w 1720794"/>
              <a:gd name="connsiteY7-312" fmla="*/ 154877 h 1877032"/>
              <a:gd name="connsiteX8-313" fmla="*/ 873681 w 1720794"/>
              <a:gd name="connsiteY8-314" fmla="*/ 21205 h 1877032"/>
              <a:gd name="connsiteX9-315" fmla="*/ 394949 w 1720794"/>
              <a:gd name="connsiteY9-316" fmla="*/ 534641 h 1877032"/>
              <a:gd name="connsiteX0-317" fmla="*/ 394949 w 1671512"/>
              <a:gd name="connsiteY0-318" fmla="*/ 534641 h 1877032"/>
              <a:gd name="connsiteX1-319" fmla="*/ 34597 w 1671512"/>
              <a:gd name="connsiteY1-320" fmla="*/ 940200 h 1877032"/>
              <a:gd name="connsiteX2-321" fmla="*/ 54054 w 1671512"/>
              <a:gd name="connsiteY2-322" fmla="*/ 1728260 h 1877032"/>
              <a:gd name="connsiteX3-323" fmla="*/ 385069 w 1671512"/>
              <a:gd name="connsiteY3-324" fmla="*/ 1877032 h 1877032"/>
              <a:gd name="connsiteX4-325" fmla="*/ 1605349 w 1671512"/>
              <a:gd name="connsiteY4-326" fmla="*/ 1798860 h 1877032"/>
              <a:gd name="connsiteX5-327" fmla="*/ 1555348 w 1671512"/>
              <a:gd name="connsiteY5-328" fmla="*/ 1257671 h 1877032"/>
              <a:gd name="connsiteX6-329" fmla="*/ 1503107 w 1671512"/>
              <a:gd name="connsiteY6-330" fmla="*/ 672856 h 1877032"/>
              <a:gd name="connsiteX7-331" fmla="*/ 1371521 w 1671512"/>
              <a:gd name="connsiteY7-332" fmla="*/ 154877 h 1877032"/>
              <a:gd name="connsiteX8-333" fmla="*/ 873681 w 1671512"/>
              <a:gd name="connsiteY8-334" fmla="*/ 21205 h 1877032"/>
              <a:gd name="connsiteX9-335" fmla="*/ 394949 w 1671512"/>
              <a:gd name="connsiteY9-336" fmla="*/ 534641 h 1877032"/>
              <a:gd name="connsiteX0-337" fmla="*/ 394949 w 1677296"/>
              <a:gd name="connsiteY0-338" fmla="*/ 534641 h 1877032"/>
              <a:gd name="connsiteX1-339" fmla="*/ 34597 w 1677296"/>
              <a:gd name="connsiteY1-340" fmla="*/ 940200 h 1877032"/>
              <a:gd name="connsiteX2-341" fmla="*/ 54054 w 1677296"/>
              <a:gd name="connsiteY2-342" fmla="*/ 1728260 h 1877032"/>
              <a:gd name="connsiteX3-343" fmla="*/ 385069 w 1677296"/>
              <a:gd name="connsiteY3-344" fmla="*/ 1877032 h 1877032"/>
              <a:gd name="connsiteX4-345" fmla="*/ 1612334 w 1677296"/>
              <a:gd name="connsiteY4-346" fmla="*/ 1840637 h 1877032"/>
              <a:gd name="connsiteX5-347" fmla="*/ 1555348 w 1677296"/>
              <a:gd name="connsiteY5-348" fmla="*/ 1257671 h 1877032"/>
              <a:gd name="connsiteX6-349" fmla="*/ 1503107 w 1677296"/>
              <a:gd name="connsiteY6-350" fmla="*/ 672856 h 1877032"/>
              <a:gd name="connsiteX7-351" fmla="*/ 1371521 w 1677296"/>
              <a:gd name="connsiteY7-352" fmla="*/ 154877 h 1877032"/>
              <a:gd name="connsiteX8-353" fmla="*/ 873681 w 1677296"/>
              <a:gd name="connsiteY8-354" fmla="*/ 21205 h 1877032"/>
              <a:gd name="connsiteX9-355" fmla="*/ 394949 w 1677296"/>
              <a:gd name="connsiteY9-356" fmla="*/ 534641 h 1877032"/>
              <a:gd name="connsiteX0-357" fmla="*/ 394949 w 1677298"/>
              <a:gd name="connsiteY0-358" fmla="*/ 534641 h 1877032"/>
              <a:gd name="connsiteX1-359" fmla="*/ 34597 w 1677298"/>
              <a:gd name="connsiteY1-360" fmla="*/ 940200 h 1877032"/>
              <a:gd name="connsiteX2-361" fmla="*/ 54054 w 1677298"/>
              <a:gd name="connsiteY2-362" fmla="*/ 1728260 h 1877032"/>
              <a:gd name="connsiteX3-363" fmla="*/ 385069 w 1677298"/>
              <a:gd name="connsiteY3-364" fmla="*/ 1877032 h 1877032"/>
              <a:gd name="connsiteX4-365" fmla="*/ 1612334 w 1677298"/>
              <a:gd name="connsiteY4-366" fmla="*/ 1840637 h 1877032"/>
              <a:gd name="connsiteX5-367" fmla="*/ 1555348 w 1677298"/>
              <a:gd name="connsiteY5-368" fmla="*/ 1257671 h 1877032"/>
              <a:gd name="connsiteX6-369" fmla="*/ 1503107 w 1677298"/>
              <a:gd name="connsiteY6-370" fmla="*/ 672856 h 1877032"/>
              <a:gd name="connsiteX7-371" fmla="*/ 1371521 w 1677298"/>
              <a:gd name="connsiteY7-372" fmla="*/ 154877 h 1877032"/>
              <a:gd name="connsiteX8-373" fmla="*/ 873681 w 1677298"/>
              <a:gd name="connsiteY8-374" fmla="*/ 21205 h 1877032"/>
              <a:gd name="connsiteX9-375" fmla="*/ 394949 w 1677298"/>
              <a:gd name="connsiteY9-376" fmla="*/ 534641 h 1877032"/>
              <a:gd name="connsiteX0-377" fmla="*/ 394949 w 1677296"/>
              <a:gd name="connsiteY0-378" fmla="*/ 534641 h 1904936"/>
              <a:gd name="connsiteX1-379" fmla="*/ 34597 w 1677296"/>
              <a:gd name="connsiteY1-380" fmla="*/ 940200 h 1904936"/>
              <a:gd name="connsiteX2-381" fmla="*/ 54054 w 1677296"/>
              <a:gd name="connsiteY2-382" fmla="*/ 1728260 h 1904936"/>
              <a:gd name="connsiteX3-383" fmla="*/ 385069 w 1677296"/>
              <a:gd name="connsiteY3-384" fmla="*/ 1877032 h 1904936"/>
              <a:gd name="connsiteX4-385" fmla="*/ 1612334 w 1677296"/>
              <a:gd name="connsiteY4-386" fmla="*/ 1840637 h 1904936"/>
              <a:gd name="connsiteX5-387" fmla="*/ 1555348 w 1677296"/>
              <a:gd name="connsiteY5-388" fmla="*/ 1257671 h 1904936"/>
              <a:gd name="connsiteX6-389" fmla="*/ 1503107 w 1677296"/>
              <a:gd name="connsiteY6-390" fmla="*/ 672856 h 1904936"/>
              <a:gd name="connsiteX7-391" fmla="*/ 1371521 w 1677296"/>
              <a:gd name="connsiteY7-392" fmla="*/ 154877 h 1904936"/>
              <a:gd name="connsiteX8-393" fmla="*/ 873681 w 1677296"/>
              <a:gd name="connsiteY8-394" fmla="*/ 21205 h 1904936"/>
              <a:gd name="connsiteX9-395" fmla="*/ 394949 w 1677296"/>
              <a:gd name="connsiteY9-396" fmla="*/ 534641 h 1904936"/>
              <a:gd name="connsiteX0-397" fmla="*/ 461539 w 1743887"/>
              <a:gd name="connsiteY0-398" fmla="*/ 534641 h 1904936"/>
              <a:gd name="connsiteX1-399" fmla="*/ 101187 w 1743887"/>
              <a:gd name="connsiteY1-400" fmla="*/ 940200 h 1904936"/>
              <a:gd name="connsiteX2-401" fmla="*/ 22840 w 1743887"/>
              <a:gd name="connsiteY2-402" fmla="*/ 1737812 h 1904936"/>
              <a:gd name="connsiteX3-403" fmla="*/ 451659 w 1743887"/>
              <a:gd name="connsiteY3-404" fmla="*/ 1877032 h 1904936"/>
              <a:gd name="connsiteX4-405" fmla="*/ 1678924 w 1743887"/>
              <a:gd name="connsiteY4-406" fmla="*/ 1840637 h 1904936"/>
              <a:gd name="connsiteX5-407" fmla="*/ 1621938 w 1743887"/>
              <a:gd name="connsiteY5-408" fmla="*/ 1257671 h 1904936"/>
              <a:gd name="connsiteX6-409" fmla="*/ 1569697 w 1743887"/>
              <a:gd name="connsiteY6-410" fmla="*/ 672856 h 1904936"/>
              <a:gd name="connsiteX7-411" fmla="*/ 1438111 w 1743887"/>
              <a:gd name="connsiteY7-412" fmla="*/ 154877 h 1904936"/>
              <a:gd name="connsiteX8-413" fmla="*/ 940271 w 1743887"/>
              <a:gd name="connsiteY8-414" fmla="*/ 21205 h 1904936"/>
              <a:gd name="connsiteX9-415" fmla="*/ 461539 w 1743887"/>
              <a:gd name="connsiteY9-416" fmla="*/ 534641 h 1904936"/>
              <a:gd name="connsiteX0-417" fmla="*/ 452050 w 1756359"/>
              <a:gd name="connsiteY0-418" fmla="*/ 534641 h 1891359"/>
              <a:gd name="connsiteX1-419" fmla="*/ 91698 w 1756359"/>
              <a:gd name="connsiteY1-420" fmla="*/ 940200 h 1891359"/>
              <a:gd name="connsiteX2-421" fmla="*/ 13351 w 1756359"/>
              <a:gd name="connsiteY2-422" fmla="*/ 1737812 h 1891359"/>
              <a:gd name="connsiteX3-423" fmla="*/ 309435 w 1756359"/>
              <a:gd name="connsiteY3-424" fmla="*/ 1891359 h 1891359"/>
              <a:gd name="connsiteX4-425" fmla="*/ 1669435 w 1756359"/>
              <a:gd name="connsiteY4-426" fmla="*/ 1840637 h 1891359"/>
              <a:gd name="connsiteX5-427" fmla="*/ 1612449 w 1756359"/>
              <a:gd name="connsiteY5-428" fmla="*/ 1257671 h 1891359"/>
              <a:gd name="connsiteX6-429" fmla="*/ 1560208 w 1756359"/>
              <a:gd name="connsiteY6-430" fmla="*/ 672856 h 1891359"/>
              <a:gd name="connsiteX7-431" fmla="*/ 1428622 w 1756359"/>
              <a:gd name="connsiteY7-432" fmla="*/ 154877 h 1891359"/>
              <a:gd name="connsiteX8-433" fmla="*/ 930782 w 1756359"/>
              <a:gd name="connsiteY8-434" fmla="*/ 21205 h 1891359"/>
              <a:gd name="connsiteX9-435" fmla="*/ 452050 w 1756359"/>
              <a:gd name="connsiteY9-436" fmla="*/ 534641 h 1891359"/>
              <a:gd name="connsiteX0-437" fmla="*/ 452050 w 1756257"/>
              <a:gd name="connsiteY0-438" fmla="*/ 534641 h 1891359"/>
              <a:gd name="connsiteX1-439" fmla="*/ 91698 w 1756257"/>
              <a:gd name="connsiteY1-440" fmla="*/ 940200 h 1891359"/>
              <a:gd name="connsiteX2-441" fmla="*/ 13351 w 1756257"/>
              <a:gd name="connsiteY2-442" fmla="*/ 1737812 h 1891359"/>
              <a:gd name="connsiteX3-443" fmla="*/ 309435 w 1756257"/>
              <a:gd name="connsiteY3-444" fmla="*/ 1891359 h 1891359"/>
              <a:gd name="connsiteX4-445" fmla="*/ 1669435 w 1756257"/>
              <a:gd name="connsiteY4-446" fmla="*/ 1840637 h 1891359"/>
              <a:gd name="connsiteX5-447" fmla="*/ 1612449 w 1756257"/>
              <a:gd name="connsiteY5-448" fmla="*/ 1257671 h 1891359"/>
              <a:gd name="connsiteX6-449" fmla="*/ 1563496 w 1756257"/>
              <a:gd name="connsiteY6-450" fmla="*/ 959631 h 1891359"/>
              <a:gd name="connsiteX7-451" fmla="*/ 1560208 w 1756257"/>
              <a:gd name="connsiteY7-452" fmla="*/ 672856 h 1891359"/>
              <a:gd name="connsiteX8-453" fmla="*/ 1428622 w 1756257"/>
              <a:gd name="connsiteY8-454" fmla="*/ 154877 h 1891359"/>
              <a:gd name="connsiteX9-455" fmla="*/ 930782 w 1756257"/>
              <a:gd name="connsiteY9-456" fmla="*/ 21205 h 1891359"/>
              <a:gd name="connsiteX10" fmla="*/ 452050 w 1756257"/>
              <a:gd name="connsiteY10" fmla="*/ 534641 h 1891359"/>
              <a:gd name="connsiteX0-457" fmla="*/ 452050 w 1764590"/>
              <a:gd name="connsiteY0-458" fmla="*/ 534641 h 1891359"/>
              <a:gd name="connsiteX1-459" fmla="*/ 91698 w 1764590"/>
              <a:gd name="connsiteY1-460" fmla="*/ 940200 h 1891359"/>
              <a:gd name="connsiteX2-461" fmla="*/ 13351 w 1764590"/>
              <a:gd name="connsiteY2-462" fmla="*/ 1737812 h 1891359"/>
              <a:gd name="connsiteX3-463" fmla="*/ 309435 w 1764590"/>
              <a:gd name="connsiteY3-464" fmla="*/ 1891359 h 1891359"/>
              <a:gd name="connsiteX4-465" fmla="*/ 1669435 w 1764590"/>
              <a:gd name="connsiteY4-466" fmla="*/ 1840637 h 1891359"/>
              <a:gd name="connsiteX5-467" fmla="*/ 1612449 w 1764590"/>
              <a:gd name="connsiteY5-468" fmla="*/ 1257671 h 1891359"/>
              <a:gd name="connsiteX6-469" fmla="*/ 1309780 w 1764590"/>
              <a:gd name="connsiteY6-470" fmla="*/ 1046341 h 1891359"/>
              <a:gd name="connsiteX7-471" fmla="*/ 1560208 w 1764590"/>
              <a:gd name="connsiteY7-472" fmla="*/ 672856 h 1891359"/>
              <a:gd name="connsiteX8-473" fmla="*/ 1428622 w 1764590"/>
              <a:gd name="connsiteY8-474" fmla="*/ 154877 h 1891359"/>
              <a:gd name="connsiteX9-475" fmla="*/ 930782 w 1764590"/>
              <a:gd name="connsiteY9-476" fmla="*/ 21205 h 1891359"/>
              <a:gd name="connsiteX10-477" fmla="*/ 452050 w 1764590"/>
              <a:gd name="connsiteY10-478" fmla="*/ 534641 h 1891359"/>
              <a:gd name="connsiteX0-479" fmla="*/ 452050 w 1764592"/>
              <a:gd name="connsiteY0-480" fmla="*/ 534641 h 1891359"/>
              <a:gd name="connsiteX1-481" fmla="*/ 91698 w 1764592"/>
              <a:gd name="connsiteY1-482" fmla="*/ 940200 h 1891359"/>
              <a:gd name="connsiteX2-483" fmla="*/ 13351 w 1764592"/>
              <a:gd name="connsiteY2-484" fmla="*/ 1737812 h 1891359"/>
              <a:gd name="connsiteX3-485" fmla="*/ 309435 w 1764592"/>
              <a:gd name="connsiteY3-486" fmla="*/ 1891359 h 1891359"/>
              <a:gd name="connsiteX4-487" fmla="*/ 1669435 w 1764592"/>
              <a:gd name="connsiteY4-488" fmla="*/ 1840637 h 1891359"/>
              <a:gd name="connsiteX5-489" fmla="*/ 1612449 w 1764592"/>
              <a:gd name="connsiteY5-490" fmla="*/ 1257671 h 1891359"/>
              <a:gd name="connsiteX6-491" fmla="*/ 1309780 w 1764592"/>
              <a:gd name="connsiteY6-492" fmla="*/ 1046341 h 1891359"/>
              <a:gd name="connsiteX7-493" fmla="*/ 1560208 w 1764592"/>
              <a:gd name="connsiteY7-494" fmla="*/ 672856 h 1891359"/>
              <a:gd name="connsiteX8-495" fmla="*/ 1428622 w 1764592"/>
              <a:gd name="connsiteY8-496" fmla="*/ 154877 h 1891359"/>
              <a:gd name="connsiteX9-497" fmla="*/ 930782 w 1764592"/>
              <a:gd name="connsiteY9-498" fmla="*/ 21205 h 1891359"/>
              <a:gd name="connsiteX10-499" fmla="*/ 452050 w 1764592"/>
              <a:gd name="connsiteY10-500" fmla="*/ 534641 h 1891359"/>
              <a:gd name="connsiteX0-501" fmla="*/ 452050 w 1764590"/>
              <a:gd name="connsiteY0-502" fmla="*/ 534641 h 1891359"/>
              <a:gd name="connsiteX1-503" fmla="*/ 91698 w 1764590"/>
              <a:gd name="connsiteY1-504" fmla="*/ 940200 h 1891359"/>
              <a:gd name="connsiteX2-505" fmla="*/ 13351 w 1764590"/>
              <a:gd name="connsiteY2-506" fmla="*/ 1737812 h 1891359"/>
              <a:gd name="connsiteX3-507" fmla="*/ 309435 w 1764590"/>
              <a:gd name="connsiteY3-508" fmla="*/ 1891359 h 1891359"/>
              <a:gd name="connsiteX4-509" fmla="*/ 1669435 w 1764590"/>
              <a:gd name="connsiteY4-510" fmla="*/ 1840637 h 1891359"/>
              <a:gd name="connsiteX5-511" fmla="*/ 1612449 w 1764590"/>
              <a:gd name="connsiteY5-512" fmla="*/ 1257671 h 1891359"/>
              <a:gd name="connsiteX6-513" fmla="*/ 1309780 w 1764590"/>
              <a:gd name="connsiteY6-514" fmla="*/ 1046341 h 1891359"/>
              <a:gd name="connsiteX7-515" fmla="*/ 1560208 w 1764590"/>
              <a:gd name="connsiteY7-516" fmla="*/ 672856 h 1891359"/>
              <a:gd name="connsiteX8-517" fmla="*/ 1428622 w 1764590"/>
              <a:gd name="connsiteY8-518" fmla="*/ 154877 h 1891359"/>
              <a:gd name="connsiteX9-519" fmla="*/ 930782 w 1764590"/>
              <a:gd name="connsiteY9-520" fmla="*/ 21205 h 1891359"/>
              <a:gd name="connsiteX10-521" fmla="*/ 452050 w 1764590"/>
              <a:gd name="connsiteY10-522" fmla="*/ 534641 h 1891359"/>
              <a:gd name="connsiteX0-523" fmla="*/ 452050 w 1792731"/>
              <a:gd name="connsiteY0-524" fmla="*/ 534641 h 1891359"/>
              <a:gd name="connsiteX1-525" fmla="*/ 91698 w 1792731"/>
              <a:gd name="connsiteY1-526" fmla="*/ 940200 h 1891359"/>
              <a:gd name="connsiteX2-527" fmla="*/ 13351 w 1792731"/>
              <a:gd name="connsiteY2-528" fmla="*/ 1737812 h 1891359"/>
              <a:gd name="connsiteX3-529" fmla="*/ 309435 w 1792731"/>
              <a:gd name="connsiteY3-530" fmla="*/ 1891359 h 1891359"/>
              <a:gd name="connsiteX4-531" fmla="*/ 1669435 w 1792731"/>
              <a:gd name="connsiteY4-532" fmla="*/ 1840637 h 1891359"/>
              <a:gd name="connsiteX5-533" fmla="*/ 1688563 w 1792731"/>
              <a:gd name="connsiteY5-534" fmla="*/ 1292355 h 1891359"/>
              <a:gd name="connsiteX6-535" fmla="*/ 1309780 w 1792731"/>
              <a:gd name="connsiteY6-536" fmla="*/ 1046341 h 1891359"/>
              <a:gd name="connsiteX7-537" fmla="*/ 1560208 w 1792731"/>
              <a:gd name="connsiteY7-538" fmla="*/ 672856 h 1891359"/>
              <a:gd name="connsiteX8-539" fmla="*/ 1428622 w 1792731"/>
              <a:gd name="connsiteY8-540" fmla="*/ 154877 h 1891359"/>
              <a:gd name="connsiteX9-541" fmla="*/ 930782 w 1792731"/>
              <a:gd name="connsiteY9-542" fmla="*/ 21205 h 1891359"/>
              <a:gd name="connsiteX10-543" fmla="*/ 452050 w 1792731"/>
              <a:gd name="connsiteY10-544" fmla="*/ 534641 h 1891359"/>
              <a:gd name="connsiteX0-545" fmla="*/ 452050 w 1814809"/>
              <a:gd name="connsiteY0-546" fmla="*/ 534641 h 1891359"/>
              <a:gd name="connsiteX1-547" fmla="*/ 91698 w 1814809"/>
              <a:gd name="connsiteY1-548" fmla="*/ 940200 h 1891359"/>
              <a:gd name="connsiteX2-549" fmla="*/ 13351 w 1814809"/>
              <a:gd name="connsiteY2-550" fmla="*/ 1737812 h 1891359"/>
              <a:gd name="connsiteX3-551" fmla="*/ 309435 w 1814809"/>
              <a:gd name="connsiteY3-552" fmla="*/ 1891359 h 1891359"/>
              <a:gd name="connsiteX4-553" fmla="*/ 1669435 w 1814809"/>
              <a:gd name="connsiteY4-554" fmla="*/ 1840637 h 1891359"/>
              <a:gd name="connsiteX5-555" fmla="*/ 1688563 w 1814809"/>
              <a:gd name="connsiteY5-556" fmla="*/ 1292355 h 1891359"/>
              <a:gd name="connsiteX6-557" fmla="*/ 1309780 w 1814809"/>
              <a:gd name="connsiteY6-558" fmla="*/ 1046341 h 1891359"/>
              <a:gd name="connsiteX7-559" fmla="*/ 1560208 w 1814809"/>
              <a:gd name="connsiteY7-560" fmla="*/ 672856 h 1891359"/>
              <a:gd name="connsiteX8-561" fmla="*/ 1428622 w 1814809"/>
              <a:gd name="connsiteY8-562" fmla="*/ 154877 h 1891359"/>
              <a:gd name="connsiteX9-563" fmla="*/ 930782 w 1814809"/>
              <a:gd name="connsiteY9-564" fmla="*/ 21205 h 1891359"/>
              <a:gd name="connsiteX10-565" fmla="*/ 452050 w 1814809"/>
              <a:gd name="connsiteY10-566" fmla="*/ 534641 h 1891359"/>
              <a:gd name="connsiteX0-567" fmla="*/ 452050 w 1814809"/>
              <a:gd name="connsiteY0-568" fmla="*/ 534641 h 1891359"/>
              <a:gd name="connsiteX1-569" fmla="*/ 91698 w 1814809"/>
              <a:gd name="connsiteY1-570" fmla="*/ 940200 h 1891359"/>
              <a:gd name="connsiteX2-571" fmla="*/ 13351 w 1814809"/>
              <a:gd name="connsiteY2-572" fmla="*/ 1737812 h 1891359"/>
              <a:gd name="connsiteX3-573" fmla="*/ 309435 w 1814809"/>
              <a:gd name="connsiteY3-574" fmla="*/ 1891359 h 1891359"/>
              <a:gd name="connsiteX4-575" fmla="*/ 1669435 w 1814809"/>
              <a:gd name="connsiteY4-576" fmla="*/ 1840637 h 1891359"/>
              <a:gd name="connsiteX5-577" fmla="*/ 1688563 w 1814809"/>
              <a:gd name="connsiteY5-578" fmla="*/ 1292355 h 1891359"/>
              <a:gd name="connsiteX6-579" fmla="*/ 1309780 w 1814809"/>
              <a:gd name="connsiteY6-580" fmla="*/ 1046341 h 1891359"/>
              <a:gd name="connsiteX7-581" fmla="*/ 1619996 w 1814809"/>
              <a:gd name="connsiteY7-582" fmla="*/ 526399 h 1891359"/>
              <a:gd name="connsiteX8-583" fmla="*/ 1428622 w 1814809"/>
              <a:gd name="connsiteY8-584" fmla="*/ 154877 h 1891359"/>
              <a:gd name="connsiteX9-585" fmla="*/ 930782 w 1814809"/>
              <a:gd name="connsiteY9-586" fmla="*/ 21205 h 1891359"/>
              <a:gd name="connsiteX10-587" fmla="*/ 452050 w 1814809"/>
              <a:gd name="connsiteY10-588" fmla="*/ 534641 h 1891359"/>
              <a:gd name="connsiteX0-589" fmla="*/ 452050 w 1814809"/>
              <a:gd name="connsiteY0-590" fmla="*/ 542872 h 1899590"/>
              <a:gd name="connsiteX1-591" fmla="*/ 91698 w 1814809"/>
              <a:gd name="connsiteY1-592" fmla="*/ 948431 h 1899590"/>
              <a:gd name="connsiteX2-593" fmla="*/ 13351 w 1814809"/>
              <a:gd name="connsiteY2-594" fmla="*/ 1746043 h 1899590"/>
              <a:gd name="connsiteX3-595" fmla="*/ 309435 w 1814809"/>
              <a:gd name="connsiteY3-596" fmla="*/ 1899590 h 1899590"/>
              <a:gd name="connsiteX4-597" fmla="*/ 1669435 w 1814809"/>
              <a:gd name="connsiteY4-598" fmla="*/ 1848868 h 1899590"/>
              <a:gd name="connsiteX5-599" fmla="*/ 1688563 w 1814809"/>
              <a:gd name="connsiteY5-600" fmla="*/ 1300586 h 1899590"/>
              <a:gd name="connsiteX6-601" fmla="*/ 1309780 w 1814809"/>
              <a:gd name="connsiteY6-602" fmla="*/ 1054572 h 1899590"/>
              <a:gd name="connsiteX7-603" fmla="*/ 1619996 w 1814809"/>
              <a:gd name="connsiteY7-604" fmla="*/ 534630 h 1899590"/>
              <a:gd name="connsiteX8-605" fmla="*/ 1488411 w 1814809"/>
              <a:gd name="connsiteY8-606" fmla="*/ 129049 h 1899590"/>
              <a:gd name="connsiteX9-607" fmla="*/ 930782 w 1814809"/>
              <a:gd name="connsiteY9-608" fmla="*/ 29436 h 1899590"/>
              <a:gd name="connsiteX10-609" fmla="*/ 452050 w 1814809"/>
              <a:gd name="connsiteY10-610" fmla="*/ 542872 h 1899590"/>
              <a:gd name="connsiteX0-611" fmla="*/ 452050 w 1814809"/>
              <a:gd name="connsiteY0-612" fmla="*/ 540513 h 1897231"/>
              <a:gd name="connsiteX1-613" fmla="*/ 91698 w 1814809"/>
              <a:gd name="connsiteY1-614" fmla="*/ 946072 h 1897231"/>
              <a:gd name="connsiteX2-615" fmla="*/ 13351 w 1814809"/>
              <a:gd name="connsiteY2-616" fmla="*/ 1743684 h 1897231"/>
              <a:gd name="connsiteX3-617" fmla="*/ 309435 w 1814809"/>
              <a:gd name="connsiteY3-618" fmla="*/ 1897231 h 1897231"/>
              <a:gd name="connsiteX4-619" fmla="*/ 1669435 w 1814809"/>
              <a:gd name="connsiteY4-620" fmla="*/ 1846509 h 1897231"/>
              <a:gd name="connsiteX5-621" fmla="*/ 1688563 w 1814809"/>
              <a:gd name="connsiteY5-622" fmla="*/ 1298227 h 1897231"/>
              <a:gd name="connsiteX6-623" fmla="*/ 1309780 w 1814809"/>
              <a:gd name="connsiteY6-624" fmla="*/ 1052213 h 1897231"/>
              <a:gd name="connsiteX7-625" fmla="*/ 1619996 w 1814809"/>
              <a:gd name="connsiteY7-626" fmla="*/ 532271 h 1897231"/>
              <a:gd name="connsiteX8-627" fmla="*/ 1488411 w 1814809"/>
              <a:gd name="connsiteY8-628" fmla="*/ 126690 h 1897231"/>
              <a:gd name="connsiteX9-629" fmla="*/ 930782 w 1814809"/>
              <a:gd name="connsiteY9-630" fmla="*/ 27077 h 1897231"/>
              <a:gd name="connsiteX10-631" fmla="*/ 452050 w 1814809"/>
              <a:gd name="connsiteY10-632" fmla="*/ 540513 h 1897231"/>
              <a:gd name="connsiteX0-633" fmla="*/ 452050 w 1814809"/>
              <a:gd name="connsiteY0-634" fmla="*/ 540513 h 1897231"/>
              <a:gd name="connsiteX1-635" fmla="*/ 91698 w 1814809"/>
              <a:gd name="connsiteY1-636" fmla="*/ 946072 h 1897231"/>
              <a:gd name="connsiteX2-637" fmla="*/ 13351 w 1814809"/>
              <a:gd name="connsiteY2-638" fmla="*/ 1743684 h 1897231"/>
              <a:gd name="connsiteX3-639" fmla="*/ 309435 w 1814809"/>
              <a:gd name="connsiteY3-640" fmla="*/ 1897231 h 1897231"/>
              <a:gd name="connsiteX4-641" fmla="*/ 1669435 w 1814809"/>
              <a:gd name="connsiteY4-642" fmla="*/ 1846509 h 1897231"/>
              <a:gd name="connsiteX5-643" fmla="*/ 1688563 w 1814809"/>
              <a:gd name="connsiteY5-644" fmla="*/ 1298227 h 1897231"/>
              <a:gd name="connsiteX6-645" fmla="*/ 1309780 w 1814809"/>
              <a:gd name="connsiteY6-646" fmla="*/ 1052213 h 1897231"/>
              <a:gd name="connsiteX7-647" fmla="*/ 1619996 w 1814809"/>
              <a:gd name="connsiteY7-648" fmla="*/ 532271 h 1897231"/>
              <a:gd name="connsiteX8-649" fmla="*/ 1488411 w 1814809"/>
              <a:gd name="connsiteY8-650" fmla="*/ 126690 h 1897231"/>
              <a:gd name="connsiteX9-651" fmla="*/ 930782 w 1814809"/>
              <a:gd name="connsiteY9-652" fmla="*/ 27077 h 1897231"/>
              <a:gd name="connsiteX10-653" fmla="*/ 452050 w 1814809"/>
              <a:gd name="connsiteY10-654" fmla="*/ 540513 h 1897231"/>
              <a:gd name="connsiteX0-655" fmla="*/ 288567 w 1811701"/>
              <a:gd name="connsiteY0-656" fmla="*/ 555674 h 1898251"/>
              <a:gd name="connsiteX1-657" fmla="*/ 88590 w 1811701"/>
              <a:gd name="connsiteY1-658" fmla="*/ 947092 h 1898251"/>
              <a:gd name="connsiteX2-659" fmla="*/ 10243 w 1811701"/>
              <a:gd name="connsiteY2-660" fmla="*/ 1744704 h 1898251"/>
              <a:gd name="connsiteX3-661" fmla="*/ 306327 w 1811701"/>
              <a:gd name="connsiteY3-662" fmla="*/ 1898251 h 1898251"/>
              <a:gd name="connsiteX4-663" fmla="*/ 1666327 w 1811701"/>
              <a:gd name="connsiteY4-664" fmla="*/ 1847529 h 1898251"/>
              <a:gd name="connsiteX5-665" fmla="*/ 1685455 w 1811701"/>
              <a:gd name="connsiteY5-666" fmla="*/ 1299247 h 1898251"/>
              <a:gd name="connsiteX6-667" fmla="*/ 1306672 w 1811701"/>
              <a:gd name="connsiteY6-668" fmla="*/ 1053233 h 1898251"/>
              <a:gd name="connsiteX7-669" fmla="*/ 1616888 w 1811701"/>
              <a:gd name="connsiteY7-670" fmla="*/ 533291 h 1898251"/>
              <a:gd name="connsiteX8-671" fmla="*/ 1485303 w 1811701"/>
              <a:gd name="connsiteY8-672" fmla="*/ 127710 h 1898251"/>
              <a:gd name="connsiteX9-673" fmla="*/ 927674 w 1811701"/>
              <a:gd name="connsiteY9-674" fmla="*/ 28097 h 1898251"/>
              <a:gd name="connsiteX10-675" fmla="*/ 288567 w 1811701"/>
              <a:gd name="connsiteY10-676" fmla="*/ 555674 h 1898251"/>
              <a:gd name="connsiteX0-677" fmla="*/ 288567 w 1811701"/>
              <a:gd name="connsiteY0-678" fmla="*/ 479828 h 1822405"/>
              <a:gd name="connsiteX1-679" fmla="*/ 88590 w 1811701"/>
              <a:gd name="connsiteY1-680" fmla="*/ 871246 h 1822405"/>
              <a:gd name="connsiteX2-681" fmla="*/ 10243 w 1811701"/>
              <a:gd name="connsiteY2-682" fmla="*/ 1668858 h 1822405"/>
              <a:gd name="connsiteX3-683" fmla="*/ 306327 w 1811701"/>
              <a:gd name="connsiteY3-684" fmla="*/ 1822405 h 1822405"/>
              <a:gd name="connsiteX4-685" fmla="*/ 1666327 w 1811701"/>
              <a:gd name="connsiteY4-686" fmla="*/ 1771683 h 1822405"/>
              <a:gd name="connsiteX5-687" fmla="*/ 1685455 w 1811701"/>
              <a:gd name="connsiteY5-688" fmla="*/ 1223401 h 1822405"/>
              <a:gd name="connsiteX6-689" fmla="*/ 1306672 w 1811701"/>
              <a:gd name="connsiteY6-690" fmla="*/ 977387 h 1822405"/>
              <a:gd name="connsiteX7-691" fmla="*/ 1616888 w 1811701"/>
              <a:gd name="connsiteY7-692" fmla="*/ 457445 h 1822405"/>
              <a:gd name="connsiteX8-693" fmla="*/ 1485303 w 1811701"/>
              <a:gd name="connsiteY8-694" fmla="*/ 51864 h 1822405"/>
              <a:gd name="connsiteX9-695" fmla="*/ 895599 w 1811701"/>
              <a:gd name="connsiteY9-696" fmla="*/ 79530 h 1822405"/>
              <a:gd name="connsiteX10-697" fmla="*/ 288567 w 1811701"/>
              <a:gd name="connsiteY10-698" fmla="*/ 479828 h 1822405"/>
              <a:gd name="connsiteX0-699" fmla="*/ 288567 w 1811701"/>
              <a:gd name="connsiteY0-700" fmla="*/ 419258 h 1761835"/>
              <a:gd name="connsiteX1-701" fmla="*/ 88590 w 1811701"/>
              <a:gd name="connsiteY1-702" fmla="*/ 810676 h 1761835"/>
              <a:gd name="connsiteX2-703" fmla="*/ 10243 w 1811701"/>
              <a:gd name="connsiteY2-704" fmla="*/ 1608288 h 1761835"/>
              <a:gd name="connsiteX3-705" fmla="*/ 306327 w 1811701"/>
              <a:gd name="connsiteY3-706" fmla="*/ 1761835 h 1761835"/>
              <a:gd name="connsiteX4-707" fmla="*/ 1666327 w 1811701"/>
              <a:gd name="connsiteY4-708" fmla="*/ 1711113 h 1761835"/>
              <a:gd name="connsiteX5-709" fmla="*/ 1685455 w 1811701"/>
              <a:gd name="connsiteY5-710" fmla="*/ 1162831 h 1761835"/>
              <a:gd name="connsiteX6-711" fmla="*/ 1306672 w 1811701"/>
              <a:gd name="connsiteY6-712" fmla="*/ 916817 h 1761835"/>
              <a:gd name="connsiteX7-713" fmla="*/ 1616888 w 1811701"/>
              <a:gd name="connsiteY7-714" fmla="*/ 396875 h 1761835"/>
              <a:gd name="connsiteX8-715" fmla="*/ 1373040 w 1811701"/>
              <a:gd name="connsiteY8-716" fmla="*/ 118574 h 1761835"/>
              <a:gd name="connsiteX9-717" fmla="*/ 895599 w 1811701"/>
              <a:gd name="connsiteY9-718" fmla="*/ 18960 h 1761835"/>
              <a:gd name="connsiteX10-719" fmla="*/ 288567 w 1811701"/>
              <a:gd name="connsiteY10-720" fmla="*/ 419258 h 1761835"/>
              <a:gd name="connsiteX0-721" fmla="*/ 288567 w 1811701"/>
              <a:gd name="connsiteY0-722" fmla="*/ 419258 h 1761835"/>
              <a:gd name="connsiteX1-723" fmla="*/ 88590 w 1811701"/>
              <a:gd name="connsiteY1-724" fmla="*/ 810676 h 1761835"/>
              <a:gd name="connsiteX2-725" fmla="*/ 10243 w 1811701"/>
              <a:gd name="connsiteY2-726" fmla="*/ 1608288 h 1761835"/>
              <a:gd name="connsiteX3-727" fmla="*/ 306327 w 1811701"/>
              <a:gd name="connsiteY3-728" fmla="*/ 1761835 h 1761835"/>
              <a:gd name="connsiteX4-729" fmla="*/ 1666327 w 1811701"/>
              <a:gd name="connsiteY4-730" fmla="*/ 1711113 h 1761835"/>
              <a:gd name="connsiteX5-731" fmla="*/ 1685455 w 1811701"/>
              <a:gd name="connsiteY5-732" fmla="*/ 1162831 h 1761835"/>
              <a:gd name="connsiteX6-733" fmla="*/ 1306672 w 1811701"/>
              <a:gd name="connsiteY6-734" fmla="*/ 916817 h 1761835"/>
              <a:gd name="connsiteX7-735" fmla="*/ 1584814 w 1811701"/>
              <a:gd name="connsiteY7-736" fmla="*/ 510012 h 1761835"/>
              <a:gd name="connsiteX8-737" fmla="*/ 1373040 w 1811701"/>
              <a:gd name="connsiteY8-738" fmla="*/ 118574 h 1761835"/>
              <a:gd name="connsiteX9-739" fmla="*/ 895599 w 1811701"/>
              <a:gd name="connsiteY9-740" fmla="*/ 18960 h 1761835"/>
              <a:gd name="connsiteX10-741" fmla="*/ 288567 w 1811701"/>
              <a:gd name="connsiteY10-742" fmla="*/ 419258 h 1761835"/>
              <a:gd name="connsiteX0-743" fmla="*/ 288567 w 1770444"/>
              <a:gd name="connsiteY0-744" fmla="*/ 419258 h 1761835"/>
              <a:gd name="connsiteX1-745" fmla="*/ 88590 w 1770444"/>
              <a:gd name="connsiteY1-746" fmla="*/ 810676 h 1761835"/>
              <a:gd name="connsiteX2-747" fmla="*/ 10243 w 1770444"/>
              <a:gd name="connsiteY2-748" fmla="*/ 1608288 h 1761835"/>
              <a:gd name="connsiteX3-749" fmla="*/ 306327 w 1770444"/>
              <a:gd name="connsiteY3-750" fmla="*/ 1761835 h 1761835"/>
              <a:gd name="connsiteX4-751" fmla="*/ 1666327 w 1770444"/>
              <a:gd name="connsiteY4-752" fmla="*/ 1711113 h 1761835"/>
              <a:gd name="connsiteX5-753" fmla="*/ 1589229 w 1770444"/>
              <a:gd name="connsiteY5-754" fmla="*/ 1176973 h 1761835"/>
              <a:gd name="connsiteX6-755" fmla="*/ 1306672 w 1770444"/>
              <a:gd name="connsiteY6-756" fmla="*/ 916817 h 1761835"/>
              <a:gd name="connsiteX7-757" fmla="*/ 1584814 w 1770444"/>
              <a:gd name="connsiteY7-758" fmla="*/ 510012 h 1761835"/>
              <a:gd name="connsiteX8-759" fmla="*/ 1373040 w 1770444"/>
              <a:gd name="connsiteY8-760" fmla="*/ 118574 h 1761835"/>
              <a:gd name="connsiteX9-761" fmla="*/ 895599 w 1770444"/>
              <a:gd name="connsiteY9-762" fmla="*/ 18960 h 1761835"/>
              <a:gd name="connsiteX10-763" fmla="*/ 288567 w 1770444"/>
              <a:gd name="connsiteY10-764" fmla="*/ 419258 h 1761835"/>
              <a:gd name="connsiteX0-765" fmla="*/ 288567 w 1592514"/>
              <a:gd name="connsiteY0-766" fmla="*/ 419258 h 1863058"/>
              <a:gd name="connsiteX1-767" fmla="*/ 88590 w 1592514"/>
              <a:gd name="connsiteY1-768" fmla="*/ 810676 h 1863058"/>
              <a:gd name="connsiteX2-769" fmla="*/ 10243 w 1592514"/>
              <a:gd name="connsiteY2-770" fmla="*/ 1608288 h 1863058"/>
              <a:gd name="connsiteX3-771" fmla="*/ 306327 w 1592514"/>
              <a:gd name="connsiteY3-772" fmla="*/ 1761835 h 1863058"/>
              <a:gd name="connsiteX4-773" fmla="*/ 1377650 w 1592514"/>
              <a:gd name="connsiteY4-774" fmla="*/ 1838393 h 1863058"/>
              <a:gd name="connsiteX5-775" fmla="*/ 1589229 w 1592514"/>
              <a:gd name="connsiteY5-776" fmla="*/ 1176973 h 1863058"/>
              <a:gd name="connsiteX6-777" fmla="*/ 1306672 w 1592514"/>
              <a:gd name="connsiteY6-778" fmla="*/ 916817 h 1863058"/>
              <a:gd name="connsiteX7-779" fmla="*/ 1584814 w 1592514"/>
              <a:gd name="connsiteY7-780" fmla="*/ 510012 h 1863058"/>
              <a:gd name="connsiteX8-781" fmla="*/ 1373040 w 1592514"/>
              <a:gd name="connsiteY8-782" fmla="*/ 118574 h 1863058"/>
              <a:gd name="connsiteX9-783" fmla="*/ 895599 w 1592514"/>
              <a:gd name="connsiteY9-784" fmla="*/ 18960 h 1863058"/>
              <a:gd name="connsiteX10-785" fmla="*/ 288567 w 1592514"/>
              <a:gd name="connsiteY10-786" fmla="*/ 419258 h 1863058"/>
              <a:gd name="connsiteX0-787" fmla="*/ 421322 w 1594935"/>
              <a:gd name="connsiteY0-788" fmla="*/ 616342 h 1876292"/>
              <a:gd name="connsiteX1-789" fmla="*/ 91011 w 1594935"/>
              <a:gd name="connsiteY1-790" fmla="*/ 823910 h 1876292"/>
              <a:gd name="connsiteX2-791" fmla="*/ 12664 w 1594935"/>
              <a:gd name="connsiteY2-792" fmla="*/ 1621522 h 1876292"/>
              <a:gd name="connsiteX3-793" fmla="*/ 308748 w 1594935"/>
              <a:gd name="connsiteY3-794" fmla="*/ 1775069 h 1876292"/>
              <a:gd name="connsiteX4-795" fmla="*/ 1380071 w 1594935"/>
              <a:gd name="connsiteY4-796" fmla="*/ 1851627 h 1876292"/>
              <a:gd name="connsiteX5-797" fmla="*/ 1591650 w 1594935"/>
              <a:gd name="connsiteY5-798" fmla="*/ 1190207 h 1876292"/>
              <a:gd name="connsiteX6-799" fmla="*/ 1309093 w 1594935"/>
              <a:gd name="connsiteY6-800" fmla="*/ 930051 h 1876292"/>
              <a:gd name="connsiteX7-801" fmla="*/ 1587235 w 1594935"/>
              <a:gd name="connsiteY7-802" fmla="*/ 523246 h 1876292"/>
              <a:gd name="connsiteX8-803" fmla="*/ 1375461 w 1594935"/>
              <a:gd name="connsiteY8-804" fmla="*/ 131808 h 1876292"/>
              <a:gd name="connsiteX9-805" fmla="*/ 898020 w 1594935"/>
              <a:gd name="connsiteY9-806" fmla="*/ 32194 h 1876292"/>
              <a:gd name="connsiteX10-807" fmla="*/ 421322 w 1594935"/>
              <a:gd name="connsiteY10-808" fmla="*/ 616342 h 1876292"/>
              <a:gd name="connsiteX0-809" fmla="*/ 413257 w 1586870"/>
              <a:gd name="connsiteY0-810" fmla="*/ 616342 h 1876292"/>
              <a:gd name="connsiteX1-811" fmla="*/ 140873 w 1586870"/>
              <a:gd name="connsiteY1-812" fmla="*/ 993617 h 1876292"/>
              <a:gd name="connsiteX2-813" fmla="*/ 4599 w 1586870"/>
              <a:gd name="connsiteY2-814" fmla="*/ 1621522 h 1876292"/>
              <a:gd name="connsiteX3-815" fmla="*/ 300683 w 1586870"/>
              <a:gd name="connsiteY3-816" fmla="*/ 1775069 h 1876292"/>
              <a:gd name="connsiteX4-817" fmla="*/ 1372006 w 1586870"/>
              <a:gd name="connsiteY4-818" fmla="*/ 1851627 h 1876292"/>
              <a:gd name="connsiteX5-819" fmla="*/ 1583585 w 1586870"/>
              <a:gd name="connsiteY5-820" fmla="*/ 1190207 h 1876292"/>
              <a:gd name="connsiteX6-821" fmla="*/ 1301028 w 1586870"/>
              <a:gd name="connsiteY6-822" fmla="*/ 930051 h 1876292"/>
              <a:gd name="connsiteX7-823" fmla="*/ 1579170 w 1586870"/>
              <a:gd name="connsiteY7-824" fmla="*/ 523246 h 1876292"/>
              <a:gd name="connsiteX8-825" fmla="*/ 1367396 w 1586870"/>
              <a:gd name="connsiteY8-826" fmla="*/ 131808 h 1876292"/>
              <a:gd name="connsiteX9-827" fmla="*/ 889955 w 1586870"/>
              <a:gd name="connsiteY9-828" fmla="*/ 32194 h 1876292"/>
              <a:gd name="connsiteX10-829" fmla="*/ 413257 w 1586870"/>
              <a:gd name="connsiteY10-830" fmla="*/ 616342 h 1876292"/>
              <a:gd name="connsiteX0-831" fmla="*/ 284962 w 1458575"/>
              <a:gd name="connsiteY0-832" fmla="*/ 616342 h 1908017"/>
              <a:gd name="connsiteX1-833" fmla="*/ 12578 w 1458575"/>
              <a:gd name="connsiteY1-834" fmla="*/ 993617 h 1908017"/>
              <a:gd name="connsiteX2-835" fmla="*/ 172388 w 1458575"/>
              <a:gd name="connsiteY2-836" fmla="*/ 1775069 h 1908017"/>
              <a:gd name="connsiteX3-837" fmla="*/ 1243711 w 1458575"/>
              <a:gd name="connsiteY3-838" fmla="*/ 1851627 h 1908017"/>
              <a:gd name="connsiteX4-839" fmla="*/ 1455290 w 1458575"/>
              <a:gd name="connsiteY4-840" fmla="*/ 1190207 h 1908017"/>
              <a:gd name="connsiteX5-841" fmla="*/ 1172733 w 1458575"/>
              <a:gd name="connsiteY5-842" fmla="*/ 930051 h 1908017"/>
              <a:gd name="connsiteX6-843" fmla="*/ 1450875 w 1458575"/>
              <a:gd name="connsiteY6-844" fmla="*/ 523246 h 1908017"/>
              <a:gd name="connsiteX7-845" fmla="*/ 1239101 w 1458575"/>
              <a:gd name="connsiteY7-846" fmla="*/ 131808 h 1908017"/>
              <a:gd name="connsiteX8-847" fmla="*/ 761660 w 1458575"/>
              <a:gd name="connsiteY8-848" fmla="*/ 32194 h 1908017"/>
              <a:gd name="connsiteX9-849" fmla="*/ 284962 w 1458575"/>
              <a:gd name="connsiteY9-850" fmla="*/ 616342 h 1908017"/>
              <a:gd name="connsiteX0-851" fmla="*/ 343858 w 1519131"/>
              <a:gd name="connsiteY0-852" fmla="*/ 616342 h 1885036"/>
              <a:gd name="connsiteX1-853" fmla="*/ 71474 w 1519131"/>
              <a:gd name="connsiteY1-854" fmla="*/ 993617 h 1885036"/>
              <a:gd name="connsiteX2-855" fmla="*/ 115432 w 1519131"/>
              <a:gd name="connsiteY2-856" fmla="*/ 1704358 h 1885036"/>
              <a:gd name="connsiteX3-857" fmla="*/ 1302607 w 1519131"/>
              <a:gd name="connsiteY3-858" fmla="*/ 1851627 h 1885036"/>
              <a:gd name="connsiteX4-859" fmla="*/ 1514186 w 1519131"/>
              <a:gd name="connsiteY4-860" fmla="*/ 1190207 h 1885036"/>
              <a:gd name="connsiteX5-861" fmla="*/ 1231629 w 1519131"/>
              <a:gd name="connsiteY5-862" fmla="*/ 930051 h 1885036"/>
              <a:gd name="connsiteX6-863" fmla="*/ 1509771 w 1519131"/>
              <a:gd name="connsiteY6-864" fmla="*/ 523246 h 1885036"/>
              <a:gd name="connsiteX7-865" fmla="*/ 1297997 w 1519131"/>
              <a:gd name="connsiteY7-866" fmla="*/ 131808 h 1885036"/>
              <a:gd name="connsiteX8-867" fmla="*/ 820556 w 1519131"/>
              <a:gd name="connsiteY8-868" fmla="*/ 32194 h 1885036"/>
              <a:gd name="connsiteX9-869" fmla="*/ 343858 w 1519131"/>
              <a:gd name="connsiteY9-870" fmla="*/ 616342 h 1885036"/>
              <a:gd name="connsiteX0-871" fmla="*/ 343858 w 1549812"/>
              <a:gd name="connsiteY0-872" fmla="*/ 616342 h 1800235"/>
              <a:gd name="connsiteX1-873" fmla="*/ 71474 w 1549812"/>
              <a:gd name="connsiteY1-874" fmla="*/ 993617 h 1800235"/>
              <a:gd name="connsiteX2-875" fmla="*/ 115432 w 1549812"/>
              <a:gd name="connsiteY2-876" fmla="*/ 1704358 h 1800235"/>
              <a:gd name="connsiteX3-877" fmla="*/ 1389496 w 1549812"/>
              <a:gd name="connsiteY3-878" fmla="*/ 1724347 h 1800235"/>
              <a:gd name="connsiteX4-879" fmla="*/ 1514186 w 1549812"/>
              <a:gd name="connsiteY4-880" fmla="*/ 1190207 h 1800235"/>
              <a:gd name="connsiteX5-881" fmla="*/ 1231629 w 1549812"/>
              <a:gd name="connsiteY5-882" fmla="*/ 930051 h 1800235"/>
              <a:gd name="connsiteX6-883" fmla="*/ 1509771 w 1549812"/>
              <a:gd name="connsiteY6-884" fmla="*/ 523246 h 1800235"/>
              <a:gd name="connsiteX7-885" fmla="*/ 1297997 w 1549812"/>
              <a:gd name="connsiteY7-886" fmla="*/ 131808 h 1800235"/>
              <a:gd name="connsiteX8-887" fmla="*/ 820556 w 1549812"/>
              <a:gd name="connsiteY8-888" fmla="*/ 32194 h 1800235"/>
              <a:gd name="connsiteX9-889" fmla="*/ 343858 w 1549812"/>
              <a:gd name="connsiteY9-890" fmla="*/ 616342 h 180023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235" y="connsiteY9-236"/>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13" name="Freeform 417"/>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grpSp>
        <p:nvGrpSpPr>
          <p:cNvPr id="14" name="Group 418"/>
          <p:cNvGrpSpPr/>
          <p:nvPr/>
        </p:nvGrpSpPr>
        <p:grpSpPr bwMode="auto">
          <a:xfrm>
            <a:off x="7205350" y="3289251"/>
            <a:ext cx="1458912" cy="933450"/>
            <a:chOff x="2889" y="1631"/>
            <a:chExt cx="980" cy="743"/>
          </a:xfrm>
        </p:grpSpPr>
        <p:sp>
          <p:nvSpPr>
            <p:cNvPr id="369" name="Rectangle 419"/>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370" name="AutoShape 420"/>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grpSp>
      <p:sp>
        <p:nvSpPr>
          <p:cNvPr id="21" name="Freeform 427"/>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endParaRPr lang="en-US" altLang="en-US" sz="1400" dirty="0">
              <a:latin typeface="+mn-lt"/>
            </a:endParaRPr>
          </a:p>
        </p:txBody>
      </p:sp>
      <p:sp>
        <p:nvSpPr>
          <p:cNvPr id="69" name="Text Box 580"/>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endParaRPr lang="en-US" altLang="en-US" sz="1400" dirty="0">
              <a:latin typeface="+mn-lt"/>
            </a:endParaRPr>
          </a:p>
        </p:txBody>
      </p:sp>
      <p:sp>
        <p:nvSpPr>
          <p:cNvPr id="70" name="Text Box 580"/>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endParaRPr lang="en-US" altLang="en-US" sz="1400" dirty="0">
              <a:latin typeface="+mn-lt"/>
            </a:endParaRPr>
          </a:p>
          <a:p>
            <a:pPr>
              <a:lnSpc>
                <a:spcPct val="80000"/>
              </a:lnSpc>
              <a:spcBef>
                <a:spcPct val="0"/>
              </a:spcBef>
              <a:buClrTx/>
              <a:buSzTx/>
              <a:buFontTx/>
              <a:buNone/>
            </a:pPr>
            <a:r>
              <a:rPr lang="en-US" altLang="en-US" sz="1400" dirty="0">
                <a:latin typeface="+mn-lt"/>
              </a:rPr>
              <a:t>          network</a:t>
            </a:r>
            <a:endParaRPr lang="en-US" altLang="en-US" sz="1400" dirty="0">
              <a:latin typeface="+mn-lt"/>
            </a:endParaRPr>
          </a:p>
        </p:txBody>
      </p:sp>
      <p:sp>
        <p:nvSpPr>
          <p:cNvPr id="372" name="Freeform 371"/>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1" fmla="*/ 434989 w 1537226"/>
              <a:gd name="connsiteY0-2" fmla="*/ 253346 h 1763594"/>
              <a:gd name="connsiteX1-3" fmla="*/ 488 w 1537226"/>
              <a:gd name="connsiteY1-4" fmla="*/ 921706 h 1763594"/>
              <a:gd name="connsiteX2-5" fmla="*/ 368142 w 1537226"/>
              <a:gd name="connsiteY2-6" fmla="*/ 1489812 h 1763594"/>
              <a:gd name="connsiteX3-7" fmla="*/ 1187008 w 1537226"/>
              <a:gd name="connsiteY3-8" fmla="*/ 1757156 h 1763594"/>
              <a:gd name="connsiteX4-9" fmla="*/ 1521239 w 1537226"/>
              <a:gd name="connsiteY4-10" fmla="*/ 1239177 h 1763594"/>
              <a:gd name="connsiteX5-11" fmla="*/ 1468998 w 1537226"/>
              <a:gd name="connsiteY5-12" fmla="*/ 654362 h 1763594"/>
              <a:gd name="connsiteX6-13" fmla="*/ 1337412 w 1537226"/>
              <a:gd name="connsiteY6-14" fmla="*/ 136383 h 1763594"/>
              <a:gd name="connsiteX7-15" fmla="*/ 1086739 w 1537226"/>
              <a:gd name="connsiteY7-16" fmla="*/ 2711 h 1763594"/>
              <a:gd name="connsiteX8-17" fmla="*/ 434989 w 1537226"/>
              <a:gd name="connsiteY8-18" fmla="*/ 253346 h 1763594"/>
              <a:gd name="connsiteX0-19" fmla="*/ 434989 w 1537226"/>
              <a:gd name="connsiteY0-20" fmla="*/ 253346 h 1763594"/>
              <a:gd name="connsiteX1-21" fmla="*/ 488 w 1537226"/>
              <a:gd name="connsiteY1-22" fmla="*/ 921706 h 1763594"/>
              <a:gd name="connsiteX2-23" fmla="*/ 368142 w 1537226"/>
              <a:gd name="connsiteY2-24" fmla="*/ 1489812 h 1763594"/>
              <a:gd name="connsiteX3-25" fmla="*/ 1187008 w 1537226"/>
              <a:gd name="connsiteY3-26" fmla="*/ 1757156 h 1763594"/>
              <a:gd name="connsiteX4-27" fmla="*/ 1521239 w 1537226"/>
              <a:gd name="connsiteY4-28" fmla="*/ 1239177 h 1763594"/>
              <a:gd name="connsiteX5-29" fmla="*/ 1468998 w 1537226"/>
              <a:gd name="connsiteY5-30" fmla="*/ 654362 h 1763594"/>
              <a:gd name="connsiteX6-31" fmla="*/ 1337412 w 1537226"/>
              <a:gd name="connsiteY6-32" fmla="*/ 136383 h 1763594"/>
              <a:gd name="connsiteX7-33" fmla="*/ 839572 w 1537226"/>
              <a:gd name="connsiteY7-34" fmla="*/ 2711 h 1763594"/>
              <a:gd name="connsiteX8-35" fmla="*/ 434989 w 1537226"/>
              <a:gd name="connsiteY8-36" fmla="*/ 253346 h 1763594"/>
              <a:gd name="connsiteX0-37" fmla="*/ 360357 w 1536743"/>
              <a:gd name="connsiteY0-38" fmla="*/ 534641 h 1782088"/>
              <a:gd name="connsiteX1-39" fmla="*/ 5 w 1536743"/>
              <a:gd name="connsiteY1-40" fmla="*/ 940200 h 1782088"/>
              <a:gd name="connsiteX2-41" fmla="*/ 367659 w 1536743"/>
              <a:gd name="connsiteY2-42" fmla="*/ 1508306 h 1782088"/>
              <a:gd name="connsiteX3-43" fmla="*/ 1186525 w 1536743"/>
              <a:gd name="connsiteY3-44" fmla="*/ 1775650 h 1782088"/>
              <a:gd name="connsiteX4-45" fmla="*/ 1520756 w 1536743"/>
              <a:gd name="connsiteY4-46" fmla="*/ 1257671 h 1782088"/>
              <a:gd name="connsiteX5-47" fmla="*/ 1468515 w 1536743"/>
              <a:gd name="connsiteY5-48" fmla="*/ 672856 h 1782088"/>
              <a:gd name="connsiteX6-49" fmla="*/ 1336929 w 1536743"/>
              <a:gd name="connsiteY6-50" fmla="*/ 154877 h 1782088"/>
              <a:gd name="connsiteX7-51" fmla="*/ 839089 w 1536743"/>
              <a:gd name="connsiteY7-52" fmla="*/ 21205 h 1782088"/>
              <a:gd name="connsiteX8-53" fmla="*/ 360357 w 1536743"/>
              <a:gd name="connsiteY8-54" fmla="*/ 534641 h 1782088"/>
              <a:gd name="connsiteX0-55" fmla="*/ 360355 w 1536741"/>
              <a:gd name="connsiteY0-56" fmla="*/ 534641 h 1782088"/>
              <a:gd name="connsiteX1-57" fmla="*/ 3 w 1536741"/>
              <a:gd name="connsiteY1-58" fmla="*/ 940200 h 1782088"/>
              <a:gd name="connsiteX2-59" fmla="*/ 367657 w 1536741"/>
              <a:gd name="connsiteY2-60" fmla="*/ 1508306 h 1782088"/>
              <a:gd name="connsiteX3-61" fmla="*/ 1186523 w 1536741"/>
              <a:gd name="connsiteY3-62" fmla="*/ 1775650 h 1782088"/>
              <a:gd name="connsiteX4-63" fmla="*/ 1520754 w 1536741"/>
              <a:gd name="connsiteY4-64" fmla="*/ 1257671 h 1782088"/>
              <a:gd name="connsiteX5-65" fmla="*/ 1468513 w 1536741"/>
              <a:gd name="connsiteY5-66" fmla="*/ 672856 h 1782088"/>
              <a:gd name="connsiteX6-67" fmla="*/ 1336927 w 1536741"/>
              <a:gd name="connsiteY6-68" fmla="*/ 154877 h 1782088"/>
              <a:gd name="connsiteX7-69" fmla="*/ 839087 w 1536741"/>
              <a:gd name="connsiteY7-70" fmla="*/ 21205 h 1782088"/>
              <a:gd name="connsiteX8-71" fmla="*/ 360355 w 1536741"/>
              <a:gd name="connsiteY8-72" fmla="*/ 534641 h 1782088"/>
              <a:gd name="connsiteX0-73" fmla="*/ 360355 w 1534770"/>
              <a:gd name="connsiteY0-74" fmla="*/ 553225 h 1800672"/>
              <a:gd name="connsiteX1-75" fmla="*/ 3 w 1534770"/>
              <a:gd name="connsiteY1-76" fmla="*/ 958784 h 1800672"/>
              <a:gd name="connsiteX2-77" fmla="*/ 367657 w 1534770"/>
              <a:gd name="connsiteY2-78" fmla="*/ 1526890 h 1800672"/>
              <a:gd name="connsiteX3-79" fmla="*/ 1186523 w 1534770"/>
              <a:gd name="connsiteY3-80" fmla="*/ 1794234 h 1800672"/>
              <a:gd name="connsiteX4-81" fmla="*/ 1520754 w 1534770"/>
              <a:gd name="connsiteY4-82" fmla="*/ 1276255 h 1800672"/>
              <a:gd name="connsiteX5-83" fmla="*/ 1468513 w 1534770"/>
              <a:gd name="connsiteY5-84" fmla="*/ 691440 h 1800672"/>
              <a:gd name="connsiteX6-85" fmla="*/ 1435794 w 1534770"/>
              <a:gd name="connsiteY6-86" fmla="*/ 107761 h 1800672"/>
              <a:gd name="connsiteX7-87" fmla="*/ 839087 w 1534770"/>
              <a:gd name="connsiteY7-88" fmla="*/ 39789 h 1800672"/>
              <a:gd name="connsiteX8-89" fmla="*/ 360355 w 1534770"/>
              <a:gd name="connsiteY8-90" fmla="*/ 553225 h 1800672"/>
              <a:gd name="connsiteX0-91" fmla="*/ 360355 w 1580585"/>
              <a:gd name="connsiteY0-92" fmla="*/ 553225 h 1880420"/>
              <a:gd name="connsiteX1-93" fmla="*/ 3 w 1580585"/>
              <a:gd name="connsiteY1-94" fmla="*/ 958784 h 1880420"/>
              <a:gd name="connsiteX2-95" fmla="*/ 367657 w 1580585"/>
              <a:gd name="connsiteY2-96" fmla="*/ 1526890 h 1880420"/>
              <a:gd name="connsiteX3-97" fmla="*/ 1186523 w 1580585"/>
              <a:gd name="connsiteY3-98" fmla="*/ 1794234 h 1880420"/>
              <a:gd name="connsiteX4-99" fmla="*/ 1570188 w 1580585"/>
              <a:gd name="connsiteY4-100" fmla="*/ 1785433 h 1880420"/>
              <a:gd name="connsiteX5-101" fmla="*/ 1468513 w 1580585"/>
              <a:gd name="connsiteY5-102" fmla="*/ 691440 h 1880420"/>
              <a:gd name="connsiteX6-103" fmla="*/ 1435794 w 1580585"/>
              <a:gd name="connsiteY6-104" fmla="*/ 107761 h 1880420"/>
              <a:gd name="connsiteX7-105" fmla="*/ 839087 w 1580585"/>
              <a:gd name="connsiteY7-106" fmla="*/ 39789 h 1880420"/>
              <a:gd name="connsiteX8-107" fmla="*/ 360355 w 1580585"/>
              <a:gd name="connsiteY8-108" fmla="*/ 553225 h 1880420"/>
              <a:gd name="connsiteX0-109" fmla="*/ 316588 w 1580732"/>
              <a:gd name="connsiteY0-110" fmla="*/ 359285 h 1867156"/>
              <a:gd name="connsiteX1-111" fmla="*/ 150 w 1580732"/>
              <a:gd name="connsiteY1-112" fmla="*/ 945520 h 1867156"/>
              <a:gd name="connsiteX2-113" fmla="*/ 367804 w 1580732"/>
              <a:gd name="connsiteY2-114" fmla="*/ 1513626 h 1867156"/>
              <a:gd name="connsiteX3-115" fmla="*/ 1186670 w 1580732"/>
              <a:gd name="connsiteY3-116" fmla="*/ 1780970 h 1867156"/>
              <a:gd name="connsiteX4-117" fmla="*/ 1570335 w 1580732"/>
              <a:gd name="connsiteY4-118" fmla="*/ 1772169 h 1867156"/>
              <a:gd name="connsiteX5-119" fmla="*/ 1468660 w 1580732"/>
              <a:gd name="connsiteY5-120" fmla="*/ 678176 h 1867156"/>
              <a:gd name="connsiteX6-121" fmla="*/ 1435941 w 1580732"/>
              <a:gd name="connsiteY6-122" fmla="*/ 94497 h 1867156"/>
              <a:gd name="connsiteX7-123" fmla="*/ 839234 w 1580732"/>
              <a:gd name="connsiteY7-124" fmla="*/ 26525 h 1867156"/>
              <a:gd name="connsiteX8-125" fmla="*/ 316588 w 1580732"/>
              <a:gd name="connsiteY8-126" fmla="*/ 359285 h 1867156"/>
              <a:gd name="connsiteX0-127" fmla="*/ 163575 w 1427719"/>
              <a:gd name="connsiteY0-128" fmla="*/ 359285 h 1867156"/>
              <a:gd name="connsiteX1-129" fmla="*/ 836 w 1427719"/>
              <a:gd name="connsiteY1-130" fmla="*/ 1076921 h 1867156"/>
              <a:gd name="connsiteX2-131" fmla="*/ 214791 w 1427719"/>
              <a:gd name="connsiteY2-132" fmla="*/ 1513626 h 1867156"/>
              <a:gd name="connsiteX3-133" fmla="*/ 1033657 w 1427719"/>
              <a:gd name="connsiteY3-134" fmla="*/ 1780970 h 1867156"/>
              <a:gd name="connsiteX4-135" fmla="*/ 1417322 w 1427719"/>
              <a:gd name="connsiteY4-136" fmla="*/ 1772169 h 1867156"/>
              <a:gd name="connsiteX5-137" fmla="*/ 1315647 w 1427719"/>
              <a:gd name="connsiteY5-138" fmla="*/ 678176 h 1867156"/>
              <a:gd name="connsiteX6-139" fmla="*/ 1282928 w 1427719"/>
              <a:gd name="connsiteY6-140" fmla="*/ 94497 h 1867156"/>
              <a:gd name="connsiteX7-141" fmla="*/ 686221 w 1427719"/>
              <a:gd name="connsiteY7-142" fmla="*/ 26525 h 1867156"/>
              <a:gd name="connsiteX8-143" fmla="*/ 163575 w 1427719"/>
              <a:gd name="connsiteY8-144" fmla="*/ 359285 h 1867156"/>
              <a:gd name="connsiteX0-145" fmla="*/ 163575 w 1426632"/>
              <a:gd name="connsiteY0-146" fmla="*/ 394322 h 1902193"/>
              <a:gd name="connsiteX1-147" fmla="*/ 836 w 1426632"/>
              <a:gd name="connsiteY1-148" fmla="*/ 1111958 h 1902193"/>
              <a:gd name="connsiteX2-149" fmla="*/ 214791 w 1426632"/>
              <a:gd name="connsiteY2-150" fmla="*/ 1548663 h 1902193"/>
              <a:gd name="connsiteX3-151" fmla="*/ 1033657 w 1426632"/>
              <a:gd name="connsiteY3-152" fmla="*/ 1816007 h 1902193"/>
              <a:gd name="connsiteX4-153" fmla="*/ 1417322 w 1426632"/>
              <a:gd name="connsiteY4-154" fmla="*/ 1807206 h 1902193"/>
              <a:gd name="connsiteX5-155" fmla="*/ 1315647 w 1426632"/>
              <a:gd name="connsiteY5-156" fmla="*/ 713213 h 1902193"/>
              <a:gd name="connsiteX6-157" fmla="*/ 1401843 w 1426632"/>
              <a:gd name="connsiteY6-158" fmla="*/ 63834 h 1902193"/>
              <a:gd name="connsiteX7-159" fmla="*/ 686221 w 1426632"/>
              <a:gd name="connsiteY7-160" fmla="*/ 61562 h 1902193"/>
              <a:gd name="connsiteX8-161" fmla="*/ 163575 w 1426632"/>
              <a:gd name="connsiteY8-162" fmla="*/ 394322 h 1902193"/>
              <a:gd name="connsiteX0-163" fmla="*/ 163575 w 1435249"/>
              <a:gd name="connsiteY0-164" fmla="*/ 394322 h 1885560"/>
              <a:gd name="connsiteX1-165" fmla="*/ 836 w 1435249"/>
              <a:gd name="connsiteY1-166" fmla="*/ 1111958 h 1885560"/>
              <a:gd name="connsiteX2-167" fmla="*/ 214791 w 1435249"/>
              <a:gd name="connsiteY2-168" fmla="*/ 1548663 h 1885560"/>
              <a:gd name="connsiteX3-169" fmla="*/ 1033657 w 1435249"/>
              <a:gd name="connsiteY3-170" fmla="*/ 1816007 h 1885560"/>
              <a:gd name="connsiteX4-171" fmla="*/ 1417322 w 1435249"/>
              <a:gd name="connsiteY4-172" fmla="*/ 1807206 h 1885560"/>
              <a:gd name="connsiteX5-173" fmla="*/ 1375103 w 1435249"/>
              <a:gd name="connsiteY5-174" fmla="*/ 943164 h 1885560"/>
              <a:gd name="connsiteX6-175" fmla="*/ 1401843 w 1435249"/>
              <a:gd name="connsiteY6-176" fmla="*/ 63834 h 1885560"/>
              <a:gd name="connsiteX7-177" fmla="*/ 686221 w 1435249"/>
              <a:gd name="connsiteY7-178" fmla="*/ 61562 h 1885560"/>
              <a:gd name="connsiteX8-179" fmla="*/ 163575 w 1435249"/>
              <a:gd name="connsiteY8-180" fmla="*/ 394322 h 1885560"/>
              <a:gd name="connsiteX0-181" fmla="*/ 128947 w 1438213"/>
              <a:gd name="connsiteY0-182" fmla="*/ 345176 h 1883146"/>
              <a:gd name="connsiteX1-183" fmla="*/ 3802 w 1438213"/>
              <a:gd name="connsiteY1-184" fmla="*/ 1109544 h 1883146"/>
              <a:gd name="connsiteX2-185" fmla="*/ 217757 w 1438213"/>
              <a:gd name="connsiteY2-186" fmla="*/ 1546249 h 1883146"/>
              <a:gd name="connsiteX3-187" fmla="*/ 1036623 w 1438213"/>
              <a:gd name="connsiteY3-188" fmla="*/ 1813593 h 1883146"/>
              <a:gd name="connsiteX4-189" fmla="*/ 1420288 w 1438213"/>
              <a:gd name="connsiteY4-190" fmla="*/ 1804792 h 1883146"/>
              <a:gd name="connsiteX5-191" fmla="*/ 1378069 w 1438213"/>
              <a:gd name="connsiteY5-192" fmla="*/ 940750 h 1883146"/>
              <a:gd name="connsiteX6-193" fmla="*/ 1404809 w 1438213"/>
              <a:gd name="connsiteY6-194" fmla="*/ 61420 h 1883146"/>
              <a:gd name="connsiteX7-195" fmla="*/ 689187 w 1438213"/>
              <a:gd name="connsiteY7-196" fmla="*/ 59148 h 1883146"/>
              <a:gd name="connsiteX8-197" fmla="*/ 128947 w 1438213"/>
              <a:gd name="connsiteY8-198" fmla="*/ 345176 h 1883146"/>
              <a:gd name="connsiteX0-199" fmla="*/ 126587 w 1435854"/>
              <a:gd name="connsiteY0-200" fmla="*/ 353278 h 1891248"/>
              <a:gd name="connsiteX1-201" fmla="*/ 1442 w 1435854"/>
              <a:gd name="connsiteY1-202" fmla="*/ 1117646 h 1891248"/>
              <a:gd name="connsiteX2-203" fmla="*/ 215397 w 1435854"/>
              <a:gd name="connsiteY2-204" fmla="*/ 1554351 h 1891248"/>
              <a:gd name="connsiteX3-205" fmla="*/ 1034263 w 1435854"/>
              <a:gd name="connsiteY3-206" fmla="*/ 1821695 h 1891248"/>
              <a:gd name="connsiteX4-207" fmla="*/ 1417928 w 1435854"/>
              <a:gd name="connsiteY4-208" fmla="*/ 1812894 h 1891248"/>
              <a:gd name="connsiteX5-209" fmla="*/ 1375709 w 1435854"/>
              <a:gd name="connsiteY5-210" fmla="*/ 948852 h 1891248"/>
              <a:gd name="connsiteX6-211" fmla="*/ 1402449 w 1435854"/>
              <a:gd name="connsiteY6-212" fmla="*/ 69522 h 1891248"/>
              <a:gd name="connsiteX7-213" fmla="*/ 221605 w 1435854"/>
              <a:gd name="connsiteY7-214" fmla="*/ 47778 h 1891248"/>
              <a:gd name="connsiteX8-215" fmla="*/ 126587 w 1435854"/>
              <a:gd name="connsiteY8-216" fmla="*/ 353278 h 1891248"/>
              <a:gd name="connsiteX0-217" fmla="*/ 35803 w 1453152"/>
              <a:gd name="connsiteY0-218" fmla="*/ 439993 h 1896181"/>
              <a:gd name="connsiteX1-219" fmla="*/ 18740 w 1453152"/>
              <a:gd name="connsiteY1-220" fmla="*/ 1122579 h 1896181"/>
              <a:gd name="connsiteX2-221" fmla="*/ 232695 w 1453152"/>
              <a:gd name="connsiteY2-222" fmla="*/ 1559284 h 1896181"/>
              <a:gd name="connsiteX3-223" fmla="*/ 1051561 w 1453152"/>
              <a:gd name="connsiteY3-224" fmla="*/ 1826628 h 1896181"/>
              <a:gd name="connsiteX4-225" fmla="*/ 1435226 w 1453152"/>
              <a:gd name="connsiteY4-226" fmla="*/ 1817827 h 1896181"/>
              <a:gd name="connsiteX5-227" fmla="*/ 1393007 w 1453152"/>
              <a:gd name="connsiteY5-228" fmla="*/ 953785 h 1896181"/>
              <a:gd name="connsiteX6-229" fmla="*/ 1419747 w 1453152"/>
              <a:gd name="connsiteY6-230" fmla="*/ 74455 h 1896181"/>
              <a:gd name="connsiteX7-231" fmla="*/ 238903 w 1453152"/>
              <a:gd name="connsiteY7-232" fmla="*/ 52711 h 1896181"/>
              <a:gd name="connsiteX8-233" fmla="*/ 35803 w 1453152"/>
              <a:gd name="connsiteY8-234" fmla="*/ 439993 h 1896181"/>
              <a:gd name="connsiteX0-235" fmla="*/ 35803 w 1447873"/>
              <a:gd name="connsiteY0-236" fmla="*/ 439993 h 1952840"/>
              <a:gd name="connsiteX1-237" fmla="*/ 18740 w 1447873"/>
              <a:gd name="connsiteY1-238" fmla="*/ 1122579 h 1952840"/>
              <a:gd name="connsiteX2-239" fmla="*/ 232695 w 1447873"/>
              <a:gd name="connsiteY2-240" fmla="*/ 1559284 h 1952840"/>
              <a:gd name="connsiteX3-241" fmla="*/ 1130848 w 1447873"/>
              <a:gd name="connsiteY3-242" fmla="*/ 1925181 h 1952840"/>
              <a:gd name="connsiteX4-243" fmla="*/ 1435226 w 1447873"/>
              <a:gd name="connsiteY4-244" fmla="*/ 1817827 h 1952840"/>
              <a:gd name="connsiteX5-245" fmla="*/ 1393007 w 1447873"/>
              <a:gd name="connsiteY5-246" fmla="*/ 953785 h 1952840"/>
              <a:gd name="connsiteX6-247" fmla="*/ 1419747 w 1447873"/>
              <a:gd name="connsiteY6-248" fmla="*/ 74455 h 1952840"/>
              <a:gd name="connsiteX7-249" fmla="*/ 238903 w 1447873"/>
              <a:gd name="connsiteY7-250" fmla="*/ 52711 h 1952840"/>
              <a:gd name="connsiteX8-251" fmla="*/ 35803 w 1447873"/>
              <a:gd name="connsiteY8-252" fmla="*/ 439993 h 195284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grpSp>
        <p:nvGrpSpPr>
          <p:cNvPr id="374" name="Group 373"/>
          <p:cNvGrpSpPr/>
          <p:nvPr/>
        </p:nvGrpSpPr>
        <p:grpSpPr>
          <a:xfrm>
            <a:off x="10837700" y="3928050"/>
            <a:ext cx="687393" cy="721548"/>
            <a:chOff x="5203089" y="1751190"/>
            <a:chExt cx="858331" cy="662414"/>
          </a:xfrm>
        </p:grpSpPr>
        <p:sp>
          <p:nvSpPr>
            <p:cNvPr id="382" name="Freeform 381"/>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1" fmla="*/ 3618 w 651290"/>
                <a:gd name="connsiteY0-2" fmla="*/ 593378 h 593378"/>
                <a:gd name="connsiteX1-3" fmla="*/ 0 w 651290"/>
                <a:gd name="connsiteY1-4" fmla="*/ 242416 h 593378"/>
                <a:gd name="connsiteX2-5" fmla="*/ 423338 w 651290"/>
                <a:gd name="connsiteY2-6" fmla="*/ 101308 h 593378"/>
                <a:gd name="connsiteX3-7" fmla="*/ 647672 w 651290"/>
                <a:gd name="connsiteY3-8" fmla="*/ 0 h 593378"/>
                <a:gd name="connsiteX4-9" fmla="*/ 651290 w 651290"/>
                <a:gd name="connsiteY4-10" fmla="*/ 593378 h 593378"/>
                <a:gd name="connsiteX5-11" fmla="*/ 3618 w 651290"/>
                <a:gd name="connsiteY5-12" fmla="*/ 593378 h 593378"/>
                <a:gd name="connsiteX0-13" fmla="*/ 3618 w 651290"/>
                <a:gd name="connsiteY0-14" fmla="*/ 662124 h 662124"/>
                <a:gd name="connsiteX1-15" fmla="*/ 0 w 651290"/>
                <a:gd name="connsiteY1-16" fmla="*/ 311162 h 662124"/>
                <a:gd name="connsiteX2-17" fmla="*/ 376300 w 651290"/>
                <a:gd name="connsiteY2-18" fmla="*/ 0 h 662124"/>
                <a:gd name="connsiteX3-19" fmla="*/ 647672 w 651290"/>
                <a:gd name="connsiteY3-20" fmla="*/ 68746 h 662124"/>
                <a:gd name="connsiteX4-21" fmla="*/ 651290 w 651290"/>
                <a:gd name="connsiteY4-22" fmla="*/ 662124 h 662124"/>
                <a:gd name="connsiteX5-23" fmla="*/ 3618 w 651290"/>
                <a:gd name="connsiteY5-24" fmla="*/ 662124 h 662124"/>
                <a:gd name="connsiteX0-25" fmla="*/ 0 w 647672"/>
                <a:gd name="connsiteY0-26" fmla="*/ 662124 h 662124"/>
                <a:gd name="connsiteX1-27" fmla="*/ 123021 w 647672"/>
                <a:gd name="connsiteY1-28" fmla="*/ 83217 h 662124"/>
                <a:gd name="connsiteX2-29" fmla="*/ 372682 w 647672"/>
                <a:gd name="connsiteY2-30" fmla="*/ 0 h 662124"/>
                <a:gd name="connsiteX3-31" fmla="*/ 644054 w 647672"/>
                <a:gd name="connsiteY3-32" fmla="*/ 68746 h 662124"/>
                <a:gd name="connsiteX4-33" fmla="*/ 647672 w 647672"/>
                <a:gd name="connsiteY4-34" fmla="*/ 662124 h 662124"/>
                <a:gd name="connsiteX5-35" fmla="*/ 0 w 647672"/>
                <a:gd name="connsiteY5-36" fmla="*/ 662124 h 662124"/>
                <a:gd name="connsiteX0-37" fmla="*/ 7238 w 524651"/>
                <a:gd name="connsiteY0-38" fmla="*/ 669360 h 669360"/>
                <a:gd name="connsiteX1-39" fmla="*/ 0 w 524651"/>
                <a:gd name="connsiteY1-40" fmla="*/ 83217 h 669360"/>
                <a:gd name="connsiteX2-41" fmla="*/ 249661 w 524651"/>
                <a:gd name="connsiteY2-42" fmla="*/ 0 h 669360"/>
                <a:gd name="connsiteX3-43" fmla="*/ 521033 w 524651"/>
                <a:gd name="connsiteY3-44" fmla="*/ 68746 h 669360"/>
                <a:gd name="connsiteX4-45" fmla="*/ 524651 w 524651"/>
                <a:gd name="connsiteY4-46" fmla="*/ 662124 h 669360"/>
                <a:gd name="connsiteX5-47" fmla="*/ 7238 w 524651"/>
                <a:gd name="connsiteY5-48" fmla="*/ 669360 h 669360"/>
                <a:gd name="connsiteX0-49" fmla="*/ 438 w 528706"/>
                <a:gd name="connsiteY0-50" fmla="*/ 665742 h 665742"/>
                <a:gd name="connsiteX1-51" fmla="*/ 4055 w 528706"/>
                <a:gd name="connsiteY1-52" fmla="*/ 83217 h 665742"/>
                <a:gd name="connsiteX2-53" fmla="*/ 253716 w 528706"/>
                <a:gd name="connsiteY2-54" fmla="*/ 0 h 665742"/>
                <a:gd name="connsiteX3-55" fmla="*/ 525088 w 528706"/>
                <a:gd name="connsiteY3-56" fmla="*/ 68746 h 665742"/>
                <a:gd name="connsiteX4-57" fmla="*/ 528706 w 528706"/>
                <a:gd name="connsiteY4-58" fmla="*/ 662124 h 665742"/>
                <a:gd name="connsiteX5-59" fmla="*/ 438 w 528706"/>
                <a:gd name="connsiteY5-60" fmla="*/ 665742 h 665742"/>
                <a:gd name="connsiteX0-61" fmla="*/ 155 w 546514"/>
                <a:gd name="connsiteY0-62" fmla="*/ 662124 h 662124"/>
                <a:gd name="connsiteX1-63" fmla="*/ 21863 w 546514"/>
                <a:gd name="connsiteY1-64" fmla="*/ 83217 h 662124"/>
                <a:gd name="connsiteX2-65" fmla="*/ 271524 w 546514"/>
                <a:gd name="connsiteY2-66" fmla="*/ 0 h 662124"/>
                <a:gd name="connsiteX3-67" fmla="*/ 542896 w 546514"/>
                <a:gd name="connsiteY3-68" fmla="*/ 68746 h 662124"/>
                <a:gd name="connsiteX4-69" fmla="*/ 546514 w 546514"/>
                <a:gd name="connsiteY4-70" fmla="*/ 662124 h 662124"/>
                <a:gd name="connsiteX5-71" fmla="*/ 155 w 546514"/>
                <a:gd name="connsiteY5-72" fmla="*/ 662124 h 662124"/>
                <a:gd name="connsiteX0-73" fmla="*/ 10856 w 524651"/>
                <a:gd name="connsiteY0-74" fmla="*/ 658506 h 662124"/>
                <a:gd name="connsiteX1-75" fmla="*/ 0 w 524651"/>
                <a:gd name="connsiteY1-76" fmla="*/ 83217 h 662124"/>
                <a:gd name="connsiteX2-77" fmla="*/ 249661 w 524651"/>
                <a:gd name="connsiteY2-78" fmla="*/ 0 h 662124"/>
                <a:gd name="connsiteX3-79" fmla="*/ 521033 w 524651"/>
                <a:gd name="connsiteY3-80" fmla="*/ 68746 h 662124"/>
                <a:gd name="connsiteX4-81" fmla="*/ 524651 w 524651"/>
                <a:gd name="connsiteY4-82" fmla="*/ 662124 h 662124"/>
                <a:gd name="connsiteX5-83" fmla="*/ 10856 w 524651"/>
                <a:gd name="connsiteY5-84" fmla="*/ 658506 h 66212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383" name="Freeform 382"/>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cxnSp>
          <p:nvCxnSpPr>
            <p:cNvPr id="384" name="Straight Connector 383"/>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p:cNvGrpSpPr/>
          <p:nvPr/>
        </p:nvGrpSpPr>
        <p:grpSpPr>
          <a:xfrm>
            <a:off x="10771171" y="3194171"/>
            <a:ext cx="594613" cy="648336"/>
            <a:chOff x="5203089" y="1751190"/>
            <a:chExt cx="858331" cy="662414"/>
          </a:xfrm>
        </p:grpSpPr>
        <p:sp>
          <p:nvSpPr>
            <p:cNvPr id="399" name="Freeform 398"/>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1" fmla="*/ 3618 w 651290"/>
                <a:gd name="connsiteY0-2" fmla="*/ 593378 h 593378"/>
                <a:gd name="connsiteX1-3" fmla="*/ 0 w 651290"/>
                <a:gd name="connsiteY1-4" fmla="*/ 242416 h 593378"/>
                <a:gd name="connsiteX2-5" fmla="*/ 423338 w 651290"/>
                <a:gd name="connsiteY2-6" fmla="*/ 101308 h 593378"/>
                <a:gd name="connsiteX3-7" fmla="*/ 647672 w 651290"/>
                <a:gd name="connsiteY3-8" fmla="*/ 0 h 593378"/>
                <a:gd name="connsiteX4-9" fmla="*/ 651290 w 651290"/>
                <a:gd name="connsiteY4-10" fmla="*/ 593378 h 593378"/>
                <a:gd name="connsiteX5-11" fmla="*/ 3618 w 651290"/>
                <a:gd name="connsiteY5-12" fmla="*/ 593378 h 593378"/>
                <a:gd name="connsiteX0-13" fmla="*/ 3618 w 651290"/>
                <a:gd name="connsiteY0-14" fmla="*/ 662124 h 662124"/>
                <a:gd name="connsiteX1-15" fmla="*/ 0 w 651290"/>
                <a:gd name="connsiteY1-16" fmla="*/ 311162 h 662124"/>
                <a:gd name="connsiteX2-17" fmla="*/ 376300 w 651290"/>
                <a:gd name="connsiteY2-18" fmla="*/ 0 h 662124"/>
                <a:gd name="connsiteX3-19" fmla="*/ 647672 w 651290"/>
                <a:gd name="connsiteY3-20" fmla="*/ 68746 h 662124"/>
                <a:gd name="connsiteX4-21" fmla="*/ 651290 w 651290"/>
                <a:gd name="connsiteY4-22" fmla="*/ 662124 h 662124"/>
                <a:gd name="connsiteX5-23" fmla="*/ 3618 w 651290"/>
                <a:gd name="connsiteY5-24" fmla="*/ 662124 h 662124"/>
                <a:gd name="connsiteX0-25" fmla="*/ 0 w 647672"/>
                <a:gd name="connsiteY0-26" fmla="*/ 662124 h 662124"/>
                <a:gd name="connsiteX1-27" fmla="*/ 123021 w 647672"/>
                <a:gd name="connsiteY1-28" fmla="*/ 83217 h 662124"/>
                <a:gd name="connsiteX2-29" fmla="*/ 372682 w 647672"/>
                <a:gd name="connsiteY2-30" fmla="*/ 0 h 662124"/>
                <a:gd name="connsiteX3-31" fmla="*/ 644054 w 647672"/>
                <a:gd name="connsiteY3-32" fmla="*/ 68746 h 662124"/>
                <a:gd name="connsiteX4-33" fmla="*/ 647672 w 647672"/>
                <a:gd name="connsiteY4-34" fmla="*/ 662124 h 662124"/>
                <a:gd name="connsiteX5-35" fmla="*/ 0 w 647672"/>
                <a:gd name="connsiteY5-36" fmla="*/ 662124 h 662124"/>
                <a:gd name="connsiteX0-37" fmla="*/ 7238 w 524651"/>
                <a:gd name="connsiteY0-38" fmla="*/ 669360 h 669360"/>
                <a:gd name="connsiteX1-39" fmla="*/ 0 w 524651"/>
                <a:gd name="connsiteY1-40" fmla="*/ 83217 h 669360"/>
                <a:gd name="connsiteX2-41" fmla="*/ 249661 w 524651"/>
                <a:gd name="connsiteY2-42" fmla="*/ 0 h 669360"/>
                <a:gd name="connsiteX3-43" fmla="*/ 521033 w 524651"/>
                <a:gd name="connsiteY3-44" fmla="*/ 68746 h 669360"/>
                <a:gd name="connsiteX4-45" fmla="*/ 524651 w 524651"/>
                <a:gd name="connsiteY4-46" fmla="*/ 662124 h 669360"/>
                <a:gd name="connsiteX5-47" fmla="*/ 7238 w 524651"/>
                <a:gd name="connsiteY5-48" fmla="*/ 669360 h 669360"/>
                <a:gd name="connsiteX0-49" fmla="*/ 438 w 528706"/>
                <a:gd name="connsiteY0-50" fmla="*/ 665742 h 665742"/>
                <a:gd name="connsiteX1-51" fmla="*/ 4055 w 528706"/>
                <a:gd name="connsiteY1-52" fmla="*/ 83217 h 665742"/>
                <a:gd name="connsiteX2-53" fmla="*/ 253716 w 528706"/>
                <a:gd name="connsiteY2-54" fmla="*/ 0 h 665742"/>
                <a:gd name="connsiteX3-55" fmla="*/ 525088 w 528706"/>
                <a:gd name="connsiteY3-56" fmla="*/ 68746 h 665742"/>
                <a:gd name="connsiteX4-57" fmla="*/ 528706 w 528706"/>
                <a:gd name="connsiteY4-58" fmla="*/ 662124 h 665742"/>
                <a:gd name="connsiteX5-59" fmla="*/ 438 w 528706"/>
                <a:gd name="connsiteY5-60" fmla="*/ 665742 h 665742"/>
                <a:gd name="connsiteX0-61" fmla="*/ 155 w 546514"/>
                <a:gd name="connsiteY0-62" fmla="*/ 662124 h 662124"/>
                <a:gd name="connsiteX1-63" fmla="*/ 21863 w 546514"/>
                <a:gd name="connsiteY1-64" fmla="*/ 83217 h 662124"/>
                <a:gd name="connsiteX2-65" fmla="*/ 271524 w 546514"/>
                <a:gd name="connsiteY2-66" fmla="*/ 0 h 662124"/>
                <a:gd name="connsiteX3-67" fmla="*/ 542896 w 546514"/>
                <a:gd name="connsiteY3-68" fmla="*/ 68746 h 662124"/>
                <a:gd name="connsiteX4-69" fmla="*/ 546514 w 546514"/>
                <a:gd name="connsiteY4-70" fmla="*/ 662124 h 662124"/>
                <a:gd name="connsiteX5-71" fmla="*/ 155 w 546514"/>
                <a:gd name="connsiteY5-72" fmla="*/ 662124 h 662124"/>
                <a:gd name="connsiteX0-73" fmla="*/ 10856 w 524651"/>
                <a:gd name="connsiteY0-74" fmla="*/ 658506 h 662124"/>
                <a:gd name="connsiteX1-75" fmla="*/ 0 w 524651"/>
                <a:gd name="connsiteY1-76" fmla="*/ 83217 h 662124"/>
                <a:gd name="connsiteX2-77" fmla="*/ 249661 w 524651"/>
                <a:gd name="connsiteY2-78" fmla="*/ 0 h 662124"/>
                <a:gd name="connsiteX3-79" fmla="*/ 521033 w 524651"/>
                <a:gd name="connsiteY3-80" fmla="*/ 68746 h 662124"/>
                <a:gd name="connsiteX4-81" fmla="*/ 524651 w 524651"/>
                <a:gd name="connsiteY4-82" fmla="*/ 662124 h 662124"/>
                <a:gd name="connsiteX5-83" fmla="*/ 10856 w 524651"/>
                <a:gd name="connsiteY5-84" fmla="*/ 658506 h 66212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400" name="Freeform 399"/>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cxnSp>
          <p:nvCxnSpPr>
            <p:cNvPr id="401" name="Straight Connector 400"/>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1" fmla="*/ 434989 w 1537226"/>
              <a:gd name="connsiteY0-2" fmla="*/ 253346 h 1763594"/>
              <a:gd name="connsiteX1-3" fmla="*/ 488 w 1537226"/>
              <a:gd name="connsiteY1-4" fmla="*/ 921706 h 1763594"/>
              <a:gd name="connsiteX2-5" fmla="*/ 368142 w 1537226"/>
              <a:gd name="connsiteY2-6" fmla="*/ 1489812 h 1763594"/>
              <a:gd name="connsiteX3-7" fmla="*/ 1187008 w 1537226"/>
              <a:gd name="connsiteY3-8" fmla="*/ 1757156 h 1763594"/>
              <a:gd name="connsiteX4-9" fmla="*/ 1521239 w 1537226"/>
              <a:gd name="connsiteY4-10" fmla="*/ 1239177 h 1763594"/>
              <a:gd name="connsiteX5-11" fmla="*/ 1468998 w 1537226"/>
              <a:gd name="connsiteY5-12" fmla="*/ 654362 h 1763594"/>
              <a:gd name="connsiteX6-13" fmla="*/ 1337412 w 1537226"/>
              <a:gd name="connsiteY6-14" fmla="*/ 136383 h 1763594"/>
              <a:gd name="connsiteX7-15" fmla="*/ 1086739 w 1537226"/>
              <a:gd name="connsiteY7-16" fmla="*/ 2711 h 1763594"/>
              <a:gd name="connsiteX8-17" fmla="*/ 434989 w 1537226"/>
              <a:gd name="connsiteY8-18" fmla="*/ 253346 h 1763594"/>
              <a:gd name="connsiteX0-19" fmla="*/ 434989 w 1537226"/>
              <a:gd name="connsiteY0-20" fmla="*/ 253346 h 1763594"/>
              <a:gd name="connsiteX1-21" fmla="*/ 488 w 1537226"/>
              <a:gd name="connsiteY1-22" fmla="*/ 921706 h 1763594"/>
              <a:gd name="connsiteX2-23" fmla="*/ 368142 w 1537226"/>
              <a:gd name="connsiteY2-24" fmla="*/ 1489812 h 1763594"/>
              <a:gd name="connsiteX3-25" fmla="*/ 1187008 w 1537226"/>
              <a:gd name="connsiteY3-26" fmla="*/ 1757156 h 1763594"/>
              <a:gd name="connsiteX4-27" fmla="*/ 1521239 w 1537226"/>
              <a:gd name="connsiteY4-28" fmla="*/ 1239177 h 1763594"/>
              <a:gd name="connsiteX5-29" fmla="*/ 1468998 w 1537226"/>
              <a:gd name="connsiteY5-30" fmla="*/ 654362 h 1763594"/>
              <a:gd name="connsiteX6-31" fmla="*/ 1337412 w 1537226"/>
              <a:gd name="connsiteY6-32" fmla="*/ 136383 h 1763594"/>
              <a:gd name="connsiteX7-33" fmla="*/ 839572 w 1537226"/>
              <a:gd name="connsiteY7-34" fmla="*/ 2711 h 1763594"/>
              <a:gd name="connsiteX8-35" fmla="*/ 434989 w 1537226"/>
              <a:gd name="connsiteY8-36" fmla="*/ 253346 h 1763594"/>
              <a:gd name="connsiteX0-37" fmla="*/ 360357 w 1536743"/>
              <a:gd name="connsiteY0-38" fmla="*/ 534641 h 1782088"/>
              <a:gd name="connsiteX1-39" fmla="*/ 5 w 1536743"/>
              <a:gd name="connsiteY1-40" fmla="*/ 940200 h 1782088"/>
              <a:gd name="connsiteX2-41" fmla="*/ 367659 w 1536743"/>
              <a:gd name="connsiteY2-42" fmla="*/ 1508306 h 1782088"/>
              <a:gd name="connsiteX3-43" fmla="*/ 1186525 w 1536743"/>
              <a:gd name="connsiteY3-44" fmla="*/ 1775650 h 1782088"/>
              <a:gd name="connsiteX4-45" fmla="*/ 1520756 w 1536743"/>
              <a:gd name="connsiteY4-46" fmla="*/ 1257671 h 1782088"/>
              <a:gd name="connsiteX5-47" fmla="*/ 1468515 w 1536743"/>
              <a:gd name="connsiteY5-48" fmla="*/ 672856 h 1782088"/>
              <a:gd name="connsiteX6-49" fmla="*/ 1336929 w 1536743"/>
              <a:gd name="connsiteY6-50" fmla="*/ 154877 h 1782088"/>
              <a:gd name="connsiteX7-51" fmla="*/ 839089 w 1536743"/>
              <a:gd name="connsiteY7-52" fmla="*/ 21205 h 1782088"/>
              <a:gd name="connsiteX8-53" fmla="*/ 360357 w 1536743"/>
              <a:gd name="connsiteY8-54" fmla="*/ 534641 h 1782088"/>
              <a:gd name="connsiteX0-55" fmla="*/ 360355 w 1536741"/>
              <a:gd name="connsiteY0-56" fmla="*/ 534641 h 1782088"/>
              <a:gd name="connsiteX1-57" fmla="*/ 3 w 1536741"/>
              <a:gd name="connsiteY1-58" fmla="*/ 940200 h 1782088"/>
              <a:gd name="connsiteX2-59" fmla="*/ 367657 w 1536741"/>
              <a:gd name="connsiteY2-60" fmla="*/ 1508306 h 1782088"/>
              <a:gd name="connsiteX3-61" fmla="*/ 1186523 w 1536741"/>
              <a:gd name="connsiteY3-62" fmla="*/ 1775650 h 1782088"/>
              <a:gd name="connsiteX4-63" fmla="*/ 1520754 w 1536741"/>
              <a:gd name="connsiteY4-64" fmla="*/ 1257671 h 1782088"/>
              <a:gd name="connsiteX5-65" fmla="*/ 1468513 w 1536741"/>
              <a:gd name="connsiteY5-66" fmla="*/ 672856 h 1782088"/>
              <a:gd name="connsiteX6-67" fmla="*/ 1336927 w 1536741"/>
              <a:gd name="connsiteY6-68" fmla="*/ 154877 h 1782088"/>
              <a:gd name="connsiteX7-69" fmla="*/ 839087 w 1536741"/>
              <a:gd name="connsiteY7-70" fmla="*/ 21205 h 1782088"/>
              <a:gd name="connsiteX8-71" fmla="*/ 360355 w 1536741"/>
              <a:gd name="connsiteY8-72" fmla="*/ 534641 h 1782088"/>
              <a:gd name="connsiteX0-73" fmla="*/ 360355 w 1494463"/>
              <a:gd name="connsiteY0-74" fmla="*/ 534641 h 1775651"/>
              <a:gd name="connsiteX1-75" fmla="*/ 3 w 1494463"/>
              <a:gd name="connsiteY1-76" fmla="*/ 940200 h 1775651"/>
              <a:gd name="connsiteX2-77" fmla="*/ 367657 w 1494463"/>
              <a:gd name="connsiteY2-78" fmla="*/ 1508306 h 1775651"/>
              <a:gd name="connsiteX3-79" fmla="*/ 1186523 w 1494463"/>
              <a:gd name="connsiteY3-80" fmla="*/ 1775650 h 1775651"/>
              <a:gd name="connsiteX4-81" fmla="*/ 1467465 w 1494463"/>
              <a:gd name="connsiteY4-82" fmla="*/ 1510813 h 1775651"/>
              <a:gd name="connsiteX5-83" fmla="*/ 1468513 w 1494463"/>
              <a:gd name="connsiteY5-84" fmla="*/ 672856 h 1775651"/>
              <a:gd name="connsiteX6-85" fmla="*/ 1336927 w 1494463"/>
              <a:gd name="connsiteY6-86" fmla="*/ 154877 h 1775651"/>
              <a:gd name="connsiteX7-87" fmla="*/ 839087 w 1494463"/>
              <a:gd name="connsiteY7-88" fmla="*/ 21205 h 1775651"/>
              <a:gd name="connsiteX8-89" fmla="*/ 360355 w 1494463"/>
              <a:gd name="connsiteY8-90" fmla="*/ 534641 h 1775651"/>
              <a:gd name="connsiteX0-91" fmla="*/ 360355 w 1491064"/>
              <a:gd name="connsiteY0-92" fmla="*/ 552327 h 1793337"/>
              <a:gd name="connsiteX1-93" fmla="*/ 3 w 1491064"/>
              <a:gd name="connsiteY1-94" fmla="*/ 957886 h 1793337"/>
              <a:gd name="connsiteX2-95" fmla="*/ 367657 w 1491064"/>
              <a:gd name="connsiteY2-96" fmla="*/ 1525992 h 1793337"/>
              <a:gd name="connsiteX3-97" fmla="*/ 1186523 w 1491064"/>
              <a:gd name="connsiteY3-98" fmla="*/ 1793336 h 1793337"/>
              <a:gd name="connsiteX4-99" fmla="*/ 1467465 w 1491064"/>
              <a:gd name="connsiteY4-100" fmla="*/ 1528499 h 1793337"/>
              <a:gd name="connsiteX5-101" fmla="*/ 1468513 w 1491064"/>
              <a:gd name="connsiteY5-102" fmla="*/ 690542 h 1793337"/>
              <a:gd name="connsiteX6-103" fmla="*/ 1407977 w 1491064"/>
              <a:gd name="connsiteY6-104" fmla="*/ 109278 h 1793337"/>
              <a:gd name="connsiteX7-105" fmla="*/ 839087 w 1491064"/>
              <a:gd name="connsiteY7-106" fmla="*/ 38891 h 1793337"/>
              <a:gd name="connsiteX8-107" fmla="*/ 360355 w 1491064"/>
              <a:gd name="connsiteY8-108" fmla="*/ 552327 h 1793337"/>
              <a:gd name="connsiteX0-109" fmla="*/ 360355 w 1502818"/>
              <a:gd name="connsiteY0-110" fmla="*/ 552327 h 1612281"/>
              <a:gd name="connsiteX1-111" fmla="*/ 3 w 1502818"/>
              <a:gd name="connsiteY1-112" fmla="*/ 957886 h 1612281"/>
              <a:gd name="connsiteX2-113" fmla="*/ 367657 w 1502818"/>
              <a:gd name="connsiteY2-114" fmla="*/ 1525992 h 1612281"/>
              <a:gd name="connsiteX3-115" fmla="*/ 1026659 w 1502818"/>
              <a:gd name="connsiteY3-116" fmla="*/ 1582385 h 1612281"/>
              <a:gd name="connsiteX4-117" fmla="*/ 1467465 w 1502818"/>
              <a:gd name="connsiteY4-118" fmla="*/ 1528499 h 1612281"/>
              <a:gd name="connsiteX5-119" fmla="*/ 1468513 w 1502818"/>
              <a:gd name="connsiteY5-120" fmla="*/ 690542 h 1612281"/>
              <a:gd name="connsiteX6-121" fmla="*/ 1407977 w 1502818"/>
              <a:gd name="connsiteY6-122" fmla="*/ 109278 h 1612281"/>
              <a:gd name="connsiteX7-123" fmla="*/ 839087 w 1502818"/>
              <a:gd name="connsiteY7-124" fmla="*/ 38891 h 1612281"/>
              <a:gd name="connsiteX8-125" fmla="*/ 360355 w 1502818"/>
              <a:gd name="connsiteY8-126" fmla="*/ 552327 h 1612281"/>
              <a:gd name="connsiteX0-127" fmla="*/ 360384 w 1502847"/>
              <a:gd name="connsiteY0-128" fmla="*/ 552327 h 1803602"/>
              <a:gd name="connsiteX1-129" fmla="*/ 32 w 1502847"/>
              <a:gd name="connsiteY1-130" fmla="*/ 957886 h 1803602"/>
              <a:gd name="connsiteX2-131" fmla="*/ 385448 w 1502847"/>
              <a:gd name="connsiteY2-132" fmla="*/ 1779134 h 1803602"/>
              <a:gd name="connsiteX3-133" fmla="*/ 1026688 w 1502847"/>
              <a:gd name="connsiteY3-134" fmla="*/ 1582385 h 1803602"/>
              <a:gd name="connsiteX4-135" fmla="*/ 1467494 w 1502847"/>
              <a:gd name="connsiteY4-136" fmla="*/ 1528499 h 1803602"/>
              <a:gd name="connsiteX5-137" fmla="*/ 1468542 w 1502847"/>
              <a:gd name="connsiteY5-138" fmla="*/ 690542 h 1803602"/>
              <a:gd name="connsiteX6-139" fmla="*/ 1408006 w 1502847"/>
              <a:gd name="connsiteY6-140" fmla="*/ 109278 h 1803602"/>
              <a:gd name="connsiteX7-141" fmla="*/ 839116 w 1502847"/>
              <a:gd name="connsiteY7-142" fmla="*/ 38891 h 1803602"/>
              <a:gd name="connsiteX8-143" fmla="*/ 360384 w 1502847"/>
              <a:gd name="connsiteY8-144" fmla="*/ 552327 h 1803602"/>
              <a:gd name="connsiteX0-145" fmla="*/ 360384 w 1502847"/>
              <a:gd name="connsiteY0-146" fmla="*/ 552327 h 1826319"/>
              <a:gd name="connsiteX1-147" fmla="*/ 32 w 1502847"/>
              <a:gd name="connsiteY1-148" fmla="*/ 957886 h 1826319"/>
              <a:gd name="connsiteX2-149" fmla="*/ 385448 w 1502847"/>
              <a:gd name="connsiteY2-150" fmla="*/ 1779134 h 1826319"/>
              <a:gd name="connsiteX3-151" fmla="*/ 1026688 w 1502847"/>
              <a:gd name="connsiteY3-152" fmla="*/ 1582385 h 1826319"/>
              <a:gd name="connsiteX4-153" fmla="*/ 1467494 w 1502847"/>
              <a:gd name="connsiteY4-154" fmla="*/ 1528499 h 1826319"/>
              <a:gd name="connsiteX5-155" fmla="*/ 1468542 w 1502847"/>
              <a:gd name="connsiteY5-156" fmla="*/ 690542 h 1826319"/>
              <a:gd name="connsiteX6-157" fmla="*/ 1408006 w 1502847"/>
              <a:gd name="connsiteY6-158" fmla="*/ 109278 h 1826319"/>
              <a:gd name="connsiteX7-159" fmla="*/ 839116 w 1502847"/>
              <a:gd name="connsiteY7-160" fmla="*/ 38891 h 1826319"/>
              <a:gd name="connsiteX8-161" fmla="*/ 360384 w 1502847"/>
              <a:gd name="connsiteY8-162" fmla="*/ 552327 h 1826319"/>
              <a:gd name="connsiteX0-163" fmla="*/ 289852 w 1503366"/>
              <a:gd name="connsiteY0-164" fmla="*/ 461730 h 1820101"/>
              <a:gd name="connsiteX1-165" fmla="*/ 551 w 1503366"/>
              <a:gd name="connsiteY1-166" fmla="*/ 951668 h 1820101"/>
              <a:gd name="connsiteX2-167" fmla="*/ 385967 w 1503366"/>
              <a:gd name="connsiteY2-168" fmla="*/ 1772916 h 1820101"/>
              <a:gd name="connsiteX3-169" fmla="*/ 1027207 w 1503366"/>
              <a:gd name="connsiteY3-170" fmla="*/ 1576167 h 1820101"/>
              <a:gd name="connsiteX4-171" fmla="*/ 1468013 w 1503366"/>
              <a:gd name="connsiteY4-172" fmla="*/ 1522281 h 1820101"/>
              <a:gd name="connsiteX5-173" fmla="*/ 1469061 w 1503366"/>
              <a:gd name="connsiteY5-174" fmla="*/ 684324 h 1820101"/>
              <a:gd name="connsiteX6-175" fmla="*/ 1408525 w 1503366"/>
              <a:gd name="connsiteY6-176" fmla="*/ 103060 h 1820101"/>
              <a:gd name="connsiteX7-177" fmla="*/ 839635 w 1503366"/>
              <a:gd name="connsiteY7-178" fmla="*/ 32673 h 1820101"/>
              <a:gd name="connsiteX8-179" fmla="*/ 289852 w 1503366"/>
              <a:gd name="connsiteY8-180" fmla="*/ 461730 h 1820101"/>
              <a:gd name="connsiteX0-181" fmla="*/ 293376 w 1506890"/>
              <a:gd name="connsiteY0-182" fmla="*/ 461730 h 1820101"/>
              <a:gd name="connsiteX1-183" fmla="*/ 4075 w 1506890"/>
              <a:gd name="connsiteY1-184" fmla="*/ 951668 h 1820101"/>
              <a:gd name="connsiteX2-185" fmla="*/ 389491 w 1506890"/>
              <a:gd name="connsiteY2-186" fmla="*/ 1772916 h 1820101"/>
              <a:gd name="connsiteX3-187" fmla="*/ 1030731 w 1506890"/>
              <a:gd name="connsiteY3-188" fmla="*/ 1576167 h 1820101"/>
              <a:gd name="connsiteX4-189" fmla="*/ 1471537 w 1506890"/>
              <a:gd name="connsiteY4-190" fmla="*/ 1522281 h 1820101"/>
              <a:gd name="connsiteX5-191" fmla="*/ 1472585 w 1506890"/>
              <a:gd name="connsiteY5-192" fmla="*/ 684324 h 1820101"/>
              <a:gd name="connsiteX6-193" fmla="*/ 1412049 w 1506890"/>
              <a:gd name="connsiteY6-194" fmla="*/ 103060 h 1820101"/>
              <a:gd name="connsiteX7-195" fmla="*/ 843159 w 1506890"/>
              <a:gd name="connsiteY7-196" fmla="*/ 32673 h 1820101"/>
              <a:gd name="connsiteX8-197" fmla="*/ 293376 w 1506890"/>
              <a:gd name="connsiteY8-198" fmla="*/ 461730 h 1820101"/>
              <a:gd name="connsiteX0-199" fmla="*/ 203955 w 1545103"/>
              <a:gd name="connsiteY0-200" fmla="*/ 206126 h 1802639"/>
              <a:gd name="connsiteX1-201" fmla="*/ 42288 w 1545103"/>
              <a:gd name="connsiteY1-202" fmla="*/ 934206 h 1802639"/>
              <a:gd name="connsiteX2-203" fmla="*/ 427704 w 1545103"/>
              <a:gd name="connsiteY2-204" fmla="*/ 1755454 h 1802639"/>
              <a:gd name="connsiteX3-205" fmla="*/ 1068944 w 1545103"/>
              <a:gd name="connsiteY3-206" fmla="*/ 1558705 h 1802639"/>
              <a:gd name="connsiteX4-207" fmla="*/ 1509750 w 1545103"/>
              <a:gd name="connsiteY4-208" fmla="*/ 1504819 h 1802639"/>
              <a:gd name="connsiteX5-209" fmla="*/ 1510798 w 1545103"/>
              <a:gd name="connsiteY5-210" fmla="*/ 666862 h 1802639"/>
              <a:gd name="connsiteX6-211" fmla="*/ 1450262 w 1545103"/>
              <a:gd name="connsiteY6-212" fmla="*/ 85598 h 1802639"/>
              <a:gd name="connsiteX7-213" fmla="*/ 881372 w 1545103"/>
              <a:gd name="connsiteY7-214" fmla="*/ 15211 h 1802639"/>
              <a:gd name="connsiteX8-215" fmla="*/ 203955 w 1545103"/>
              <a:gd name="connsiteY8-216" fmla="*/ 206126 h 1802639"/>
              <a:gd name="connsiteX0-217" fmla="*/ 147252 w 1634267"/>
              <a:gd name="connsiteY0-218" fmla="*/ 113266 h 1796376"/>
              <a:gd name="connsiteX1-219" fmla="*/ 131452 w 1634267"/>
              <a:gd name="connsiteY1-220" fmla="*/ 927943 h 1796376"/>
              <a:gd name="connsiteX2-221" fmla="*/ 516868 w 1634267"/>
              <a:gd name="connsiteY2-222" fmla="*/ 1749191 h 1796376"/>
              <a:gd name="connsiteX3-223" fmla="*/ 1158108 w 1634267"/>
              <a:gd name="connsiteY3-224" fmla="*/ 1552442 h 1796376"/>
              <a:gd name="connsiteX4-225" fmla="*/ 1598914 w 1634267"/>
              <a:gd name="connsiteY4-226" fmla="*/ 1498556 h 1796376"/>
              <a:gd name="connsiteX5-227" fmla="*/ 1599962 w 1634267"/>
              <a:gd name="connsiteY5-228" fmla="*/ 660599 h 1796376"/>
              <a:gd name="connsiteX6-229" fmla="*/ 1539426 w 1634267"/>
              <a:gd name="connsiteY6-230" fmla="*/ 79335 h 1796376"/>
              <a:gd name="connsiteX7-231" fmla="*/ 970536 w 1634267"/>
              <a:gd name="connsiteY7-232" fmla="*/ 8948 h 1796376"/>
              <a:gd name="connsiteX8-233" fmla="*/ 147252 w 1634267"/>
              <a:gd name="connsiteY8-234" fmla="*/ 113266 h 179637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573" name="TextBox 572"/>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endParaRPr lang="en-US" sz="1400" dirty="0"/>
          </a:p>
        </p:txBody>
      </p:sp>
      <p:sp>
        <p:nvSpPr>
          <p:cNvPr id="655" name="Rectangle 654"/>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endParaRPr lang="en-US" sz="1400" dirty="0"/>
          </a:p>
        </p:txBody>
      </p:sp>
      <p:sp>
        <p:nvSpPr>
          <p:cNvPr id="657" name="TextBox 656"/>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endParaRPr lang="en-US" sz="1050" dirty="0"/>
          </a:p>
          <a:p>
            <a:pPr>
              <a:lnSpc>
                <a:spcPct val="90000"/>
              </a:lnSpc>
            </a:pPr>
            <a:r>
              <a:rPr lang="en-US" sz="1050" dirty="0"/>
              <a:t>network</a:t>
            </a:r>
            <a:endParaRPr lang="en-US" sz="1050" dirty="0"/>
          </a:p>
        </p:txBody>
      </p:sp>
      <p:sp>
        <p:nvSpPr>
          <p:cNvPr id="658" name="TextBox 657"/>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endParaRPr lang="en-US" sz="1400" dirty="0"/>
          </a:p>
          <a:p>
            <a:pPr>
              <a:lnSpc>
                <a:spcPct val="90000"/>
              </a:lnSpc>
            </a:pPr>
            <a:r>
              <a:rPr lang="en-US" sz="1400" dirty="0"/>
              <a:t>provider </a:t>
            </a:r>
            <a:endParaRPr lang="en-US" sz="1400" dirty="0"/>
          </a:p>
          <a:p>
            <a:pPr>
              <a:lnSpc>
                <a:spcPct val="90000"/>
              </a:lnSpc>
            </a:pPr>
            <a:r>
              <a:rPr lang="en-US" sz="1400" dirty="0"/>
              <a:t>network</a:t>
            </a:r>
            <a:endParaRPr lang="en-US" sz="1000" dirty="0"/>
          </a:p>
        </p:txBody>
      </p:sp>
      <p:cxnSp>
        <p:nvCxnSpPr>
          <p:cNvPr id="830" name="Straight Connector 829"/>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p:cNvGrpSpPr/>
          <p:nvPr/>
        </p:nvGrpSpPr>
        <p:grpSpPr>
          <a:xfrm>
            <a:off x="7562238" y="2127325"/>
            <a:ext cx="3578867" cy="3640283"/>
            <a:chOff x="7562238" y="2127325"/>
            <a:chExt cx="3578867" cy="3640283"/>
          </a:xfrm>
        </p:grpSpPr>
        <p:grpSp>
          <p:nvGrpSpPr>
            <p:cNvPr id="800" name="Group 799"/>
            <p:cNvGrpSpPr/>
            <p:nvPr/>
          </p:nvGrpSpPr>
          <p:grpSpPr>
            <a:xfrm>
              <a:off x="7857253" y="2127325"/>
              <a:ext cx="3283852" cy="3640283"/>
              <a:chOff x="7881336" y="2104198"/>
              <a:chExt cx="3283852" cy="3640283"/>
            </a:xfrm>
          </p:grpSpPr>
          <p:sp>
            <p:nvSpPr>
              <p:cNvPr id="22" name="Line 428"/>
              <p:cNvSpPr>
                <a:spLocks noChangeShapeType="1"/>
              </p:cNvSpPr>
              <p:nvPr/>
            </p:nvSpPr>
            <p:spPr bwMode="auto">
              <a:xfrm rot="16200000" flipV="1">
                <a:off x="9813692" y="5228612"/>
                <a:ext cx="388062" cy="75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24" name="Line 430"/>
              <p:cNvSpPr>
                <a:spLocks noChangeShapeType="1"/>
              </p:cNvSpPr>
              <p:nvPr/>
            </p:nvSpPr>
            <p:spPr bwMode="auto">
              <a:xfrm rot="16200000">
                <a:off x="10234009" y="5382159"/>
                <a:ext cx="0" cy="11430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p:cNvSpPr>
                <a:spLocks noChangeShapeType="1"/>
              </p:cNvSpPr>
              <p:nvPr/>
            </p:nvSpPr>
            <p:spPr bwMode="auto">
              <a:xfrm>
                <a:off x="9457042" y="4815390"/>
                <a:ext cx="524483" cy="26153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6" name="Line 432"/>
              <p:cNvSpPr>
                <a:spLocks noChangeShapeType="1"/>
              </p:cNvSpPr>
              <p:nvPr/>
            </p:nvSpPr>
            <p:spPr bwMode="auto">
              <a:xfrm flipV="1">
                <a:off x="8874149" y="4815390"/>
                <a:ext cx="569255" cy="24626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7" name="Line 433"/>
              <p:cNvSpPr>
                <a:spLocks noChangeShapeType="1"/>
              </p:cNvSpPr>
              <p:nvPr/>
            </p:nvSpPr>
            <p:spPr bwMode="auto">
              <a:xfrm flipV="1">
                <a:off x="8845827" y="5085749"/>
                <a:ext cx="1030502"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8" name="Line 435"/>
              <p:cNvSpPr>
                <a:spLocks noChangeShapeType="1"/>
              </p:cNvSpPr>
              <p:nvPr/>
            </p:nvSpPr>
            <p:spPr bwMode="auto">
              <a:xfrm>
                <a:off x="8234290" y="5094207"/>
                <a:ext cx="226800" cy="1270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dirty="0"/>
              </a:p>
            </p:txBody>
          </p:sp>
          <p:sp>
            <p:nvSpPr>
              <p:cNvPr id="29" name="Line 436"/>
              <p:cNvSpPr>
                <a:spLocks noChangeShapeType="1"/>
              </p:cNvSpPr>
              <p:nvPr/>
            </p:nvSpPr>
            <p:spPr bwMode="auto">
              <a:xfrm flipV="1">
                <a:off x="7972450" y="5267343"/>
                <a:ext cx="412750" cy="1270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0" name="Line 439"/>
              <p:cNvSpPr>
                <a:spLocks noChangeShapeType="1"/>
              </p:cNvSpPr>
              <p:nvPr/>
            </p:nvSpPr>
            <p:spPr bwMode="auto">
              <a:xfrm flipH="1">
                <a:off x="8397900" y="5259125"/>
                <a:ext cx="68080" cy="29396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1" name="Line 440"/>
              <p:cNvSpPr>
                <a:spLocks noChangeShapeType="1"/>
              </p:cNvSpPr>
              <p:nvPr/>
            </p:nvSpPr>
            <p:spPr bwMode="auto">
              <a:xfrm flipH="1" flipV="1">
                <a:off x="8512814" y="5284804"/>
                <a:ext cx="280374" cy="26987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2" name="Line 441"/>
              <p:cNvSpPr>
                <a:spLocks noChangeShapeType="1"/>
              </p:cNvSpPr>
              <p:nvPr/>
            </p:nvSpPr>
            <p:spPr bwMode="auto">
              <a:xfrm>
                <a:off x="8512814" y="5234921"/>
                <a:ext cx="914184" cy="46862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3" name="Line 443"/>
              <p:cNvSpPr>
                <a:spLocks noChangeShapeType="1"/>
              </p:cNvSpPr>
              <p:nvPr/>
            </p:nvSpPr>
            <p:spPr bwMode="auto">
              <a:xfrm>
                <a:off x="8271861" y="3806843"/>
                <a:ext cx="0" cy="13176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9" name="Line 449"/>
              <p:cNvSpPr>
                <a:spLocks noChangeShapeType="1"/>
              </p:cNvSpPr>
              <p:nvPr/>
            </p:nvSpPr>
            <p:spPr bwMode="auto">
              <a:xfrm flipV="1">
                <a:off x="7881336" y="4017980"/>
                <a:ext cx="168275"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528" name="Line 428"/>
              <p:cNvSpPr>
                <a:spLocks noChangeShapeType="1"/>
              </p:cNvSpPr>
              <p:nvPr/>
            </p:nvSpPr>
            <p:spPr bwMode="auto">
              <a:xfrm rot="16200000" flipV="1">
                <a:off x="9909628" y="5560344"/>
                <a:ext cx="366793" cy="1482"/>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537" name="Line 440"/>
              <p:cNvSpPr>
                <a:spLocks noChangeShapeType="1"/>
              </p:cNvSpPr>
              <p:nvPr/>
            </p:nvSpPr>
            <p:spPr bwMode="auto">
              <a:xfrm flipV="1">
                <a:off x="8483508" y="5013435"/>
                <a:ext cx="404236" cy="2077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cxnSp>
            <p:nvCxnSpPr>
              <p:cNvPr id="564" name="Straight Connector 563"/>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p:cNvSpPr>
                <a:spLocks noChangeShapeType="1"/>
              </p:cNvSpPr>
              <p:nvPr/>
            </p:nvSpPr>
            <p:spPr bwMode="auto">
              <a:xfrm flipV="1">
                <a:off x="9402788" y="4090252"/>
                <a:ext cx="429324" cy="70560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19" name="Line 424"/>
              <p:cNvSpPr>
                <a:spLocks noChangeShapeType="1"/>
              </p:cNvSpPr>
              <p:nvPr/>
            </p:nvSpPr>
            <p:spPr bwMode="auto">
              <a:xfrm flipV="1">
                <a:off x="8268637" y="4024329"/>
                <a:ext cx="969051"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pic>
          <p:nvPicPr>
            <p:cNvPr id="262" name="Picture 778" descr="antenna_radiation_stylized"/>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p:cNvSpPr>
              <a:spLocks noChangeArrowheads="1"/>
            </p:cNvSpPr>
            <p:nvPr/>
          </p:nvSpPr>
          <p:spPr bwMode="auto">
            <a:xfrm>
              <a:off x="8174541" y="2292995"/>
              <a:ext cx="52388" cy="49485"/>
            </a:xfrm>
            <a:prstGeom prst="ellipse">
              <a:avLst/>
            </a:prstGeom>
            <a:solidFill>
              <a:schemeClr val="tx2"/>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39" name="Line 426"/>
          <p:cNvSpPr>
            <a:spLocks noChangeShapeType="1"/>
          </p:cNvSpPr>
          <p:nvPr/>
        </p:nvSpPr>
        <p:spPr bwMode="auto">
          <a:xfrm>
            <a:off x="8207860" y="2700359"/>
            <a:ext cx="227964" cy="17435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nvGrpSpPr>
          <p:cNvPr id="241" name="Group 783"/>
          <p:cNvGrpSpPr/>
          <p:nvPr/>
        </p:nvGrpSpPr>
        <p:grpSpPr bwMode="auto">
          <a:xfrm>
            <a:off x="8050698" y="2309376"/>
            <a:ext cx="298450" cy="464008"/>
            <a:chOff x="3130" y="3288"/>
            <a:chExt cx="410" cy="742"/>
          </a:xfrm>
        </p:grpSpPr>
        <p:sp>
          <p:nvSpPr>
            <p:cNvPr id="244" name="Line 270"/>
            <p:cNvSpPr>
              <a:spLocks noChangeShapeType="1"/>
            </p:cNvSpPr>
            <p:nvPr/>
          </p:nvSpPr>
          <p:spPr bwMode="auto">
            <a:xfrm flipH="1">
              <a:off x="3130" y="3288"/>
              <a:ext cx="205" cy="6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5" name="Line 271"/>
            <p:cNvSpPr>
              <a:spLocks noChangeShapeType="1"/>
            </p:cNvSpPr>
            <p:nvPr/>
          </p:nvSpPr>
          <p:spPr bwMode="auto">
            <a:xfrm>
              <a:off x="3335" y="3288"/>
              <a:ext cx="205" cy="669"/>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6" name="Line 272"/>
            <p:cNvSpPr>
              <a:spLocks noChangeShapeType="1"/>
            </p:cNvSpPr>
            <p:nvPr/>
          </p:nvSpPr>
          <p:spPr bwMode="auto">
            <a:xfrm>
              <a:off x="3130" y="3957"/>
              <a:ext cx="205" cy="73"/>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7" name="Line 273"/>
            <p:cNvSpPr>
              <a:spLocks noChangeShapeType="1"/>
            </p:cNvSpPr>
            <p:nvPr/>
          </p:nvSpPr>
          <p:spPr bwMode="auto">
            <a:xfrm flipH="1">
              <a:off x="3335" y="3957"/>
              <a:ext cx="205" cy="73"/>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8" name="Line 274"/>
            <p:cNvSpPr>
              <a:spLocks noChangeShapeType="1"/>
            </p:cNvSpPr>
            <p:nvPr/>
          </p:nvSpPr>
          <p:spPr bwMode="auto">
            <a:xfrm>
              <a:off x="3335" y="3303"/>
              <a:ext cx="0" cy="72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9" name="Line 275"/>
            <p:cNvSpPr>
              <a:spLocks noChangeShapeType="1"/>
            </p:cNvSpPr>
            <p:nvPr/>
          </p:nvSpPr>
          <p:spPr bwMode="auto">
            <a:xfrm flipV="1">
              <a:off x="3130" y="3888"/>
              <a:ext cx="205" cy="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0" name="Line 276"/>
            <p:cNvSpPr>
              <a:spLocks noChangeShapeType="1"/>
            </p:cNvSpPr>
            <p:nvPr/>
          </p:nvSpPr>
          <p:spPr bwMode="auto">
            <a:xfrm flipH="1" flipV="1">
              <a:off x="3335" y="3888"/>
              <a:ext cx="205" cy="69"/>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1" name="Line 277"/>
            <p:cNvSpPr>
              <a:spLocks noChangeShapeType="1"/>
            </p:cNvSpPr>
            <p:nvPr/>
          </p:nvSpPr>
          <p:spPr bwMode="auto">
            <a:xfrm>
              <a:off x="3217" y="3668"/>
              <a:ext cx="118" cy="5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2" name="Line 278"/>
            <p:cNvSpPr>
              <a:spLocks noChangeShapeType="1"/>
            </p:cNvSpPr>
            <p:nvPr/>
          </p:nvSpPr>
          <p:spPr bwMode="auto">
            <a:xfrm flipV="1">
              <a:off x="3335" y="3668"/>
              <a:ext cx="124" cy="5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3" name="Line 279"/>
            <p:cNvSpPr>
              <a:spLocks noChangeShapeType="1"/>
            </p:cNvSpPr>
            <p:nvPr/>
          </p:nvSpPr>
          <p:spPr bwMode="auto">
            <a:xfrm>
              <a:off x="3178" y="3766"/>
              <a:ext cx="152" cy="7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4" name="Line 280"/>
            <p:cNvSpPr>
              <a:spLocks noChangeShapeType="1"/>
            </p:cNvSpPr>
            <p:nvPr/>
          </p:nvSpPr>
          <p:spPr bwMode="auto">
            <a:xfrm flipV="1">
              <a:off x="3335" y="3781"/>
              <a:ext cx="153" cy="6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5" name="Line 281"/>
            <p:cNvSpPr>
              <a:spLocks noChangeShapeType="1"/>
            </p:cNvSpPr>
            <p:nvPr/>
          </p:nvSpPr>
          <p:spPr bwMode="auto">
            <a:xfrm flipV="1">
              <a:off x="3335" y="3567"/>
              <a:ext cx="78" cy="2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6" name="Line 282"/>
            <p:cNvSpPr>
              <a:spLocks noChangeShapeType="1"/>
            </p:cNvSpPr>
            <p:nvPr/>
          </p:nvSpPr>
          <p:spPr bwMode="auto">
            <a:xfrm flipV="1">
              <a:off x="3335" y="3428"/>
              <a:ext cx="49" cy="21"/>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7" name="Line 283"/>
            <p:cNvSpPr>
              <a:spLocks noChangeShapeType="1"/>
            </p:cNvSpPr>
            <p:nvPr/>
          </p:nvSpPr>
          <p:spPr bwMode="auto">
            <a:xfrm>
              <a:off x="3247" y="3558"/>
              <a:ext cx="95" cy="3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8" name="Line 284"/>
            <p:cNvSpPr>
              <a:spLocks noChangeShapeType="1"/>
            </p:cNvSpPr>
            <p:nvPr/>
          </p:nvSpPr>
          <p:spPr bwMode="auto">
            <a:xfrm>
              <a:off x="3289" y="3422"/>
              <a:ext cx="55" cy="3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grpSp>
      <p:pic>
        <p:nvPicPr>
          <p:cNvPr id="261" name="Picture 777" descr="access_point_stylized_smal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p:cNvGrpSpPr/>
          <p:nvPr/>
        </p:nvGrpSpPr>
        <p:grpSpPr>
          <a:xfrm>
            <a:off x="9783558" y="4989983"/>
            <a:ext cx="393760" cy="218578"/>
            <a:chOff x="7493876" y="2774731"/>
            <a:chExt cx="1481958" cy="894622"/>
          </a:xfrm>
        </p:grpSpPr>
        <p:sp>
          <p:nvSpPr>
            <p:cNvPr id="472" name="Freeform 471"/>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73" name="Oval 472"/>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74" name="Group 473"/>
            <p:cNvGrpSpPr/>
            <p:nvPr/>
          </p:nvGrpSpPr>
          <p:grpSpPr>
            <a:xfrm>
              <a:off x="7713663" y="2848339"/>
              <a:ext cx="1042107" cy="425543"/>
              <a:chOff x="7786941" y="2884917"/>
              <a:chExt cx="897649" cy="353919"/>
            </a:xfrm>
          </p:grpSpPr>
          <p:sp>
            <p:nvSpPr>
              <p:cNvPr id="475" name="Freeform 474"/>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p:cNvGrpSpPr/>
          <p:nvPr/>
        </p:nvGrpSpPr>
        <p:grpSpPr>
          <a:xfrm>
            <a:off x="9849365" y="5339037"/>
            <a:ext cx="309740" cy="190838"/>
            <a:chOff x="3668110" y="2448910"/>
            <a:chExt cx="3794234" cy="2165130"/>
          </a:xfrm>
        </p:grpSpPr>
        <p:sp>
          <p:nvSpPr>
            <p:cNvPr id="521" name="Rectangle 520"/>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p:cNvGrpSpPr/>
            <p:nvPr/>
          </p:nvGrpSpPr>
          <p:grpSpPr>
            <a:xfrm>
              <a:off x="3941378" y="2603243"/>
              <a:ext cx="3202061" cy="1066110"/>
              <a:chOff x="7939341" y="3037317"/>
              <a:chExt cx="897649" cy="353919"/>
            </a:xfrm>
          </p:grpSpPr>
          <p:sp>
            <p:nvSpPr>
              <p:cNvPr id="524" name="Freeform 523"/>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p:cNvGrpSpPr/>
          <p:nvPr/>
        </p:nvGrpSpPr>
        <p:grpSpPr>
          <a:xfrm>
            <a:off x="8676619" y="4967420"/>
            <a:ext cx="393760" cy="218578"/>
            <a:chOff x="7493876" y="2774731"/>
            <a:chExt cx="1481958" cy="894622"/>
          </a:xfrm>
        </p:grpSpPr>
        <p:sp>
          <p:nvSpPr>
            <p:cNvPr id="480" name="Freeform 479"/>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81" name="Oval 480"/>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82" name="Group 481"/>
            <p:cNvGrpSpPr/>
            <p:nvPr/>
          </p:nvGrpSpPr>
          <p:grpSpPr>
            <a:xfrm>
              <a:off x="7713663" y="2848339"/>
              <a:ext cx="1042107" cy="425543"/>
              <a:chOff x="7786941" y="2884917"/>
              <a:chExt cx="897649" cy="353919"/>
            </a:xfrm>
          </p:grpSpPr>
          <p:sp>
            <p:nvSpPr>
              <p:cNvPr id="483" name="Freeform 482"/>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p:cNvGrpSpPr/>
          <p:nvPr/>
        </p:nvGrpSpPr>
        <p:grpSpPr>
          <a:xfrm>
            <a:off x="8311520" y="5194433"/>
            <a:ext cx="309740" cy="190838"/>
            <a:chOff x="3668110" y="2448910"/>
            <a:chExt cx="3794234" cy="2165130"/>
          </a:xfrm>
        </p:grpSpPr>
        <p:sp>
          <p:nvSpPr>
            <p:cNvPr id="530" name="Rectangle 529"/>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p:cNvGrpSpPr/>
            <p:nvPr/>
          </p:nvGrpSpPr>
          <p:grpSpPr>
            <a:xfrm>
              <a:off x="3941378" y="2603243"/>
              <a:ext cx="3202061" cy="1066110"/>
              <a:chOff x="7939341" y="3037317"/>
              <a:chExt cx="897649" cy="353919"/>
            </a:xfrm>
          </p:grpSpPr>
          <p:sp>
            <p:nvSpPr>
              <p:cNvPr id="533" name="Freeform 532"/>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07" name="Group 406"/>
          <p:cNvGrpSpPr/>
          <p:nvPr/>
        </p:nvGrpSpPr>
        <p:grpSpPr>
          <a:xfrm>
            <a:off x="8439827" y="2812309"/>
            <a:ext cx="353678" cy="168275"/>
            <a:chOff x="7493876" y="2774731"/>
            <a:chExt cx="1481958" cy="894622"/>
          </a:xfrm>
        </p:grpSpPr>
        <p:sp>
          <p:nvSpPr>
            <p:cNvPr id="408" name="Freeform 407"/>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09" name="Oval 408"/>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10" name="Group 409"/>
            <p:cNvGrpSpPr/>
            <p:nvPr/>
          </p:nvGrpSpPr>
          <p:grpSpPr>
            <a:xfrm>
              <a:off x="7713663" y="2848339"/>
              <a:ext cx="1042107" cy="425543"/>
              <a:chOff x="7786941" y="2884917"/>
              <a:chExt cx="897649" cy="353919"/>
            </a:xfrm>
          </p:grpSpPr>
          <p:sp>
            <p:nvSpPr>
              <p:cNvPr id="411" name="Freeform 410"/>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15" name="Group 414"/>
          <p:cNvGrpSpPr/>
          <p:nvPr/>
        </p:nvGrpSpPr>
        <p:grpSpPr>
          <a:xfrm>
            <a:off x="8050070" y="3965994"/>
            <a:ext cx="354986" cy="175668"/>
            <a:chOff x="7493876" y="2774731"/>
            <a:chExt cx="1481958" cy="894622"/>
          </a:xfrm>
        </p:grpSpPr>
        <p:sp>
          <p:nvSpPr>
            <p:cNvPr id="416" name="Freeform 41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17" name="Oval 416"/>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18" name="Group 417"/>
            <p:cNvGrpSpPr/>
            <p:nvPr/>
          </p:nvGrpSpPr>
          <p:grpSpPr>
            <a:xfrm>
              <a:off x="7713663" y="2848339"/>
              <a:ext cx="1042107" cy="425543"/>
              <a:chOff x="7786941" y="2884917"/>
              <a:chExt cx="897649" cy="353919"/>
            </a:xfrm>
          </p:grpSpPr>
          <p:sp>
            <p:nvSpPr>
              <p:cNvPr id="419" name="Freeform 41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55" name="Group 454"/>
          <p:cNvGrpSpPr/>
          <p:nvPr/>
        </p:nvGrpSpPr>
        <p:grpSpPr>
          <a:xfrm>
            <a:off x="10884085" y="3601365"/>
            <a:ext cx="170989" cy="97052"/>
            <a:chOff x="7493876" y="2774731"/>
            <a:chExt cx="1481958" cy="894622"/>
          </a:xfrm>
        </p:grpSpPr>
        <p:sp>
          <p:nvSpPr>
            <p:cNvPr id="456" name="Freeform 45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57" name="Oval 456"/>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58" name="Group 457"/>
            <p:cNvGrpSpPr/>
            <p:nvPr/>
          </p:nvGrpSpPr>
          <p:grpSpPr>
            <a:xfrm>
              <a:off x="7713663" y="2848339"/>
              <a:ext cx="1042107" cy="425543"/>
              <a:chOff x="7786941" y="2884917"/>
              <a:chExt cx="897649" cy="353919"/>
            </a:xfrm>
          </p:grpSpPr>
          <p:sp>
            <p:nvSpPr>
              <p:cNvPr id="459" name="Freeform 45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15" name="Group 614"/>
          <p:cNvGrpSpPr/>
          <p:nvPr/>
        </p:nvGrpSpPr>
        <p:grpSpPr>
          <a:xfrm>
            <a:off x="10410609" y="3496138"/>
            <a:ext cx="353678" cy="198344"/>
            <a:chOff x="7493876" y="2774731"/>
            <a:chExt cx="1481958" cy="894622"/>
          </a:xfrm>
        </p:grpSpPr>
        <p:sp>
          <p:nvSpPr>
            <p:cNvPr id="616" name="Freeform 61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617" name="Oval 616"/>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618" name="Group 617"/>
            <p:cNvGrpSpPr/>
            <p:nvPr/>
          </p:nvGrpSpPr>
          <p:grpSpPr>
            <a:xfrm>
              <a:off x="7713663" y="2848339"/>
              <a:ext cx="1042107" cy="425543"/>
              <a:chOff x="7786941" y="2884917"/>
              <a:chExt cx="897649" cy="353919"/>
            </a:xfrm>
          </p:grpSpPr>
          <p:sp>
            <p:nvSpPr>
              <p:cNvPr id="619" name="Freeform 61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p:cNvGrpSpPr/>
          <p:nvPr/>
        </p:nvGrpSpPr>
        <p:grpSpPr>
          <a:xfrm>
            <a:off x="9948724" y="2202292"/>
            <a:ext cx="353678" cy="198344"/>
            <a:chOff x="7493876" y="2774731"/>
            <a:chExt cx="1481958" cy="894622"/>
          </a:xfrm>
        </p:grpSpPr>
        <p:sp>
          <p:nvSpPr>
            <p:cNvPr id="578" name="Freeform 577"/>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79" name="Oval 578"/>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80" name="Group 579"/>
            <p:cNvGrpSpPr/>
            <p:nvPr/>
          </p:nvGrpSpPr>
          <p:grpSpPr>
            <a:xfrm>
              <a:off x="7713663" y="2848339"/>
              <a:ext cx="1042107" cy="425543"/>
              <a:chOff x="7786941" y="2884917"/>
              <a:chExt cx="897649" cy="353919"/>
            </a:xfrm>
          </p:grpSpPr>
          <p:sp>
            <p:nvSpPr>
              <p:cNvPr id="581" name="Freeform 580"/>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p:cNvGrpSpPr/>
          <p:nvPr/>
        </p:nvGrpSpPr>
        <p:grpSpPr>
          <a:xfrm>
            <a:off x="10527214" y="2613367"/>
            <a:ext cx="353678" cy="198344"/>
            <a:chOff x="7493876" y="2774731"/>
            <a:chExt cx="1481958" cy="894622"/>
          </a:xfrm>
        </p:grpSpPr>
        <p:sp>
          <p:nvSpPr>
            <p:cNvPr id="594" name="Freeform 593"/>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95" name="Oval 594"/>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96" name="Group 595"/>
            <p:cNvGrpSpPr/>
            <p:nvPr/>
          </p:nvGrpSpPr>
          <p:grpSpPr>
            <a:xfrm>
              <a:off x="7713663" y="2848339"/>
              <a:ext cx="1042107" cy="425543"/>
              <a:chOff x="7786941" y="2884917"/>
              <a:chExt cx="897649" cy="353919"/>
            </a:xfrm>
          </p:grpSpPr>
          <p:sp>
            <p:nvSpPr>
              <p:cNvPr id="597" name="Freeform 596"/>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p:cNvGrpSpPr/>
          <p:nvPr/>
        </p:nvGrpSpPr>
        <p:grpSpPr>
          <a:xfrm>
            <a:off x="10643825" y="2107963"/>
            <a:ext cx="353678" cy="198344"/>
            <a:chOff x="7493876" y="2774731"/>
            <a:chExt cx="1481958" cy="894622"/>
          </a:xfrm>
        </p:grpSpPr>
        <p:sp>
          <p:nvSpPr>
            <p:cNvPr id="602" name="Freeform 601"/>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603" name="Oval 602"/>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604" name="Group 603"/>
            <p:cNvGrpSpPr/>
            <p:nvPr/>
          </p:nvGrpSpPr>
          <p:grpSpPr>
            <a:xfrm>
              <a:off x="7713663" y="2848339"/>
              <a:ext cx="1042107" cy="425543"/>
              <a:chOff x="7786941" y="2884917"/>
              <a:chExt cx="897649" cy="353919"/>
            </a:xfrm>
          </p:grpSpPr>
          <p:sp>
            <p:nvSpPr>
              <p:cNvPr id="605" name="Freeform 604"/>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p:cNvGrpSpPr/>
          <p:nvPr/>
        </p:nvGrpSpPr>
        <p:grpSpPr>
          <a:xfrm>
            <a:off x="9098788" y="3956624"/>
            <a:ext cx="367224" cy="240304"/>
            <a:chOff x="7493876" y="2774731"/>
            <a:chExt cx="1481958" cy="894622"/>
          </a:xfrm>
        </p:grpSpPr>
        <p:sp>
          <p:nvSpPr>
            <p:cNvPr id="555" name="Freeform 554"/>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56" name="Oval 555"/>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57" name="Group 556"/>
            <p:cNvGrpSpPr/>
            <p:nvPr/>
          </p:nvGrpSpPr>
          <p:grpSpPr>
            <a:xfrm>
              <a:off x="7713663" y="2848339"/>
              <a:ext cx="1042107" cy="425543"/>
              <a:chOff x="7786941" y="2884917"/>
              <a:chExt cx="897649" cy="353919"/>
            </a:xfrm>
          </p:grpSpPr>
          <p:sp>
            <p:nvSpPr>
              <p:cNvPr id="558" name="Freeform 557"/>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p:cNvGrpSpPr/>
          <p:nvPr/>
        </p:nvGrpSpPr>
        <p:grpSpPr>
          <a:xfrm>
            <a:off x="9980126" y="2661565"/>
            <a:ext cx="353678" cy="198344"/>
            <a:chOff x="7493876" y="2774731"/>
            <a:chExt cx="1481958" cy="894622"/>
          </a:xfrm>
        </p:grpSpPr>
        <p:sp>
          <p:nvSpPr>
            <p:cNvPr id="586" name="Freeform 58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87" name="Oval 586"/>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88" name="Group 587"/>
            <p:cNvGrpSpPr/>
            <p:nvPr/>
          </p:nvGrpSpPr>
          <p:grpSpPr>
            <a:xfrm>
              <a:off x="7713663" y="2848339"/>
              <a:ext cx="1042107" cy="425543"/>
              <a:chOff x="7786941" y="2884917"/>
              <a:chExt cx="897649" cy="353919"/>
            </a:xfrm>
          </p:grpSpPr>
          <p:sp>
            <p:nvSpPr>
              <p:cNvPr id="589" name="Freeform 58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p:cNvGrpSpPr/>
          <p:nvPr/>
        </p:nvGrpSpPr>
        <p:grpSpPr>
          <a:xfrm>
            <a:off x="9497138" y="3394032"/>
            <a:ext cx="367224" cy="240304"/>
            <a:chOff x="7493876" y="2774731"/>
            <a:chExt cx="1481958" cy="894622"/>
          </a:xfrm>
        </p:grpSpPr>
        <p:sp>
          <p:nvSpPr>
            <p:cNvPr id="539" name="Freeform 538"/>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40" name="Oval 539"/>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41" name="Group 540"/>
            <p:cNvGrpSpPr/>
            <p:nvPr/>
          </p:nvGrpSpPr>
          <p:grpSpPr>
            <a:xfrm>
              <a:off x="7713663" y="2848339"/>
              <a:ext cx="1042107" cy="425543"/>
              <a:chOff x="7786941" y="2884917"/>
              <a:chExt cx="897649" cy="353919"/>
            </a:xfrm>
          </p:grpSpPr>
          <p:sp>
            <p:nvSpPr>
              <p:cNvPr id="542" name="Freeform 541"/>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p:cNvGrpSpPr/>
          <p:nvPr/>
        </p:nvGrpSpPr>
        <p:grpSpPr>
          <a:xfrm>
            <a:off x="9601554" y="3999763"/>
            <a:ext cx="367224" cy="240304"/>
            <a:chOff x="7493876" y="2774731"/>
            <a:chExt cx="1481958" cy="894622"/>
          </a:xfrm>
        </p:grpSpPr>
        <p:sp>
          <p:nvSpPr>
            <p:cNvPr id="547" name="Freeform 546"/>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48" name="Oval 547"/>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49" name="Group 548"/>
            <p:cNvGrpSpPr/>
            <p:nvPr/>
          </p:nvGrpSpPr>
          <p:grpSpPr>
            <a:xfrm>
              <a:off x="7713663" y="2848339"/>
              <a:ext cx="1042107" cy="425543"/>
              <a:chOff x="7786941" y="2884917"/>
              <a:chExt cx="897649" cy="353919"/>
            </a:xfrm>
          </p:grpSpPr>
          <p:sp>
            <p:nvSpPr>
              <p:cNvPr id="550" name="Freeform 549"/>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p:cNvGrpSpPr/>
          <p:nvPr/>
        </p:nvGrpSpPr>
        <p:grpSpPr>
          <a:xfrm>
            <a:off x="10375259" y="3992325"/>
            <a:ext cx="353678" cy="198344"/>
            <a:chOff x="7493876" y="2774731"/>
            <a:chExt cx="1481958" cy="894622"/>
          </a:xfrm>
        </p:grpSpPr>
        <p:sp>
          <p:nvSpPr>
            <p:cNvPr id="624" name="Freeform 623"/>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625" name="Oval 624"/>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626" name="Group 625"/>
            <p:cNvGrpSpPr/>
            <p:nvPr/>
          </p:nvGrpSpPr>
          <p:grpSpPr>
            <a:xfrm>
              <a:off x="7713663" y="2848339"/>
              <a:ext cx="1042107" cy="425543"/>
              <a:chOff x="7786941" y="2884917"/>
              <a:chExt cx="897649" cy="353919"/>
            </a:xfrm>
          </p:grpSpPr>
          <p:sp>
            <p:nvSpPr>
              <p:cNvPr id="627" name="Freeform 626"/>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p:cNvGrpSpPr/>
          <p:nvPr/>
        </p:nvGrpSpPr>
        <p:grpSpPr>
          <a:xfrm>
            <a:off x="9247893" y="4775686"/>
            <a:ext cx="393760" cy="218578"/>
            <a:chOff x="7493876" y="2774731"/>
            <a:chExt cx="1481958" cy="894622"/>
          </a:xfrm>
        </p:grpSpPr>
        <p:sp>
          <p:nvSpPr>
            <p:cNvPr id="464" name="Freeform 463"/>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65" name="Oval 464"/>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66" name="Group 465"/>
            <p:cNvGrpSpPr/>
            <p:nvPr/>
          </p:nvGrpSpPr>
          <p:grpSpPr>
            <a:xfrm>
              <a:off x="7713663" y="2848339"/>
              <a:ext cx="1042107" cy="425543"/>
              <a:chOff x="7786941" y="2884917"/>
              <a:chExt cx="897649" cy="353919"/>
            </a:xfrm>
          </p:grpSpPr>
          <p:sp>
            <p:nvSpPr>
              <p:cNvPr id="467" name="Freeform 466"/>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47" name="Group 446"/>
          <p:cNvGrpSpPr/>
          <p:nvPr/>
        </p:nvGrpSpPr>
        <p:grpSpPr>
          <a:xfrm>
            <a:off x="10925982" y="4369125"/>
            <a:ext cx="228295" cy="120400"/>
            <a:chOff x="7493876" y="2774731"/>
            <a:chExt cx="1481958" cy="894622"/>
          </a:xfrm>
        </p:grpSpPr>
        <p:sp>
          <p:nvSpPr>
            <p:cNvPr id="448" name="Freeform 447"/>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49" name="Oval 448"/>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50" name="Group 449"/>
            <p:cNvGrpSpPr/>
            <p:nvPr/>
          </p:nvGrpSpPr>
          <p:grpSpPr>
            <a:xfrm>
              <a:off x="7713663" y="2848339"/>
              <a:ext cx="1042107" cy="425543"/>
              <a:chOff x="7786941" y="2884917"/>
              <a:chExt cx="897649" cy="353919"/>
            </a:xfrm>
          </p:grpSpPr>
          <p:sp>
            <p:nvSpPr>
              <p:cNvPr id="451" name="Freeform 450"/>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785" name="Group 784"/>
          <p:cNvGrpSpPr/>
          <p:nvPr/>
        </p:nvGrpSpPr>
        <p:grpSpPr>
          <a:xfrm>
            <a:off x="7439074" y="2356613"/>
            <a:ext cx="534987" cy="407988"/>
            <a:chOff x="7432700" y="2327293"/>
            <a:chExt cx="534987" cy="407988"/>
          </a:xfrm>
        </p:grpSpPr>
        <p:pic>
          <p:nvPicPr>
            <p:cNvPr id="73" name="Picture 1017" descr="antenna_stylize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76" name="Picture 1020" descr="screen"/>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78" name="Freeform 1022"/>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79" name="Freeform 1023"/>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0" name="Freeform 1024"/>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1" name="Freeform 1025"/>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2" name="Freeform 1026"/>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83" name="Group 1027"/>
            <p:cNvGrpSpPr/>
            <p:nvPr/>
          </p:nvGrpSpPr>
          <p:grpSpPr bwMode="auto">
            <a:xfrm>
              <a:off x="7594735" y="2642220"/>
              <a:ext cx="98740" cy="36846"/>
              <a:chOff x="1740" y="2642"/>
              <a:chExt cx="752" cy="327"/>
            </a:xfrm>
          </p:grpSpPr>
          <p:sp>
            <p:nvSpPr>
              <p:cNvPr id="169" name="Freeform 1028"/>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0" name="Freeform 1029"/>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1" name="Freeform 1030"/>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2" name="Freeform 1031"/>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3" name="Freeform 1032"/>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4" name="Freeform 1033"/>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84" name="Freeform 1034"/>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5" name="Freeform 1035"/>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6" name="Freeform 1036"/>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7" name="Freeform 1037"/>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8" name="Freeform 1038"/>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9" name="Freeform 1039"/>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grpSp>
        <p:nvGrpSpPr>
          <p:cNvPr id="740" name="Group 739"/>
          <p:cNvGrpSpPr/>
          <p:nvPr/>
        </p:nvGrpSpPr>
        <p:grpSpPr>
          <a:xfrm>
            <a:off x="8637781" y="2319727"/>
            <a:ext cx="530702" cy="478009"/>
            <a:chOff x="8631407" y="2290407"/>
            <a:chExt cx="530702" cy="478009"/>
          </a:xfrm>
        </p:grpSpPr>
        <p:pic>
          <p:nvPicPr>
            <p:cNvPr id="110" name="Picture 568" descr="light2.png"/>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p:cNvGrpSpPr/>
          <p:nvPr/>
        </p:nvGrpSpPr>
        <p:grpSpPr>
          <a:xfrm>
            <a:off x="8499539" y="2059124"/>
            <a:ext cx="849312" cy="226109"/>
            <a:chOff x="8493165" y="2029804"/>
            <a:chExt cx="849312" cy="226109"/>
          </a:xfrm>
        </p:grpSpPr>
        <p:pic>
          <p:nvPicPr>
            <p:cNvPr id="48" name="Picture 603" descr="car_icon_small"/>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p:cNvGrpSpPr/>
          <p:nvPr/>
        </p:nvGrpSpPr>
        <p:grpSpPr>
          <a:xfrm>
            <a:off x="7493518" y="3325424"/>
            <a:ext cx="857739" cy="583764"/>
            <a:chOff x="7487144" y="3296104"/>
            <a:chExt cx="857739" cy="583764"/>
          </a:xfrm>
        </p:grpSpPr>
        <p:grpSp>
          <p:nvGrpSpPr>
            <p:cNvPr id="792" name="Group 791"/>
            <p:cNvGrpSpPr/>
            <p:nvPr/>
          </p:nvGrpSpPr>
          <p:grpSpPr>
            <a:xfrm>
              <a:off x="7487144" y="3389820"/>
              <a:ext cx="350807" cy="305517"/>
              <a:chOff x="7487144" y="3389820"/>
              <a:chExt cx="350807" cy="305517"/>
            </a:xfrm>
          </p:grpSpPr>
          <p:pic>
            <p:nvPicPr>
              <p:cNvPr id="91" name="Picture 1115" descr="antenna_stylized"/>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94" name="Picture 1118" descr="screen"/>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6" name="Freeform 1120"/>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7" name="Freeform 1121"/>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8" name="Freeform 1122"/>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9" name="Freeform 1123"/>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0" name="Freeform 1124"/>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01" name="Group 1125"/>
              <p:cNvGrpSpPr/>
              <p:nvPr/>
            </p:nvGrpSpPr>
            <p:grpSpPr bwMode="auto">
              <a:xfrm>
                <a:off x="7593395" y="3625649"/>
                <a:ext cx="64747" cy="27592"/>
                <a:chOff x="1740" y="2642"/>
                <a:chExt cx="752" cy="327"/>
              </a:xfrm>
            </p:grpSpPr>
            <p:sp>
              <p:nvSpPr>
                <p:cNvPr id="140" name="Freeform 112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1" name="Freeform 112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2" name="Freeform 112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3" name="Freeform 112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4" name="Freeform 113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5" name="Freeform 113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102" name="Freeform 1132"/>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3" name="Freeform 1133"/>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4" name="Freeform 1134"/>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5" name="Freeform 1135"/>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6" name="Freeform 1136"/>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7" name="Freeform 1137"/>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grpSp>
          <p:nvGrpSpPr>
            <p:cNvPr id="108" name="Group 1139"/>
            <p:cNvGrpSpPr/>
            <p:nvPr/>
          </p:nvGrpSpPr>
          <p:grpSpPr bwMode="auto">
            <a:xfrm flipH="1">
              <a:off x="7985622" y="3537823"/>
              <a:ext cx="359261" cy="342045"/>
              <a:chOff x="2839" y="3501"/>
              <a:chExt cx="755" cy="803"/>
            </a:xfrm>
          </p:grpSpPr>
          <p:pic>
            <p:nvPicPr>
              <p:cNvPr id="138" name="Picture 1140" descr="desktop_computer_stylized_medium"/>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694" name="Group 693"/>
            <p:cNvGrpSpPr/>
            <p:nvPr/>
          </p:nvGrpSpPr>
          <p:grpSpPr>
            <a:xfrm>
              <a:off x="7797061" y="3296104"/>
              <a:ext cx="347997" cy="396620"/>
              <a:chOff x="7797061" y="3296104"/>
              <a:chExt cx="347997" cy="396620"/>
            </a:xfrm>
          </p:grpSpPr>
          <p:pic>
            <p:nvPicPr>
              <p:cNvPr id="113" name="Picture 571" descr="fridge2.png"/>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p:cNvGrpSpPr/>
          <p:nvPr/>
        </p:nvGrpSpPr>
        <p:grpSpPr>
          <a:xfrm>
            <a:off x="11064947" y="3428485"/>
            <a:ext cx="518448" cy="1212242"/>
            <a:chOff x="11058573" y="3399165"/>
            <a:chExt cx="518448" cy="1212242"/>
          </a:xfrm>
        </p:grpSpPr>
        <p:grpSp>
          <p:nvGrpSpPr>
            <p:cNvPr id="375" name="Group 374"/>
            <p:cNvGrpSpPr/>
            <p:nvPr/>
          </p:nvGrpSpPr>
          <p:grpSpPr>
            <a:xfrm>
              <a:off x="11087182" y="4159591"/>
              <a:ext cx="489839" cy="451816"/>
              <a:chOff x="5103720" y="2693365"/>
              <a:chExt cx="611650" cy="414788"/>
            </a:xfrm>
          </p:grpSpPr>
          <p:cxnSp>
            <p:nvCxnSpPr>
              <p:cNvPr id="376" name="Straight Connector 375"/>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p:cNvGrpSpPr/>
              <p:nvPr/>
            </p:nvGrpSpPr>
            <p:grpSpPr>
              <a:xfrm>
                <a:off x="5275406" y="2693365"/>
                <a:ext cx="439964" cy="414788"/>
                <a:chOff x="5275406" y="2711455"/>
                <a:chExt cx="452949" cy="405518"/>
              </a:xfrm>
            </p:grpSpPr>
            <p:pic>
              <p:nvPicPr>
                <p:cNvPr id="379" name="Picture 378" descr="server_rack.png"/>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p:cNvGrpSpPr/>
            <p:nvPr/>
          </p:nvGrpSpPr>
          <p:grpSpPr>
            <a:xfrm>
              <a:off x="11058573" y="3399165"/>
              <a:ext cx="423724" cy="405973"/>
              <a:chOff x="5103720" y="2693365"/>
              <a:chExt cx="611650" cy="414788"/>
            </a:xfrm>
          </p:grpSpPr>
          <p:cxnSp>
            <p:nvCxnSpPr>
              <p:cNvPr id="393" name="Straight Connector 392"/>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p:cNvGrpSpPr/>
              <p:nvPr/>
            </p:nvGrpSpPr>
            <p:grpSpPr>
              <a:xfrm>
                <a:off x="5275406" y="2693365"/>
                <a:ext cx="439964" cy="414788"/>
                <a:chOff x="5275406" y="2711455"/>
                <a:chExt cx="452949" cy="405518"/>
              </a:xfrm>
            </p:grpSpPr>
            <p:pic>
              <p:nvPicPr>
                <p:cNvPr id="396" name="Picture 395" descr="server_rack.png"/>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p:cNvGrpSpPr/>
          <p:nvPr/>
        </p:nvGrpSpPr>
        <p:grpSpPr bwMode="auto">
          <a:xfrm>
            <a:off x="10288915" y="5273951"/>
            <a:ext cx="177192" cy="330833"/>
            <a:chOff x="4140" y="429"/>
            <a:chExt cx="1425" cy="2396"/>
          </a:xfrm>
        </p:grpSpPr>
        <p:sp>
          <p:nvSpPr>
            <p:cNvPr id="207"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0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0"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p:cNvGrpSpPr/>
            <p:nvPr/>
          </p:nvGrpSpPr>
          <p:grpSpPr bwMode="auto">
            <a:xfrm>
              <a:off x="4749" y="668"/>
              <a:ext cx="581" cy="145"/>
              <a:chOff x="614" y="2568"/>
              <a:chExt cx="725" cy="139"/>
            </a:xfrm>
          </p:grpSpPr>
          <p:sp>
            <p:nvSpPr>
              <p:cNvPr id="23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p:cNvGrpSpPr/>
            <p:nvPr/>
          </p:nvGrpSpPr>
          <p:grpSpPr bwMode="auto">
            <a:xfrm>
              <a:off x="4747" y="994"/>
              <a:ext cx="581" cy="134"/>
              <a:chOff x="614" y="2568"/>
              <a:chExt cx="725" cy="139"/>
            </a:xfrm>
          </p:grpSpPr>
          <p:sp>
            <p:nvSpPr>
              <p:cNvPr id="23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p:cNvGrpSpPr/>
            <p:nvPr/>
          </p:nvGrpSpPr>
          <p:grpSpPr bwMode="auto">
            <a:xfrm>
              <a:off x="4735" y="1627"/>
              <a:ext cx="582" cy="151"/>
              <a:chOff x="614" y="2568"/>
              <a:chExt cx="725" cy="139"/>
            </a:xfrm>
          </p:grpSpPr>
          <p:sp>
            <p:nvSpPr>
              <p:cNvPr id="23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9" name="Group 969"/>
            <p:cNvGrpSpPr/>
            <p:nvPr/>
          </p:nvGrpSpPr>
          <p:grpSpPr bwMode="auto">
            <a:xfrm>
              <a:off x="4739" y="1327"/>
              <a:ext cx="582" cy="139"/>
              <a:chOff x="614" y="2568"/>
              <a:chExt cx="725" cy="139"/>
            </a:xfrm>
          </p:grpSpPr>
          <p:sp>
            <p:nvSpPr>
              <p:cNvPr id="23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22"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2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2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4" name="Group 590"/>
          <p:cNvGrpSpPr/>
          <p:nvPr/>
        </p:nvGrpSpPr>
        <p:grpSpPr bwMode="auto">
          <a:xfrm flipH="1">
            <a:off x="7980855" y="4900161"/>
            <a:ext cx="345630" cy="320302"/>
            <a:chOff x="2839" y="3501"/>
            <a:chExt cx="755" cy="803"/>
          </a:xfrm>
        </p:grpSpPr>
        <p:pic>
          <p:nvPicPr>
            <p:cNvPr id="367" name="Picture 591" descr="desktop_computer_stylized_medium"/>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90" name="Group 1064"/>
          <p:cNvGrpSpPr/>
          <p:nvPr/>
        </p:nvGrpSpPr>
        <p:grpSpPr bwMode="auto">
          <a:xfrm>
            <a:off x="9201681" y="5852809"/>
            <a:ext cx="310186" cy="307808"/>
            <a:chOff x="877" y="1008"/>
            <a:chExt cx="2747" cy="2591"/>
          </a:xfrm>
        </p:grpSpPr>
        <p:pic>
          <p:nvPicPr>
            <p:cNvPr id="146" name="Picture 1065" descr="antenna_stylized"/>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149" name="Picture 1068" descr="screen"/>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1" name="Freeform 1070"/>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2" name="Freeform 1071"/>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3" name="Freeform 1072"/>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4" name="Freeform 1073"/>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5" name="Freeform 1074"/>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56" name="Group 1075"/>
            <p:cNvGrpSpPr/>
            <p:nvPr/>
          </p:nvGrpSpPr>
          <p:grpSpPr bwMode="auto">
            <a:xfrm>
              <a:off x="1709" y="3008"/>
              <a:ext cx="507" cy="234"/>
              <a:chOff x="1740" y="2642"/>
              <a:chExt cx="752" cy="327"/>
            </a:xfrm>
          </p:grpSpPr>
          <p:sp>
            <p:nvSpPr>
              <p:cNvPr id="163" name="Freeform 107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4" name="Freeform 107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5" name="Freeform 107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6" name="Freeform 107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7" name="Freeform 108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8" name="Freeform 108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157" name="Freeform 1082"/>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8" name="Freeform 1083"/>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9" name="Freeform 1084"/>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0" name="Freeform 1085"/>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1" name="Freeform 1086"/>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2" name="Freeform 1087"/>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grpSp>
        <p:nvGrpSpPr>
          <p:cNvPr id="490" name="Group 590"/>
          <p:cNvGrpSpPr/>
          <p:nvPr/>
        </p:nvGrpSpPr>
        <p:grpSpPr bwMode="auto">
          <a:xfrm flipH="1">
            <a:off x="8153909" y="5504657"/>
            <a:ext cx="345630" cy="320302"/>
            <a:chOff x="2839" y="3501"/>
            <a:chExt cx="755" cy="803"/>
          </a:xfrm>
        </p:grpSpPr>
        <p:pic>
          <p:nvPicPr>
            <p:cNvPr id="491" name="Picture 591" descr="desktop_computer_stylized_medium"/>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493" name="Group 590"/>
          <p:cNvGrpSpPr/>
          <p:nvPr/>
        </p:nvGrpSpPr>
        <p:grpSpPr bwMode="auto">
          <a:xfrm flipH="1">
            <a:off x="8552134" y="5526130"/>
            <a:ext cx="345630" cy="320302"/>
            <a:chOff x="2839" y="3501"/>
            <a:chExt cx="755" cy="803"/>
          </a:xfrm>
        </p:grpSpPr>
        <p:pic>
          <p:nvPicPr>
            <p:cNvPr id="494" name="Picture 591" descr="desktop_computer_stylized_medium"/>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496" name="Group 1064"/>
          <p:cNvGrpSpPr/>
          <p:nvPr/>
        </p:nvGrpSpPr>
        <p:grpSpPr bwMode="auto">
          <a:xfrm>
            <a:off x="9534746" y="5795138"/>
            <a:ext cx="319264" cy="253379"/>
            <a:chOff x="877" y="1008"/>
            <a:chExt cx="2747" cy="2591"/>
          </a:xfrm>
        </p:grpSpPr>
        <p:pic>
          <p:nvPicPr>
            <p:cNvPr id="497" name="Picture 1065" descr="antenna_stylized"/>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500" name="Picture 1068" descr="screen"/>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2" name="Freeform 1070"/>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3" name="Freeform 1071"/>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4" name="Freeform 1072"/>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5" name="Freeform 1073"/>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6" name="Freeform 1074"/>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507" name="Group 1075"/>
            <p:cNvGrpSpPr/>
            <p:nvPr/>
          </p:nvGrpSpPr>
          <p:grpSpPr bwMode="auto">
            <a:xfrm>
              <a:off x="1709" y="3008"/>
              <a:ext cx="507" cy="234"/>
              <a:chOff x="1740" y="2642"/>
              <a:chExt cx="752" cy="327"/>
            </a:xfrm>
          </p:grpSpPr>
          <p:sp>
            <p:nvSpPr>
              <p:cNvPr id="514" name="Freeform 107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5" name="Freeform 107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6" name="Freeform 107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7" name="Freeform 107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8" name="Freeform 108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9" name="Freeform 108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508" name="Freeform 1082"/>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9" name="Freeform 1083"/>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0" name="Freeform 1084"/>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1" name="Freeform 1085"/>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2" name="Freeform 1086"/>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3" name="Freeform 1087"/>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175" name="Freeform 984"/>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7" name="Freeform 986"/>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8" name="Freeform 987"/>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9" name="Rectangle 988"/>
          <p:cNvSpPr>
            <a:spLocks noChangeArrowheads="1"/>
          </p:cNvSpPr>
          <p:nvPr/>
        </p:nvSpPr>
        <p:spPr bwMode="auto">
          <a:xfrm>
            <a:off x="10026299" y="5674399"/>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p:cNvGrpSpPr/>
          <p:nvPr/>
        </p:nvGrpSpPr>
        <p:grpSpPr bwMode="auto">
          <a:xfrm>
            <a:off x="10091149" y="5671195"/>
            <a:ext cx="69903" cy="21117"/>
            <a:chOff x="614" y="2568"/>
            <a:chExt cx="725" cy="139"/>
          </a:xfrm>
        </p:grpSpPr>
        <p:sp>
          <p:nvSpPr>
            <p:cNvPr id="205" name="AutoShape 990"/>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p:cNvSpPr>
            <a:spLocks noChangeArrowheads="1"/>
          </p:cNvSpPr>
          <p:nvPr/>
        </p:nvSpPr>
        <p:spPr bwMode="auto">
          <a:xfrm>
            <a:off x="10027502" y="5722750"/>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p:cNvGrpSpPr/>
          <p:nvPr/>
        </p:nvGrpSpPr>
        <p:grpSpPr bwMode="auto">
          <a:xfrm>
            <a:off x="10090909" y="5718672"/>
            <a:ext cx="69903" cy="19515"/>
            <a:chOff x="614" y="2568"/>
            <a:chExt cx="725" cy="139"/>
          </a:xfrm>
        </p:grpSpPr>
        <p:sp>
          <p:nvSpPr>
            <p:cNvPr id="203" name="AutoShape 994"/>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p:cNvSpPr>
            <a:spLocks noChangeArrowheads="1"/>
          </p:cNvSpPr>
          <p:nvPr/>
        </p:nvSpPr>
        <p:spPr bwMode="auto">
          <a:xfrm>
            <a:off x="10027502" y="5771101"/>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p:cNvSpPr>
            <a:spLocks noChangeArrowheads="1"/>
          </p:cNvSpPr>
          <p:nvPr/>
        </p:nvSpPr>
        <p:spPr bwMode="auto">
          <a:xfrm>
            <a:off x="10028705" y="5814938"/>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p:cNvGrpSpPr/>
          <p:nvPr/>
        </p:nvGrpSpPr>
        <p:grpSpPr bwMode="auto">
          <a:xfrm>
            <a:off x="10089465" y="5810860"/>
            <a:ext cx="70024" cy="21991"/>
            <a:chOff x="614" y="2568"/>
            <a:chExt cx="725" cy="139"/>
          </a:xfrm>
        </p:grpSpPr>
        <p:sp>
          <p:nvSpPr>
            <p:cNvPr id="201" name="AutoShape 999"/>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87" name="Group 1002"/>
          <p:cNvGrpSpPr/>
          <p:nvPr/>
        </p:nvGrpSpPr>
        <p:grpSpPr bwMode="auto">
          <a:xfrm>
            <a:off x="10089946" y="5767169"/>
            <a:ext cx="70024" cy="20243"/>
            <a:chOff x="614" y="2568"/>
            <a:chExt cx="725" cy="139"/>
          </a:xfrm>
        </p:grpSpPr>
        <p:sp>
          <p:nvSpPr>
            <p:cNvPr id="199" name="AutoShape 1003"/>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0" name="Freeform 1007"/>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1" name="Oval 1008"/>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3" name="AutoShape 1010"/>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9" name="Rectangle 8"/>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0"/>
          <p:cNvGrpSpPr/>
          <p:nvPr/>
        </p:nvGrpSpPr>
        <p:grpSpPr>
          <a:xfrm>
            <a:off x="7680324" y="1814171"/>
            <a:ext cx="2755429" cy="4250670"/>
            <a:chOff x="7680324" y="1814171"/>
            <a:chExt cx="2755429" cy="4250670"/>
          </a:xfrm>
        </p:grpSpPr>
        <p:grpSp>
          <p:nvGrpSpPr>
            <p:cNvPr id="49" name="Group 652"/>
            <p:cNvGrpSpPr/>
            <p:nvPr/>
          </p:nvGrpSpPr>
          <p:grpSpPr bwMode="auto">
            <a:xfrm>
              <a:off x="7750224" y="1859725"/>
              <a:ext cx="415925" cy="385763"/>
              <a:chOff x="2751" y="1851"/>
              <a:chExt cx="462" cy="478"/>
            </a:xfrm>
          </p:grpSpPr>
          <p:pic>
            <p:nvPicPr>
              <p:cNvPr id="359" name="Picture 653" descr="iphone_stylized_small"/>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p:cNvGrpSpPr/>
            <p:nvPr/>
          </p:nvGrpSpPr>
          <p:grpSpPr bwMode="auto">
            <a:xfrm flipH="1">
              <a:off x="7773981" y="5281060"/>
              <a:ext cx="345630" cy="320302"/>
              <a:chOff x="2839" y="3501"/>
              <a:chExt cx="755" cy="803"/>
            </a:xfrm>
          </p:grpSpPr>
          <p:pic>
            <p:nvPicPr>
              <p:cNvPr id="488" name="Picture 591" descr="desktop_computer_stylized_medium"/>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sp>
          <p:nvSpPr>
            <p:cNvPr id="612" name="Oval 611"/>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5" name="Oval 634"/>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8" name="Oval 637"/>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51" name="Line 913"/>
          <p:cNvSpPr>
            <a:spLocks noChangeShapeType="1"/>
          </p:cNvSpPr>
          <p:nvPr/>
        </p:nvSpPr>
        <p:spPr bwMode="auto">
          <a:xfrm>
            <a:off x="7959044" y="2342382"/>
            <a:ext cx="7403" cy="2772905"/>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52" name="Line 911"/>
          <p:cNvSpPr>
            <a:spLocks noChangeShapeType="1"/>
          </p:cNvSpPr>
          <p:nvPr/>
        </p:nvSpPr>
        <p:spPr bwMode="auto">
          <a:xfrm>
            <a:off x="8370450" y="2297968"/>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Client-server </a:t>
            </a:r>
            <a:r>
              <a:rPr lang="en-US" altLang="en-US" dirty="0">
                <a:ea typeface="MS PGothic" panose="020B0600070205080204" pitchFamily="34" charset="-128"/>
              </a:rPr>
              <a:t>p</a:t>
            </a:r>
            <a:r>
              <a:rPr lang="en-US" altLang="en-US" sz="4400" dirty="0">
                <a:ea typeface="MS PGothic" panose="020B0600070205080204" pitchFamily="34" charset="-128"/>
              </a:rPr>
              <a:t>aradigm</a:t>
            </a:r>
            <a:endParaRPr lang="en-US" sz="4400" dirty="0"/>
          </a:p>
        </p:txBody>
      </p:sp>
      <p:sp>
        <p:nvSpPr>
          <p:cNvPr id="656" name="Content Placeholder 3"/>
          <p:cNvSpPr txBox="1"/>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None/>
            </a:pPr>
            <a:r>
              <a:rPr lang="en-US" altLang="en-US" dirty="0">
                <a:solidFill>
                  <a:srgbClr val="CC0000"/>
                </a:solidFill>
                <a:ea typeface="MS PGothic" panose="020B0600070205080204" pitchFamily="34" charset="-128"/>
              </a:rPr>
              <a:t>server: </a:t>
            </a:r>
            <a:endParaRPr lang="en-US" altLang="en-US" dirty="0">
              <a:solidFill>
                <a:srgbClr val="CC0000"/>
              </a:solidFill>
              <a:ea typeface="MS PGothic" panose="020B0600070205080204" pitchFamily="34" charset="-128"/>
            </a:endParaRPr>
          </a:p>
          <a:p>
            <a:pPr marL="466725" indent="-233680">
              <a:spcBef>
                <a:spcPts val="400"/>
              </a:spcBef>
            </a:pPr>
            <a:r>
              <a:rPr lang="en-US" altLang="en-US" dirty="0">
                <a:ea typeface="MS PGothic" panose="020B0600070205080204" pitchFamily="34" charset="-128"/>
              </a:rPr>
              <a:t>always-on host</a:t>
            </a:r>
            <a:endParaRPr lang="en-US" altLang="en-US" dirty="0">
              <a:ea typeface="MS PGothic" panose="020B0600070205080204" pitchFamily="34" charset="-128"/>
            </a:endParaRPr>
          </a:p>
          <a:p>
            <a:pPr marL="466725" indent="-233680">
              <a:spcBef>
                <a:spcPts val="400"/>
              </a:spcBef>
            </a:pPr>
            <a:r>
              <a:rPr lang="en-US" altLang="en-US" dirty="0">
                <a:ea typeface="MS PGothic" panose="020B0600070205080204" pitchFamily="34" charset="-128"/>
              </a:rPr>
              <a:t>permanent IP address</a:t>
            </a:r>
            <a:endParaRPr lang="en-US" altLang="en-US" dirty="0">
              <a:ea typeface="MS PGothic" panose="020B0600070205080204" pitchFamily="34" charset="-128"/>
            </a:endParaRPr>
          </a:p>
          <a:p>
            <a:pPr marL="466725" indent="-233680">
              <a:spcBef>
                <a:spcPts val="400"/>
              </a:spcBef>
            </a:pPr>
            <a:r>
              <a:rPr lang="en-US" altLang="en-US" dirty="0">
                <a:ea typeface="MS PGothic" panose="020B0600070205080204" pitchFamily="34" charset="-128"/>
              </a:rPr>
              <a:t>often in data centers, for scaling</a:t>
            </a:r>
            <a:endParaRPr lang="en-US" altLang="en-US" dirty="0">
              <a:ea typeface="MS PGothic" panose="020B0600070205080204" pitchFamily="34" charset="-128"/>
            </a:endParaRPr>
          </a:p>
          <a:p>
            <a:pPr>
              <a:spcBef>
                <a:spcPct val="75000"/>
              </a:spcBef>
              <a:buNone/>
            </a:pPr>
            <a:r>
              <a:rPr lang="en-US" altLang="en-US" dirty="0">
                <a:solidFill>
                  <a:srgbClr val="CC0000"/>
                </a:solidFill>
                <a:ea typeface="MS PGothic" panose="020B0600070205080204" pitchFamily="34" charset="-128"/>
              </a:rPr>
              <a:t>clients:</a:t>
            </a:r>
            <a:endParaRPr lang="en-US" altLang="en-US" dirty="0">
              <a:solidFill>
                <a:srgbClr val="CC0000"/>
              </a:solidFill>
              <a:ea typeface="MS PGothic" panose="020B0600070205080204" pitchFamily="34" charset="-128"/>
            </a:endParaRPr>
          </a:p>
          <a:p>
            <a:pPr marL="466725" indent="-233680">
              <a:spcBef>
                <a:spcPts val="400"/>
              </a:spcBef>
            </a:pPr>
            <a:r>
              <a:rPr lang="en-US" altLang="en-US" dirty="0">
                <a:ea typeface="MS PGothic" panose="020B0600070205080204" pitchFamily="34" charset="-128"/>
              </a:rPr>
              <a:t>contact, communicate with server</a:t>
            </a:r>
            <a:endParaRPr lang="en-US" altLang="en-US" dirty="0">
              <a:ea typeface="MS PGothic" panose="020B0600070205080204" pitchFamily="34" charset="-128"/>
            </a:endParaRPr>
          </a:p>
          <a:p>
            <a:pPr marL="466725" indent="-233680">
              <a:spcBef>
                <a:spcPts val="400"/>
              </a:spcBef>
            </a:pPr>
            <a:r>
              <a:rPr lang="en-US" altLang="en-US" dirty="0">
                <a:ea typeface="MS PGothic" panose="020B0600070205080204" pitchFamily="34" charset="-128"/>
              </a:rPr>
              <a:t>may be intermittently connected</a:t>
            </a:r>
            <a:endParaRPr lang="en-US" altLang="en-US" dirty="0">
              <a:ea typeface="MS PGothic" panose="020B0600070205080204" pitchFamily="34" charset="-128"/>
            </a:endParaRPr>
          </a:p>
          <a:p>
            <a:pPr marL="466725" indent="-233680">
              <a:spcBef>
                <a:spcPts val="400"/>
              </a:spcBef>
            </a:pPr>
            <a:r>
              <a:rPr lang="en-US" altLang="en-US" dirty="0">
                <a:ea typeface="MS PGothic" panose="020B0600070205080204" pitchFamily="34" charset="-128"/>
              </a:rPr>
              <a:t>may have dynamic IP addresses</a:t>
            </a:r>
            <a:endParaRPr lang="en-US" altLang="en-US" dirty="0">
              <a:ea typeface="MS PGothic" panose="020B0600070205080204" pitchFamily="34" charset="-128"/>
            </a:endParaRPr>
          </a:p>
          <a:p>
            <a:pPr marL="466725" indent="-233680">
              <a:spcBef>
                <a:spcPts val="400"/>
              </a:spcBef>
            </a:pPr>
            <a:r>
              <a:rPr lang="en-US" altLang="en-US" dirty="0">
                <a:ea typeface="MS PGothic" panose="020B0600070205080204" pitchFamily="34" charset="-128"/>
              </a:rPr>
              <a:t>do </a:t>
            </a:r>
            <a:r>
              <a:rPr lang="en-US" altLang="en-US" i="1" dirty="0">
                <a:ea typeface="MS PGothic" panose="020B0600070205080204" pitchFamily="34" charset="-128"/>
              </a:rPr>
              <a:t>not</a:t>
            </a:r>
            <a:r>
              <a:rPr lang="en-US" altLang="en-US" dirty="0">
                <a:ea typeface="MS PGothic" panose="020B0600070205080204" pitchFamily="34" charset="-128"/>
              </a:rPr>
              <a:t> communicate directly with each other</a:t>
            </a:r>
            <a:endParaRPr lang="en-US" altLang="en-US" dirty="0">
              <a:ea typeface="MS PGothic" panose="020B0600070205080204" pitchFamily="34" charset="-128"/>
            </a:endParaRPr>
          </a:p>
          <a:p>
            <a:r>
              <a:rPr lang="en-US" dirty="0"/>
              <a:t>examples: HTTP, IMAP, FTP</a:t>
            </a:r>
            <a:endParaRPr lang="en-US" dirty="0"/>
          </a:p>
        </p:txBody>
      </p:sp>
      <p:grpSp>
        <p:nvGrpSpPr>
          <p:cNvPr id="661" name="Group 950"/>
          <p:cNvGrpSpPr/>
          <p:nvPr/>
        </p:nvGrpSpPr>
        <p:grpSpPr bwMode="auto">
          <a:xfrm>
            <a:off x="10002508" y="5616400"/>
            <a:ext cx="214974" cy="403920"/>
            <a:chOff x="4140" y="429"/>
            <a:chExt cx="1425" cy="2396"/>
          </a:xfrm>
        </p:grpSpPr>
        <p:sp>
          <p:nvSpPr>
            <p:cNvPr id="662"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3"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64"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5"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6"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67" name="Group 956"/>
            <p:cNvGrpSpPr/>
            <p:nvPr/>
          </p:nvGrpSpPr>
          <p:grpSpPr bwMode="auto">
            <a:xfrm>
              <a:off x="4749" y="668"/>
              <a:ext cx="581" cy="145"/>
              <a:chOff x="614" y="2568"/>
              <a:chExt cx="725" cy="139"/>
            </a:xfrm>
          </p:grpSpPr>
          <p:sp>
            <p:nvSpPr>
              <p:cNvPr id="692"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93"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68"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69" name="Group 960"/>
            <p:cNvGrpSpPr/>
            <p:nvPr/>
          </p:nvGrpSpPr>
          <p:grpSpPr bwMode="auto">
            <a:xfrm>
              <a:off x="4747" y="994"/>
              <a:ext cx="581" cy="134"/>
              <a:chOff x="614" y="2568"/>
              <a:chExt cx="725" cy="139"/>
            </a:xfrm>
          </p:grpSpPr>
          <p:sp>
            <p:nvSpPr>
              <p:cNvPr id="690"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91"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0"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1"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72" name="Group 965"/>
            <p:cNvGrpSpPr/>
            <p:nvPr/>
          </p:nvGrpSpPr>
          <p:grpSpPr bwMode="auto">
            <a:xfrm>
              <a:off x="4735" y="1627"/>
              <a:ext cx="582" cy="151"/>
              <a:chOff x="614" y="2568"/>
              <a:chExt cx="725" cy="139"/>
            </a:xfrm>
          </p:grpSpPr>
          <p:sp>
            <p:nvSpPr>
              <p:cNvPr id="688"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9"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3"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674" name="Group 969"/>
            <p:cNvGrpSpPr/>
            <p:nvPr/>
          </p:nvGrpSpPr>
          <p:grpSpPr bwMode="auto">
            <a:xfrm>
              <a:off x="4739" y="1327"/>
              <a:ext cx="582" cy="139"/>
              <a:chOff x="614" y="2568"/>
              <a:chExt cx="725" cy="139"/>
            </a:xfrm>
          </p:grpSpPr>
          <p:sp>
            <p:nvSpPr>
              <p:cNvPr id="686"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7"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5"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6"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77"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78"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9"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80"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1"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2"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3"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684"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5"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571"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1" fmla="*/ 434989 w 1537226"/>
              <a:gd name="connsiteY0-2" fmla="*/ 253346 h 1763594"/>
              <a:gd name="connsiteX1-3" fmla="*/ 488 w 1537226"/>
              <a:gd name="connsiteY1-4" fmla="*/ 921706 h 1763594"/>
              <a:gd name="connsiteX2-5" fmla="*/ 368142 w 1537226"/>
              <a:gd name="connsiteY2-6" fmla="*/ 1489812 h 1763594"/>
              <a:gd name="connsiteX3-7" fmla="*/ 1187008 w 1537226"/>
              <a:gd name="connsiteY3-8" fmla="*/ 1757156 h 1763594"/>
              <a:gd name="connsiteX4-9" fmla="*/ 1521239 w 1537226"/>
              <a:gd name="connsiteY4-10" fmla="*/ 1239177 h 1763594"/>
              <a:gd name="connsiteX5-11" fmla="*/ 1468998 w 1537226"/>
              <a:gd name="connsiteY5-12" fmla="*/ 654362 h 1763594"/>
              <a:gd name="connsiteX6-13" fmla="*/ 1337412 w 1537226"/>
              <a:gd name="connsiteY6-14" fmla="*/ 136383 h 1763594"/>
              <a:gd name="connsiteX7-15" fmla="*/ 1086739 w 1537226"/>
              <a:gd name="connsiteY7-16" fmla="*/ 2711 h 1763594"/>
              <a:gd name="connsiteX8-17" fmla="*/ 434989 w 1537226"/>
              <a:gd name="connsiteY8-18" fmla="*/ 253346 h 1763594"/>
              <a:gd name="connsiteX0-19" fmla="*/ 434989 w 1537226"/>
              <a:gd name="connsiteY0-20" fmla="*/ 253346 h 1763594"/>
              <a:gd name="connsiteX1-21" fmla="*/ 488 w 1537226"/>
              <a:gd name="connsiteY1-22" fmla="*/ 921706 h 1763594"/>
              <a:gd name="connsiteX2-23" fmla="*/ 368142 w 1537226"/>
              <a:gd name="connsiteY2-24" fmla="*/ 1489812 h 1763594"/>
              <a:gd name="connsiteX3-25" fmla="*/ 1187008 w 1537226"/>
              <a:gd name="connsiteY3-26" fmla="*/ 1757156 h 1763594"/>
              <a:gd name="connsiteX4-27" fmla="*/ 1521239 w 1537226"/>
              <a:gd name="connsiteY4-28" fmla="*/ 1239177 h 1763594"/>
              <a:gd name="connsiteX5-29" fmla="*/ 1468998 w 1537226"/>
              <a:gd name="connsiteY5-30" fmla="*/ 654362 h 1763594"/>
              <a:gd name="connsiteX6-31" fmla="*/ 1337412 w 1537226"/>
              <a:gd name="connsiteY6-32" fmla="*/ 136383 h 1763594"/>
              <a:gd name="connsiteX7-33" fmla="*/ 839572 w 1537226"/>
              <a:gd name="connsiteY7-34" fmla="*/ 2711 h 1763594"/>
              <a:gd name="connsiteX8-35" fmla="*/ 434989 w 1537226"/>
              <a:gd name="connsiteY8-36" fmla="*/ 253346 h 1763594"/>
              <a:gd name="connsiteX0-37" fmla="*/ 360357 w 1536743"/>
              <a:gd name="connsiteY0-38" fmla="*/ 534641 h 1782088"/>
              <a:gd name="connsiteX1-39" fmla="*/ 5 w 1536743"/>
              <a:gd name="connsiteY1-40" fmla="*/ 940200 h 1782088"/>
              <a:gd name="connsiteX2-41" fmla="*/ 367659 w 1536743"/>
              <a:gd name="connsiteY2-42" fmla="*/ 1508306 h 1782088"/>
              <a:gd name="connsiteX3-43" fmla="*/ 1186525 w 1536743"/>
              <a:gd name="connsiteY3-44" fmla="*/ 1775650 h 1782088"/>
              <a:gd name="connsiteX4-45" fmla="*/ 1520756 w 1536743"/>
              <a:gd name="connsiteY4-46" fmla="*/ 1257671 h 1782088"/>
              <a:gd name="connsiteX5-47" fmla="*/ 1468515 w 1536743"/>
              <a:gd name="connsiteY5-48" fmla="*/ 672856 h 1782088"/>
              <a:gd name="connsiteX6-49" fmla="*/ 1336929 w 1536743"/>
              <a:gd name="connsiteY6-50" fmla="*/ 154877 h 1782088"/>
              <a:gd name="connsiteX7-51" fmla="*/ 839089 w 1536743"/>
              <a:gd name="connsiteY7-52" fmla="*/ 21205 h 1782088"/>
              <a:gd name="connsiteX8-53" fmla="*/ 360357 w 1536743"/>
              <a:gd name="connsiteY8-54" fmla="*/ 534641 h 1782088"/>
              <a:gd name="connsiteX0-55" fmla="*/ 360355 w 1536741"/>
              <a:gd name="connsiteY0-56" fmla="*/ 534641 h 1782088"/>
              <a:gd name="connsiteX1-57" fmla="*/ 3 w 1536741"/>
              <a:gd name="connsiteY1-58" fmla="*/ 940200 h 1782088"/>
              <a:gd name="connsiteX2-59" fmla="*/ 367657 w 1536741"/>
              <a:gd name="connsiteY2-60" fmla="*/ 1508306 h 1782088"/>
              <a:gd name="connsiteX3-61" fmla="*/ 1186523 w 1536741"/>
              <a:gd name="connsiteY3-62" fmla="*/ 1775650 h 1782088"/>
              <a:gd name="connsiteX4-63" fmla="*/ 1520754 w 1536741"/>
              <a:gd name="connsiteY4-64" fmla="*/ 1257671 h 1782088"/>
              <a:gd name="connsiteX5-65" fmla="*/ 1468513 w 1536741"/>
              <a:gd name="connsiteY5-66" fmla="*/ 672856 h 1782088"/>
              <a:gd name="connsiteX6-67" fmla="*/ 1336927 w 1536741"/>
              <a:gd name="connsiteY6-68" fmla="*/ 154877 h 1782088"/>
              <a:gd name="connsiteX7-69" fmla="*/ 839087 w 1536741"/>
              <a:gd name="connsiteY7-70" fmla="*/ 21205 h 1782088"/>
              <a:gd name="connsiteX8-71" fmla="*/ 360355 w 1536741"/>
              <a:gd name="connsiteY8-72" fmla="*/ 534641 h 1782088"/>
              <a:gd name="connsiteX0-73" fmla="*/ 382604 w 1558990"/>
              <a:gd name="connsiteY0-74" fmla="*/ 534641 h 1810599"/>
              <a:gd name="connsiteX1-75" fmla="*/ 22252 w 1558990"/>
              <a:gd name="connsiteY1-76" fmla="*/ 940200 h 1810599"/>
              <a:gd name="connsiteX2-77" fmla="*/ 167457 w 1558990"/>
              <a:gd name="connsiteY2-78" fmla="*/ 1672556 h 1810599"/>
              <a:gd name="connsiteX3-79" fmla="*/ 1208772 w 1558990"/>
              <a:gd name="connsiteY3-80" fmla="*/ 1775650 h 1810599"/>
              <a:gd name="connsiteX4-81" fmla="*/ 1543003 w 1558990"/>
              <a:gd name="connsiteY4-82" fmla="*/ 1257671 h 1810599"/>
              <a:gd name="connsiteX5-83" fmla="*/ 1490762 w 1558990"/>
              <a:gd name="connsiteY5-84" fmla="*/ 672856 h 1810599"/>
              <a:gd name="connsiteX6-85" fmla="*/ 1359176 w 1558990"/>
              <a:gd name="connsiteY6-86" fmla="*/ 154877 h 1810599"/>
              <a:gd name="connsiteX7-87" fmla="*/ 861336 w 1558990"/>
              <a:gd name="connsiteY7-88" fmla="*/ 21205 h 1810599"/>
              <a:gd name="connsiteX8-89" fmla="*/ 382604 w 1558990"/>
              <a:gd name="connsiteY8-90" fmla="*/ 534641 h 1810599"/>
              <a:gd name="connsiteX0-91" fmla="*/ 393458 w 1593840"/>
              <a:gd name="connsiteY0-92" fmla="*/ 534641 h 1793264"/>
              <a:gd name="connsiteX1-93" fmla="*/ 33106 w 1593840"/>
              <a:gd name="connsiteY1-94" fmla="*/ 940200 h 1793264"/>
              <a:gd name="connsiteX2-95" fmla="*/ 178311 w 1593840"/>
              <a:gd name="connsiteY2-96" fmla="*/ 1672556 h 1793264"/>
              <a:gd name="connsiteX3-97" fmla="*/ 1464139 w 1593840"/>
              <a:gd name="connsiteY3-98" fmla="*/ 1752440 h 1793264"/>
              <a:gd name="connsiteX4-99" fmla="*/ 1553857 w 1593840"/>
              <a:gd name="connsiteY4-100" fmla="*/ 1257671 h 1793264"/>
              <a:gd name="connsiteX5-101" fmla="*/ 1501616 w 1593840"/>
              <a:gd name="connsiteY5-102" fmla="*/ 672856 h 1793264"/>
              <a:gd name="connsiteX6-103" fmla="*/ 1370030 w 1593840"/>
              <a:gd name="connsiteY6-104" fmla="*/ 154877 h 1793264"/>
              <a:gd name="connsiteX7-105" fmla="*/ 872190 w 1593840"/>
              <a:gd name="connsiteY7-106" fmla="*/ 21205 h 1793264"/>
              <a:gd name="connsiteX8-107" fmla="*/ 393458 w 1593840"/>
              <a:gd name="connsiteY8-108" fmla="*/ 534641 h 1793264"/>
              <a:gd name="connsiteX0-109" fmla="*/ 393458 w 1566550"/>
              <a:gd name="connsiteY0-110" fmla="*/ 534641 h 1840341"/>
              <a:gd name="connsiteX1-111" fmla="*/ 33106 w 1566550"/>
              <a:gd name="connsiteY1-112" fmla="*/ 940200 h 1840341"/>
              <a:gd name="connsiteX2-113" fmla="*/ 178311 w 1566550"/>
              <a:gd name="connsiteY2-114" fmla="*/ 1672556 h 1840341"/>
              <a:gd name="connsiteX3-115" fmla="*/ 1464139 w 1566550"/>
              <a:gd name="connsiteY3-116" fmla="*/ 1752440 h 1840341"/>
              <a:gd name="connsiteX4-117" fmla="*/ 1553857 w 1566550"/>
              <a:gd name="connsiteY4-118" fmla="*/ 1257671 h 1840341"/>
              <a:gd name="connsiteX5-119" fmla="*/ 1501616 w 1566550"/>
              <a:gd name="connsiteY5-120" fmla="*/ 672856 h 1840341"/>
              <a:gd name="connsiteX6-121" fmla="*/ 1370030 w 1566550"/>
              <a:gd name="connsiteY6-122" fmla="*/ 154877 h 1840341"/>
              <a:gd name="connsiteX7-123" fmla="*/ 872190 w 1566550"/>
              <a:gd name="connsiteY7-124" fmla="*/ 21205 h 1840341"/>
              <a:gd name="connsiteX8-125" fmla="*/ 393458 w 1566550"/>
              <a:gd name="connsiteY8-126" fmla="*/ 534641 h 1840341"/>
              <a:gd name="connsiteX0-127" fmla="*/ 393458 w 1555557"/>
              <a:gd name="connsiteY0-128" fmla="*/ 534641 h 1787187"/>
              <a:gd name="connsiteX1-129" fmla="*/ 33106 w 1555557"/>
              <a:gd name="connsiteY1-130" fmla="*/ 940200 h 1787187"/>
              <a:gd name="connsiteX2-131" fmla="*/ 178311 w 1555557"/>
              <a:gd name="connsiteY2-132" fmla="*/ 1672556 h 1787187"/>
              <a:gd name="connsiteX3-133" fmla="*/ 1464139 w 1555557"/>
              <a:gd name="connsiteY3-134" fmla="*/ 1752440 h 1787187"/>
              <a:gd name="connsiteX4-135" fmla="*/ 1553857 w 1555557"/>
              <a:gd name="connsiteY4-136" fmla="*/ 1257671 h 1787187"/>
              <a:gd name="connsiteX5-137" fmla="*/ 1501616 w 1555557"/>
              <a:gd name="connsiteY5-138" fmla="*/ 672856 h 1787187"/>
              <a:gd name="connsiteX6-139" fmla="*/ 1370030 w 1555557"/>
              <a:gd name="connsiteY6-140" fmla="*/ 154877 h 1787187"/>
              <a:gd name="connsiteX7-141" fmla="*/ 872190 w 1555557"/>
              <a:gd name="connsiteY7-142" fmla="*/ 21205 h 1787187"/>
              <a:gd name="connsiteX8-143" fmla="*/ 393458 w 1555557"/>
              <a:gd name="connsiteY8-144" fmla="*/ 534641 h 1787187"/>
              <a:gd name="connsiteX0-145" fmla="*/ 401126 w 1664928"/>
              <a:gd name="connsiteY0-146" fmla="*/ 534641 h 1783934"/>
              <a:gd name="connsiteX1-147" fmla="*/ 40774 w 1664928"/>
              <a:gd name="connsiteY1-148" fmla="*/ 940200 h 1783934"/>
              <a:gd name="connsiteX2-149" fmla="*/ 185979 w 1664928"/>
              <a:gd name="connsiteY2-150" fmla="*/ 1672556 h 1783934"/>
              <a:gd name="connsiteX3-151" fmla="*/ 1618513 w 1664928"/>
              <a:gd name="connsiteY3-152" fmla="*/ 1747798 h 1783934"/>
              <a:gd name="connsiteX4-153" fmla="*/ 1561525 w 1664928"/>
              <a:gd name="connsiteY4-154" fmla="*/ 1257671 h 1783934"/>
              <a:gd name="connsiteX5-155" fmla="*/ 1509284 w 1664928"/>
              <a:gd name="connsiteY5-156" fmla="*/ 672856 h 1783934"/>
              <a:gd name="connsiteX6-157" fmla="*/ 1377698 w 1664928"/>
              <a:gd name="connsiteY6-158" fmla="*/ 154877 h 1783934"/>
              <a:gd name="connsiteX7-159" fmla="*/ 879858 w 1664928"/>
              <a:gd name="connsiteY7-160" fmla="*/ 21205 h 1783934"/>
              <a:gd name="connsiteX8-161" fmla="*/ 401126 w 1664928"/>
              <a:gd name="connsiteY8-162" fmla="*/ 534641 h 1783934"/>
              <a:gd name="connsiteX0-163" fmla="*/ 408119 w 1718774"/>
              <a:gd name="connsiteY0-164" fmla="*/ 534641 h 1826522"/>
              <a:gd name="connsiteX1-165" fmla="*/ 47767 w 1718774"/>
              <a:gd name="connsiteY1-166" fmla="*/ 940200 h 1826522"/>
              <a:gd name="connsiteX2-167" fmla="*/ 179001 w 1718774"/>
              <a:gd name="connsiteY2-168" fmla="*/ 1742186 h 1826522"/>
              <a:gd name="connsiteX3-169" fmla="*/ 1625506 w 1718774"/>
              <a:gd name="connsiteY3-170" fmla="*/ 1747798 h 1826522"/>
              <a:gd name="connsiteX4-171" fmla="*/ 1568518 w 1718774"/>
              <a:gd name="connsiteY4-172" fmla="*/ 1257671 h 1826522"/>
              <a:gd name="connsiteX5-173" fmla="*/ 1516277 w 1718774"/>
              <a:gd name="connsiteY5-174" fmla="*/ 672856 h 1826522"/>
              <a:gd name="connsiteX6-175" fmla="*/ 1384691 w 1718774"/>
              <a:gd name="connsiteY6-176" fmla="*/ 154877 h 1826522"/>
              <a:gd name="connsiteX7-177" fmla="*/ 886851 w 1718774"/>
              <a:gd name="connsiteY7-178" fmla="*/ 21205 h 1826522"/>
              <a:gd name="connsiteX8-179" fmla="*/ 408119 w 1718774"/>
              <a:gd name="connsiteY8-180" fmla="*/ 534641 h 1826522"/>
              <a:gd name="connsiteX0-181" fmla="*/ 477759 w 1796623"/>
              <a:gd name="connsiteY0-182" fmla="*/ 534641 h 1818043"/>
              <a:gd name="connsiteX1-183" fmla="*/ 117407 w 1796623"/>
              <a:gd name="connsiteY1-184" fmla="*/ 940200 h 1818043"/>
              <a:gd name="connsiteX2-185" fmla="*/ 136864 w 1796623"/>
              <a:gd name="connsiteY2-186" fmla="*/ 1728260 h 1818043"/>
              <a:gd name="connsiteX3-187" fmla="*/ 1695146 w 1796623"/>
              <a:gd name="connsiteY3-188" fmla="*/ 1747798 h 1818043"/>
              <a:gd name="connsiteX4-189" fmla="*/ 1638158 w 1796623"/>
              <a:gd name="connsiteY4-190" fmla="*/ 1257671 h 1818043"/>
              <a:gd name="connsiteX5-191" fmla="*/ 1585917 w 1796623"/>
              <a:gd name="connsiteY5-192" fmla="*/ 672856 h 1818043"/>
              <a:gd name="connsiteX6-193" fmla="*/ 1454331 w 1796623"/>
              <a:gd name="connsiteY6-194" fmla="*/ 154877 h 1818043"/>
              <a:gd name="connsiteX7-195" fmla="*/ 956491 w 1796623"/>
              <a:gd name="connsiteY7-196" fmla="*/ 21205 h 1818043"/>
              <a:gd name="connsiteX8-197" fmla="*/ 477759 w 1796623"/>
              <a:gd name="connsiteY8-198" fmla="*/ 534641 h 1818043"/>
              <a:gd name="connsiteX0-199" fmla="*/ 396783 w 1688820"/>
              <a:gd name="connsiteY0-200" fmla="*/ 534641 h 1815615"/>
              <a:gd name="connsiteX1-201" fmla="*/ 36431 w 1688820"/>
              <a:gd name="connsiteY1-202" fmla="*/ 940200 h 1815615"/>
              <a:gd name="connsiteX2-203" fmla="*/ 55888 w 1688820"/>
              <a:gd name="connsiteY2-204" fmla="*/ 1728260 h 1815615"/>
              <a:gd name="connsiteX3-205" fmla="*/ 421834 w 1688820"/>
              <a:gd name="connsiteY3-206" fmla="*/ 1798118 h 1815615"/>
              <a:gd name="connsiteX4-207" fmla="*/ 1614170 w 1688820"/>
              <a:gd name="connsiteY4-208" fmla="*/ 1747798 h 1815615"/>
              <a:gd name="connsiteX5-209" fmla="*/ 1557182 w 1688820"/>
              <a:gd name="connsiteY5-210" fmla="*/ 1257671 h 1815615"/>
              <a:gd name="connsiteX6-211" fmla="*/ 1504941 w 1688820"/>
              <a:gd name="connsiteY6-212" fmla="*/ 672856 h 1815615"/>
              <a:gd name="connsiteX7-213" fmla="*/ 1373355 w 1688820"/>
              <a:gd name="connsiteY7-214" fmla="*/ 154877 h 1815615"/>
              <a:gd name="connsiteX8-215" fmla="*/ 875515 w 1688820"/>
              <a:gd name="connsiteY8-216" fmla="*/ 21205 h 1815615"/>
              <a:gd name="connsiteX9" fmla="*/ 396783 w 1688820"/>
              <a:gd name="connsiteY9" fmla="*/ 534641 h 1815615"/>
              <a:gd name="connsiteX0-217" fmla="*/ 394951 w 1689541"/>
              <a:gd name="connsiteY0-218" fmla="*/ 534641 h 1877271"/>
              <a:gd name="connsiteX1-219" fmla="*/ 34599 w 1689541"/>
              <a:gd name="connsiteY1-220" fmla="*/ 940200 h 1877271"/>
              <a:gd name="connsiteX2-221" fmla="*/ 54056 w 1689541"/>
              <a:gd name="connsiteY2-222" fmla="*/ 1728260 h 1877271"/>
              <a:gd name="connsiteX3-223" fmla="*/ 385071 w 1689541"/>
              <a:gd name="connsiteY3-224" fmla="*/ 1877032 h 1877271"/>
              <a:gd name="connsiteX4-225" fmla="*/ 1612338 w 1689541"/>
              <a:gd name="connsiteY4-226" fmla="*/ 1747798 h 1877271"/>
              <a:gd name="connsiteX5-227" fmla="*/ 1555350 w 1689541"/>
              <a:gd name="connsiteY5-228" fmla="*/ 1257671 h 1877271"/>
              <a:gd name="connsiteX6-229" fmla="*/ 1503109 w 1689541"/>
              <a:gd name="connsiteY6-230" fmla="*/ 672856 h 1877271"/>
              <a:gd name="connsiteX7-231" fmla="*/ 1371523 w 1689541"/>
              <a:gd name="connsiteY7-232" fmla="*/ 154877 h 1877271"/>
              <a:gd name="connsiteX8-233" fmla="*/ 873683 w 1689541"/>
              <a:gd name="connsiteY8-234" fmla="*/ 21205 h 1877271"/>
              <a:gd name="connsiteX9-235" fmla="*/ 394951 w 1689541"/>
              <a:gd name="connsiteY9-236" fmla="*/ 534641 h 1877271"/>
              <a:gd name="connsiteX0-237" fmla="*/ 394949 w 1689541"/>
              <a:gd name="connsiteY0-238" fmla="*/ 534641 h 1877032"/>
              <a:gd name="connsiteX1-239" fmla="*/ 34597 w 1689541"/>
              <a:gd name="connsiteY1-240" fmla="*/ 940200 h 1877032"/>
              <a:gd name="connsiteX2-241" fmla="*/ 54054 w 1689541"/>
              <a:gd name="connsiteY2-242" fmla="*/ 1728260 h 1877032"/>
              <a:gd name="connsiteX3-243" fmla="*/ 385069 w 1689541"/>
              <a:gd name="connsiteY3-244" fmla="*/ 1877032 h 1877032"/>
              <a:gd name="connsiteX4-245" fmla="*/ 1612336 w 1689541"/>
              <a:gd name="connsiteY4-246" fmla="*/ 1747798 h 1877032"/>
              <a:gd name="connsiteX5-247" fmla="*/ 1555348 w 1689541"/>
              <a:gd name="connsiteY5-248" fmla="*/ 1257671 h 1877032"/>
              <a:gd name="connsiteX6-249" fmla="*/ 1503107 w 1689541"/>
              <a:gd name="connsiteY6-250" fmla="*/ 672856 h 1877032"/>
              <a:gd name="connsiteX7-251" fmla="*/ 1371521 w 1689541"/>
              <a:gd name="connsiteY7-252" fmla="*/ 154877 h 1877032"/>
              <a:gd name="connsiteX8-253" fmla="*/ 873681 w 1689541"/>
              <a:gd name="connsiteY8-254" fmla="*/ 21205 h 1877032"/>
              <a:gd name="connsiteX9-255" fmla="*/ 394949 w 1689541"/>
              <a:gd name="connsiteY9-256" fmla="*/ 534641 h 1877032"/>
              <a:gd name="connsiteX0-257" fmla="*/ 394949 w 1683795"/>
              <a:gd name="connsiteY0-258" fmla="*/ 534641 h 1877032"/>
              <a:gd name="connsiteX1-259" fmla="*/ 34597 w 1683795"/>
              <a:gd name="connsiteY1-260" fmla="*/ 940200 h 1877032"/>
              <a:gd name="connsiteX2-261" fmla="*/ 54054 w 1683795"/>
              <a:gd name="connsiteY2-262" fmla="*/ 1728260 h 1877032"/>
              <a:gd name="connsiteX3-263" fmla="*/ 385069 w 1683795"/>
              <a:gd name="connsiteY3-264" fmla="*/ 1877032 h 1877032"/>
              <a:gd name="connsiteX4-265" fmla="*/ 1605349 w 1683795"/>
              <a:gd name="connsiteY4-266" fmla="*/ 1798860 h 1877032"/>
              <a:gd name="connsiteX5-267" fmla="*/ 1555348 w 1683795"/>
              <a:gd name="connsiteY5-268" fmla="*/ 1257671 h 1877032"/>
              <a:gd name="connsiteX6-269" fmla="*/ 1503107 w 1683795"/>
              <a:gd name="connsiteY6-270" fmla="*/ 672856 h 1877032"/>
              <a:gd name="connsiteX7-271" fmla="*/ 1371521 w 1683795"/>
              <a:gd name="connsiteY7-272" fmla="*/ 154877 h 1877032"/>
              <a:gd name="connsiteX8-273" fmla="*/ 873681 w 1683795"/>
              <a:gd name="connsiteY8-274" fmla="*/ 21205 h 1877032"/>
              <a:gd name="connsiteX9-275" fmla="*/ 394949 w 1683795"/>
              <a:gd name="connsiteY9-276" fmla="*/ 534641 h 1877032"/>
              <a:gd name="connsiteX0-277" fmla="*/ 394949 w 1720794"/>
              <a:gd name="connsiteY0-278" fmla="*/ 534641 h 1877032"/>
              <a:gd name="connsiteX1-279" fmla="*/ 34597 w 1720794"/>
              <a:gd name="connsiteY1-280" fmla="*/ 940200 h 1877032"/>
              <a:gd name="connsiteX2-281" fmla="*/ 54054 w 1720794"/>
              <a:gd name="connsiteY2-282" fmla="*/ 1728260 h 1877032"/>
              <a:gd name="connsiteX3-283" fmla="*/ 385069 w 1720794"/>
              <a:gd name="connsiteY3-284" fmla="*/ 1877032 h 1877032"/>
              <a:gd name="connsiteX4-285" fmla="*/ 1605349 w 1720794"/>
              <a:gd name="connsiteY4-286" fmla="*/ 1798860 h 1877032"/>
              <a:gd name="connsiteX5-287" fmla="*/ 1555348 w 1720794"/>
              <a:gd name="connsiteY5-288" fmla="*/ 1257671 h 1877032"/>
              <a:gd name="connsiteX6-289" fmla="*/ 1503107 w 1720794"/>
              <a:gd name="connsiteY6-290" fmla="*/ 672856 h 1877032"/>
              <a:gd name="connsiteX7-291" fmla="*/ 1371521 w 1720794"/>
              <a:gd name="connsiteY7-292" fmla="*/ 154877 h 1877032"/>
              <a:gd name="connsiteX8-293" fmla="*/ 873681 w 1720794"/>
              <a:gd name="connsiteY8-294" fmla="*/ 21205 h 1877032"/>
              <a:gd name="connsiteX9-295" fmla="*/ 394949 w 1720794"/>
              <a:gd name="connsiteY9-296" fmla="*/ 534641 h 1877032"/>
              <a:gd name="connsiteX0-297" fmla="*/ 394949 w 1720794"/>
              <a:gd name="connsiteY0-298" fmla="*/ 534641 h 1877032"/>
              <a:gd name="connsiteX1-299" fmla="*/ 34597 w 1720794"/>
              <a:gd name="connsiteY1-300" fmla="*/ 940200 h 1877032"/>
              <a:gd name="connsiteX2-301" fmla="*/ 54054 w 1720794"/>
              <a:gd name="connsiteY2-302" fmla="*/ 1728260 h 1877032"/>
              <a:gd name="connsiteX3-303" fmla="*/ 385069 w 1720794"/>
              <a:gd name="connsiteY3-304" fmla="*/ 1877032 h 1877032"/>
              <a:gd name="connsiteX4-305" fmla="*/ 1605349 w 1720794"/>
              <a:gd name="connsiteY4-306" fmla="*/ 1798860 h 1877032"/>
              <a:gd name="connsiteX5-307" fmla="*/ 1555348 w 1720794"/>
              <a:gd name="connsiteY5-308" fmla="*/ 1257671 h 1877032"/>
              <a:gd name="connsiteX6-309" fmla="*/ 1503107 w 1720794"/>
              <a:gd name="connsiteY6-310" fmla="*/ 672856 h 1877032"/>
              <a:gd name="connsiteX7-311" fmla="*/ 1371521 w 1720794"/>
              <a:gd name="connsiteY7-312" fmla="*/ 154877 h 1877032"/>
              <a:gd name="connsiteX8-313" fmla="*/ 873681 w 1720794"/>
              <a:gd name="connsiteY8-314" fmla="*/ 21205 h 1877032"/>
              <a:gd name="connsiteX9-315" fmla="*/ 394949 w 1720794"/>
              <a:gd name="connsiteY9-316" fmla="*/ 534641 h 1877032"/>
              <a:gd name="connsiteX0-317" fmla="*/ 394949 w 1671512"/>
              <a:gd name="connsiteY0-318" fmla="*/ 534641 h 1877032"/>
              <a:gd name="connsiteX1-319" fmla="*/ 34597 w 1671512"/>
              <a:gd name="connsiteY1-320" fmla="*/ 940200 h 1877032"/>
              <a:gd name="connsiteX2-321" fmla="*/ 54054 w 1671512"/>
              <a:gd name="connsiteY2-322" fmla="*/ 1728260 h 1877032"/>
              <a:gd name="connsiteX3-323" fmla="*/ 385069 w 1671512"/>
              <a:gd name="connsiteY3-324" fmla="*/ 1877032 h 1877032"/>
              <a:gd name="connsiteX4-325" fmla="*/ 1605349 w 1671512"/>
              <a:gd name="connsiteY4-326" fmla="*/ 1798860 h 1877032"/>
              <a:gd name="connsiteX5-327" fmla="*/ 1555348 w 1671512"/>
              <a:gd name="connsiteY5-328" fmla="*/ 1257671 h 1877032"/>
              <a:gd name="connsiteX6-329" fmla="*/ 1503107 w 1671512"/>
              <a:gd name="connsiteY6-330" fmla="*/ 672856 h 1877032"/>
              <a:gd name="connsiteX7-331" fmla="*/ 1371521 w 1671512"/>
              <a:gd name="connsiteY7-332" fmla="*/ 154877 h 1877032"/>
              <a:gd name="connsiteX8-333" fmla="*/ 873681 w 1671512"/>
              <a:gd name="connsiteY8-334" fmla="*/ 21205 h 1877032"/>
              <a:gd name="connsiteX9-335" fmla="*/ 394949 w 1671512"/>
              <a:gd name="connsiteY9-336" fmla="*/ 534641 h 1877032"/>
              <a:gd name="connsiteX0-337" fmla="*/ 394949 w 1677296"/>
              <a:gd name="connsiteY0-338" fmla="*/ 534641 h 1877032"/>
              <a:gd name="connsiteX1-339" fmla="*/ 34597 w 1677296"/>
              <a:gd name="connsiteY1-340" fmla="*/ 940200 h 1877032"/>
              <a:gd name="connsiteX2-341" fmla="*/ 54054 w 1677296"/>
              <a:gd name="connsiteY2-342" fmla="*/ 1728260 h 1877032"/>
              <a:gd name="connsiteX3-343" fmla="*/ 385069 w 1677296"/>
              <a:gd name="connsiteY3-344" fmla="*/ 1877032 h 1877032"/>
              <a:gd name="connsiteX4-345" fmla="*/ 1612334 w 1677296"/>
              <a:gd name="connsiteY4-346" fmla="*/ 1840637 h 1877032"/>
              <a:gd name="connsiteX5-347" fmla="*/ 1555348 w 1677296"/>
              <a:gd name="connsiteY5-348" fmla="*/ 1257671 h 1877032"/>
              <a:gd name="connsiteX6-349" fmla="*/ 1503107 w 1677296"/>
              <a:gd name="connsiteY6-350" fmla="*/ 672856 h 1877032"/>
              <a:gd name="connsiteX7-351" fmla="*/ 1371521 w 1677296"/>
              <a:gd name="connsiteY7-352" fmla="*/ 154877 h 1877032"/>
              <a:gd name="connsiteX8-353" fmla="*/ 873681 w 1677296"/>
              <a:gd name="connsiteY8-354" fmla="*/ 21205 h 1877032"/>
              <a:gd name="connsiteX9-355" fmla="*/ 394949 w 1677296"/>
              <a:gd name="connsiteY9-356" fmla="*/ 534641 h 1877032"/>
              <a:gd name="connsiteX0-357" fmla="*/ 394949 w 1677298"/>
              <a:gd name="connsiteY0-358" fmla="*/ 534641 h 1877032"/>
              <a:gd name="connsiteX1-359" fmla="*/ 34597 w 1677298"/>
              <a:gd name="connsiteY1-360" fmla="*/ 940200 h 1877032"/>
              <a:gd name="connsiteX2-361" fmla="*/ 54054 w 1677298"/>
              <a:gd name="connsiteY2-362" fmla="*/ 1728260 h 1877032"/>
              <a:gd name="connsiteX3-363" fmla="*/ 385069 w 1677298"/>
              <a:gd name="connsiteY3-364" fmla="*/ 1877032 h 1877032"/>
              <a:gd name="connsiteX4-365" fmla="*/ 1612334 w 1677298"/>
              <a:gd name="connsiteY4-366" fmla="*/ 1840637 h 1877032"/>
              <a:gd name="connsiteX5-367" fmla="*/ 1555348 w 1677298"/>
              <a:gd name="connsiteY5-368" fmla="*/ 1257671 h 1877032"/>
              <a:gd name="connsiteX6-369" fmla="*/ 1503107 w 1677298"/>
              <a:gd name="connsiteY6-370" fmla="*/ 672856 h 1877032"/>
              <a:gd name="connsiteX7-371" fmla="*/ 1371521 w 1677298"/>
              <a:gd name="connsiteY7-372" fmla="*/ 154877 h 1877032"/>
              <a:gd name="connsiteX8-373" fmla="*/ 873681 w 1677298"/>
              <a:gd name="connsiteY8-374" fmla="*/ 21205 h 1877032"/>
              <a:gd name="connsiteX9-375" fmla="*/ 394949 w 1677298"/>
              <a:gd name="connsiteY9-376" fmla="*/ 534641 h 1877032"/>
              <a:gd name="connsiteX0-377" fmla="*/ 394949 w 1677296"/>
              <a:gd name="connsiteY0-378" fmla="*/ 534641 h 1904936"/>
              <a:gd name="connsiteX1-379" fmla="*/ 34597 w 1677296"/>
              <a:gd name="connsiteY1-380" fmla="*/ 940200 h 1904936"/>
              <a:gd name="connsiteX2-381" fmla="*/ 54054 w 1677296"/>
              <a:gd name="connsiteY2-382" fmla="*/ 1728260 h 1904936"/>
              <a:gd name="connsiteX3-383" fmla="*/ 385069 w 1677296"/>
              <a:gd name="connsiteY3-384" fmla="*/ 1877032 h 1904936"/>
              <a:gd name="connsiteX4-385" fmla="*/ 1612334 w 1677296"/>
              <a:gd name="connsiteY4-386" fmla="*/ 1840637 h 1904936"/>
              <a:gd name="connsiteX5-387" fmla="*/ 1555348 w 1677296"/>
              <a:gd name="connsiteY5-388" fmla="*/ 1257671 h 1904936"/>
              <a:gd name="connsiteX6-389" fmla="*/ 1503107 w 1677296"/>
              <a:gd name="connsiteY6-390" fmla="*/ 672856 h 1904936"/>
              <a:gd name="connsiteX7-391" fmla="*/ 1371521 w 1677296"/>
              <a:gd name="connsiteY7-392" fmla="*/ 154877 h 1904936"/>
              <a:gd name="connsiteX8-393" fmla="*/ 873681 w 1677296"/>
              <a:gd name="connsiteY8-394" fmla="*/ 21205 h 1904936"/>
              <a:gd name="connsiteX9-395" fmla="*/ 394949 w 1677296"/>
              <a:gd name="connsiteY9-396" fmla="*/ 534641 h 1904936"/>
              <a:gd name="connsiteX0-397" fmla="*/ 461539 w 1743887"/>
              <a:gd name="connsiteY0-398" fmla="*/ 534641 h 1904936"/>
              <a:gd name="connsiteX1-399" fmla="*/ 101187 w 1743887"/>
              <a:gd name="connsiteY1-400" fmla="*/ 940200 h 1904936"/>
              <a:gd name="connsiteX2-401" fmla="*/ 22840 w 1743887"/>
              <a:gd name="connsiteY2-402" fmla="*/ 1737812 h 1904936"/>
              <a:gd name="connsiteX3-403" fmla="*/ 451659 w 1743887"/>
              <a:gd name="connsiteY3-404" fmla="*/ 1877032 h 1904936"/>
              <a:gd name="connsiteX4-405" fmla="*/ 1678924 w 1743887"/>
              <a:gd name="connsiteY4-406" fmla="*/ 1840637 h 1904936"/>
              <a:gd name="connsiteX5-407" fmla="*/ 1621938 w 1743887"/>
              <a:gd name="connsiteY5-408" fmla="*/ 1257671 h 1904936"/>
              <a:gd name="connsiteX6-409" fmla="*/ 1569697 w 1743887"/>
              <a:gd name="connsiteY6-410" fmla="*/ 672856 h 1904936"/>
              <a:gd name="connsiteX7-411" fmla="*/ 1438111 w 1743887"/>
              <a:gd name="connsiteY7-412" fmla="*/ 154877 h 1904936"/>
              <a:gd name="connsiteX8-413" fmla="*/ 940271 w 1743887"/>
              <a:gd name="connsiteY8-414" fmla="*/ 21205 h 1904936"/>
              <a:gd name="connsiteX9-415" fmla="*/ 461539 w 1743887"/>
              <a:gd name="connsiteY9-416" fmla="*/ 534641 h 1904936"/>
              <a:gd name="connsiteX0-417" fmla="*/ 452050 w 1756359"/>
              <a:gd name="connsiteY0-418" fmla="*/ 534641 h 1891359"/>
              <a:gd name="connsiteX1-419" fmla="*/ 91698 w 1756359"/>
              <a:gd name="connsiteY1-420" fmla="*/ 940200 h 1891359"/>
              <a:gd name="connsiteX2-421" fmla="*/ 13351 w 1756359"/>
              <a:gd name="connsiteY2-422" fmla="*/ 1737812 h 1891359"/>
              <a:gd name="connsiteX3-423" fmla="*/ 309435 w 1756359"/>
              <a:gd name="connsiteY3-424" fmla="*/ 1891359 h 1891359"/>
              <a:gd name="connsiteX4-425" fmla="*/ 1669435 w 1756359"/>
              <a:gd name="connsiteY4-426" fmla="*/ 1840637 h 1891359"/>
              <a:gd name="connsiteX5-427" fmla="*/ 1612449 w 1756359"/>
              <a:gd name="connsiteY5-428" fmla="*/ 1257671 h 1891359"/>
              <a:gd name="connsiteX6-429" fmla="*/ 1560208 w 1756359"/>
              <a:gd name="connsiteY6-430" fmla="*/ 672856 h 1891359"/>
              <a:gd name="connsiteX7-431" fmla="*/ 1428622 w 1756359"/>
              <a:gd name="connsiteY7-432" fmla="*/ 154877 h 1891359"/>
              <a:gd name="connsiteX8-433" fmla="*/ 930782 w 1756359"/>
              <a:gd name="connsiteY8-434" fmla="*/ 21205 h 1891359"/>
              <a:gd name="connsiteX9-435" fmla="*/ 452050 w 1756359"/>
              <a:gd name="connsiteY9-436" fmla="*/ 534641 h 1891359"/>
              <a:gd name="connsiteX0-437" fmla="*/ 452050 w 1756257"/>
              <a:gd name="connsiteY0-438" fmla="*/ 534641 h 1891359"/>
              <a:gd name="connsiteX1-439" fmla="*/ 91698 w 1756257"/>
              <a:gd name="connsiteY1-440" fmla="*/ 940200 h 1891359"/>
              <a:gd name="connsiteX2-441" fmla="*/ 13351 w 1756257"/>
              <a:gd name="connsiteY2-442" fmla="*/ 1737812 h 1891359"/>
              <a:gd name="connsiteX3-443" fmla="*/ 309435 w 1756257"/>
              <a:gd name="connsiteY3-444" fmla="*/ 1891359 h 1891359"/>
              <a:gd name="connsiteX4-445" fmla="*/ 1669435 w 1756257"/>
              <a:gd name="connsiteY4-446" fmla="*/ 1840637 h 1891359"/>
              <a:gd name="connsiteX5-447" fmla="*/ 1612449 w 1756257"/>
              <a:gd name="connsiteY5-448" fmla="*/ 1257671 h 1891359"/>
              <a:gd name="connsiteX6-449" fmla="*/ 1563496 w 1756257"/>
              <a:gd name="connsiteY6-450" fmla="*/ 959631 h 1891359"/>
              <a:gd name="connsiteX7-451" fmla="*/ 1560208 w 1756257"/>
              <a:gd name="connsiteY7-452" fmla="*/ 672856 h 1891359"/>
              <a:gd name="connsiteX8-453" fmla="*/ 1428622 w 1756257"/>
              <a:gd name="connsiteY8-454" fmla="*/ 154877 h 1891359"/>
              <a:gd name="connsiteX9-455" fmla="*/ 930782 w 1756257"/>
              <a:gd name="connsiteY9-456" fmla="*/ 21205 h 1891359"/>
              <a:gd name="connsiteX10" fmla="*/ 452050 w 1756257"/>
              <a:gd name="connsiteY10" fmla="*/ 534641 h 1891359"/>
              <a:gd name="connsiteX0-457" fmla="*/ 452050 w 1764590"/>
              <a:gd name="connsiteY0-458" fmla="*/ 534641 h 1891359"/>
              <a:gd name="connsiteX1-459" fmla="*/ 91698 w 1764590"/>
              <a:gd name="connsiteY1-460" fmla="*/ 940200 h 1891359"/>
              <a:gd name="connsiteX2-461" fmla="*/ 13351 w 1764590"/>
              <a:gd name="connsiteY2-462" fmla="*/ 1737812 h 1891359"/>
              <a:gd name="connsiteX3-463" fmla="*/ 309435 w 1764590"/>
              <a:gd name="connsiteY3-464" fmla="*/ 1891359 h 1891359"/>
              <a:gd name="connsiteX4-465" fmla="*/ 1669435 w 1764590"/>
              <a:gd name="connsiteY4-466" fmla="*/ 1840637 h 1891359"/>
              <a:gd name="connsiteX5-467" fmla="*/ 1612449 w 1764590"/>
              <a:gd name="connsiteY5-468" fmla="*/ 1257671 h 1891359"/>
              <a:gd name="connsiteX6-469" fmla="*/ 1309780 w 1764590"/>
              <a:gd name="connsiteY6-470" fmla="*/ 1046341 h 1891359"/>
              <a:gd name="connsiteX7-471" fmla="*/ 1560208 w 1764590"/>
              <a:gd name="connsiteY7-472" fmla="*/ 672856 h 1891359"/>
              <a:gd name="connsiteX8-473" fmla="*/ 1428622 w 1764590"/>
              <a:gd name="connsiteY8-474" fmla="*/ 154877 h 1891359"/>
              <a:gd name="connsiteX9-475" fmla="*/ 930782 w 1764590"/>
              <a:gd name="connsiteY9-476" fmla="*/ 21205 h 1891359"/>
              <a:gd name="connsiteX10-477" fmla="*/ 452050 w 1764590"/>
              <a:gd name="connsiteY10-478" fmla="*/ 534641 h 1891359"/>
              <a:gd name="connsiteX0-479" fmla="*/ 452050 w 1764592"/>
              <a:gd name="connsiteY0-480" fmla="*/ 534641 h 1891359"/>
              <a:gd name="connsiteX1-481" fmla="*/ 91698 w 1764592"/>
              <a:gd name="connsiteY1-482" fmla="*/ 940200 h 1891359"/>
              <a:gd name="connsiteX2-483" fmla="*/ 13351 w 1764592"/>
              <a:gd name="connsiteY2-484" fmla="*/ 1737812 h 1891359"/>
              <a:gd name="connsiteX3-485" fmla="*/ 309435 w 1764592"/>
              <a:gd name="connsiteY3-486" fmla="*/ 1891359 h 1891359"/>
              <a:gd name="connsiteX4-487" fmla="*/ 1669435 w 1764592"/>
              <a:gd name="connsiteY4-488" fmla="*/ 1840637 h 1891359"/>
              <a:gd name="connsiteX5-489" fmla="*/ 1612449 w 1764592"/>
              <a:gd name="connsiteY5-490" fmla="*/ 1257671 h 1891359"/>
              <a:gd name="connsiteX6-491" fmla="*/ 1309780 w 1764592"/>
              <a:gd name="connsiteY6-492" fmla="*/ 1046341 h 1891359"/>
              <a:gd name="connsiteX7-493" fmla="*/ 1560208 w 1764592"/>
              <a:gd name="connsiteY7-494" fmla="*/ 672856 h 1891359"/>
              <a:gd name="connsiteX8-495" fmla="*/ 1428622 w 1764592"/>
              <a:gd name="connsiteY8-496" fmla="*/ 154877 h 1891359"/>
              <a:gd name="connsiteX9-497" fmla="*/ 930782 w 1764592"/>
              <a:gd name="connsiteY9-498" fmla="*/ 21205 h 1891359"/>
              <a:gd name="connsiteX10-499" fmla="*/ 452050 w 1764592"/>
              <a:gd name="connsiteY10-500" fmla="*/ 534641 h 1891359"/>
              <a:gd name="connsiteX0-501" fmla="*/ 452050 w 1764590"/>
              <a:gd name="connsiteY0-502" fmla="*/ 534641 h 1891359"/>
              <a:gd name="connsiteX1-503" fmla="*/ 91698 w 1764590"/>
              <a:gd name="connsiteY1-504" fmla="*/ 940200 h 1891359"/>
              <a:gd name="connsiteX2-505" fmla="*/ 13351 w 1764590"/>
              <a:gd name="connsiteY2-506" fmla="*/ 1737812 h 1891359"/>
              <a:gd name="connsiteX3-507" fmla="*/ 309435 w 1764590"/>
              <a:gd name="connsiteY3-508" fmla="*/ 1891359 h 1891359"/>
              <a:gd name="connsiteX4-509" fmla="*/ 1669435 w 1764590"/>
              <a:gd name="connsiteY4-510" fmla="*/ 1840637 h 1891359"/>
              <a:gd name="connsiteX5-511" fmla="*/ 1612449 w 1764590"/>
              <a:gd name="connsiteY5-512" fmla="*/ 1257671 h 1891359"/>
              <a:gd name="connsiteX6-513" fmla="*/ 1309780 w 1764590"/>
              <a:gd name="connsiteY6-514" fmla="*/ 1046341 h 1891359"/>
              <a:gd name="connsiteX7-515" fmla="*/ 1560208 w 1764590"/>
              <a:gd name="connsiteY7-516" fmla="*/ 672856 h 1891359"/>
              <a:gd name="connsiteX8-517" fmla="*/ 1428622 w 1764590"/>
              <a:gd name="connsiteY8-518" fmla="*/ 154877 h 1891359"/>
              <a:gd name="connsiteX9-519" fmla="*/ 930782 w 1764590"/>
              <a:gd name="connsiteY9-520" fmla="*/ 21205 h 1891359"/>
              <a:gd name="connsiteX10-521" fmla="*/ 452050 w 1764590"/>
              <a:gd name="connsiteY10-522" fmla="*/ 534641 h 1891359"/>
              <a:gd name="connsiteX0-523" fmla="*/ 452050 w 1792731"/>
              <a:gd name="connsiteY0-524" fmla="*/ 534641 h 1891359"/>
              <a:gd name="connsiteX1-525" fmla="*/ 91698 w 1792731"/>
              <a:gd name="connsiteY1-526" fmla="*/ 940200 h 1891359"/>
              <a:gd name="connsiteX2-527" fmla="*/ 13351 w 1792731"/>
              <a:gd name="connsiteY2-528" fmla="*/ 1737812 h 1891359"/>
              <a:gd name="connsiteX3-529" fmla="*/ 309435 w 1792731"/>
              <a:gd name="connsiteY3-530" fmla="*/ 1891359 h 1891359"/>
              <a:gd name="connsiteX4-531" fmla="*/ 1669435 w 1792731"/>
              <a:gd name="connsiteY4-532" fmla="*/ 1840637 h 1891359"/>
              <a:gd name="connsiteX5-533" fmla="*/ 1688563 w 1792731"/>
              <a:gd name="connsiteY5-534" fmla="*/ 1292355 h 1891359"/>
              <a:gd name="connsiteX6-535" fmla="*/ 1309780 w 1792731"/>
              <a:gd name="connsiteY6-536" fmla="*/ 1046341 h 1891359"/>
              <a:gd name="connsiteX7-537" fmla="*/ 1560208 w 1792731"/>
              <a:gd name="connsiteY7-538" fmla="*/ 672856 h 1891359"/>
              <a:gd name="connsiteX8-539" fmla="*/ 1428622 w 1792731"/>
              <a:gd name="connsiteY8-540" fmla="*/ 154877 h 1891359"/>
              <a:gd name="connsiteX9-541" fmla="*/ 930782 w 1792731"/>
              <a:gd name="connsiteY9-542" fmla="*/ 21205 h 1891359"/>
              <a:gd name="connsiteX10-543" fmla="*/ 452050 w 1792731"/>
              <a:gd name="connsiteY10-544" fmla="*/ 534641 h 1891359"/>
              <a:gd name="connsiteX0-545" fmla="*/ 452050 w 1814809"/>
              <a:gd name="connsiteY0-546" fmla="*/ 534641 h 1891359"/>
              <a:gd name="connsiteX1-547" fmla="*/ 91698 w 1814809"/>
              <a:gd name="connsiteY1-548" fmla="*/ 940200 h 1891359"/>
              <a:gd name="connsiteX2-549" fmla="*/ 13351 w 1814809"/>
              <a:gd name="connsiteY2-550" fmla="*/ 1737812 h 1891359"/>
              <a:gd name="connsiteX3-551" fmla="*/ 309435 w 1814809"/>
              <a:gd name="connsiteY3-552" fmla="*/ 1891359 h 1891359"/>
              <a:gd name="connsiteX4-553" fmla="*/ 1669435 w 1814809"/>
              <a:gd name="connsiteY4-554" fmla="*/ 1840637 h 1891359"/>
              <a:gd name="connsiteX5-555" fmla="*/ 1688563 w 1814809"/>
              <a:gd name="connsiteY5-556" fmla="*/ 1292355 h 1891359"/>
              <a:gd name="connsiteX6-557" fmla="*/ 1309780 w 1814809"/>
              <a:gd name="connsiteY6-558" fmla="*/ 1046341 h 1891359"/>
              <a:gd name="connsiteX7-559" fmla="*/ 1560208 w 1814809"/>
              <a:gd name="connsiteY7-560" fmla="*/ 672856 h 1891359"/>
              <a:gd name="connsiteX8-561" fmla="*/ 1428622 w 1814809"/>
              <a:gd name="connsiteY8-562" fmla="*/ 154877 h 1891359"/>
              <a:gd name="connsiteX9-563" fmla="*/ 930782 w 1814809"/>
              <a:gd name="connsiteY9-564" fmla="*/ 21205 h 1891359"/>
              <a:gd name="connsiteX10-565" fmla="*/ 452050 w 1814809"/>
              <a:gd name="connsiteY10-566" fmla="*/ 534641 h 1891359"/>
              <a:gd name="connsiteX0-567" fmla="*/ 452050 w 1814809"/>
              <a:gd name="connsiteY0-568" fmla="*/ 534641 h 1891359"/>
              <a:gd name="connsiteX1-569" fmla="*/ 91698 w 1814809"/>
              <a:gd name="connsiteY1-570" fmla="*/ 940200 h 1891359"/>
              <a:gd name="connsiteX2-571" fmla="*/ 13351 w 1814809"/>
              <a:gd name="connsiteY2-572" fmla="*/ 1737812 h 1891359"/>
              <a:gd name="connsiteX3-573" fmla="*/ 309435 w 1814809"/>
              <a:gd name="connsiteY3-574" fmla="*/ 1891359 h 1891359"/>
              <a:gd name="connsiteX4-575" fmla="*/ 1669435 w 1814809"/>
              <a:gd name="connsiteY4-576" fmla="*/ 1840637 h 1891359"/>
              <a:gd name="connsiteX5-577" fmla="*/ 1688563 w 1814809"/>
              <a:gd name="connsiteY5-578" fmla="*/ 1292355 h 1891359"/>
              <a:gd name="connsiteX6-579" fmla="*/ 1309780 w 1814809"/>
              <a:gd name="connsiteY6-580" fmla="*/ 1046341 h 1891359"/>
              <a:gd name="connsiteX7-581" fmla="*/ 1619996 w 1814809"/>
              <a:gd name="connsiteY7-582" fmla="*/ 526399 h 1891359"/>
              <a:gd name="connsiteX8-583" fmla="*/ 1428622 w 1814809"/>
              <a:gd name="connsiteY8-584" fmla="*/ 154877 h 1891359"/>
              <a:gd name="connsiteX9-585" fmla="*/ 930782 w 1814809"/>
              <a:gd name="connsiteY9-586" fmla="*/ 21205 h 1891359"/>
              <a:gd name="connsiteX10-587" fmla="*/ 452050 w 1814809"/>
              <a:gd name="connsiteY10-588" fmla="*/ 534641 h 1891359"/>
              <a:gd name="connsiteX0-589" fmla="*/ 452050 w 1814809"/>
              <a:gd name="connsiteY0-590" fmla="*/ 542872 h 1899590"/>
              <a:gd name="connsiteX1-591" fmla="*/ 91698 w 1814809"/>
              <a:gd name="connsiteY1-592" fmla="*/ 948431 h 1899590"/>
              <a:gd name="connsiteX2-593" fmla="*/ 13351 w 1814809"/>
              <a:gd name="connsiteY2-594" fmla="*/ 1746043 h 1899590"/>
              <a:gd name="connsiteX3-595" fmla="*/ 309435 w 1814809"/>
              <a:gd name="connsiteY3-596" fmla="*/ 1899590 h 1899590"/>
              <a:gd name="connsiteX4-597" fmla="*/ 1669435 w 1814809"/>
              <a:gd name="connsiteY4-598" fmla="*/ 1848868 h 1899590"/>
              <a:gd name="connsiteX5-599" fmla="*/ 1688563 w 1814809"/>
              <a:gd name="connsiteY5-600" fmla="*/ 1300586 h 1899590"/>
              <a:gd name="connsiteX6-601" fmla="*/ 1309780 w 1814809"/>
              <a:gd name="connsiteY6-602" fmla="*/ 1054572 h 1899590"/>
              <a:gd name="connsiteX7-603" fmla="*/ 1619996 w 1814809"/>
              <a:gd name="connsiteY7-604" fmla="*/ 534630 h 1899590"/>
              <a:gd name="connsiteX8-605" fmla="*/ 1488411 w 1814809"/>
              <a:gd name="connsiteY8-606" fmla="*/ 129049 h 1899590"/>
              <a:gd name="connsiteX9-607" fmla="*/ 930782 w 1814809"/>
              <a:gd name="connsiteY9-608" fmla="*/ 29436 h 1899590"/>
              <a:gd name="connsiteX10-609" fmla="*/ 452050 w 1814809"/>
              <a:gd name="connsiteY10-610" fmla="*/ 542872 h 1899590"/>
              <a:gd name="connsiteX0-611" fmla="*/ 452050 w 1814809"/>
              <a:gd name="connsiteY0-612" fmla="*/ 540513 h 1897231"/>
              <a:gd name="connsiteX1-613" fmla="*/ 91698 w 1814809"/>
              <a:gd name="connsiteY1-614" fmla="*/ 946072 h 1897231"/>
              <a:gd name="connsiteX2-615" fmla="*/ 13351 w 1814809"/>
              <a:gd name="connsiteY2-616" fmla="*/ 1743684 h 1897231"/>
              <a:gd name="connsiteX3-617" fmla="*/ 309435 w 1814809"/>
              <a:gd name="connsiteY3-618" fmla="*/ 1897231 h 1897231"/>
              <a:gd name="connsiteX4-619" fmla="*/ 1669435 w 1814809"/>
              <a:gd name="connsiteY4-620" fmla="*/ 1846509 h 1897231"/>
              <a:gd name="connsiteX5-621" fmla="*/ 1688563 w 1814809"/>
              <a:gd name="connsiteY5-622" fmla="*/ 1298227 h 1897231"/>
              <a:gd name="connsiteX6-623" fmla="*/ 1309780 w 1814809"/>
              <a:gd name="connsiteY6-624" fmla="*/ 1052213 h 1897231"/>
              <a:gd name="connsiteX7-625" fmla="*/ 1619996 w 1814809"/>
              <a:gd name="connsiteY7-626" fmla="*/ 532271 h 1897231"/>
              <a:gd name="connsiteX8-627" fmla="*/ 1488411 w 1814809"/>
              <a:gd name="connsiteY8-628" fmla="*/ 126690 h 1897231"/>
              <a:gd name="connsiteX9-629" fmla="*/ 930782 w 1814809"/>
              <a:gd name="connsiteY9-630" fmla="*/ 27077 h 1897231"/>
              <a:gd name="connsiteX10-631" fmla="*/ 452050 w 1814809"/>
              <a:gd name="connsiteY10-632" fmla="*/ 540513 h 1897231"/>
              <a:gd name="connsiteX0-633" fmla="*/ 452050 w 1814809"/>
              <a:gd name="connsiteY0-634" fmla="*/ 540513 h 1897231"/>
              <a:gd name="connsiteX1-635" fmla="*/ 91698 w 1814809"/>
              <a:gd name="connsiteY1-636" fmla="*/ 946072 h 1897231"/>
              <a:gd name="connsiteX2-637" fmla="*/ 13351 w 1814809"/>
              <a:gd name="connsiteY2-638" fmla="*/ 1743684 h 1897231"/>
              <a:gd name="connsiteX3-639" fmla="*/ 309435 w 1814809"/>
              <a:gd name="connsiteY3-640" fmla="*/ 1897231 h 1897231"/>
              <a:gd name="connsiteX4-641" fmla="*/ 1669435 w 1814809"/>
              <a:gd name="connsiteY4-642" fmla="*/ 1846509 h 1897231"/>
              <a:gd name="connsiteX5-643" fmla="*/ 1688563 w 1814809"/>
              <a:gd name="connsiteY5-644" fmla="*/ 1298227 h 1897231"/>
              <a:gd name="connsiteX6-645" fmla="*/ 1309780 w 1814809"/>
              <a:gd name="connsiteY6-646" fmla="*/ 1052213 h 1897231"/>
              <a:gd name="connsiteX7-647" fmla="*/ 1619996 w 1814809"/>
              <a:gd name="connsiteY7-648" fmla="*/ 532271 h 1897231"/>
              <a:gd name="connsiteX8-649" fmla="*/ 1488411 w 1814809"/>
              <a:gd name="connsiteY8-650" fmla="*/ 126690 h 1897231"/>
              <a:gd name="connsiteX9-651" fmla="*/ 930782 w 1814809"/>
              <a:gd name="connsiteY9-652" fmla="*/ 27077 h 1897231"/>
              <a:gd name="connsiteX10-653" fmla="*/ 452050 w 1814809"/>
              <a:gd name="connsiteY10-654" fmla="*/ 540513 h 1897231"/>
              <a:gd name="connsiteX0-655" fmla="*/ 288567 w 1811701"/>
              <a:gd name="connsiteY0-656" fmla="*/ 555674 h 1898251"/>
              <a:gd name="connsiteX1-657" fmla="*/ 88590 w 1811701"/>
              <a:gd name="connsiteY1-658" fmla="*/ 947092 h 1898251"/>
              <a:gd name="connsiteX2-659" fmla="*/ 10243 w 1811701"/>
              <a:gd name="connsiteY2-660" fmla="*/ 1744704 h 1898251"/>
              <a:gd name="connsiteX3-661" fmla="*/ 306327 w 1811701"/>
              <a:gd name="connsiteY3-662" fmla="*/ 1898251 h 1898251"/>
              <a:gd name="connsiteX4-663" fmla="*/ 1666327 w 1811701"/>
              <a:gd name="connsiteY4-664" fmla="*/ 1847529 h 1898251"/>
              <a:gd name="connsiteX5-665" fmla="*/ 1685455 w 1811701"/>
              <a:gd name="connsiteY5-666" fmla="*/ 1299247 h 1898251"/>
              <a:gd name="connsiteX6-667" fmla="*/ 1306672 w 1811701"/>
              <a:gd name="connsiteY6-668" fmla="*/ 1053233 h 1898251"/>
              <a:gd name="connsiteX7-669" fmla="*/ 1616888 w 1811701"/>
              <a:gd name="connsiteY7-670" fmla="*/ 533291 h 1898251"/>
              <a:gd name="connsiteX8-671" fmla="*/ 1485303 w 1811701"/>
              <a:gd name="connsiteY8-672" fmla="*/ 127710 h 1898251"/>
              <a:gd name="connsiteX9-673" fmla="*/ 927674 w 1811701"/>
              <a:gd name="connsiteY9-674" fmla="*/ 28097 h 1898251"/>
              <a:gd name="connsiteX10-675" fmla="*/ 288567 w 1811701"/>
              <a:gd name="connsiteY10-676" fmla="*/ 555674 h 1898251"/>
              <a:gd name="connsiteX0-677" fmla="*/ 288567 w 1811701"/>
              <a:gd name="connsiteY0-678" fmla="*/ 479828 h 1822405"/>
              <a:gd name="connsiteX1-679" fmla="*/ 88590 w 1811701"/>
              <a:gd name="connsiteY1-680" fmla="*/ 871246 h 1822405"/>
              <a:gd name="connsiteX2-681" fmla="*/ 10243 w 1811701"/>
              <a:gd name="connsiteY2-682" fmla="*/ 1668858 h 1822405"/>
              <a:gd name="connsiteX3-683" fmla="*/ 306327 w 1811701"/>
              <a:gd name="connsiteY3-684" fmla="*/ 1822405 h 1822405"/>
              <a:gd name="connsiteX4-685" fmla="*/ 1666327 w 1811701"/>
              <a:gd name="connsiteY4-686" fmla="*/ 1771683 h 1822405"/>
              <a:gd name="connsiteX5-687" fmla="*/ 1685455 w 1811701"/>
              <a:gd name="connsiteY5-688" fmla="*/ 1223401 h 1822405"/>
              <a:gd name="connsiteX6-689" fmla="*/ 1306672 w 1811701"/>
              <a:gd name="connsiteY6-690" fmla="*/ 977387 h 1822405"/>
              <a:gd name="connsiteX7-691" fmla="*/ 1616888 w 1811701"/>
              <a:gd name="connsiteY7-692" fmla="*/ 457445 h 1822405"/>
              <a:gd name="connsiteX8-693" fmla="*/ 1485303 w 1811701"/>
              <a:gd name="connsiteY8-694" fmla="*/ 51864 h 1822405"/>
              <a:gd name="connsiteX9-695" fmla="*/ 895599 w 1811701"/>
              <a:gd name="connsiteY9-696" fmla="*/ 79530 h 1822405"/>
              <a:gd name="connsiteX10-697" fmla="*/ 288567 w 1811701"/>
              <a:gd name="connsiteY10-698" fmla="*/ 479828 h 1822405"/>
              <a:gd name="connsiteX0-699" fmla="*/ 288567 w 1811701"/>
              <a:gd name="connsiteY0-700" fmla="*/ 419258 h 1761835"/>
              <a:gd name="connsiteX1-701" fmla="*/ 88590 w 1811701"/>
              <a:gd name="connsiteY1-702" fmla="*/ 810676 h 1761835"/>
              <a:gd name="connsiteX2-703" fmla="*/ 10243 w 1811701"/>
              <a:gd name="connsiteY2-704" fmla="*/ 1608288 h 1761835"/>
              <a:gd name="connsiteX3-705" fmla="*/ 306327 w 1811701"/>
              <a:gd name="connsiteY3-706" fmla="*/ 1761835 h 1761835"/>
              <a:gd name="connsiteX4-707" fmla="*/ 1666327 w 1811701"/>
              <a:gd name="connsiteY4-708" fmla="*/ 1711113 h 1761835"/>
              <a:gd name="connsiteX5-709" fmla="*/ 1685455 w 1811701"/>
              <a:gd name="connsiteY5-710" fmla="*/ 1162831 h 1761835"/>
              <a:gd name="connsiteX6-711" fmla="*/ 1306672 w 1811701"/>
              <a:gd name="connsiteY6-712" fmla="*/ 916817 h 1761835"/>
              <a:gd name="connsiteX7-713" fmla="*/ 1616888 w 1811701"/>
              <a:gd name="connsiteY7-714" fmla="*/ 396875 h 1761835"/>
              <a:gd name="connsiteX8-715" fmla="*/ 1373040 w 1811701"/>
              <a:gd name="connsiteY8-716" fmla="*/ 118574 h 1761835"/>
              <a:gd name="connsiteX9-717" fmla="*/ 895599 w 1811701"/>
              <a:gd name="connsiteY9-718" fmla="*/ 18960 h 1761835"/>
              <a:gd name="connsiteX10-719" fmla="*/ 288567 w 1811701"/>
              <a:gd name="connsiteY10-720" fmla="*/ 419258 h 1761835"/>
              <a:gd name="connsiteX0-721" fmla="*/ 288567 w 1811701"/>
              <a:gd name="connsiteY0-722" fmla="*/ 419258 h 1761835"/>
              <a:gd name="connsiteX1-723" fmla="*/ 88590 w 1811701"/>
              <a:gd name="connsiteY1-724" fmla="*/ 810676 h 1761835"/>
              <a:gd name="connsiteX2-725" fmla="*/ 10243 w 1811701"/>
              <a:gd name="connsiteY2-726" fmla="*/ 1608288 h 1761835"/>
              <a:gd name="connsiteX3-727" fmla="*/ 306327 w 1811701"/>
              <a:gd name="connsiteY3-728" fmla="*/ 1761835 h 1761835"/>
              <a:gd name="connsiteX4-729" fmla="*/ 1666327 w 1811701"/>
              <a:gd name="connsiteY4-730" fmla="*/ 1711113 h 1761835"/>
              <a:gd name="connsiteX5-731" fmla="*/ 1685455 w 1811701"/>
              <a:gd name="connsiteY5-732" fmla="*/ 1162831 h 1761835"/>
              <a:gd name="connsiteX6-733" fmla="*/ 1306672 w 1811701"/>
              <a:gd name="connsiteY6-734" fmla="*/ 916817 h 1761835"/>
              <a:gd name="connsiteX7-735" fmla="*/ 1584814 w 1811701"/>
              <a:gd name="connsiteY7-736" fmla="*/ 510012 h 1761835"/>
              <a:gd name="connsiteX8-737" fmla="*/ 1373040 w 1811701"/>
              <a:gd name="connsiteY8-738" fmla="*/ 118574 h 1761835"/>
              <a:gd name="connsiteX9-739" fmla="*/ 895599 w 1811701"/>
              <a:gd name="connsiteY9-740" fmla="*/ 18960 h 1761835"/>
              <a:gd name="connsiteX10-741" fmla="*/ 288567 w 1811701"/>
              <a:gd name="connsiteY10-742" fmla="*/ 419258 h 1761835"/>
              <a:gd name="connsiteX0-743" fmla="*/ 288567 w 1770444"/>
              <a:gd name="connsiteY0-744" fmla="*/ 419258 h 1761835"/>
              <a:gd name="connsiteX1-745" fmla="*/ 88590 w 1770444"/>
              <a:gd name="connsiteY1-746" fmla="*/ 810676 h 1761835"/>
              <a:gd name="connsiteX2-747" fmla="*/ 10243 w 1770444"/>
              <a:gd name="connsiteY2-748" fmla="*/ 1608288 h 1761835"/>
              <a:gd name="connsiteX3-749" fmla="*/ 306327 w 1770444"/>
              <a:gd name="connsiteY3-750" fmla="*/ 1761835 h 1761835"/>
              <a:gd name="connsiteX4-751" fmla="*/ 1666327 w 1770444"/>
              <a:gd name="connsiteY4-752" fmla="*/ 1711113 h 1761835"/>
              <a:gd name="connsiteX5-753" fmla="*/ 1589229 w 1770444"/>
              <a:gd name="connsiteY5-754" fmla="*/ 1176973 h 1761835"/>
              <a:gd name="connsiteX6-755" fmla="*/ 1306672 w 1770444"/>
              <a:gd name="connsiteY6-756" fmla="*/ 916817 h 1761835"/>
              <a:gd name="connsiteX7-757" fmla="*/ 1584814 w 1770444"/>
              <a:gd name="connsiteY7-758" fmla="*/ 510012 h 1761835"/>
              <a:gd name="connsiteX8-759" fmla="*/ 1373040 w 1770444"/>
              <a:gd name="connsiteY8-760" fmla="*/ 118574 h 1761835"/>
              <a:gd name="connsiteX9-761" fmla="*/ 895599 w 1770444"/>
              <a:gd name="connsiteY9-762" fmla="*/ 18960 h 1761835"/>
              <a:gd name="connsiteX10-763" fmla="*/ 288567 w 1770444"/>
              <a:gd name="connsiteY10-764" fmla="*/ 419258 h 1761835"/>
              <a:gd name="connsiteX0-765" fmla="*/ 288567 w 1592514"/>
              <a:gd name="connsiteY0-766" fmla="*/ 419258 h 1863058"/>
              <a:gd name="connsiteX1-767" fmla="*/ 88590 w 1592514"/>
              <a:gd name="connsiteY1-768" fmla="*/ 810676 h 1863058"/>
              <a:gd name="connsiteX2-769" fmla="*/ 10243 w 1592514"/>
              <a:gd name="connsiteY2-770" fmla="*/ 1608288 h 1863058"/>
              <a:gd name="connsiteX3-771" fmla="*/ 306327 w 1592514"/>
              <a:gd name="connsiteY3-772" fmla="*/ 1761835 h 1863058"/>
              <a:gd name="connsiteX4-773" fmla="*/ 1377650 w 1592514"/>
              <a:gd name="connsiteY4-774" fmla="*/ 1838393 h 1863058"/>
              <a:gd name="connsiteX5-775" fmla="*/ 1589229 w 1592514"/>
              <a:gd name="connsiteY5-776" fmla="*/ 1176973 h 1863058"/>
              <a:gd name="connsiteX6-777" fmla="*/ 1306672 w 1592514"/>
              <a:gd name="connsiteY6-778" fmla="*/ 916817 h 1863058"/>
              <a:gd name="connsiteX7-779" fmla="*/ 1584814 w 1592514"/>
              <a:gd name="connsiteY7-780" fmla="*/ 510012 h 1863058"/>
              <a:gd name="connsiteX8-781" fmla="*/ 1373040 w 1592514"/>
              <a:gd name="connsiteY8-782" fmla="*/ 118574 h 1863058"/>
              <a:gd name="connsiteX9-783" fmla="*/ 895599 w 1592514"/>
              <a:gd name="connsiteY9-784" fmla="*/ 18960 h 1863058"/>
              <a:gd name="connsiteX10-785" fmla="*/ 288567 w 1592514"/>
              <a:gd name="connsiteY10-786" fmla="*/ 419258 h 1863058"/>
              <a:gd name="connsiteX0-787" fmla="*/ 421322 w 1594935"/>
              <a:gd name="connsiteY0-788" fmla="*/ 616342 h 1876292"/>
              <a:gd name="connsiteX1-789" fmla="*/ 91011 w 1594935"/>
              <a:gd name="connsiteY1-790" fmla="*/ 823910 h 1876292"/>
              <a:gd name="connsiteX2-791" fmla="*/ 12664 w 1594935"/>
              <a:gd name="connsiteY2-792" fmla="*/ 1621522 h 1876292"/>
              <a:gd name="connsiteX3-793" fmla="*/ 308748 w 1594935"/>
              <a:gd name="connsiteY3-794" fmla="*/ 1775069 h 1876292"/>
              <a:gd name="connsiteX4-795" fmla="*/ 1380071 w 1594935"/>
              <a:gd name="connsiteY4-796" fmla="*/ 1851627 h 1876292"/>
              <a:gd name="connsiteX5-797" fmla="*/ 1591650 w 1594935"/>
              <a:gd name="connsiteY5-798" fmla="*/ 1190207 h 1876292"/>
              <a:gd name="connsiteX6-799" fmla="*/ 1309093 w 1594935"/>
              <a:gd name="connsiteY6-800" fmla="*/ 930051 h 1876292"/>
              <a:gd name="connsiteX7-801" fmla="*/ 1587235 w 1594935"/>
              <a:gd name="connsiteY7-802" fmla="*/ 523246 h 1876292"/>
              <a:gd name="connsiteX8-803" fmla="*/ 1375461 w 1594935"/>
              <a:gd name="connsiteY8-804" fmla="*/ 131808 h 1876292"/>
              <a:gd name="connsiteX9-805" fmla="*/ 898020 w 1594935"/>
              <a:gd name="connsiteY9-806" fmla="*/ 32194 h 1876292"/>
              <a:gd name="connsiteX10-807" fmla="*/ 421322 w 1594935"/>
              <a:gd name="connsiteY10-808" fmla="*/ 616342 h 1876292"/>
              <a:gd name="connsiteX0-809" fmla="*/ 413257 w 1586870"/>
              <a:gd name="connsiteY0-810" fmla="*/ 616342 h 1876292"/>
              <a:gd name="connsiteX1-811" fmla="*/ 140873 w 1586870"/>
              <a:gd name="connsiteY1-812" fmla="*/ 993617 h 1876292"/>
              <a:gd name="connsiteX2-813" fmla="*/ 4599 w 1586870"/>
              <a:gd name="connsiteY2-814" fmla="*/ 1621522 h 1876292"/>
              <a:gd name="connsiteX3-815" fmla="*/ 300683 w 1586870"/>
              <a:gd name="connsiteY3-816" fmla="*/ 1775069 h 1876292"/>
              <a:gd name="connsiteX4-817" fmla="*/ 1372006 w 1586870"/>
              <a:gd name="connsiteY4-818" fmla="*/ 1851627 h 1876292"/>
              <a:gd name="connsiteX5-819" fmla="*/ 1583585 w 1586870"/>
              <a:gd name="connsiteY5-820" fmla="*/ 1190207 h 1876292"/>
              <a:gd name="connsiteX6-821" fmla="*/ 1301028 w 1586870"/>
              <a:gd name="connsiteY6-822" fmla="*/ 930051 h 1876292"/>
              <a:gd name="connsiteX7-823" fmla="*/ 1579170 w 1586870"/>
              <a:gd name="connsiteY7-824" fmla="*/ 523246 h 1876292"/>
              <a:gd name="connsiteX8-825" fmla="*/ 1367396 w 1586870"/>
              <a:gd name="connsiteY8-826" fmla="*/ 131808 h 1876292"/>
              <a:gd name="connsiteX9-827" fmla="*/ 889955 w 1586870"/>
              <a:gd name="connsiteY9-828" fmla="*/ 32194 h 1876292"/>
              <a:gd name="connsiteX10-829" fmla="*/ 413257 w 1586870"/>
              <a:gd name="connsiteY10-830" fmla="*/ 616342 h 1876292"/>
              <a:gd name="connsiteX0-831" fmla="*/ 284962 w 1458575"/>
              <a:gd name="connsiteY0-832" fmla="*/ 616342 h 1908017"/>
              <a:gd name="connsiteX1-833" fmla="*/ 12578 w 1458575"/>
              <a:gd name="connsiteY1-834" fmla="*/ 993617 h 1908017"/>
              <a:gd name="connsiteX2-835" fmla="*/ 172388 w 1458575"/>
              <a:gd name="connsiteY2-836" fmla="*/ 1775069 h 1908017"/>
              <a:gd name="connsiteX3-837" fmla="*/ 1243711 w 1458575"/>
              <a:gd name="connsiteY3-838" fmla="*/ 1851627 h 1908017"/>
              <a:gd name="connsiteX4-839" fmla="*/ 1455290 w 1458575"/>
              <a:gd name="connsiteY4-840" fmla="*/ 1190207 h 1908017"/>
              <a:gd name="connsiteX5-841" fmla="*/ 1172733 w 1458575"/>
              <a:gd name="connsiteY5-842" fmla="*/ 930051 h 1908017"/>
              <a:gd name="connsiteX6-843" fmla="*/ 1450875 w 1458575"/>
              <a:gd name="connsiteY6-844" fmla="*/ 523246 h 1908017"/>
              <a:gd name="connsiteX7-845" fmla="*/ 1239101 w 1458575"/>
              <a:gd name="connsiteY7-846" fmla="*/ 131808 h 1908017"/>
              <a:gd name="connsiteX8-847" fmla="*/ 761660 w 1458575"/>
              <a:gd name="connsiteY8-848" fmla="*/ 32194 h 1908017"/>
              <a:gd name="connsiteX9-849" fmla="*/ 284962 w 1458575"/>
              <a:gd name="connsiteY9-850" fmla="*/ 616342 h 1908017"/>
              <a:gd name="connsiteX0-851" fmla="*/ 343858 w 1519131"/>
              <a:gd name="connsiteY0-852" fmla="*/ 616342 h 1885036"/>
              <a:gd name="connsiteX1-853" fmla="*/ 71474 w 1519131"/>
              <a:gd name="connsiteY1-854" fmla="*/ 993617 h 1885036"/>
              <a:gd name="connsiteX2-855" fmla="*/ 115432 w 1519131"/>
              <a:gd name="connsiteY2-856" fmla="*/ 1704358 h 1885036"/>
              <a:gd name="connsiteX3-857" fmla="*/ 1302607 w 1519131"/>
              <a:gd name="connsiteY3-858" fmla="*/ 1851627 h 1885036"/>
              <a:gd name="connsiteX4-859" fmla="*/ 1514186 w 1519131"/>
              <a:gd name="connsiteY4-860" fmla="*/ 1190207 h 1885036"/>
              <a:gd name="connsiteX5-861" fmla="*/ 1231629 w 1519131"/>
              <a:gd name="connsiteY5-862" fmla="*/ 930051 h 1885036"/>
              <a:gd name="connsiteX6-863" fmla="*/ 1509771 w 1519131"/>
              <a:gd name="connsiteY6-864" fmla="*/ 523246 h 1885036"/>
              <a:gd name="connsiteX7-865" fmla="*/ 1297997 w 1519131"/>
              <a:gd name="connsiteY7-866" fmla="*/ 131808 h 1885036"/>
              <a:gd name="connsiteX8-867" fmla="*/ 820556 w 1519131"/>
              <a:gd name="connsiteY8-868" fmla="*/ 32194 h 1885036"/>
              <a:gd name="connsiteX9-869" fmla="*/ 343858 w 1519131"/>
              <a:gd name="connsiteY9-870" fmla="*/ 616342 h 1885036"/>
              <a:gd name="connsiteX0-871" fmla="*/ 343858 w 1549812"/>
              <a:gd name="connsiteY0-872" fmla="*/ 616342 h 1800235"/>
              <a:gd name="connsiteX1-873" fmla="*/ 71474 w 1549812"/>
              <a:gd name="connsiteY1-874" fmla="*/ 993617 h 1800235"/>
              <a:gd name="connsiteX2-875" fmla="*/ 115432 w 1549812"/>
              <a:gd name="connsiteY2-876" fmla="*/ 1704358 h 1800235"/>
              <a:gd name="connsiteX3-877" fmla="*/ 1389496 w 1549812"/>
              <a:gd name="connsiteY3-878" fmla="*/ 1724347 h 1800235"/>
              <a:gd name="connsiteX4-879" fmla="*/ 1514186 w 1549812"/>
              <a:gd name="connsiteY4-880" fmla="*/ 1190207 h 1800235"/>
              <a:gd name="connsiteX5-881" fmla="*/ 1231629 w 1549812"/>
              <a:gd name="connsiteY5-882" fmla="*/ 930051 h 1800235"/>
              <a:gd name="connsiteX6-883" fmla="*/ 1509771 w 1549812"/>
              <a:gd name="connsiteY6-884" fmla="*/ 523246 h 1800235"/>
              <a:gd name="connsiteX7-885" fmla="*/ 1297997 w 1549812"/>
              <a:gd name="connsiteY7-886" fmla="*/ 131808 h 1800235"/>
              <a:gd name="connsiteX8-887" fmla="*/ 820556 w 1549812"/>
              <a:gd name="connsiteY8-888" fmla="*/ 32194 h 1800235"/>
              <a:gd name="connsiteX9-889" fmla="*/ 343858 w 1549812"/>
              <a:gd name="connsiteY9-890" fmla="*/ 616342 h 180023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235" y="connsiteY9-236"/>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13" name="Freeform 417"/>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sp>
        <p:nvSpPr>
          <p:cNvPr id="369" name="Rectangle 419"/>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370" name="AutoShape 420"/>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sp>
        <p:nvSpPr>
          <p:cNvPr id="21" name="Freeform 427"/>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endParaRPr lang="en-US" altLang="en-US" sz="1400" dirty="0">
              <a:latin typeface="+mn-lt"/>
            </a:endParaRPr>
          </a:p>
        </p:txBody>
      </p:sp>
      <p:sp>
        <p:nvSpPr>
          <p:cNvPr id="69" name="Text Box 580"/>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endParaRPr lang="en-US" altLang="en-US" sz="1400" dirty="0">
              <a:latin typeface="+mn-lt"/>
            </a:endParaRPr>
          </a:p>
        </p:txBody>
      </p:sp>
      <p:sp>
        <p:nvSpPr>
          <p:cNvPr id="70" name="Text Box 580"/>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endParaRPr lang="en-US" altLang="en-US" sz="1400" dirty="0">
              <a:latin typeface="+mn-lt"/>
            </a:endParaRPr>
          </a:p>
          <a:p>
            <a:pPr>
              <a:lnSpc>
                <a:spcPct val="80000"/>
              </a:lnSpc>
              <a:spcBef>
                <a:spcPct val="0"/>
              </a:spcBef>
              <a:buClrTx/>
              <a:buSzTx/>
              <a:buFontTx/>
              <a:buNone/>
            </a:pPr>
            <a:r>
              <a:rPr lang="en-US" altLang="en-US" sz="1400" dirty="0">
                <a:latin typeface="+mn-lt"/>
              </a:rPr>
              <a:t>          network</a:t>
            </a:r>
            <a:endParaRPr lang="en-US" altLang="en-US" sz="1400" dirty="0">
              <a:latin typeface="+mn-lt"/>
            </a:endParaRPr>
          </a:p>
        </p:txBody>
      </p:sp>
      <p:sp>
        <p:nvSpPr>
          <p:cNvPr id="372" name="Freeform 371"/>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1" fmla="*/ 434989 w 1537226"/>
              <a:gd name="connsiteY0-2" fmla="*/ 253346 h 1763594"/>
              <a:gd name="connsiteX1-3" fmla="*/ 488 w 1537226"/>
              <a:gd name="connsiteY1-4" fmla="*/ 921706 h 1763594"/>
              <a:gd name="connsiteX2-5" fmla="*/ 368142 w 1537226"/>
              <a:gd name="connsiteY2-6" fmla="*/ 1489812 h 1763594"/>
              <a:gd name="connsiteX3-7" fmla="*/ 1187008 w 1537226"/>
              <a:gd name="connsiteY3-8" fmla="*/ 1757156 h 1763594"/>
              <a:gd name="connsiteX4-9" fmla="*/ 1521239 w 1537226"/>
              <a:gd name="connsiteY4-10" fmla="*/ 1239177 h 1763594"/>
              <a:gd name="connsiteX5-11" fmla="*/ 1468998 w 1537226"/>
              <a:gd name="connsiteY5-12" fmla="*/ 654362 h 1763594"/>
              <a:gd name="connsiteX6-13" fmla="*/ 1337412 w 1537226"/>
              <a:gd name="connsiteY6-14" fmla="*/ 136383 h 1763594"/>
              <a:gd name="connsiteX7-15" fmla="*/ 1086739 w 1537226"/>
              <a:gd name="connsiteY7-16" fmla="*/ 2711 h 1763594"/>
              <a:gd name="connsiteX8-17" fmla="*/ 434989 w 1537226"/>
              <a:gd name="connsiteY8-18" fmla="*/ 253346 h 1763594"/>
              <a:gd name="connsiteX0-19" fmla="*/ 434989 w 1537226"/>
              <a:gd name="connsiteY0-20" fmla="*/ 253346 h 1763594"/>
              <a:gd name="connsiteX1-21" fmla="*/ 488 w 1537226"/>
              <a:gd name="connsiteY1-22" fmla="*/ 921706 h 1763594"/>
              <a:gd name="connsiteX2-23" fmla="*/ 368142 w 1537226"/>
              <a:gd name="connsiteY2-24" fmla="*/ 1489812 h 1763594"/>
              <a:gd name="connsiteX3-25" fmla="*/ 1187008 w 1537226"/>
              <a:gd name="connsiteY3-26" fmla="*/ 1757156 h 1763594"/>
              <a:gd name="connsiteX4-27" fmla="*/ 1521239 w 1537226"/>
              <a:gd name="connsiteY4-28" fmla="*/ 1239177 h 1763594"/>
              <a:gd name="connsiteX5-29" fmla="*/ 1468998 w 1537226"/>
              <a:gd name="connsiteY5-30" fmla="*/ 654362 h 1763594"/>
              <a:gd name="connsiteX6-31" fmla="*/ 1337412 w 1537226"/>
              <a:gd name="connsiteY6-32" fmla="*/ 136383 h 1763594"/>
              <a:gd name="connsiteX7-33" fmla="*/ 839572 w 1537226"/>
              <a:gd name="connsiteY7-34" fmla="*/ 2711 h 1763594"/>
              <a:gd name="connsiteX8-35" fmla="*/ 434989 w 1537226"/>
              <a:gd name="connsiteY8-36" fmla="*/ 253346 h 1763594"/>
              <a:gd name="connsiteX0-37" fmla="*/ 360357 w 1536743"/>
              <a:gd name="connsiteY0-38" fmla="*/ 534641 h 1782088"/>
              <a:gd name="connsiteX1-39" fmla="*/ 5 w 1536743"/>
              <a:gd name="connsiteY1-40" fmla="*/ 940200 h 1782088"/>
              <a:gd name="connsiteX2-41" fmla="*/ 367659 w 1536743"/>
              <a:gd name="connsiteY2-42" fmla="*/ 1508306 h 1782088"/>
              <a:gd name="connsiteX3-43" fmla="*/ 1186525 w 1536743"/>
              <a:gd name="connsiteY3-44" fmla="*/ 1775650 h 1782088"/>
              <a:gd name="connsiteX4-45" fmla="*/ 1520756 w 1536743"/>
              <a:gd name="connsiteY4-46" fmla="*/ 1257671 h 1782088"/>
              <a:gd name="connsiteX5-47" fmla="*/ 1468515 w 1536743"/>
              <a:gd name="connsiteY5-48" fmla="*/ 672856 h 1782088"/>
              <a:gd name="connsiteX6-49" fmla="*/ 1336929 w 1536743"/>
              <a:gd name="connsiteY6-50" fmla="*/ 154877 h 1782088"/>
              <a:gd name="connsiteX7-51" fmla="*/ 839089 w 1536743"/>
              <a:gd name="connsiteY7-52" fmla="*/ 21205 h 1782088"/>
              <a:gd name="connsiteX8-53" fmla="*/ 360357 w 1536743"/>
              <a:gd name="connsiteY8-54" fmla="*/ 534641 h 1782088"/>
              <a:gd name="connsiteX0-55" fmla="*/ 360355 w 1536741"/>
              <a:gd name="connsiteY0-56" fmla="*/ 534641 h 1782088"/>
              <a:gd name="connsiteX1-57" fmla="*/ 3 w 1536741"/>
              <a:gd name="connsiteY1-58" fmla="*/ 940200 h 1782088"/>
              <a:gd name="connsiteX2-59" fmla="*/ 367657 w 1536741"/>
              <a:gd name="connsiteY2-60" fmla="*/ 1508306 h 1782088"/>
              <a:gd name="connsiteX3-61" fmla="*/ 1186523 w 1536741"/>
              <a:gd name="connsiteY3-62" fmla="*/ 1775650 h 1782088"/>
              <a:gd name="connsiteX4-63" fmla="*/ 1520754 w 1536741"/>
              <a:gd name="connsiteY4-64" fmla="*/ 1257671 h 1782088"/>
              <a:gd name="connsiteX5-65" fmla="*/ 1468513 w 1536741"/>
              <a:gd name="connsiteY5-66" fmla="*/ 672856 h 1782088"/>
              <a:gd name="connsiteX6-67" fmla="*/ 1336927 w 1536741"/>
              <a:gd name="connsiteY6-68" fmla="*/ 154877 h 1782088"/>
              <a:gd name="connsiteX7-69" fmla="*/ 839087 w 1536741"/>
              <a:gd name="connsiteY7-70" fmla="*/ 21205 h 1782088"/>
              <a:gd name="connsiteX8-71" fmla="*/ 360355 w 1536741"/>
              <a:gd name="connsiteY8-72" fmla="*/ 534641 h 1782088"/>
              <a:gd name="connsiteX0-73" fmla="*/ 360355 w 1534770"/>
              <a:gd name="connsiteY0-74" fmla="*/ 553225 h 1800672"/>
              <a:gd name="connsiteX1-75" fmla="*/ 3 w 1534770"/>
              <a:gd name="connsiteY1-76" fmla="*/ 958784 h 1800672"/>
              <a:gd name="connsiteX2-77" fmla="*/ 367657 w 1534770"/>
              <a:gd name="connsiteY2-78" fmla="*/ 1526890 h 1800672"/>
              <a:gd name="connsiteX3-79" fmla="*/ 1186523 w 1534770"/>
              <a:gd name="connsiteY3-80" fmla="*/ 1794234 h 1800672"/>
              <a:gd name="connsiteX4-81" fmla="*/ 1520754 w 1534770"/>
              <a:gd name="connsiteY4-82" fmla="*/ 1276255 h 1800672"/>
              <a:gd name="connsiteX5-83" fmla="*/ 1468513 w 1534770"/>
              <a:gd name="connsiteY5-84" fmla="*/ 691440 h 1800672"/>
              <a:gd name="connsiteX6-85" fmla="*/ 1435794 w 1534770"/>
              <a:gd name="connsiteY6-86" fmla="*/ 107761 h 1800672"/>
              <a:gd name="connsiteX7-87" fmla="*/ 839087 w 1534770"/>
              <a:gd name="connsiteY7-88" fmla="*/ 39789 h 1800672"/>
              <a:gd name="connsiteX8-89" fmla="*/ 360355 w 1534770"/>
              <a:gd name="connsiteY8-90" fmla="*/ 553225 h 1800672"/>
              <a:gd name="connsiteX0-91" fmla="*/ 360355 w 1580585"/>
              <a:gd name="connsiteY0-92" fmla="*/ 553225 h 1880420"/>
              <a:gd name="connsiteX1-93" fmla="*/ 3 w 1580585"/>
              <a:gd name="connsiteY1-94" fmla="*/ 958784 h 1880420"/>
              <a:gd name="connsiteX2-95" fmla="*/ 367657 w 1580585"/>
              <a:gd name="connsiteY2-96" fmla="*/ 1526890 h 1880420"/>
              <a:gd name="connsiteX3-97" fmla="*/ 1186523 w 1580585"/>
              <a:gd name="connsiteY3-98" fmla="*/ 1794234 h 1880420"/>
              <a:gd name="connsiteX4-99" fmla="*/ 1570188 w 1580585"/>
              <a:gd name="connsiteY4-100" fmla="*/ 1785433 h 1880420"/>
              <a:gd name="connsiteX5-101" fmla="*/ 1468513 w 1580585"/>
              <a:gd name="connsiteY5-102" fmla="*/ 691440 h 1880420"/>
              <a:gd name="connsiteX6-103" fmla="*/ 1435794 w 1580585"/>
              <a:gd name="connsiteY6-104" fmla="*/ 107761 h 1880420"/>
              <a:gd name="connsiteX7-105" fmla="*/ 839087 w 1580585"/>
              <a:gd name="connsiteY7-106" fmla="*/ 39789 h 1880420"/>
              <a:gd name="connsiteX8-107" fmla="*/ 360355 w 1580585"/>
              <a:gd name="connsiteY8-108" fmla="*/ 553225 h 1880420"/>
              <a:gd name="connsiteX0-109" fmla="*/ 316588 w 1580732"/>
              <a:gd name="connsiteY0-110" fmla="*/ 359285 h 1867156"/>
              <a:gd name="connsiteX1-111" fmla="*/ 150 w 1580732"/>
              <a:gd name="connsiteY1-112" fmla="*/ 945520 h 1867156"/>
              <a:gd name="connsiteX2-113" fmla="*/ 367804 w 1580732"/>
              <a:gd name="connsiteY2-114" fmla="*/ 1513626 h 1867156"/>
              <a:gd name="connsiteX3-115" fmla="*/ 1186670 w 1580732"/>
              <a:gd name="connsiteY3-116" fmla="*/ 1780970 h 1867156"/>
              <a:gd name="connsiteX4-117" fmla="*/ 1570335 w 1580732"/>
              <a:gd name="connsiteY4-118" fmla="*/ 1772169 h 1867156"/>
              <a:gd name="connsiteX5-119" fmla="*/ 1468660 w 1580732"/>
              <a:gd name="connsiteY5-120" fmla="*/ 678176 h 1867156"/>
              <a:gd name="connsiteX6-121" fmla="*/ 1435941 w 1580732"/>
              <a:gd name="connsiteY6-122" fmla="*/ 94497 h 1867156"/>
              <a:gd name="connsiteX7-123" fmla="*/ 839234 w 1580732"/>
              <a:gd name="connsiteY7-124" fmla="*/ 26525 h 1867156"/>
              <a:gd name="connsiteX8-125" fmla="*/ 316588 w 1580732"/>
              <a:gd name="connsiteY8-126" fmla="*/ 359285 h 1867156"/>
              <a:gd name="connsiteX0-127" fmla="*/ 163575 w 1427719"/>
              <a:gd name="connsiteY0-128" fmla="*/ 359285 h 1867156"/>
              <a:gd name="connsiteX1-129" fmla="*/ 836 w 1427719"/>
              <a:gd name="connsiteY1-130" fmla="*/ 1076921 h 1867156"/>
              <a:gd name="connsiteX2-131" fmla="*/ 214791 w 1427719"/>
              <a:gd name="connsiteY2-132" fmla="*/ 1513626 h 1867156"/>
              <a:gd name="connsiteX3-133" fmla="*/ 1033657 w 1427719"/>
              <a:gd name="connsiteY3-134" fmla="*/ 1780970 h 1867156"/>
              <a:gd name="connsiteX4-135" fmla="*/ 1417322 w 1427719"/>
              <a:gd name="connsiteY4-136" fmla="*/ 1772169 h 1867156"/>
              <a:gd name="connsiteX5-137" fmla="*/ 1315647 w 1427719"/>
              <a:gd name="connsiteY5-138" fmla="*/ 678176 h 1867156"/>
              <a:gd name="connsiteX6-139" fmla="*/ 1282928 w 1427719"/>
              <a:gd name="connsiteY6-140" fmla="*/ 94497 h 1867156"/>
              <a:gd name="connsiteX7-141" fmla="*/ 686221 w 1427719"/>
              <a:gd name="connsiteY7-142" fmla="*/ 26525 h 1867156"/>
              <a:gd name="connsiteX8-143" fmla="*/ 163575 w 1427719"/>
              <a:gd name="connsiteY8-144" fmla="*/ 359285 h 1867156"/>
              <a:gd name="connsiteX0-145" fmla="*/ 163575 w 1426632"/>
              <a:gd name="connsiteY0-146" fmla="*/ 394322 h 1902193"/>
              <a:gd name="connsiteX1-147" fmla="*/ 836 w 1426632"/>
              <a:gd name="connsiteY1-148" fmla="*/ 1111958 h 1902193"/>
              <a:gd name="connsiteX2-149" fmla="*/ 214791 w 1426632"/>
              <a:gd name="connsiteY2-150" fmla="*/ 1548663 h 1902193"/>
              <a:gd name="connsiteX3-151" fmla="*/ 1033657 w 1426632"/>
              <a:gd name="connsiteY3-152" fmla="*/ 1816007 h 1902193"/>
              <a:gd name="connsiteX4-153" fmla="*/ 1417322 w 1426632"/>
              <a:gd name="connsiteY4-154" fmla="*/ 1807206 h 1902193"/>
              <a:gd name="connsiteX5-155" fmla="*/ 1315647 w 1426632"/>
              <a:gd name="connsiteY5-156" fmla="*/ 713213 h 1902193"/>
              <a:gd name="connsiteX6-157" fmla="*/ 1401843 w 1426632"/>
              <a:gd name="connsiteY6-158" fmla="*/ 63834 h 1902193"/>
              <a:gd name="connsiteX7-159" fmla="*/ 686221 w 1426632"/>
              <a:gd name="connsiteY7-160" fmla="*/ 61562 h 1902193"/>
              <a:gd name="connsiteX8-161" fmla="*/ 163575 w 1426632"/>
              <a:gd name="connsiteY8-162" fmla="*/ 394322 h 1902193"/>
              <a:gd name="connsiteX0-163" fmla="*/ 163575 w 1435249"/>
              <a:gd name="connsiteY0-164" fmla="*/ 394322 h 1885560"/>
              <a:gd name="connsiteX1-165" fmla="*/ 836 w 1435249"/>
              <a:gd name="connsiteY1-166" fmla="*/ 1111958 h 1885560"/>
              <a:gd name="connsiteX2-167" fmla="*/ 214791 w 1435249"/>
              <a:gd name="connsiteY2-168" fmla="*/ 1548663 h 1885560"/>
              <a:gd name="connsiteX3-169" fmla="*/ 1033657 w 1435249"/>
              <a:gd name="connsiteY3-170" fmla="*/ 1816007 h 1885560"/>
              <a:gd name="connsiteX4-171" fmla="*/ 1417322 w 1435249"/>
              <a:gd name="connsiteY4-172" fmla="*/ 1807206 h 1885560"/>
              <a:gd name="connsiteX5-173" fmla="*/ 1375103 w 1435249"/>
              <a:gd name="connsiteY5-174" fmla="*/ 943164 h 1885560"/>
              <a:gd name="connsiteX6-175" fmla="*/ 1401843 w 1435249"/>
              <a:gd name="connsiteY6-176" fmla="*/ 63834 h 1885560"/>
              <a:gd name="connsiteX7-177" fmla="*/ 686221 w 1435249"/>
              <a:gd name="connsiteY7-178" fmla="*/ 61562 h 1885560"/>
              <a:gd name="connsiteX8-179" fmla="*/ 163575 w 1435249"/>
              <a:gd name="connsiteY8-180" fmla="*/ 394322 h 1885560"/>
              <a:gd name="connsiteX0-181" fmla="*/ 128947 w 1438213"/>
              <a:gd name="connsiteY0-182" fmla="*/ 345176 h 1883146"/>
              <a:gd name="connsiteX1-183" fmla="*/ 3802 w 1438213"/>
              <a:gd name="connsiteY1-184" fmla="*/ 1109544 h 1883146"/>
              <a:gd name="connsiteX2-185" fmla="*/ 217757 w 1438213"/>
              <a:gd name="connsiteY2-186" fmla="*/ 1546249 h 1883146"/>
              <a:gd name="connsiteX3-187" fmla="*/ 1036623 w 1438213"/>
              <a:gd name="connsiteY3-188" fmla="*/ 1813593 h 1883146"/>
              <a:gd name="connsiteX4-189" fmla="*/ 1420288 w 1438213"/>
              <a:gd name="connsiteY4-190" fmla="*/ 1804792 h 1883146"/>
              <a:gd name="connsiteX5-191" fmla="*/ 1378069 w 1438213"/>
              <a:gd name="connsiteY5-192" fmla="*/ 940750 h 1883146"/>
              <a:gd name="connsiteX6-193" fmla="*/ 1404809 w 1438213"/>
              <a:gd name="connsiteY6-194" fmla="*/ 61420 h 1883146"/>
              <a:gd name="connsiteX7-195" fmla="*/ 689187 w 1438213"/>
              <a:gd name="connsiteY7-196" fmla="*/ 59148 h 1883146"/>
              <a:gd name="connsiteX8-197" fmla="*/ 128947 w 1438213"/>
              <a:gd name="connsiteY8-198" fmla="*/ 345176 h 1883146"/>
              <a:gd name="connsiteX0-199" fmla="*/ 126587 w 1435854"/>
              <a:gd name="connsiteY0-200" fmla="*/ 353278 h 1891248"/>
              <a:gd name="connsiteX1-201" fmla="*/ 1442 w 1435854"/>
              <a:gd name="connsiteY1-202" fmla="*/ 1117646 h 1891248"/>
              <a:gd name="connsiteX2-203" fmla="*/ 215397 w 1435854"/>
              <a:gd name="connsiteY2-204" fmla="*/ 1554351 h 1891248"/>
              <a:gd name="connsiteX3-205" fmla="*/ 1034263 w 1435854"/>
              <a:gd name="connsiteY3-206" fmla="*/ 1821695 h 1891248"/>
              <a:gd name="connsiteX4-207" fmla="*/ 1417928 w 1435854"/>
              <a:gd name="connsiteY4-208" fmla="*/ 1812894 h 1891248"/>
              <a:gd name="connsiteX5-209" fmla="*/ 1375709 w 1435854"/>
              <a:gd name="connsiteY5-210" fmla="*/ 948852 h 1891248"/>
              <a:gd name="connsiteX6-211" fmla="*/ 1402449 w 1435854"/>
              <a:gd name="connsiteY6-212" fmla="*/ 69522 h 1891248"/>
              <a:gd name="connsiteX7-213" fmla="*/ 221605 w 1435854"/>
              <a:gd name="connsiteY7-214" fmla="*/ 47778 h 1891248"/>
              <a:gd name="connsiteX8-215" fmla="*/ 126587 w 1435854"/>
              <a:gd name="connsiteY8-216" fmla="*/ 353278 h 1891248"/>
              <a:gd name="connsiteX0-217" fmla="*/ 35803 w 1453152"/>
              <a:gd name="connsiteY0-218" fmla="*/ 439993 h 1896181"/>
              <a:gd name="connsiteX1-219" fmla="*/ 18740 w 1453152"/>
              <a:gd name="connsiteY1-220" fmla="*/ 1122579 h 1896181"/>
              <a:gd name="connsiteX2-221" fmla="*/ 232695 w 1453152"/>
              <a:gd name="connsiteY2-222" fmla="*/ 1559284 h 1896181"/>
              <a:gd name="connsiteX3-223" fmla="*/ 1051561 w 1453152"/>
              <a:gd name="connsiteY3-224" fmla="*/ 1826628 h 1896181"/>
              <a:gd name="connsiteX4-225" fmla="*/ 1435226 w 1453152"/>
              <a:gd name="connsiteY4-226" fmla="*/ 1817827 h 1896181"/>
              <a:gd name="connsiteX5-227" fmla="*/ 1393007 w 1453152"/>
              <a:gd name="connsiteY5-228" fmla="*/ 953785 h 1896181"/>
              <a:gd name="connsiteX6-229" fmla="*/ 1419747 w 1453152"/>
              <a:gd name="connsiteY6-230" fmla="*/ 74455 h 1896181"/>
              <a:gd name="connsiteX7-231" fmla="*/ 238903 w 1453152"/>
              <a:gd name="connsiteY7-232" fmla="*/ 52711 h 1896181"/>
              <a:gd name="connsiteX8-233" fmla="*/ 35803 w 1453152"/>
              <a:gd name="connsiteY8-234" fmla="*/ 439993 h 1896181"/>
              <a:gd name="connsiteX0-235" fmla="*/ 35803 w 1447873"/>
              <a:gd name="connsiteY0-236" fmla="*/ 439993 h 1952840"/>
              <a:gd name="connsiteX1-237" fmla="*/ 18740 w 1447873"/>
              <a:gd name="connsiteY1-238" fmla="*/ 1122579 h 1952840"/>
              <a:gd name="connsiteX2-239" fmla="*/ 232695 w 1447873"/>
              <a:gd name="connsiteY2-240" fmla="*/ 1559284 h 1952840"/>
              <a:gd name="connsiteX3-241" fmla="*/ 1130848 w 1447873"/>
              <a:gd name="connsiteY3-242" fmla="*/ 1925181 h 1952840"/>
              <a:gd name="connsiteX4-243" fmla="*/ 1435226 w 1447873"/>
              <a:gd name="connsiteY4-244" fmla="*/ 1817827 h 1952840"/>
              <a:gd name="connsiteX5-245" fmla="*/ 1393007 w 1447873"/>
              <a:gd name="connsiteY5-246" fmla="*/ 953785 h 1952840"/>
              <a:gd name="connsiteX6-247" fmla="*/ 1419747 w 1447873"/>
              <a:gd name="connsiteY6-248" fmla="*/ 74455 h 1952840"/>
              <a:gd name="connsiteX7-249" fmla="*/ 238903 w 1447873"/>
              <a:gd name="connsiteY7-250" fmla="*/ 52711 h 1952840"/>
              <a:gd name="connsiteX8-251" fmla="*/ 35803 w 1447873"/>
              <a:gd name="connsiteY8-252" fmla="*/ 439993 h 195284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grpSp>
        <p:nvGrpSpPr>
          <p:cNvPr id="374" name="Group 373"/>
          <p:cNvGrpSpPr/>
          <p:nvPr/>
        </p:nvGrpSpPr>
        <p:grpSpPr>
          <a:xfrm>
            <a:off x="10837700" y="3928050"/>
            <a:ext cx="687393" cy="721548"/>
            <a:chOff x="5203089" y="1751190"/>
            <a:chExt cx="858331" cy="662414"/>
          </a:xfrm>
        </p:grpSpPr>
        <p:sp>
          <p:nvSpPr>
            <p:cNvPr id="382" name="Freeform 381"/>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1" fmla="*/ 3618 w 651290"/>
                <a:gd name="connsiteY0-2" fmla="*/ 593378 h 593378"/>
                <a:gd name="connsiteX1-3" fmla="*/ 0 w 651290"/>
                <a:gd name="connsiteY1-4" fmla="*/ 242416 h 593378"/>
                <a:gd name="connsiteX2-5" fmla="*/ 423338 w 651290"/>
                <a:gd name="connsiteY2-6" fmla="*/ 101308 h 593378"/>
                <a:gd name="connsiteX3-7" fmla="*/ 647672 w 651290"/>
                <a:gd name="connsiteY3-8" fmla="*/ 0 h 593378"/>
                <a:gd name="connsiteX4-9" fmla="*/ 651290 w 651290"/>
                <a:gd name="connsiteY4-10" fmla="*/ 593378 h 593378"/>
                <a:gd name="connsiteX5-11" fmla="*/ 3618 w 651290"/>
                <a:gd name="connsiteY5-12" fmla="*/ 593378 h 593378"/>
                <a:gd name="connsiteX0-13" fmla="*/ 3618 w 651290"/>
                <a:gd name="connsiteY0-14" fmla="*/ 662124 h 662124"/>
                <a:gd name="connsiteX1-15" fmla="*/ 0 w 651290"/>
                <a:gd name="connsiteY1-16" fmla="*/ 311162 h 662124"/>
                <a:gd name="connsiteX2-17" fmla="*/ 376300 w 651290"/>
                <a:gd name="connsiteY2-18" fmla="*/ 0 h 662124"/>
                <a:gd name="connsiteX3-19" fmla="*/ 647672 w 651290"/>
                <a:gd name="connsiteY3-20" fmla="*/ 68746 h 662124"/>
                <a:gd name="connsiteX4-21" fmla="*/ 651290 w 651290"/>
                <a:gd name="connsiteY4-22" fmla="*/ 662124 h 662124"/>
                <a:gd name="connsiteX5-23" fmla="*/ 3618 w 651290"/>
                <a:gd name="connsiteY5-24" fmla="*/ 662124 h 662124"/>
                <a:gd name="connsiteX0-25" fmla="*/ 0 w 647672"/>
                <a:gd name="connsiteY0-26" fmla="*/ 662124 h 662124"/>
                <a:gd name="connsiteX1-27" fmla="*/ 123021 w 647672"/>
                <a:gd name="connsiteY1-28" fmla="*/ 83217 h 662124"/>
                <a:gd name="connsiteX2-29" fmla="*/ 372682 w 647672"/>
                <a:gd name="connsiteY2-30" fmla="*/ 0 h 662124"/>
                <a:gd name="connsiteX3-31" fmla="*/ 644054 w 647672"/>
                <a:gd name="connsiteY3-32" fmla="*/ 68746 h 662124"/>
                <a:gd name="connsiteX4-33" fmla="*/ 647672 w 647672"/>
                <a:gd name="connsiteY4-34" fmla="*/ 662124 h 662124"/>
                <a:gd name="connsiteX5-35" fmla="*/ 0 w 647672"/>
                <a:gd name="connsiteY5-36" fmla="*/ 662124 h 662124"/>
                <a:gd name="connsiteX0-37" fmla="*/ 7238 w 524651"/>
                <a:gd name="connsiteY0-38" fmla="*/ 669360 h 669360"/>
                <a:gd name="connsiteX1-39" fmla="*/ 0 w 524651"/>
                <a:gd name="connsiteY1-40" fmla="*/ 83217 h 669360"/>
                <a:gd name="connsiteX2-41" fmla="*/ 249661 w 524651"/>
                <a:gd name="connsiteY2-42" fmla="*/ 0 h 669360"/>
                <a:gd name="connsiteX3-43" fmla="*/ 521033 w 524651"/>
                <a:gd name="connsiteY3-44" fmla="*/ 68746 h 669360"/>
                <a:gd name="connsiteX4-45" fmla="*/ 524651 w 524651"/>
                <a:gd name="connsiteY4-46" fmla="*/ 662124 h 669360"/>
                <a:gd name="connsiteX5-47" fmla="*/ 7238 w 524651"/>
                <a:gd name="connsiteY5-48" fmla="*/ 669360 h 669360"/>
                <a:gd name="connsiteX0-49" fmla="*/ 438 w 528706"/>
                <a:gd name="connsiteY0-50" fmla="*/ 665742 h 665742"/>
                <a:gd name="connsiteX1-51" fmla="*/ 4055 w 528706"/>
                <a:gd name="connsiteY1-52" fmla="*/ 83217 h 665742"/>
                <a:gd name="connsiteX2-53" fmla="*/ 253716 w 528706"/>
                <a:gd name="connsiteY2-54" fmla="*/ 0 h 665742"/>
                <a:gd name="connsiteX3-55" fmla="*/ 525088 w 528706"/>
                <a:gd name="connsiteY3-56" fmla="*/ 68746 h 665742"/>
                <a:gd name="connsiteX4-57" fmla="*/ 528706 w 528706"/>
                <a:gd name="connsiteY4-58" fmla="*/ 662124 h 665742"/>
                <a:gd name="connsiteX5-59" fmla="*/ 438 w 528706"/>
                <a:gd name="connsiteY5-60" fmla="*/ 665742 h 665742"/>
                <a:gd name="connsiteX0-61" fmla="*/ 155 w 546514"/>
                <a:gd name="connsiteY0-62" fmla="*/ 662124 h 662124"/>
                <a:gd name="connsiteX1-63" fmla="*/ 21863 w 546514"/>
                <a:gd name="connsiteY1-64" fmla="*/ 83217 h 662124"/>
                <a:gd name="connsiteX2-65" fmla="*/ 271524 w 546514"/>
                <a:gd name="connsiteY2-66" fmla="*/ 0 h 662124"/>
                <a:gd name="connsiteX3-67" fmla="*/ 542896 w 546514"/>
                <a:gd name="connsiteY3-68" fmla="*/ 68746 h 662124"/>
                <a:gd name="connsiteX4-69" fmla="*/ 546514 w 546514"/>
                <a:gd name="connsiteY4-70" fmla="*/ 662124 h 662124"/>
                <a:gd name="connsiteX5-71" fmla="*/ 155 w 546514"/>
                <a:gd name="connsiteY5-72" fmla="*/ 662124 h 662124"/>
                <a:gd name="connsiteX0-73" fmla="*/ 10856 w 524651"/>
                <a:gd name="connsiteY0-74" fmla="*/ 658506 h 662124"/>
                <a:gd name="connsiteX1-75" fmla="*/ 0 w 524651"/>
                <a:gd name="connsiteY1-76" fmla="*/ 83217 h 662124"/>
                <a:gd name="connsiteX2-77" fmla="*/ 249661 w 524651"/>
                <a:gd name="connsiteY2-78" fmla="*/ 0 h 662124"/>
                <a:gd name="connsiteX3-79" fmla="*/ 521033 w 524651"/>
                <a:gd name="connsiteY3-80" fmla="*/ 68746 h 662124"/>
                <a:gd name="connsiteX4-81" fmla="*/ 524651 w 524651"/>
                <a:gd name="connsiteY4-82" fmla="*/ 662124 h 662124"/>
                <a:gd name="connsiteX5-83" fmla="*/ 10856 w 524651"/>
                <a:gd name="connsiteY5-84" fmla="*/ 658506 h 66212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383" name="Freeform 382"/>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cxnSp>
          <p:nvCxnSpPr>
            <p:cNvPr id="384" name="Straight Connector 383"/>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p:cNvGrpSpPr/>
          <p:nvPr/>
        </p:nvGrpSpPr>
        <p:grpSpPr>
          <a:xfrm>
            <a:off x="10771171" y="3194171"/>
            <a:ext cx="594613" cy="648336"/>
            <a:chOff x="5203089" y="1751190"/>
            <a:chExt cx="858331" cy="662414"/>
          </a:xfrm>
        </p:grpSpPr>
        <p:sp>
          <p:nvSpPr>
            <p:cNvPr id="399" name="Freeform 398"/>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1" fmla="*/ 3618 w 651290"/>
                <a:gd name="connsiteY0-2" fmla="*/ 593378 h 593378"/>
                <a:gd name="connsiteX1-3" fmla="*/ 0 w 651290"/>
                <a:gd name="connsiteY1-4" fmla="*/ 242416 h 593378"/>
                <a:gd name="connsiteX2-5" fmla="*/ 423338 w 651290"/>
                <a:gd name="connsiteY2-6" fmla="*/ 101308 h 593378"/>
                <a:gd name="connsiteX3-7" fmla="*/ 647672 w 651290"/>
                <a:gd name="connsiteY3-8" fmla="*/ 0 h 593378"/>
                <a:gd name="connsiteX4-9" fmla="*/ 651290 w 651290"/>
                <a:gd name="connsiteY4-10" fmla="*/ 593378 h 593378"/>
                <a:gd name="connsiteX5-11" fmla="*/ 3618 w 651290"/>
                <a:gd name="connsiteY5-12" fmla="*/ 593378 h 593378"/>
                <a:gd name="connsiteX0-13" fmla="*/ 3618 w 651290"/>
                <a:gd name="connsiteY0-14" fmla="*/ 662124 h 662124"/>
                <a:gd name="connsiteX1-15" fmla="*/ 0 w 651290"/>
                <a:gd name="connsiteY1-16" fmla="*/ 311162 h 662124"/>
                <a:gd name="connsiteX2-17" fmla="*/ 376300 w 651290"/>
                <a:gd name="connsiteY2-18" fmla="*/ 0 h 662124"/>
                <a:gd name="connsiteX3-19" fmla="*/ 647672 w 651290"/>
                <a:gd name="connsiteY3-20" fmla="*/ 68746 h 662124"/>
                <a:gd name="connsiteX4-21" fmla="*/ 651290 w 651290"/>
                <a:gd name="connsiteY4-22" fmla="*/ 662124 h 662124"/>
                <a:gd name="connsiteX5-23" fmla="*/ 3618 w 651290"/>
                <a:gd name="connsiteY5-24" fmla="*/ 662124 h 662124"/>
                <a:gd name="connsiteX0-25" fmla="*/ 0 w 647672"/>
                <a:gd name="connsiteY0-26" fmla="*/ 662124 h 662124"/>
                <a:gd name="connsiteX1-27" fmla="*/ 123021 w 647672"/>
                <a:gd name="connsiteY1-28" fmla="*/ 83217 h 662124"/>
                <a:gd name="connsiteX2-29" fmla="*/ 372682 w 647672"/>
                <a:gd name="connsiteY2-30" fmla="*/ 0 h 662124"/>
                <a:gd name="connsiteX3-31" fmla="*/ 644054 w 647672"/>
                <a:gd name="connsiteY3-32" fmla="*/ 68746 h 662124"/>
                <a:gd name="connsiteX4-33" fmla="*/ 647672 w 647672"/>
                <a:gd name="connsiteY4-34" fmla="*/ 662124 h 662124"/>
                <a:gd name="connsiteX5-35" fmla="*/ 0 w 647672"/>
                <a:gd name="connsiteY5-36" fmla="*/ 662124 h 662124"/>
                <a:gd name="connsiteX0-37" fmla="*/ 7238 w 524651"/>
                <a:gd name="connsiteY0-38" fmla="*/ 669360 h 669360"/>
                <a:gd name="connsiteX1-39" fmla="*/ 0 w 524651"/>
                <a:gd name="connsiteY1-40" fmla="*/ 83217 h 669360"/>
                <a:gd name="connsiteX2-41" fmla="*/ 249661 w 524651"/>
                <a:gd name="connsiteY2-42" fmla="*/ 0 h 669360"/>
                <a:gd name="connsiteX3-43" fmla="*/ 521033 w 524651"/>
                <a:gd name="connsiteY3-44" fmla="*/ 68746 h 669360"/>
                <a:gd name="connsiteX4-45" fmla="*/ 524651 w 524651"/>
                <a:gd name="connsiteY4-46" fmla="*/ 662124 h 669360"/>
                <a:gd name="connsiteX5-47" fmla="*/ 7238 w 524651"/>
                <a:gd name="connsiteY5-48" fmla="*/ 669360 h 669360"/>
                <a:gd name="connsiteX0-49" fmla="*/ 438 w 528706"/>
                <a:gd name="connsiteY0-50" fmla="*/ 665742 h 665742"/>
                <a:gd name="connsiteX1-51" fmla="*/ 4055 w 528706"/>
                <a:gd name="connsiteY1-52" fmla="*/ 83217 h 665742"/>
                <a:gd name="connsiteX2-53" fmla="*/ 253716 w 528706"/>
                <a:gd name="connsiteY2-54" fmla="*/ 0 h 665742"/>
                <a:gd name="connsiteX3-55" fmla="*/ 525088 w 528706"/>
                <a:gd name="connsiteY3-56" fmla="*/ 68746 h 665742"/>
                <a:gd name="connsiteX4-57" fmla="*/ 528706 w 528706"/>
                <a:gd name="connsiteY4-58" fmla="*/ 662124 h 665742"/>
                <a:gd name="connsiteX5-59" fmla="*/ 438 w 528706"/>
                <a:gd name="connsiteY5-60" fmla="*/ 665742 h 665742"/>
                <a:gd name="connsiteX0-61" fmla="*/ 155 w 546514"/>
                <a:gd name="connsiteY0-62" fmla="*/ 662124 h 662124"/>
                <a:gd name="connsiteX1-63" fmla="*/ 21863 w 546514"/>
                <a:gd name="connsiteY1-64" fmla="*/ 83217 h 662124"/>
                <a:gd name="connsiteX2-65" fmla="*/ 271524 w 546514"/>
                <a:gd name="connsiteY2-66" fmla="*/ 0 h 662124"/>
                <a:gd name="connsiteX3-67" fmla="*/ 542896 w 546514"/>
                <a:gd name="connsiteY3-68" fmla="*/ 68746 h 662124"/>
                <a:gd name="connsiteX4-69" fmla="*/ 546514 w 546514"/>
                <a:gd name="connsiteY4-70" fmla="*/ 662124 h 662124"/>
                <a:gd name="connsiteX5-71" fmla="*/ 155 w 546514"/>
                <a:gd name="connsiteY5-72" fmla="*/ 662124 h 662124"/>
                <a:gd name="connsiteX0-73" fmla="*/ 10856 w 524651"/>
                <a:gd name="connsiteY0-74" fmla="*/ 658506 h 662124"/>
                <a:gd name="connsiteX1-75" fmla="*/ 0 w 524651"/>
                <a:gd name="connsiteY1-76" fmla="*/ 83217 h 662124"/>
                <a:gd name="connsiteX2-77" fmla="*/ 249661 w 524651"/>
                <a:gd name="connsiteY2-78" fmla="*/ 0 h 662124"/>
                <a:gd name="connsiteX3-79" fmla="*/ 521033 w 524651"/>
                <a:gd name="connsiteY3-80" fmla="*/ 68746 h 662124"/>
                <a:gd name="connsiteX4-81" fmla="*/ 524651 w 524651"/>
                <a:gd name="connsiteY4-82" fmla="*/ 662124 h 662124"/>
                <a:gd name="connsiteX5-83" fmla="*/ 10856 w 524651"/>
                <a:gd name="connsiteY5-84" fmla="*/ 658506 h 66212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400" name="Freeform 399"/>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cxnSp>
          <p:nvCxnSpPr>
            <p:cNvPr id="401" name="Straight Connector 400"/>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1" fmla="*/ 434989 w 1537226"/>
              <a:gd name="connsiteY0-2" fmla="*/ 253346 h 1763594"/>
              <a:gd name="connsiteX1-3" fmla="*/ 488 w 1537226"/>
              <a:gd name="connsiteY1-4" fmla="*/ 921706 h 1763594"/>
              <a:gd name="connsiteX2-5" fmla="*/ 368142 w 1537226"/>
              <a:gd name="connsiteY2-6" fmla="*/ 1489812 h 1763594"/>
              <a:gd name="connsiteX3-7" fmla="*/ 1187008 w 1537226"/>
              <a:gd name="connsiteY3-8" fmla="*/ 1757156 h 1763594"/>
              <a:gd name="connsiteX4-9" fmla="*/ 1521239 w 1537226"/>
              <a:gd name="connsiteY4-10" fmla="*/ 1239177 h 1763594"/>
              <a:gd name="connsiteX5-11" fmla="*/ 1468998 w 1537226"/>
              <a:gd name="connsiteY5-12" fmla="*/ 654362 h 1763594"/>
              <a:gd name="connsiteX6-13" fmla="*/ 1337412 w 1537226"/>
              <a:gd name="connsiteY6-14" fmla="*/ 136383 h 1763594"/>
              <a:gd name="connsiteX7-15" fmla="*/ 1086739 w 1537226"/>
              <a:gd name="connsiteY7-16" fmla="*/ 2711 h 1763594"/>
              <a:gd name="connsiteX8-17" fmla="*/ 434989 w 1537226"/>
              <a:gd name="connsiteY8-18" fmla="*/ 253346 h 1763594"/>
              <a:gd name="connsiteX0-19" fmla="*/ 434989 w 1537226"/>
              <a:gd name="connsiteY0-20" fmla="*/ 253346 h 1763594"/>
              <a:gd name="connsiteX1-21" fmla="*/ 488 w 1537226"/>
              <a:gd name="connsiteY1-22" fmla="*/ 921706 h 1763594"/>
              <a:gd name="connsiteX2-23" fmla="*/ 368142 w 1537226"/>
              <a:gd name="connsiteY2-24" fmla="*/ 1489812 h 1763594"/>
              <a:gd name="connsiteX3-25" fmla="*/ 1187008 w 1537226"/>
              <a:gd name="connsiteY3-26" fmla="*/ 1757156 h 1763594"/>
              <a:gd name="connsiteX4-27" fmla="*/ 1521239 w 1537226"/>
              <a:gd name="connsiteY4-28" fmla="*/ 1239177 h 1763594"/>
              <a:gd name="connsiteX5-29" fmla="*/ 1468998 w 1537226"/>
              <a:gd name="connsiteY5-30" fmla="*/ 654362 h 1763594"/>
              <a:gd name="connsiteX6-31" fmla="*/ 1337412 w 1537226"/>
              <a:gd name="connsiteY6-32" fmla="*/ 136383 h 1763594"/>
              <a:gd name="connsiteX7-33" fmla="*/ 839572 w 1537226"/>
              <a:gd name="connsiteY7-34" fmla="*/ 2711 h 1763594"/>
              <a:gd name="connsiteX8-35" fmla="*/ 434989 w 1537226"/>
              <a:gd name="connsiteY8-36" fmla="*/ 253346 h 1763594"/>
              <a:gd name="connsiteX0-37" fmla="*/ 360357 w 1536743"/>
              <a:gd name="connsiteY0-38" fmla="*/ 534641 h 1782088"/>
              <a:gd name="connsiteX1-39" fmla="*/ 5 w 1536743"/>
              <a:gd name="connsiteY1-40" fmla="*/ 940200 h 1782088"/>
              <a:gd name="connsiteX2-41" fmla="*/ 367659 w 1536743"/>
              <a:gd name="connsiteY2-42" fmla="*/ 1508306 h 1782088"/>
              <a:gd name="connsiteX3-43" fmla="*/ 1186525 w 1536743"/>
              <a:gd name="connsiteY3-44" fmla="*/ 1775650 h 1782088"/>
              <a:gd name="connsiteX4-45" fmla="*/ 1520756 w 1536743"/>
              <a:gd name="connsiteY4-46" fmla="*/ 1257671 h 1782088"/>
              <a:gd name="connsiteX5-47" fmla="*/ 1468515 w 1536743"/>
              <a:gd name="connsiteY5-48" fmla="*/ 672856 h 1782088"/>
              <a:gd name="connsiteX6-49" fmla="*/ 1336929 w 1536743"/>
              <a:gd name="connsiteY6-50" fmla="*/ 154877 h 1782088"/>
              <a:gd name="connsiteX7-51" fmla="*/ 839089 w 1536743"/>
              <a:gd name="connsiteY7-52" fmla="*/ 21205 h 1782088"/>
              <a:gd name="connsiteX8-53" fmla="*/ 360357 w 1536743"/>
              <a:gd name="connsiteY8-54" fmla="*/ 534641 h 1782088"/>
              <a:gd name="connsiteX0-55" fmla="*/ 360355 w 1536741"/>
              <a:gd name="connsiteY0-56" fmla="*/ 534641 h 1782088"/>
              <a:gd name="connsiteX1-57" fmla="*/ 3 w 1536741"/>
              <a:gd name="connsiteY1-58" fmla="*/ 940200 h 1782088"/>
              <a:gd name="connsiteX2-59" fmla="*/ 367657 w 1536741"/>
              <a:gd name="connsiteY2-60" fmla="*/ 1508306 h 1782088"/>
              <a:gd name="connsiteX3-61" fmla="*/ 1186523 w 1536741"/>
              <a:gd name="connsiteY3-62" fmla="*/ 1775650 h 1782088"/>
              <a:gd name="connsiteX4-63" fmla="*/ 1520754 w 1536741"/>
              <a:gd name="connsiteY4-64" fmla="*/ 1257671 h 1782088"/>
              <a:gd name="connsiteX5-65" fmla="*/ 1468513 w 1536741"/>
              <a:gd name="connsiteY5-66" fmla="*/ 672856 h 1782088"/>
              <a:gd name="connsiteX6-67" fmla="*/ 1336927 w 1536741"/>
              <a:gd name="connsiteY6-68" fmla="*/ 154877 h 1782088"/>
              <a:gd name="connsiteX7-69" fmla="*/ 839087 w 1536741"/>
              <a:gd name="connsiteY7-70" fmla="*/ 21205 h 1782088"/>
              <a:gd name="connsiteX8-71" fmla="*/ 360355 w 1536741"/>
              <a:gd name="connsiteY8-72" fmla="*/ 534641 h 1782088"/>
              <a:gd name="connsiteX0-73" fmla="*/ 360355 w 1494463"/>
              <a:gd name="connsiteY0-74" fmla="*/ 534641 h 1775651"/>
              <a:gd name="connsiteX1-75" fmla="*/ 3 w 1494463"/>
              <a:gd name="connsiteY1-76" fmla="*/ 940200 h 1775651"/>
              <a:gd name="connsiteX2-77" fmla="*/ 367657 w 1494463"/>
              <a:gd name="connsiteY2-78" fmla="*/ 1508306 h 1775651"/>
              <a:gd name="connsiteX3-79" fmla="*/ 1186523 w 1494463"/>
              <a:gd name="connsiteY3-80" fmla="*/ 1775650 h 1775651"/>
              <a:gd name="connsiteX4-81" fmla="*/ 1467465 w 1494463"/>
              <a:gd name="connsiteY4-82" fmla="*/ 1510813 h 1775651"/>
              <a:gd name="connsiteX5-83" fmla="*/ 1468513 w 1494463"/>
              <a:gd name="connsiteY5-84" fmla="*/ 672856 h 1775651"/>
              <a:gd name="connsiteX6-85" fmla="*/ 1336927 w 1494463"/>
              <a:gd name="connsiteY6-86" fmla="*/ 154877 h 1775651"/>
              <a:gd name="connsiteX7-87" fmla="*/ 839087 w 1494463"/>
              <a:gd name="connsiteY7-88" fmla="*/ 21205 h 1775651"/>
              <a:gd name="connsiteX8-89" fmla="*/ 360355 w 1494463"/>
              <a:gd name="connsiteY8-90" fmla="*/ 534641 h 1775651"/>
              <a:gd name="connsiteX0-91" fmla="*/ 360355 w 1491064"/>
              <a:gd name="connsiteY0-92" fmla="*/ 552327 h 1793337"/>
              <a:gd name="connsiteX1-93" fmla="*/ 3 w 1491064"/>
              <a:gd name="connsiteY1-94" fmla="*/ 957886 h 1793337"/>
              <a:gd name="connsiteX2-95" fmla="*/ 367657 w 1491064"/>
              <a:gd name="connsiteY2-96" fmla="*/ 1525992 h 1793337"/>
              <a:gd name="connsiteX3-97" fmla="*/ 1186523 w 1491064"/>
              <a:gd name="connsiteY3-98" fmla="*/ 1793336 h 1793337"/>
              <a:gd name="connsiteX4-99" fmla="*/ 1467465 w 1491064"/>
              <a:gd name="connsiteY4-100" fmla="*/ 1528499 h 1793337"/>
              <a:gd name="connsiteX5-101" fmla="*/ 1468513 w 1491064"/>
              <a:gd name="connsiteY5-102" fmla="*/ 690542 h 1793337"/>
              <a:gd name="connsiteX6-103" fmla="*/ 1407977 w 1491064"/>
              <a:gd name="connsiteY6-104" fmla="*/ 109278 h 1793337"/>
              <a:gd name="connsiteX7-105" fmla="*/ 839087 w 1491064"/>
              <a:gd name="connsiteY7-106" fmla="*/ 38891 h 1793337"/>
              <a:gd name="connsiteX8-107" fmla="*/ 360355 w 1491064"/>
              <a:gd name="connsiteY8-108" fmla="*/ 552327 h 1793337"/>
              <a:gd name="connsiteX0-109" fmla="*/ 360355 w 1502818"/>
              <a:gd name="connsiteY0-110" fmla="*/ 552327 h 1612281"/>
              <a:gd name="connsiteX1-111" fmla="*/ 3 w 1502818"/>
              <a:gd name="connsiteY1-112" fmla="*/ 957886 h 1612281"/>
              <a:gd name="connsiteX2-113" fmla="*/ 367657 w 1502818"/>
              <a:gd name="connsiteY2-114" fmla="*/ 1525992 h 1612281"/>
              <a:gd name="connsiteX3-115" fmla="*/ 1026659 w 1502818"/>
              <a:gd name="connsiteY3-116" fmla="*/ 1582385 h 1612281"/>
              <a:gd name="connsiteX4-117" fmla="*/ 1467465 w 1502818"/>
              <a:gd name="connsiteY4-118" fmla="*/ 1528499 h 1612281"/>
              <a:gd name="connsiteX5-119" fmla="*/ 1468513 w 1502818"/>
              <a:gd name="connsiteY5-120" fmla="*/ 690542 h 1612281"/>
              <a:gd name="connsiteX6-121" fmla="*/ 1407977 w 1502818"/>
              <a:gd name="connsiteY6-122" fmla="*/ 109278 h 1612281"/>
              <a:gd name="connsiteX7-123" fmla="*/ 839087 w 1502818"/>
              <a:gd name="connsiteY7-124" fmla="*/ 38891 h 1612281"/>
              <a:gd name="connsiteX8-125" fmla="*/ 360355 w 1502818"/>
              <a:gd name="connsiteY8-126" fmla="*/ 552327 h 1612281"/>
              <a:gd name="connsiteX0-127" fmla="*/ 360384 w 1502847"/>
              <a:gd name="connsiteY0-128" fmla="*/ 552327 h 1803602"/>
              <a:gd name="connsiteX1-129" fmla="*/ 32 w 1502847"/>
              <a:gd name="connsiteY1-130" fmla="*/ 957886 h 1803602"/>
              <a:gd name="connsiteX2-131" fmla="*/ 385448 w 1502847"/>
              <a:gd name="connsiteY2-132" fmla="*/ 1779134 h 1803602"/>
              <a:gd name="connsiteX3-133" fmla="*/ 1026688 w 1502847"/>
              <a:gd name="connsiteY3-134" fmla="*/ 1582385 h 1803602"/>
              <a:gd name="connsiteX4-135" fmla="*/ 1467494 w 1502847"/>
              <a:gd name="connsiteY4-136" fmla="*/ 1528499 h 1803602"/>
              <a:gd name="connsiteX5-137" fmla="*/ 1468542 w 1502847"/>
              <a:gd name="connsiteY5-138" fmla="*/ 690542 h 1803602"/>
              <a:gd name="connsiteX6-139" fmla="*/ 1408006 w 1502847"/>
              <a:gd name="connsiteY6-140" fmla="*/ 109278 h 1803602"/>
              <a:gd name="connsiteX7-141" fmla="*/ 839116 w 1502847"/>
              <a:gd name="connsiteY7-142" fmla="*/ 38891 h 1803602"/>
              <a:gd name="connsiteX8-143" fmla="*/ 360384 w 1502847"/>
              <a:gd name="connsiteY8-144" fmla="*/ 552327 h 1803602"/>
              <a:gd name="connsiteX0-145" fmla="*/ 360384 w 1502847"/>
              <a:gd name="connsiteY0-146" fmla="*/ 552327 h 1826319"/>
              <a:gd name="connsiteX1-147" fmla="*/ 32 w 1502847"/>
              <a:gd name="connsiteY1-148" fmla="*/ 957886 h 1826319"/>
              <a:gd name="connsiteX2-149" fmla="*/ 385448 w 1502847"/>
              <a:gd name="connsiteY2-150" fmla="*/ 1779134 h 1826319"/>
              <a:gd name="connsiteX3-151" fmla="*/ 1026688 w 1502847"/>
              <a:gd name="connsiteY3-152" fmla="*/ 1582385 h 1826319"/>
              <a:gd name="connsiteX4-153" fmla="*/ 1467494 w 1502847"/>
              <a:gd name="connsiteY4-154" fmla="*/ 1528499 h 1826319"/>
              <a:gd name="connsiteX5-155" fmla="*/ 1468542 w 1502847"/>
              <a:gd name="connsiteY5-156" fmla="*/ 690542 h 1826319"/>
              <a:gd name="connsiteX6-157" fmla="*/ 1408006 w 1502847"/>
              <a:gd name="connsiteY6-158" fmla="*/ 109278 h 1826319"/>
              <a:gd name="connsiteX7-159" fmla="*/ 839116 w 1502847"/>
              <a:gd name="connsiteY7-160" fmla="*/ 38891 h 1826319"/>
              <a:gd name="connsiteX8-161" fmla="*/ 360384 w 1502847"/>
              <a:gd name="connsiteY8-162" fmla="*/ 552327 h 1826319"/>
              <a:gd name="connsiteX0-163" fmla="*/ 289852 w 1503366"/>
              <a:gd name="connsiteY0-164" fmla="*/ 461730 h 1820101"/>
              <a:gd name="connsiteX1-165" fmla="*/ 551 w 1503366"/>
              <a:gd name="connsiteY1-166" fmla="*/ 951668 h 1820101"/>
              <a:gd name="connsiteX2-167" fmla="*/ 385967 w 1503366"/>
              <a:gd name="connsiteY2-168" fmla="*/ 1772916 h 1820101"/>
              <a:gd name="connsiteX3-169" fmla="*/ 1027207 w 1503366"/>
              <a:gd name="connsiteY3-170" fmla="*/ 1576167 h 1820101"/>
              <a:gd name="connsiteX4-171" fmla="*/ 1468013 w 1503366"/>
              <a:gd name="connsiteY4-172" fmla="*/ 1522281 h 1820101"/>
              <a:gd name="connsiteX5-173" fmla="*/ 1469061 w 1503366"/>
              <a:gd name="connsiteY5-174" fmla="*/ 684324 h 1820101"/>
              <a:gd name="connsiteX6-175" fmla="*/ 1408525 w 1503366"/>
              <a:gd name="connsiteY6-176" fmla="*/ 103060 h 1820101"/>
              <a:gd name="connsiteX7-177" fmla="*/ 839635 w 1503366"/>
              <a:gd name="connsiteY7-178" fmla="*/ 32673 h 1820101"/>
              <a:gd name="connsiteX8-179" fmla="*/ 289852 w 1503366"/>
              <a:gd name="connsiteY8-180" fmla="*/ 461730 h 1820101"/>
              <a:gd name="connsiteX0-181" fmla="*/ 293376 w 1506890"/>
              <a:gd name="connsiteY0-182" fmla="*/ 461730 h 1820101"/>
              <a:gd name="connsiteX1-183" fmla="*/ 4075 w 1506890"/>
              <a:gd name="connsiteY1-184" fmla="*/ 951668 h 1820101"/>
              <a:gd name="connsiteX2-185" fmla="*/ 389491 w 1506890"/>
              <a:gd name="connsiteY2-186" fmla="*/ 1772916 h 1820101"/>
              <a:gd name="connsiteX3-187" fmla="*/ 1030731 w 1506890"/>
              <a:gd name="connsiteY3-188" fmla="*/ 1576167 h 1820101"/>
              <a:gd name="connsiteX4-189" fmla="*/ 1471537 w 1506890"/>
              <a:gd name="connsiteY4-190" fmla="*/ 1522281 h 1820101"/>
              <a:gd name="connsiteX5-191" fmla="*/ 1472585 w 1506890"/>
              <a:gd name="connsiteY5-192" fmla="*/ 684324 h 1820101"/>
              <a:gd name="connsiteX6-193" fmla="*/ 1412049 w 1506890"/>
              <a:gd name="connsiteY6-194" fmla="*/ 103060 h 1820101"/>
              <a:gd name="connsiteX7-195" fmla="*/ 843159 w 1506890"/>
              <a:gd name="connsiteY7-196" fmla="*/ 32673 h 1820101"/>
              <a:gd name="connsiteX8-197" fmla="*/ 293376 w 1506890"/>
              <a:gd name="connsiteY8-198" fmla="*/ 461730 h 1820101"/>
              <a:gd name="connsiteX0-199" fmla="*/ 203955 w 1545103"/>
              <a:gd name="connsiteY0-200" fmla="*/ 206126 h 1802639"/>
              <a:gd name="connsiteX1-201" fmla="*/ 42288 w 1545103"/>
              <a:gd name="connsiteY1-202" fmla="*/ 934206 h 1802639"/>
              <a:gd name="connsiteX2-203" fmla="*/ 427704 w 1545103"/>
              <a:gd name="connsiteY2-204" fmla="*/ 1755454 h 1802639"/>
              <a:gd name="connsiteX3-205" fmla="*/ 1068944 w 1545103"/>
              <a:gd name="connsiteY3-206" fmla="*/ 1558705 h 1802639"/>
              <a:gd name="connsiteX4-207" fmla="*/ 1509750 w 1545103"/>
              <a:gd name="connsiteY4-208" fmla="*/ 1504819 h 1802639"/>
              <a:gd name="connsiteX5-209" fmla="*/ 1510798 w 1545103"/>
              <a:gd name="connsiteY5-210" fmla="*/ 666862 h 1802639"/>
              <a:gd name="connsiteX6-211" fmla="*/ 1450262 w 1545103"/>
              <a:gd name="connsiteY6-212" fmla="*/ 85598 h 1802639"/>
              <a:gd name="connsiteX7-213" fmla="*/ 881372 w 1545103"/>
              <a:gd name="connsiteY7-214" fmla="*/ 15211 h 1802639"/>
              <a:gd name="connsiteX8-215" fmla="*/ 203955 w 1545103"/>
              <a:gd name="connsiteY8-216" fmla="*/ 206126 h 1802639"/>
              <a:gd name="connsiteX0-217" fmla="*/ 147252 w 1634267"/>
              <a:gd name="connsiteY0-218" fmla="*/ 113266 h 1796376"/>
              <a:gd name="connsiteX1-219" fmla="*/ 131452 w 1634267"/>
              <a:gd name="connsiteY1-220" fmla="*/ 927943 h 1796376"/>
              <a:gd name="connsiteX2-221" fmla="*/ 516868 w 1634267"/>
              <a:gd name="connsiteY2-222" fmla="*/ 1749191 h 1796376"/>
              <a:gd name="connsiteX3-223" fmla="*/ 1158108 w 1634267"/>
              <a:gd name="connsiteY3-224" fmla="*/ 1552442 h 1796376"/>
              <a:gd name="connsiteX4-225" fmla="*/ 1598914 w 1634267"/>
              <a:gd name="connsiteY4-226" fmla="*/ 1498556 h 1796376"/>
              <a:gd name="connsiteX5-227" fmla="*/ 1599962 w 1634267"/>
              <a:gd name="connsiteY5-228" fmla="*/ 660599 h 1796376"/>
              <a:gd name="connsiteX6-229" fmla="*/ 1539426 w 1634267"/>
              <a:gd name="connsiteY6-230" fmla="*/ 79335 h 1796376"/>
              <a:gd name="connsiteX7-231" fmla="*/ 970536 w 1634267"/>
              <a:gd name="connsiteY7-232" fmla="*/ 8948 h 1796376"/>
              <a:gd name="connsiteX8-233" fmla="*/ 147252 w 1634267"/>
              <a:gd name="connsiteY8-234" fmla="*/ 113266 h 179637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573" name="TextBox 572"/>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endParaRPr lang="en-US" sz="1400" dirty="0"/>
          </a:p>
        </p:txBody>
      </p:sp>
      <p:sp>
        <p:nvSpPr>
          <p:cNvPr id="655" name="Rectangle 654"/>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endParaRPr lang="en-US" sz="1400" dirty="0"/>
          </a:p>
        </p:txBody>
      </p:sp>
      <p:sp>
        <p:nvSpPr>
          <p:cNvPr id="657" name="TextBox 656"/>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endParaRPr lang="en-US" sz="1050" dirty="0"/>
          </a:p>
          <a:p>
            <a:pPr>
              <a:lnSpc>
                <a:spcPct val="90000"/>
              </a:lnSpc>
            </a:pPr>
            <a:r>
              <a:rPr lang="en-US" sz="1050" dirty="0"/>
              <a:t>network</a:t>
            </a:r>
            <a:endParaRPr lang="en-US" sz="1050" dirty="0"/>
          </a:p>
        </p:txBody>
      </p:sp>
      <p:sp>
        <p:nvSpPr>
          <p:cNvPr id="658" name="TextBox 657"/>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endParaRPr lang="en-US" sz="1400" dirty="0"/>
          </a:p>
          <a:p>
            <a:pPr>
              <a:lnSpc>
                <a:spcPct val="90000"/>
              </a:lnSpc>
            </a:pPr>
            <a:r>
              <a:rPr lang="en-US" sz="1400" dirty="0"/>
              <a:t>provider </a:t>
            </a:r>
            <a:endParaRPr lang="en-US" sz="1400" dirty="0"/>
          </a:p>
          <a:p>
            <a:pPr>
              <a:lnSpc>
                <a:spcPct val="90000"/>
              </a:lnSpc>
            </a:pPr>
            <a:r>
              <a:rPr lang="en-US" sz="1400" dirty="0"/>
              <a:t>network</a:t>
            </a:r>
            <a:endParaRPr lang="en-US" sz="1000" dirty="0"/>
          </a:p>
        </p:txBody>
      </p:sp>
      <p:cxnSp>
        <p:nvCxnSpPr>
          <p:cNvPr id="830" name="Straight Connector 829"/>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p:cNvGrpSpPr/>
          <p:nvPr/>
        </p:nvGrpSpPr>
        <p:grpSpPr>
          <a:xfrm>
            <a:off x="7562238" y="2127325"/>
            <a:ext cx="3578867" cy="3640283"/>
            <a:chOff x="7562238" y="2127325"/>
            <a:chExt cx="3578867" cy="3640283"/>
          </a:xfrm>
        </p:grpSpPr>
        <p:grpSp>
          <p:nvGrpSpPr>
            <p:cNvPr id="800" name="Group 799"/>
            <p:cNvGrpSpPr/>
            <p:nvPr/>
          </p:nvGrpSpPr>
          <p:grpSpPr>
            <a:xfrm>
              <a:off x="7857253" y="2127325"/>
              <a:ext cx="3283852" cy="3640283"/>
              <a:chOff x="7881336" y="2104198"/>
              <a:chExt cx="3283852" cy="3640283"/>
            </a:xfrm>
          </p:grpSpPr>
          <p:sp>
            <p:nvSpPr>
              <p:cNvPr id="22" name="Line 428"/>
              <p:cNvSpPr>
                <a:spLocks noChangeShapeType="1"/>
              </p:cNvSpPr>
              <p:nvPr/>
            </p:nvSpPr>
            <p:spPr bwMode="auto">
              <a:xfrm rot="16200000" flipV="1">
                <a:off x="9813692" y="5228612"/>
                <a:ext cx="388062" cy="75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24" name="Line 430"/>
              <p:cNvSpPr>
                <a:spLocks noChangeShapeType="1"/>
              </p:cNvSpPr>
              <p:nvPr/>
            </p:nvSpPr>
            <p:spPr bwMode="auto">
              <a:xfrm rot="16200000">
                <a:off x="10234009" y="5382159"/>
                <a:ext cx="0" cy="11430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p:cNvSpPr>
                <a:spLocks noChangeShapeType="1"/>
              </p:cNvSpPr>
              <p:nvPr/>
            </p:nvSpPr>
            <p:spPr bwMode="auto">
              <a:xfrm>
                <a:off x="9457042" y="4815390"/>
                <a:ext cx="524483" cy="26153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6" name="Line 432"/>
              <p:cNvSpPr>
                <a:spLocks noChangeShapeType="1"/>
              </p:cNvSpPr>
              <p:nvPr/>
            </p:nvSpPr>
            <p:spPr bwMode="auto">
              <a:xfrm flipV="1">
                <a:off x="8874149" y="4815390"/>
                <a:ext cx="569255" cy="24626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7" name="Line 433"/>
              <p:cNvSpPr>
                <a:spLocks noChangeShapeType="1"/>
              </p:cNvSpPr>
              <p:nvPr/>
            </p:nvSpPr>
            <p:spPr bwMode="auto">
              <a:xfrm flipV="1">
                <a:off x="8845827" y="5085749"/>
                <a:ext cx="1030502"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8" name="Line 435"/>
              <p:cNvSpPr>
                <a:spLocks noChangeShapeType="1"/>
              </p:cNvSpPr>
              <p:nvPr/>
            </p:nvSpPr>
            <p:spPr bwMode="auto">
              <a:xfrm>
                <a:off x="8234290" y="5094207"/>
                <a:ext cx="226800" cy="1270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dirty="0"/>
              </a:p>
            </p:txBody>
          </p:sp>
          <p:sp>
            <p:nvSpPr>
              <p:cNvPr id="29" name="Line 436"/>
              <p:cNvSpPr>
                <a:spLocks noChangeShapeType="1"/>
              </p:cNvSpPr>
              <p:nvPr/>
            </p:nvSpPr>
            <p:spPr bwMode="auto">
              <a:xfrm flipV="1">
                <a:off x="7972450" y="5267343"/>
                <a:ext cx="412750" cy="1270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0" name="Line 439"/>
              <p:cNvSpPr>
                <a:spLocks noChangeShapeType="1"/>
              </p:cNvSpPr>
              <p:nvPr/>
            </p:nvSpPr>
            <p:spPr bwMode="auto">
              <a:xfrm flipH="1">
                <a:off x="8397900" y="5259125"/>
                <a:ext cx="68080" cy="29396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1" name="Line 440"/>
              <p:cNvSpPr>
                <a:spLocks noChangeShapeType="1"/>
              </p:cNvSpPr>
              <p:nvPr/>
            </p:nvSpPr>
            <p:spPr bwMode="auto">
              <a:xfrm flipH="1" flipV="1">
                <a:off x="8512814" y="5284804"/>
                <a:ext cx="280374" cy="26987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2" name="Line 441"/>
              <p:cNvSpPr>
                <a:spLocks noChangeShapeType="1"/>
              </p:cNvSpPr>
              <p:nvPr/>
            </p:nvSpPr>
            <p:spPr bwMode="auto">
              <a:xfrm>
                <a:off x="8512814" y="5234921"/>
                <a:ext cx="914184" cy="46862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3" name="Line 443"/>
              <p:cNvSpPr>
                <a:spLocks noChangeShapeType="1"/>
              </p:cNvSpPr>
              <p:nvPr/>
            </p:nvSpPr>
            <p:spPr bwMode="auto">
              <a:xfrm>
                <a:off x="8271861" y="3806843"/>
                <a:ext cx="0" cy="13176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9" name="Line 449"/>
              <p:cNvSpPr>
                <a:spLocks noChangeShapeType="1"/>
              </p:cNvSpPr>
              <p:nvPr/>
            </p:nvSpPr>
            <p:spPr bwMode="auto">
              <a:xfrm flipV="1">
                <a:off x="7881336" y="4017980"/>
                <a:ext cx="168275"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528" name="Line 428"/>
              <p:cNvSpPr>
                <a:spLocks noChangeShapeType="1"/>
              </p:cNvSpPr>
              <p:nvPr/>
            </p:nvSpPr>
            <p:spPr bwMode="auto">
              <a:xfrm rot="16200000" flipV="1">
                <a:off x="9909628" y="5560344"/>
                <a:ext cx="366793" cy="1482"/>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537" name="Line 440"/>
              <p:cNvSpPr>
                <a:spLocks noChangeShapeType="1"/>
              </p:cNvSpPr>
              <p:nvPr/>
            </p:nvSpPr>
            <p:spPr bwMode="auto">
              <a:xfrm flipV="1">
                <a:off x="8483508" y="5013435"/>
                <a:ext cx="404236" cy="2077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cxnSp>
            <p:nvCxnSpPr>
              <p:cNvPr id="564" name="Straight Connector 563"/>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p:cNvSpPr>
                <a:spLocks noChangeShapeType="1"/>
              </p:cNvSpPr>
              <p:nvPr/>
            </p:nvSpPr>
            <p:spPr bwMode="auto">
              <a:xfrm flipV="1">
                <a:off x="9402788" y="4090252"/>
                <a:ext cx="429324" cy="70560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19" name="Line 424"/>
              <p:cNvSpPr>
                <a:spLocks noChangeShapeType="1"/>
              </p:cNvSpPr>
              <p:nvPr/>
            </p:nvSpPr>
            <p:spPr bwMode="auto">
              <a:xfrm flipV="1">
                <a:off x="8268637" y="4024329"/>
                <a:ext cx="969051"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pic>
          <p:nvPicPr>
            <p:cNvPr id="262" name="Picture 778" descr="antenna_radiation_stylized"/>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p:cNvSpPr>
              <a:spLocks noChangeArrowheads="1"/>
            </p:cNvSpPr>
            <p:nvPr/>
          </p:nvSpPr>
          <p:spPr bwMode="auto">
            <a:xfrm>
              <a:off x="8174541" y="2292995"/>
              <a:ext cx="52388" cy="49485"/>
            </a:xfrm>
            <a:prstGeom prst="ellipse">
              <a:avLst/>
            </a:prstGeom>
            <a:solidFill>
              <a:schemeClr val="tx2"/>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39" name="Line 426"/>
          <p:cNvSpPr>
            <a:spLocks noChangeShapeType="1"/>
          </p:cNvSpPr>
          <p:nvPr/>
        </p:nvSpPr>
        <p:spPr bwMode="auto">
          <a:xfrm>
            <a:off x="8207860" y="2700359"/>
            <a:ext cx="227964" cy="17435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nvGrpSpPr>
          <p:cNvPr id="241" name="Group 783"/>
          <p:cNvGrpSpPr/>
          <p:nvPr/>
        </p:nvGrpSpPr>
        <p:grpSpPr bwMode="auto">
          <a:xfrm>
            <a:off x="8050698" y="2309376"/>
            <a:ext cx="298450" cy="464008"/>
            <a:chOff x="3130" y="3288"/>
            <a:chExt cx="410" cy="742"/>
          </a:xfrm>
        </p:grpSpPr>
        <p:sp>
          <p:nvSpPr>
            <p:cNvPr id="244" name="Line 270"/>
            <p:cNvSpPr>
              <a:spLocks noChangeShapeType="1"/>
            </p:cNvSpPr>
            <p:nvPr/>
          </p:nvSpPr>
          <p:spPr bwMode="auto">
            <a:xfrm flipH="1">
              <a:off x="3130" y="3288"/>
              <a:ext cx="205" cy="6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5" name="Line 271"/>
            <p:cNvSpPr>
              <a:spLocks noChangeShapeType="1"/>
            </p:cNvSpPr>
            <p:nvPr/>
          </p:nvSpPr>
          <p:spPr bwMode="auto">
            <a:xfrm>
              <a:off x="3335" y="3288"/>
              <a:ext cx="205" cy="669"/>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6" name="Line 272"/>
            <p:cNvSpPr>
              <a:spLocks noChangeShapeType="1"/>
            </p:cNvSpPr>
            <p:nvPr/>
          </p:nvSpPr>
          <p:spPr bwMode="auto">
            <a:xfrm>
              <a:off x="3130" y="3957"/>
              <a:ext cx="205" cy="73"/>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7" name="Line 273"/>
            <p:cNvSpPr>
              <a:spLocks noChangeShapeType="1"/>
            </p:cNvSpPr>
            <p:nvPr/>
          </p:nvSpPr>
          <p:spPr bwMode="auto">
            <a:xfrm flipH="1">
              <a:off x="3335" y="3957"/>
              <a:ext cx="205" cy="73"/>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8" name="Line 274"/>
            <p:cNvSpPr>
              <a:spLocks noChangeShapeType="1"/>
            </p:cNvSpPr>
            <p:nvPr/>
          </p:nvSpPr>
          <p:spPr bwMode="auto">
            <a:xfrm>
              <a:off x="3335" y="3303"/>
              <a:ext cx="0" cy="72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9" name="Line 275"/>
            <p:cNvSpPr>
              <a:spLocks noChangeShapeType="1"/>
            </p:cNvSpPr>
            <p:nvPr/>
          </p:nvSpPr>
          <p:spPr bwMode="auto">
            <a:xfrm flipV="1">
              <a:off x="3130" y="3888"/>
              <a:ext cx="205" cy="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0" name="Line 276"/>
            <p:cNvSpPr>
              <a:spLocks noChangeShapeType="1"/>
            </p:cNvSpPr>
            <p:nvPr/>
          </p:nvSpPr>
          <p:spPr bwMode="auto">
            <a:xfrm flipH="1" flipV="1">
              <a:off x="3335" y="3888"/>
              <a:ext cx="205" cy="69"/>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1" name="Line 277"/>
            <p:cNvSpPr>
              <a:spLocks noChangeShapeType="1"/>
            </p:cNvSpPr>
            <p:nvPr/>
          </p:nvSpPr>
          <p:spPr bwMode="auto">
            <a:xfrm>
              <a:off x="3217" y="3668"/>
              <a:ext cx="118" cy="5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2" name="Line 278"/>
            <p:cNvSpPr>
              <a:spLocks noChangeShapeType="1"/>
            </p:cNvSpPr>
            <p:nvPr/>
          </p:nvSpPr>
          <p:spPr bwMode="auto">
            <a:xfrm flipV="1">
              <a:off x="3335" y="3668"/>
              <a:ext cx="124" cy="5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3" name="Line 279"/>
            <p:cNvSpPr>
              <a:spLocks noChangeShapeType="1"/>
            </p:cNvSpPr>
            <p:nvPr/>
          </p:nvSpPr>
          <p:spPr bwMode="auto">
            <a:xfrm>
              <a:off x="3178" y="3766"/>
              <a:ext cx="152" cy="7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4" name="Line 280"/>
            <p:cNvSpPr>
              <a:spLocks noChangeShapeType="1"/>
            </p:cNvSpPr>
            <p:nvPr/>
          </p:nvSpPr>
          <p:spPr bwMode="auto">
            <a:xfrm flipV="1">
              <a:off x="3335" y="3781"/>
              <a:ext cx="153" cy="6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5" name="Line 281"/>
            <p:cNvSpPr>
              <a:spLocks noChangeShapeType="1"/>
            </p:cNvSpPr>
            <p:nvPr/>
          </p:nvSpPr>
          <p:spPr bwMode="auto">
            <a:xfrm flipV="1">
              <a:off x="3335" y="3567"/>
              <a:ext cx="78" cy="2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6" name="Line 282"/>
            <p:cNvSpPr>
              <a:spLocks noChangeShapeType="1"/>
            </p:cNvSpPr>
            <p:nvPr/>
          </p:nvSpPr>
          <p:spPr bwMode="auto">
            <a:xfrm flipV="1">
              <a:off x="3335" y="3428"/>
              <a:ext cx="49" cy="21"/>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7" name="Line 283"/>
            <p:cNvSpPr>
              <a:spLocks noChangeShapeType="1"/>
            </p:cNvSpPr>
            <p:nvPr/>
          </p:nvSpPr>
          <p:spPr bwMode="auto">
            <a:xfrm>
              <a:off x="3247" y="3558"/>
              <a:ext cx="95" cy="3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8" name="Line 284"/>
            <p:cNvSpPr>
              <a:spLocks noChangeShapeType="1"/>
            </p:cNvSpPr>
            <p:nvPr/>
          </p:nvSpPr>
          <p:spPr bwMode="auto">
            <a:xfrm>
              <a:off x="3289" y="3422"/>
              <a:ext cx="55" cy="3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grpSp>
      <p:pic>
        <p:nvPicPr>
          <p:cNvPr id="261" name="Picture 777" descr="access_point_stylized_smal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p:cNvGrpSpPr/>
          <p:nvPr/>
        </p:nvGrpSpPr>
        <p:grpSpPr>
          <a:xfrm>
            <a:off x="9783558" y="4989983"/>
            <a:ext cx="393760" cy="218578"/>
            <a:chOff x="7493876" y="2774731"/>
            <a:chExt cx="1481958" cy="894622"/>
          </a:xfrm>
        </p:grpSpPr>
        <p:sp>
          <p:nvSpPr>
            <p:cNvPr id="472" name="Freeform 471"/>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73" name="Oval 472"/>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74" name="Group 473"/>
            <p:cNvGrpSpPr/>
            <p:nvPr/>
          </p:nvGrpSpPr>
          <p:grpSpPr>
            <a:xfrm>
              <a:off x="7713663" y="2848339"/>
              <a:ext cx="1042107" cy="425543"/>
              <a:chOff x="7786941" y="2884917"/>
              <a:chExt cx="897649" cy="353919"/>
            </a:xfrm>
          </p:grpSpPr>
          <p:sp>
            <p:nvSpPr>
              <p:cNvPr id="475" name="Freeform 474"/>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p:cNvGrpSpPr/>
          <p:nvPr/>
        </p:nvGrpSpPr>
        <p:grpSpPr>
          <a:xfrm>
            <a:off x="9849365" y="5339037"/>
            <a:ext cx="309740" cy="190838"/>
            <a:chOff x="3668110" y="2448910"/>
            <a:chExt cx="3794234" cy="2165130"/>
          </a:xfrm>
        </p:grpSpPr>
        <p:sp>
          <p:nvSpPr>
            <p:cNvPr id="521" name="Rectangle 520"/>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p:cNvGrpSpPr/>
            <p:nvPr/>
          </p:nvGrpSpPr>
          <p:grpSpPr>
            <a:xfrm>
              <a:off x="3941378" y="2603243"/>
              <a:ext cx="3202061" cy="1066110"/>
              <a:chOff x="7939341" y="3037317"/>
              <a:chExt cx="897649" cy="353919"/>
            </a:xfrm>
          </p:grpSpPr>
          <p:sp>
            <p:nvSpPr>
              <p:cNvPr id="524" name="Freeform 523"/>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p:cNvGrpSpPr/>
          <p:nvPr/>
        </p:nvGrpSpPr>
        <p:grpSpPr>
          <a:xfrm>
            <a:off x="8676619" y="4967420"/>
            <a:ext cx="393760" cy="218578"/>
            <a:chOff x="7493876" y="2774731"/>
            <a:chExt cx="1481958" cy="894622"/>
          </a:xfrm>
        </p:grpSpPr>
        <p:sp>
          <p:nvSpPr>
            <p:cNvPr id="480" name="Freeform 479"/>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81" name="Oval 480"/>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82" name="Group 481"/>
            <p:cNvGrpSpPr/>
            <p:nvPr/>
          </p:nvGrpSpPr>
          <p:grpSpPr>
            <a:xfrm>
              <a:off x="7713663" y="2848339"/>
              <a:ext cx="1042107" cy="425543"/>
              <a:chOff x="7786941" y="2884917"/>
              <a:chExt cx="897649" cy="353919"/>
            </a:xfrm>
          </p:grpSpPr>
          <p:sp>
            <p:nvSpPr>
              <p:cNvPr id="483" name="Freeform 482"/>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p:cNvGrpSpPr/>
          <p:nvPr/>
        </p:nvGrpSpPr>
        <p:grpSpPr>
          <a:xfrm>
            <a:off x="8311520" y="5194433"/>
            <a:ext cx="309740" cy="190838"/>
            <a:chOff x="3668110" y="2448910"/>
            <a:chExt cx="3794234" cy="2165130"/>
          </a:xfrm>
        </p:grpSpPr>
        <p:sp>
          <p:nvSpPr>
            <p:cNvPr id="530" name="Rectangle 529"/>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p:cNvGrpSpPr/>
            <p:nvPr/>
          </p:nvGrpSpPr>
          <p:grpSpPr>
            <a:xfrm>
              <a:off x="3941378" y="2603243"/>
              <a:ext cx="3202061" cy="1066110"/>
              <a:chOff x="7939341" y="3037317"/>
              <a:chExt cx="897649" cy="353919"/>
            </a:xfrm>
          </p:grpSpPr>
          <p:sp>
            <p:nvSpPr>
              <p:cNvPr id="533" name="Freeform 532"/>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07" name="Group 406"/>
          <p:cNvGrpSpPr/>
          <p:nvPr/>
        </p:nvGrpSpPr>
        <p:grpSpPr>
          <a:xfrm>
            <a:off x="8439827" y="2812309"/>
            <a:ext cx="353678" cy="168275"/>
            <a:chOff x="7493876" y="2774731"/>
            <a:chExt cx="1481958" cy="894622"/>
          </a:xfrm>
        </p:grpSpPr>
        <p:sp>
          <p:nvSpPr>
            <p:cNvPr id="408" name="Freeform 407"/>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09" name="Oval 408"/>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10" name="Group 409"/>
            <p:cNvGrpSpPr/>
            <p:nvPr/>
          </p:nvGrpSpPr>
          <p:grpSpPr>
            <a:xfrm>
              <a:off x="7713663" y="2848339"/>
              <a:ext cx="1042107" cy="425543"/>
              <a:chOff x="7786941" y="2884917"/>
              <a:chExt cx="897649" cy="353919"/>
            </a:xfrm>
          </p:grpSpPr>
          <p:sp>
            <p:nvSpPr>
              <p:cNvPr id="411" name="Freeform 410"/>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15" name="Group 414"/>
          <p:cNvGrpSpPr/>
          <p:nvPr/>
        </p:nvGrpSpPr>
        <p:grpSpPr>
          <a:xfrm>
            <a:off x="8050070" y="3965994"/>
            <a:ext cx="354986" cy="175668"/>
            <a:chOff x="7493876" y="2774731"/>
            <a:chExt cx="1481958" cy="894622"/>
          </a:xfrm>
        </p:grpSpPr>
        <p:sp>
          <p:nvSpPr>
            <p:cNvPr id="416" name="Freeform 41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17" name="Oval 416"/>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18" name="Group 417"/>
            <p:cNvGrpSpPr/>
            <p:nvPr/>
          </p:nvGrpSpPr>
          <p:grpSpPr>
            <a:xfrm>
              <a:off x="7713663" y="2848339"/>
              <a:ext cx="1042107" cy="425543"/>
              <a:chOff x="7786941" y="2884917"/>
              <a:chExt cx="897649" cy="353919"/>
            </a:xfrm>
          </p:grpSpPr>
          <p:sp>
            <p:nvSpPr>
              <p:cNvPr id="419" name="Freeform 41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55" name="Group 454"/>
          <p:cNvGrpSpPr/>
          <p:nvPr/>
        </p:nvGrpSpPr>
        <p:grpSpPr>
          <a:xfrm>
            <a:off x="10884085" y="3601365"/>
            <a:ext cx="170989" cy="97052"/>
            <a:chOff x="7493876" y="2774731"/>
            <a:chExt cx="1481958" cy="894622"/>
          </a:xfrm>
        </p:grpSpPr>
        <p:sp>
          <p:nvSpPr>
            <p:cNvPr id="456" name="Freeform 45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57" name="Oval 456"/>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58" name="Group 457"/>
            <p:cNvGrpSpPr/>
            <p:nvPr/>
          </p:nvGrpSpPr>
          <p:grpSpPr>
            <a:xfrm>
              <a:off x="7713663" y="2848339"/>
              <a:ext cx="1042107" cy="425543"/>
              <a:chOff x="7786941" y="2884917"/>
              <a:chExt cx="897649" cy="353919"/>
            </a:xfrm>
          </p:grpSpPr>
          <p:sp>
            <p:nvSpPr>
              <p:cNvPr id="459" name="Freeform 45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15" name="Group 614"/>
          <p:cNvGrpSpPr/>
          <p:nvPr/>
        </p:nvGrpSpPr>
        <p:grpSpPr>
          <a:xfrm>
            <a:off x="10410609" y="3496138"/>
            <a:ext cx="353678" cy="198344"/>
            <a:chOff x="7493876" y="2774731"/>
            <a:chExt cx="1481958" cy="894622"/>
          </a:xfrm>
        </p:grpSpPr>
        <p:sp>
          <p:nvSpPr>
            <p:cNvPr id="616" name="Freeform 61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617" name="Oval 616"/>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618" name="Group 617"/>
            <p:cNvGrpSpPr/>
            <p:nvPr/>
          </p:nvGrpSpPr>
          <p:grpSpPr>
            <a:xfrm>
              <a:off x="7713663" y="2848339"/>
              <a:ext cx="1042107" cy="425543"/>
              <a:chOff x="7786941" y="2884917"/>
              <a:chExt cx="897649" cy="353919"/>
            </a:xfrm>
          </p:grpSpPr>
          <p:sp>
            <p:nvSpPr>
              <p:cNvPr id="619" name="Freeform 61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p:cNvGrpSpPr/>
          <p:nvPr/>
        </p:nvGrpSpPr>
        <p:grpSpPr>
          <a:xfrm>
            <a:off x="9948724" y="2202292"/>
            <a:ext cx="353678" cy="198344"/>
            <a:chOff x="7493876" y="2774731"/>
            <a:chExt cx="1481958" cy="894622"/>
          </a:xfrm>
        </p:grpSpPr>
        <p:sp>
          <p:nvSpPr>
            <p:cNvPr id="578" name="Freeform 577"/>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79" name="Oval 578"/>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80" name="Group 579"/>
            <p:cNvGrpSpPr/>
            <p:nvPr/>
          </p:nvGrpSpPr>
          <p:grpSpPr>
            <a:xfrm>
              <a:off x="7713663" y="2848339"/>
              <a:ext cx="1042107" cy="425543"/>
              <a:chOff x="7786941" y="2884917"/>
              <a:chExt cx="897649" cy="353919"/>
            </a:xfrm>
          </p:grpSpPr>
          <p:sp>
            <p:nvSpPr>
              <p:cNvPr id="581" name="Freeform 580"/>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p:cNvGrpSpPr/>
          <p:nvPr/>
        </p:nvGrpSpPr>
        <p:grpSpPr>
          <a:xfrm>
            <a:off x="10527214" y="2613367"/>
            <a:ext cx="353678" cy="198344"/>
            <a:chOff x="7493876" y="2774731"/>
            <a:chExt cx="1481958" cy="894622"/>
          </a:xfrm>
        </p:grpSpPr>
        <p:sp>
          <p:nvSpPr>
            <p:cNvPr id="594" name="Freeform 593"/>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95" name="Oval 594"/>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96" name="Group 595"/>
            <p:cNvGrpSpPr/>
            <p:nvPr/>
          </p:nvGrpSpPr>
          <p:grpSpPr>
            <a:xfrm>
              <a:off x="7713663" y="2848339"/>
              <a:ext cx="1042107" cy="425543"/>
              <a:chOff x="7786941" y="2884917"/>
              <a:chExt cx="897649" cy="353919"/>
            </a:xfrm>
          </p:grpSpPr>
          <p:sp>
            <p:nvSpPr>
              <p:cNvPr id="597" name="Freeform 596"/>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p:cNvGrpSpPr/>
          <p:nvPr/>
        </p:nvGrpSpPr>
        <p:grpSpPr>
          <a:xfrm>
            <a:off x="10643825" y="2107963"/>
            <a:ext cx="353678" cy="198344"/>
            <a:chOff x="7493876" y="2774731"/>
            <a:chExt cx="1481958" cy="894622"/>
          </a:xfrm>
        </p:grpSpPr>
        <p:sp>
          <p:nvSpPr>
            <p:cNvPr id="602" name="Freeform 601"/>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603" name="Oval 602"/>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604" name="Group 603"/>
            <p:cNvGrpSpPr/>
            <p:nvPr/>
          </p:nvGrpSpPr>
          <p:grpSpPr>
            <a:xfrm>
              <a:off x="7713663" y="2848339"/>
              <a:ext cx="1042107" cy="425543"/>
              <a:chOff x="7786941" y="2884917"/>
              <a:chExt cx="897649" cy="353919"/>
            </a:xfrm>
          </p:grpSpPr>
          <p:sp>
            <p:nvSpPr>
              <p:cNvPr id="605" name="Freeform 604"/>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p:cNvGrpSpPr/>
          <p:nvPr/>
        </p:nvGrpSpPr>
        <p:grpSpPr>
          <a:xfrm>
            <a:off x="9098788" y="3956624"/>
            <a:ext cx="367224" cy="240304"/>
            <a:chOff x="7493876" y="2774731"/>
            <a:chExt cx="1481958" cy="894622"/>
          </a:xfrm>
        </p:grpSpPr>
        <p:sp>
          <p:nvSpPr>
            <p:cNvPr id="555" name="Freeform 554"/>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56" name="Oval 555"/>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57" name="Group 556"/>
            <p:cNvGrpSpPr/>
            <p:nvPr/>
          </p:nvGrpSpPr>
          <p:grpSpPr>
            <a:xfrm>
              <a:off x="7713663" y="2848339"/>
              <a:ext cx="1042107" cy="425543"/>
              <a:chOff x="7786941" y="2884917"/>
              <a:chExt cx="897649" cy="353919"/>
            </a:xfrm>
          </p:grpSpPr>
          <p:sp>
            <p:nvSpPr>
              <p:cNvPr id="558" name="Freeform 557"/>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p:cNvGrpSpPr/>
          <p:nvPr/>
        </p:nvGrpSpPr>
        <p:grpSpPr>
          <a:xfrm>
            <a:off x="9980126" y="2661565"/>
            <a:ext cx="353678" cy="198344"/>
            <a:chOff x="7493876" y="2774731"/>
            <a:chExt cx="1481958" cy="894622"/>
          </a:xfrm>
        </p:grpSpPr>
        <p:sp>
          <p:nvSpPr>
            <p:cNvPr id="586" name="Freeform 58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87" name="Oval 586"/>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88" name="Group 587"/>
            <p:cNvGrpSpPr/>
            <p:nvPr/>
          </p:nvGrpSpPr>
          <p:grpSpPr>
            <a:xfrm>
              <a:off x="7713663" y="2848339"/>
              <a:ext cx="1042107" cy="425543"/>
              <a:chOff x="7786941" y="2884917"/>
              <a:chExt cx="897649" cy="353919"/>
            </a:xfrm>
          </p:grpSpPr>
          <p:sp>
            <p:nvSpPr>
              <p:cNvPr id="589" name="Freeform 58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p:cNvGrpSpPr/>
          <p:nvPr/>
        </p:nvGrpSpPr>
        <p:grpSpPr>
          <a:xfrm>
            <a:off x="9497138" y="3394032"/>
            <a:ext cx="367224" cy="240304"/>
            <a:chOff x="7493876" y="2774731"/>
            <a:chExt cx="1481958" cy="894622"/>
          </a:xfrm>
        </p:grpSpPr>
        <p:sp>
          <p:nvSpPr>
            <p:cNvPr id="539" name="Freeform 538"/>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40" name="Oval 539"/>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41" name="Group 540"/>
            <p:cNvGrpSpPr/>
            <p:nvPr/>
          </p:nvGrpSpPr>
          <p:grpSpPr>
            <a:xfrm>
              <a:off x="7713663" y="2848339"/>
              <a:ext cx="1042107" cy="425543"/>
              <a:chOff x="7786941" y="2884917"/>
              <a:chExt cx="897649" cy="353919"/>
            </a:xfrm>
          </p:grpSpPr>
          <p:sp>
            <p:nvSpPr>
              <p:cNvPr id="542" name="Freeform 541"/>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p:cNvGrpSpPr/>
          <p:nvPr/>
        </p:nvGrpSpPr>
        <p:grpSpPr>
          <a:xfrm>
            <a:off x="9601554" y="3999763"/>
            <a:ext cx="367224" cy="240304"/>
            <a:chOff x="7493876" y="2774731"/>
            <a:chExt cx="1481958" cy="894622"/>
          </a:xfrm>
        </p:grpSpPr>
        <p:sp>
          <p:nvSpPr>
            <p:cNvPr id="547" name="Freeform 546"/>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48" name="Oval 547"/>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49" name="Group 548"/>
            <p:cNvGrpSpPr/>
            <p:nvPr/>
          </p:nvGrpSpPr>
          <p:grpSpPr>
            <a:xfrm>
              <a:off x="7713663" y="2848339"/>
              <a:ext cx="1042107" cy="425543"/>
              <a:chOff x="7786941" y="2884917"/>
              <a:chExt cx="897649" cy="353919"/>
            </a:xfrm>
          </p:grpSpPr>
          <p:sp>
            <p:nvSpPr>
              <p:cNvPr id="550" name="Freeform 549"/>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p:cNvGrpSpPr/>
          <p:nvPr/>
        </p:nvGrpSpPr>
        <p:grpSpPr>
          <a:xfrm>
            <a:off x="10375259" y="3992325"/>
            <a:ext cx="353678" cy="198344"/>
            <a:chOff x="7493876" y="2774731"/>
            <a:chExt cx="1481958" cy="894622"/>
          </a:xfrm>
        </p:grpSpPr>
        <p:sp>
          <p:nvSpPr>
            <p:cNvPr id="624" name="Freeform 623"/>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625" name="Oval 624"/>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626" name="Group 625"/>
            <p:cNvGrpSpPr/>
            <p:nvPr/>
          </p:nvGrpSpPr>
          <p:grpSpPr>
            <a:xfrm>
              <a:off x="7713663" y="2848339"/>
              <a:ext cx="1042107" cy="425543"/>
              <a:chOff x="7786941" y="2884917"/>
              <a:chExt cx="897649" cy="353919"/>
            </a:xfrm>
          </p:grpSpPr>
          <p:sp>
            <p:nvSpPr>
              <p:cNvPr id="627" name="Freeform 626"/>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p:cNvGrpSpPr/>
          <p:nvPr/>
        </p:nvGrpSpPr>
        <p:grpSpPr>
          <a:xfrm>
            <a:off x="9247893" y="4775686"/>
            <a:ext cx="393760" cy="218578"/>
            <a:chOff x="7493876" y="2774731"/>
            <a:chExt cx="1481958" cy="894622"/>
          </a:xfrm>
        </p:grpSpPr>
        <p:sp>
          <p:nvSpPr>
            <p:cNvPr id="464" name="Freeform 463"/>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65" name="Oval 464"/>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66" name="Group 465"/>
            <p:cNvGrpSpPr/>
            <p:nvPr/>
          </p:nvGrpSpPr>
          <p:grpSpPr>
            <a:xfrm>
              <a:off x="7713663" y="2848339"/>
              <a:ext cx="1042107" cy="425543"/>
              <a:chOff x="7786941" y="2884917"/>
              <a:chExt cx="897649" cy="353919"/>
            </a:xfrm>
          </p:grpSpPr>
          <p:sp>
            <p:nvSpPr>
              <p:cNvPr id="467" name="Freeform 466"/>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47" name="Group 446"/>
          <p:cNvGrpSpPr/>
          <p:nvPr/>
        </p:nvGrpSpPr>
        <p:grpSpPr>
          <a:xfrm>
            <a:off x="10925982" y="4369125"/>
            <a:ext cx="228295" cy="120400"/>
            <a:chOff x="7493876" y="2774731"/>
            <a:chExt cx="1481958" cy="894622"/>
          </a:xfrm>
        </p:grpSpPr>
        <p:sp>
          <p:nvSpPr>
            <p:cNvPr id="448" name="Freeform 447"/>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49" name="Oval 448"/>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50" name="Group 449"/>
            <p:cNvGrpSpPr/>
            <p:nvPr/>
          </p:nvGrpSpPr>
          <p:grpSpPr>
            <a:xfrm>
              <a:off x="7713663" y="2848339"/>
              <a:ext cx="1042107" cy="425543"/>
              <a:chOff x="7786941" y="2884917"/>
              <a:chExt cx="897649" cy="353919"/>
            </a:xfrm>
          </p:grpSpPr>
          <p:sp>
            <p:nvSpPr>
              <p:cNvPr id="451" name="Freeform 450"/>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785" name="Group 784"/>
          <p:cNvGrpSpPr/>
          <p:nvPr/>
        </p:nvGrpSpPr>
        <p:grpSpPr>
          <a:xfrm>
            <a:off x="7439074" y="2356613"/>
            <a:ext cx="534987" cy="407988"/>
            <a:chOff x="7432700" y="2327293"/>
            <a:chExt cx="534987" cy="407988"/>
          </a:xfrm>
        </p:grpSpPr>
        <p:pic>
          <p:nvPicPr>
            <p:cNvPr id="73" name="Picture 1017" descr="antenna_stylize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76" name="Picture 1020" descr="screen"/>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78" name="Freeform 1022"/>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79" name="Freeform 1023"/>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0" name="Freeform 1024"/>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1" name="Freeform 1025"/>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2" name="Freeform 1026"/>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83" name="Group 1027"/>
            <p:cNvGrpSpPr/>
            <p:nvPr/>
          </p:nvGrpSpPr>
          <p:grpSpPr bwMode="auto">
            <a:xfrm>
              <a:off x="7594735" y="2642220"/>
              <a:ext cx="98740" cy="36846"/>
              <a:chOff x="1740" y="2642"/>
              <a:chExt cx="752" cy="327"/>
            </a:xfrm>
          </p:grpSpPr>
          <p:sp>
            <p:nvSpPr>
              <p:cNvPr id="169" name="Freeform 1028"/>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0" name="Freeform 1029"/>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1" name="Freeform 1030"/>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2" name="Freeform 1031"/>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3" name="Freeform 1032"/>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4" name="Freeform 1033"/>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84" name="Freeform 1034"/>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5" name="Freeform 1035"/>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6" name="Freeform 1036"/>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7" name="Freeform 1037"/>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8" name="Freeform 1038"/>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9" name="Freeform 1039"/>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grpSp>
        <p:nvGrpSpPr>
          <p:cNvPr id="740" name="Group 739"/>
          <p:cNvGrpSpPr/>
          <p:nvPr/>
        </p:nvGrpSpPr>
        <p:grpSpPr>
          <a:xfrm>
            <a:off x="8637781" y="2319727"/>
            <a:ext cx="530702" cy="478009"/>
            <a:chOff x="8631407" y="2290407"/>
            <a:chExt cx="530702" cy="478009"/>
          </a:xfrm>
        </p:grpSpPr>
        <p:pic>
          <p:nvPicPr>
            <p:cNvPr id="110" name="Picture 568" descr="light2.png"/>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p:cNvGrpSpPr/>
          <p:nvPr/>
        </p:nvGrpSpPr>
        <p:grpSpPr>
          <a:xfrm>
            <a:off x="7493518" y="3419140"/>
            <a:ext cx="350807" cy="305517"/>
            <a:chOff x="7487144" y="3389820"/>
            <a:chExt cx="350807" cy="305517"/>
          </a:xfrm>
        </p:grpSpPr>
        <p:pic>
          <p:nvPicPr>
            <p:cNvPr id="91" name="Picture 1115" descr="antenna_stylized"/>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94" name="Picture 1118" descr="screen"/>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6" name="Freeform 1120"/>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7" name="Freeform 1121"/>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8" name="Freeform 1122"/>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9" name="Freeform 1123"/>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0" name="Freeform 1124"/>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01" name="Group 1125"/>
            <p:cNvGrpSpPr/>
            <p:nvPr/>
          </p:nvGrpSpPr>
          <p:grpSpPr bwMode="auto">
            <a:xfrm>
              <a:off x="7593395" y="3625649"/>
              <a:ext cx="64747" cy="27592"/>
              <a:chOff x="1740" y="2642"/>
              <a:chExt cx="752" cy="327"/>
            </a:xfrm>
          </p:grpSpPr>
          <p:sp>
            <p:nvSpPr>
              <p:cNvPr id="140" name="Freeform 112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1" name="Freeform 112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2" name="Freeform 112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3" name="Freeform 112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4" name="Freeform 113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5" name="Freeform 113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102" name="Freeform 1132"/>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3" name="Freeform 1133"/>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4" name="Freeform 1134"/>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5" name="Freeform 1135"/>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6" name="Freeform 1136"/>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7" name="Freeform 1137"/>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grpSp>
        <p:nvGrpSpPr>
          <p:cNvPr id="694" name="Group 693"/>
          <p:cNvGrpSpPr/>
          <p:nvPr/>
        </p:nvGrpSpPr>
        <p:grpSpPr>
          <a:xfrm>
            <a:off x="7803435" y="3325424"/>
            <a:ext cx="347997" cy="396620"/>
            <a:chOff x="7797061" y="3296104"/>
            <a:chExt cx="347997" cy="396620"/>
          </a:xfrm>
        </p:grpSpPr>
        <p:pic>
          <p:nvPicPr>
            <p:cNvPr id="113" name="Picture 571" descr="fridge2.png"/>
            <p:cNvPicPr>
              <a:picLocks noChangeAspect="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p:cNvGrpSpPr/>
          <p:nvPr/>
        </p:nvGrpSpPr>
        <p:grpSpPr>
          <a:xfrm>
            <a:off x="11064947" y="3428485"/>
            <a:ext cx="518448" cy="1212242"/>
            <a:chOff x="11058573" y="3399165"/>
            <a:chExt cx="518448" cy="1212242"/>
          </a:xfrm>
        </p:grpSpPr>
        <p:grpSp>
          <p:nvGrpSpPr>
            <p:cNvPr id="375" name="Group 374"/>
            <p:cNvGrpSpPr/>
            <p:nvPr/>
          </p:nvGrpSpPr>
          <p:grpSpPr>
            <a:xfrm>
              <a:off x="11087182" y="4159591"/>
              <a:ext cx="489839" cy="451816"/>
              <a:chOff x="5103720" y="2693365"/>
              <a:chExt cx="611650" cy="414788"/>
            </a:xfrm>
          </p:grpSpPr>
          <p:cxnSp>
            <p:nvCxnSpPr>
              <p:cNvPr id="376" name="Straight Connector 375"/>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p:cNvGrpSpPr/>
              <p:nvPr/>
            </p:nvGrpSpPr>
            <p:grpSpPr>
              <a:xfrm>
                <a:off x="5275406" y="2693365"/>
                <a:ext cx="439964" cy="414788"/>
                <a:chOff x="5275406" y="2711455"/>
                <a:chExt cx="452949" cy="405518"/>
              </a:xfrm>
            </p:grpSpPr>
            <p:pic>
              <p:nvPicPr>
                <p:cNvPr id="379" name="Picture 378" descr="server_rack.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p:cNvGrpSpPr/>
            <p:nvPr/>
          </p:nvGrpSpPr>
          <p:grpSpPr>
            <a:xfrm>
              <a:off x="11058573" y="3399165"/>
              <a:ext cx="423724" cy="405973"/>
              <a:chOff x="5103720" y="2693365"/>
              <a:chExt cx="611650" cy="414788"/>
            </a:xfrm>
          </p:grpSpPr>
          <p:cxnSp>
            <p:nvCxnSpPr>
              <p:cNvPr id="393" name="Straight Connector 392"/>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p:cNvGrpSpPr/>
              <p:nvPr/>
            </p:nvGrpSpPr>
            <p:grpSpPr>
              <a:xfrm>
                <a:off x="5275406" y="2693365"/>
                <a:ext cx="439964" cy="414788"/>
                <a:chOff x="5275406" y="2711455"/>
                <a:chExt cx="452949" cy="405518"/>
              </a:xfrm>
            </p:grpSpPr>
            <p:pic>
              <p:nvPicPr>
                <p:cNvPr id="396" name="Picture 395" descr="server_rack.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p:cNvGrpSpPr/>
          <p:nvPr/>
        </p:nvGrpSpPr>
        <p:grpSpPr bwMode="auto">
          <a:xfrm>
            <a:off x="10288915" y="5273951"/>
            <a:ext cx="177192" cy="330833"/>
            <a:chOff x="4140" y="429"/>
            <a:chExt cx="1425" cy="2396"/>
          </a:xfrm>
        </p:grpSpPr>
        <p:sp>
          <p:nvSpPr>
            <p:cNvPr id="207"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0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0"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p:cNvGrpSpPr/>
            <p:nvPr/>
          </p:nvGrpSpPr>
          <p:grpSpPr bwMode="auto">
            <a:xfrm>
              <a:off x="4749" y="668"/>
              <a:ext cx="581" cy="145"/>
              <a:chOff x="614" y="2568"/>
              <a:chExt cx="725" cy="139"/>
            </a:xfrm>
          </p:grpSpPr>
          <p:sp>
            <p:nvSpPr>
              <p:cNvPr id="23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p:cNvGrpSpPr/>
            <p:nvPr/>
          </p:nvGrpSpPr>
          <p:grpSpPr bwMode="auto">
            <a:xfrm>
              <a:off x="4747" y="994"/>
              <a:ext cx="581" cy="134"/>
              <a:chOff x="614" y="2568"/>
              <a:chExt cx="725" cy="139"/>
            </a:xfrm>
          </p:grpSpPr>
          <p:sp>
            <p:nvSpPr>
              <p:cNvPr id="23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p:cNvGrpSpPr/>
            <p:nvPr/>
          </p:nvGrpSpPr>
          <p:grpSpPr bwMode="auto">
            <a:xfrm>
              <a:off x="4735" y="1627"/>
              <a:ext cx="582" cy="151"/>
              <a:chOff x="614" y="2568"/>
              <a:chExt cx="725" cy="139"/>
            </a:xfrm>
          </p:grpSpPr>
          <p:sp>
            <p:nvSpPr>
              <p:cNvPr id="23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9" name="Group 969"/>
            <p:cNvGrpSpPr/>
            <p:nvPr/>
          </p:nvGrpSpPr>
          <p:grpSpPr bwMode="auto">
            <a:xfrm>
              <a:off x="4739" y="1327"/>
              <a:ext cx="582" cy="139"/>
              <a:chOff x="614" y="2568"/>
              <a:chExt cx="725" cy="139"/>
            </a:xfrm>
          </p:grpSpPr>
          <p:sp>
            <p:nvSpPr>
              <p:cNvPr id="23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22"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2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2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4" name="Group 590"/>
          <p:cNvGrpSpPr/>
          <p:nvPr/>
        </p:nvGrpSpPr>
        <p:grpSpPr bwMode="auto">
          <a:xfrm flipH="1">
            <a:off x="7980855" y="4900161"/>
            <a:ext cx="345630" cy="320302"/>
            <a:chOff x="2839" y="3501"/>
            <a:chExt cx="755" cy="803"/>
          </a:xfrm>
        </p:grpSpPr>
        <p:pic>
          <p:nvPicPr>
            <p:cNvPr id="367" name="Picture 591" descr="desktop_computer_stylized_medium"/>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490" name="Group 590"/>
          <p:cNvGrpSpPr/>
          <p:nvPr/>
        </p:nvGrpSpPr>
        <p:grpSpPr bwMode="auto">
          <a:xfrm flipH="1">
            <a:off x="8153909" y="5504657"/>
            <a:ext cx="345630" cy="320302"/>
            <a:chOff x="2839" y="3501"/>
            <a:chExt cx="755" cy="803"/>
          </a:xfrm>
        </p:grpSpPr>
        <p:pic>
          <p:nvPicPr>
            <p:cNvPr id="491" name="Picture 591" descr="desktop_computer_stylized_medium"/>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493" name="Group 590"/>
          <p:cNvGrpSpPr/>
          <p:nvPr/>
        </p:nvGrpSpPr>
        <p:grpSpPr bwMode="auto">
          <a:xfrm flipH="1">
            <a:off x="8552134" y="5526130"/>
            <a:ext cx="345630" cy="320302"/>
            <a:chOff x="2839" y="3501"/>
            <a:chExt cx="755" cy="803"/>
          </a:xfrm>
        </p:grpSpPr>
        <p:pic>
          <p:nvPicPr>
            <p:cNvPr id="494" name="Picture 591" descr="desktop_computer_stylized_medium"/>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496" name="Group 1064"/>
          <p:cNvGrpSpPr/>
          <p:nvPr/>
        </p:nvGrpSpPr>
        <p:grpSpPr bwMode="auto">
          <a:xfrm>
            <a:off x="9534746" y="5795138"/>
            <a:ext cx="319264" cy="253379"/>
            <a:chOff x="877" y="1008"/>
            <a:chExt cx="2747" cy="2591"/>
          </a:xfrm>
        </p:grpSpPr>
        <p:pic>
          <p:nvPicPr>
            <p:cNvPr id="497" name="Picture 1065" descr="antenna_stylized"/>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500" name="Picture 1068" descr="screen"/>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2" name="Freeform 1070"/>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3" name="Freeform 1071"/>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4" name="Freeform 1072"/>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5" name="Freeform 1073"/>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6" name="Freeform 1074"/>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507" name="Group 1075"/>
            <p:cNvGrpSpPr/>
            <p:nvPr/>
          </p:nvGrpSpPr>
          <p:grpSpPr bwMode="auto">
            <a:xfrm>
              <a:off x="1709" y="3008"/>
              <a:ext cx="507" cy="234"/>
              <a:chOff x="1740" y="2642"/>
              <a:chExt cx="752" cy="327"/>
            </a:xfrm>
          </p:grpSpPr>
          <p:sp>
            <p:nvSpPr>
              <p:cNvPr id="514" name="Freeform 107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5" name="Freeform 107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6" name="Freeform 107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7" name="Freeform 107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8" name="Freeform 108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9" name="Freeform 108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508" name="Freeform 1082"/>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9" name="Freeform 1083"/>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0" name="Freeform 1084"/>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1" name="Freeform 1085"/>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2" name="Freeform 1086"/>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3" name="Freeform 1087"/>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175" name="Freeform 984"/>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7" name="Freeform 986"/>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8" name="Freeform 987"/>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9" name="Rectangle 988"/>
          <p:cNvSpPr>
            <a:spLocks noChangeArrowheads="1"/>
          </p:cNvSpPr>
          <p:nvPr/>
        </p:nvSpPr>
        <p:spPr bwMode="auto">
          <a:xfrm>
            <a:off x="10026299" y="5674399"/>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p:cNvGrpSpPr/>
          <p:nvPr/>
        </p:nvGrpSpPr>
        <p:grpSpPr bwMode="auto">
          <a:xfrm>
            <a:off x="10091149" y="5671195"/>
            <a:ext cx="69903" cy="21117"/>
            <a:chOff x="614" y="2568"/>
            <a:chExt cx="725" cy="139"/>
          </a:xfrm>
        </p:grpSpPr>
        <p:sp>
          <p:nvSpPr>
            <p:cNvPr id="205" name="AutoShape 990"/>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p:cNvSpPr>
            <a:spLocks noChangeArrowheads="1"/>
          </p:cNvSpPr>
          <p:nvPr/>
        </p:nvSpPr>
        <p:spPr bwMode="auto">
          <a:xfrm>
            <a:off x="10027502" y="5722750"/>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p:cNvGrpSpPr/>
          <p:nvPr/>
        </p:nvGrpSpPr>
        <p:grpSpPr bwMode="auto">
          <a:xfrm>
            <a:off x="10090909" y="5718672"/>
            <a:ext cx="69903" cy="19515"/>
            <a:chOff x="614" y="2568"/>
            <a:chExt cx="725" cy="139"/>
          </a:xfrm>
        </p:grpSpPr>
        <p:sp>
          <p:nvSpPr>
            <p:cNvPr id="203" name="AutoShape 994"/>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p:cNvSpPr>
            <a:spLocks noChangeArrowheads="1"/>
          </p:cNvSpPr>
          <p:nvPr/>
        </p:nvSpPr>
        <p:spPr bwMode="auto">
          <a:xfrm>
            <a:off x="10027502" y="5771101"/>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p:cNvSpPr>
            <a:spLocks noChangeArrowheads="1"/>
          </p:cNvSpPr>
          <p:nvPr/>
        </p:nvSpPr>
        <p:spPr bwMode="auto">
          <a:xfrm>
            <a:off x="10028705" y="5814938"/>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p:cNvGrpSpPr/>
          <p:nvPr/>
        </p:nvGrpSpPr>
        <p:grpSpPr bwMode="auto">
          <a:xfrm>
            <a:off x="10089465" y="5810860"/>
            <a:ext cx="70024" cy="21991"/>
            <a:chOff x="614" y="2568"/>
            <a:chExt cx="725" cy="139"/>
          </a:xfrm>
        </p:grpSpPr>
        <p:sp>
          <p:nvSpPr>
            <p:cNvPr id="201" name="AutoShape 999"/>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87" name="Group 1002"/>
          <p:cNvGrpSpPr/>
          <p:nvPr/>
        </p:nvGrpSpPr>
        <p:grpSpPr bwMode="auto">
          <a:xfrm>
            <a:off x="10089946" y="5767169"/>
            <a:ext cx="70024" cy="20243"/>
            <a:chOff x="614" y="2568"/>
            <a:chExt cx="725" cy="139"/>
          </a:xfrm>
        </p:grpSpPr>
        <p:sp>
          <p:nvSpPr>
            <p:cNvPr id="199" name="AutoShape 1003"/>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0" name="Freeform 1007"/>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1" name="Oval 1008"/>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3" name="AutoShape 1010"/>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Peer-peer </a:t>
            </a:r>
            <a:r>
              <a:rPr lang="en-US" altLang="en-US" dirty="0">
                <a:ea typeface="MS PGothic" panose="020B0600070205080204" pitchFamily="34" charset="-128"/>
              </a:rPr>
              <a:t>a</a:t>
            </a:r>
            <a:r>
              <a:rPr lang="en-US" altLang="en-US" sz="4400" dirty="0">
                <a:ea typeface="MS PGothic" panose="020B0600070205080204" pitchFamily="34" charset="-128"/>
              </a:rPr>
              <a:t>rchitecture</a:t>
            </a:r>
            <a:endParaRPr lang="en-US" sz="4400" dirty="0"/>
          </a:p>
        </p:txBody>
      </p:sp>
      <p:sp>
        <p:nvSpPr>
          <p:cNvPr id="656" name="Content Placeholder 3"/>
          <p:cNvSpPr txBox="1"/>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400"/>
              </a:spcBef>
            </a:pPr>
            <a:r>
              <a:rPr lang="en-US" altLang="en-US" i="1" dirty="0">
                <a:ea typeface="MS PGothic" panose="020B0600070205080204" pitchFamily="34" charset="-128"/>
              </a:rPr>
              <a:t>no</a:t>
            </a:r>
            <a:r>
              <a:rPr lang="en-US" altLang="en-US" dirty="0">
                <a:ea typeface="MS PGothic" panose="020B0600070205080204" pitchFamily="34" charset="-128"/>
              </a:rPr>
              <a:t> always-on server</a:t>
            </a:r>
            <a:endParaRPr lang="en-US" altLang="en-US" dirty="0">
              <a:ea typeface="MS PGothic" panose="020B0600070205080204" pitchFamily="34" charset="-128"/>
            </a:endParaRPr>
          </a:p>
          <a:p>
            <a:pPr>
              <a:spcBef>
                <a:spcPts val="400"/>
              </a:spcBef>
            </a:pPr>
            <a:r>
              <a:rPr lang="en-US" altLang="en-US" dirty="0">
                <a:ea typeface="MS PGothic" panose="020B0600070205080204" pitchFamily="34" charset="-128"/>
              </a:rPr>
              <a:t>arbitrary end systems directly communicate</a:t>
            </a:r>
            <a:endParaRPr lang="en-US" altLang="en-US" dirty="0">
              <a:ea typeface="MS PGothic" panose="020B0600070205080204" pitchFamily="34" charset="-128"/>
            </a:endParaRPr>
          </a:p>
          <a:p>
            <a:pPr>
              <a:spcBef>
                <a:spcPts val="400"/>
              </a:spcBef>
            </a:pPr>
            <a:r>
              <a:rPr lang="en-US" altLang="en-US" dirty="0">
                <a:ea typeface="MS PGothic" panose="020B0600070205080204" pitchFamily="34" charset="-128"/>
              </a:rPr>
              <a:t>peers request service from other peers, provide service in return to other peers</a:t>
            </a:r>
            <a:endParaRPr lang="en-US" altLang="en-US" dirty="0">
              <a:ea typeface="MS PGothic" panose="020B0600070205080204" pitchFamily="34" charset="-128"/>
            </a:endParaRPr>
          </a:p>
          <a:p>
            <a:pPr lvl="1"/>
            <a:r>
              <a:rPr lang="en-US" altLang="en-US" i="1" dirty="0">
                <a:solidFill>
                  <a:srgbClr val="CC0000"/>
                </a:solidFill>
                <a:ea typeface="MS PGothic" panose="020B0600070205080204" pitchFamily="34" charset="-128"/>
              </a:rPr>
              <a:t>self scalability</a:t>
            </a:r>
            <a:r>
              <a:rPr lang="en-US" altLang="en-US" dirty="0">
                <a:solidFill>
                  <a:srgbClr val="CC0000"/>
                </a:solidFill>
                <a:ea typeface="MS PGothic" panose="020B0600070205080204" pitchFamily="34" charset="-128"/>
              </a:rPr>
              <a:t> – new peers bring new service capacity, as well as new service demands</a:t>
            </a:r>
            <a:endParaRPr lang="en-US" altLang="en-US" dirty="0">
              <a:solidFill>
                <a:srgbClr val="CC0000"/>
              </a:solidFill>
              <a:ea typeface="MS PGothic" panose="020B0600070205080204" pitchFamily="34" charset="-128"/>
            </a:endParaRPr>
          </a:p>
          <a:p>
            <a:pPr>
              <a:spcBef>
                <a:spcPts val="400"/>
              </a:spcBef>
            </a:pPr>
            <a:r>
              <a:rPr lang="en-US" altLang="en-US" dirty="0">
                <a:ea typeface="MS PGothic" panose="020B0600070205080204" pitchFamily="34" charset="-128"/>
              </a:rPr>
              <a:t>peers are intermittently connected and change IP addresses</a:t>
            </a:r>
            <a:endParaRPr lang="en-US" altLang="en-US" dirty="0">
              <a:ea typeface="MS PGothic" panose="020B0600070205080204" pitchFamily="34" charset="-128"/>
            </a:endParaRPr>
          </a:p>
          <a:p>
            <a:pPr lvl="1">
              <a:spcBef>
                <a:spcPts val="400"/>
              </a:spcBef>
            </a:pPr>
            <a:r>
              <a:rPr lang="en-US" altLang="en-US" dirty="0">
                <a:ea typeface="MS PGothic" panose="020B0600070205080204" pitchFamily="34" charset="-128"/>
              </a:rPr>
              <a:t>complex management</a:t>
            </a:r>
            <a:endParaRPr lang="en-US" altLang="en-US" dirty="0">
              <a:ea typeface="MS PGothic" panose="020B0600070205080204" pitchFamily="34" charset="-128"/>
            </a:endParaRPr>
          </a:p>
          <a:p>
            <a:pPr>
              <a:spcBef>
                <a:spcPts val="400"/>
              </a:spcBef>
            </a:pPr>
            <a:r>
              <a:rPr lang="en-US" dirty="0"/>
              <a:t>example: P2P file sharing</a:t>
            </a:r>
            <a:endParaRPr lang="en-US" dirty="0"/>
          </a:p>
        </p:txBody>
      </p:sp>
      <p:grpSp>
        <p:nvGrpSpPr>
          <p:cNvPr id="661" name="Group 950"/>
          <p:cNvGrpSpPr/>
          <p:nvPr/>
        </p:nvGrpSpPr>
        <p:grpSpPr bwMode="auto">
          <a:xfrm>
            <a:off x="10002508" y="5616400"/>
            <a:ext cx="214974" cy="403920"/>
            <a:chOff x="4140" y="429"/>
            <a:chExt cx="1425" cy="2396"/>
          </a:xfrm>
        </p:grpSpPr>
        <p:sp>
          <p:nvSpPr>
            <p:cNvPr id="662"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3"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64"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5"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6"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67" name="Group 956"/>
            <p:cNvGrpSpPr/>
            <p:nvPr/>
          </p:nvGrpSpPr>
          <p:grpSpPr bwMode="auto">
            <a:xfrm>
              <a:off x="4749" y="668"/>
              <a:ext cx="581" cy="145"/>
              <a:chOff x="614" y="2568"/>
              <a:chExt cx="725" cy="139"/>
            </a:xfrm>
          </p:grpSpPr>
          <p:sp>
            <p:nvSpPr>
              <p:cNvPr id="692"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93"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68"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69" name="Group 960"/>
            <p:cNvGrpSpPr/>
            <p:nvPr/>
          </p:nvGrpSpPr>
          <p:grpSpPr bwMode="auto">
            <a:xfrm>
              <a:off x="4747" y="994"/>
              <a:ext cx="581" cy="134"/>
              <a:chOff x="614" y="2568"/>
              <a:chExt cx="725" cy="139"/>
            </a:xfrm>
          </p:grpSpPr>
          <p:sp>
            <p:nvSpPr>
              <p:cNvPr id="690"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91"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0"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1"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72" name="Group 965"/>
            <p:cNvGrpSpPr/>
            <p:nvPr/>
          </p:nvGrpSpPr>
          <p:grpSpPr bwMode="auto">
            <a:xfrm>
              <a:off x="4735" y="1627"/>
              <a:ext cx="582" cy="151"/>
              <a:chOff x="614" y="2568"/>
              <a:chExt cx="725" cy="139"/>
            </a:xfrm>
          </p:grpSpPr>
          <p:sp>
            <p:nvSpPr>
              <p:cNvPr id="688"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9"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3"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674" name="Group 969"/>
            <p:cNvGrpSpPr/>
            <p:nvPr/>
          </p:nvGrpSpPr>
          <p:grpSpPr bwMode="auto">
            <a:xfrm>
              <a:off x="4739" y="1327"/>
              <a:ext cx="582" cy="139"/>
              <a:chOff x="614" y="2568"/>
              <a:chExt cx="725" cy="139"/>
            </a:xfrm>
          </p:grpSpPr>
          <p:sp>
            <p:nvSpPr>
              <p:cNvPr id="686"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7"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5"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6"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77"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78"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9"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80"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1"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2"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3"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684"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5"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575" name="Rectangle 574"/>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7680324" y="1814171"/>
            <a:ext cx="1991221" cy="4482411"/>
            <a:chOff x="7680324" y="1814171"/>
            <a:chExt cx="1991221" cy="4482411"/>
          </a:xfrm>
        </p:grpSpPr>
        <p:sp>
          <p:nvSpPr>
            <p:cNvPr id="612" name="Oval 611"/>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5" name="Oval 634"/>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1" name="Line 913"/>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52" name="Line 911"/>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71" name="Oval 570"/>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2" name="Oval 571"/>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6" name="Oval 575"/>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9" name="Line 913"/>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10" name="Line 913"/>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grpSp>
      <p:grpSp>
        <p:nvGrpSpPr>
          <p:cNvPr id="49" name="Group 652"/>
          <p:cNvGrpSpPr/>
          <p:nvPr/>
        </p:nvGrpSpPr>
        <p:grpSpPr bwMode="auto">
          <a:xfrm>
            <a:off x="7750224" y="1859725"/>
            <a:ext cx="415925" cy="385763"/>
            <a:chOff x="2751" y="1851"/>
            <a:chExt cx="462" cy="478"/>
          </a:xfrm>
        </p:grpSpPr>
        <p:pic>
          <p:nvPicPr>
            <p:cNvPr id="359" name="Picture 653" descr="iphone_stylized_small"/>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p:cNvGrpSpPr/>
          <p:nvPr/>
        </p:nvGrpSpPr>
        <p:grpSpPr>
          <a:xfrm>
            <a:off x="8499539" y="2059124"/>
            <a:ext cx="849312" cy="226109"/>
            <a:chOff x="8493165" y="2029804"/>
            <a:chExt cx="849312" cy="226109"/>
          </a:xfrm>
        </p:grpSpPr>
        <p:pic>
          <p:nvPicPr>
            <p:cNvPr id="48" name="Picture 603" descr="car_icon_small"/>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p:cNvGrpSpPr/>
          <p:nvPr/>
        </p:nvGrpSpPr>
        <p:grpSpPr bwMode="auto">
          <a:xfrm flipH="1">
            <a:off x="7991996" y="3567143"/>
            <a:ext cx="359261" cy="342045"/>
            <a:chOff x="2839" y="3501"/>
            <a:chExt cx="755" cy="803"/>
          </a:xfrm>
        </p:grpSpPr>
        <p:pic>
          <p:nvPicPr>
            <p:cNvPr id="138" name="Picture 1140" descr="desktop_computer_stylized_medium"/>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487" name="Group 590"/>
          <p:cNvGrpSpPr/>
          <p:nvPr/>
        </p:nvGrpSpPr>
        <p:grpSpPr bwMode="auto">
          <a:xfrm flipH="1">
            <a:off x="7773981" y="5281060"/>
            <a:ext cx="345630" cy="320302"/>
            <a:chOff x="2839" y="3501"/>
            <a:chExt cx="755" cy="803"/>
          </a:xfrm>
        </p:grpSpPr>
        <p:pic>
          <p:nvPicPr>
            <p:cNvPr id="488" name="Picture 591" descr="desktop_computer_stylized_medium"/>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90" name="Group 1064"/>
          <p:cNvGrpSpPr/>
          <p:nvPr/>
        </p:nvGrpSpPr>
        <p:grpSpPr bwMode="auto">
          <a:xfrm>
            <a:off x="9201681" y="5852809"/>
            <a:ext cx="310186" cy="307808"/>
            <a:chOff x="877" y="1008"/>
            <a:chExt cx="2747" cy="2591"/>
          </a:xfrm>
        </p:grpSpPr>
        <p:pic>
          <p:nvPicPr>
            <p:cNvPr id="146" name="Picture 1065" descr="antenna_stylized"/>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149" name="Picture 1068" descr="screen"/>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1" name="Freeform 1070"/>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2" name="Freeform 1071"/>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3" name="Freeform 1072"/>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4" name="Freeform 1073"/>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5" name="Freeform 1074"/>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56" name="Group 1075"/>
            <p:cNvGrpSpPr/>
            <p:nvPr/>
          </p:nvGrpSpPr>
          <p:grpSpPr bwMode="auto">
            <a:xfrm>
              <a:off x="1709" y="3008"/>
              <a:ext cx="507" cy="234"/>
              <a:chOff x="1740" y="2642"/>
              <a:chExt cx="752" cy="327"/>
            </a:xfrm>
          </p:grpSpPr>
          <p:sp>
            <p:nvSpPr>
              <p:cNvPr id="163" name="Freeform 107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4" name="Freeform 107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5" name="Freeform 107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6" name="Freeform 107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7" name="Freeform 108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8" name="Freeform 108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157" name="Freeform 1082"/>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8" name="Freeform 1083"/>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9" name="Freeform 1084"/>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0" name="Freeform 1085"/>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1" name="Freeform 1086"/>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2" name="Freeform 1087"/>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611"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Processes communicating</a:t>
            </a:r>
            <a:endParaRPr lang="en-US" sz="4400" dirty="0"/>
          </a:p>
        </p:txBody>
      </p:sp>
      <p:sp>
        <p:nvSpPr>
          <p:cNvPr id="10" name="Content Placeholder 3"/>
          <p:cNvSpPr txBox="1"/>
          <p:nvPr/>
        </p:nvSpPr>
        <p:spPr>
          <a:xfrm>
            <a:off x="606042" y="1565977"/>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None/>
            </a:pPr>
            <a:r>
              <a:rPr lang="en-US" altLang="en-US" sz="3200" i="1" dirty="0">
                <a:solidFill>
                  <a:srgbClr val="CC0000"/>
                </a:solidFill>
                <a:ea typeface="MS PGothic" panose="020B0600070205080204" pitchFamily="34" charset="-128"/>
              </a:rPr>
              <a:t>process:</a:t>
            </a:r>
            <a:r>
              <a:rPr lang="en-US" altLang="en-US" sz="3200" dirty="0">
                <a:ea typeface="MS PGothic" panose="020B0600070205080204" pitchFamily="34" charset="-128"/>
              </a:rPr>
              <a:t> program running within a host</a:t>
            </a:r>
            <a:endParaRPr lang="en-US" altLang="en-US" sz="3200" dirty="0">
              <a:ea typeface="MS PGothic" panose="020B0600070205080204" pitchFamily="34" charset="-128"/>
            </a:endParaRPr>
          </a:p>
          <a:p>
            <a:r>
              <a:rPr lang="en-US" altLang="en-US" sz="3200" dirty="0">
                <a:ea typeface="MS PGothic" panose="020B0600070205080204" pitchFamily="34" charset="-128"/>
              </a:rPr>
              <a:t>within same host, two processes communicate using  </a:t>
            </a:r>
            <a:r>
              <a:rPr lang="en-US" altLang="en-US" sz="3200" dirty="0">
                <a:solidFill>
                  <a:srgbClr val="CC0000"/>
                </a:solidFill>
                <a:ea typeface="MS PGothic" panose="020B0600070205080204" pitchFamily="34" charset="-128"/>
              </a:rPr>
              <a:t>inter-process communication</a:t>
            </a:r>
            <a:r>
              <a:rPr lang="en-US" altLang="en-US" sz="3200" dirty="0">
                <a:ea typeface="MS PGothic" panose="020B0600070205080204" pitchFamily="34" charset="-128"/>
              </a:rPr>
              <a:t> (defined by OS)</a:t>
            </a:r>
            <a:endParaRPr lang="en-US" altLang="en-US" sz="3200" dirty="0">
              <a:ea typeface="MS PGothic" panose="020B0600070205080204" pitchFamily="34" charset="-128"/>
            </a:endParaRPr>
          </a:p>
          <a:p>
            <a:r>
              <a:rPr lang="en-US" altLang="en-US" sz="3200" dirty="0">
                <a:ea typeface="MS PGothic" panose="020B0600070205080204" pitchFamily="34" charset="-128"/>
              </a:rPr>
              <a:t>processes in different hosts communicate by exchanging </a:t>
            </a:r>
            <a:r>
              <a:rPr lang="en-US" altLang="en-US" sz="3200" dirty="0">
                <a:solidFill>
                  <a:srgbClr val="CC0000"/>
                </a:solidFill>
                <a:ea typeface="MS PGothic" panose="020B0600070205080204" pitchFamily="34" charset="-128"/>
              </a:rPr>
              <a:t>messages</a:t>
            </a:r>
            <a:endParaRPr lang="en-US" altLang="en-US" sz="3200" dirty="0">
              <a:solidFill>
                <a:srgbClr val="CC0000"/>
              </a:solidFill>
              <a:ea typeface="MS PGothic" panose="020B0600070205080204" pitchFamily="34" charset="-128"/>
            </a:endParaRPr>
          </a:p>
          <a:p>
            <a:endParaRPr lang="en-US" sz="36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8" name="Rectangle 4"/>
          <p:cNvSpPr txBox="1">
            <a:spLocks noChangeArrowheads="1"/>
          </p:cNvSpPr>
          <p:nvPr/>
        </p:nvSpPr>
        <p:spPr>
          <a:xfrm>
            <a:off x="7025603" y="2022695"/>
            <a:ext cx="3989387" cy="2033587"/>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400"/>
              </a:spcBef>
              <a:buFont typeface="Wingdings" panose="05000000000000000000" pitchFamily="2" charset="2"/>
              <a:buNone/>
            </a:pPr>
            <a:r>
              <a:rPr lang="en-US" altLang="en-US" i="1" dirty="0">
                <a:solidFill>
                  <a:srgbClr val="CC0000"/>
                </a:solidFill>
                <a:ea typeface="MS PGothic" panose="020B0600070205080204" pitchFamily="34" charset="-128"/>
              </a:rPr>
              <a:t>client process:</a:t>
            </a:r>
            <a:r>
              <a:rPr lang="en-US" altLang="en-US" dirty="0">
                <a:ea typeface="MS PGothic" panose="020B0600070205080204" pitchFamily="34" charset="-128"/>
              </a:rPr>
              <a:t> </a:t>
            </a:r>
            <a:r>
              <a:rPr lang="en-US" altLang="en-US" sz="2400" dirty="0">
                <a:ea typeface="MS PGothic" panose="020B0600070205080204" pitchFamily="34" charset="-128"/>
              </a:rPr>
              <a:t>process that initiates communication</a:t>
            </a:r>
            <a:endParaRPr lang="en-US" altLang="en-US" sz="2400" dirty="0">
              <a:ea typeface="MS PGothic" panose="020B0600070205080204" pitchFamily="34" charset="-128"/>
            </a:endParaRPr>
          </a:p>
          <a:p>
            <a:pPr>
              <a:spcBef>
                <a:spcPts val="400"/>
              </a:spcBef>
              <a:buFont typeface="Wingdings" panose="05000000000000000000" pitchFamily="2" charset="2"/>
              <a:buNone/>
            </a:pPr>
            <a:r>
              <a:rPr lang="en-US" altLang="en-US" i="1" dirty="0">
                <a:solidFill>
                  <a:srgbClr val="CC0000"/>
                </a:solidFill>
                <a:ea typeface="MS PGothic" panose="020B0600070205080204" pitchFamily="34" charset="-128"/>
              </a:rPr>
              <a:t>server process:</a:t>
            </a:r>
            <a:r>
              <a:rPr lang="en-US" altLang="en-US" dirty="0">
                <a:ea typeface="MS PGothic" panose="020B0600070205080204" pitchFamily="34" charset="-128"/>
              </a:rPr>
              <a:t> </a:t>
            </a:r>
            <a:r>
              <a:rPr lang="en-US" altLang="en-US" sz="2400" dirty="0">
                <a:ea typeface="MS PGothic" panose="020B0600070205080204" pitchFamily="34" charset="-128"/>
              </a:rPr>
              <a:t>process that waits to be contacted</a:t>
            </a:r>
            <a:endParaRPr lang="en-US" altLang="en-US" dirty="0">
              <a:ea typeface="MS PGothic" panose="020B0600070205080204" pitchFamily="34" charset="-128"/>
            </a:endParaRPr>
          </a:p>
          <a:p>
            <a:pPr>
              <a:buFont typeface="Wingdings" panose="05000000000000000000" pitchFamily="2" charset="2"/>
              <a:buNone/>
            </a:pPr>
            <a:endParaRPr lang="en-US" altLang="en-US" dirty="0">
              <a:ea typeface="MS PGothic" panose="020B0600070205080204" pitchFamily="34" charset="-128"/>
            </a:endParaRPr>
          </a:p>
        </p:txBody>
      </p:sp>
      <p:sp>
        <p:nvSpPr>
          <p:cNvPr id="11" name="Rectangle 7"/>
          <p:cNvSpPr>
            <a:spLocks noChangeArrowheads="1"/>
          </p:cNvSpPr>
          <p:nvPr/>
        </p:nvSpPr>
        <p:spPr bwMode="auto">
          <a:xfrm>
            <a:off x="6915273" y="4263451"/>
            <a:ext cx="3989387" cy="183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90000"/>
              </a:lnSpc>
              <a:buClr>
                <a:srgbClr val="000099"/>
              </a:buClr>
              <a:buSzPct val="100000"/>
              <a:buFont typeface="Wingdings" panose="05000000000000000000" pitchFamily="2" charset="2"/>
              <a:buChar char="§"/>
            </a:pPr>
            <a:r>
              <a:rPr lang="en-US" altLang="en-US" sz="2800" dirty="0">
                <a:latin typeface="+mn-lt"/>
              </a:rPr>
              <a:t>note: applications with P2P architectures have client processes &amp; server processes</a:t>
            </a:r>
            <a:endParaRPr lang="en-US" altLang="en-US" sz="2800" dirty="0">
              <a:latin typeface="+mn-lt"/>
            </a:endParaRPr>
          </a:p>
        </p:txBody>
      </p:sp>
      <p:sp>
        <p:nvSpPr>
          <p:cNvPr id="12" name="Rectangle 13"/>
          <p:cNvSpPr>
            <a:spLocks noChangeArrowheads="1"/>
          </p:cNvSpPr>
          <p:nvPr/>
        </p:nvSpPr>
        <p:spPr bwMode="auto">
          <a:xfrm>
            <a:off x="6974010" y="1786951"/>
            <a:ext cx="4092575" cy="2062163"/>
          </a:xfrm>
          <a:prstGeom prst="rect">
            <a:avLst/>
          </a:prstGeom>
          <a:noFill/>
          <a:ln w="28575">
            <a:solidFill>
              <a:srgbClr val="CC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3" name="Text Box 14"/>
          <p:cNvSpPr txBox="1">
            <a:spLocks noChangeArrowheads="1"/>
          </p:cNvSpPr>
          <p:nvPr/>
        </p:nvSpPr>
        <p:spPr bwMode="auto">
          <a:xfrm>
            <a:off x="7094660" y="1488501"/>
            <a:ext cx="2325688"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800">
                <a:latin typeface="+mn-lt"/>
              </a:rPr>
              <a:t>clients, servers</a:t>
            </a:r>
            <a:endParaRPr lang="en-US" altLang="en-US" sz="2800">
              <a:latin typeface="+mn-lt"/>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Sockets</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68" name="Rectangle 3"/>
          <p:cNvSpPr txBox="1">
            <a:spLocks noChangeArrowheads="1"/>
          </p:cNvSpPr>
          <p:nvPr/>
        </p:nvSpPr>
        <p:spPr bwMode="auto">
          <a:xfrm>
            <a:off x="798691" y="1183986"/>
            <a:ext cx="10965041" cy="232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MS PGothic" panose="020B0600070205080204" pitchFamily="34" charset="-128"/>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anose="020B0502020104020203" pitchFamily="34" charset="0"/>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sz="2000">
                <a:solidFill>
                  <a:schemeClr val="tx1"/>
                </a:solidFill>
                <a:latin typeface="Times New Roman" panose="02020603050405020304" pitchFamily="18" charset="0"/>
                <a:ea typeface="MS PGothic" panose="020B0600070205080204" pitchFamily="34" charset="-128"/>
              </a:defRPr>
            </a:lvl4pPr>
            <a:lvl5pPr marL="2057400" indent="-228600" algn="l" rtl="0" eaLnBrk="0" fontAlgn="base" hangingPunct="0">
              <a:spcBef>
                <a:spcPct val="20000"/>
              </a:spcBef>
              <a:spcAft>
                <a:spcPct val="0"/>
              </a:spcAft>
              <a:buChar char="»"/>
              <a:defRPr sz="2000">
                <a:solidFill>
                  <a:schemeClr val="tx1"/>
                </a:solidFill>
                <a:latin typeface="Times New Roman" panose="02020603050405020304" pitchFamily="18" charset="0"/>
                <a:ea typeface="MS PGothic" panose="020B0600070205080204" pitchFamily="34" charset="-128"/>
              </a:defRPr>
            </a:lvl5pPr>
            <a:lvl6pPr marL="2514600" indent="-228600" algn="l" rtl="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r>
              <a:rPr lang="en-US" altLang="en-US" kern="0" dirty="0">
                <a:latin typeface="+mn-lt"/>
                <a:ea typeface="MS PGothic" panose="020B0600070205080204" pitchFamily="34" charset="-128"/>
              </a:rPr>
              <a:t>process sends/receives messages to/from its </a:t>
            </a:r>
            <a:r>
              <a:rPr lang="en-US" altLang="en-US" kern="0" dirty="0">
                <a:solidFill>
                  <a:srgbClr val="CC0000"/>
                </a:solidFill>
                <a:latin typeface="+mn-lt"/>
                <a:ea typeface="MS PGothic" panose="020B0600070205080204" pitchFamily="34" charset="-128"/>
              </a:rPr>
              <a:t>socket</a:t>
            </a:r>
            <a:endParaRPr lang="en-US" altLang="en-US" kern="0" dirty="0">
              <a:solidFill>
                <a:srgbClr val="CC0000"/>
              </a:solidFill>
              <a:latin typeface="+mn-lt"/>
              <a:ea typeface="MS PGothic" panose="020B0600070205080204" pitchFamily="34" charset="-128"/>
            </a:endParaRPr>
          </a:p>
          <a:p>
            <a:r>
              <a:rPr lang="en-US" altLang="en-US" kern="0" dirty="0">
                <a:latin typeface="+mn-lt"/>
                <a:ea typeface="MS PGothic" panose="020B0600070205080204" pitchFamily="34" charset="-128"/>
              </a:rPr>
              <a:t>socket analogous to door</a:t>
            </a:r>
            <a:endParaRPr lang="en-US" altLang="en-US" kern="0" dirty="0">
              <a:latin typeface="+mn-lt"/>
              <a:ea typeface="MS PGothic" panose="020B0600070205080204" pitchFamily="34" charset="-128"/>
            </a:endParaRPr>
          </a:p>
          <a:p>
            <a:pPr lvl="1"/>
            <a:r>
              <a:rPr lang="en-US" altLang="en-US" sz="2800" kern="0" dirty="0">
                <a:latin typeface="+mn-lt"/>
                <a:ea typeface="MS PGothic" panose="020B0600070205080204" pitchFamily="34" charset="-128"/>
              </a:rPr>
              <a:t>sending process shoves message out door</a:t>
            </a:r>
            <a:endParaRPr lang="en-US" altLang="en-US" sz="2800" kern="0" dirty="0">
              <a:latin typeface="+mn-lt"/>
              <a:ea typeface="MS PGothic" panose="020B0600070205080204" pitchFamily="34" charset="-128"/>
            </a:endParaRPr>
          </a:p>
          <a:p>
            <a:pPr lvl="1"/>
            <a:r>
              <a:rPr lang="en-US" altLang="en-US" sz="2800" kern="0" dirty="0">
                <a:latin typeface="+mn-lt"/>
                <a:ea typeface="MS PGothic" panose="020B0600070205080204" pitchFamily="34" charset="-128"/>
              </a:rPr>
              <a:t>sending process relies on transport infrastructure on other side of door to deliver message to socket at receiving process</a:t>
            </a:r>
            <a:endParaRPr lang="en-US" altLang="en-US" sz="2800" kern="0" dirty="0">
              <a:latin typeface="+mn-lt"/>
              <a:ea typeface="MS PGothic" panose="020B0600070205080204" pitchFamily="34" charset="-128"/>
            </a:endParaRPr>
          </a:p>
          <a:p>
            <a:pPr lvl="1"/>
            <a:r>
              <a:rPr lang="en-US" altLang="en-US" sz="2800" kern="0" dirty="0">
                <a:latin typeface="+mn-lt"/>
                <a:ea typeface="MS PGothic" panose="020B0600070205080204" pitchFamily="34" charset="-128"/>
              </a:rPr>
              <a:t>two sockets involved: one on each side</a:t>
            </a:r>
            <a:endParaRPr lang="en-US" altLang="en-US" sz="2800" kern="0" dirty="0">
              <a:latin typeface="+mn-lt"/>
              <a:ea typeface="MS PGothic" panose="020B0600070205080204" pitchFamily="34" charset="-128"/>
            </a:endParaRPr>
          </a:p>
        </p:txBody>
      </p:sp>
      <p:sp>
        <p:nvSpPr>
          <p:cNvPr id="69" name="Freeform 66"/>
          <p:cNvSpPr/>
          <p:nvPr/>
        </p:nvSpPr>
        <p:spPr bwMode="auto">
          <a:xfrm>
            <a:off x="8482481" y="4098352"/>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rgbClr val="B2B2B2"/>
              </a:gs>
            </a:gsLst>
            <a:lin ang="0" scaled="1"/>
          </a:gradFill>
          <a:ln w="9525">
            <a:solidFill>
              <a:srgbClr val="DDDDDD"/>
            </a:solidFill>
            <a:round/>
          </a:ln>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0" name="Freeform 7"/>
          <p:cNvSpPr/>
          <p:nvPr/>
        </p:nvSpPr>
        <p:spPr bwMode="auto">
          <a:xfrm>
            <a:off x="5167781" y="5395339"/>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71" name="Text Box 51"/>
          <p:cNvSpPr txBox="1">
            <a:spLocks noChangeArrowheads="1"/>
          </p:cNvSpPr>
          <p:nvPr/>
        </p:nvSpPr>
        <p:spPr bwMode="auto">
          <a:xfrm>
            <a:off x="5605931" y="5527102"/>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Internet</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2" name="Line 52"/>
          <p:cNvSpPr>
            <a:spLocks noChangeShapeType="1"/>
          </p:cNvSpPr>
          <p:nvPr/>
        </p:nvSpPr>
        <p:spPr bwMode="auto">
          <a:xfrm>
            <a:off x="4926481" y="5938264"/>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3" name="Text Box 53"/>
          <p:cNvSpPr txBox="1">
            <a:spLocks noChangeArrowheads="1"/>
          </p:cNvSpPr>
          <p:nvPr/>
        </p:nvSpPr>
        <p:spPr bwMode="auto">
          <a:xfrm>
            <a:off x="8947618" y="5163564"/>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controlled</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by OS</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endParaRPr kumimoji="0" lang="en-US" altLang="en-US" sz="1600" b="0" i="0" u="none" strike="noStrike" kern="0" cap="none" spc="0" normalizeH="0" baseline="0" noProof="0">
              <a:ln>
                <a:noFill/>
              </a:ln>
              <a:solidFill>
                <a:srgbClr val="CC0000"/>
              </a:solidFill>
              <a:effectLst/>
              <a:uLnTx/>
              <a:uFillTx/>
              <a:latin typeface="Times New Roman" panose="02020603050405020304" pitchFamily="18" charset="0"/>
              <a:ea typeface="MS PGothic" panose="020B0600070205080204" pitchFamily="34" charset="-128"/>
            </a:endParaRPr>
          </a:p>
        </p:txBody>
      </p:sp>
      <p:sp>
        <p:nvSpPr>
          <p:cNvPr id="74" name="Text Box 56"/>
          <p:cNvSpPr txBox="1">
            <a:spLocks noChangeArrowheads="1"/>
          </p:cNvSpPr>
          <p:nvPr/>
        </p:nvSpPr>
        <p:spPr bwMode="auto">
          <a:xfrm>
            <a:off x="8925393" y="4263452"/>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9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controlled by</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9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app developer</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75" name="Freeform 45"/>
          <p:cNvSpPr/>
          <p:nvPr/>
        </p:nvSpPr>
        <p:spPr bwMode="auto">
          <a:xfrm>
            <a:off x="2742081" y="4161852"/>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rgbClr val="B2B2B2"/>
              </a:gs>
            </a:gsLst>
            <a:lin ang="0" scaled="1"/>
          </a:gradFill>
          <a:ln w="9525">
            <a:solidFill>
              <a:srgbClr val="DDDDDD"/>
            </a:solidFill>
            <a:round/>
          </a:ln>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6" name="Rectangle 23"/>
          <p:cNvSpPr>
            <a:spLocks noChangeArrowheads="1"/>
          </p:cNvSpPr>
          <p:nvPr/>
        </p:nvSpPr>
        <p:spPr bwMode="auto">
          <a:xfrm>
            <a:off x="3545356" y="4117402"/>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endParaRPr>
          </a:p>
        </p:txBody>
      </p:sp>
      <p:sp>
        <p:nvSpPr>
          <p:cNvPr id="77" name="Rectangle 24"/>
          <p:cNvSpPr>
            <a:spLocks noChangeArrowheads="1"/>
          </p:cNvSpPr>
          <p:nvPr/>
        </p:nvSpPr>
        <p:spPr bwMode="auto">
          <a:xfrm>
            <a:off x="3507256" y="4171377"/>
            <a:ext cx="1273175" cy="1979612"/>
          </a:xfrm>
          <a:prstGeom prst="rect">
            <a:avLst/>
          </a:prstGeom>
          <a:solidFill>
            <a:srgbClr val="FFFFFF"/>
          </a:solidFill>
          <a:ln w="285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endParaRPr>
          </a:p>
        </p:txBody>
      </p:sp>
      <p:sp>
        <p:nvSpPr>
          <p:cNvPr id="78" name="Line 25"/>
          <p:cNvSpPr>
            <a:spLocks noChangeShapeType="1"/>
          </p:cNvSpPr>
          <p:nvPr/>
        </p:nvSpPr>
        <p:spPr bwMode="auto">
          <a:xfrm>
            <a:off x="3516781" y="4931789"/>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9" name="Text Box 26"/>
          <p:cNvSpPr txBox="1">
            <a:spLocks noChangeArrowheads="1"/>
          </p:cNvSpPr>
          <p:nvPr/>
        </p:nvSpPr>
        <p:spPr bwMode="auto">
          <a:xfrm>
            <a:off x="3473918" y="49143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transport</a:t>
            </a:r>
            <a:endParaRPr lang="en-US" altLang="en-US" sz="1400">
              <a:solidFill>
                <a:srgbClr val="969696"/>
              </a:solidFill>
              <a:latin typeface="Tahoma" panose="020B0604030504040204" pitchFamily="34" charset="0"/>
            </a:endParaRPr>
          </a:p>
        </p:txBody>
      </p:sp>
      <p:sp>
        <p:nvSpPr>
          <p:cNvPr id="80" name="Line 27"/>
          <p:cNvSpPr>
            <a:spLocks noChangeShapeType="1"/>
          </p:cNvSpPr>
          <p:nvPr/>
        </p:nvSpPr>
        <p:spPr bwMode="auto">
          <a:xfrm>
            <a:off x="3524718" y="5252464"/>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1" name="Line 28"/>
          <p:cNvSpPr>
            <a:spLocks noChangeShapeType="1"/>
          </p:cNvSpPr>
          <p:nvPr/>
        </p:nvSpPr>
        <p:spPr bwMode="auto">
          <a:xfrm>
            <a:off x="3510431" y="5562027"/>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2" name="Line 29"/>
          <p:cNvSpPr>
            <a:spLocks noChangeShapeType="1"/>
          </p:cNvSpPr>
          <p:nvPr/>
        </p:nvSpPr>
        <p:spPr bwMode="auto">
          <a:xfrm>
            <a:off x="3510431" y="5847777"/>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3" name="Text Box 26"/>
          <p:cNvSpPr txBox="1">
            <a:spLocks noChangeArrowheads="1"/>
          </p:cNvSpPr>
          <p:nvPr/>
        </p:nvSpPr>
        <p:spPr bwMode="auto">
          <a:xfrm>
            <a:off x="3508843" y="41618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000000"/>
                </a:solidFill>
                <a:latin typeface="Tahoma" panose="020B0604030504040204" pitchFamily="34" charset="0"/>
              </a:rPr>
              <a:t>application</a:t>
            </a:r>
            <a:endParaRPr lang="en-US" altLang="en-US" sz="1400">
              <a:solidFill>
                <a:srgbClr val="000000"/>
              </a:solidFill>
              <a:latin typeface="Tahoma" panose="020B0604030504040204" pitchFamily="34" charset="0"/>
            </a:endParaRPr>
          </a:p>
        </p:txBody>
      </p:sp>
      <p:sp>
        <p:nvSpPr>
          <p:cNvPr id="84" name="Text Box 26"/>
          <p:cNvSpPr txBox="1">
            <a:spLocks noChangeArrowheads="1"/>
          </p:cNvSpPr>
          <p:nvPr/>
        </p:nvSpPr>
        <p:spPr bwMode="auto">
          <a:xfrm>
            <a:off x="3464393" y="58192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physical</a:t>
            </a:r>
            <a:endParaRPr lang="en-US" altLang="en-US" sz="1400">
              <a:solidFill>
                <a:srgbClr val="969696"/>
              </a:solidFill>
              <a:latin typeface="Tahoma" panose="020B0604030504040204" pitchFamily="34" charset="0"/>
            </a:endParaRPr>
          </a:p>
        </p:txBody>
      </p:sp>
      <p:sp>
        <p:nvSpPr>
          <p:cNvPr id="85" name="Text Box 26"/>
          <p:cNvSpPr txBox="1">
            <a:spLocks noChangeArrowheads="1"/>
          </p:cNvSpPr>
          <p:nvPr/>
        </p:nvSpPr>
        <p:spPr bwMode="auto">
          <a:xfrm>
            <a:off x="3483443" y="55334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link</a:t>
            </a:r>
            <a:endParaRPr lang="en-US" altLang="en-US" sz="1400">
              <a:solidFill>
                <a:srgbClr val="969696"/>
              </a:solidFill>
              <a:latin typeface="Tahoma" panose="020B0604030504040204" pitchFamily="34" charset="0"/>
            </a:endParaRPr>
          </a:p>
        </p:txBody>
      </p:sp>
      <p:sp>
        <p:nvSpPr>
          <p:cNvPr id="86" name="Text Box 26"/>
          <p:cNvSpPr txBox="1">
            <a:spLocks noChangeArrowheads="1"/>
          </p:cNvSpPr>
          <p:nvPr/>
        </p:nvSpPr>
        <p:spPr bwMode="auto">
          <a:xfrm>
            <a:off x="3473918" y="52381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network</a:t>
            </a:r>
            <a:endParaRPr lang="en-US" altLang="en-US" sz="1400">
              <a:solidFill>
                <a:srgbClr val="969696"/>
              </a:solidFill>
              <a:latin typeface="Tahoma" panose="020B0604030504040204" pitchFamily="34" charset="0"/>
            </a:endParaRPr>
          </a:p>
        </p:txBody>
      </p:sp>
      <p:sp>
        <p:nvSpPr>
          <p:cNvPr id="87" name="Oval 57"/>
          <p:cNvSpPr>
            <a:spLocks noChangeArrowheads="1"/>
          </p:cNvSpPr>
          <p:nvPr/>
        </p:nvSpPr>
        <p:spPr bwMode="auto">
          <a:xfrm>
            <a:off x="3642193" y="4436489"/>
            <a:ext cx="990600" cy="304800"/>
          </a:xfrm>
          <a:prstGeom prst="ellipse">
            <a:avLst/>
          </a:prstGeom>
          <a:solidFill>
            <a:srgbClr val="CCFFFF"/>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process</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88" name="Group 58"/>
          <p:cNvGrpSpPr/>
          <p:nvPr/>
        </p:nvGrpSpPr>
        <p:grpSpPr bwMode="auto">
          <a:xfrm>
            <a:off x="3889843" y="4796852"/>
            <a:ext cx="546100" cy="225425"/>
            <a:chOff x="1287" y="2524"/>
            <a:chExt cx="260" cy="100"/>
          </a:xfrm>
        </p:grpSpPr>
        <p:sp>
          <p:nvSpPr>
            <p:cNvPr id="89" name="Rectangle 59"/>
            <p:cNvSpPr>
              <a:spLocks noChangeArrowheads="1"/>
            </p:cNvSpPr>
            <p:nvPr/>
          </p:nvSpPr>
          <p:spPr bwMode="auto">
            <a:xfrm>
              <a:off x="1287" y="2524"/>
              <a:ext cx="260" cy="100"/>
            </a:xfrm>
            <a:prstGeom prst="rect">
              <a:avLst/>
            </a:prstGeom>
            <a:solidFill>
              <a:srgbClr val="C96B72"/>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90" name="Rectangle 60"/>
            <p:cNvSpPr>
              <a:spLocks noChangeArrowheads="1"/>
            </p:cNvSpPr>
            <p:nvPr/>
          </p:nvSpPr>
          <p:spPr bwMode="auto">
            <a:xfrm>
              <a:off x="1338" y="2537"/>
              <a:ext cx="156" cy="76"/>
            </a:xfrm>
            <a:prstGeom prst="rect">
              <a:avLst/>
            </a:prstGeom>
            <a:solidFill>
              <a:srgbClr val="FFFFFF"/>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91" name="Rectangle 61"/>
            <p:cNvSpPr>
              <a:spLocks noChangeArrowheads="1"/>
            </p:cNvSpPr>
            <p:nvPr/>
          </p:nvSpPr>
          <p:spPr bwMode="auto">
            <a:xfrm>
              <a:off x="1503" y="2582"/>
              <a:ext cx="27" cy="27"/>
            </a:xfrm>
            <a:prstGeom prst="rect">
              <a:avLst/>
            </a:prstGeom>
            <a:solidFill>
              <a:srgbClr val="C00000"/>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92" name="Rectangle 62"/>
            <p:cNvSpPr>
              <a:spLocks noChangeArrowheads="1"/>
            </p:cNvSpPr>
            <p:nvPr/>
          </p:nvSpPr>
          <p:spPr bwMode="auto">
            <a:xfrm>
              <a:off x="1298" y="2583"/>
              <a:ext cx="26" cy="27"/>
            </a:xfrm>
            <a:prstGeom prst="rect">
              <a:avLst/>
            </a:prstGeom>
            <a:solidFill>
              <a:srgbClr val="C00000"/>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93" name="Rectangle 23"/>
          <p:cNvSpPr>
            <a:spLocks noChangeArrowheads="1"/>
          </p:cNvSpPr>
          <p:nvPr/>
        </p:nvSpPr>
        <p:spPr bwMode="auto">
          <a:xfrm>
            <a:off x="7207718" y="4088827"/>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endParaRPr>
          </a:p>
        </p:txBody>
      </p:sp>
      <p:sp>
        <p:nvSpPr>
          <p:cNvPr id="94" name="Rectangle 24"/>
          <p:cNvSpPr>
            <a:spLocks noChangeArrowheads="1"/>
          </p:cNvSpPr>
          <p:nvPr/>
        </p:nvSpPr>
        <p:spPr bwMode="auto">
          <a:xfrm>
            <a:off x="7169618" y="4142802"/>
            <a:ext cx="1273175" cy="1979612"/>
          </a:xfrm>
          <a:prstGeom prst="rect">
            <a:avLst/>
          </a:prstGeom>
          <a:solidFill>
            <a:srgbClr val="FFFFFF"/>
          </a:solidFill>
          <a:ln w="285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endParaRPr>
          </a:p>
        </p:txBody>
      </p:sp>
      <p:sp>
        <p:nvSpPr>
          <p:cNvPr id="95" name="Line 25"/>
          <p:cNvSpPr>
            <a:spLocks noChangeShapeType="1"/>
          </p:cNvSpPr>
          <p:nvPr/>
        </p:nvSpPr>
        <p:spPr bwMode="auto">
          <a:xfrm>
            <a:off x="7179143" y="4903214"/>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96" name="Text Box 26"/>
          <p:cNvSpPr txBox="1">
            <a:spLocks noChangeArrowheads="1"/>
          </p:cNvSpPr>
          <p:nvPr/>
        </p:nvSpPr>
        <p:spPr bwMode="auto">
          <a:xfrm>
            <a:off x="7136281" y="48857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transport</a:t>
            </a:r>
            <a:endParaRPr lang="en-US" altLang="en-US" sz="1400">
              <a:solidFill>
                <a:srgbClr val="969696"/>
              </a:solidFill>
              <a:latin typeface="Tahoma" panose="020B0604030504040204" pitchFamily="34" charset="0"/>
            </a:endParaRPr>
          </a:p>
        </p:txBody>
      </p:sp>
      <p:sp>
        <p:nvSpPr>
          <p:cNvPr id="97" name="Line 27"/>
          <p:cNvSpPr>
            <a:spLocks noChangeShapeType="1"/>
          </p:cNvSpPr>
          <p:nvPr/>
        </p:nvSpPr>
        <p:spPr bwMode="auto">
          <a:xfrm>
            <a:off x="7187081" y="5223889"/>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98" name="Line 28"/>
          <p:cNvSpPr>
            <a:spLocks noChangeShapeType="1"/>
          </p:cNvSpPr>
          <p:nvPr/>
        </p:nvSpPr>
        <p:spPr bwMode="auto">
          <a:xfrm>
            <a:off x="7172793" y="5533452"/>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99" name="Line 29"/>
          <p:cNvSpPr>
            <a:spLocks noChangeShapeType="1"/>
          </p:cNvSpPr>
          <p:nvPr/>
        </p:nvSpPr>
        <p:spPr bwMode="auto">
          <a:xfrm>
            <a:off x="7172793" y="5819202"/>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00" name="Text Box 26"/>
          <p:cNvSpPr txBox="1">
            <a:spLocks noChangeArrowheads="1"/>
          </p:cNvSpPr>
          <p:nvPr/>
        </p:nvSpPr>
        <p:spPr bwMode="auto">
          <a:xfrm>
            <a:off x="7171206" y="41332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000000"/>
                </a:solidFill>
                <a:latin typeface="Tahoma" panose="020B0604030504040204" pitchFamily="34" charset="0"/>
              </a:rPr>
              <a:t>application</a:t>
            </a:r>
            <a:endParaRPr lang="en-US" altLang="en-US" sz="1400">
              <a:solidFill>
                <a:srgbClr val="000000"/>
              </a:solidFill>
              <a:latin typeface="Tahoma" panose="020B0604030504040204" pitchFamily="34" charset="0"/>
            </a:endParaRPr>
          </a:p>
        </p:txBody>
      </p:sp>
      <p:sp>
        <p:nvSpPr>
          <p:cNvPr id="101" name="Text Box 26"/>
          <p:cNvSpPr txBox="1">
            <a:spLocks noChangeArrowheads="1"/>
          </p:cNvSpPr>
          <p:nvPr/>
        </p:nvSpPr>
        <p:spPr bwMode="auto">
          <a:xfrm>
            <a:off x="7126756" y="57906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physical</a:t>
            </a:r>
            <a:endParaRPr lang="en-US" altLang="en-US" sz="1400">
              <a:solidFill>
                <a:srgbClr val="969696"/>
              </a:solidFill>
              <a:latin typeface="Tahoma" panose="020B0604030504040204" pitchFamily="34" charset="0"/>
            </a:endParaRPr>
          </a:p>
        </p:txBody>
      </p:sp>
      <p:sp>
        <p:nvSpPr>
          <p:cNvPr id="102" name="Text Box 26"/>
          <p:cNvSpPr txBox="1">
            <a:spLocks noChangeArrowheads="1"/>
          </p:cNvSpPr>
          <p:nvPr/>
        </p:nvSpPr>
        <p:spPr bwMode="auto">
          <a:xfrm>
            <a:off x="7145806" y="55048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link</a:t>
            </a:r>
            <a:endParaRPr lang="en-US" altLang="en-US" sz="1400">
              <a:solidFill>
                <a:srgbClr val="969696"/>
              </a:solidFill>
              <a:latin typeface="Tahoma" panose="020B0604030504040204" pitchFamily="34" charset="0"/>
            </a:endParaRPr>
          </a:p>
        </p:txBody>
      </p:sp>
      <p:sp>
        <p:nvSpPr>
          <p:cNvPr id="103" name="Text Box 26"/>
          <p:cNvSpPr txBox="1">
            <a:spLocks noChangeArrowheads="1"/>
          </p:cNvSpPr>
          <p:nvPr/>
        </p:nvSpPr>
        <p:spPr bwMode="auto">
          <a:xfrm>
            <a:off x="7136281" y="52096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network</a:t>
            </a:r>
            <a:endParaRPr lang="en-US" altLang="en-US" sz="1400">
              <a:solidFill>
                <a:srgbClr val="969696"/>
              </a:solidFill>
              <a:latin typeface="Tahoma" panose="020B0604030504040204" pitchFamily="34" charset="0"/>
            </a:endParaRPr>
          </a:p>
        </p:txBody>
      </p:sp>
      <p:sp>
        <p:nvSpPr>
          <p:cNvPr id="104" name="Oval 78"/>
          <p:cNvSpPr>
            <a:spLocks noChangeArrowheads="1"/>
          </p:cNvSpPr>
          <p:nvPr/>
        </p:nvSpPr>
        <p:spPr bwMode="auto">
          <a:xfrm>
            <a:off x="7304556" y="4407914"/>
            <a:ext cx="990600" cy="304800"/>
          </a:xfrm>
          <a:prstGeom prst="ellipse">
            <a:avLst/>
          </a:prstGeom>
          <a:solidFill>
            <a:srgbClr val="CCFFFF"/>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process</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105" name="Group 79"/>
          <p:cNvGrpSpPr/>
          <p:nvPr/>
        </p:nvGrpSpPr>
        <p:grpSpPr bwMode="auto">
          <a:xfrm>
            <a:off x="7552206" y="4768277"/>
            <a:ext cx="546100" cy="225425"/>
            <a:chOff x="1287" y="2524"/>
            <a:chExt cx="260" cy="100"/>
          </a:xfrm>
        </p:grpSpPr>
        <p:sp>
          <p:nvSpPr>
            <p:cNvPr id="106" name="Rectangle 80"/>
            <p:cNvSpPr>
              <a:spLocks noChangeArrowheads="1"/>
            </p:cNvSpPr>
            <p:nvPr/>
          </p:nvSpPr>
          <p:spPr bwMode="auto">
            <a:xfrm>
              <a:off x="1287" y="2524"/>
              <a:ext cx="260" cy="100"/>
            </a:xfrm>
            <a:prstGeom prst="rect">
              <a:avLst/>
            </a:prstGeom>
            <a:solidFill>
              <a:srgbClr val="C96B72"/>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07" name="Rectangle 81"/>
            <p:cNvSpPr>
              <a:spLocks noChangeArrowheads="1"/>
            </p:cNvSpPr>
            <p:nvPr/>
          </p:nvSpPr>
          <p:spPr bwMode="auto">
            <a:xfrm>
              <a:off x="1338" y="2537"/>
              <a:ext cx="156" cy="76"/>
            </a:xfrm>
            <a:prstGeom prst="rect">
              <a:avLst/>
            </a:prstGeom>
            <a:solidFill>
              <a:srgbClr val="FFFFFF"/>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08" name="Rectangle 82"/>
            <p:cNvSpPr>
              <a:spLocks noChangeArrowheads="1"/>
            </p:cNvSpPr>
            <p:nvPr/>
          </p:nvSpPr>
          <p:spPr bwMode="auto">
            <a:xfrm>
              <a:off x="1503" y="2582"/>
              <a:ext cx="27" cy="27"/>
            </a:xfrm>
            <a:prstGeom prst="rect">
              <a:avLst/>
            </a:prstGeom>
            <a:solidFill>
              <a:srgbClr val="C00000"/>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09" name="Rectangle 83"/>
            <p:cNvSpPr>
              <a:spLocks noChangeArrowheads="1"/>
            </p:cNvSpPr>
            <p:nvPr/>
          </p:nvSpPr>
          <p:spPr bwMode="auto">
            <a:xfrm>
              <a:off x="1298" y="2583"/>
              <a:ext cx="26" cy="27"/>
            </a:xfrm>
            <a:prstGeom prst="rect">
              <a:avLst/>
            </a:prstGeom>
            <a:solidFill>
              <a:srgbClr val="C00000"/>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110" name="Line 88"/>
          <p:cNvSpPr>
            <a:spLocks noChangeShapeType="1"/>
          </p:cNvSpPr>
          <p:nvPr/>
        </p:nvSpPr>
        <p:spPr bwMode="auto">
          <a:xfrm flipH="1">
            <a:off x="8361831" y="4539677"/>
            <a:ext cx="609600" cy="0"/>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11" name="Line 89"/>
          <p:cNvSpPr>
            <a:spLocks noChangeShapeType="1"/>
          </p:cNvSpPr>
          <p:nvPr/>
        </p:nvSpPr>
        <p:spPr bwMode="auto">
          <a:xfrm>
            <a:off x="8587256" y="4965127"/>
            <a:ext cx="0" cy="1022350"/>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12" name="Line 90"/>
          <p:cNvSpPr>
            <a:spLocks noChangeShapeType="1"/>
          </p:cNvSpPr>
          <p:nvPr/>
        </p:nvSpPr>
        <p:spPr bwMode="auto">
          <a:xfrm flipH="1">
            <a:off x="8611068" y="5465189"/>
            <a:ext cx="609600" cy="0"/>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13" name="Text Box 56"/>
          <p:cNvSpPr txBox="1">
            <a:spLocks noChangeArrowheads="1"/>
          </p:cNvSpPr>
          <p:nvPr/>
        </p:nvSpPr>
        <p:spPr bwMode="auto">
          <a:xfrm>
            <a:off x="5524968" y="4220589"/>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90000"/>
              </a:lnSpc>
              <a:spcBef>
                <a:spcPct val="0"/>
              </a:spcBef>
              <a:spcAft>
                <a:spcPct val="0"/>
              </a:spcAft>
              <a:buClrTx/>
              <a:buSzTx/>
              <a:buFontTx/>
              <a:buNone/>
              <a:defRPr/>
            </a:pPr>
            <a:r>
              <a:rPr kumimoji="0" lang="en-US" altLang="en-US" sz="2000" b="0" i="1"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socket</a:t>
            </a:r>
            <a:endParaRPr kumimoji="0" lang="en-US" altLang="en-US" sz="2000" b="0" i="1"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14" name="Line 92"/>
          <p:cNvSpPr>
            <a:spLocks noChangeShapeType="1"/>
          </p:cNvSpPr>
          <p:nvPr/>
        </p:nvSpPr>
        <p:spPr bwMode="auto">
          <a:xfrm flipV="1">
            <a:off x="4528018" y="4420614"/>
            <a:ext cx="968375" cy="434975"/>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15" name="Line 93"/>
          <p:cNvSpPr>
            <a:spLocks noChangeShapeType="1"/>
          </p:cNvSpPr>
          <p:nvPr/>
        </p:nvSpPr>
        <p:spPr bwMode="auto">
          <a:xfrm flipH="1" flipV="1">
            <a:off x="6463181" y="4409502"/>
            <a:ext cx="968375" cy="434975"/>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grpSp>
        <p:nvGrpSpPr>
          <p:cNvPr id="116" name="Group 96"/>
          <p:cNvGrpSpPr/>
          <p:nvPr/>
        </p:nvGrpSpPr>
        <p:grpSpPr bwMode="auto">
          <a:xfrm>
            <a:off x="2318218" y="5474714"/>
            <a:ext cx="719138" cy="773113"/>
            <a:chOff x="-44" y="1473"/>
            <a:chExt cx="981" cy="1105"/>
          </a:xfrm>
        </p:grpSpPr>
        <p:pic>
          <p:nvPicPr>
            <p:cNvPr id="117" name="Picture 97"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98"/>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119" name="Group 99"/>
          <p:cNvGrpSpPr/>
          <p:nvPr/>
        </p:nvGrpSpPr>
        <p:grpSpPr bwMode="auto">
          <a:xfrm flipH="1">
            <a:off x="9014293" y="5669977"/>
            <a:ext cx="719138" cy="773112"/>
            <a:chOff x="-44" y="1473"/>
            <a:chExt cx="981" cy="1105"/>
          </a:xfrm>
        </p:grpSpPr>
        <p:pic>
          <p:nvPicPr>
            <p:cNvPr id="120" name="Picture 100"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Addressing processes</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61" name="Rectangle 3"/>
          <p:cNvSpPr txBox="1">
            <a:spLocks noChangeArrowheads="1"/>
          </p:cNvSpPr>
          <p:nvPr/>
        </p:nvSpPr>
        <p:spPr>
          <a:xfrm>
            <a:off x="695101" y="1464896"/>
            <a:ext cx="496447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ea typeface="MS PGothic" panose="020B0600070205080204" pitchFamily="34" charset="-128"/>
              </a:rPr>
              <a:t>to receive messages, process  must have </a:t>
            </a:r>
            <a:r>
              <a:rPr lang="en-US" altLang="en-US" i="1" dirty="0">
                <a:solidFill>
                  <a:srgbClr val="CC0000"/>
                </a:solidFill>
                <a:ea typeface="MS PGothic" panose="020B0600070205080204" pitchFamily="34" charset="-128"/>
              </a:rPr>
              <a:t>identifier</a:t>
            </a:r>
            <a:endParaRPr lang="en-US" altLang="en-US" i="1" dirty="0">
              <a:solidFill>
                <a:srgbClr val="CC0000"/>
              </a:solidFill>
              <a:ea typeface="MS PGothic" panose="020B0600070205080204" pitchFamily="34" charset="-128"/>
            </a:endParaRPr>
          </a:p>
          <a:p>
            <a:r>
              <a:rPr lang="en-US" altLang="en-US" dirty="0">
                <a:ea typeface="MS PGothic" panose="020B0600070205080204" pitchFamily="34" charset="-128"/>
              </a:rPr>
              <a:t>host device has unique 32-bit IP address</a:t>
            </a:r>
            <a:endParaRPr lang="en-US" altLang="en-US" dirty="0">
              <a:ea typeface="MS PGothic" panose="020B0600070205080204" pitchFamily="34" charset="-128"/>
            </a:endParaRPr>
          </a:p>
          <a:p>
            <a:r>
              <a:rPr lang="en-US" altLang="en-US" i="1" u="sng" dirty="0">
                <a:solidFill>
                  <a:srgbClr val="CC0000"/>
                </a:solidFill>
                <a:ea typeface="MS PGothic" panose="020B0600070205080204" pitchFamily="34" charset="-128"/>
              </a:rPr>
              <a:t>Q:</a:t>
            </a:r>
            <a:r>
              <a:rPr lang="en-US" altLang="en-US" dirty="0">
                <a:ea typeface="MS PGothic" panose="020B0600070205080204" pitchFamily="34" charset="-128"/>
              </a:rPr>
              <a:t> does  IP address of host on which process runs suffice for identifying the process?</a:t>
            </a:r>
            <a:endParaRPr lang="en-US" altLang="en-US" dirty="0">
              <a:ea typeface="MS PGothic" panose="020B0600070205080204" pitchFamily="34" charset="-128"/>
            </a:endParaRPr>
          </a:p>
        </p:txBody>
      </p:sp>
      <p:sp>
        <p:nvSpPr>
          <p:cNvPr id="62" name="Rectangle 4"/>
          <p:cNvSpPr txBox="1">
            <a:spLocks noChangeArrowheads="1"/>
          </p:cNvSpPr>
          <p:nvPr/>
        </p:nvSpPr>
        <p:spPr>
          <a:xfrm>
            <a:off x="6056491" y="1464896"/>
            <a:ext cx="5573224" cy="5218112"/>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MS PGothic" panose="020B0600070205080204" pitchFamily="34" charset="-128"/>
              </a:rPr>
              <a:t>identifier</a:t>
            </a:r>
            <a:r>
              <a:rPr lang="en-US" altLang="en-US" dirty="0">
                <a:solidFill>
                  <a:srgbClr val="FF0000"/>
                </a:solidFill>
                <a:ea typeface="MS PGothic" panose="020B0600070205080204" pitchFamily="34" charset="-128"/>
              </a:rPr>
              <a:t> </a:t>
            </a:r>
            <a:r>
              <a:rPr lang="en-US" altLang="en-US" dirty="0">
                <a:ea typeface="MS PGothic" panose="020B0600070205080204" pitchFamily="34" charset="-128"/>
              </a:rPr>
              <a:t>includes both </a:t>
            </a:r>
            <a:r>
              <a:rPr lang="en-US" altLang="en-US" dirty="0">
                <a:solidFill>
                  <a:srgbClr val="CC0000"/>
                </a:solidFill>
                <a:ea typeface="MS PGothic" panose="020B0600070205080204" pitchFamily="34" charset="-128"/>
              </a:rPr>
              <a:t>IP address</a:t>
            </a:r>
            <a:r>
              <a:rPr lang="en-US" altLang="en-US" dirty="0">
                <a:ea typeface="MS PGothic" panose="020B0600070205080204" pitchFamily="34" charset="-128"/>
              </a:rPr>
              <a:t> and </a:t>
            </a:r>
            <a:r>
              <a:rPr lang="en-US" altLang="en-US" dirty="0">
                <a:solidFill>
                  <a:srgbClr val="CC0000"/>
                </a:solidFill>
                <a:ea typeface="MS PGothic" panose="020B0600070205080204" pitchFamily="34" charset="-128"/>
              </a:rPr>
              <a:t>port numbers</a:t>
            </a:r>
            <a:r>
              <a:rPr lang="en-US" altLang="en-US" dirty="0">
                <a:ea typeface="MS PGothic" panose="020B0600070205080204" pitchFamily="34" charset="-128"/>
              </a:rPr>
              <a:t> associated with process on host.</a:t>
            </a:r>
            <a:endParaRPr lang="en-US" altLang="en-US" dirty="0">
              <a:ea typeface="MS PGothic" panose="020B0600070205080204" pitchFamily="34" charset="-128"/>
            </a:endParaRPr>
          </a:p>
          <a:p>
            <a:r>
              <a:rPr lang="en-US" altLang="en-US" dirty="0">
                <a:ea typeface="MS PGothic" panose="020B0600070205080204" pitchFamily="34" charset="-128"/>
              </a:rPr>
              <a:t>example port numbers:</a:t>
            </a:r>
            <a:endParaRPr lang="en-US" altLang="en-US" dirty="0">
              <a:ea typeface="MS PGothic" panose="020B0600070205080204" pitchFamily="34" charset="-128"/>
            </a:endParaRPr>
          </a:p>
          <a:p>
            <a:pPr lvl="1"/>
            <a:r>
              <a:rPr lang="en-US" altLang="en-US" dirty="0">
                <a:ea typeface="MS PGothic" panose="020B0600070205080204" pitchFamily="34" charset="-128"/>
              </a:rPr>
              <a:t>HTTP server: 80</a:t>
            </a:r>
            <a:endParaRPr lang="en-US" altLang="en-US" dirty="0">
              <a:ea typeface="MS PGothic" panose="020B0600070205080204" pitchFamily="34" charset="-128"/>
            </a:endParaRPr>
          </a:p>
          <a:p>
            <a:pPr lvl="1"/>
            <a:r>
              <a:rPr lang="en-US" altLang="en-US" dirty="0">
                <a:ea typeface="MS PGothic" panose="020B0600070205080204" pitchFamily="34" charset="-128"/>
              </a:rPr>
              <a:t>mail server: 25</a:t>
            </a:r>
            <a:endParaRPr lang="en-US" altLang="en-US" dirty="0">
              <a:ea typeface="MS PGothic" panose="020B0600070205080204" pitchFamily="34" charset="-128"/>
            </a:endParaRPr>
          </a:p>
          <a:p>
            <a:r>
              <a:rPr lang="en-US" altLang="en-US" dirty="0">
                <a:ea typeface="MS PGothic" panose="020B0600070205080204" pitchFamily="34" charset="-128"/>
              </a:rPr>
              <a:t>to send HTTP message to </a:t>
            </a:r>
            <a:r>
              <a:rPr lang="en-US" altLang="en-US" dirty="0" err="1">
                <a:ea typeface="MS PGothic" panose="020B0600070205080204" pitchFamily="34" charset="-128"/>
              </a:rPr>
              <a:t>gaia.cs.umass.edu</a:t>
            </a:r>
            <a:r>
              <a:rPr lang="en-US" altLang="en-US" dirty="0">
                <a:ea typeface="MS PGothic" panose="020B0600070205080204" pitchFamily="34" charset="-128"/>
              </a:rPr>
              <a:t> web server:</a:t>
            </a:r>
            <a:endParaRPr lang="en-US" altLang="en-US" dirty="0">
              <a:ea typeface="MS PGothic" panose="020B0600070205080204" pitchFamily="34" charset="-128"/>
            </a:endParaRPr>
          </a:p>
          <a:p>
            <a:pPr lvl="1"/>
            <a:r>
              <a:rPr lang="en-US" altLang="en-US" dirty="0">
                <a:solidFill>
                  <a:srgbClr val="CC0000"/>
                </a:solidFill>
                <a:ea typeface="MS PGothic" panose="020B0600070205080204" pitchFamily="34" charset="-128"/>
              </a:rPr>
              <a:t>IP address:</a:t>
            </a:r>
            <a:r>
              <a:rPr lang="en-US" altLang="en-US" dirty="0">
                <a:solidFill>
                  <a:schemeClr val="accent2"/>
                </a:solidFill>
                <a:ea typeface="MS PGothic" panose="020B0600070205080204" pitchFamily="34" charset="-128"/>
              </a:rPr>
              <a:t> </a:t>
            </a:r>
            <a:r>
              <a:rPr lang="en-US" altLang="en-US" dirty="0">
                <a:ea typeface="MS PGothic" panose="020B0600070205080204" pitchFamily="34" charset="-128"/>
              </a:rPr>
              <a:t>128.119.245.12</a:t>
            </a:r>
            <a:endParaRPr lang="en-US" altLang="en-US" dirty="0">
              <a:ea typeface="MS PGothic" panose="020B0600070205080204" pitchFamily="34" charset="-128"/>
            </a:endParaRPr>
          </a:p>
          <a:p>
            <a:pPr lvl="1"/>
            <a:r>
              <a:rPr lang="en-US" altLang="en-US" dirty="0">
                <a:solidFill>
                  <a:srgbClr val="CC0000"/>
                </a:solidFill>
                <a:ea typeface="MS PGothic" panose="020B0600070205080204" pitchFamily="34" charset="-128"/>
              </a:rPr>
              <a:t>port number:</a:t>
            </a:r>
            <a:r>
              <a:rPr lang="en-US" altLang="en-US" dirty="0">
                <a:solidFill>
                  <a:schemeClr val="accent2"/>
                </a:solidFill>
                <a:ea typeface="MS PGothic" panose="020B0600070205080204" pitchFamily="34" charset="-128"/>
              </a:rPr>
              <a:t> </a:t>
            </a:r>
            <a:r>
              <a:rPr lang="en-US" altLang="en-US" dirty="0">
                <a:ea typeface="MS PGothic" panose="020B0600070205080204" pitchFamily="34" charset="-128"/>
              </a:rPr>
              <a:t>80</a:t>
            </a:r>
            <a:endParaRPr lang="en-US" altLang="en-US" dirty="0">
              <a:ea typeface="MS PGothic" panose="020B0600070205080204" pitchFamily="34" charset="-128"/>
            </a:endParaRPr>
          </a:p>
          <a:p>
            <a:r>
              <a:rPr lang="en-US" altLang="en-US" dirty="0">
                <a:ea typeface="MS PGothic" panose="020B0600070205080204" pitchFamily="34" charset="-128"/>
              </a:rPr>
              <a:t>more shortly…</a:t>
            </a:r>
            <a:endParaRPr lang="en-US" altLang="en-US" dirty="0">
              <a:ea typeface="MS PGothic" panose="020B0600070205080204" pitchFamily="34" charset="-128"/>
            </a:endParaRPr>
          </a:p>
        </p:txBody>
      </p:sp>
      <p:sp>
        <p:nvSpPr>
          <p:cNvPr id="63" name="Rectangle 3"/>
          <p:cNvSpPr>
            <a:spLocks noChangeArrowheads="1"/>
          </p:cNvSpPr>
          <p:nvPr/>
        </p:nvSpPr>
        <p:spPr bwMode="auto">
          <a:xfrm>
            <a:off x="562285" y="4507034"/>
            <a:ext cx="431451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lvl="1">
              <a:lnSpc>
                <a:spcPct val="85000"/>
              </a:lnSpc>
              <a:buClr>
                <a:srgbClr val="000099"/>
              </a:buClr>
              <a:buSzTx/>
              <a:buFont typeface="Wingdings" panose="05000000000000000000" pitchFamily="2" charset="2"/>
              <a:buChar char="§"/>
            </a:pPr>
            <a:r>
              <a:rPr lang="en-US" altLang="en-US" sz="2800" i="1" u="sng" dirty="0">
                <a:solidFill>
                  <a:srgbClr val="CC0000"/>
                </a:solidFill>
                <a:latin typeface="+mn-lt"/>
              </a:rPr>
              <a:t>A:</a:t>
            </a:r>
            <a:r>
              <a:rPr lang="en-US" altLang="en-US" sz="2800" dirty="0">
                <a:latin typeface="+mn-lt"/>
              </a:rPr>
              <a:t> no, </a:t>
            </a:r>
            <a:r>
              <a:rPr lang="en-US" altLang="en-US" sz="2800" i="1" dirty="0">
                <a:latin typeface="+mn-lt"/>
              </a:rPr>
              <a:t>many</a:t>
            </a:r>
            <a:r>
              <a:rPr lang="en-US" altLang="en-US" sz="2800" dirty="0">
                <a:latin typeface="+mn-lt"/>
              </a:rPr>
              <a:t> processes can be running on same host</a:t>
            </a:r>
            <a:endParaRPr lang="en-US" altLang="en-US" sz="2800" dirty="0">
              <a:latin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xEl>
                                              <p:pRg st="0" end="0"/>
                                            </p:txEl>
                                          </p:spTgt>
                                        </p:tgtEl>
                                        <p:attrNameLst>
                                          <p:attrName>style.visibility</p:attrName>
                                        </p:attrNameLst>
                                      </p:cBhvr>
                                      <p:to>
                                        <p:strVal val="visible"/>
                                      </p:to>
                                    </p:set>
                                    <p:animEffect transition="in" filter="dissolve">
                                      <p:cBhvr>
                                        <p:cTn id="7" dur="500"/>
                                        <p:tgtEl>
                                          <p:spTgt spid="6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An application-layer </a:t>
            </a:r>
            <a:r>
              <a:rPr lang="en-US" altLang="en-US" dirty="0">
                <a:ea typeface="MS PGothic" panose="020B0600070205080204" pitchFamily="34" charset="-128"/>
              </a:rPr>
              <a:t>p</a:t>
            </a:r>
            <a:r>
              <a:rPr lang="en-US" altLang="en-US" sz="4400" dirty="0">
                <a:ea typeface="MS PGothic" panose="020B0600070205080204" pitchFamily="34" charset="-128"/>
              </a:rPr>
              <a:t>rotocol </a:t>
            </a:r>
            <a:r>
              <a:rPr lang="en-US" altLang="en-US" dirty="0">
                <a:ea typeface="MS PGothic" panose="020B0600070205080204" pitchFamily="34" charset="-128"/>
              </a:rPr>
              <a:t>d</a:t>
            </a:r>
            <a:r>
              <a:rPr lang="en-US" altLang="en-US" sz="4400" dirty="0">
                <a:ea typeface="MS PGothic" panose="020B0600070205080204" pitchFamily="34" charset="-128"/>
              </a:rPr>
              <a:t>efines:</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7" name="Rectangle 3"/>
          <p:cNvSpPr txBox="1">
            <a:spLocks noChangeArrowheads="1"/>
          </p:cNvSpPr>
          <p:nvPr/>
        </p:nvSpPr>
        <p:spPr>
          <a:xfrm>
            <a:off x="759182" y="1464838"/>
            <a:ext cx="529730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solidFill>
                  <a:srgbClr val="C00000"/>
                </a:solidFill>
                <a:ea typeface="MS PGothic" panose="020B0600070205080204" pitchFamily="34" charset="-128"/>
              </a:rPr>
              <a:t>types of messages exchanged, </a:t>
            </a:r>
            <a:endParaRPr lang="en-US" altLang="en-US" dirty="0">
              <a:solidFill>
                <a:srgbClr val="C00000"/>
              </a:solidFill>
              <a:ea typeface="MS PGothic" panose="020B0600070205080204" pitchFamily="34" charset="-128"/>
            </a:endParaRPr>
          </a:p>
          <a:p>
            <a:pPr lvl="1"/>
            <a:r>
              <a:rPr lang="en-US" altLang="en-US" sz="2800" dirty="0">
                <a:ea typeface="MS PGothic" panose="020B0600070205080204" pitchFamily="34" charset="-128"/>
              </a:rPr>
              <a:t>e.g., request, response </a:t>
            </a:r>
            <a:endParaRPr lang="en-US" altLang="en-US" sz="2800" dirty="0">
              <a:ea typeface="MS PGothic" panose="020B0600070205080204" pitchFamily="34" charset="-128"/>
            </a:endParaRPr>
          </a:p>
          <a:p>
            <a:r>
              <a:rPr lang="en-US" altLang="en-US" dirty="0">
                <a:solidFill>
                  <a:srgbClr val="C00000"/>
                </a:solidFill>
                <a:ea typeface="MS PGothic" panose="020B0600070205080204" pitchFamily="34" charset="-128"/>
              </a:rPr>
              <a:t>message syntax:</a:t>
            </a:r>
            <a:endParaRPr lang="en-US" altLang="en-US" dirty="0">
              <a:solidFill>
                <a:srgbClr val="C00000"/>
              </a:solidFill>
              <a:ea typeface="MS PGothic" panose="020B0600070205080204" pitchFamily="34" charset="-128"/>
            </a:endParaRPr>
          </a:p>
          <a:p>
            <a:pPr lvl="1"/>
            <a:r>
              <a:rPr lang="en-US" altLang="en-US" sz="2800" dirty="0">
                <a:ea typeface="MS PGothic" panose="020B0600070205080204" pitchFamily="34" charset="-128"/>
              </a:rPr>
              <a:t>what fields in messages &amp; how fields are delineated</a:t>
            </a:r>
            <a:endParaRPr lang="en-US" altLang="en-US" sz="2800" dirty="0">
              <a:ea typeface="MS PGothic" panose="020B0600070205080204" pitchFamily="34" charset="-128"/>
            </a:endParaRPr>
          </a:p>
          <a:p>
            <a:r>
              <a:rPr lang="en-US" altLang="en-US" dirty="0">
                <a:solidFill>
                  <a:srgbClr val="C00000"/>
                </a:solidFill>
                <a:ea typeface="MS PGothic" panose="020B0600070205080204" pitchFamily="34" charset="-128"/>
              </a:rPr>
              <a:t>message semantics </a:t>
            </a:r>
            <a:endParaRPr lang="en-US" altLang="en-US" dirty="0">
              <a:solidFill>
                <a:srgbClr val="C00000"/>
              </a:solidFill>
              <a:ea typeface="MS PGothic" panose="020B0600070205080204" pitchFamily="34" charset="-128"/>
            </a:endParaRPr>
          </a:p>
          <a:p>
            <a:pPr lvl="1"/>
            <a:r>
              <a:rPr lang="en-US" altLang="en-US" sz="2800" dirty="0">
                <a:ea typeface="MS PGothic" panose="020B0600070205080204" pitchFamily="34" charset="-128"/>
              </a:rPr>
              <a:t>meaning of information in fields</a:t>
            </a:r>
            <a:endParaRPr lang="en-US" altLang="en-US" sz="2800" dirty="0">
              <a:ea typeface="MS PGothic" panose="020B0600070205080204" pitchFamily="34" charset="-128"/>
            </a:endParaRPr>
          </a:p>
          <a:p>
            <a:r>
              <a:rPr lang="en-US" altLang="en-US" dirty="0">
                <a:solidFill>
                  <a:srgbClr val="C00000"/>
                </a:solidFill>
                <a:ea typeface="MS PGothic" panose="020B0600070205080204" pitchFamily="34" charset="-128"/>
              </a:rPr>
              <a:t>rules</a:t>
            </a:r>
            <a:r>
              <a:rPr lang="en-US" altLang="en-US" dirty="0">
                <a:ea typeface="MS PGothic" panose="020B0600070205080204" pitchFamily="34" charset="-128"/>
              </a:rPr>
              <a:t> for when and how processes send &amp; respond to messages</a:t>
            </a:r>
            <a:endParaRPr lang="en-US" altLang="en-US" dirty="0">
              <a:ea typeface="MS PGothic" panose="020B0600070205080204" pitchFamily="34" charset="-128"/>
            </a:endParaRPr>
          </a:p>
        </p:txBody>
      </p:sp>
      <p:sp>
        <p:nvSpPr>
          <p:cNvPr id="8" name="Rectangle 4"/>
          <p:cNvSpPr txBox="1">
            <a:spLocks noChangeArrowheads="1"/>
          </p:cNvSpPr>
          <p:nvPr/>
        </p:nvSpPr>
        <p:spPr>
          <a:xfrm>
            <a:off x="6555631" y="1474670"/>
            <a:ext cx="475866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dirty="0">
                <a:solidFill>
                  <a:srgbClr val="C00000"/>
                </a:solidFill>
                <a:ea typeface="MS PGothic" panose="020B0600070205080204" pitchFamily="34" charset="-128"/>
              </a:rPr>
              <a:t>open protocols:</a:t>
            </a:r>
            <a:endParaRPr lang="en-US" altLang="en-US" dirty="0">
              <a:solidFill>
                <a:srgbClr val="C00000"/>
              </a:solidFill>
              <a:ea typeface="MS PGothic" panose="020B0600070205080204" pitchFamily="34" charset="-128"/>
            </a:endParaRPr>
          </a:p>
          <a:p>
            <a:r>
              <a:rPr lang="en-US" altLang="en-US" dirty="0">
                <a:ea typeface="MS PGothic" panose="020B0600070205080204" pitchFamily="34" charset="-128"/>
              </a:rPr>
              <a:t>defined in RFCs, everyone has access to protocol definition</a:t>
            </a:r>
            <a:endParaRPr lang="en-US" altLang="en-US" dirty="0">
              <a:ea typeface="MS PGothic" panose="020B0600070205080204" pitchFamily="34" charset="-128"/>
            </a:endParaRPr>
          </a:p>
          <a:p>
            <a:r>
              <a:rPr lang="en-US" altLang="en-US" dirty="0">
                <a:ea typeface="MS PGothic" panose="020B0600070205080204" pitchFamily="34" charset="-128"/>
              </a:rPr>
              <a:t>allows for interoperability</a:t>
            </a:r>
            <a:endParaRPr lang="en-US" altLang="en-US" dirty="0">
              <a:ea typeface="MS PGothic" panose="020B0600070205080204" pitchFamily="34" charset="-128"/>
            </a:endParaRPr>
          </a:p>
          <a:p>
            <a:r>
              <a:rPr lang="en-US" altLang="en-US" dirty="0">
                <a:ea typeface="MS PGothic" panose="020B0600070205080204" pitchFamily="34" charset="-128"/>
              </a:rPr>
              <a:t>e.g., HTTP, SMTP</a:t>
            </a:r>
            <a:endParaRPr lang="en-US" altLang="en-US" dirty="0">
              <a:ea typeface="MS PGothic" panose="020B0600070205080204" pitchFamily="34" charset="-128"/>
            </a:endParaRPr>
          </a:p>
          <a:p>
            <a:pPr>
              <a:buFont typeface="Wingdings" panose="05000000000000000000" pitchFamily="2" charset="2"/>
              <a:buNone/>
            </a:pPr>
            <a:r>
              <a:rPr lang="en-US" altLang="en-US" dirty="0">
                <a:solidFill>
                  <a:srgbClr val="C00000"/>
                </a:solidFill>
                <a:ea typeface="MS PGothic" panose="020B0600070205080204" pitchFamily="34" charset="-128"/>
              </a:rPr>
              <a:t>proprietary protocols:</a:t>
            </a:r>
            <a:endParaRPr lang="en-US" altLang="en-US" dirty="0">
              <a:solidFill>
                <a:srgbClr val="C00000"/>
              </a:solidFill>
              <a:ea typeface="MS PGothic" panose="020B0600070205080204" pitchFamily="34" charset="-128"/>
            </a:endParaRPr>
          </a:p>
          <a:p>
            <a:r>
              <a:rPr lang="en-US" altLang="en-US" dirty="0">
                <a:ea typeface="MS PGothic" panose="020B0600070205080204" pitchFamily="34" charset="-128"/>
              </a:rPr>
              <a:t>e.g., Skype</a:t>
            </a:r>
            <a:endParaRPr lang="en-US" altLang="en-US" dirty="0">
              <a:ea typeface="MS PGothic" panose="020B0600070205080204" pitchFamily="34" charset="-128"/>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What </a:t>
            </a:r>
            <a:r>
              <a:rPr lang="en-US" altLang="en-US" dirty="0">
                <a:ea typeface="MS PGothic" panose="020B0600070205080204" pitchFamily="34" charset="-128"/>
              </a:rPr>
              <a:t>t</a:t>
            </a:r>
            <a:r>
              <a:rPr lang="en-US" altLang="en-US" sz="4400" dirty="0">
                <a:ea typeface="MS PGothic" panose="020B0600070205080204" pitchFamily="34" charset="-128"/>
              </a:rPr>
              <a:t>ransport </a:t>
            </a:r>
            <a:r>
              <a:rPr lang="en-US" altLang="en-US" dirty="0">
                <a:ea typeface="MS PGothic" panose="020B0600070205080204" pitchFamily="34" charset="-128"/>
              </a:rPr>
              <a:t>s</a:t>
            </a:r>
            <a:r>
              <a:rPr lang="en-US" altLang="en-US" sz="4400" dirty="0">
                <a:ea typeface="MS PGothic" panose="020B0600070205080204" pitchFamily="34" charset="-128"/>
              </a:rPr>
              <a:t>ervice does an </a:t>
            </a:r>
            <a:r>
              <a:rPr lang="en-US" altLang="en-US" dirty="0">
                <a:ea typeface="MS PGothic" panose="020B0600070205080204" pitchFamily="34" charset="-128"/>
              </a:rPr>
              <a:t>a</a:t>
            </a:r>
            <a:r>
              <a:rPr lang="en-US" altLang="en-US" sz="4400" dirty="0">
                <a:ea typeface="MS PGothic" panose="020B0600070205080204" pitchFamily="34" charset="-128"/>
              </a:rPr>
              <a:t>pp need?</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0" name="Rectangle 3"/>
          <p:cNvSpPr txBox="1">
            <a:spLocks noChangeArrowheads="1"/>
          </p:cNvSpPr>
          <p:nvPr/>
        </p:nvSpPr>
        <p:spPr>
          <a:xfrm>
            <a:off x="676025" y="1406872"/>
            <a:ext cx="4972505" cy="27971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680" indent="-219075">
              <a:spcBef>
                <a:spcPts val="600"/>
              </a:spcBef>
              <a:buFont typeface="Wingdings" panose="05000000000000000000" charset="0"/>
              <a:buNone/>
              <a:defRPr/>
            </a:pPr>
            <a:r>
              <a:rPr lang="en-US" sz="3200" dirty="0">
                <a:solidFill>
                  <a:srgbClr val="CC0000"/>
                </a:solidFill>
              </a:rPr>
              <a:t>data integrity</a:t>
            </a:r>
            <a:endParaRPr lang="en-US" sz="3200" dirty="0">
              <a:solidFill>
                <a:srgbClr val="CC0000"/>
              </a:solidFill>
            </a:endParaRPr>
          </a:p>
          <a:p>
            <a:pPr marL="233680" indent="-219075">
              <a:spcBef>
                <a:spcPts val="600"/>
              </a:spcBef>
              <a:buFont typeface="Wingdings" panose="05000000000000000000" pitchFamily="2" charset="2"/>
              <a:buChar char="§"/>
              <a:defRPr/>
            </a:pPr>
            <a:r>
              <a:rPr lang="en-US" dirty="0"/>
              <a:t>some apps (e.g., file transfer, web transactions) require 100% reliable data transfer</a:t>
            </a:r>
            <a:r>
              <a:rPr lang="en-US" sz="3200" dirty="0"/>
              <a:t> </a:t>
            </a:r>
            <a:endParaRPr lang="en-US" sz="3200" dirty="0"/>
          </a:p>
          <a:p>
            <a:pPr marL="233680" indent="-233680">
              <a:spcBef>
                <a:spcPts val="600"/>
              </a:spcBef>
              <a:buFont typeface="Wingdings" panose="05000000000000000000" pitchFamily="2" charset="2"/>
              <a:buChar char="§"/>
              <a:defRPr/>
            </a:pPr>
            <a:r>
              <a:rPr lang="en-US" dirty="0"/>
              <a:t>other apps (e.g., audio) can tolerate some loss</a:t>
            </a:r>
            <a:endParaRPr lang="en-US" dirty="0"/>
          </a:p>
          <a:p>
            <a:pPr>
              <a:spcBef>
                <a:spcPts val="600"/>
              </a:spcBef>
              <a:buFont typeface="Wingdings" panose="05000000000000000000" pitchFamily="2" charset="2"/>
              <a:buChar char="§"/>
              <a:defRPr/>
            </a:pPr>
            <a:endParaRPr lang="en-US" sz="3200" dirty="0"/>
          </a:p>
        </p:txBody>
      </p:sp>
      <p:sp>
        <p:nvSpPr>
          <p:cNvPr id="11" name="Rectangle 4"/>
          <p:cNvSpPr txBox="1">
            <a:spLocks noChangeArrowheads="1"/>
          </p:cNvSpPr>
          <p:nvPr/>
        </p:nvSpPr>
        <p:spPr>
          <a:xfrm>
            <a:off x="544999" y="4365808"/>
            <a:ext cx="5572612" cy="244316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600"/>
              </a:spcBef>
              <a:buFont typeface="Wingdings" panose="05000000000000000000" pitchFamily="2" charset="2"/>
              <a:buNone/>
            </a:pPr>
            <a:r>
              <a:rPr lang="en-US" altLang="en-US" sz="3200" dirty="0">
                <a:solidFill>
                  <a:srgbClr val="CC0000"/>
                </a:solidFill>
                <a:ea typeface="MS PGothic" panose="020B0600070205080204" pitchFamily="34" charset="-128"/>
              </a:rPr>
              <a:t>timing</a:t>
            </a:r>
            <a:endParaRPr lang="en-US" altLang="en-US" sz="3200" dirty="0">
              <a:solidFill>
                <a:srgbClr val="CC0000"/>
              </a:solidFill>
              <a:ea typeface="MS PGothic" panose="020B0600070205080204" pitchFamily="34" charset="-128"/>
            </a:endParaRPr>
          </a:p>
          <a:p>
            <a:pPr>
              <a:spcBef>
                <a:spcPts val="600"/>
              </a:spcBef>
            </a:pPr>
            <a:r>
              <a:rPr lang="en-US" altLang="en-US" dirty="0">
                <a:ea typeface="MS PGothic" panose="020B0600070205080204" pitchFamily="34" charset="-128"/>
              </a:rPr>
              <a:t>some apps (e.g., Internet telephony, interactive games) require low delay to be “</a:t>
            </a:r>
            <a:r>
              <a:rPr lang="en-US" altLang="ja-JP" dirty="0">
                <a:ea typeface="MS PGothic" panose="020B0600070205080204" pitchFamily="34" charset="-128"/>
              </a:rPr>
              <a:t>effective”</a:t>
            </a:r>
            <a:endParaRPr lang="en-US" altLang="en-US" dirty="0">
              <a:ea typeface="MS PGothic" panose="020B0600070205080204" pitchFamily="34" charset="-128"/>
            </a:endParaRPr>
          </a:p>
        </p:txBody>
      </p:sp>
      <p:sp>
        <p:nvSpPr>
          <p:cNvPr id="12" name="Rectangle 5"/>
          <p:cNvSpPr>
            <a:spLocks noChangeArrowheads="1"/>
          </p:cNvSpPr>
          <p:nvPr/>
        </p:nvSpPr>
        <p:spPr bwMode="auto">
          <a:xfrm>
            <a:off x="6586691" y="1377376"/>
            <a:ext cx="4972505" cy="3362325"/>
          </a:xfrm>
          <a:prstGeom prst="rect">
            <a:avLst/>
          </a:prstGeom>
          <a:noFill/>
          <a:ln>
            <a:noFill/>
          </a:ln>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90000"/>
              </a:lnSpc>
              <a:spcBef>
                <a:spcPts val="600"/>
              </a:spcBef>
            </a:pPr>
            <a:r>
              <a:rPr lang="en-US" altLang="en-US" sz="3200" dirty="0">
                <a:solidFill>
                  <a:srgbClr val="CC0000"/>
                </a:solidFill>
                <a:latin typeface="+mn-lt"/>
              </a:rPr>
              <a:t>throughput</a:t>
            </a:r>
            <a:endParaRPr lang="en-US" altLang="en-US" sz="3200" dirty="0">
              <a:solidFill>
                <a:srgbClr val="CC0000"/>
              </a:solidFill>
              <a:latin typeface="+mn-lt"/>
            </a:endParaRPr>
          </a:p>
          <a:p>
            <a:pPr>
              <a:lnSpc>
                <a:spcPct val="90000"/>
              </a:lnSpc>
              <a:spcBef>
                <a:spcPts val="600"/>
              </a:spcBef>
              <a:buClr>
                <a:srgbClr val="000099"/>
              </a:buClr>
              <a:buSzPct val="100000"/>
              <a:buFont typeface="Wingdings" panose="05000000000000000000" pitchFamily="2" charset="2"/>
              <a:buChar char="§"/>
            </a:pPr>
            <a:r>
              <a:rPr lang="en-US" altLang="en-US" sz="2800" dirty="0">
                <a:latin typeface="+mn-lt"/>
              </a:rPr>
              <a:t>some apps (e.g., multimedia) require minimum amount of throughput to be “</a:t>
            </a:r>
            <a:r>
              <a:rPr lang="en-US" altLang="ja-JP" sz="2800" dirty="0">
                <a:latin typeface="+mn-lt"/>
              </a:rPr>
              <a:t>effective”</a:t>
            </a:r>
            <a:endParaRPr lang="en-US" altLang="ja-JP" sz="2800" dirty="0">
              <a:latin typeface="+mn-lt"/>
            </a:endParaRPr>
          </a:p>
          <a:p>
            <a:pPr>
              <a:lnSpc>
                <a:spcPct val="90000"/>
              </a:lnSpc>
              <a:spcBef>
                <a:spcPts val="600"/>
              </a:spcBef>
              <a:buClr>
                <a:srgbClr val="000099"/>
              </a:buClr>
              <a:buSzPct val="100000"/>
              <a:buFont typeface="Wingdings" panose="05000000000000000000" pitchFamily="2" charset="2"/>
              <a:buChar char="§"/>
            </a:pPr>
            <a:r>
              <a:rPr lang="en-US" altLang="en-US" sz="2800" dirty="0">
                <a:latin typeface="+mn-lt"/>
              </a:rPr>
              <a:t>other apps (“</a:t>
            </a:r>
            <a:r>
              <a:rPr lang="en-US" altLang="ja-JP" sz="2800" dirty="0">
                <a:latin typeface="+mn-lt"/>
              </a:rPr>
              <a:t>elastic apps”) make use of whatever throughput they get </a:t>
            </a:r>
            <a:endParaRPr lang="en-US" altLang="en-US" sz="2800" dirty="0">
              <a:latin typeface="+mn-lt"/>
            </a:endParaRPr>
          </a:p>
        </p:txBody>
      </p:sp>
      <p:sp>
        <p:nvSpPr>
          <p:cNvPr id="13" name="Rectangle 5"/>
          <p:cNvSpPr>
            <a:spLocks noChangeArrowheads="1"/>
          </p:cNvSpPr>
          <p:nvPr/>
        </p:nvSpPr>
        <p:spPr bwMode="auto">
          <a:xfrm>
            <a:off x="6640666" y="4830189"/>
            <a:ext cx="4533593" cy="1271587"/>
          </a:xfrm>
          <a:prstGeom prst="rect">
            <a:avLst/>
          </a:prstGeom>
          <a:noFill/>
          <a:ln>
            <a:noFill/>
          </a:ln>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90000"/>
              </a:lnSpc>
              <a:spcBef>
                <a:spcPts val="600"/>
              </a:spcBef>
            </a:pPr>
            <a:r>
              <a:rPr lang="en-US" altLang="en-US" sz="3200">
                <a:solidFill>
                  <a:srgbClr val="CC0000"/>
                </a:solidFill>
                <a:latin typeface="+mn-lt"/>
              </a:rPr>
              <a:t>security</a:t>
            </a:r>
            <a:endParaRPr lang="en-US" altLang="en-US" sz="3200">
              <a:solidFill>
                <a:srgbClr val="CC0000"/>
              </a:solidFill>
              <a:latin typeface="+mn-lt"/>
            </a:endParaRPr>
          </a:p>
          <a:p>
            <a:pPr>
              <a:lnSpc>
                <a:spcPct val="90000"/>
              </a:lnSpc>
              <a:spcBef>
                <a:spcPts val="600"/>
              </a:spcBef>
              <a:buClr>
                <a:srgbClr val="000099"/>
              </a:buClr>
              <a:buSzPct val="100000"/>
              <a:buFont typeface="Wingdings" panose="05000000000000000000" pitchFamily="2" charset="2"/>
              <a:buChar char="§"/>
            </a:pPr>
            <a:r>
              <a:rPr lang="en-US" altLang="en-US" sz="2800">
                <a:latin typeface="+mn-lt"/>
              </a:rPr>
              <a:t>encryption, data integrity, …</a:t>
            </a:r>
            <a:endParaRPr lang="en-US" altLang="en-US" sz="2800">
              <a:latin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1" end="1"/>
                                            </p:txEl>
                                          </p:spTgt>
                                        </p:tgtEl>
                                        <p:attrNameLst>
                                          <p:attrName>style.visibility</p:attrName>
                                        </p:attrNameLst>
                                      </p:cBhvr>
                                      <p:to>
                                        <p:strVal val="visible"/>
                                      </p:to>
                                    </p:set>
                                    <p:animEffect transition="in" filter="dissolve">
                                      <p:cBhvr>
                                        <p:cTn id="10" dur="500"/>
                                        <p:tgtEl>
                                          <p:spTgt spid="11">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3">
                                            <p:txEl>
                                              <p:pRg st="0" end="0"/>
                                            </p:txEl>
                                          </p:spTgt>
                                        </p:tgtEl>
                                        <p:attrNameLst>
                                          <p:attrName>style.visibility</p:attrName>
                                        </p:attrNameLst>
                                      </p:cBhvr>
                                      <p:to>
                                        <p:strVal val="visible"/>
                                      </p:to>
                                    </p:set>
                                    <p:animEffect transition="in" filter="dissolve">
                                      <p:cBhvr>
                                        <p:cTn id="20" dur="500"/>
                                        <p:tgtEl>
                                          <p:spTgt spid="13">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3">
                                            <p:txEl>
                                              <p:pRg st="1" end="1"/>
                                            </p:txEl>
                                          </p:spTgt>
                                        </p:tgtEl>
                                        <p:attrNameLst>
                                          <p:attrName>style.visibility</p:attrName>
                                        </p:attrNameLst>
                                      </p:cBhvr>
                                      <p:to>
                                        <p:strVal val="visible"/>
                                      </p:to>
                                    </p:set>
                                    <p:animEffect transition="in" filter="dissolve">
                                      <p:cBhvr>
                                        <p:cTn id="23" dur="500"/>
                                        <p:tgtEl>
                                          <p:spTgt spid="1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fontScale="90000"/>
          </a:bodyPr>
          <a:lstStyle/>
          <a:p>
            <a:r>
              <a:rPr lang="en-US" altLang="en-US" sz="4400" dirty="0">
                <a:ea typeface="MS PGothic" panose="020B0600070205080204" pitchFamily="34" charset="-128"/>
              </a:rPr>
              <a:t>Transport </a:t>
            </a:r>
            <a:r>
              <a:rPr lang="en-US" altLang="en-US" dirty="0">
                <a:ea typeface="MS PGothic" panose="020B0600070205080204" pitchFamily="34" charset="-128"/>
              </a:rPr>
              <a:t>s</a:t>
            </a:r>
            <a:r>
              <a:rPr lang="en-US" altLang="en-US" sz="4400" dirty="0">
                <a:ea typeface="MS PGothic" panose="020B0600070205080204" pitchFamily="34" charset="-128"/>
              </a:rPr>
              <a:t>ervice </a:t>
            </a:r>
            <a:r>
              <a:rPr lang="en-US" altLang="en-US" dirty="0">
                <a:ea typeface="MS PGothic" panose="020B0600070205080204" pitchFamily="34" charset="-128"/>
              </a:rPr>
              <a:t>r</a:t>
            </a:r>
            <a:r>
              <a:rPr lang="en-US" altLang="en-US" sz="4400" dirty="0">
                <a:ea typeface="MS PGothic" panose="020B0600070205080204" pitchFamily="34" charset="-128"/>
              </a:rPr>
              <a:t>equirements: common apps</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8" name="Text Box 3"/>
          <p:cNvSpPr txBox="1">
            <a:spLocks noChangeArrowheads="1"/>
          </p:cNvSpPr>
          <p:nvPr/>
        </p:nvSpPr>
        <p:spPr bwMode="auto">
          <a:xfrm>
            <a:off x="114330" y="1536174"/>
            <a:ext cx="3479735"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r">
              <a:spcBef>
                <a:spcPct val="0"/>
              </a:spcBef>
              <a:buClrTx/>
              <a:buSzTx/>
              <a:buFontTx/>
              <a:buNone/>
            </a:pPr>
            <a:r>
              <a:rPr lang="en-US" altLang="en-US" sz="2800" b="1" dirty="0">
                <a:latin typeface="+mn-lt"/>
              </a:rPr>
              <a:t>application</a:t>
            </a:r>
            <a:endParaRPr lang="en-US" altLang="en-US" sz="2800" dirty="0">
              <a:latin typeface="+mn-lt"/>
            </a:endParaRPr>
          </a:p>
          <a:p>
            <a:pPr algn="r">
              <a:spcBef>
                <a:spcPct val="0"/>
              </a:spcBef>
              <a:buClrTx/>
              <a:buSzTx/>
              <a:buFontTx/>
              <a:buNone/>
            </a:pPr>
            <a:endParaRPr lang="en-US" altLang="en-US" sz="2800" dirty="0">
              <a:latin typeface="+mn-lt"/>
            </a:endParaRPr>
          </a:p>
          <a:p>
            <a:pPr algn="r">
              <a:lnSpc>
                <a:spcPct val="110000"/>
              </a:lnSpc>
              <a:spcBef>
                <a:spcPct val="0"/>
              </a:spcBef>
              <a:buClrTx/>
              <a:buSzTx/>
              <a:buFontTx/>
              <a:buNone/>
            </a:pPr>
            <a:r>
              <a:rPr lang="en-US" altLang="en-US" sz="2800" dirty="0">
                <a:latin typeface="+mn-lt"/>
              </a:rPr>
              <a:t>file transfer/download</a:t>
            </a:r>
            <a:endParaRPr lang="en-US" altLang="en-US" sz="2800" dirty="0">
              <a:latin typeface="+mn-lt"/>
            </a:endParaRPr>
          </a:p>
          <a:p>
            <a:pPr algn="r">
              <a:lnSpc>
                <a:spcPct val="110000"/>
              </a:lnSpc>
              <a:spcBef>
                <a:spcPct val="0"/>
              </a:spcBef>
              <a:buClrTx/>
              <a:buSzTx/>
              <a:buFontTx/>
              <a:buNone/>
            </a:pPr>
            <a:r>
              <a:rPr lang="en-US" altLang="en-US" sz="2800" dirty="0">
                <a:latin typeface="+mn-lt"/>
              </a:rPr>
              <a:t>e-mail</a:t>
            </a:r>
            <a:endParaRPr lang="en-US" altLang="en-US" sz="2800" dirty="0">
              <a:latin typeface="+mn-lt"/>
            </a:endParaRPr>
          </a:p>
          <a:p>
            <a:pPr algn="r">
              <a:lnSpc>
                <a:spcPct val="110000"/>
              </a:lnSpc>
              <a:spcBef>
                <a:spcPct val="0"/>
              </a:spcBef>
              <a:buClrTx/>
              <a:buSzTx/>
              <a:buFontTx/>
              <a:buNone/>
            </a:pPr>
            <a:r>
              <a:rPr lang="en-US" altLang="en-US" sz="2800" dirty="0">
                <a:latin typeface="+mn-lt"/>
              </a:rPr>
              <a:t>Web documents</a:t>
            </a:r>
            <a:endParaRPr lang="en-US" altLang="en-US" sz="2800" dirty="0">
              <a:latin typeface="+mn-lt"/>
            </a:endParaRPr>
          </a:p>
          <a:p>
            <a:pPr algn="r">
              <a:lnSpc>
                <a:spcPct val="110000"/>
              </a:lnSpc>
              <a:spcBef>
                <a:spcPct val="0"/>
              </a:spcBef>
              <a:buClrTx/>
              <a:buSzTx/>
              <a:buFontTx/>
              <a:buNone/>
            </a:pPr>
            <a:r>
              <a:rPr lang="en-US" altLang="en-US" sz="2800" dirty="0">
                <a:latin typeface="+mn-lt"/>
              </a:rPr>
              <a:t>real-time audio/video</a:t>
            </a:r>
            <a:endParaRPr lang="en-US" altLang="en-US" sz="2800" dirty="0">
              <a:latin typeface="+mn-lt"/>
            </a:endParaRPr>
          </a:p>
          <a:p>
            <a:pPr algn="r">
              <a:lnSpc>
                <a:spcPct val="110000"/>
              </a:lnSpc>
              <a:spcBef>
                <a:spcPct val="0"/>
              </a:spcBef>
              <a:buClrTx/>
              <a:buSzTx/>
              <a:buFontTx/>
              <a:buNone/>
            </a:pPr>
            <a:endParaRPr lang="en-US" altLang="en-US" sz="2800" dirty="0">
              <a:latin typeface="+mn-lt"/>
            </a:endParaRPr>
          </a:p>
          <a:p>
            <a:pPr algn="r">
              <a:lnSpc>
                <a:spcPct val="110000"/>
              </a:lnSpc>
              <a:spcBef>
                <a:spcPct val="0"/>
              </a:spcBef>
              <a:buClrTx/>
              <a:buSzTx/>
              <a:buFontTx/>
              <a:buNone/>
            </a:pPr>
            <a:r>
              <a:rPr lang="en-US" altLang="en-US" sz="2800" dirty="0">
                <a:latin typeface="+mn-lt"/>
              </a:rPr>
              <a:t>streaming audio/video</a:t>
            </a:r>
            <a:endParaRPr lang="en-US" altLang="en-US" sz="2800" dirty="0">
              <a:latin typeface="+mn-lt"/>
            </a:endParaRPr>
          </a:p>
          <a:p>
            <a:pPr algn="r">
              <a:lnSpc>
                <a:spcPct val="110000"/>
              </a:lnSpc>
              <a:spcBef>
                <a:spcPct val="0"/>
              </a:spcBef>
              <a:buClrTx/>
              <a:buSzTx/>
              <a:buFontTx/>
              <a:buNone/>
            </a:pPr>
            <a:r>
              <a:rPr lang="en-US" altLang="en-US" sz="2800" dirty="0">
                <a:latin typeface="+mn-lt"/>
              </a:rPr>
              <a:t>interactive games</a:t>
            </a:r>
            <a:endParaRPr lang="en-US" altLang="en-US" sz="2800" dirty="0">
              <a:latin typeface="+mn-lt"/>
            </a:endParaRPr>
          </a:p>
          <a:p>
            <a:pPr algn="r">
              <a:lnSpc>
                <a:spcPct val="110000"/>
              </a:lnSpc>
              <a:spcBef>
                <a:spcPct val="0"/>
              </a:spcBef>
              <a:buClrTx/>
              <a:buSzTx/>
              <a:buFontTx/>
              <a:buNone/>
            </a:pPr>
            <a:r>
              <a:rPr lang="en-US" altLang="en-US" sz="2800" dirty="0">
                <a:latin typeface="+mn-lt"/>
              </a:rPr>
              <a:t>text messaging</a:t>
            </a:r>
            <a:endParaRPr lang="en-US" altLang="en-US" sz="3200" dirty="0">
              <a:latin typeface="+mn-lt"/>
            </a:endParaRPr>
          </a:p>
        </p:txBody>
      </p:sp>
      <p:sp>
        <p:nvSpPr>
          <p:cNvPr id="14" name="Text Box 4"/>
          <p:cNvSpPr txBox="1">
            <a:spLocks noChangeArrowheads="1"/>
          </p:cNvSpPr>
          <p:nvPr/>
        </p:nvSpPr>
        <p:spPr bwMode="auto">
          <a:xfrm>
            <a:off x="3947968" y="1539349"/>
            <a:ext cx="2009076"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800" b="1" dirty="0">
                <a:latin typeface="+mn-lt"/>
              </a:rPr>
              <a:t>data loss</a:t>
            </a:r>
            <a:endParaRPr lang="en-US" altLang="en-US" sz="2800" dirty="0">
              <a:latin typeface="+mn-lt"/>
            </a:endParaRPr>
          </a:p>
          <a:p>
            <a:pPr>
              <a:spcBef>
                <a:spcPct val="0"/>
              </a:spcBef>
              <a:buClrTx/>
              <a:buSzTx/>
              <a:buFontTx/>
              <a:buNone/>
            </a:pPr>
            <a:endParaRPr lang="en-US" altLang="en-US" sz="2800" dirty="0">
              <a:latin typeface="+mn-lt"/>
            </a:endParaRPr>
          </a:p>
          <a:p>
            <a:pPr>
              <a:lnSpc>
                <a:spcPct val="110000"/>
              </a:lnSpc>
              <a:spcBef>
                <a:spcPct val="0"/>
              </a:spcBef>
              <a:buClrTx/>
              <a:buSzTx/>
              <a:buFontTx/>
              <a:buNone/>
            </a:pPr>
            <a:r>
              <a:rPr lang="en-US" altLang="en-US" sz="2800" dirty="0">
                <a:latin typeface="+mn-lt"/>
              </a:rPr>
              <a:t>no loss</a:t>
            </a:r>
            <a:endParaRPr lang="en-US" altLang="en-US" sz="2800" dirty="0">
              <a:latin typeface="+mn-lt"/>
            </a:endParaRPr>
          </a:p>
          <a:p>
            <a:pPr>
              <a:lnSpc>
                <a:spcPct val="110000"/>
              </a:lnSpc>
              <a:spcBef>
                <a:spcPct val="0"/>
              </a:spcBef>
              <a:buClrTx/>
              <a:buSzTx/>
              <a:buFontTx/>
              <a:buNone/>
            </a:pPr>
            <a:r>
              <a:rPr lang="en-US" altLang="en-US" sz="2800" dirty="0">
                <a:latin typeface="+mn-lt"/>
              </a:rPr>
              <a:t>no loss</a:t>
            </a:r>
            <a:endParaRPr lang="en-US" altLang="en-US" sz="2800" dirty="0">
              <a:latin typeface="+mn-lt"/>
            </a:endParaRPr>
          </a:p>
          <a:p>
            <a:pPr>
              <a:lnSpc>
                <a:spcPct val="110000"/>
              </a:lnSpc>
              <a:spcBef>
                <a:spcPct val="0"/>
              </a:spcBef>
              <a:buClrTx/>
              <a:buSzTx/>
              <a:buFontTx/>
              <a:buNone/>
            </a:pPr>
            <a:r>
              <a:rPr lang="en-US" altLang="en-US" sz="2800" dirty="0">
                <a:latin typeface="+mn-lt"/>
              </a:rPr>
              <a:t>no loss</a:t>
            </a:r>
            <a:endParaRPr lang="en-US" altLang="en-US" sz="2800" dirty="0">
              <a:latin typeface="+mn-lt"/>
            </a:endParaRPr>
          </a:p>
          <a:p>
            <a:pPr>
              <a:lnSpc>
                <a:spcPct val="110000"/>
              </a:lnSpc>
              <a:spcBef>
                <a:spcPct val="0"/>
              </a:spcBef>
              <a:buClrTx/>
              <a:buSzTx/>
              <a:buFontTx/>
              <a:buNone/>
            </a:pPr>
            <a:r>
              <a:rPr lang="en-US" altLang="en-US" sz="2800" dirty="0">
                <a:latin typeface="+mn-lt"/>
              </a:rPr>
              <a:t>loss-tolerant</a:t>
            </a:r>
            <a:endParaRPr lang="en-US" altLang="en-US" sz="2800" dirty="0">
              <a:latin typeface="+mn-lt"/>
            </a:endParaRPr>
          </a:p>
          <a:p>
            <a:pPr>
              <a:lnSpc>
                <a:spcPct val="110000"/>
              </a:lnSpc>
              <a:spcBef>
                <a:spcPct val="0"/>
              </a:spcBef>
              <a:buClrTx/>
              <a:buSzTx/>
              <a:buFontTx/>
              <a:buNone/>
            </a:pPr>
            <a:endParaRPr lang="en-US" altLang="en-US" sz="2800" dirty="0">
              <a:latin typeface="+mn-lt"/>
            </a:endParaRPr>
          </a:p>
          <a:p>
            <a:pPr>
              <a:lnSpc>
                <a:spcPct val="110000"/>
              </a:lnSpc>
              <a:spcBef>
                <a:spcPct val="0"/>
              </a:spcBef>
              <a:buClrTx/>
              <a:buSzTx/>
              <a:buFontTx/>
              <a:buNone/>
            </a:pPr>
            <a:r>
              <a:rPr lang="en-US" altLang="en-US" sz="2800" dirty="0">
                <a:latin typeface="+mn-lt"/>
              </a:rPr>
              <a:t>loss-tolerant</a:t>
            </a:r>
            <a:endParaRPr lang="en-US" altLang="en-US" sz="2800" dirty="0">
              <a:latin typeface="+mn-lt"/>
            </a:endParaRPr>
          </a:p>
          <a:p>
            <a:pPr>
              <a:lnSpc>
                <a:spcPct val="110000"/>
              </a:lnSpc>
              <a:spcBef>
                <a:spcPct val="0"/>
              </a:spcBef>
              <a:buClrTx/>
              <a:buSzTx/>
              <a:buFontTx/>
              <a:buNone/>
            </a:pPr>
            <a:r>
              <a:rPr lang="en-US" altLang="en-US" sz="2800" dirty="0">
                <a:latin typeface="+mn-lt"/>
              </a:rPr>
              <a:t>loss-tolerant</a:t>
            </a:r>
            <a:endParaRPr lang="en-US" altLang="en-US" sz="2800" dirty="0">
              <a:latin typeface="+mn-lt"/>
            </a:endParaRPr>
          </a:p>
          <a:p>
            <a:pPr>
              <a:lnSpc>
                <a:spcPct val="110000"/>
              </a:lnSpc>
              <a:spcBef>
                <a:spcPct val="0"/>
              </a:spcBef>
              <a:buClrTx/>
              <a:buSzTx/>
              <a:buFontTx/>
              <a:buNone/>
            </a:pPr>
            <a:r>
              <a:rPr lang="en-US" altLang="en-US" sz="2800" dirty="0">
                <a:latin typeface="+mn-lt"/>
              </a:rPr>
              <a:t>no loss</a:t>
            </a:r>
            <a:endParaRPr lang="en-US" altLang="en-US" sz="3200" dirty="0">
              <a:latin typeface="+mn-lt"/>
            </a:endParaRPr>
          </a:p>
        </p:txBody>
      </p:sp>
      <p:sp>
        <p:nvSpPr>
          <p:cNvPr id="15" name="Text Box 5"/>
          <p:cNvSpPr txBox="1">
            <a:spLocks noChangeArrowheads="1"/>
          </p:cNvSpPr>
          <p:nvPr/>
        </p:nvSpPr>
        <p:spPr bwMode="auto">
          <a:xfrm>
            <a:off x="5991692" y="1537762"/>
            <a:ext cx="3025344"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800" b="1" dirty="0">
                <a:latin typeface="+mn-lt"/>
              </a:rPr>
              <a:t>throughput</a:t>
            </a:r>
            <a:endParaRPr lang="en-US" altLang="en-US" sz="2800" b="1" dirty="0">
              <a:latin typeface="+mn-lt"/>
            </a:endParaRPr>
          </a:p>
          <a:p>
            <a:pPr>
              <a:spcBef>
                <a:spcPct val="0"/>
              </a:spcBef>
              <a:buClrTx/>
              <a:buSzTx/>
              <a:buFontTx/>
              <a:buNone/>
            </a:pPr>
            <a:endParaRPr lang="en-US" altLang="en-US" sz="2800" dirty="0">
              <a:latin typeface="+mn-lt"/>
            </a:endParaRPr>
          </a:p>
          <a:p>
            <a:pPr>
              <a:lnSpc>
                <a:spcPct val="110000"/>
              </a:lnSpc>
              <a:spcBef>
                <a:spcPct val="0"/>
              </a:spcBef>
              <a:buClrTx/>
              <a:buSzTx/>
              <a:buFontTx/>
              <a:buNone/>
            </a:pPr>
            <a:r>
              <a:rPr lang="en-US" altLang="en-US" sz="2800" dirty="0">
                <a:latin typeface="+mn-lt"/>
              </a:rPr>
              <a:t>elastic</a:t>
            </a:r>
            <a:endParaRPr lang="en-US" altLang="en-US" sz="2800" dirty="0">
              <a:latin typeface="+mn-lt"/>
            </a:endParaRPr>
          </a:p>
          <a:p>
            <a:pPr>
              <a:lnSpc>
                <a:spcPct val="110000"/>
              </a:lnSpc>
              <a:spcBef>
                <a:spcPct val="0"/>
              </a:spcBef>
              <a:buClrTx/>
              <a:buSzTx/>
              <a:buFontTx/>
              <a:buNone/>
            </a:pPr>
            <a:r>
              <a:rPr lang="en-US" altLang="en-US" sz="2800" dirty="0">
                <a:latin typeface="+mn-lt"/>
              </a:rPr>
              <a:t>elastic</a:t>
            </a:r>
            <a:endParaRPr lang="en-US" altLang="en-US" sz="2800" dirty="0">
              <a:latin typeface="+mn-lt"/>
            </a:endParaRPr>
          </a:p>
          <a:p>
            <a:pPr>
              <a:lnSpc>
                <a:spcPct val="110000"/>
              </a:lnSpc>
              <a:spcBef>
                <a:spcPct val="0"/>
              </a:spcBef>
              <a:buClrTx/>
              <a:buSzTx/>
              <a:buFontTx/>
              <a:buNone/>
            </a:pPr>
            <a:r>
              <a:rPr lang="en-US" altLang="en-US" sz="2800" dirty="0">
                <a:latin typeface="+mn-lt"/>
              </a:rPr>
              <a:t>elastic</a:t>
            </a:r>
            <a:endParaRPr lang="en-US" altLang="en-US" sz="2800" dirty="0">
              <a:latin typeface="+mn-lt"/>
            </a:endParaRPr>
          </a:p>
          <a:p>
            <a:pPr>
              <a:lnSpc>
                <a:spcPct val="110000"/>
              </a:lnSpc>
              <a:spcBef>
                <a:spcPct val="0"/>
              </a:spcBef>
              <a:buClrTx/>
              <a:buSzTx/>
              <a:buFontTx/>
              <a:buNone/>
            </a:pPr>
            <a:r>
              <a:rPr lang="en-US" altLang="en-US" sz="2800" dirty="0">
                <a:latin typeface="+mn-lt"/>
              </a:rPr>
              <a:t>audio: </a:t>
            </a:r>
            <a:r>
              <a:rPr lang="en-US" altLang="en-US" sz="2400" dirty="0">
                <a:latin typeface="+mn-lt"/>
              </a:rPr>
              <a:t>5Kbps-1Mbps</a:t>
            </a:r>
            <a:endParaRPr lang="en-US" altLang="en-US" sz="2400" dirty="0">
              <a:latin typeface="+mn-lt"/>
            </a:endParaRPr>
          </a:p>
          <a:p>
            <a:pPr>
              <a:lnSpc>
                <a:spcPct val="110000"/>
              </a:lnSpc>
              <a:spcBef>
                <a:spcPct val="0"/>
              </a:spcBef>
              <a:buClrTx/>
              <a:buSzTx/>
              <a:buFontTx/>
              <a:buNone/>
            </a:pPr>
            <a:r>
              <a:rPr lang="en-US" altLang="en-US" sz="2800" dirty="0">
                <a:latin typeface="+mn-lt"/>
              </a:rPr>
              <a:t>video:</a:t>
            </a:r>
            <a:r>
              <a:rPr lang="en-US" altLang="en-US" sz="2400" dirty="0">
                <a:latin typeface="+mn-lt"/>
              </a:rPr>
              <a:t>10Kbps-5Mbps</a:t>
            </a:r>
            <a:endParaRPr lang="en-US" altLang="en-US" sz="2800" dirty="0">
              <a:latin typeface="+mn-lt"/>
            </a:endParaRPr>
          </a:p>
          <a:p>
            <a:pPr>
              <a:lnSpc>
                <a:spcPct val="110000"/>
              </a:lnSpc>
              <a:spcBef>
                <a:spcPct val="0"/>
              </a:spcBef>
              <a:buClrTx/>
              <a:buSzTx/>
              <a:buFontTx/>
              <a:buNone/>
            </a:pPr>
            <a:r>
              <a:rPr lang="en-US" altLang="en-US" sz="2800" dirty="0">
                <a:latin typeface="+mn-lt"/>
              </a:rPr>
              <a:t>same as above </a:t>
            </a:r>
            <a:endParaRPr lang="en-US" altLang="en-US" sz="2800" dirty="0">
              <a:latin typeface="+mn-lt"/>
            </a:endParaRPr>
          </a:p>
          <a:p>
            <a:pPr>
              <a:lnSpc>
                <a:spcPct val="110000"/>
              </a:lnSpc>
              <a:spcBef>
                <a:spcPct val="0"/>
              </a:spcBef>
              <a:buClrTx/>
              <a:buSzTx/>
              <a:buFontTx/>
              <a:buNone/>
            </a:pPr>
            <a:r>
              <a:rPr lang="en-US" altLang="en-US" sz="2800" dirty="0">
                <a:latin typeface="+mn-lt"/>
              </a:rPr>
              <a:t>Kbps+</a:t>
            </a:r>
            <a:endParaRPr lang="en-US" altLang="en-US" sz="2800" dirty="0">
              <a:latin typeface="+mn-lt"/>
            </a:endParaRPr>
          </a:p>
          <a:p>
            <a:pPr>
              <a:lnSpc>
                <a:spcPct val="110000"/>
              </a:lnSpc>
              <a:spcBef>
                <a:spcPct val="0"/>
              </a:spcBef>
              <a:buClrTx/>
              <a:buSzTx/>
              <a:buFontTx/>
              <a:buNone/>
            </a:pPr>
            <a:r>
              <a:rPr lang="en-US" altLang="en-US" sz="2800" dirty="0">
                <a:latin typeface="+mn-lt"/>
              </a:rPr>
              <a:t>elastic</a:t>
            </a:r>
            <a:endParaRPr lang="en-US" altLang="en-US" sz="2800" dirty="0">
              <a:latin typeface="+mn-lt"/>
            </a:endParaRPr>
          </a:p>
        </p:txBody>
      </p:sp>
      <p:sp>
        <p:nvSpPr>
          <p:cNvPr id="16" name="Text Box 6"/>
          <p:cNvSpPr txBox="1">
            <a:spLocks noChangeArrowheads="1"/>
          </p:cNvSpPr>
          <p:nvPr/>
        </p:nvSpPr>
        <p:spPr bwMode="auto">
          <a:xfrm>
            <a:off x="9439064" y="1585760"/>
            <a:ext cx="2936433"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800" b="1" dirty="0">
                <a:latin typeface="+mn-lt"/>
              </a:rPr>
              <a:t>time sensitive?</a:t>
            </a:r>
            <a:endParaRPr lang="en-US" altLang="en-US" sz="2800" dirty="0">
              <a:latin typeface="+mn-lt"/>
            </a:endParaRPr>
          </a:p>
          <a:p>
            <a:pPr>
              <a:spcBef>
                <a:spcPct val="0"/>
              </a:spcBef>
              <a:buClrTx/>
              <a:buSzTx/>
              <a:buFontTx/>
              <a:buNone/>
            </a:pPr>
            <a:endParaRPr lang="en-US" altLang="en-US" sz="2800" dirty="0">
              <a:latin typeface="+mn-lt"/>
            </a:endParaRPr>
          </a:p>
          <a:p>
            <a:pPr>
              <a:lnSpc>
                <a:spcPct val="110000"/>
              </a:lnSpc>
              <a:spcBef>
                <a:spcPct val="0"/>
              </a:spcBef>
              <a:buClrTx/>
              <a:buSzTx/>
              <a:buFontTx/>
              <a:buNone/>
            </a:pPr>
            <a:r>
              <a:rPr lang="en-US" altLang="en-US" sz="2800" dirty="0">
                <a:latin typeface="+mn-lt"/>
              </a:rPr>
              <a:t>no</a:t>
            </a:r>
            <a:endParaRPr lang="en-US" altLang="en-US" sz="2800" dirty="0">
              <a:latin typeface="+mn-lt"/>
            </a:endParaRPr>
          </a:p>
          <a:p>
            <a:pPr>
              <a:lnSpc>
                <a:spcPct val="110000"/>
              </a:lnSpc>
              <a:spcBef>
                <a:spcPct val="0"/>
              </a:spcBef>
              <a:buClrTx/>
              <a:buSzTx/>
              <a:buFontTx/>
              <a:buNone/>
            </a:pPr>
            <a:r>
              <a:rPr lang="en-US" altLang="en-US" sz="2800" dirty="0">
                <a:latin typeface="+mn-lt"/>
              </a:rPr>
              <a:t>no</a:t>
            </a:r>
            <a:endParaRPr lang="en-US" altLang="en-US" sz="2800" dirty="0">
              <a:latin typeface="+mn-lt"/>
            </a:endParaRPr>
          </a:p>
          <a:p>
            <a:pPr>
              <a:lnSpc>
                <a:spcPct val="110000"/>
              </a:lnSpc>
              <a:spcBef>
                <a:spcPct val="0"/>
              </a:spcBef>
              <a:buClrTx/>
              <a:buSzTx/>
              <a:buFontTx/>
              <a:buNone/>
            </a:pPr>
            <a:r>
              <a:rPr lang="en-US" altLang="en-US" sz="2800" dirty="0">
                <a:latin typeface="+mn-lt"/>
              </a:rPr>
              <a:t>no</a:t>
            </a:r>
            <a:endParaRPr lang="en-US" altLang="en-US" sz="2800" dirty="0">
              <a:latin typeface="+mn-lt"/>
            </a:endParaRPr>
          </a:p>
          <a:p>
            <a:pPr>
              <a:lnSpc>
                <a:spcPct val="110000"/>
              </a:lnSpc>
              <a:spcBef>
                <a:spcPct val="0"/>
              </a:spcBef>
              <a:buClrTx/>
              <a:buSzTx/>
              <a:buFontTx/>
              <a:buNone/>
            </a:pPr>
            <a:r>
              <a:rPr lang="en-US" altLang="en-US" sz="2800" dirty="0">
                <a:latin typeface="+mn-lt"/>
              </a:rPr>
              <a:t>yes, 10’</a:t>
            </a:r>
            <a:r>
              <a:rPr lang="en-US" altLang="ja-JP" sz="2800" dirty="0">
                <a:latin typeface="+mn-lt"/>
              </a:rPr>
              <a:t>s </a:t>
            </a:r>
            <a:r>
              <a:rPr lang="en-US" altLang="ja-JP" sz="2800" dirty="0" err="1">
                <a:latin typeface="+mn-lt"/>
              </a:rPr>
              <a:t>msec</a:t>
            </a:r>
            <a:endParaRPr lang="en-US" altLang="ja-JP" sz="2800" dirty="0">
              <a:latin typeface="+mn-lt"/>
            </a:endParaRPr>
          </a:p>
          <a:p>
            <a:pPr>
              <a:lnSpc>
                <a:spcPct val="110000"/>
              </a:lnSpc>
              <a:spcBef>
                <a:spcPct val="0"/>
              </a:spcBef>
              <a:buClrTx/>
              <a:buSzTx/>
              <a:buFontTx/>
              <a:buNone/>
            </a:pPr>
            <a:endParaRPr lang="en-US" altLang="en-US" sz="2800" dirty="0">
              <a:latin typeface="+mn-lt"/>
            </a:endParaRPr>
          </a:p>
          <a:p>
            <a:pPr>
              <a:lnSpc>
                <a:spcPct val="110000"/>
              </a:lnSpc>
              <a:spcBef>
                <a:spcPct val="0"/>
              </a:spcBef>
              <a:buClrTx/>
              <a:buSzTx/>
              <a:buFontTx/>
              <a:buNone/>
            </a:pPr>
            <a:r>
              <a:rPr lang="en-US" altLang="en-US" sz="2800" dirty="0">
                <a:latin typeface="+mn-lt"/>
              </a:rPr>
              <a:t>yes, few secs</a:t>
            </a:r>
            <a:endParaRPr lang="en-US" altLang="en-US" sz="2800" dirty="0">
              <a:latin typeface="+mn-lt"/>
            </a:endParaRPr>
          </a:p>
          <a:p>
            <a:pPr>
              <a:lnSpc>
                <a:spcPct val="110000"/>
              </a:lnSpc>
              <a:spcBef>
                <a:spcPct val="0"/>
              </a:spcBef>
              <a:buClrTx/>
              <a:buSzTx/>
              <a:buFontTx/>
              <a:buNone/>
            </a:pPr>
            <a:r>
              <a:rPr lang="en-US" altLang="en-US" sz="2800" dirty="0">
                <a:latin typeface="+mn-lt"/>
              </a:rPr>
              <a:t>yes, 10’</a:t>
            </a:r>
            <a:r>
              <a:rPr lang="en-US" altLang="ja-JP" sz="2800" dirty="0">
                <a:latin typeface="+mn-lt"/>
              </a:rPr>
              <a:t>s </a:t>
            </a:r>
            <a:r>
              <a:rPr lang="en-US" altLang="ja-JP" sz="2800" dirty="0" err="1">
                <a:latin typeface="+mn-lt"/>
              </a:rPr>
              <a:t>msec</a:t>
            </a:r>
            <a:endParaRPr lang="en-US" altLang="ja-JP" sz="2800" dirty="0">
              <a:latin typeface="+mn-lt"/>
            </a:endParaRPr>
          </a:p>
          <a:p>
            <a:pPr>
              <a:lnSpc>
                <a:spcPct val="110000"/>
              </a:lnSpc>
              <a:spcBef>
                <a:spcPct val="0"/>
              </a:spcBef>
              <a:buClrTx/>
              <a:buSzTx/>
              <a:buFontTx/>
              <a:buNone/>
            </a:pPr>
            <a:r>
              <a:rPr lang="en-US" altLang="en-US" sz="2800" dirty="0">
                <a:latin typeface="+mn-lt"/>
              </a:rPr>
              <a:t>yes and no</a:t>
            </a:r>
            <a:endParaRPr lang="en-US" altLang="en-US" sz="2800" dirty="0">
              <a:latin typeface="+mn-lt"/>
            </a:endParaRPr>
          </a:p>
        </p:txBody>
      </p:sp>
      <p:cxnSp>
        <p:nvCxnSpPr>
          <p:cNvPr id="4" name="Straight Connector 3"/>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Internet </a:t>
            </a:r>
            <a:r>
              <a:rPr lang="en-US" altLang="en-US" dirty="0">
                <a:ea typeface="MS PGothic" panose="020B0600070205080204" pitchFamily="34" charset="-128"/>
              </a:rPr>
              <a:t>t</a:t>
            </a:r>
            <a:r>
              <a:rPr lang="en-US" altLang="en-US" sz="4400" dirty="0">
                <a:ea typeface="MS PGothic" panose="020B0600070205080204" pitchFamily="34" charset="-128"/>
              </a:rPr>
              <a:t>ransport protocols services</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7" name="Rectangle 3"/>
          <p:cNvSpPr txBox="1">
            <a:spLocks noChangeArrowheads="1"/>
          </p:cNvSpPr>
          <p:nvPr/>
        </p:nvSpPr>
        <p:spPr>
          <a:xfrm>
            <a:off x="753320" y="1383910"/>
            <a:ext cx="6016137"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i="1" dirty="0">
                <a:solidFill>
                  <a:srgbClr val="000099"/>
                </a:solidFill>
                <a:ea typeface="MS PGothic" panose="020B0600070205080204" pitchFamily="34" charset="-128"/>
              </a:rPr>
              <a:t>TCP service:</a:t>
            </a:r>
            <a:endParaRPr lang="en-US" altLang="en-US" sz="3200" i="1" dirty="0">
              <a:solidFill>
                <a:srgbClr val="000099"/>
              </a:solidFill>
              <a:ea typeface="MS PGothic" panose="020B0600070205080204" pitchFamily="34" charset="-128"/>
            </a:endParaRPr>
          </a:p>
          <a:p>
            <a:r>
              <a:rPr lang="en-US" altLang="en-US" i="1" dirty="0">
                <a:solidFill>
                  <a:srgbClr val="CC0000"/>
                </a:solidFill>
                <a:ea typeface="MS PGothic" panose="020B0600070205080204" pitchFamily="34" charset="-128"/>
              </a:rPr>
              <a:t>reliable transport</a:t>
            </a:r>
            <a:r>
              <a:rPr lang="en-US" altLang="en-US" i="1" dirty="0">
                <a:solidFill>
                  <a:schemeClr val="accent2"/>
                </a:solidFill>
                <a:ea typeface="MS PGothic" panose="020B0600070205080204" pitchFamily="34" charset="-128"/>
              </a:rPr>
              <a:t> </a:t>
            </a:r>
            <a:r>
              <a:rPr lang="en-US" altLang="en-US" dirty="0">
                <a:ea typeface="MS PGothic" panose="020B0600070205080204" pitchFamily="34" charset="-128"/>
              </a:rPr>
              <a:t>between sending and receiving process</a:t>
            </a:r>
            <a:endParaRPr lang="en-US" altLang="en-US" dirty="0">
              <a:solidFill>
                <a:schemeClr val="accent2"/>
              </a:solidFill>
              <a:ea typeface="MS PGothic" panose="020B0600070205080204" pitchFamily="34" charset="-128"/>
            </a:endParaRPr>
          </a:p>
          <a:p>
            <a:r>
              <a:rPr lang="en-US" altLang="en-US" i="1" dirty="0">
                <a:solidFill>
                  <a:srgbClr val="CC0000"/>
                </a:solidFill>
                <a:ea typeface="MS PGothic" panose="020B0600070205080204" pitchFamily="34" charset="-128"/>
              </a:rPr>
              <a:t>flow control:</a:t>
            </a:r>
            <a:r>
              <a:rPr lang="en-US" altLang="en-US" dirty="0">
                <a:ea typeface="MS PGothic" panose="020B0600070205080204" pitchFamily="34" charset="-128"/>
              </a:rPr>
              <a:t> sender won’</a:t>
            </a:r>
            <a:r>
              <a:rPr lang="en-US" altLang="ja-JP" dirty="0">
                <a:ea typeface="MS PGothic" panose="020B0600070205080204" pitchFamily="34" charset="-128"/>
              </a:rPr>
              <a:t>t overwhelm receiver </a:t>
            </a:r>
            <a:endParaRPr lang="en-US" altLang="ja-JP" dirty="0">
              <a:ea typeface="MS PGothic" panose="020B0600070205080204" pitchFamily="34" charset="-128"/>
            </a:endParaRPr>
          </a:p>
          <a:p>
            <a:r>
              <a:rPr lang="en-US" altLang="en-US" i="1" dirty="0">
                <a:solidFill>
                  <a:srgbClr val="CC0000"/>
                </a:solidFill>
                <a:ea typeface="MS PGothic" panose="020B0600070205080204" pitchFamily="34" charset="-128"/>
              </a:rPr>
              <a:t>congestion control:</a:t>
            </a:r>
            <a:r>
              <a:rPr lang="en-US" altLang="en-US" dirty="0">
                <a:ea typeface="MS PGothic" panose="020B0600070205080204" pitchFamily="34" charset="-128"/>
              </a:rPr>
              <a:t> throttle sender when network overloaded</a:t>
            </a:r>
            <a:endParaRPr lang="en-US" altLang="en-US" dirty="0">
              <a:ea typeface="MS PGothic" panose="020B0600070205080204" pitchFamily="34" charset="-128"/>
            </a:endParaRPr>
          </a:p>
          <a:p>
            <a:r>
              <a:rPr lang="en-US" altLang="en-US" i="1" dirty="0">
                <a:solidFill>
                  <a:srgbClr val="CC0000"/>
                </a:solidFill>
                <a:ea typeface="MS PGothic" panose="020B0600070205080204" pitchFamily="34" charset="-128"/>
              </a:rPr>
              <a:t>does not provide:</a:t>
            </a:r>
            <a:r>
              <a:rPr lang="en-US" altLang="en-US" dirty="0">
                <a:ea typeface="MS PGothic" panose="020B0600070205080204" pitchFamily="34" charset="-128"/>
              </a:rPr>
              <a:t> timing, minimum throughput guarantee, security</a:t>
            </a:r>
            <a:endParaRPr lang="en-US" altLang="en-US" dirty="0">
              <a:ea typeface="MS PGothic" panose="020B0600070205080204" pitchFamily="34" charset="-128"/>
            </a:endParaRPr>
          </a:p>
          <a:p>
            <a:r>
              <a:rPr lang="en-US" altLang="en-US" i="1" dirty="0">
                <a:solidFill>
                  <a:srgbClr val="CC0000"/>
                </a:solidFill>
                <a:ea typeface="MS PGothic" panose="020B0600070205080204" pitchFamily="34" charset="-128"/>
              </a:rPr>
              <a:t>connection-oriented:</a:t>
            </a:r>
            <a:r>
              <a:rPr lang="en-US" altLang="en-US" dirty="0">
                <a:ea typeface="MS PGothic" panose="020B0600070205080204" pitchFamily="34" charset="-128"/>
              </a:rPr>
              <a:t> setup required between client and server processes</a:t>
            </a:r>
            <a:endParaRPr lang="en-US" altLang="en-US" dirty="0">
              <a:ea typeface="MS PGothic" panose="020B0600070205080204" pitchFamily="34" charset="-128"/>
            </a:endParaRPr>
          </a:p>
          <a:p>
            <a:pPr>
              <a:lnSpc>
                <a:spcPct val="75000"/>
              </a:lnSpc>
            </a:pPr>
            <a:endParaRPr lang="en-US" altLang="en-US" dirty="0">
              <a:ea typeface="MS PGothic" panose="020B0600070205080204" pitchFamily="34" charset="-128"/>
            </a:endParaRPr>
          </a:p>
        </p:txBody>
      </p:sp>
      <p:sp>
        <p:nvSpPr>
          <p:cNvPr id="18" name="Rectangle 4"/>
          <p:cNvSpPr txBox="1">
            <a:spLocks noChangeArrowheads="1"/>
          </p:cNvSpPr>
          <p:nvPr/>
        </p:nvSpPr>
        <p:spPr>
          <a:xfrm>
            <a:off x="6934886" y="1395634"/>
            <a:ext cx="5038725"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charset="0"/>
              <a:buNone/>
              <a:defRPr/>
            </a:pPr>
            <a:r>
              <a:rPr lang="en-US" sz="3200" i="1" dirty="0">
                <a:solidFill>
                  <a:srgbClr val="000099"/>
                </a:solidFill>
              </a:rPr>
              <a:t>UDP service:</a:t>
            </a:r>
            <a:endParaRPr lang="en-US" sz="3200" i="1" dirty="0">
              <a:solidFill>
                <a:srgbClr val="000099"/>
              </a:solidFill>
            </a:endParaRPr>
          </a:p>
          <a:p>
            <a:pPr marL="233680" indent="-233680">
              <a:buFont typeface="Wingdings" panose="05000000000000000000" pitchFamily="2" charset="2"/>
              <a:buChar char="§"/>
              <a:defRPr/>
            </a:pPr>
            <a:r>
              <a:rPr lang="en-US" i="1" dirty="0">
                <a:solidFill>
                  <a:srgbClr val="CC0000"/>
                </a:solidFill>
              </a:rPr>
              <a:t>unreliable data transfer</a:t>
            </a:r>
            <a:r>
              <a:rPr lang="en-US" dirty="0"/>
              <a:t> between sending and receiving process</a:t>
            </a:r>
            <a:endParaRPr lang="en-US" dirty="0"/>
          </a:p>
          <a:p>
            <a:pPr marL="233680" indent="-233680">
              <a:buFont typeface="Wingdings" panose="05000000000000000000" pitchFamily="2" charset="2"/>
              <a:buChar char="§"/>
              <a:defRPr/>
            </a:pPr>
            <a:r>
              <a:rPr lang="en-US" i="1" dirty="0">
                <a:solidFill>
                  <a:srgbClr val="CC0000"/>
                </a:solidFill>
              </a:rPr>
              <a:t>does not provide:</a:t>
            </a:r>
            <a:r>
              <a:rPr lang="en-US" dirty="0"/>
              <a:t> reliability, flow control, congestion control, timing, throughput guarantee, security, or connection setup.</a:t>
            </a:r>
            <a:endParaRPr lang="en-US" dirty="0"/>
          </a:p>
        </p:txBody>
      </p:sp>
      <p:sp>
        <p:nvSpPr>
          <p:cNvPr id="19" name="Rectangle 4"/>
          <p:cNvSpPr txBox="1">
            <a:spLocks noChangeArrowheads="1"/>
          </p:cNvSpPr>
          <p:nvPr/>
        </p:nvSpPr>
        <p:spPr>
          <a:xfrm>
            <a:off x="7327516" y="5388865"/>
            <a:ext cx="3651156" cy="125964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charset="0"/>
              <a:buNone/>
              <a:defRPr/>
            </a:pPr>
            <a:r>
              <a:rPr lang="en-US" u="sng" dirty="0">
                <a:solidFill>
                  <a:srgbClr val="CC0000"/>
                </a:solidFill>
              </a:rPr>
              <a:t>Q:</a:t>
            </a:r>
            <a:r>
              <a:rPr lang="en-US" dirty="0"/>
              <a:t> why bother?  </a:t>
            </a:r>
            <a:r>
              <a:rPr lang="en-US" i="1" dirty="0"/>
              <a:t>Why</a:t>
            </a:r>
            <a:r>
              <a:rPr lang="en-US" dirty="0"/>
              <a:t> is there a UDP?</a:t>
            </a:r>
            <a:endParaRPr lang="en-US" dirty="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Internet transport protocols services</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8" name="Text Box 3"/>
          <p:cNvSpPr txBox="1">
            <a:spLocks noChangeArrowheads="1"/>
          </p:cNvSpPr>
          <p:nvPr/>
        </p:nvSpPr>
        <p:spPr bwMode="auto">
          <a:xfrm>
            <a:off x="114330" y="1536174"/>
            <a:ext cx="3479735"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r">
              <a:spcBef>
                <a:spcPct val="0"/>
              </a:spcBef>
              <a:buClrTx/>
              <a:buSzTx/>
              <a:buFontTx/>
              <a:buNone/>
            </a:pPr>
            <a:r>
              <a:rPr lang="en-US" altLang="en-US" sz="2800" b="1" dirty="0">
                <a:latin typeface="+mn-lt"/>
              </a:rPr>
              <a:t>application</a:t>
            </a:r>
            <a:endParaRPr lang="en-US" altLang="en-US" sz="2800" dirty="0">
              <a:latin typeface="+mn-lt"/>
            </a:endParaRPr>
          </a:p>
          <a:p>
            <a:pPr algn="r">
              <a:spcBef>
                <a:spcPct val="0"/>
              </a:spcBef>
              <a:buClrTx/>
              <a:buSzTx/>
              <a:buFontTx/>
              <a:buNone/>
            </a:pPr>
            <a:endParaRPr lang="en-US" altLang="en-US" sz="2800" dirty="0">
              <a:latin typeface="+mn-lt"/>
            </a:endParaRPr>
          </a:p>
          <a:p>
            <a:pPr algn="r">
              <a:lnSpc>
                <a:spcPct val="110000"/>
              </a:lnSpc>
              <a:spcBef>
                <a:spcPct val="0"/>
              </a:spcBef>
              <a:buClrTx/>
              <a:buSzTx/>
              <a:buFontTx/>
              <a:buNone/>
            </a:pPr>
            <a:r>
              <a:rPr lang="en-US" altLang="en-US" sz="2800" dirty="0">
                <a:latin typeface="+mn-lt"/>
              </a:rPr>
              <a:t>file transfer/download</a:t>
            </a:r>
            <a:endParaRPr lang="en-US" altLang="en-US" sz="2800" dirty="0">
              <a:latin typeface="+mn-lt"/>
            </a:endParaRPr>
          </a:p>
          <a:p>
            <a:pPr algn="r">
              <a:lnSpc>
                <a:spcPct val="110000"/>
              </a:lnSpc>
              <a:spcBef>
                <a:spcPct val="0"/>
              </a:spcBef>
              <a:buClrTx/>
              <a:buSzTx/>
              <a:buFontTx/>
              <a:buNone/>
            </a:pPr>
            <a:r>
              <a:rPr lang="en-US" altLang="en-US" sz="2800" dirty="0">
                <a:latin typeface="+mn-lt"/>
              </a:rPr>
              <a:t>e-mail</a:t>
            </a:r>
            <a:endParaRPr lang="en-US" altLang="en-US" sz="2800" dirty="0">
              <a:latin typeface="+mn-lt"/>
            </a:endParaRPr>
          </a:p>
          <a:p>
            <a:pPr algn="r">
              <a:lnSpc>
                <a:spcPct val="110000"/>
              </a:lnSpc>
              <a:spcBef>
                <a:spcPct val="0"/>
              </a:spcBef>
              <a:buClrTx/>
              <a:buSzTx/>
              <a:buFontTx/>
              <a:buNone/>
            </a:pPr>
            <a:r>
              <a:rPr lang="en-US" altLang="en-US" sz="2800" dirty="0">
                <a:latin typeface="+mn-lt"/>
              </a:rPr>
              <a:t>Web documents</a:t>
            </a:r>
            <a:endParaRPr lang="en-US" altLang="en-US" sz="2800" dirty="0">
              <a:latin typeface="+mn-lt"/>
            </a:endParaRPr>
          </a:p>
          <a:p>
            <a:pPr algn="r">
              <a:lnSpc>
                <a:spcPct val="110000"/>
              </a:lnSpc>
              <a:spcBef>
                <a:spcPct val="0"/>
              </a:spcBef>
              <a:buClrTx/>
              <a:buSzTx/>
              <a:buFontTx/>
              <a:buNone/>
            </a:pPr>
            <a:r>
              <a:rPr lang="en-US" altLang="en-US" sz="2800" dirty="0">
                <a:latin typeface="+mn-lt"/>
              </a:rPr>
              <a:t>Internet telephony</a:t>
            </a:r>
            <a:endParaRPr lang="en-US" altLang="en-US" sz="2800" dirty="0">
              <a:latin typeface="+mn-lt"/>
            </a:endParaRPr>
          </a:p>
          <a:p>
            <a:pPr algn="r">
              <a:lnSpc>
                <a:spcPct val="110000"/>
              </a:lnSpc>
              <a:spcBef>
                <a:spcPct val="0"/>
              </a:spcBef>
              <a:buClrTx/>
              <a:buSzTx/>
              <a:buFontTx/>
              <a:buNone/>
            </a:pPr>
            <a:endParaRPr lang="en-US" altLang="en-US" sz="2800" dirty="0">
              <a:latin typeface="+mn-lt"/>
            </a:endParaRPr>
          </a:p>
          <a:p>
            <a:pPr algn="r">
              <a:lnSpc>
                <a:spcPct val="110000"/>
              </a:lnSpc>
              <a:spcBef>
                <a:spcPct val="0"/>
              </a:spcBef>
              <a:buClrTx/>
              <a:buSzTx/>
              <a:buFontTx/>
              <a:buNone/>
            </a:pPr>
            <a:r>
              <a:rPr lang="en-US" altLang="en-US" sz="2800" dirty="0">
                <a:latin typeface="+mn-lt"/>
              </a:rPr>
              <a:t>streaming audio/video</a:t>
            </a:r>
            <a:endParaRPr lang="en-US" altLang="en-US" sz="2800" dirty="0">
              <a:latin typeface="+mn-lt"/>
            </a:endParaRPr>
          </a:p>
          <a:p>
            <a:pPr algn="r">
              <a:lnSpc>
                <a:spcPct val="110000"/>
              </a:lnSpc>
              <a:spcBef>
                <a:spcPct val="0"/>
              </a:spcBef>
              <a:buClrTx/>
              <a:buSzTx/>
              <a:buFontTx/>
              <a:buNone/>
            </a:pPr>
            <a:r>
              <a:rPr lang="en-US" altLang="en-US" sz="2800" dirty="0">
                <a:latin typeface="+mn-lt"/>
              </a:rPr>
              <a:t>interactive games</a:t>
            </a:r>
            <a:endParaRPr lang="en-US" altLang="en-US" sz="2800" dirty="0">
              <a:latin typeface="+mn-lt"/>
            </a:endParaRPr>
          </a:p>
        </p:txBody>
      </p:sp>
      <p:cxnSp>
        <p:nvCxnSpPr>
          <p:cNvPr id="4" name="Straight Connector 3"/>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Text Box 4"/>
          <p:cNvSpPr txBox="1">
            <a:spLocks noChangeArrowheads="1"/>
          </p:cNvSpPr>
          <p:nvPr/>
        </p:nvSpPr>
        <p:spPr bwMode="auto">
          <a:xfrm>
            <a:off x="4375021" y="1113609"/>
            <a:ext cx="4019427" cy="5153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800" b="1" dirty="0">
                <a:latin typeface="+mn-lt"/>
              </a:rPr>
              <a:t>application</a:t>
            </a:r>
            <a:endParaRPr lang="en-US" altLang="en-US" sz="2800" b="1" dirty="0">
              <a:latin typeface="+mn-lt"/>
            </a:endParaRPr>
          </a:p>
          <a:p>
            <a:pPr>
              <a:spcBef>
                <a:spcPct val="0"/>
              </a:spcBef>
              <a:buClrTx/>
              <a:buSzTx/>
              <a:buFontTx/>
              <a:buNone/>
            </a:pPr>
            <a:r>
              <a:rPr lang="en-US" altLang="en-US" sz="2800" b="1" dirty="0">
                <a:latin typeface="+mn-lt"/>
              </a:rPr>
              <a:t>layer protocol</a:t>
            </a:r>
            <a:endParaRPr lang="en-US" altLang="en-US" sz="2800" dirty="0">
              <a:latin typeface="+mn-lt"/>
            </a:endParaRPr>
          </a:p>
          <a:p>
            <a:pPr>
              <a:spcBef>
                <a:spcPct val="0"/>
              </a:spcBef>
              <a:buClrTx/>
              <a:buSzTx/>
              <a:buFontTx/>
              <a:buNone/>
            </a:pPr>
            <a:endParaRPr lang="en-US" altLang="en-US" sz="2800" dirty="0">
              <a:latin typeface="+mn-lt"/>
            </a:endParaRPr>
          </a:p>
          <a:p>
            <a:pPr>
              <a:lnSpc>
                <a:spcPct val="110000"/>
              </a:lnSpc>
              <a:spcBef>
                <a:spcPct val="0"/>
              </a:spcBef>
              <a:buClrTx/>
              <a:buSzTx/>
              <a:buFontTx/>
              <a:buNone/>
            </a:pPr>
            <a:r>
              <a:rPr lang="en-US" altLang="en-US" sz="2800" dirty="0">
                <a:latin typeface="+mn-lt"/>
              </a:rPr>
              <a:t>FTP [RFC 959]</a:t>
            </a:r>
            <a:endParaRPr lang="en-US" altLang="en-US" sz="2800" dirty="0">
              <a:latin typeface="+mn-lt"/>
            </a:endParaRPr>
          </a:p>
          <a:p>
            <a:pPr>
              <a:lnSpc>
                <a:spcPct val="110000"/>
              </a:lnSpc>
              <a:spcBef>
                <a:spcPct val="0"/>
              </a:spcBef>
              <a:buClrTx/>
              <a:buSzTx/>
              <a:buFontTx/>
              <a:buNone/>
            </a:pPr>
            <a:r>
              <a:rPr lang="en-US" altLang="en-US" sz="2800" dirty="0">
                <a:latin typeface="+mn-lt"/>
              </a:rPr>
              <a:t>SMTP [RFC 5321]</a:t>
            </a:r>
            <a:endParaRPr lang="en-US" altLang="en-US" sz="2800" dirty="0">
              <a:latin typeface="+mn-lt"/>
            </a:endParaRPr>
          </a:p>
          <a:p>
            <a:pPr>
              <a:lnSpc>
                <a:spcPct val="110000"/>
              </a:lnSpc>
              <a:spcBef>
                <a:spcPct val="0"/>
              </a:spcBef>
              <a:buClrTx/>
              <a:buSzTx/>
              <a:buFontTx/>
              <a:buNone/>
            </a:pPr>
            <a:r>
              <a:rPr lang="en-US" altLang="en-US" sz="2800" dirty="0">
                <a:latin typeface="+mn-lt"/>
              </a:rPr>
              <a:t>HTTP 1.1 [RFC 7320]</a:t>
            </a:r>
            <a:endParaRPr lang="en-US" altLang="en-US" sz="2800" dirty="0">
              <a:latin typeface="+mn-lt"/>
            </a:endParaRPr>
          </a:p>
          <a:p>
            <a:pPr>
              <a:lnSpc>
                <a:spcPct val="110000"/>
              </a:lnSpc>
              <a:spcBef>
                <a:spcPct val="0"/>
              </a:spcBef>
            </a:pPr>
            <a:r>
              <a:rPr lang="en-US" sz="2800" dirty="0">
                <a:latin typeface="+mn-lt"/>
              </a:rPr>
              <a:t>SIP [RFC 3261], RTP [RFC 3550], or proprietary HTTP [RFC 7320], DASH</a:t>
            </a:r>
            <a:endParaRPr lang="en-US" sz="2800" dirty="0">
              <a:latin typeface="+mn-lt"/>
            </a:endParaRPr>
          </a:p>
          <a:p>
            <a:pPr>
              <a:lnSpc>
                <a:spcPct val="110000"/>
              </a:lnSpc>
              <a:spcBef>
                <a:spcPct val="0"/>
              </a:spcBef>
            </a:pPr>
            <a:r>
              <a:rPr lang="en-US" sz="2800" dirty="0">
                <a:latin typeface="+mn-lt"/>
              </a:rPr>
              <a:t>WOW, FPS (proprietary) </a:t>
            </a:r>
            <a:br>
              <a:rPr lang="en-US" altLang="en-US" sz="2800" dirty="0">
                <a:latin typeface="+mn-lt"/>
              </a:rPr>
            </a:br>
            <a:endParaRPr lang="en-US" altLang="en-US" sz="2800" dirty="0">
              <a:latin typeface="+mn-lt"/>
            </a:endParaRPr>
          </a:p>
        </p:txBody>
      </p:sp>
      <p:sp>
        <p:nvSpPr>
          <p:cNvPr id="19" name="Text Box 3"/>
          <p:cNvSpPr txBox="1">
            <a:spLocks noChangeArrowheads="1"/>
          </p:cNvSpPr>
          <p:nvPr/>
        </p:nvSpPr>
        <p:spPr bwMode="auto">
          <a:xfrm>
            <a:off x="8407541" y="1566040"/>
            <a:ext cx="2914772"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r">
              <a:spcBef>
                <a:spcPct val="0"/>
              </a:spcBef>
              <a:buClrTx/>
              <a:buSzTx/>
              <a:buFontTx/>
              <a:buNone/>
            </a:pPr>
            <a:r>
              <a:rPr lang="en-US" altLang="en-US" sz="2800" b="1" dirty="0">
                <a:latin typeface="+mn-lt"/>
              </a:rPr>
              <a:t>transport protocol</a:t>
            </a:r>
            <a:endParaRPr lang="en-US" altLang="en-US" sz="2800" dirty="0">
              <a:latin typeface="+mn-lt"/>
            </a:endParaRPr>
          </a:p>
          <a:p>
            <a:pPr algn="r">
              <a:spcBef>
                <a:spcPct val="0"/>
              </a:spcBef>
              <a:buClrTx/>
              <a:buSzTx/>
              <a:buFontTx/>
              <a:buNone/>
            </a:pPr>
            <a:endParaRPr lang="en-US" altLang="en-US" sz="2800" dirty="0">
              <a:latin typeface="+mn-lt"/>
            </a:endParaRPr>
          </a:p>
          <a:p>
            <a:pPr algn="r">
              <a:lnSpc>
                <a:spcPct val="110000"/>
              </a:lnSpc>
              <a:spcBef>
                <a:spcPct val="0"/>
              </a:spcBef>
              <a:buClrTx/>
              <a:buSzTx/>
              <a:buFontTx/>
              <a:buNone/>
            </a:pPr>
            <a:r>
              <a:rPr lang="en-US" altLang="en-US" sz="2800" dirty="0">
                <a:latin typeface="+mn-lt"/>
              </a:rPr>
              <a:t>TCP</a:t>
            </a:r>
            <a:endParaRPr lang="en-US" altLang="en-US" sz="2800" dirty="0">
              <a:latin typeface="+mn-lt"/>
            </a:endParaRPr>
          </a:p>
          <a:p>
            <a:pPr algn="r">
              <a:lnSpc>
                <a:spcPct val="110000"/>
              </a:lnSpc>
              <a:spcBef>
                <a:spcPct val="0"/>
              </a:spcBef>
              <a:buClrTx/>
              <a:buSzTx/>
              <a:buFontTx/>
              <a:buNone/>
            </a:pPr>
            <a:r>
              <a:rPr lang="en-US" altLang="en-US" sz="2800" dirty="0">
                <a:latin typeface="+mn-lt"/>
              </a:rPr>
              <a:t>TCP</a:t>
            </a:r>
            <a:endParaRPr lang="en-US" altLang="en-US" sz="2800" dirty="0">
              <a:latin typeface="+mn-lt"/>
            </a:endParaRPr>
          </a:p>
          <a:p>
            <a:pPr algn="r">
              <a:lnSpc>
                <a:spcPct val="110000"/>
              </a:lnSpc>
              <a:spcBef>
                <a:spcPct val="0"/>
              </a:spcBef>
              <a:buClrTx/>
              <a:buSzTx/>
              <a:buFontTx/>
              <a:buNone/>
            </a:pPr>
            <a:r>
              <a:rPr lang="en-US" altLang="en-US" sz="2800" dirty="0">
                <a:latin typeface="+mn-lt"/>
              </a:rPr>
              <a:t>TCP</a:t>
            </a:r>
            <a:endParaRPr lang="en-US" altLang="en-US" sz="2800" dirty="0">
              <a:latin typeface="+mn-lt"/>
            </a:endParaRPr>
          </a:p>
          <a:p>
            <a:pPr algn="r">
              <a:lnSpc>
                <a:spcPct val="110000"/>
              </a:lnSpc>
              <a:spcBef>
                <a:spcPct val="0"/>
              </a:spcBef>
              <a:buClrTx/>
              <a:buSzTx/>
              <a:buFontTx/>
              <a:buNone/>
            </a:pPr>
            <a:r>
              <a:rPr lang="en-US" altLang="en-US" sz="2800" dirty="0">
                <a:latin typeface="+mn-lt"/>
              </a:rPr>
              <a:t>TCP or UDP</a:t>
            </a:r>
            <a:endParaRPr lang="en-US" altLang="en-US" sz="2800" dirty="0">
              <a:latin typeface="+mn-lt"/>
            </a:endParaRPr>
          </a:p>
          <a:p>
            <a:pPr algn="r">
              <a:lnSpc>
                <a:spcPct val="110000"/>
              </a:lnSpc>
              <a:spcBef>
                <a:spcPct val="0"/>
              </a:spcBef>
              <a:buClrTx/>
              <a:buSzTx/>
              <a:buFontTx/>
              <a:buNone/>
            </a:pPr>
            <a:endParaRPr lang="en-US" altLang="en-US" sz="2800" dirty="0">
              <a:latin typeface="+mn-lt"/>
            </a:endParaRPr>
          </a:p>
          <a:p>
            <a:pPr algn="r">
              <a:lnSpc>
                <a:spcPct val="110000"/>
              </a:lnSpc>
              <a:spcBef>
                <a:spcPct val="0"/>
              </a:spcBef>
              <a:buClrTx/>
              <a:buSzTx/>
              <a:buFontTx/>
              <a:buNone/>
            </a:pPr>
            <a:r>
              <a:rPr lang="en-US" altLang="en-US" sz="2800" dirty="0">
                <a:latin typeface="+mn-lt"/>
              </a:rPr>
              <a:t>TCP</a:t>
            </a:r>
            <a:endParaRPr lang="en-US" altLang="en-US" sz="2800" dirty="0">
              <a:latin typeface="+mn-lt"/>
            </a:endParaRPr>
          </a:p>
          <a:p>
            <a:pPr algn="r">
              <a:lnSpc>
                <a:spcPct val="110000"/>
              </a:lnSpc>
              <a:spcBef>
                <a:spcPct val="0"/>
              </a:spcBef>
              <a:buClrTx/>
              <a:buSzTx/>
              <a:buFontTx/>
              <a:buNone/>
            </a:pPr>
            <a:r>
              <a:rPr lang="en-US" altLang="en-US" sz="2800" dirty="0">
                <a:latin typeface="+mn-lt"/>
              </a:rPr>
              <a:t>UDP or TCP</a:t>
            </a:r>
            <a:endParaRPr lang="en-US" altLang="en-US" sz="2800" dirty="0">
              <a:latin typeface="+mn-lt"/>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solidFill>
                  <a:srgbClr val="0000A8"/>
                </a:solidFill>
                <a:ea typeface="MS PGothic" panose="020B0600070205080204" pitchFamily="34" charset="-128"/>
              </a:rPr>
              <a:t>Securing TCP</a:t>
            </a:r>
            <a:endParaRPr lang="en-US" sz="4400" dirty="0">
              <a:solidFill>
                <a:srgbClr val="0000A8"/>
              </a:solidFill>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7" name="Rectangle 3"/>
          <p:cNvSpPr txBox="1">
            <a:spLocks noChangeArrowheads="1"/>
          </p:cNvSpPr>
          <p:nvPr/>
        </p:nvSpPr>
        <p:spPr>
          <a:xfrm>
            <a:off x="753320" y="1383910"/>
            <a:ext cx="5957195"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30200">
              <a:buNone/>
              <a:defRPr/>
            </a:pPr>
            <a:r>
              <a:rPr lang="en-US" sz="3200" dirty="0">
                <a:solidFill>
                  <a:srgbClr val="C00000"/>
                </a:solidFill>
              </a:rPr>
              <a:t>Vanilla TCP &amp; UDP sockets:</a:t>
            </a:r>
            <a:endParaRPr lang="en-US" sz="3200" dirty="0">
              <a:solidFill>
                <a:srgbClr val="C00000"/>
              </a:solidFill>
            </a:endParaRPr>
          </a:p>
          <a:p>
            <a:pPr marL="349250" indent="-219075">
              <a:spcBef>
                <a:spcPts val="400"/>
              </a:spcBef>
              <a:buClr>
                <a:srgbClr val="0000A8"/>
              </a:buClr>
              <a:buFont typeface="Wingdings" panose="05000000000000000000" pitchFamily="2" charset="2"/>
              <a:buChar char="§"/>
              <a:defRPr/>
            </a:pPr>
            <a:r>
              <a:rPr lang="en-US" dirty="0"/>
              <a:t>no encryption</a:t>
            </a:r>
            <a:endParaRPr lang="en-US" dirty="0"/>
          </a:p>
          <a:p>
            <a:pPr marL="349250" indent="-219075">
              <a:spcBef>
                <a:spcPts val="400"/>
              </a:spcBef>
              <a:buClr>
                <a:srgbClr val="0000A8"/>
              </a:buClr>
              <a:buFont typeface="Wingdings" panose="05000000000000000000" pitchFamily="2" charset="2"/>
              <a:buChar char="§"/>
              <a:defRPr/>
            </a:pPr>
            <a:r>
              <a:rPr lang="en-US" dirty="0"/>
              <a:t>cleartext passwords sent into socket traverse Internet  in cleartext (!)</a:t>
            </a:r>
            <a:endParaRPr lang="en-US" dirty="0"/>
          </a:p>
          <a:p>
            <a:pPr marL="0" indent="0">
              <a:buFont typeface="Wingdings" panose="05000000000000000000" pitchFamily="2" charset="2"/>
              <a:buNone/>
              <a:defRPr/>
            </a:pPr>
            <a:r>
              <a:rPr lang="en-US" sz="3200" dirty="0">
                <a:solidFill>
                  <a:srgbClr val="C00000"/>
                </a:solidFill>
              </a:rPr>
              <a:t>Transport Layer Security </a:t>
            </a:r>
            <a:r>
              <a:rPr lang="en-US" sz="3200" dirty="0">
                <a:solidFill>
                  <a:srgbClr val="0000A3"/>
                </a:solidFill>
              </a:rPr>
              <a:t>(TLS) </a:t>
            </a:r>
            <a:endParaRPr lang="en-US" sz="3200" dirty="0">
              <a:solidFill>
                <a:srgbClr val="0000A3"/>
              </a:solidFill>
            </a:endParaRPr>
          </a:p>
          <a:p>
            <a:pPr marL="349250" indent="-219075">
              <a:spcBef>
                <a:spcPts val="400"/>
              </a:spcBef>
              <a:buFont typeface="Wingdings" panose="05000000000000000000" pitchFamily="2" charset="2"/>
              <a:buChar char="§"/>
              <a:defRPr/>
            </a:pPr>
            <a:r>
              <a:rPr lang="en-US" dirty="0"/>
              <a:t>provides encrypted TCP connections</a:t>
            </a:r>
            <a:endParaRPr lang="en-US" dirty="0"/>
          </a:p>
          <a:p>
            <a:pPr marL="349250" indent="-219075">
              <a:spcBef>
                <a:spcPts val="400"/>
              </a:spcBef>
              <a:buFont typeface="Wingdings" panose="05000000000000000000" pitchFamily="2" charset="2"/>
              <a:buChar char="§"/>
              <a:defRPr/>
            </a:pPr>
            <a:r>
              <a:rPr lang="en-US" dirty="0"/>
              <a:t>data integrity</a:t>
            </a:r>
            <a:endParaRPr lang="en-US" dirty="0"/>
          </a:p>
          <a:p>
            <a:pPr marL="349250" indent="-219075">
              <a:spcBef>
                <a:spcPts val="400"/>
              </a:spcBef>
              <a:buFont typeface="Wingdings" panose="05000000000000000000" pitchFamily="2" charset="2"/>
              <a:buChar char="§"/>
              <a:defRPr/>
            </a:pPr>
            <a:r>
              <a:rPr lang="en-US" dirty="0"/>
              <a:t>end-point authenticatio</a:t>
            </a:r>
            <a:r>
              <a:rPr lang="en-US" sz="3200" dirty="0"/>
              <a:t>n</a:t>
            </a:r>
            <a:endParaRPr lang="en-US" altLang="en-US" dirty="0">
              <a:ea typeface="MS PGothic" panose="020B0600070205080204" pitchFamily="34" charset="-128"/>
            </a:endParaRPr>
          </a:p>
        </p:txBody>
      </p:sp>
      <p:sp>
        <p:nvSpPr>
          <p:cNvPr id="18" name="Rectangle 4"/>
          <p:cNvSpPr txBox="1">
            <a:spLocks noChangeArrowheads="1"/>
          </p:cNvSpPr>
          <p:nvPr/>
        </p:nvSpPr>
        <p:spPr>
          <a:xfrm>
            <a:off x="7115815" y="1395634"/>
            <a:ext cx="451458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225" indent="0">
              <a:buNone/>
            </a:pPr>
            <a:r>
              <a:rPr lang="en-US" altLang="en-US" sz="3200" dirty="0">
                <a:solidFill>
                  <a:srgbClr val="22228B"/>
                </a:solidFill>
                <a:ea typeface="MS PGothic" panose="020B0600070205080204" pitchFamily="34" charset="-128"/>
              </a:rPr>
              <a:t>TSL implemented in application layer</a:t>
            </a:r>
            <a:endParaRPr lang="en-US" altLang="en-US" sz="3200" dirty="0">
              <a:solidFill>
                <a:srgbClr val="22228B"/>
              </a:solidFill>
              <a:ea typeface="MS PGothic" panose="020B0600070205080204" pitchFamily="34" charset="-128"/>
            </a:endParaRPr>
          </a:p>
          <a:p>
            <a:r>
              <a:rPr lang="en-US" altLang="en-US" dirty="0">
                <a:ea typeface="MS PGothic" panose="020B0600070205080204" pitchFamily="34" charset="-128"/>
              </a:rPr>
              <a:t>apps use TSL libraries, that use </a:t>
            </a:r>
            <a:r>
              <a:rPr lang="en-US" altLang="ja-JP" dirty="0">
                <a:ea typeface="MS PGothic" panose="020B0600070205080204" pitchFamily="34" charset="-128"/>
              </a:rPr>
              <a:t>TCP in turn</a:t>
            </a:r>
            <a:endParaRPr lang="en-US" altLang="ja-JP" dirty="0">
              <a:ea typeface="MS PGothic" panose="020B0600070205080204" pitchFamily="34" charset="-128"/>
            </a:endParaRPr>
          </a:p>
          <a:p>
            <a:pPr marL="22225" indent="0">
              <a:buNone/>
            </a:pPr>
            <a:r>
              <a:rPr lang="en-US" altLang="en-US" sz="3200" dirty="0">
                <a:solidFill>
                  <a:srgbClr val="22228B"/>
                </a:solidFill>
                <a:ea typeface="MS PGothic" panose="020B0600070205080204" pitchFamily="34" charset="-128"/>
              </a:rPr>
              <a:t>TLS socket API</a:t>
            </a:r>
            <a:endParaRPr lang="en-US" altLang="en-US" sz="3200" dirty="0">
              <a:solidFill>
                <a:srgbClr val="22228B"/>
              </a:solidFill>
              <a:ea typeface="MS PGothic" panose="020B0600070205080204" pitchFamily="34" charset="-128"/>
            </a:endParaRPr>
          </a:p>
          <a:p>
            <a:pPr marL="233680" lvl="1" indent="-233680">
              <a:buFont typeface="Wingdings" panose="05000000000000000000" pitchFamily="2" charset="2"/>
              <a:buChar char="§"/>
            </a:pPr>
            <a:r>
              <a:rPr lang="en-US" altLang="en-US" sz="2800" dirty="0">
                <a:ea typeface="MS PGothic" panose="020B0600070205080204" pitchFamily="34" charset="-128"/>
              </a:rPr>
              <a:t>cleartext sent into socket  traverse Internet  </a:t>
            </a:r>
            <a:r>
              <a:rPr lang="en-US" altLang="en-US" sz="2800" i="1" dirty="0">
                <a:ea typeface="MS PGothic" panose="020B0600070205080204" pitchFamily="34" charset="-128"/>
              </a:rPr>
              <a:t>encrypted</a:t>
            </a:r>
            <a:r>
              <a:rPr lang="en-US" altLang="en-US" sz="2800" dirty="0">
                <a:ea typeface="MS PGothic" panose="020B0600070205080204" pitchFamily="34" charset="-128"/>
              </a:rPr>
              <a:t> </a:t>
            </a:r>
            <a:endParaRPr lang="en-US" altLang="en-US" sz="2800" dirty="0">
              <a:ea typeface="MS PGothic" panose="020B0600070205080204" pitchFamily="34" charset="-128"/>
            </a:endParaRPr>
          </a:p>
          <a:p>
            <a:pPr marL="233680" lvl="1" indent="-233680">
              <a:buFont typeface="Wingdings" panose="05000000000000000000" pitchFamily="2" charset="2"/>
              <a:buChar char="§"/>
            </a:pPr>
            <a:r>
              <a:rPr lang="en-US" altLang="en-US" sz="2800" dirty="0">
                <a:ea typeface="MS PGothic" panose="020B0600070205080204" pitchFamily="34" charset="-128"/>
              </a:rPr>
              <a:t>see Chapter 8</a:t>
            </a:r>
            <a:endParaRPr lang="en-US" altLang="en-US" sz="2800" dirty="0">
              <a:ea typeface="MS PGothic" panose="020B0600070205080204" pitchFamily="34" charset="-128"/>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p:cNvSpPr txBox="1"/>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defRPr/>
            </a:pPr>
            <a:r>
              <a:rPr lang="en-US" sz="3200" dirty="0">
                <a:latin typeface="Calibri" panose="020F0502020204030204" pitchFamily="34" charset="0"/>
                <a:cs typeface="Calibri" panose="020F0502020204030204" pitchFamily="34" charset="0"/>
              </a:rPr>
              <a:t>Web and HTTP</a:t>
            </a:r>
            <a:endParaRPr lang="en-US" sz="3200" dirty="0">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endParaRPr lang="en-US" sz="3200" dirty="0">
              <a:solidFill>
                <a:schemeClr val="bg1">
                  <a:lumMod val="75000"/>
                </a:schemeClr>
              </a:solidFill>
              <a:latin typeface="Calibri" panose="020F0502020204030204" pitchFamily="34" charset="0"/>
              <a:cs typeface="Calibri" panose="020F0502020204030204" pitchFamily="34" charset="0"/>
            </a:endParaRPr>
          </a:p>
          <a:p>
            <a:endParaRPr lang="en-US" dirty="0"/>
          </a:p>
        </p:txBody>
      </p:sp>
      <p:sp>
        <p:nvSpPr>
          <p:cNvPr id="11" name="Rectangle 4"/>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P2P applications</a:t>
            </a:r>
            <a:endParaRPr lang="en-US" altLang="en-US" sz="3200" dirty="0">
              <a:solidFill>
                <a:schemeClr val="bg1">
                  <a:lumMod val="75000"/>
                </a:schemeClr>
              </a:solidFill>
              <a:ea typeface="MS PGothic" panose="020B0600070205080204" pitchFamily="34" charset="-128"/>
            </a:endParaRPr>
          </a:p>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video streaming and content distribution networks</a:t>
            </a:r>
            <a:endParaRPr lang="en-US" altLang="en-US" sz="3200" dirty="0">
              <a:solidFill>
                <a:schemeClr val="bg1">
                  <a:lumMod val="75000"/>
                </a:schemeClr>
              </a:solidFill>
              <a:ea typeface="MS PGothic" panose="020B0600070205080204" pitchFamily="34" charset="-128"/>
            </a:endParaRPr>
          </a:p>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socket programming with UDP and TCP</a:t>
            </a:r>
            <a:endParaRPr lang="en-US" altLang="en-US" sz="3200" dirty="0">
              <a:solidFill>
                <a:schemeClr val="bg1">
                  <a:lumMod val="75000"/>
                </a:schemeClr>
              </a:solidFill>
              <a:ea typeface="MS PGothic" panose="020B0600070205080204" pitchFamily="34" charset="-128"/>
            </a:endParaRPr>
          </a:p>
          <a:p>
            <a:pPr>
              <a:buFont typeface="Wingdings" panose="05000000000000000000" pitchFamily="2" charset="2"/>
              <a:buNone/>
            </a:pPr>
            <a:endParaRPr lang="en-US" altLang="en-US" sz="2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pic>
        <p:nvPicPr>
          <p:cNvPr id="8" name="Picture 7" descr="Kurose&amp;Ross 8th edition photo"/>
          <p:cNvPicPr>
            <a:picLocks noChangeAspect="1"/>
          </p:cNvPicPr>
          <p:nvPr/>
        </p:nvPicPr>
        <p:blipFill>
          <a:blip r:embed="rId1"/>
          <a:stretch>
            <a:fillRect/>
          </a:stretch>
        </p:blipFill>
        <p:spPr>
          <a:xfrm>
            <a:off x="6957391" y="4125913"/>
            <a:ext cx="3087757" cy="2315818"/>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Web and HTTP</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8" name="Rectangle 3"/>
          <p:cNvSpPr txBox="1">
            <a:spLocks noChangeArrowheads="1"/>
          </p:cNvSpPr>
          <p:nvPr/>
        </p:nvSpPr>
        <p:spPr>
          <a:xfrm>
            <a:off x="669395" y="1559756"/>
            <a:ext cx="10774192"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i="1" dirty="0">
                <a:ea typeface="MS PGothic" panose="020B0600070205080204" pitchFamily="34" charset="-128"/>
              </a:rPr>
              <a:t>First, a quick review…</a:t>
            </a:r>
            <a:endParaRPr lang="en-US" altLang="en-US" sz="3200" i="1" dirty="0">
              <a:ea typeface="MS PGothic" panose="020B0600070205080204" pitchFamily="34" charset="-128"/>
            </a:endParaRPr>
          </a:p>
          <a:p>
            <a:pPr marL="460375" indent="-330200"/>
            <a:r>
              <a:rPr lang="en-US" altLang="en-US" sz="3200" dirty="0">
                <a:ea typeface="MS PGothic" panose="020B0600070205080204" pitchFamily="34" charset="-128"/>
              </a:rPr>
              <a:t>web page consists of </a:t>
            </a:r>
            <a:r>
              <a:rPr lang="en-US" altLang="en-US" sz="3200" i="1" dirty="0">
                <a:solidFill>
                  <a:srgbClr val="C00000"/>
                </a:solidFill>
                <a:ea typeface="MS PGothic" panose="020B0600070205080204" pitchFamily="34" charset="-128"/>
              </a:rPr>
              <a:t>objects, </a:t>
            </a:r>
            <a:r>
              <a:rPr lang="en-US" altLang="en-US" sz="3200" dirty="0">
                <a:ea typeface="MS PGothic" panose="020B0600070205080204" pitchFamily="34" charset="-128"/>
              </a:rPr>
              <a:t>each of</a:t>
            </a:r>
            <a:r>
              <a:rPr lang="en-US" altLang="en-US" sz="3200" i="1" dirty="0">
                <a:solidFill>
                  <a:srgbClr val="C00000"/>
                </a:solidFill>
                <a:ea typeface="MS PGothic" panose="020B0600070205080204" pitchFamily="34" charset="-128"/>
              </a:rPr>
              <a:t> </a:t>
            </a:r>
            <a:r>
              <a:rPr lang="en-US" altLang="en-US" sz="3200" dirty="0">
                <a:ea typeface="MS PGothic" panose="020B0600070205080204" pitchFamily="34" charset="-128"/>
              </a:rPr>
              <a:t>which can be stored on different Web servers</a:t>
            </a:r>
            <a:endParaRPr lang="en-US" altLang="en-US" sz="3200" dirty="0">
              <a:ea typeface="MS PGothic" panose="020B0600070205080204" pitchFamily="34" charset="-128"/>
            </a:endParaRPr>
          </a:p>
          <a:p>
            <a:pPr marL="460375" indent="-330200"/>
            <a:r>
              <a:rPr lang="en-US" altLang="en-US" sz="3200" dirty="0">
                <a:ea typeface="MS PGothic" panose="020B0600070205080204" pitchFamily="34" charset="-128"/>
              </a:rPr>
              <a:t>object can be HTML file, JPEG image, Java applet, audio file,…</a:t>
            </a:r>
            <a:endParaRPr lang="en-US" altLang="en-US" sz="3200" dirty="0">
              <a:ea typeface="MS PGothic" panose="020B0600070205080204" pitchFamily="34" charset="-128"/>
            </a:endParaRPr>
          </a:p>
          <a:p>
            <a:pPr marL="460375" indent="-330200"/>
            <a:r>
              <a:rPr lang="en-US" altLang="en-US" sz="3200" dirty="0">
                <a:ea typeface="MS PGothic" panose="020B0600070205080204" pitchFamily="34" charset="-128"/>
              </a:rPr>
              <a:t>web page consists of </a:t>
            </a:r>
            <a:r>
              <a:rPr lang="en-US" altLang="en-US" sz="3200" i="1" dirty="0">
                <a:solidFill>
                  <a:srgbClr val="CC0000"/>
                </a:solidFill>
                <a:ea typeface="MS PGothic" panose="020B0600070205080204" pitchFamily="34" charset="-128"/>
              </a:rPr>
              <a:t>base HTML-file</a:t>
            </a:r>
            <a:r>
              <a:rPr lang="en-US" altLang="en-US" sz="3200" dirty="0">
                <a:ea typeface="MS PGothic" panose="020B0600070205080204" pitchFamily="34" charset="-128"/>
              </a:rPr>
              <a:t> which includes </a:t>
            </a:r>
            <a:r>
              <a:rPr lang="en-US" altLang="en-US" sz="3200" i="1" dirty="0">
                <a:solidFill>
                  <a:srgbClr val="CC0000"/>
                </a:solidFill>
                <a:ea typeface="MS PGothic" panose="020B0600070205080204" pitchFamily="34" charset="-128"/>
              </a:rPr>
              <a:t>several referenced objects, each </a:t>
            </a:r>
            <a:r>
              <a:rPr lang="en-US" altLang="en-US" sz="3200" dirty="0">
                <a:ea typeface="MS PGothic" panose="020B0600070205080204" pitchFamily="34" charset="-128"/>
              </a:rPr>
              <a:t>addressable by a </a:t>
            </a:r>
            <a:r>
              <a:rPr lang="en-US" altLang="en-US" sz="3200" i="1" dirty="0">
                <a:solidFill>
                  <a:srgbClr val="CC0000"/>
                </a:solidFill>
                <a:ea typeface="MS PGothic" panose="020B0600070205080204" pitchFamily="34" charset="-128"/>
              </a:rPr>
              <a:t>URL, </a:t>
            </a:r>
            <a:r>
              <a:rPr lang="en-US" altLang="en-US" sz="3200" dirty="0">
                <a:ea typeface="MS PGothic" panose="020B0600070205080204" pitchFamily="34" charset="-128"/>
              </a:rPr>
              <a:t>e.g.,</a:t>
            </a:r>
            <a:endParaRPr lang="en-US" altLang="en-US" sz="3200" dirty="0">
              <a:ea typeface="MS PGothic" panose="020B0600070205080204" pitchFamily="34" charset="-128"/>
            </a:endParaRPr>
          </a:p>
          <a:p>
            <a:pPr>
              <a:buFont typeface="Wingdings" panose="05000000000000000000" pitchFamily="2" charset="2"/>
              <a:buNone/>
            </a:pPr>
            <a:endParaRPr lang="en-US" altLang="en-US" dirty="0">
              <a:ea typeface="MS PGothic" panose="020B0600070205080204" pitchFamily="34" charset="-128"/>
            </a:endParaRPr>
          </a:p>
        </p:txBody>
      </p:sp>
      <p:grpSp>
        <p:nvGrpSpPr>
          <p:cNvPr id="13" name="Group 10"/>
          <p:cNvGrpSpPr/>
          <p:nvPr/>
        </p:nvGrpSpPr>
        <p:grpSpPr bwMode="auto">
          <a:xfrm>
            <a:off x="2463366" y="4853073"/>
            <a:ext cx="6835775" cy="1144588"/>
            <a:chOff x="788" y="2955"/>
            <a:chExt cx="4306" cy="721"/>
          </a:xfrm>
        </p:grpSpPr>
        <p:sp>
          <p:nvSpPr>
            <p:cNvPr id="14" name="Text Box 5"/>
            <p:cNvSpPr txBox="1">
              <a:spLocks noChangeArrowheads="1"/>
            </p:cNvSpPr>
            <p:nvPr/>
          </p:nvSpPr>
          <p:spPr bwMode="auto">
            <a:xfrm>
              <a:off x="788" y="2955"/>
              <a:ext cx="41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400" dirty="0" err="1">
                  <a:latin typeface="Courier New" panose="02070309020205020404" pitchFamily="49" charset="0"/>
                </a:rPr>
                <a:t>www.someschool.edu</a:t>
              </a:r>
              <a:r>
                <a:rPr lang="en-US" altLang="en-US" sz="2400" dirty="0">
                  <a:latin typeface="Courier New" panose="02070309020205020404" pitchFamily="49" charset="0"/>
                </a:rPr>
                <a:t>/</a:t>
              </a:r>
              <a:r>
                <a:rPr lang="en-US" altLang="en-US" sz="2400" dirty="0" err="1">
                  <a:latin typeface="Courier New" panose="02070309020205020404" pitchFamily="49" charset="0"/>
                </a:rPr>
                <a:t>someDept</a:t>
              </a:r>
              <a:r>
                <a:rPr lang="en-US" altLang="en-US" sz="2400" dirty="0">
                  <a:latin typeface="Courier New" panose="02070309020205020404" pitchFamily="49" charset="0"/>
                </a:rPr>
                <a:t>/</a:t>
              </a:r>
              <a:r>
                <a:rPr lang="en-US" altLang="en-US" sz="2400" dirty="0" err="1">
                  <a:latin typeface="Courier New" panose="02070309020205020404" pitchFamily="49" charset="0"/>
                </a:rPr>
                <a:t>pic.gif</a:t>
              </a:r>
              <a:endParaRPr lang="en-US" altLang="en-US" sz="2400" dirty="0">
                <a:latin typeface="Courier New" panose="02070309020205020404" pitchFamily="49" charset="0"/>
              </a:endParaRPr>
            </a:p>
          </p:txBody>
        </p:sp>
        <p:sp>
          <p:nvSpPr>
            <p:cNvPr id="15" name="AutoShape 6"/>
            <p:cNvSpPr/>
            <p:nvPr/>
          </p:nvSpPr>
          <p:spPr bwMode="auto">
            <a:xfrm rot="-5400000">
              <a:off x="1821" y="2281"/>
              <a:ext cx="57" cy="2083"/>
            </a:xfrm>
            <a:prstGeom prst="leftBrace">
              <a:avLst>
                <a:gd name="adj1" fmla="val 304532"/>
                <a:gd name="adj2" fmla="val 50000"/>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Comic Sans MS" panose="030F0702030302020204" pitchFamily="66" charset="0"/>
              </a:endParaRPr>
            </a:p>
          </p:txBody>
        </p:sp>
        <p:sp>
          <p:nvSpPr>
            <p:cNvPr id="16" name="AutoShape 7"/>
            <p:cNvSpPr/>
            <p:nvPr/>
          </p:nvSpPr>
          <p:spPr bwMode="auto">
            <a:xfrm rot="-5400000">
              <a:off x="4024" y="2277"/>
              <a:ext cx="57" cy="2083"/>
            </a:xfrm>
            <a:prstGeom prst="leftBrace">
              <a:avLst>
                <a:gd name="adj1" fmla="val 304532"/>
                <a:gd name="adj2" fmla="val 50000"/>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Comic Sans MS" panose="030F0702030302020204" pitchFamily="66" charset="0"/>
              </a:endParaRPr>
            </a:p>
          </p:txBody>
        </p:sp>
        <p:sp>
          <p:nvSpPr>
            <p:cNvPr id="17" name="Text Box 8"/>
            <p:cNvSpPr txBox="1">
              <a:spLocks noChangeArrowheads="1"/>
            </p:cNvSpPr>
            <p:nvPr/>
          </p:nvSpPr>
          <p:spPr bwMode="auto">
            <a:xfrm>
              <a:off x="1389" y="3388"/>
              <a:ext cx="10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400"/>
                <a:t>host name</a:t>
              </a:r>
              <a:endParaRPr lang="en-US" altLang="en-US" sz="2400"/>
            </a:p>
          </p:txBody>
        </p:sp>
        <p:sp>
          <p:nvSpPr>
            <p:cNvPr id="18" name="Text Box 9"/>
            <p:cNvSpPr txBox="1">
              <a:spLocks noChangeArrowheads="1"/>
            </p:cNvSpPr>
            <p:nvPr/>
          </p:nvSpPr>
          <p:spPr bwMode="auto">
            <a:xfrm>
              <a:off x="3485" y="3338"/>
              <a:ext cx="10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400"/>
                <a:t>path</a:t>
              </a:r>
              <a:r>
                <a:rPr lang="en-US" altLang="en-US" sz="2400">
                  <a:latin typeface="Comic Sans MS" panose="030F0702030302020204" pitchFamily="66" charset="0"/>
                </a:rPr>
                <a:t> </a:t>
              </a:r>
              <a:r>
                <a:rPr lang="en-US" altLang="en-US" sz="2400"/>
                <a:t>name</a:t>
              </a:r>
              <a:endParaRPr lang="en-US" altLang="en-US" sz="2400"/>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71" name="Rectangle 3"/>
          <p:cNvSpPr txBox="1">
            <a:spLocks noChangeArrowheads="1"/>
          </p:cNvSpPr>
          <p:nvPr/>
        </p:nvSpPr>
        <p:spPr bwMode="auto">
          <a:xfrm>
            <a:off x="791849" y="1608374"/>
            <a:ext cx="5988172"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MS PGothic" panose="020B0600070205080204" pitchFamily="34" charset="-128"/>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anose="020B0502020104020203" pitchFamily="34" charset="0"/>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sz="1800">
                <a:solidFill>
                  <a:schemeClr val="tx1"/>
                </a:solidFill>
                <a:latin typeface="Times New Roman" panose="02020603050405020304" pitchFamily="18" charset="0"/>
                <a:ea typeface="MS PGothic" panose="020B0600070205080204" pitchFamily="34" charset="-128"/>
              </a:defRPr>
            </a:lvl4pPr>
            <a:lvl5pPr marL="2057400" indent="-228600" algn="l" rtl="0" eaLnBrk="0" fontAlgn="base" hangingPunct="0">
              <a:spcBef>
                <a:spcPct val="20000"/>
              </a:spcBef>
              <a:spcAft>
                <a:spcPct val="0"/>
              </a:spcAft>
              <a:buChar char="»"/>
              <a:defRPr sz="1800">
                <a:solidFill>
                  <a:schemeClr val="tx1"/>
                </a:solidFill>
                <a:latin typeface="Times New Roman" panose="02020603050405020304" pitchFamily="18" charset="0"/>
                <a:ea typeface="MS PGothic" panose="020B0600070205080204" pitchFamily="34" charset="-128"/>
              </a:defRPr>
            </a:lvl5pPr>
            <a:lvl6pPr marL="25146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9pPr>
          </a:lstStyle>
          <a:p>
            <a:pPr>
              <a:lnSpc>
                <a:spcPct val="75000"/>
              </a:lnSpc>
              <a:buFont typeface="Wingdings" panose="05000000000000000000" pitchFamily="2" charset="2"/>
              <a:buNone/>
            </a:pPr>
            <a:r>
              <a:rPr lang="en-US" altLang="en-US" sz="3200" kern="0" dirty="0">
                <a:solidFill>
                  <a:srgbClr val="CC0000"/>
                </a:solidFill>
                <a:latin typeface="Calibri" panose="020F0502020204030204" pitchFamily="34" charset="0"/>
                <a:ea typeface="MS PGothic" panose="020B0600070205080204" pitchFamily="34" charset="-128"/>
                <a:cs typeface="Calibri" panose="020F0502020204030204" pitchFamily="34" charset="0"/>
              </a:rPr>
              <a:t>HTTP: hypertext transfer protocol</a:t>
            </a:r>
            <a:endParaRPr lang="en-US" altLang="en-US" sz="3200" kern="0" dirty="0">
              <a:solidFill>
                <a:srgbClr val="CC0000"/>
              </a:solidFill>
              <a:latin typeface="Calibri" panose="020F0502020204030204" pitchFamily="34" charset="0"/>
              <a:ea typeface="MS PGothic" panose="020B0600070205080204" pitchFamily="34" charset="-128"/>
              <a:cs typeface="Calibri" panose="020F0502020204030204" pitchFamily="34" charset="0"/>
            </a:endParaRPr>
          </a:p>
          <a:p>
            <a:pPr>
              <a:lnSpc>
                <a:spcPct val="75000"/>
              </a:lnSpc>
            </a:pPr>
            <a:r>
              <a:rPr lang="en-US" altLang="en-US" sz="3200" kern="0" dirty="0">
                <a:latin typeface="Calibri" panose="020F0502020204030204" pitchFamily="34" charset="0"/>
                <a:ea typeface="MS PGothic" panose="020B0600070205080204" pitchFamily="34" charset="-128"/>
                <a:cs typeface="Calibri" panose="020F0502020204030204" pitchFamily="34" charset="0"/>
              </a:rPr>
              <a:t>Web</a:t>
            </a:r>
            <a:r>
              <a:rPr lang="ja-JP" altLang="en-US" sz="3200" kern="0">
                <a:latin typeface="Calibri" panose="020F0502020204030204" pitchFamily="34" charset="0"/>
                <a:ea typeface="MS PGothic" panose="020B0600070205080204" pitchFamily="34" charset="-128"/>
                <a:cs typeface="Calibri" panose="020F0502020204030204" pitchFamily="34" charset="0"/>
              </a:rPr>
              <a:t>’</a:t>
            </a:r>
            <a:r>
              <a:rPr lang="en-US" altLang="ja-JP" sz="3200" kern="0" dirty="0">
                <a:latin typeface="Calibri" panose="020F0502020204030204" pitchFamily="34" charset="0"/>
                <a:ea typeface="MS PGothic" panose="020B0600070205080204" pitchFamily="34" charset="-128"/>
                <a:cs typeface="Calibri" panose="020F0502020204030204" pitchFamily="34" charset="0"/>
              </a:rPr>
              <a:t>s application layer protocol</a:t>
            </a:r>
            <a:endParaRPr lang="en-US" altLang="ja-JP" sz="3200" kern="0" dirty="0">
              <a:latin typeface="Calibri" panose="020F0502020204030204" pitchFamily="34" charset="0"/>
              <a:ea typeface="MS PGothic" panose="020B0600070205080204" pitchFamily="34" charset="-128"/>
              <a:cs typeface="Calibri" panose="020F0502020204030204" pitchFamily="34" charset="0"/>
            </a:endParaRPr>
          </a:p>
          <a:p>
            <a:pPr>
              <a:lnSpc>
                <a:spcPct val="75000"/>
              </a:lnSpc>
            </a:pPr>
            <a:r>
              <a:rPr lang="en-US" altLang="en-US" sz="3200" kern="0" dirty="0">
                <a:latin typeface="Calibri" panose="020F0502020204030204" pitchFamily="34" charset="0"/>
                <a:ea typeface="MS PGothic" panose="020B0600070205080204" pitchFamily="34" charset="-128"/>
                <a:cs typeface="Calibri" panose="020F0502020204030204" pitchFamily="34" charset="0"/>
              </a:rPr>
              <a:t>client/server model:</a:t>
            </a:r>
            <a:endParaRPr lang="en-US" altLang="en-US" sz="3200" kern="0" dirty="0">
              <a:latin typeface="Calibri" panose="020F0502020204030204" pitchFamily="34" charset="0"/>
              <a:ea typeface="MS PGothic" panose="020B0600070205080204" pitchFamily="34" charset="-128"/>
              <a:cs typeface="Calibri" panose="020F0502020204030204" pitchFamily="34" charset="0"/>
            </a:endParaRPr>
          </a:p>
          <a:p>
            <a:pPr marL="685800" lvl="1" indent="-228600">
              <a:lnSpc>
                <a:spcPct val="90000"/>
              </a:lnSpc>
            </a:pPr>
            <a:r>
              <a:rPr lang="en-US" altLang="en-US" sz="2800" i="1" kern="0" dirty="0">
                <a:solidFill>
                  <a:srgbClr val="CC0000"/>
                </a:solidFill>
                <a:latin typeface="Calibri" panose="020F0502020204030204" pitchFamily="34" charset="0"/>
                <a:ea typeface="MS PGothic" panose="020B0600070205080204" pitchFamily="34" charset="-128"/>
                <a:cs typeface="Calibri" panose="020F0502020204030204" pitchFamily="34" charset="0"/>
              </a:rPr>
              <a:t>client</a:t>
            </a:r>
            <a:r>
              <a:rPr lang="en-US" altLang="en-US" sz="2800" i="1" kern="0" dirty="0">
                <a:solidFill>
                  <a:srgbClr val="FF0000"/>
                </a:solidFill>
                <a:latin typeface="Calibri" panose="020F0502020204030204" pitchFamily="34" charset="0"/>
                <a:ea typeface="MS PGothic" panose="020B0600070205080204" pitchFamily="34" charset="-128"/>
                <a:cs typeface="Calibri" panose="020F0502020204030204" pitchFamily="34" charset="0"/>
              </a:rPr>
              <a:t>:</a:t>
            </a:r>
            <a:r>
              <a:rPr lang="en-US" altLang="en-US" sz="2800" kern="0" dirty="0">
                <a:latin typeface="Calibri" panose="020F0502020204030204" pitchFamily="34" charset="0"/>
                <a:ea typeface="MS PGothic" panose="020B0600070205080204" pitchFamily="34" charset="-128"/>
                <a:cs typeface="Calibri" panose="020F0502020204030204" pitchFamily="34" charset="0"/>
              </a:rPr>
              <a:t> browser that requests, receives, (using HTTP protocol) and </a:t>
            </a:r>
            <a:r>
              <a:rPr lang="ja-JP" altLang="en-US" sz="2800" kern="0">
                <a:latin typeface="Calibri" panose="020F0502020204030204" pitchFamily="34" charset="0"/>
                <a:ea typeface="MS PGothic" panose="020B0600070205080204" pitchFamily="34" charset="-128"/>
                <a:cs typeface="Calibri" panose="020F0502020204030204" pitchFamily="34" charset="0"/>
              </a:rPr>
              <a:t>“</a:t>
            </a:r>
            <a:r>
              <a:rPr lang="en-US" altLang="ja-JP" sz="2800" kern="0" dirty="0">
                <a:latin typeface="Calibri" panose="020F0502020204030204" pitchFamily="34" charset="0"/>
                <a:ea typeface="MS PGothic" panose="020B0600070205080204" pitchFamily="34" charset="-128"/>
                <a:cs typeface="Calibri" panose="020F0502020204030204" pitchFamily="34" charset="0"/>
              </a:rPr>
              <a:t>displays</a:t>
            </a:r>
            <a:r>
              <a:rPr lang="ja-JP" altLang="en-US" sz="2800" kern="0">
                <a:latin typeface="Calibri" panose="020F0502020204030204" pitchFamily="34" charset="0"/>
                <a:ea typeface="MS PGothic" panose="020B0600070205080204" pitchFamily="34" charset="-128"/>
                <a:cs typeface="Calibri" panose="020F0502020204030204" pitchFamily="34" charset="0"/>
              </a:rPr>
              <a:t>”</a:t>
            </a:r>
            <a:r>
              <a:rPr lang="en-US" altLang="ja-JP" sz="2800" kern="0" dirty="0">
                <a:latin typeface="Calibri" panose="020F0502020204030204" pitchFamily="34" charset="0"/>
                <a:ea typeface="MS PGothic" panose="020B0600070205080204" pitchFamily="34" charset="-128"/>
                <a:cs typeface="Calibri" panose="020F0502020204030204" pitchFamily="34" charset="0"/>
              </a:rPr>
              <a:t> Web objects </a:t>
            </a:r>
            <a:endParaRPr lang="en-US" altLang="ja-JP" sz="2800" kern="0" dirty="0">
              <a:latin typeface="Calibri" panose="020F0502020204030204" pitchFamily="34" charset="0"/>
              <a:ea typeface="MS PGothic" panose="020B0600070205080204" pitchFamily="34" charset="-128"/>
              <a:cs typeface="Calibri" panose="020F0502020204030204" pitchFamily="34" charset="0"/>
            </a:endParaRPr>
          </a:p>
          <a:p>
            <a:pPr marL="685800" lvl="1" indent="-228600">
              <a:lnSpc>
                <a:spcPct val="90000"/>
              </a:lnSpc>
            </a:pPr>
            <a:r>
              <a:rPr lang="en-US" altLang="en-US" sz="2800" i="1" kern="0" dirty="0">
                <a:solidFill>
                  <a:srgbClr val="CC0000"/>
                </a:solidFill>
                <a:latin typeface="Calibri" panose="020F0502020204030204" pitchFamily="34" charset="0"/>
                <a:ea typeface="MS PGothic" panose="020B0600070205080204" pitchFamily="34" charset="-128"/>
                <a:cs typeface="Calibri" panose="020F0502020204030204" pitchFamily="34" charset="0"/>
              </a:rPr>
              <a:t>server:</a:t>
            </a:r>
            <a:r>
              <a:rPr lang="en-US" altLang="en-US" sz="2800" kern="0" dirty="0">
                <a:latin typeface="Calibri" panose="020F0502020204030204" pitchFamily="34" charset="0"/>
                <a:ea typeface="MS PGothic" panose="020B0600070205080204" pitchFamily="34" charset="-128"/>
                <a:cs typeface="Calibri" panose="020F0502020204030204" pitchFamily="34" charset="0"/>
              </a:rPr>
              <a:t> Web server sends (using HTTP protocol) objects in response to requests</a:t>
            </a:r>
            <a:endParaRPr lang="en-US" altLang="en-US" sz="2800" kern="0" dirty="0">
              <a:latin typeface="Calibri" panose="020F0502020204030204" pitchFamily="34" charset="0"/>
              <a:ea typeface="MS PGothic" panose="020B0600070205080204" pitchFamily="34" charset="-128"/>
              <a:cs typeface="Calibri" panose="020F0502020204030204" pitchFamily="34" charset="0"/>
            </a:endParaRPr>
          </a:p>
          <a:p>
            <a:pPr>
              <a:lnSpc>
                <a:spcPct val="75000"/>
              </a:lnSpc>
              <a:buFont typeface="Wingdings" panose="05000000000000000000" pitchFamily="2" charset="2"/>
              <a:buNone/>
            </a:pPr>
            <a:endParaRPr lang="en-US" altLang="en-US" sz="3200" kern="0" dirty="0">
              <a:latin typeface="Calibri" panose="020F0502020204030204" pitchFamily="34" charset="0"/>
              <a:ea typeface="MS PGothic" panose="020B0600070205080204" pitchFamily="34" charset="-128"/>
              <a:cs typeface="Calibri" panose="020F0502020204030204" pitchFamily="34" charset="0"/>
            </a:endParaRPr>
          </a:p>
        </p:txBody>
      </p:sp>
      <p:sp>
        <p:nvSpPr>
          <p:cNvPr id="72" name="Text Box 7"/>
          <p:cNvSpPr txBox="1">
            <a:spLocks noChangeArrowheads="1"/>
          </p:cNvSpPr>
          <p:nvPr/>
        </p:nvSpPr>
        <p:spPr bwMode="auto">
          <a:xfrm>
            <a:off x="6584832" y="2687077"/>
            <a:ext cx="22705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PC running</a:t>
            </a:r>
            <a:endPar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9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Firefox browser</a:t>
            </a:r>
            <a:endParaRPr kumimoji="0" lang="en-US" altLang="en-US" sz="3200" b="0"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sp>
        <p:nvSpPr>
          <p:cNvPr id="73" name="Text Box 9"/>
          <p:cNvSpPr txBox="1">
            <a:spLocks noChangeArrowheads="1"/>
          </p:cNvSpPr>
          <p:nvPr/>
        </p:nvSpPr>
        <p:spPr bwMode="auto">
          <a:xfrm>
            <a:off x="9655810" y="4162625"/>
            <a:ext cx="24145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server running</a:t>
            </a:r>
            <a:endPar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9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Apache Web</a:t>
            </a:r>
            <a:endPar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9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server</a:t>
            </a:r>
            <a:endParaRPr kumimoji="0" lang="en-US" altLang="en-US" sz="3200" b="0"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sp>
        <p:nvSpPr>
          <p:cNvPr id="74" name="Text Box 23"/>
          <p:cNvSpPr txBox="1">
            <a:spLocks noChangeArrowheads="1"/>
          </p:cNvSpPr>
          <p:nvPr/>
        </p:nvSpPr>
        <p:spPr bwMode="auto">
          <a:xfrm>
            <a:off x="7046475" y="5472455"/>
            <a:ext cx="22106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defRPr/>
            </a:pPr>
            <a:r>
              <a:rPr kumimoji="0" lang="en-US" altLang="en-US" b="0" i="0" u="none" strike="noStrike" kern="0" cap="none" spc="0" normalizeH="0" baseline="0" noProof="0">
                <a:ln>
                  <a:noFill/>
                </a:ln>
                <a:solidFill>
                  <a:srgbClr val="000000"/>
                </a:solidFill>
                <a:effectLst/>
                <a:uLnTx/>
                <a:uFillTx/>
                <a:latin typeface="+mn-lt"/>
                <a:ea typeface="MS PGothic" panose="020B0600070205080204" pitchFamily="34" charset="-128"/>
              </a:rPr>
              <a:t>iPhone running</a:t>
            </a:r>
            <a:endParaRPr kumimoji="0" lang="en-US" altLang="en-US"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90000"/>
              </a:lnSpc>
              <a:spcBef>
                <a:spcPct val="0"/>
              </a:spcBef>
              <a:spcAft>
                <a:spcPct val="0"/>
              </a:spcAft>
              <a:buClrTx/>
              <a:buSzTx/>
              <a:buFontTx/>
              <a:buNone/>
              <a:defRPr/>
            </a:pPr>
            <a:r>
              <a:rPr kumimoji="0" lang="en-US" altLang="en-US" b="0" i="0" u="none" strike="noStrike" kern="0" cap="none" spc="0" normalizeH="0" baseline="0" noProof="0">
                <a:ln>
                  <a:noFill/>
                </a:ln>
                <a:solidFill>
                  <a:srgbClr val="000000"/>
                </a:solidFill>
                <a:effectLst/>
                <a:uLnTx/>
                <a:uFillTx/>
                <a:latin typeface="+mn-lt"/>
                <a:ea typeface="MS PGothic" panose="020B0600070205080204" pitchFamily="34" charset="-128"/>
              </a:rPr>
              <a:t>Safari browser</a:t>
            </a:r>
            <a:endParaRPr kumimoji="0" lang="en-US" altLang="en-US" sz="32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75" name="Group 35"/>
          <p:cNvGrpSpPr/>
          <p:nvPr/>
        </p:nvGrpSpPr>
        <p:grpSpPr bwMode="auto">
          <a:xfrm>
            <a:off x="8129954" y="2391117"/>
            <a:ext cx="2101850" cy="946150"/>
            <a:chOff x="3640" y="1346"/>
            <a:chExt cx="1324" cy="596"/>
          </a:xfrm>
        </p:grpSpPr>
        <p:sp>
          <p:nvSpPr>
            <p:cNvPr id="76" name="Line 19"/>
            <p:cNvSpPr>
              <a:spLocks noChangeShapeType="1"/>
            </p:cNvSpPr>
            <p:nvPr/>
          </p:nvSpPr>
          <p:spPr bwMode="auto">
            <a:xfrm>
              <a:off x="3640" y="1346"/>
              <a:ext cx="1324" cy="596"/>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7" name="Text Box 24"/>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HTTP request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grpSp>
      <p:grpSp>
        <p:nvGrpSpPr>
          <p:cNvPr id="78" name="Group 36"/>
          <p:cNvGrpSpPr/>
          <p:nvPr/>
        </p:nvGrpSpPr>
        <p:grpSpPr bwMode="auto">
          <a:xfrm>
            <a:off x="8241079" y="2599080"/>
            <a:ext cx="1971675" cy="904875"/>
            <a:chOff x="4141" y="394"/>
            <a:chExt cx="1242" cy="570"/>
          </a:xfrm>
        </p:grpSpPr>
        <p:sp>
          <p:nvSpPr>
            <p:cNvPr id="79" name="Line 20"/>
            <p:cNvSpPr>
              <a:spLocks noChangeShapeType="1"/>
            </p:cNvSpPr>
            <p:nvPr/>
          </p:nvSpPr>
          <p:spPr bwMode="auto">
            <a:xfrm flipH="1" flipV="1">
              <a:off x="4141" y="394"/>
              <a:ext cx="1242" cy="57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0" name="Text Box 26"/>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HTTP response</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grpSp>
      <p:grpSp>
        <p:nvGrpSpPr>
          <p:cNvPr id="81" name="Group 37"/>
          <p:cNvGrpSpPr/>
          <p:nvPr/>
        </p:nvGrpSpPr>
        <p:grpSpPr bwMode="auto">
          <a:xfrm rot="-3183056">
            <a:off x="8106142" y="3884955"/>
            <a:ext cx="2101850" cy="946150"/>
            <a:chOff x="3640" y="1346"/>
            <a:chExt cx="1324" cy="596"/>
          </a:xfrm>
        </p:grpSpPr>
        <p:sp>
          <p:nvSpPr>
            <p:cNvPr id="82" name="Line 19"/>
            <p:cNvSpPr>
              <a:spLocks noChangeShapeType="1"/>
            </p:cNvSpPr>
            <p:nvPr/>
          </p:nvSpPr>
          <p:spPr bwMode="auto">
            <a:xfrm>
              <a:off x="3640" y="1346"/>
              <a:ext cx="1324" cy="596"/>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3" name="Text Box 24"/>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HTTP request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grpSp>
      <p:grpSp>
        <p:nvGrpSpPr>
          <p:cNvPr id="84" name="Group 40"/>
          <p:cNvGrpSpPr/>
          <p:nvPr/>
        </p:nvGrpSpPr>
        <p:grpSpPr bwMode="auto">
          <a:xfrm rot="-3264937">
            <a:off x="8152179" y="4124667"/>
            <a:ext cx="1971675" cy="904875"/>
            <a:chOff x="4141" y="394"/>
            <a:chExt cx="1242" cy="570"/>
          </a:xfrm>
        </p:grpSpPr>
        <p:sp>
          <p:nvSpPr>
            <p:cNvPr id="85" name="Line 20"/>
            <p:cNvSpPr>
              <a:spLocks noChangeShapeType="1"/>
            </p:cNvSpPr>
            <p:nvPr/>
          </p:nvSpPr>
          <p:spPr bwMode="auto">
            <a:xfrm flipH="1" flipV="1">
              <a:off x="4141" y="394"/>
              <a:ext cx="1242" cy="57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6" name="Text Box 26"/>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HTTP response</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grpSp>
      <p:pic>
        <p:nvPicPr>
          <p:cNvPr id="87" name="Picture 43" descr="iphone_stylized_small"/>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7644179" y="4540592"/>
            <a:ext cx="382588" cy="91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8" name="Group 44"/>
          <p:cNvGrpSpPr/>
          <p:nvPr/>
        </p:nvGrpSpPr>
        <p:grpSpPr bwMode="auto">
          <a:xfrm>
            <a:off x="7109192" y="1722780"/>
            <a:ext cx="1066800" cy="1079500"/>
            <a:chOff x="-44" y="1473"/>
            <a:chExt cx="981" cy="1105"/>
          </a:xfrm>
        </p:grpSpPr>
        <p:pic>
          <p:nvPicPr>
            <p:cNvPr id="89" name="Picture 45"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46"/>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91" name="Group 47"/>
          <p:cNvGrpSpPr/>
          <p:nvPr/>
        </p:nvGrpSpPr>
        <p:grpSpPr bwMode="auto">
          <a:xfrm>
            <a:off x="10230217" y="2888005"/>
            <a:ext cx="695325" cy="1282700"/>
            <a:chOff x="4140" y="429"/>
            <a:chExt cx="1425" cy="2396"/>
          </a:xfrm>
        </p:grpSpPr>
        <p:sp>
          <p:nvSpPr>
            <p:cNvPr id="92" name="Freeform 48"/>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93" name="Rectangle 49"/>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94" name="Freeform 50"/>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95" name="Freeform 51"/>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96" name="Rectangle 52"/>
            <p:cNvSpPr>
              <a:spLocks noChangeArrowheads="1"/>
            </p:cNvSpPr>
            <p:nvPr/>
          </p:nvSpPr>
          <p:spPr bwMode="auto">
            <a:xfrm>
              <a:off x="4212" y="693"/>
              <a:ext cx="595"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97" name="Group 53"/>
            <p:cNvGrpSpPr/>
            <p:nvPr/>
          </p:nvGrpSpPr>
          <p:grpSpPr bwMode="auto">
            <a:xfrm>
              <a:off x="4749" y="668"/>
              <a:ext cx="581" cy="145"/>
              <a:chOff x="614" y="2568"/>
              <a:chExt cx="725" cy="139"/>
            </a:xfrm>
          </p:grpSpPr>
          <p:sp>
            <p:nvSpPr>
              <p:cNvPr id="122" name="AutoShape 54"/>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23" name="AutoShape 55"/>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98" name="Rectangle 56"/>
            <p:cNvSpPr>
              <a:spLocks noChangeArrowheads="1"/>
            </p:cNvSpPr>
            <p:nvPr/>
          </p:nvSpPr>
          <p:spPr bwMode="auto">
            <a:xfrm>
              <a:off x="4225" y="1019"/>
              <a:ext cx="595"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99" name="Group 57"/>
            <p:cNvGrpSpPr/>
            <p:nvPr/>
          </p:nvGrpSpPr>
          <p:grpSpPr bwMode="auto">
            <a:xfrm>
              <a:off x="4747" y="994"/>
              <a:ext cx="581" cy="134"/>
              <a:chOff x="614" y="2568"/>
              <a:chExt cx="725" cy="139"/>
            </a:xfrm>
          </p:grpSpPr>
          <p:sp>
            <p:nvSpPr>
              <p:cNvPr id="120" name="AutoShape 58"/>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21" name="AutoShape 59"/>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100" name="Rectangle 60"/>
            <p:cNvSpPr>
              <a:spLocks noChangeArrowheads="1"/>
            </p:cNvSpPr>
            <p:nvPr/>
          </p:nvSpPr>
          <p:spPr bwMode="auto">
            <a:xfrm>
              <a:off x="4218" y="1357"/>
              <a:ext cx="595"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01" name="Rectangle 61"/>
            <p:cNvSpPr>
              <a:spLocks noChangeArrowheads="1"/>
            </p:cNvSpPr>
            <p:nvPr/>
          </p:nvSpPr>
          <p:spPr bwMode="auto">
            <a:xfrm>
              <a:off x="4228" y="1654"/>
              <a:ext cx="595"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102" name="Group 62"/>
            <p:cNvGrpSpPr/>
            <p:nvPr/>
          </p:nvGrpSpPr>
          <p:grpSpPr bwMode="auto">
            <a:xfrm>
              <a:off x="4735" y="1627"/>
              <a:ext cx="582" cy="151"/>
              <a:chOff x="614" y="2568"/>
              <a:chExt cx="725" cy="139"/>
            </a:xfrm>
          </p:grpSpPr>
          <p:sp>
            <p:nvSpPr>
              <p:cNvPr id="118" name="AutoShape 63"/>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19" name="AutoShape 64"/>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103" name="Freeform 65"/>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104" name="Group 66"/>
            <p:cNvGrpSpPr/>
            <p:nvPr/>
          </p:nvGrpSpPr>
          <p:grpSpPr bwMode="auto">
            <a:xfrm>
              <a:off x="4739" y="1327"/>
              <a:ext cx="582" cy="139"/>
              <a:chOff x="614" y="2568"/>
              <a:chExt cx="725" cy="139"/>
            </a:xfrm>
          </p:grpSpPr>
          <p:sp>
            <p:nvSpPr>
              <p:cNvPr id="116" name="AutoShape 67"/>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17" name="AutoShape 68"/>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105" name="Rectangle 69"/>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06" name="Freeform 70"/>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07" name="Freeform 71"/>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08" name="Oval 72"/>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09" name="Freeform 73"/>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10" name="AutoShape 74"/>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11" name="AutoShape 75"/>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12" name="Oval 76"/>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13" name="Oval 77"/>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4" name="Oval 78"/>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15" name="Rectangle 79"/>
            <p:cNvSpPr>
              <a:spLocks noChangeArrowheads="1"/>
            </p:cNvSpPr>
            <p:nvPr/>
          </p:nvSpPr>
          <p:spPr bwMode="auto">
            <a:xfrm>
              <a:off x="5061" y="1835"/>
              <a:ext cx="88" cy="762"/>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wipe(left)">
                                      <p:cBhvr>
                                        <p:cTn id="7" dur="500"/>
                                        <p:tgtEl>
                                          <p:spTgt spid="75"/>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78"/>
                                        </p:tgtEl>
                                        <p:attrNameLst>
                                          <p:attrName>style.visibility</p:attrName>
                                        </p:attrNameLst>
                                      </p:cBhvr>
                                      <p:to>
                                        <p:strVal val="visible"/>
                                      </p:to>
                                    </p:set>
                                    <p:animEffect transition="in" filter="wipe(right)">
                                      <p:cBhvr>
                                        <p:cTn id="11" dur="500"/>
                                        <p:tgtEl>
                                          <p:spTgt spid="78"/>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81"/>
                                        </p:tgtEl>
                                        <p:attrNameLst>
                                          <p:attrName>style.visibility</p:attrName>
                                        </p:attrNameLst>
                                      </p:cBhvr>
                                      <p:to>
                                        <p:strVal val="visible"/>
                                      </p:to>
                                    </p:set>
                                    <p:animEffect transition="in" filter="wipe(left)">
                                      <p:cBhvr>
                                        <p:cTn id="16" dur="500"/>
                                        <p:tgtEl>
                                          <p:spTgt spid="8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84"/>
                                        </p:tgtEl>
                                        <p:attrNameLst>
                                          <p:attrName>style.visibility</p:attrName>
                                        </p:attrNameLst>
                                      </p:cBhvr>
                                      <p:to>
                                        <p:strVal val="visible"/>
                                      </p:to>
                                    </p:set>
                                    <p:animEffect transition="in" filter="wipe(right)">
                                      <p:cBhvr>
                                        <p:cTn id="20"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 (continued)</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63" name="Rectangle 9"/>
          <p:cNvSpPr>
            <a:spLocks noChangeArrowheads="1"/>
          </p:cNvSpPr>
          <p:nvPr/>
        </p:nvSpPr>
        <p:spPr bwMode="auto">
          <a:xfrm>
            <a:off x="10186403" y="3383184"/>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20000"/>
              </a:spcBef>
              <a:spcAft>
                <a:spcPct val="0"/>
              </a:spcAft>
              <a:buClr>
                <a:srgbClr val="3333CC"/>
              </a:buClr>
              <a:buSzPct val="85000"/>
              <a:buFont typeface="ZapfDingbats" pitchFamily="82" charset="2"/>
              <a:buNone/>
            </a:pPr>
            <a:endParaRPr lang="en-US" altLang="en-US" sz="2800">
              <a:solidFill>
                <a:srgbClr val="000000"/>
              </a:solidFill>
              <a:latin typeface="+mn-lt"/>
            </a:endParaRPr>
          </a:p>
        </p:txBody>
      </p:sp>
      <p:sp>
        <p:nvSpPr>
          <p:cNvPr id="64" name="Rectangle 3"/>
          <p:cNvSpPr txBox="1">
            <a:spLocks noChangeArrowheads="1"/>
          </p:cNvSpPr>
          <p:nvPr/>
        </p:nvSpPr>
        <p:spPr bwMode="auto">
          <a:xfrm>
            <a:off x="947614" y="1548630"/>
            <a:ext cx="555148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MS PGothic" panose="020B0600070205080204" pitchFamily="34" charset="-128"/>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anose="020B0502020104020203" pitchFamily="34" charset="0"/>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sz="1800">
                <a:solidFill>
                  <a:schemeClr val="tx1"/>
                </a:solidFill>
                <a:latin typeface="Times New Roman" panose="02020603050405020304" pitchFamily="18" charset="0"/>
                <a:ea typeface="MS PGothic" panose="020B0600070205080204" pitchFamily="34" charset="-128"/>
              </a:defRPr>
            </a:lvl4pPr>
            <a:lvl5pPr marL="2057400" indent="-228600" algn="l" rtl="0" eaLnBrk="0" fontAlgn="base" hangingPunct="0">
              <a:spcBef>
                <a:spcPct val="20000"/>
              </a:spcBef>
              <a:spcAft>
                <a:spcPct val="0"/>
              </a:spcAft>
              <a:buChar char="»"/>
              <a:defRPr sz="1800">
                <a:solidFill>
                  <a:schemeClr val="tx1"/>
                </a:solidFill>
                <a:latin typeface="Times New Roman" panose="02020603050405020304" pitchFamily="18" charset="0"/>
                <a:ea typeface="MS PGothic" panose="020B0600070205080204" pitchFamily="34" charset="-128"/>
              </a:defRPr>
            </a:lvl5pPr>
            <a:lvl6pPr marL="25146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9pPr>
          </a:lstStyle>
          <a:p>
            <a:pPr>
              <a:lnSpc>
                <a:spcPct val="90000"/>
              </a:lnSpc>
              <a:buFont typeface="Wingdings" panose="05000000000000000000" charset="0"/>
              <a:buNone/>
              <a:defRPr/>
            </a:pPr>
            <a:r>
              <a:rPr lang="en-US" sz="3200" i="1" kern="0" dirty="0">
                <a:solidFill>
                  <a:srgbClr val="CC0000"/>
                </a:solidFill>
                <a:latin typeface="+mn-lt"/>
              </a:rPr>
              <a:t>HTTP uses TCP:</a:t>
            </a:r>
            <a:endParaRPr lang="en-US" sz="3200" i="1" kern="0" dirty="0">
              <a:solidFill>
                <a:srgbClr val="CC0000"/>
              </a:solidFill>
              <a:latin typeface="+mn-lt"/>
            </a:endParaRPr>
          </a:p>
          <a:p>
            <a:pPr marL="233680" indent="-233680">
              <a:lnSpc>
                <a:spcPct val="90000"/>
              </a:lnSpc>
              <a:buFont typeface="Wingdings" panose="05000000000000000000" pitchFamily="2" charset="2"/>
              <a:buChar char="§"/>
              <a:defRPr/>
            </a:pPr>
            <a:r>
              <a:rPr lang="en-US" kern="0" dirty="0">
                <a:latin typeface="+mn-lt"/>
              </a:rPr>
              <a:t>client initiates TCP connection (creates socket) to server,  port 80</a:t>
            </a:r>
            <a:endParaRPr lang="en-US" kern="0" dirty="0">
              <a:latin typeface="+mn-lt"/>
            </a:endParaRPr>
          </a:p>
          <a:p>
            <a:pPr marL="233680" indent="-233680">
              <a:lnSpc>
                <a:spcPct val="90000"/>
              </a:lnSpc>
              <a:buFont typeface="Wingdings" panose="05000000000000000000" pitchFamily="2" charset="2"/>
              <a:buChar char="§"/>
              <a:defRPr/>
            </a:pPr>
            <a:r>
              <a:rPr lang="en-US" kern="0" dirty="0">
                <a:latin typeface="+mn-lt"/>
              </a:rPr>
              <a:t>server accepts TCP connection from client</a:t>
            </a:r>
            <a:endParaRPr lang="en-US" kern="0" dirty="0">
              <a:latin typeface="+mn-lt"/>
            </a:endParaRPr>
          </a:p>
          <a:p>
            <a:pPr marL="233680" indent="-233680">
              <a:lnSpc>
                <a:spcPct val="90000"/>
              </a:lnSpc>
              <a:buFont typeface="Wingdings" panose="05000000000000000000" pitchFamily="2" charset="2"/>
              <a:buChar char="§"/>
              <a:defRPr/>
            </a:pPr>
            <a:r>
              <a:rPr lang="en-US" kern="0" dirty="0">
                <a:latin typeface="+mn-lt"/>
              </a:rPr>
              <a:t>HTTP messages (application-layer protocol messages) exchanged between browser (HTTP client) and Web server (HTTP server)</a:t>
            </a:r>
            <a:endParaRPr lang="en-US" kern="0" dirty="0">
              <a:latin typeface="+mn-lt"/>
            </a:endParaRPr>
          </a:p>
          <a:p>
            <a:pPr marL="233680" indent="-233680">
              <a:lnSpc>
                <a:spcPct val="90000"/>
              </a:lnSpc>
              <a:buFont typeface="Wingdings" panose="05000000000000000000" pitchFamily="2" charset="2"/>
              <a:buChar char="§"/>
              <a:defRPr/>
            </a:pPr>
            <a:r>
              <a:rPr lang="en-US" kern="0" dirty="0">
                <a:latin typeface="+mn-lt"/>
              </a:rPr>
              <a:t>TCP connection closed</a:t>
            </a:r>
            <a:endParaRPr lang="en-US" kern="0" dirty="0">
              <a:latin typeface="+mn-lt"/>
            </a:endParaRPr>
          </a:p>
        </p:txBody>
      </p:sp>
      <p:sp>
        <p:nvSpPr>
          <p:cNvPr id="65" name="Rectangle 4"/>
          <p:cNvSpPr txBox="1">
            <a:spLocks noChangeArrowheads="1"/>
          </p:cNvSpPr>
          <p:nvPr/>
        </p:nvSpPr>
        <p:spPr bwMode="auto">
          <a:xfrm>
            <a:off x="6909801" y="1582098"/>
            <a:ext cx="5053013" cy="170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MS PGothic" panose="020B0600070205080204" pitchFamily="34" charset="-128"/>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anose="020B0502020104020203" pitchFamily="34" charset="0"/>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sz="1800">
                <a:solidFill>
                  <a:schemeClr val="tx1"/>
                </a:solidFill>
                <a:latin typeface="Times New Roman" panose="02020603050405020304" pitchFamily="18" charset="0"/>
                <a:ea typeface="MS PGothic" panose="020B0600070205080204" pitchFamily="34" charset="-128"/>
              </a:defRPr>
            </a:lvl4pPr>
            <a:lvl5pPr marL="2057400" indent="-228600" algn="l" rtl="0" eaLnBrk="0" fontAlgn="base" hangingPunct="0">
              <a:spcBef>
                <a:spcPct val="20000"/>
              </a:spcBef>
              <a:spcAft>
                <a:spcPct val="0"/>
              </a:spcAft>
              <a:buChar char="»"/>
              <a:defRPr sz="1800">
                <a:solidFill>
                  <a:schemeClr val="tx1"/>
                </a:solidFill>
                <a:latin typeface="Times New Roman" panose="02020603050405020304" pitchFamily="18" charset="0"/>
                <a:ea typeface="MS PGothic" panose="020B0600070205080204" pitchFamily="34" charset="-128"/>
              </a:defRPr>
            </a:lvl5pPr>
            <a:lvl6pPr marL="25146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9pPr>
          </a:lstStyle>
          <a:p>
            <a:pPr>
              <a:lnSpc>
                <a:spcPct val="75000"/>
              </a:lnSpc>
              <a:buFont typeface="Wingdings" panose="05000000000000000000" pitchFamily="2" charset="2"/>
              <a:buNone/>
            </a:pPr>
            <a:r>
              <a:rPr lang="en-US" altLang="en-US" sz="3200" i="1" kern="0" dirty="0">
                <a:solidFill>
                  <a:srgbClr val="CC0000"/>
                </a:solidFill>
                <a:latin typeface="+mn-lt"/>
                <a:ea typeface="MS PGothic" panose="020B0600070205080204" pitchFamily="34" charset="-128"/>
              </a:rPr>
              <a:t>HTTP is </a:t>
            </a:r>
            <a:r>
              <a:rPr lang="ja-JP" altLang="en-US" sz="3200" i="1" kern="0">
                <a:solidFill>
                  <a:srgbClr val="CC0000"/>
                </a:solidFill>
                <a:latin typeface="+mn-lt"/>
                <a:ea typeface="MS PGothic" panose="020B0600070205080204" pitchFamily="34" charset="-128"/>
              </a:rPr>
              <a:t>“</a:t>
            </a:r>
            <a:r>
              <a:rPr lang="en-US" altLang="ja-JP" sz="3200" i="1" kern="0" dirty="0">
                <a:solidFill>
                  <a:srgbClr val="CC0000"/>
                </a:solidFill>
                <a:latin typeface="+mn-lt"/>
                <a:ea typeface="MS PGothic" panose="020B0600070205080204" pitchFamily="34" charset="-128"/>
              </a:rPr>
              <a:t>stateless</a:t>
            </a:r>
            <a:r>
              <a:rPr lang="ja-JP" altLang="en-US" sz="3200" i="1" kern="0">
                <a:solidFill>
                  <a:srgbClr val="CC0000"/>
                </a:solidFill>
                <a:latin typeface="+mn-lt"/>
                <a:ea typeface="MS PGothic" panose="020B0600070205080204" pitchFamily="34" charset="-128"/>
              </a:rPr>
              <a:t>”</a:t>
            </a:r>
            <a:endParaRPr lang="en-US" altLang="ja-JP" sz="3200" i="1" kern="0" dirty="0">
              <a:solidFill>
                <a:srgbClr val="CC0000"/>
              </a:solidFill>
              <a:latin typeface="+mn-lt"/>
              <a:ea typeface="MS PGothic" panose="020B0600070205080204" pitchFamily="34" charset="-128"/>
            </a:endParaRPr>
          </a:p>
          <a:p>
            <a:pPr>
              <a:lnSpc>
                <a:spcPct val="90000"/>
              </a:lnSpc>
            </a:pPr>
            <a:r>
              <a:rPr lang="en-US" altLang="en-US" kern="0" dirty="0">
                <a:latin typeface="+mn-lt"/>
                <a:ea typeface="MS PGothic" panose="020B0600070205080204" pitchFamily="34" charset="-128"/>
              </a:rPr>
              <a:t>server maintains</a:t>
            </a:r>
            <a:r>
              <a:rPr lang="en-US" altLang="en-US" i="1" kern="0" dirty="0">
                <a:latin typeface="+mn-lt"/>
                <a:ea typeface="MS PGothic" panose="020B0600070205080204" pitchFamily="34" charset="-128"/>
              </a:rPr>
              <a:t> no </a:t>
            </a:r>
            <a:r>
              <a:rPr lang="en-US" altLang="en-US" kern="0" dirty="0">
                <a:latin typeface="+mn-lt"/>
                <a:ea typeface="MS PGothic" panose="020B0600070205080204" pitchFamily="34" charset="-128"/>
              </a:rPr>
              <a:t>information about past client requests</a:t>
            </a:r>
            <a:endParaRPr lang="en-US" altLang="en-US" kern="0" dirty="0">
              <a:latin typeface="+mn-lt"/>
              <a:ea typeface="MS PGothic" panose="020B0600070205080204" pitchFamily="34" charset="-128"/>
            </a:endParaRPr>
          </a:p>
        </p:txBody>
      </p:sp>
      <p:sp>
        <p:nvSpPr>
          <p:cNvPr id="124" name="Rectangle 7"/>
          <p:cNvSpPr>
            <a:spLocks noChangeArrowheads="1"/>
          </p:cNvSpPr>
          <p:nvPr/>
        </p:nvSpPr>
        <p:spPr bwMode="auto">
          <a:xfrm>
            <a:off x="6909802" y="3449212"/>
            <a:ext cx="5053013" cy="2847974"/>
          </a:xfrm>
          <a:prstGeom prst="rect">
            <a:avLst/>
          </a:prstGeom>
          <a:solidFill>
            <a:srgbClr val="FFFFFF"/>
          </a:solidFill>
          <a:ln w="19050">
            <a:solidFill>
              <a:srgbClr val="CC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20000"/>
              </a:spcBef>
              <a:spcAft>
                <a:spcPct val="0"/>
              </a:spcAft>
              <a:buClr>
                <a:srgbClr val="3333CC"/>
              </a:buClr>
              <a:buSzPct val="85000"/>
              <a:buFont typeface="ZapfDingbats" pitchFamily="82" charset="2"/>
              <a:buNone/>
            </a:pPr>
            <a:endParaRPr lang="en-US" altLang="en-US" sz="2800">
              <a:solidFill>
                <a:srgbClr val="000000"/>
              </a:solidFill>
              <a:latin typeface="+mn-lt"/>
            </a:endParaRPr>
          </a:p>
        </p:txBody>
      </p:sp>
      <p:sp>
        <p:nvSpPr>
          <p:cNvPr id="125" name="Rectangle 9"/>
          <p:cNvSpPr>
            <a:spLocks noChangeArrowheads="1"/>
          </p:cNvSpPr>
          <p:nvPr/>
        </p:nvSpPr>
        <p:spPr bwMode="auto">
          <a:xfrm>
            <a:off x="9795878" y="3287287"/>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20000"/>
              </a:spcBef>
              <a:spcAft>
                <a:spcPct val="0"/>
              </a:spcAft>
              <a:buClr>
                <a:srgbClr val="3333CC"/>
              </a:buClr>
              <a:buSzPct val="85000"/>
              <a:buFont typeface="ZapfDingbats" pitchFamily="82" charset="2"/>
              <a:buNone/>
            </a:pPr>
            <a:endParaRPr lang="en-US" altLang="en-US" sz="2800">
              <a:solidFill>
                <a:srgbClr val="000000"/>
              </a:solidFill>
              <a:latin typeface="+mn-lt"/>
            </a:endParaRPr>
          </a:p>
        </p:txBody>
      </p:sp>
      <p:sp>
        <p:nvSpPr>
          <p:cNvPr id="126" name="Rectangle 6"/>
          <p:cNvSpPr>
            <a:spLocks noChangeArrowheads="1"/>
          </p:cNvSpPr>
          <p:nvPr/>
        </p:nvSpPr>
        <p:spPr bwMode="auto">
          <a:xfrm>
            <a:off x="7138987" y="3609628"/>
            <a:ext cx="5053013" cy="2847975"/>
          </a:xfrm>
          <a:prstGeom prst="rect">
            <a:avLst/>
          </a:prstGeom>
          <a:noFill/>
          <a:ln>
            <a:noFill/>
          </a:ln>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lnSpc>
                <a:spcPct val="85000"/>
              </a:lnSpc>
              <a:spcBef>
                <a:spcPct val="20000"/>
              </a:spcBef>
              <a:spcAft>
                <a:spcPct val="0"/>
              </a:spcAft>
              <a:buClr>
                <a:srgbClr val="3333CC"/>
              </a:buClr>
              <a:buSzPct val="85000"/>
              <a:buFont typeface="ZapfDingbats" pitchFamily="82" charset="2"/>
              <a:buNone/>
            </a:pPr>
            <a:r>
              <a:rPr lang="en-US" altLang="en-US" sz="2800" dirty="0">
                <a:solidFill>
                  <a:srgbClr val="000099"/>
                </a:solidFill>
                <a:latin typeface="+mn-lt"/>
              </a:rPr>
              <a:t>protocols that maintain </a:t>
            </a:r>
            <a:r>
              <a:rPr lang="ja-JP" altLang="en-US" sz="2800">
                <a:solidFill>
                  <a:srgbClr val="000099"/>
                </a:solidFill>
                <a:latin typeface="+mn-lt"/>
              </a:rPr>
              <a:t>“</a:t>
            </a:r>
            <a:r>
              <a:rPr lang="en-US" altLang="ja-JP" sz="2800" dirty="0">
                <a:solidFill>
                  <a:srgbClr val="000099"/>
                </a:solidFill>
                <a:latin typeface="+mn-lt"/>
              </a:rPr>
              <a:t>state</a:t>
            </a:r>
            <a:r>
              <a:rPr lang="ja-JP" altLang="en-US" sz="2800">
                <a:solidFill>
                  <a:srgbClr val="000099"/>
                </a:solidFill>
                <a:latin typeface="+mn-lt"/>
              </a:rPr>
              <a:t>”</a:t>
            </a:r>
            <a:r>
              <a:rPr lang="en-US" altLang="ja-JP" sz="2800" dirty="0">
                <a:solidFill>
                  <a:srgbClr val="000099"/>
                </a:solidFill>
                <a:latin typeface="+mn-lt"/>
              </a:rPr>
              <a:t> are complex!</a:t>
            </a:r>
            <a:endParaRPr lang="en-US" altLang="ja-JP" sz="2800" dirty="0">
              <a:solidFill>
                <a:srgbClr val="000099"/>
              </a:solidFill>
              <a:latin typeface="+mn-lt"/>
            </a:endParaRPr>
          </a:p>
          <a:p>
            <a:pPr eaLnBrk="0" fontAlgn="base" hangingPunct="0">
              <a:lnSpc>
                <a:spcPct val="90000"/>
              </a:lnSpc>
              <a:spcBef>
                <a:spcPts val="400"/>
              </a:spcBef>
              <a:spcAft>
                <a:spcPct val="0"/>
              </a:spcAft>
              <a:buClr>
                <a:srgbClr val="000099"/>
              </a:buClr>
              <a:buSzPct val="100000"/>
              <a:buFont typeface="Wingdings" panose="05000000000000000000" pitchFamily="2" charset="2"/>
              <a:buChar char="§"/>
            </a:pPr>
            <a:r>
              <a:rPr lang="en-US" altLang="en-US" sz="2400" dirty="0">
                <a:solidFill>
                  <a:srgbClr val="000000"/>
                </a:solidFill>
                <a:latin typeface="+mn-lt"/>
              </a:rPr>
              <a:t>past history (state) must be maintained</a:t>
            </a:r>
            <a:endParaRPr lang="en-US" altLang="en-US" sz="2400" dirty="0">
              <a:solidFill>
                <a:srgbClr val="000000"/>
              </a:solidFill>
              <a:latin typeface="+mn-lt"/>
            </a:endParaRPr>
          </a:p>
          <a:p>
            <a:pPr eaLnBrk="0" fontAlgn="base" hangingPunct="0">
              <a:lnSpc>
                <a:spcPct val="90000"/>
              </a:lnSpc>
              <a:spcBef>
                <a:spcPts val="400"/>
              </a:spcBef>
              <a:spcAft>
                <a:spcPct val="0"/>
              </a:spcAft>
              <a:buClr>
                <a:srgbClr val="000099"/>
              </a:buClr>
              <a:buSzPct val="100000"/>
              <a:buFont typeface="Wingdings" panose="05000000000000000000" pitchFamily="2" charset="2"/>
              <a:buChar char="§"/>
            </a:pPr>
            <a:r>
              <a:rPr lang="en-US" altLang="en-US" sz="2400" dirty="0">
                <a:solidFill>
                  <a:srgbClr val="000000"/>
                </a:solidFill>
                <a:latin typeface="+mn-lt"/>
              </a:rPr>
              <a:t>if server/client crashes, their views of </a:t>
            </a:r>
            <a:r>
              <a:rPr lang="ja-JP" altLang="en-US" sz="2400">
                <a:solidFill>
                  <a:srgbClr val="000000"/>
                </a:solidFill>
                <a:latin typeface="+mn-lt"/>
              </a:rPr>
              <a:t>“</a:t>
            </a:r>
            <a:r>
              <a:rPr lang="en-US" altLang="ja-JP" sz="2400" dirty="0">
                <a:solidFill>
                  <a:srgbClr val="000000"/>
                </a:solidFill>
                <a:latin typeface="+mn-lt"/>
              </a:rPr>
              <a:t>state</a:t>
            </a:r>
            <a:r>
              <a:rPr lang="ja-JP" altLang="en-US" sz="2400">
                <a:solidFill>
                  <a:srgbClr val="000000"/>
                </a:solidFill>
                <a:latin typeface="+mn-lt"/>
              </a:rPr>
              <a:t>”</a:t>
            </a:r>
            <a:r>
              <a:rPr lang="en-US" altLang="ja-JP" sz="2400" dirty="0">
                <a:solidFill>
                  <a:srgbClr val="000000"/>
                </a:solidFill>
                <a:latin typeface="+mn-lt"/>
              </a:rPr>
              <a:t> may be inconsistent, must be reconciled</a:t>
            </a:r>
            <a:endParaRPr lang="en-US" altLang="ja-JP" sz="2400" dirty="0">
              <a:solidFill>
                <a:srgbClr val="000000"/>
              </a:solidFill>
              <a:latin typeface="+mn-lt"/>
            </a:endParaRPr>
          </a:p>
          <a:p>
            <a:pPr eaLnBrk="0" fontAlgn="base" hangingPunct="0">
              <a:spcBef>
                <a:spcPct val="20000"/>
              </a:spcBef>
              <a:spcAft>
                <a:spcPct val="0"/>
              </a:spcAft>
              <a:buClr>
                <a:srgbClr val="3333CC"/>
              </a:buClr>
              <a:buSzPct val="85000"/>
              <a:buFont typeface="ZapfDingbats" pitchFamily="82" charset="2"/>
              <a:buChar char="r"/>
            </a:pPr>
            <a:endParaRPr lang="en-US" altLang="en-US" sz="2400" dirty="0">
              <a:solidFill>
                <a:srgbClr val="000000"/>
              </a:solidFill>
              <a:latin typeface="+mn-lt"/>
            </a:endParaRPr>
          </a:p>
        </p:txBody>
      </p:sp>
      <p:sp>
        <p:nvSpPr>
          <p:cNvPr id="127" name="Text Box 8"/>
          <p:cNvSpPr txBox="1">
            <a:spLocks noChangeArrowheads="1"/>
          </p:cNvSpPr>
          <p:nvPr/>
        </p:nvSpPr>
        <p:spPr bwMode="auto">
          <a:xfrm>
            <a:off x="9716532" y="3209500"/>
            <a:ext cx="9460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r>
              <a:rPr lang="en-US" altLang="en-US" sz="2800" i="1">
                <a:solidFill>
                  <a:srgbClr val="CC0000"/>
                </a:solidFill>
                <a:latin typeface="+mn-lt"/>
              </a:rPr>
              <a:t>aside</a:t>
            </a:r>
            <a:endParaRPr lang="en-US" altLang="en-US" sz="2800" i="1">
              <a:solidFill>
                <a:srgbClr val="CC0000"/>
              </a:solidFill>
              <a:latin typeface="+mn-lt"/>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connections: two types</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1" name="Rectangle 3"/>
          <p:cNvSpPr txBox="1">
            <a:spLocks noChangeArrowheads="1"/>
          </p:cNvSpPr>
          <p:nvPr/>
        </p:nvSpPr>
        <p:spPr>
          <a:xfrm>
            <a:off x="798690"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i="1" dirty="0">
                <a:solidFill>
                  <a:srgbClr val="CC0000"/>
                </a:solidFill>
                <a:ea typeface="MS PGothic" panose="020B0600070205080204" pitchFamily="34" charset="-128"/>
              </a:rPr>
              <a:t>Non-persistent HTTP</a:t>
            </a:r>
            <a:endParaRPr lang="en-US" altLang="en-US" sz="3200" i="1" dirty="0">
              <a:solidFill>
                <a:srgbClr val="CC0000"/>
              </a:solidFill>
              <a:ea typeface="MS PGothic" panose="020B0600070205080204" pitchFamily="34" charset="-128"/>
            </a:endParaRPr>
          </a:p>
          <a:p>
            <a:pPr marL="644525" indent="-514350">
              <a:buFont typeface="+mj-lt"/>
              <a:buAutoNum type="arabicPeriod"/>
            </a:pPr>
            <a:r>
              <a:rPr lang="en-US" altLang="en-US" sz="3200" dirty="0">
                <a:ea typeface="MS PGothic" panose="020B0600070205080204" pitchFamily="34" charset="-128"/>
              </a:rPr>
              <a:t>TCP connection opened</a:t>
            </a:r>
            <a:endParaRPr lang="en-US" altLang="en-US" sz="3200" dirty="0">
              <a:ea typeface="MS PGothic" panose="020B0600070205080204" pitchFamily="34" charset="-128"/>
            </a:endParaRPr>
          </a:p>
          <a:p>
            <a:pPr marL="644525" indent="-514350">
              <a:buFont typeface="+mj-lt"/>
              <a:buAutoNum type="arabicPeriod"/>
            </a:pPr>
            <a:r>
              <a:rPr lang="en-US" altLang="en-US" sz="3200" dirty="0">
                <a:ea typeface="MS PGothic" panose="020B0600070205080204" pitchFamily="34" charset="-128"/>
              </a:rPr>
              <a:t>at most one object sent over TCP connection</a:t>
            </a:r>
            <a:endParaRPr lang="en-US" altLang="en-US" sz="3200" dirty="0">
              <a:ea typeface="MS PGothic" panose="020B0600070205080204" pitchFamily="34" charset="-128"/>
            </a:endParaRPr>
          </a:p>
          <a:p>
            <a:pPr marL="644525" indent="-514350">
              <a:buFont typeface="+mj-lt"/>
              <a:buAutoNum type="arabicPeriod"/>
            </a:pPr>
            <a:r>
              <a:rPr lang="en-US" altLang="en-US" sz="3200" dirty="0">
                <a:ea typeface="MS PGothic" panose="020B0600070205080204" pitchFamily="34" charset="-128"/>
              </a:rPr>
              <a:t>TCP connection closed</a:t>
            </a:r>
            <a:endParaRPr lang="en-US" altLang="en-US" sz="3200" dirty="0">
              <a:ea typeface="MS PGothic" panose="020B0600070205080204" pitchFamily="34" charset="-128"/>
            </a:endParaRPr>
          </a:p>
          <a:p>
            <a:pPr marL="130175" indent="0">
              <a:spcBef>
                <a:spcPts val="2200"/>
              </a:spcBef>
              <a:buNone/>
            </a:pPr>
            <a:r>
              <a:rPr lang="en-US" altLang="en-US" sz="3200" dirty="0">
                <a:ea typeface="MS PGothic" panose="020B0600070205080204" pitchFamily="34" charset="-128"/>
              </a:rPr>
              <a:t>downloading multiple objects required multiple connections</a:t>
            </a:r>
            <a:endParaRPr lang="en-US" altLang="en-US" sz="3200" dirty="0">
              <a:ea typeface="MS PGothic" panose="020B0600070205080204" pitchFamily="34" charset="-128"/>
            </a:endParaRPr>
          </a:p>
          <a:p>
            <a:pPr>
              <a:buFont typeface="Wingdings" panose="05000000000000000000" pitchFamily="2" charset="2"/>
              <a:buNone/>
            </a:pPr>
            <a:endParaRPr lang="en-US" altLang="en-US" dirty="0">
              <a:ea typeface="MS PGothic" panose="020B0600070205080204" pitchFamily="34" charset="-128"/>
            </a:endParaRPr>
          </a:p>
        </p:txBody>
      </p:sp>
      <p:sp>
        <p:nvSpPr>
          <p:cNvPr id="12" name="Rectangle 4"/>
          <p:cNvSpPr txBox="1">
            <a:spLocks noChangeArrowheads="1"/>
          </p:cNvSpPr>
          <p:nvPr/>
        </p:nvSpPr>
        <p:spPr>
          <a:xfrm>
            <a:off x="6781215"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i="1" dirty="0">
                <a:solidFill>
                  <a:srgbClr val="CC0000"/>
                </a:solidFill>
                <a:ea typeface="MS PGothic" panose="020B0600070205080204" pitchFamily="34" charset="-128"/>
              </a:rPr>
              <a:t>Persistent HTTP</a:t>
            </a:r>
            <a:endParaRPr lang="en-US" altLang="en-US" sz="3200" i="1" dirty="0">
              <a:solidFill>
                <a:srgbClr val="CC0000"/>
              </a:solidFill>
              <a:ea typeface="MS PGothic" panose="020B0600070205080204" pitchFamily="34" charset="-128"/>
            </a:endParaRPr>
          </a:p>
          <a:p>
            <a:r>
              <a:rPr lang="en-US" altLang="en-US" sz="3200" dirty="0">
                <a:ea typeface="MS PGothic" panose="020B0600070205080204" pitchFamily="34" charset="-128"/>
              </a:rPr>
              <a:t>TCP connection opened to a server</a:t>
            </a:r>
            <a:endParaRPr lang="en-US" altLang="en-US" sz="3200" dirty="0">
              <a:ea typeface="MS PGothic" panose="020B0600070205080204" pitchFamily="34" charset="-128"/>
            </a:endParaRPr>
          </a:p>
          <a:p>
            <a:r>
              <a:rPr lang="en-US" altLang="en-US" sz="3200" dirty="0">
                <a:ea typeface="MS PGothic" panose="020B0600070205080204" pitchFamily="34" charset="-128"/>
              </a:rPr>
              <a:t>multiple objects can be sent over </a:t>
            </a:r>
            <a:r>
              <a:rPr lang="en-US" altLang="en-US" sz="3200" i="1" dirty="0">
                <a:ea typeface="MS PGothic" panose="020B0600070205080204" pitchFamily="34" charset="-128"/>
              </a:rPr>
              <a:t>single</a:t>
            </a:r>
            <a:r>
              <a:rPr lang="en-US" altLang="en-US" sz="3200" dirty="0">
                <a:ea typeface="MS PGothic" panose="020B0600070205080204" pitchFamily="34" charset="-128"/>
              </a:rPr>
              <a:t> TCP connection between client, and that server</a:t>
            </a:r>
            <a:endParaRPr lang="en-US" altLang="en-US" sz="3200" dirty="0">
              <a:ea typeface="MS PGothic" panose="020B0600070205080204" pitchFamily="34" charset="-128"/>
            </a:endParaRPr>
          </a:p>
          <a:p>
            <a:r>
              <a:rPr lang="en-US" altLang="en-US" sz="3200" dirty="0">
                <a:ea typeface="MS PGothic" panose="020B0600070205080204" pitchFamily="34" charset="-128"/>
              </a:rPr>
              <a:t>TCP connection closed</a:t>
            </a:r>
            <a:endParaRPr lang="en-US" altLang="en-US" sz="3200" dirty="0">
              <a:ea typeface="MS PGothic" panose="020B0600070205080204" pitchFamily="34" charset="-128"/>
            </a:endParaRPr>
          </a:p>
          <a:p>
            <a:endParaRPr lang="en-US" altLang="en-US" sz="3200" dirty="0">
              <a:ea typeface="MS PGothic" panose="020B0600070205080204" pitchFamily="34" charset="-128"/>
            </a:endParaRPr>
          </a:p>
          <a:p>
            <a:pPr>
              <a:buFont typeface="Wingdings" panose="05000000000000000000" pitchFamily="2" charset="2"/>
              <a:buNone/>
            </a:pPr>
            <a:endParaRPr lang="en-US" altLang="en-US" dirty="0">
              <a:ea typeface="MS PGothic" panose="020B0600070205080204" pitchFamily="34" charset="-128"/>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6" name="Line 11"/>
          <p:cNvSpPr>
            <a:spLocks noChangeShapeType="1"/>
          </p:cNvSpPr>
          <p:nvPr/>
        </p:nvSpPr>
        <p:spPr bwMode="auto">
          <a:xfrm>
            <a:off x="798691" y="2868166"/>
            <a:ext cx="10658" cy="3480471"/>
          </a:xfrm>
          <a:prstGeom prst="line">
            <a:avLst/>
          </a:prstGeom>
          <a:noFill/>
          <a:ln w="19050">
            <a:solidFill>
              <a:schemeClr val="bg1">
                <a:lumMod val="65000"/>
              </a:schemeClr>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 name="Rectangle 13"/>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8" name="Rectangle 3"/>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dirty="0">
                <a:ea typeface="MS PGothic" panose="020B0600070205080204" pitchFamily="34" charset="-128"/>
              </a:rPr>
              <a:t>User enters URL:</a:t>
            </a:r>
            <a:endParaRPr lang="en-US" altLang="en-US" dirty="0">
              <a:ea typeface="MS PGothic" panose="020B0600070205080204" pitchFamily="34" charset="-128"/>
            </a:endParaRPr>
          </a:p>
        </p:txBody>
      </p:sp>
      <p:sp>
        <p:nvSpPr>
          <p:cNvPr id="10" name="Rectangle 4"/>
          <p:cNvSpPr txBox="1">
            <a:spLocks noChangeArrowheads="1"/>
          </p:cNvSpPr>
          <p:nvPr/>
        </p:nvSpPr>
        <p:spPr>
          <a:xfrm>
            <a:off x="944384" y="2447251"/>
            <a:ext cx="4850242"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2400" dirty="0">
                <a:solidFill>
                  <a:srgbClr val="CC0000"/>
                </a:solidFill>
                <a:ea typeface="MS PGothic" panose="020B0600070205080204" pitchFamily="34" charset="-128"/>
              </a:rPr>
              <a:t>1a</a:t>
            </a:r>
            <a:r>
              <a:rPr lang="en-US" altLang="en-US" sz="2400" dirty="0">
                <a:solidFill>
                  <a:srgbClr val="FF0000"/>
                </a:solidFill>
                <a:ea typeface="MS PGothic" panose="020B0600070205080204" pitchFamily="34" charset="-128"/>
              </a:rPr>
              <a:t>.</a:t>
            </a:r>
            <a:r>
              <a:rPr lang="en-US" altLang="en-US" sz="2400" dirty="0">
                <a:ea typeface="MS PGothic" panose="020B0600070205080204" pitchFamily="34" charset="-128"/>
              </a:rPr>
              <a:t> HTTP client initiates TCP connection to HTTP server (process) at </a:t>
            </a:r>
            <a:r>
              <a:rPr lang="en-US" altLang="en-US" sz="2000" dirty="0" err="1">
                <a:ea typeface="MS PGothic" panose="020B0600070205080204" pitchFamily="34" charset="-128"/>
              </a:rPr>
              <a:t>www.someSchool.edu</a:t>
            </a:r>
            <a:r>
              <a:rPr lang="en-US" altLang="en-US" sz="2000" dirty="0">
                <a:ea typeface="MS PGothic" panose="020B0600070205080204" pitchFamily="34" charset="-128"/>
              </a:rPr>
              <a:t> </a:t>
            </a:r>
            <a:r>
              <a:rPr lang="en-US" altLang="en-US" sz="2400" dirty="0">
                <a:ea typeface="MS PGothic" panose="020B0600070205080204" pitchFamily="34" charset="-128"/>
              </a:rPr>
              <a:t>on port 80</a:t>
            </a:r>
            <a:endParaRPr lang="en-US" altLang="en-US" sz="2400" dirty="0">
              <a:ea typeface="MS PGothic" panose="020B0600070205080204" pitchFamily="34" charset="-128"/>
            </a:endParaRPr>
          </a:p>
        </p:txBody>
      </p:sp>
      <p:sp>
        <p:nvSpPr>
          <p:cNvPr id="13" name="Rectangle 5"/>
          <p:cNvSpPr>
            <a:spLocks noChangeArrowheads="1"/>
          </p:cNvSpPr>
          <p:nvPr/>
        </p:nvSpPr>
        <p:spPr bwMode="auto">
          <a:xfrm>
            <a:off x="1172983" y="4077834"/>
            <a:ext cx="421653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dirty="0">
                <a:solidFill>
                  <a:srgbClr val="CC0000"/>
                </a:solidFill>
                <a:latin typeface="+mn-lt"/>
              </a:rPr>
              <a:t>2</a:t>
            </a:r>
            <a:r>
              <a:rPr lang="en-US" altLang="en-US" sz="2400" dirty="0">
                <a:solidFill>
                  <a:srgbClr val="FF0000"/>
                </a:solidFill>
                <a:latin typeface="+mn-lt"/>
              </a:rPr>
              <a:t>.</a:t>
            </a:r>
            <a:r>
              <a:rPr lang="en-US" altLang="en-US" sz="2400" dirty="0">
                <a:latin typeface="+mn-lt"/>
              </a:rPr>
              <a:t> HTTP client sends HTTP </a:t>
            </a:r>
            <a:r>
              <a:rPr lang="en-US" altLang="en-US" sz="2400" i="1" dirty="0">
                <a:solidFill>
                  <a:srgbClr val="000099"/>
                </a:solidFill>
                <a:latin typeface="+mn-lt"/>
              </a:rPr>
              <a:t>request message</a:t>
            </a:r>
            <a:r>
              <a:rPr lang="en-US" altLang="en-US" sz="2400" dirty="0">
                <a:latin typeface="+mn-lt"/>
              </a:rPr>
              <a:t> (containing URL) into TCP connection socket. Message indicates that client wants object </a:t>
            </a:r>
            <a:r>
              <a:rPr lang="en-US" altLang="en-US" dirty="0" err="1">
                <a:latin typeface="+mn-lt"/>
              </a:rPr>
              <a:t>someDepartment</a:t>
            </a:r>
            <a:r>
              <a:rPr lang="en-US" altLang="en-US" dirty="0">
                <a:latin typeface="+mn-lt"/>
              </a:rPr>
              <a:t>/</a:t>
            </a:r>
            <a:r>
              <a:rPr lang="en-US" altLang="en-US" dirty="0" err="1">
                <a:latin typeface="+mn-lt"/>
              </a:rPr>
              <a:t>home.index</a:t>
            </a:r>
            <a:endParaRPr lang="en-US" altLang="en-US" sz="2400" dirty="0">
              <a:latin typeface="+mn-lt"/>
            </a:endParaRPr>
          </a:p>
        </p:txBody>
      </p:sp>
      <p:sp>
        <p:nvSpPr>
          <p:cNvPr id="14" name="Rectangle 6"/>
          <p:cNvSpPr>
            <a:spLocks noChangeArrowheads="1"/>
          </p:cNvSpPr>
          <p:nvPr/>
        </p:nvSpPr>
        <p:spPr bwMode="auto">
          <a:xfrm>
            <a:off x="6717018" y="2733157"/>
            <a:ext cx="5389528" cy="150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dirty="0">
                <a:solidFill>
                  <a:srgbClr val="CC0000"/>
                </a:solidFill>
                <a:latin typeface="+mn-lt"/>
              </a:rPr>
              <a:t>1b</a:t>
            </a:r>
            <a:r>
              <a:rPr lang="en-US" altLang="en-US" sz="2400" dirty="0">
                <a:solidFill>
                  <a:srgbClr val="FF0000"/>
                </a:solidFill>
                <a:latin typeface="+mn-lt"/>
              </a:rPr>
              <a:t>.</a:t>
            </a:r>
            <a:r>
              <a:rPr lang="en-US" altLang="en-US" sz="2400" dirty="0">
                <a:latin typeface="+mn-lt"/>
              </a:rPr>
              <a:t> HTTP server at host </a:t>
            </a:r>
            <a:r>
              <a:rPr lang="en-US" altLang="en-US" dirty="0" err="1">
                <a:latin typeface="+mn-lt"/>
              </a:rPr>
              <a:t>www.someSchool.edu</a:t>
            </a:r>
            <a:r>
              <a:rPr lang="en-US" altLang="en-US" dirty="0">
                <a:latin typeface="+mn-lt"/>
              </a:rPr>
              <a:t> </a:t>
            </a:r>
            <a:r>
              <a:rPr lang="en-US" altLang="en-US" sz="2400" dirty="0">
                <a:latin typeface="+mn-lt"/>
              </a:rPr>
              <a:t>waiting for TCP connection at port 80  </a:t>
            </a:r>
            <a:r>
              <a:rPr lang="ja-JP" altLang="en-US" sz="2400">
                <a:latin typeface="+mn-lt"/>
              </a:rPr>
              <a:t>“</a:t>
            </a:r>
            <a:r>
              <a:rPr lang="en-US" altLang="ja-JP" sz="2400" dirty="0">
                <a:latin typeface="+mn-lt"/>
              </a:rPr>
              <a:t>accepts</a:t>
            </a:r>
            <a:r>
              <a:rPr lang="ja-JP" altLang="en-US" sz="2400">
                <a:latin typeface="+mn-lt"/>
              </a:rPr>
              <a:t>”</a:t>
            </a:r>
            <a:r>
              <a:rPr lang="en-US" altLang="ja-JP" sz="2400" dirty="0">
                <a:latin typeface="+mn-lt"/>
              </a:rPr>
              <a:t> connection, notifying client</a:t>
            </a:r>
            <a:endParaRPr lang="en-US" altLang="en-US" sz="2400" dirty="0">
              <a:latin typeface="+mn-lt"/>
            </a:endParaRPr>
          </a:p>
        </p:txBody>
      </p:sp>
      <p:sp>
        <p:nvSpPr>
          <p:cNvPr id="15" name="Rectangle 7"/>
          <p:cNvSpPr>
            <a:spLocks noChangeArrowheads="1"/>
          </p:cNvSpPr>
          <p:nvPr/>
        </p:nvSpPr>
        <p:spPr bwMode="auto">
          <a:xfrm>
            <a:off x="6843976" y="4739906"/>
            <a:ext cx="539487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dirty="0">
                <a:solidFill>
                  <a:srgbClr val="CC0000"/>
                </a:solidFill>
                <a:latin typeface="+mn-lt"/>
              </a:rPr>
              <a:t>3</a:t>
            </a:r>
            <a:r>
              <a:rPr lang="en-US" altLang="en-US" dirty="0">
                <a:solidFill>
                  <a:srgbClr val="FF0000"/>
                </a:solidFill>
                <a:latin typeface="+mn-lt"/>
              </a:rPr>
              <a:t>.</a:t>
            </a:r>
            <a:r>
              <a:rPr lang="en-US" altLang="en-US" dirty="0">
                <a:latin typeface="+mn-lt"/>
              </a:rPr>
              <a:t> </a:t>
            </a:r>
            <a:r>
              <a:rPr lang="en-US" altLang="en-US" sz="2400" dirty="0">
                <a:latin typeface="+mn-lt"/>
              </a:rPr>
              <a:t>HTTP server receives request message, forms </a:t>
            </a:r>
            <a:r>
              <a:rPr lang="en-US" altLang="en-US" sz="2400" i="1" dirty="0">
                <a:solidFill>
                  <a:srgbClr val="000099"/>
                </a:solidFill>
                <a:latin typeface="+mn-lt"/>
              </a:rPr>
              <a:t>response message</a:t>
            </a:r>
            <a:r>
              <a:rPr lang="en-US" altLang="en-US" sz="2400" dirty="0">
                <a:latin typeface="+mn-lt"/>
              </a:rPr>
              <a:t> containing requested object, and sends message into its socket</a:t>
            </a:r>
            <a:endParaRPr lang="en-US" altLang="en-US" dirty="0">
              <a:latin typeface="+mn-lt"/>
            </a:endParaRPr>
          </a:p>
        </p:txBody>
      </p:sp>
      <p:sp>
        <p:nvSpPr>
          <p:cNvPr id="16" name="Line 9"/>
          <p:cNvSpPr>
            <a:spLocks noChangeShapeType="1"/>
          </p:cNvSpPr>
          <p:nvPr/>
        </p:nvSpPr>
        <p:spPr bwMode="auto">
          <a:xfrm>
            <a:off x="5102530" y="4961816"/>
            <a:ext cx="1800180" cy="601955"/>
          </a:xfrm>
          <a:prstGeom prst="line">
            <a:avLst/>
          </a:prstGeom>
          <a:noFill/>
          <a:ln w="38100">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 name="Line 10"/>
          <p:cNvSpPr>
            <a:spLocks noChangeShapeType="1"/>
          </p:cNvSpPr>
          <p:nvPr/>
        </p:nvSpPr>
        <p:spPr bwMode="auto">
          <a:xfrm flipH="1">
            <a:off x="5389517" y="5671992"/>
            <a:ext cx="1410287" cy="891868"/>
          </a:xfrm>
          <a:prstGeom prst="line">
            <a:avLst/>
          </a:prstGeom>
          <a:noFill/>
          <a:ln w="38100">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8" name="Text Box 12"/>
          <p:cNvSpPr txBox="1">
            <a:spLocks noChangeArrowheads="1"/>
          </p:cNvSpPr>
          <p:nvPr/>
        </p:nvSpPr>
        <p:spPr bwMode="auto">
          <a:xfrm>
            <a:off x="499883" y="5563771"/>
            <a:ext cx="673100" cy="406400"/>
          </a:xfrm>
          <a:prstGeom prst="rect">
            <a:avLst/>
          </a:prstGeom>
          <a:noFill/>
          <a:ln w="9525">
            <a:solidFill>
              <a:schemeClr val="bg1"/>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dirty="0">
                <a:solidFill>
                  <a:schemeClr val="bg1">
                    <a:lumMod val="65000"/>
                  </a:schemeClr>
                </a:solidFill>
                <a:latin typeface="+mn-lt"/>
              </a:rPr>
              <a:t>time</a:t>
            </a:r>
            <a:endParaRPr lang="en-US" altLang="en-US" dirty="0">
              <a:solidFill>
                <a:schemeClr val="bg1">
                  <a:lumMod val="65000"/>
                </a:schemeClr>
              </a:solidFill>
              <a:latin typeface="+mn-lt"/>
            </a:endParaRPr>
          </a:p>
        </p:txBody>
      </p:sp>
      <p:sp>
        <p:nvSpPr>
          <p:cNvPr id="19" name="Line 8"/>
          <p:cNvSpPr>
            <a:spLocks noChangeShapeType="1"/>
          </p:cNvSpPr>
          <p:nvPr/>
        </p:nvSpPr>
        <p:spPr bwMode="auto">
          <a:xfrm>
            <a:off x="5156851" y="2779258"/>
            <a:ext cx="1551025" cy="523875"/>
          </a:xfrm>
          <a:prstGeom prst="line">
            <a:avLst/>
          </a:prstGeom>
          <a:noFill/>
          <a:ln w="38100">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 name="Line 14"/>
          <p:cNvSpPr>
            <a:spLocks noChangeShapeType="1"/>
          </p:cNvSpPr>
          <p:nvPr/>
        </p:nvSpPr>
        <p:spPr bwMode="auto">
          <a:xfrm flipH="1">
            <a:off x="5102530" y="3366635"/>
            <a:ext cx="1551026" cy="1006986"/>
          </a:xfrm>
          <a:prstGeom prst="line">
            <a:avLst/>
          </a:prstGeom>
          <a:noFill/>
          <a:ln w="38100">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1" name="Text Box 15"/>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dirty="0">
                <a:latin typeface="+mn-lt"/>
              </a:rPr>
              <a:t>(containing text, references to 10 jpeg images)</a:t>
            </a:r>
            <a:endParaRPr lang="en-US" altLang="en-US" sz="2800" dirty="0">
              <a:latin typeface="+mn-lt"/>
            </a:endParaRPr>
          </a:p>
        </p:txBody>
      </p:sp>
      <p:sp>
        <p:nvSpPr>
          <p:cNvPr id="22" name="Rectangle 3"/>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buClr>
                <a:srgbClr val="000099"/>
              </a:buClr>
              <a:buSzPct val="65000"/>
              <a:buFont typeface="Wingdings" panose="05000000000000000000" pitchFamily="2" charset="2"/>
              <a:buNone/>
            </a:pPr>
            <a:r>
              <a:rPr lang="en-US" altLang="en-US" b="1" dirty="0" err="1">
                <a:latin typeface="Courier New" panose="02070309020205020404" pitchFamily="49" charset="0"/>
              </a:rPr>
              <a:t>www.someSchool.edu</a:t>
            </a:r>
            <a:r>
              <a:rPr lang="en-US" altLang="en-US" b="1" dirty="0">
                <a:latin typeface="Courier New" panose="02070309020205020404" pitchFamily="49" charset="0"/>
              </a:rPr>
              <a:t>/</a:t>
            </a:r>
            <a:r>
              <a:rPr lang="en-US" altLang="en-US" b="1" dirty="0" err="1">
                <a:latin typeface="Courier New" panose="02070309020205020404" pitchFamily="49" charset="0"/>
              </a:rPr>
              <a:t>someDepartment</a:t>
            </a:r>
            <a:r>
              <a:rPr lang="en-US" altLang="en-US" b="1" dirty="0">
                <a:latin typeface="Courier New" panose="02070309020205020404" pitchFamily="49" charset="0"/>
              </a:rPr>
              <a:t>/</a:t>
            </a:r>
            <a:r>
              <a:rPr lang="en-US" altLang="en-US" b="1" dirty="0" err="1">
                <a:latin typeface="Courier New" panose="02070309020205020404" pitchFamily="49" charset="0"/>
              </a:rPr>
              <a:t>home.index</a:t>
            </a:r>
            <a:endParaRPr lang="en-US" altLang="en-US" b="1" dirty="0">
              <a:latin typeface="Courier New" panose="02070309020205020404" pitchFamily="49" charset="0"/>
            </a:endParaRPr>
          </a:p>
        </p:txBody>
      </p:sp>
      <p:grpSp>
        <p:nvGrpSpPr>
          <p:cNvPr id="23" name="Group 44"/>
          <p:cNvGrpSpPr/>
          <p:nvPr/>
        </p:nvGrpSpPr>
        <p:grpSpPr bwMode="auto">
          <a:xfrm>
            <a:off x="371687" y="2060763"/>
            <a:ext cx="784845" cy="730423"/>
            <a:chOff x="-44" y="1473"/>
            <a:chExt cx="981" cy="1105"/>
          </a:xfrm>
        </p:grpSpPr>
        <p:pic>
          <p:nvPicPr>
            <p:cNvPr id="24" name="Picture 45"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6" name="Group 47"/>
          <p:cNvGrpSpPr/>
          <p:nvPr/>
        </p:nvGrpSpPr>
        <p:grpSpPr bwMode="auto">
          <a:xfrm>
            <a:off x="6367322" y="2347016"/>
            <a:ext cx="286234" cy="640019"/>
            <a:chOff x="4140" y="429"/>
            <a:chExt cx="1425" cy="2396"/>
          </a:xfrm>
        </p:grpSpPr>
        <p:sp>
          <p:nvSpPr>
            <p:cNvPr id="27" name="Freeform 48"/>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 name="Rectangle 49"/>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 name="Freeform 50"/>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 name="Freeform 51"/>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 name="Rectangle 52"/>
            <p:cNvSpPr>
              <a:spLocks noChangeArrowheads="1"/>
            </p:cNvSpPr>
            <p:nvPr/>
          </p:nvSpPr>
          <p:spPr bwMode="auto">
            <a:xfrm>
              <a:off x="4212" y="693"/>
              <a:ext cx="595"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2" name="Group 53"/>
            <p:cNvGrpSpPr/>
            <p:nvPr/>
          </p:nvGrpSpPr>
          <p:grpSpPr bwMode="auto">
            <a:xfrm>
              <a:off x="4749" y="668"/>
              <a:ext cx="581" cy="145"/>
              <a:chOff x="614" y="2568"/>
              <a:chExt cx="725" cy="139"/>
            </a:xfrm>
          </p:grpSpPr>
          <p:sp>
            <p:nvSpPr>
              <p:cNvPr id="57" name="AutoShape 54"/>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58" name="AutoShape 55"/>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3" name="Rectangle 56"/>
            <p:cNvSpPr>
              <a:spLocks noChangeArrowheads="1"/>
            </p:cNvSpPr>
            <p:nvPr/>
          </p:nvSpPr>
          <p:spPr bwMode="auto">
            <a:xfrm>
              <a:off x="4225" y="1019"/>
              <a:ext cx="595"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4" name="Group 57"/>
            <p:cNvGrpSpPr/>
            <p:nvPr/>
          </p:nvGrpSpPr>
          <p:grpSpPr bwMode="auto">
            <a:xfrm>
              <a:off x="4747" y="994"/>
              <a:ext cx="581" cy="134"/>
              <a:chOff x="614" y="2568"/>
              <a:chExt cx="725" cy="139"/>
            </a:xfrm>
          </p:grpSpPr>
          <p:sp>
            <p:nvSpPr>
              <p:cNvPr id="55" name="AutoShape 58"/>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56" name="AutoShape 59"/>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5" name="Rectangle 60"/>
            <p:cNvSpPr>
              <a:spLocks noChangeArrowheads="1"/>
            </p:cNvSpPr>
            <p:nvPr/>
          </p:nvSpPr>
          <p:spPr bwMode="auto">
            <a:xfrm>
              <a:off x="4218" y="1357"/>
              <a:ext cx="595"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 name="Rectangle 61"/>
            <p:cNvSpPr>
              <a:spLocks noChangeArrowheads="1"/>
            </p:cNvSpPr>
            <p:nvPr/>
          </p:nvSpPr>
          <p:spPr bwMode="auto">
            <a:xfrm>
              <a:off x="4228" y="1654"/>
              <a:ext cx="595"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7" name="Group 62"/>
            <p:cNvGrpSpPr/>
            <p:nvPr/>
          </p:nvGrpSpPr>
          <p:grpSpPr bwMode="auto">
            <a:xfrm>
              <a:off x="4735" y="1627"/>
              <a:ext cx="582" cy="151"/>
              <a:chOff x="614" y="2568"/>
              <a:chExt cx="725" cy="139"/>
            </a:xfrm>
          </p:grpSpPr>
          <p:sp>
            <p:nvSpPr>
              <p:cNvPr id="53" name="AutoShape 63"/>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54" name="AutoShape 64"/>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8" name="Freeform 65"/>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9" name="Group 66"/>
            <p:cNvGrpSpPr/>
            <p:nvPr/>
          </p:nvGrpSpPr>
          <p:grpSpPr bwMode="auto">
            <a:xfrm>
              <a:off x="4739" y="1327"/>
              <a:ext cx="582" cy="139"/>
              <a:chOff x="614" y="2568"/>
              <a:chExt cx="725" cy="139"/>
            </a:xfrm>
          </p:grpSpPr>
          <p:sp>
            <p:nvSpPr>
              <p:cNvPr id="51" name="AutoShape 67"/>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52" name="AutoShape 68"/>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 name="Rectangle 69"/>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 name="Freeform 70"/>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 name="Freeform 71"/>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 name="Oval 72"/>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 name="Freeform 73"/>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 name="AutoShape 74"/>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6" name="AutoShape 75"/>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 name="Oval 76"/>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 name="Oval 77"/>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 name="Oval 78"/>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50" name="Rectangle 79"/>
            <p:cNvSpPr>
              <a:spLocks noChangeArrowheads="1"/>
            </p:cNvSpPr>
            <p:nvPr/>
          </p:nvSpPr>
          <p:spPr bwMode="auto">
            <a:xfrm>
              <a:off x="5061" y="1835"/>
              <a:ext cx="88" cy="762"/>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right)">
                                      <p:cBhvr>
                                        <p:cTn id="19" dur="500"/>
                                        <p:tgtEl>
                                          <p:spTgt spid="2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dissolve">
                                      <p:cBhvr>
                                        <p:cTn id="24" dur="500"/>
                                        <p:tgtEl>
                                          <p:spTgt spid="1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childTnLst>
                          </p:cTn>
                        </p:par>
                        <p:par>
                          <p:cTn id="29" fill="hold">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par>
                          <p:cTn id="33" fill="hold">
                            <p:stCondLst>
                              <p:cond delay="1500"/>
                            </p:stCondLst>
                            <p:childTnLst>
                              <p:par>
                                <p:cTn id="34" presetID="22" presetClass="entr" presetSubtype="2" fill="hold"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right)">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P spid="13" grpId="0"/>
      <p:bldP spid="14" grpId="0"/>
      <p:bldP spid="1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 (cont.)</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8" name="Rectangle 3"/>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dirty="0">
                <a:ea typeface="MS PGothic" panose="020B0600070205080204" pitchFamily="34" charset="-128"/>
              </a:rPr>
              <a:t>User enters URL:</a:t>
            </a:r>
            <a:endParaRPr lang="en-US" altLang="en-US" dirty="0">
              <a:ea typeface="MS PGothic" panose="020B0600070205080204" pitchFamily="34" charset="-128"/>
            </a:endParaRPr>
          </a:p>
        </p:txBody>
      </p:sp>
      <p:sp>
        <p:nvSpPr>
          <p:cNvPr id="21" name="Text Box 15"/>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dirty="0">
                <a:latin typeface="+mn-lt"/>
              </a:rPr>
              <a:t>(containing text, references to 10 jpeg images)</a:t>
            </a:r>
            <a:endParaRPr lang="en-US" altLang="en-US" sz="2800" dirty="0">
              <a:latin typeface="+mn-lt"/>
            </a:endParaRPr>
          </a:p>
        </p:txBody>
      </p:sp>
      <p:sp>
        <p:nvSpPr>
          <p:cNvPr id="22" name="Rectangle 3"/>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buClr>
                <a:srgbClr val="000099"/>
              </a:buClr>
              <a:buSzPct val="65000"/>
              <a:buFont typeface="Wingdings" panose="05000000000000000000" pitchFamily="2" charset="2"/>
              <a:buNone/>
            </a:pPr>
            <a:r>
              <a:rPr lang="en-US" altLang="en-US" b="1" dirty="0" err="1">
                <a:latin typeface="Courier New" panose="02070309020205020404" pitchFamily="49" charset="0"/>
              </a:rPr>
              <a:t>www.someSchool.edu</a:t>
            </a:r>
            <a:r>
              <a:rPr lang="en-US" altLang="en-US" b="1" dirty="0">
                <a:latin typeface="Courier New" panose="02070309020205020404" pitchFamily="49" charset="0"/>
              </a:rPr>
              <a:t>/</a:t>
            </a:r>
            <a:r>
              <a:rPr lang="en-US" altLang="en-US" b="1" dirty="0" err="1">
                <a:latin typeface="Courier New" panose="02070309020205020404" pitchFamily="49" charset="0"/>
              </a:rPr>
              <a:t>someDepartment</a:t>
            </a:r>
            <a:r>
              <a:rPr lang="en-US" altLang="en-US" b="1" dirty="0">
                <a:latin typeface="Courier New" panose="02070309020205020404" pitchFamily="49" charset="0"/>
              </a:rPr>
              <a:t>/</a:t>
            </a:r>
            <a:r>
              <a:rPr lang="en-US" altLang="en-US" b="1" dirty="0" err="1">
                <a:latin typeface="Courier New" panose="02070309020205020404" pitchFamily="49" charset="0"/>
              </a:rPr>
              <a:t>home.index</a:t>
            </a:r>
            <a:endParaRPr lang="en-US" altLang="en-US" b="1" dirty="0">
              <a:latin typeface="Courier New" panose="02070309020205020404" pitchFamily="49" charset="0"/>
            </a:endParaRPr>
          </a:p>
        </p:txBody>
      </p:sp>
      <p:grpSp>
        <p:nvGrpSpPr>
          <p:cNvPr id="23" name="Group 44"/>
          <p:cNvGrpSpPr/>
          <p:nvPr/>
        </p:nvGrpSpPr>
        <p:grpSpPr bwMode="auto">
          <a:xfrm>
            <a:off x="371687" y="2060763"/>
            <a:ext cx="784845" cy="730423"/>
            <a:chOff x="-44" y="1473"/>
            <a:chExt cx="981" cy="1105"/>
          </a:xfrm>
        </p:grpSpPr>
        <p:pic>
          <p:nvPicPr>
            <p:cNvPr id="24" name="Picture 45"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6" name="Group 47"/>
          <p:cNvGrpSpPr/>
          <p:nvPr/>
        </p:nvGrpSpPr>
        <p:grpSpPr bwMode="auto">
          <a:xfrm>
            <a:off x="6367322" y="2347016"/>
            <a:ext cx="286234" cy="640019"/>
            <a:chOff x="4140" y="429"/>
            <a:chExt cx="1425" cy="2396"/>
          </a:xfrm>
        </p:grpSpPr>
        <p:sp>
          <p:nvSpPr>
            <p:cNvPr id="27" name="Freeform 48"/>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 name="Rectangle 49"/>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 name="Freeform 50"/>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 name="Freeform 51"/>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 name="Rectangle 52"/>
            <p:cNvSpPr>
              <a:spLocks noChangeArrowheads="1"/>
            </p:cNvSpPr>
            <p:nvPr/>
          </p:nvSpPr>
          <p:spPr bwMode="auto">
            <a:xfrm>
              <a:off x="4212" y="693"/>
              <a:ext cx="595"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2" name="Group 53"/>
            <p:cNvGrpSpPr/>
            <p:nvPr/>
          </p:nvGrpSpPr>
          <p:grpSpPr bwMode="auto">
            <a:xfrm>
              <a:off x="4749" y="668"/>
              <a:ext cx="581" cy="145"/>
              <a:chOff x="614" y="2568"/>
              <a:chExt cx="725" cy="139"/>
            </a:xfrm>
          </p:grpSpPr>
          <p:sp>
            <p:nvSpPr>
              <p:cNvPr id="57" name="AutoShape 54"/>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58" name="AutoShape 55"/>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3" name="Rectangle 56"/>
            <p:cNvSpPr>
              <a:spLocks noChangeArrowheads="1"/>
            </p:cNvSpPr>
            <p:nvPr/>
          </p:nvSpPr>
          <p:spPr bwMode="auto">
            <a:xfrm>
              <a:off x="4225" y="1019"/>
              <a:ext cx="595"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4" name="Group 57"/>
            <p:cNvGrpSpPr/>
            <p:nvPr/>
          </p:nvGrpSpPr>
          <p:grpSpPr bwMode="auto">
            <a:xfrm>
              <a:off x="4747" y="994"/>
              <a:ext cx="581" cy="134"/>
              <a:chOff x="614" y="2568"/>
              <a:chExt cx="725" cy="139"/>
            </a:xfrm>
          </p:grpSpPr>
          <p:sp>
            <p:nvSpPr>
              <p:cNvPr id="55" name="AutoShape 58"/>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56" name="AutoShape 59"/>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5" name="Rectangle 60"/>
            <p:cNvSpPr>
              <a:spLocks noChangeArrowheads="1"/>
            </p:cNvSpPr>
            <p:nvPr/>
          </p:nvSpPr>
          <p:spPr bwMode="auto">
            <a:xfrm>
              <a:off x="4218" y="1357"/>
              <a:ext cx="595"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 name="Rectangle 61"/>
            <p:cNvSpPr>
              <a:spLocks noChangeArrowheads="1"/>
            </p:cNvSpPr>
            <p:nvPr/>
          </p:nvSpPr>
          <p:spPr bwMode="auto">
            <a:xfrm>
              <a:off x="4228" y="1654"/>
              <a:ext cx="595"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7" name="Group 62"/>
            <p:cNvGrpSpPr/>
            <p:nvPr/>
          </p:nvGrpSpPr>
          <p:grpSpPr bwMode="auto">
            <a:xfrm>
              <a:off x="4735" y="1627"/>
              <a:ext cx="582" cy="151"/>
              <a:chOff x="614" y="2568"/>
              <a:chExt cx="725" cy="139"/>
            </a:xfrm>
          </p:grpSpPr>
          <p:sp>
            <p:nvSpPr>
              <p:cNvPr id="53" name="AutoShape 63"/>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54" name="AutoShape 64"/>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8" name="Freeform 65"/>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9" name="Group 66"/>
            <p:cNvGrpSpPr/>
            <p:nvPr/>
          </p:nvGrpSpPr>
          <p:grpSpPr bwMode="auto">
            <a:xfrm>
              <a:off x="4739" y="1327"/>
              <a:ext cx="582" cy="139"/>
              <a:chOff x="614" y="2568"/>
              <a:chExt cx="725" cy="139"/>
            </a:xfrm>
          </p:grpSpPr>
          <p:sp>
            <p:nvSpPr>
              <p:cNvPr id="51" name="AutoShape 67"/>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52" name="AutoShape 68"/>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 name="Rectangle 69"/>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 name="Freeform 70"/>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 name="Freeform 71"/>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 name="Oval 72"/>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 name="Freeform 73"/>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 name="AutoShape 74"/>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6" name="AutoShape 75"/>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 name="Oval 76"/>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 name="Oval 77"/>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 name="Oval 78"/>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50" name="Rectangle 79"/>
            <p:cNvSpPr>
              <a:spLocks noChangeArrowheads="1"/>
            </p:cNvSpPr>
            <p:nvPr/>
          </p:nvSpPr>
          <p:spPr bwMode="auto">
            <a:xfrm>
              <a:off x="5061" y="1835"/>
              <a:ext cx="88" cy="762"/>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59" name="Rectangle 6"/>
          <p:cNvSpPr txBox="1">
            <a:spLocks noChangeArrowheads="1"/>
          </p:cNvSpPr>
          <p:nvPr/>
        </p:nvSpPr>
        <p:spPr>
          <a:xfrm>
            <a:off x="798691" y="3200188"/>
            <a:ext cx="5085273" cy="201012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dirty="0">
                <a:solidFill>
                  <a:srgbClr val="CC0000"/>
                </a:solidFill>
                <a:ea typeface="MS PGothic" panose="020B0600070205080204" pitchFamily="34" charset="-128"/>
              </a:rPr>
              <a:t>5</a:t>
            </a:r>
            <a:r>
              <a:rPr lang="en-US" altLang="en-US" sz="2400" dirty="0">
                <a:solidFill>
                  <a:srgbClr val="CC0000"/>
                </a:solidFill>
                <a:ea typeface="MS PGothic" panose="020B0600070205080204" pitchFamily="34" charset="-128"/>
              </a:rPr>
              <a:t>.</a:t>
            </a:r>
            <a:r>
              <a:rPr lang="en-US" altLang="en-US" sz="2400" dirty="0">
                <a:ea typeface="MS PGothic" panose="020B0600070205080204" pitchFamily="34" charset="-128"/>
              </a:rPr>
              <a:t> HTTP client receives response message containing html file, displays html.  Parsing html file, finds 10 referenced jpeg  objects</a:t>
            </a:r>
            <a:endParaRPr lang="en-US" altLang="en-US" dirty="0">
              <a:ea typeface="MS PGothic" panose="020B0600070205080204" pitchFamily="34" charset="-128"/>
            </a:endParaRPr>
          </a:p>
        </p:txBody>
      </p:sp>
      <p:sp>
        <p:nvSpPr>
          <p:cNvPr id="60" name="Rectangle 7"/>
          <p:cNvSpPr>
            <a:spLocks noChangeArrowheads="1"/>
          </p:cNvSpPr>
          <p:nvPr/>
        </p:nvSpPr>
        <p:spPr bwMode="auto">
          <a:xfrm>
            <a:off x="970480" y="4851930"/>
            <a:ext cx="3810000"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dirty="0">
                <a:solidFill>
                  <a:srgbClr val="CC0000"/>
                </a:solidFill>
                <a:latin typeface="+mn-lt"/>
              </a:rPr>
              <a:t>6.</a:t>
            </a:r>
            <a:r>
              <a:rPr lang="en-US" altLang="en-US" sz="2400" dirty="0">
                <a:latin typeface="+mn-lt"/>
              </a:rPr>
              <a:t> Steps 1-5 repeated for each of 10 jpeg objects</a:t>
            </a:r>
            <a:endParaRPr lang="en-US" altLang="en-US" sz="2400" dirty="0">
              <a:latin typeface="+mn-lt"/>
            </a:endParaRPr>
          </a:p>
        </p:txBody>
      </p:sp>
      <p:sp>
        <p:nvSpPr>
          <p:cNvPr id="61" name="Rectangle 8"/>
          <p:cNvSpPr>
            <a:spLocks noChangeArrowheads="1"/>
          </p:cNvSpPr>
          <p:nvPr/>
        </p:nvSpPr>
        <p:spPr bwMode="auto">
          <a:xfrm>
            <a:off x="6706580" y="2782360"/>
            <a:ext cx="3810000" cy="73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a:solidFill>
                  <a:srgbClr val="CC0000"/>
                </a:solidFill>
                <a:latin typeface="+mn-lt"/>
              </a:rPr>
              <a:t>4.</a:t>
            </a:r>
            <a:r>
              <a:rPr lang="en-US" altLang="en-US" sz="2400">
                <a:latin typeface="+mn-lt"/>
              </a:rPr>
              <a:t> HTTP server closes TCP connection. </a:t>
            </a:r>
            <a:endParaRPr lang="en-US" altLang="en-US" sz="2400">
              <a:latin typeface="+mn-lt"/>
            </a:endParaRPr>
          </a:p>
        </p:txBody>
      </p:sp>
      <p:sp>
        <p:nvSpPr>
          <p:cNvPr id="65" name="Line 17"/>
          <p:cNvSpPr>
            <a:spLocks noChangeShapeType="1"/>
          </p:cNvSpPr>
          <p:nvPr/>
        </p:nvSpPr>
        <p:spPr bwMode="auto">
          <a:xfrm flipH="1">
            <a:off x="5587465" y="3200187"/>
            <a:ext cx="1095375" cy="523875"/>
          </a:xfrm>
          <a:prstGeom prst="line">
            <a:avLst/>
          </a:prstGeom>
          <a:noFill/>
          <a:ln w="38100">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sz="2000"/>
          </a:p>
        </p:txBody>
      </p:sp>
      <p:sp>
        <p:nvSpPr>
          <p:cNvPr id="66" name="Line 11"/>
          <p:cNvSpPr>
            <a:spLocks noChangeShapeType="1"/>
          </p:cNvSpPr>
          <p:nvPr/>
        </p:nvSpPr>
        <p:spPr bwMode="auto">
          <a:xfrm>
            <a:off x="798691" y="2868166"/>
            <a:ext cx="10658" cy="3480471"/>
          </a:xfrm>
          <a:prstGeom prst="line">
            <a:avLst/>
          </a:prstGeom>
          <a:noFill/>
          <a:ln w="19050">
            <a:solidFill>
              <a:schemeClr val="bg1">
                <a:lumMod val="65000"/>
              </a:schemeClr>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7" name="Rectangle 13"/>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68" name="Text Box 12"/>
          <p:cNvSpPr txBox="1">
            <a:spLocks noChangeArrowheads="1"/>
          </p:cNvSpPr>
          <p:nvPr/>
        </p:nvSpPr>
        <p:spPr bwMode="auto">
          <a:xfrm>
            <a:off x="499883" y="5563771"/>
            <a:ext cx="673100" cy="406400"/>
          </a:xfrm>
          <a:prstGeom prst="rect">
            <a:avLst/>
          </a:prstGeom>
          <a:noFill/>
          <a:ln w="9525">
            <a:solidFill>
              <a:schemeClr val="bg1"/>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dirty="0">
                <a:solidFill>
                  <a:schemeClr val="bg1">
                    <a:lumMod val="65000"/>
                  </a:schemeClr>
                </a:solidFill>
                <a:latin typeface="+mn-lt"/>
              </a:rPr>
              <a:t>time</a:t>
            </a:r>
            <a:endParaRPr lang="en-US" altLang="en-US" dirty="0">
              <a:solidFill>
                <a:schemeClr val="bg1">
                  <a:lumMod val="65000"/>
                </a:schemeClr>
              </a:solidFill>
              <a:latin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dissolve">
                                      <p:cBhvr>
                                        <p:cTn id="7" dur="500"/>
                                        <p:tgtEl>
                                          <p:spTgt spid="61"/>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right)">
                                      <p:cBhvr>
                                        <p:cTn id="11" dur="500"/>
                                        <p:tgtEl>
                                          <p:spTgt spid="6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9">
                                            <p:txEl>
                                              <p:pRg st="0" end="0"/>
                                            </p:txEl>
                                          </p:spTgt>
                                        </p:tgtEl>
                                        <p:attrNameLst>
                                          <p:attrName>style.visibility</p:attrName>
                                        </p:attrNameLst>
                                      </p:cBhvr>
                                      <p:to>
                                        <p:strVal val="visible"/>
                                      </p:to>
                                    </p:set>
                                    <p:animEffect transition="in" filter="dissolve">
                                      <p:cBhvr>
                                        <p:cTn id="15" dur="500"/>
                                        <p:tgtEl>
                                          <p:spTgt spid="59">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0">
                                            <p:txEl>
                                              <p:pRg st="0" end="0"/>
                                            </p:txEl>
                                          </p:spTgt>
                                        </p:tgtEl>
                                        <p:attrNameLst>
                                          <p:attrName>style.visibility</p:attrName>
                                        </p:attrNameLst>
                                      </p:cBhvr>
                                      <p:to>
                                        <p:strVal val="visible"/>
                                      </p:to>
                                    </p:set>
                                    <p:animEffect transition="in" filter="dissolve">
                                      <p:cBhvr>
                                        <p:cTn id="20" dur="500"/>
                                        <p:tgtEl>
                                          <p:spTgt spid="6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build="p"/>
      <p:bldP spid="6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response time</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62" name="Rectangle 3"/>
          <p:cNvSpPr txBox="1">
            <a:spLocks noChangeArrowheads="1"/>
          </p:cNvSpPr>
          <p:nvPr/>
        </p:nvSpPr>
        <p:spPr>
          <a:xfrm>
            <a:off x="649307" y="1636150"/>
            <a:ext cx="5683502" cy="33373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dirty="0">
                <a:solidFill>
                  <a:srgbClr val="CC0000"/>
                </a:solidFill>
                <a:ea typeface="MS PGothic" panose="020B0600070205080204" pitchFamily="34" charset="-128"/>
              </a:rPr>
              <a:t>RTT (definition):</a:t>
            </a:r>
            <a:r>
              <a:rPr lang="en-US" altLang="en-US" dirty="0">
                <a:ea typeface="MS PGothic" panose="020B0600070205080204" pitchFamily="34" charset="-128"/>
              </a:rPr>
              <a:t> time for a small packet to travel from client to server and back</a:t>
            </a:r>
            <a:endParaRPr lang="en-US" altLang="en-US" dirty="0">
              <a:ea typeface="MS PGothic" panose="020B0600070205080204" pitchFamily="34" charset="-128"/>
            </a:endParaRPr>
          </a:p>
          <a:p>
            <a:pPr>
              <a:buFont typeface="Wingdings" panose="05000000000000000000" pitchFamily="2" charset="2"/>
              <a:buNone/>
            </a:pPr>
            <a:r>
              <a:rPr lang="en-US" altLang="en-US" dirty="0">
                <a:solidFill>
                  <a:srgbClr val="CC0000"/>
                </a:solidFill>
                <a:ea typeface="MS PGothic" panose="020B0600070205080204" pitchFamily="34" charset="-128"/>
              </a:rPr>
              <a:t>HTTP response time (per object):</a:t>
            </a:r>
            <a:endParaRPr lang="en-US" altLang="en-US" dirty="0">
              <a:solidFill>
                <a:srgbClr val="CC0000"/>
              </a:solidFill>
              <a:ea typeface="MS PGothic" panose="020B0600070205080204" pitchFamily="34" charset="-128"/>
            </a:endParaRPr>
          </a:p>
          <a:p>
            <a:pPr marL="460375" indent="-215900">
              <a:spcBef>
                <a:spcPts val="400"/>
              </a:spcBef>
            </a:pPr>
            <a:r>
              <a:rPr lang="en-US" altLang="en-US" sz="2400" dirty="0">
                <a:ea typeface="MS PGothic" panose="020B0600070205080204" pitchFamily="34" charset="-128"/>
              </a:rPr>
              <a:t>one RTT to initiate TCP connection</a:t>
            </a:r>
            <a:endParaRPr lang="en-US" altLang="en-US" sz="2400" dirty="0">
              <a:ea typeface="MS PGothic" panose="020B0600070205080204" pitchFamily="34" charset="-128"/>
            </a:endParaRPr>
          </a:p>
          <a:p>
            <a:pPr marL="460375" indent="-215900">
              <a:spcBef>
                <a:spcPts val="400"/>
              </a:spcBef>
            </a:pPr>
            <a:r>
              <a:rPr lang="en-US" altLang="en-US" sz="2400" dirty="0">
                <a:ea typeface="MS PGothic" panose="020B0600070205080204" pitchFamily="34" charset="-128"/>
              </a:rPr>
              <a:t>one RTT for HTTP request and first few bytes of HTTP response to return</a:t>
            </a:r>
            <a:endParaRPr lang="en-US" altLang="en-US" sz="2400" dirty="0">
              <a:ea typeface="MS PGothic" panose="020B0600070205080204" pitchFamily="34" charset="-128"/>
            </a:endParaRPr>
          </a:p>
          <a:p>
            <a:pPr marL="460375" indent="-215900">
              <a:spcBef>
                <a:spcPts val="400"/>
              </a:spcBef>
            </a:pPr>
            <a:r>
              <a:rPr lang="en-US" altLang="en-US" sz="2400" dirty="0" err="1">
                <a:ea typeface="MS PGothic" panose="020B0600070205080204" pitchFamily="34" charset="-128"/>
              </a:rPr>
              <a:t>obect</a:t>
            </a:r>
            <a:r>
              <a:rPr lang="en-US" altLang="en-US" sz="2400" dirty="0">
                <a:ea typeface="MS PGothic" panose="020B0600070205080204" pitchFamily="34" charset="-128"/>
              </a:rPr>
              <a:t>/file transmission time</a:t>
            </a:r>
            <a:endParaRPr lang="en-US" altLang="en-US" sz="2400" dirty="0">
              <a:ea typeface="MS PGothic" panose="020B0600070205080204" pitchFamily="34" charset="-128"/>
            </a:endParaRPr>
          </a:p>
          <a:p>
            <a:pPr>
              <a:buFont typeface="Wingdings" panose="05000000000000000000" pitchFamily="2" charset="2"/>
              <a:buNone/>
            </a:pPr>
            <a:endParaRPr lang="en-US" altLang="en-US" sz="2400" dirty="0">
              <a:ea typeface="MS PGothic" panose="020B0600070205080204" pitchFamily="34" charset="-128"/>
            </a:endParaRPr>
          </a:p>
        </p:txBody>
      </p:sp>
      <p:sp>
        <p:nvSpPr>
          <p:cNvPr id="63" name="Line 15"/>
          <p:cNvSpPr>
            <a:spLocks noChangeShapeType="1"/>
          </p:cNvSpPr>
          <p:nvPr/>
        </p:nvSpPr>
        <p:spPr bwMode="auto">
          <a:xfrm>
            <a:off x="8197229" y="2671284"/>
            <a:ext cx="0" cy="2832100"/>
          </a:xfrm>
          <a:prstGeom prst="line">
            <a:avLst/>
          </a:prstGeom>
          <a:noFill/>
          <a:ln w="9525">
            <a:solidFill>
              <a:srgbClr val="FF0000"/>
            </a:solidFill>
            <a:prstDash val="sysDot"/>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64" name="Line 16"/>
          <p:cNvSpPr>
            <a:spLocks noChangeShapeType="1"/>
          </p:cNvSpPr>
          <p:nvPr/>
        </p:nvSpPr>
        <p:spPr bwMode="auto">
          <a:xfrm>
            <a:off x="9887916" y="2664934"/>
            <a:ext cx="0" cy="2881312"/>
          </a:xfrm>
          <a:prstGeom prst="line">
            <a:avLst/>
          </a:prstGeom>
          <a:noFill/>
          <a:ln w="9525">
            <a:solidFill>
              <a:srgbClr val="FF0000"/>
            </a:solidFill>
            <a:prstDash val="sysDot"/>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69" name="Line 17"/>
          <p:cNvSpPr>
            <a:spLocks noChangeShapeType="1"/>
          </p:cNvSpPr>
          <p:nvPr/>
        </p:nvSpPr>
        <p:spPr bwMode="auto">
          <a:xfrm>
            <a:off x="8211516" y="2903059"/>
            <a:ext cx="1684338" cy="390525"/>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70" name="Line 18"/>
          <p:cNvSpPr>
            <a:spLocks noChangeShapeType="1"/>
          </p:cNvSpPr>
          <p:nvPr/>
        </p:nvSpPr>
        <p:spPr bwMode="auto">
          <a:xfrm flipH="1">
            <a:off x="8197229" y="3341209"/>
            <a:ext cx="1673225" cy="403225"/>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71" name="Line 19"/>
          <p:cNvSpPr>
            <a:spLocks noChangeShapeType="1"/>
          </p:cNvSpPr>
          <p:nvPr/>
        </p:nvSpPr>
        <p:spPr bwMode="auto">
          <a:xfrm>
            <a:off x="8205166" y="3849209"/>
            <a:ext cx="1684338" cy="390525"/>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73" name="AutoShape 21"/>
          <p:cNvSpPr/>
          <p:nvPr/>
        </p:nvSpPr>
        <p:spPr bwMode="auto">
          <a:xfrm>
            <a:off x="9903942" y="4249143"/>
            <a:ext cx="99857" cy="161739"/>
          </a:xfrm>
          <a:prstGeom prst="rightBrace">
            <a:avLst>
              <a:gd name="adj1" fmla="val 20390"/>
              <a:gd name="adj2" fmla="val 50000"/>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3200">
              <a:latin typeface="+mn-lt"/>
            </a:endParaRPr>
          </a:p>
        </p:txBody>
      </p:sp>
      <p:sp>
        <p:nvSpPr>
          <p:cNvPr id="74" name="Text Box 22"/>
          <p:cNvSpPr txBox="1">
            <a:spLocks noChangeArrowheads="1"/>
          </p:cNvSpPr>
          <p:nvPr/>
        </p:nvSpPr>
        <p:spPr bwMode="auto">
          <a:xfrm>
            <a:off x="9997454" y="3944459"/>
            <a:ext cx="1123577"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spcBef>
                <a:spcPct val="0"/>
              </a:spcBef>
              <a:buClrTx/>
              <a:buSzTx/>
              <a:buFontTx/>
              <a:buNone/>
            </a:pPr>
            <a:r>
              <a:rPr lang="en-US" altLang="en-US">
                <a:solidFill>
                  <a:srgbClr val="CC0000"/>
                </a:solidFill>
                <a:latin typeface="+mn-lt"/>
              </a:rPr>
              <a:t>time to </a:t>
            </a:r>
            <a:endParaRPr lang="en-US" altLang="en-US">
              <a:solidFill>
                <a:srgbClr val="CC0000"/>
              </a:solidFill>
              <a:latin typeface="+mn-lt"/>
            </a:endParaRPr>
          </a:p>
          <a:p>
            <a:pPr>
              <a:lnSpc>
                <a:spcPct val="85000"/>
              </a:lnSpc>
              <a:spcBef>
                <a:spcPct val="0"/>
              </a:spcBef>
              <a:buClrTx/>
              <a:buSzTx/>
              <a:buFontTx/>
              <a:buNone/>
            </a:pPr>
            <a:r>
              <a:rPr lang="en-US" altLang="en-US">
                <a:solidFill>
                  <a:srgbClr val="CC0000"/>
                </a:solidFill>
                <a:latin typeface="+mn-lt"/>
              </a:rPr>
              <a:t>transmit </a:t>
            </a:r>
            <a:endParaRPr lang="en-US" altLang="en-US">
              <a:solidFill>
                <a:srgbClr val="CC0000"/>
              </a:solidFill>
              <a:latin typeface="+mn-lt"/>
            </a:endParaRPr>
          </a:p>
          <a:p>
            <a:pPr>
              <a:lnSpc>
                <a:spcPct val="85000"/>
              </a:lnSpc>
              <a:spcBef>
                <a:spcPct val="0"/>
              </a:spcBef>
              <a:buClrTx/>
              <a:buSzTx/>
              <a:buFontTx/>
              <a:buNone/>
            </a:pPr>
            <a:r>
              <a:rPr lang="en-US" altLang="en-US">
                <a:solidFill>
                  <a:srgbClr val="CC0000"/>
                </a:solidFill>
                <a:latin typeface="+mn-lt"/>
              </a:rPr>
              <a:t>file</a:t>
            </a:r>
            <a:endParaRPr lang="en-US" altLang="en-US">
              <a:solidFill>
                <a:srgbClr val="CC0000"/>
              </a:solidFill>
              <a:latin typeface="+mn-lt"/>
            </a:endParaRPr>
          </a:p>
        </p:txBody>
      </p:sp>
      <p:sp>
        <p:nvSpPr>
          <p:cNvPr id="75" name="Line 23"/>
          <p:cNvSpPr>
            <a:spLocks noChangeShapeType="1"/>
          </p:cNvSpPr>
          <p:nvPr/>
        </p:nvSpPr>
        <p:spPr bwMode="auto">
          <a:xfrm>
            <a:off x="7806704" y="2877659"/>
            <a:ext cx="390525" cy="158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p>
        </p:txBody>
      </p:sp>
      <p:sp>
        <p:nvSpPr>
          <p:cNvPr id="76" name="Text Box 24"/>
          <p:cNvSpPr txBox="1">
            <a:spLocks noChangeArrowheads="1"/>
          </p:cNvSpPr>
          <p:nvPr/>
        </p:nvSpPr>
        <p:spPr bwMode="auto">
          <a:xfrm>
            <a:off x="6516660" y="2563010"/>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spcBef>
                <a:spcPct val="0"/>
              </a:spcBef>
              <a:buClrTx/>
              <a:buSzTx/>
              <a:buFontTx/>
              <a:buNone/>
            </a:pPr>
            <a:r>
              <a:rPr lang="en-US" altLang="en-US" dirty="0">
                <a:solidFill>
                  <a:srgbClr val="CC0000"/>
                </a:solidFill>
                <a:latin typeface="+mn-lt"/>
              </a:rPr>
              <a:t>initiate TCP</a:t>
            </a:r>
            <a:endParaRPr lang="en-US" altLang="en-US" dirty="0">
              <a:solidFill>
                <a:srgbClr val="CC0000"/>
              </a:solidFill>
              <a:latin typeface="+mn-lt"/>
            </a:endParaRPr>
          </a:p>
          <a:p>
            <a:pPr>
              <a:lnSpc>
                <a:spcPct val="85000"/>
              </a:lnSpc>
              <a:spcBef>
                <a:spcPct val="0"/>
              </a:spcBef>
              <a:buClrTx/>
              <a:buSzTx/>
              <a:buFontTx/>
              <a:buNone/>
            </a:pPr>
            <a:r>
              <a:rPr lang="en-US" altLang="en-US" dirty="0">
                <a:solidFill>
                  <a:srgbClr val="CC0000"/>
                </a:solidFill>
                <a:latin typeface="+mn-lt"/>
              </a:rPr>
              <a:t>connection</a:t>
            </a:r>
            <a:endParaRPr lang="en-US" altLang="en-US" dirty="0">
              <a:solidFill>
                <a:srgbClr val="CC0000"/>
              </a:solidFill>
              <a:latin typeface="+mn-lt"/>
            </a:endParaRPr>
          </a:p>
        </p:txBody>
      </p:sp>
      <p:sp>
        <p:nvSpPr>
          <p:cNvPr id="77" name="AutoShape 25"/>
          <p:cNvSpPr/>
          <p:nvPr/>
        </p:nvSpPr>
        <p:spPr bwMode="auto">
          <a:xfrm>
            <a:off x="7941641" y="2928459"/>
            <a:ext cx="128588" cy="803275"/>
          </a:xfrm>
          <a:prstGeom prst="leftBrace">
            <a:avLst>
              <a:gd name="adj1" fmla="val 52057"/>
              <a:gd name="adj2" fmla="val 50000"/>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pPr>
            <a:endParaRPr lang="en-US" altLang="en-US" sz="3200">
              <a:latin typeface="+mn-lt"/>
            </a:endParaRPr>
          </a:p>
        </p:txBody>
      </p:sp>
      <p:sp>
        <p:nvSpPr>
          <p:cNvPr id="78" name="Text Box 26"/>
          <p:cNvSpPr txBox="1">
            <a:spLocks noChangeArrowheads="1"/>
          </p:cNvSpPr>
          <p:nvPr/>
        </p:nvSpPr>
        <p:spPr bwMode="auto">
          <a:xfrm>
            <a:off x="7459041" y="3139596"/>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spcBef>
                <a:spcPct val="0"/>
              </a:spcBef>
              <a:buClrTx/>
              <a:buSzTx/>
              <a:buFontTx/>
              <a:buNone/>
            </a:pPr>
            <a:r>
              <a:rPr lang="en-US" altLang="en-US">
                <a:latin typeface="+mn-lt"/>
              </a:rPr>
              <a:t>RTT</a:t>
            </a:r>
            <a:endParaRPr lang="en-US" altLang="en-US">
              <a:latin typeface="+mn-lt"/>
            </a:endParaRPr>
          </a:p>
        </p:txBody>
      </p:sp>
      <p:sp>
        <p:nvSpPr>
          <p:cNvPr id="79" name="Line 27"/>
          <p:cNvSpPr>
            <a:spLocks noChangeShapeType="1"/>
          </p:cNvSpPr>
          <p:nvPr/>
        </p:nvSpPr>
        <p:spPr bwMode="auto">
          <a:xfrm>
            <a:off x="7855916" y="3782534"/>
            <a:ext cx="354013"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p>
        </p:txBody>
      </p:sp>
      <p:sp>
        <p:nvSpPr>
          <p:cNvPr id="80" name="Text Box 28"/>
          <p:cNvSpPr txBox="1">
            <a:spLocks noChangeArrowheads="1"/>
          </p:cNvSpPr>
          <p:nvPr/>
        </p:nvSpPr>
        <p:spPr bwMode="auto">
          <a:xfrm>
            <a:off x="6493113" y="3589815"/>
            <a:ext cx="1969956"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spcBef>
                <a:spcPct val="0"/>
              </a:spcBef>
              <a:buClrTx/>
              <a:buSzTx/>
              <a:buFontTx/>
              <a:buNone/>
            </a:pPr>
            <a:r>
              <a:rPr lang="en-US" altLang="en-US" dirty="0">
                <a:solidFill>
                  <a:srgbClr val="CC0000"/>
                </a:solidFill>
                <a:latin typeface="+mn-lt"/>
              </a:rPr>
              <a:t>request file</a:t>
            </a:r>
            <a:endParaRPr lang="en-US" altLang="en-US" dirty="0">
              <a:solidFill>
                <a:srgbClr val="CC0000"/>
              </a:solidFill>
              <a:latin typeface="+mn-lt"/>
            </a:endParaRPr>
          </a:p>
        </p:txBody>
      </p:sp>
      <p:sp>
        <p:nvSpPr>
          <p:cNvPr id="81" name="AutoShape 29"/>
          <p:cNvSpPr/>
          <p:nvPr/>
        </p:nvSpPr>
        <p:spPr bwMode="auto">
          <a:xfrm>
            <a:off x="7947991" y="3838096"/>
            <a:ext cx="128588" cy="803275"/>
          </a:xfrm>
          <a:prstGeom prst="leftBrace">
            <a:avLst>
              <a:gd name="adj1" fmla="val 52057"/>
              <a:gd name="adj2" fmla="val 50000"/>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pPr>
            <a:endParaRPr lang="en-US" altLang="en-US" sz="3200">
              <a:latin typeface="+mn-lt"/>
            </a:endParaRPr>
          </a:p>
        </p:txBody>
      </p:sp>
      <p:sp>
        <p:nvSpPr>
          <p:cNvPr id="82" name="Text Box 30"/>
          <p:cNvSpPr txBox="1">
            <a:spLocks noChangeArrowheads="1"/>
          </p:cNvSpPr>
          <p:nvPr/>
        </p:nvSpPr>
        <p:spPr bwMode="auto">
          <a:xfrm>
            <a:off x="7478091" y="4061934"/>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spcBef>
                <a:spcPct val="0"/>
              </a:spcBef>
              <a:buClrTx/>
              <a:buSzTx/>
              <a:buFontTx/>
              <a:buNone/>
            </a:pPr>
            <a:r>
              <a:rPr lang="en-US" altLang="en-US">
                <a:latin typeface="+mn-lt"/>
              </a:rPr>
              <a:t>RTT</a:t>
            </a:r>
            <a:endParaRPr lang="en-US" altLang="en-US">
              <a:latin typeface="+mn-lt"/>
            </a:endParaRPr>
          </a:p>
        </p:txBody>
      </p:sp>
      <p:sp>
        <p:nvSpPr>
          <p:cNvPr id="83" name="Line 35"/>
          <p:cNvSpPr>
            <a:spLocks noChangeShapeType="1"/>
          </p:cNvSpPr>
          <p:nvPr/>
        </p:nvSpPr>
        <p:spPr bwMode="auto">
          <a:xfrm flipH="1">
            <a:off x="7818988" y="4805006"/>
            <a:ext cx="361323" cy="223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p>
        </p:txBody>
      </p:sp>
      <p:sp>
        <p:nvSpPr>
          <p:cNvPr id="84" name="Text Box 36"/>
          <p:cNvSpPr txBox="1">
            <a:spLocks noChangeArrowheads="1"/>
          </p:cNvSpPr>
          <p:nvPr/>
        </p:nvSpPr>
        <p:spPr bwMode="auto">
          <a:xfrm>
            <a:off x="6405684" y="4617233"/>
            <a:ext cx="1647627"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spcBef>
                <a:spcPct val="0"/>
              </a:spcBef>
              <a:buClrTx/>
              <a:buSzTx/>
              <a:buFontTx/>
              <a:buNone/>
            </a:pPr>
            <a:r>
              <a:rPr lang="en-US" altLang="en-US" dirty="0">
                <a:solidFill>
                  <a:srgbClr val="CC0000"/>
                </a:solidFill>
                <a:latin typeface="+mn-lt"/>
              </a:rPr>
              <a:t>file received</a:t>
            </a:r>
            <a:endParaRPr lang="en-US" altLang="en-US" dirty="0">
              <a:solidFill>
                <a:srgbClr val="CC0000"/>
              </a:solidFill>
              <a:latin typeface="+mn-lt"/>
            </a:endParaRPr>
          </a:p>
        </p:txBody>
      </p:sp>
      <p:sp>
        <p:nvSpPr>
          <p:cNvPr id="85" name="Text Box 37"/>
          <p:cNvSpPr txBox="1">
            <a:spLocks noChangeArrowheads="1"/>
          </p:cNvSpPr>
          <p:nvPr/>
        </p:nvSpPr>
        <p:spPr bwMode="auto">
          <a:xfrm>
            <a:off x="7971804" y="5517671"/>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spcBef>
                <a:spcPct val="0"/>
              </a:spcBef>
              <a:buClrTx/>
              <a:buSzTx/>
              <a:buFontTx/>
              <a:buNone/>
            </a:pPr>
            <a:r>
              <a:rPr lang="en-US" altLang="en-US">
                <a:latin typeface="+mn-lt"/>
              </a:rPr>
              <a:t>time</a:t>
            </a:r>
            <a:endParaRPr lang="en-US" altLang="en-US">
              <a:latin typeface="+mn-lt"/>
            </a:endParaRPr>
          </a:p>
        </p:txBody>
      </p:sp>
      <p:sp>
        <p:nvSpPr>
          <p:cNvPr id="86" name="Text Box 38"/>
          <p:cNvSpPr txBox="1">
            <a:spLocks noChangeArrowheads="1"/>
          </p:cNvSpPr>
          <p:nvPr/>
        </p:nvSpPr>
        <p:spPr bwMode="auto">
          <a:xfrm>
            <a:off x="9649791" y="5500209"/>
            <a:ext cx="6639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a:latin typeface="+mn-lt"/>
              </a:rPr>
              <a:t>time</a:t>
            </a:r>
            <a:endParaRPr lang="en-US" altLang="en-US">
              <a:latin typeface="+mn-lt"/>
            </a:endParaRPr>
          </a:p>
        </p:txBody>
      </p:sp>
      <p:grpSp>
        <p:nvGrpSpPr>
          <p:cNvPr id="87" name="Group 43"/>
          <p:cNvGrpSpPr/>
          <p:nvPr/>
        </p:nvGrpSpPr>
        <p:grpSpPr bwMode="auto">
          <a:xfrm>
            <a:off x="9687891" y="1898171"/>
            <a:ext cx="423863" cy="684213"/>
            <a:chOff x="4140" y="429"/>
            <a:chExt cx="1425" cy="2396"/>
          </a:xfrm>
        </p:grpSpPr>
        <p:sp>
          <p:nvSpPr>
            <p:cNvPr id="88" name="Freeform 44"/>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sp>
          <p:nvSpPr>
            <p:cNvPr id="89" name="Rectangle 45"/>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90" name="Freeform 46"/>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sp>
          <p:nvSpPr>
            <p:cNvPr id="91" name="Freeform 47"/>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sp>
          <p:nvSpPr>
            <p:cNvPr id="92" name="Rectangle 48"/>
            <p:cNvSpPr>
              <a:spLocks noChangeArrowheads="1"/>
            </p:cNvSpPr>
            <p:nvPr/>
          </p:nvSpPr>
          <p:spPr bwMode="auto">
            <a:xfrm>
              <a:off x="4209" y="690"/>
              <a:ext cx="598"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nvGrpSpPr>
            <p:cNvPr id="93" name="Group 49"/>
            <p:cNvGrpSpPr/>
            <p:nvPr/>
          </p:nvGrpSpPr>
          <p:grpSpPr bwMode="auto">
            <a:xfrm>
              <a:off x="4749" y="668"/>
              <a:ext cx="581" cy="145"/>
              <a:chOff x="614" y="2568"/>
              <a:chExt cx="725" cy="139"/>
            </a:xfrm>
          </p:grpSpPr>
          <p:sp>
            <p:nvSpPr>
              <p:cNvPr id="118" name="AutoShape 50"/>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119" name="AutoShape 51"/>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sp>
          <p:nvSpPr>
            <p:cNvPr id="94" name="Rectangle 52"/>
            <p:cNvSpPr>
              <a:spLocks noChangeArrowheads="1"/>
            </p:cNvSpPr>
            <p:nvPr/>
          </p:nvSpPr>
          <p:spPr bwMode="auto">
            <a:xfrm>
              <a:off x="4225" y="1018"/>
              <a:ext cx="592"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nvGrpSpPr>
            <p:cNvPr id="95" name="Group 53"/>
            <p:cNvGrpSpPr/>
            <p:nvPr/>
          </p:nvGrpSpPr>
          <p:grpSpPr bwMode="auto">
            <a:xfrm>
              <a:off x="4747" y="994"/>
              <a:ext cx="581" cy="134"/>
              <a:chOff x="614" y="2568"/>
              <a:chExt cx="725" cy="139"/>
            </a:xfrm>
          </p:grpSpPr>
          <p:sp>
            <p:nvSpPr>
              <p:cNvPr id="116" name="AutoShape 54"/>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117" name="AutoShape 55"/>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sp>
          <p:nvSpPr>
            <p:cNvPr id="96" name="Rectangle 56"/>
            <p:cNvSpPr>
              <a:spLocks noChangeArrowheads="1"/>
            </p:cNvSpPr>
            <p:nvPr/>
          </p:nvSpPr>
          <p:spPr bwMode="auto">
            <a:xfrm>
              <a:off x="4215" y="1357"/>
              <a:ext cx="598"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97" name="Rectangle 57"/>
            <p:cNvSpPr>
              <a:spLocks noChangeArrowheads="1"/>
            </p:cNvSpPr>
            <p:nvPr/>
          </p:nvSpPr>
          <p:spPr bwMode="auto">
            <a:xfrm>
              <a:off x="4225" y="1658"/>
              <a:ext cx="598"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nvGrpSpPr>
            <p:cNvPr id="98" name="Group 58"/>
            <p:cNvGrpSpPr/>
            <p:nvPr/>
          </p:nvGrpSpPr>
          <p:grpSpPr bwMode="auto">
            <a:xfrm>
              <a:off x="4735" y="1627"/>
              <a:ext cx="582" cy="151"/>
              <a:chOff x="614" y="2568"/>
              <a:chExt cx="725" cy="139"/>
            </a:xfrm>
          </p:grpSpPr>
          <p:sp>
            <p:nvSpPr>
              <p:cNvPr id="114" name="AutoShape 59"/>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115" name="AutoShape 60"/>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sp>
          <p:nvSpPr>
            <p:cNvPr id="99" name="Freeform 61"/>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grpSp>
          <p:nvGrpSpPr>
            <p:cNvPr id="100" name="Group 62"/>
            <p:cNvGrpSpPr/>
            <p:nvPr/>
          </p:nvGrpSpPr>
          <p:grpSpPr bwMode="auto">
            <a:xfrm>
              <a:off x="4739" y="1327"/>
              <a:ext cx="582" cy="139"/>
              <a:chOff x="614" y="2568"/>
              <a:chExt cx="725" cy="139"/>
            </a:xfrm>
          </p:grpSpPr>
          <p:sp>
            <p:nvSpPr>
              <p:cNvPr id="112" name="AutoShape 63"/>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113" name="AutoShape 64"/>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sp>
          <p:nvSpPr>
            <p:cNvPr id="101" name="Rectangle 65"/>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102" name="Freeform 66"/>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sp>
          <p:nvSpPr>
            <p:cNvPr id="103" name="Freeform 67"/>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sp>
          <p:nvSpPr>
            <p:cNvPr id="104" name="Oval 68"/>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105" name="Freeform 69"/>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sp>
          <p:nvSpPr>
            <p:cNvPr id="106" name="AutoShape 70"/>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107" name="AutoShape 71"/>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108" name="Oval 72"/>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109" name="Oval 73"/>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2400">
                <a:solidFill>
                  <a:srgbClr val="FF0000"/>
                </a:solidFill>
                <a:latin typeface="+mn-lt"/>
                <a:cs typeface="Arial" panose="020B0604020202020204" pitchFamily="34" charset="0"/>
              </a:endParaRPr>
            </a:p>
          </p:txBody>
        </p:sp>
        <p:sp>
          <p:nvSpPr>
            <p:cNvPr id="110" name="Oval 74"/>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111" name="Rectangle 75"/>
            <p:cNvSpPr>
              <a:spLocks noChangeArrowheads="1"/>
            </p:cNvSpPr>
            <p:nvPr/>
          </p:nvSpPr>
          <p:spPr bwMode="auto">
            <a:xfrm>
              <a:off x="5063" y="1835"/>
              <a:ext cx="85" cy="762"/>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grpSp>
        <p:nvGrpSpPr>
          <p:cNvPr id="120" name="Group 76"/>
          <p:cNvGrpSpPr/>
          <p:nvPr/>
        </p:nvGrpSpPr>
        <p:grpSpPr bwMode="auto">
          <a:xfrm>
            <a:off x="7686054" y="1920396"/>
            <a:ext cx="698500" cy="709613"/>
            <a:chOff x="-44" y="1473"/>
            <a:chExt cx="981" cy="1105"/>
          </a:xfrm>
        </p:grpSpPr>
        <p:pic>
          <p:nvPicPr>
            <p:cNvPr id="121" name="Picture 77"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78"/>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400"/>
            </a:p>
          </p:txBody>
        </p:sp>
      </p:grpSp>
      <p:sp>
        <p:nvSpPr>
          <p:cNvPr id="2" name="Freeform 1"/>
          <p:cNvSpPr/>
          <p:nvPr/>
        </p:nvSpPr>
        <p:spPr>
          <a:xfrm>
            <a:off x="8188984" y="4246818"/>
            <a:ext cx="1700270" cy="558188"/>
          </a:xfrm>
          <a:custGeom>
            <a:avLst/>
            <a:gdLst>
              <a:gd name="connsiteX0" fmla="*/ 0 w 1700270"/>
              <a:gd name="connsiteY0" fmla="*/ 389262 h 543498"/>
              <a:gd name="connsiteX1" fmla="*/ 1700270 w 1700270"/>
              <a:gd name="connsiteY1" fmla="*/ 0 h 543498"/>
              <a:gd name="connsiteX2" fmla="*/ 1696598 w 1700270"/>
              <a:gd name="connsiteY2" fmla="*/ 176269 h 543498"/>
              <a:gd name="connsiteX3" fmla="*/ 0 w 1700270"/>
              <a:gd name="connsiteY3" fmla="*/ 543498 h 543498"/>
              <a:gd name="connsiteX4" fmla="*/ 0 w 1700270"/>
              <a:gd name="connsiteY4" fmla="*/ 389262 h 543498"/>
              <a:gd name="connsiteX0-1" fmla="*/ 0 w 1700270"/>
              <a:gd name="connsiteY0-2" fmla="*/ 389262 h 558188"/>
              <a:gd name="connsiteX1-3" fmla="*/ 1700270 w 1700270"/>
              <a:gd name="connsiteY1-4" fmla="*/ 0 h 558188"/>
              <a:gd name="connsiteX2-5" fmla="*/ 1696598 w 1700270"/>
              <a:gd name="connsiteY2-6" fmla="*/ 176269 h 558188"/>
              <a:gd name="connsiteX3-7" fmla="*/ 7344 w 1700270"/>
              <a:gd name="connsiteY3-8" fmla="*/ 558188 h 558188"/>
              <a:gd name="connsiteX4-9" fmla="*/ 0 w 1700270"/>
              <a:gd name="connsiteY4-10" fmla="*/ 389262 h 55818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700270" h="558188">
                <a:moveTo>
                  <a:pt x="0" y="389262"/>
                </a:moveTo>
                <a:lnTo>
                  <a:pt x="1700270" y="0"/>
                </a:lnTo>
                <a:lnTo>
                  <a:pt x="1696598" y="176269"/>
                </a:lnTo>
                <a:lnTo>
                  <a:pt x="7344" y="558188"/>
                </a:lnTo>
                <a:lnTo>
                  <a:pt x="0" y="389262"/>
                </a:lnTo>
                <a:close/>
              </a:path>
            </a:pathLst>
          </a:custGeom>
          <a:solidFill>
            <a:srgbClr val="0000A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AutoShape 21"/>
          <p:cNvSpPr/>
          <p:nvPr/>
        </p:nvSpPr>
        <p:spPr bwMode="auto">
          <a:xfrm flipH="1" flipV="1">
            <a:off x="8069711" y="4643267"/>
            <a:ext cx="99857" cy="161739"/>
          </a:xfrm>
          <a:prstGeom prst="rightBrace">
            <a:avLst>
              <a:gd name="adj1" fmla="val 20390"/>
              <a:gd name="adj2" fmla="val 50000"/>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3200">
              <a:latin typeface="+mn-lt"/>
            </a:endParaRPr>
          </a:p>
        </p:txBody>
      </p:sp>
      <p:sp>
        <p:nvSpPr>
          <p:cNvPr id="4" name="TextBox 3"/>
          <p:cNvSpPr txBox="1"/>
          <p:nvPr/>
        </p:nvSpPr>
        <p:spPr>
          <a:xfrm>
            <a:off x="1056514" y="5919854"/>
            <a:ext cx="9257241" cy="738664"/>
          </a:xfrm>
          <a:prstGeom prst="rect">
            <a:avLst/>
          </a:prstGeom>
          <a:noFill/>
        </p:spPr>
        <p:txBody>
          <a:bodyPr wrap="square" rtlCol="0">
            <a:spAutoFit/>
          </a:bodyPr>
          <a:lstStyle/>
          <a:p>
            <a:r>
              <a:rPr lang="en-US" altLang="en-US" sz="2400" i="1" dirty="0">
                <a:ea typeface="MS PGothic" panose="020B0600070205080204" pitchFamily="34" charset="-128"/>
              </a:rPr>
              <a:t>Non-persistent HTTP response time =  2RTT+ file transmission  time</a:t>
            </a:r>
            <a:endParaRPr lang="en-US" altLang="en-US" sz="2400" i="1" dirty="0">
              <a:ea typeface="MS PGothic" panose="020B0600070205080204" pitchFamily="34" charset="-128"/>
            </a:endParaRPr>
          </a:p>
          <a:p>
            <a:endParaRPr lang="en-US" dirty="0"/>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Persistent HTTP </a:t>
            </a:r>
            <a:r>
              <a:rPr lang="en-US" altLang="en-US" sz="3200" dirty="0">
                <a:cs typeface="Calibri" panose="020F0502020204030204" pitchFamily="34" charset="0"/>
              </a:rPr>
              <a:t>(HTTP 1.1)</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6" name="Rectangle 3"/>
          <p:cNvSpPr txBox="1">
            <a:spLocks noChangeArrowheads="1"/>
          </p:cNvSpPr>
          <p:nvPr/>
        </p:nvSpPr>
        <p:spPr>
          <a:xfrm>
            <a:off x="798691" y="1401764"/>
            <a:ext cx="516554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505" indent="-215900">
              <a:buFont typeface="Wingdings" panose="05000000000000000000" charset="0"/>
              <a:buNone/>
              <a:defRPr/>
            </a:pPr>
            <a:r>
              <a:rPr lang="en-US" sz="3200" i="1" dirty="0">
                <a:solidFill>
                  <a:srgbClr val="CC0000"/>
                </a:solidFill>
              </a:rPr>
              <a:t>Non-persistent HTTP issues:</a:t>
            </a:r>
            <a:endParaRPr lang="en-US" sz="3200" i="1" dirty="0">
              <a:solidFill>
                <a:srgbClr val="CC0000"/>
              </a:solidFill>
            </a:endParaRPr>
          </a:p>
          <a:p>
            <a:pPr marL="346075" indent="-217805">
              <a:buFont typeface="Wingdings" panose="05000000000000000000" pitchFamily="2" charset="2"/>
              <a:buChar char="§"/>
              <a:defRPr/>
            </a:pPr>
            <a:r>
              <a:rPr lang="en-US" dirty="0"/>
              <a:t>requires 2 RTTs per object</a:t>
            </a:r>
            <a:endParaRPr lang="en-US" dirty="0"/>
          </a:p>
          <a:p>
            <a:pPr marL="346075" indent="-217805">
              <a:buFont typeface="Wingdings" panose="05000000000000000000" pitchFamily="2" charset="2"/>
              <a:buChar char="§"/>
              <a:defRPr/>
            </a:pPr>
            <a:r>
              <a:rPr lang="en-US" dirty="0"/>
              <a:t>OS overhead for </a:t>
            </a:r>
            <a:r>
              <a:rPr lang="en-US" i="1" dirty="0"/>
              <a:t>each</a:t>
            </a:r>
            <a:r>
              <a:rPr lang="en-US" dirty="0"/>
              <a:t> TCP connection</a:t>
            </a:r>
            <a:endParaRPr lang="en-US" dirty="0"/>
          </a:p>
          <a:p>
            <a:pPr marL="346075" indent="-217805">
              <a:buFont typeface="Wingdings" panose="05000000000000000000" pitchFamily="2" charset="2"/>
              <a:buChar char="§"/>
              <a:defRPr/>
            </a:pPr>
            <a:r>
              <a:rPr lang="en-US" dirty="0"/>
              <a:t>browsers often open multiple parallel TCP connections to fetch referenced objects in parallel</a:t>
            </a:r>
            <a:endParaRPr lang="en-US" dirty="0"/>
          </a:p>
          <a:p>
            <a:pPr>
              <a:buFont typeface="Wingdings" panose="05000000000000000000" charset="0"/>
              <a:buNone/>
              <a:defRPr/>
            </a:pPr>
            <a:endParaRPr lang="en-US" sz="2400" dirty="0"/>
          </a:p>
          <a:p>
            <a:pPr>
              <a:buFont typeface="Wingdings" panose="05000000000000000000" pitchFamily="2" charset="2"/>
              <a:buChar char="§"/>
              <a:defRPr/>
            </a:pPr>
            <a:endParaRPr lang="en-US" sz="2000" dirty="0"/>
          </a:p>
          <a:p>
            <a:pPr>
              <a:buFont typeface="Wingdings" panose="05000000000000000000" pitchFamily="2" charset="2"/>
              <a:buChar char="§"/>
              <a:defRPr/>
            </a:pPr>
            <a:endParaRPr lang="en-US" sz="2000" dirty="0"/>
          </a:p>
        </p:txBody>
      </p:sp>
      <p:sp>
        <p:nvSpPr>
          <p:cNvPr id="7" name="Rectangle 10"/>
          <p:cNvSpPr txBox="1">
            <a:spLocks noChangeArrowheads="1"/>
          </p:cNvSpPr>
          <p:nvPr/>
        </p:nvSpPr>
        <p:spPr>
          <a:xfrm>
            <a:off x="6227762" y="1414463"/>
            <a:ext cx="573505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505" indent="-215900">
              <a:buFont typeface="Wingdings" panose="05000000000000000000" charset="0"/>
              <a:buNone/>
              <a:defRPr/>
            </a:pPr>
            <a:r>
              <a:rPr lang="en-US" sz="3200" i="1" dirty="0">
                <a:solidFill>
                  <a:srgbClr val="CC0000"/>
                </a:solidFill>
              </a:rPr>
              <a:t>Persistent  HTTP </a:t>
            </a:r>
            <a:r>
              <a:rPr lang="en-US" sz="2400" i="1" dirty="0">
                <a:solidFill>
                  <a:srgbClr val="CC0000"/>
                </a:solidFill>
              </a:rPr>
              <a:t>(HTTP1.1):</a:t>
            </a:r>
            <a:endParaRPr lang="en-US" sz="3200" i="1" dirty="0">
              <a:solidFill>
                <a:srgbClr val="CC0000"/>
              </a:solidFill>
            </a:endParaRPr>
          </a:p>
          <a:p>
            <a:pPr marL="346075" indent="-217805">
              <a:buFont typeface="Wingdings" panose="05000000000000000000" pitchFamily="2" charset="2"/>
              <a:buChar char="§"/>
              <a:defRPr/>
            </a:pPr>
            <a:r>
              <a:rPr lang="en-US" dirty="0"/>
              <a:t>server leaves connection open after sending response</a:t>
            </a:r>
            <a:endParaRPr lang="en-US" dirty="0"/>
          </a:p>
          <a:p>
            <a:pPr marL="346075" indent="-217805">
              <a:buFont typeface="Wingdings" panose="05000000000000000000" pitchFamily="2" charset="2"/>
              <a:buChar char="§"/>
              <a:defRPr/>
            </a:pPr>
            <a:r>
              <a:rPr lang="en-US" dirty="0"/>
              <a:t>subsequent HTTP messages  between same client/server sent over open connection</a:t>
            </a:r>
            <a:endParaRPr lang="en-US" dirty="0"/>
          </a:p>
          <a:p>
            <a:pPr marL="346075" indent="-217805">
              <a:buFont typeface="Wingdings" panose="05000000000000000000" pitchFamily="2" charset="2"/>
              <a:buChar char="§"/>
              <a:defRPr/>
            </a:pPr>
            <a:r>
              <a:rPr lang="en-US" dirty="0"/>
              <a:t>client sends requests as soon as it encounters a referenced object</a:t>
            </a:r>
            <a:endParaRPr lang="en-US" dirty="0"/>
          </a:p>
          <a:p>
            <a:pPr marL="346075" indent="-217805">
              <a:buFont typeface="Wingdings" panose="05000000000000000000" pitchFamily="2" charset="2"/>
              <a:buChar char="§"/>
              <a:defRPr/>
            </a:pPr>
            <a:r>
              <a:rPr lang="en-US" dirty="0"/>
              <a:t>as little as one RTT for all the referenced objects (cutting response time in half)</a:t>
            </a:r>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request </a:t>
            </a:r>
            <a:r>
              <a:rPr lang="en-US" altLang="en-US" dirty="0">
                <a:cs typeface="Calibri" panose="020F0502020204030204" pitchFamily="34" charset="0"/>
              </a:rPr>
              <a:t>m</a:t>
            </a:r>
            <a:r>
              <a:rPr lang="en-US" altLang="en-US" sz="4400" dirty="0">
                <a:cs typeface="Calibri" panose="020F0502020204030204" pitchFamily="34" charset="0"/>
              </a:rPr>
              <a:t>essage</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8" name="Rectangle 3"/>
          <p:cNvSpPr txBox="1">
            <a:spLocks noChangeArrowheads="1"/>
          </p:cNvSpPr>
          <p:nvPr/>
        </p:nvSpPr>
        <p:spPr>
          <a:xfrm>
            <a:off x="533400" y="1444625"/>
            <a:ext cx="11658600" cy="142920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680" indent="-233680"/>
            <a:r>
              <a:rPr lang="en-US" altLang="en-US" dirty="0">
                <a:ea typeface="MS PGothic" panose="020B0600070205080204" pitchFamily="34" charset="-128"/>
              </a:rPr>
              <a:t>two types of HTTP messages: </a:t>
            </a:r>
            <a:r>
              <a:rPr lang="en-US" altLang="en-US" i="1" dirty="0">
                <a:solidFill>
                  <a:srgbClr val="CC0000"/>
                </a:solidFill>
                <a:ea typeface="MS PGothic" panose="020B0600070205080204" pitchFamily="34" charset="-128"/>
              </a:rPr>
              <a:t>request</a:t>
            </a:r>
            <a:r>
              <a:rPr lang="en-US" altLang="en-US" dirty="0">
                <a:solidFill>
                  <a:srgbClr val="CC0000"/>
                </a:solidFill>
                <a:ea typeface="MS PGothic" panose="020B0600070205080204" pitchFamily="34" charset="-128"/>
              </a:rPr>
              <a:t>, </a:t>
            </a:r>
            <a:r>
              <a:rPr lang="en-US" altLang="en-US" i="1" dirty="0">
                <a:solidFill>
                  <a:srgbClr val="CC0000"/>
                </a:solidFill>
                <a:ea typeface="MS PGothic" panose="020B0600070205080204" pitchFamily="34" charset="-128"/>
              </a:rPr>
              <a:t>response</a:t>
            </a:r>
            <a:endParaRPr lang="en-US" altLang="en-US" i="1" dirty="0">
              <a:solidFill>
                <a:srgbClr val="CC0000"/>
              </a:solidFill>
              <a:ea typeface="MS PGothic" panose="020B0600070205080204" pitchFamily="34" charset="-128"/>
            </a:endParaRPr>
          </a:p>
          <a:p>
            <a:pPr marL="233680" indent="-233680"/>
            <a:r>
              <a:rPr lang="en-US" altLang="en-US" dirty="0">
                <a:solidFill>
                  <a:srgbClr val="CC0000"/>
                </a:solidFill>
                <a:ea typeface="MS PGothic" panose="020B0600070205080204" pitchFamily="34" charset="-128"/>
              </a:rPr>
              <a:t>HTTP request message:</a:t>
            </a:r>
            <a:endParaRPr lang="en-US" altLang="en-US" dirty="0">
              <a:solidFill>
                <a:srgbClr val="CC0000"/>
              </a:solidFill>
              <a:ea typeface="MS PGothic" panose="020B0600070205080204" pitchFamily="34" charset="-128"/>
            </a:endParaRPr>
          </a:p>
          <a:p>
            <a:pPr marL="685800" lvl="1" indent="-228600"/>
            <a:r>
              <a:rPr lang="en-US" altLang="en-US" dirty="0">
                <a:ea typeface="MS PGothic" panose="020B0600070205080204" pitchFamily="34" charset="-128"/>
              </a:rPr>
              <a:t>ASCII (human-readable format)</a:t>
            </a:r>
            <a:endParaRPr lang="en-US" altLang="en-US" dirty="0">
              <a:solidFill>
                <a:schemeClr val="accent2"/>
              </a:solidFill>
              <a:ea typeface="MS PGothic" panose="020B0600070205080204" pitchFamily="34" charset="-128"/>
            </a:endParaRPr>
          </a:p>
        </p:txBody>
      </p:sp>
      <p:grpSp>
        <p:nvGrpSpPr>
          <p:cNvPr id="2" name="Group 1"/>
          <p:cNvGrpSpPr/>
          <p:nvPr/>
        </p:nvGrpSpPr>
        <p:grpSpPr>
          <a:xfrm>
            <a:off x="304572" y="2554061"/>
            <a:ext cx="10054299" cy="4140199"/>
            <a:chOff x="304572" y="2554061"/>
            <a:chExt cx="10054299" cy="4140199"/>
          </a:xfrm>
        </p:grpSpPr>
        <p:sp>
          <p:nvSpPr>
            <p:cNvPr id="10" name="Text Box 5"/>
            <p:cNvSpPr txBox="1">
              <a:spLocks noChangeArrowheads="1"/>
            </p:cNvSpPr>
            <p:nvPr/>
          </p:nvSpPr>
          <p:spPr bwMode="auto">
            <a:xfrm>
              <a:off x="304572" y="3050979"/>
              <a:ext cx="31631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400" dirty="0">
                  <a:solidFill>
                    <a:srgbClr val="000099"/>
                  </a:solidFill>
                  <a:latin typeface="+mn-lt"/>
                </a:rPr>
                <a:t>request line (GET, POST, </a:t>
              </a:r>
              <a:endParaRPr lang="en-US" altLang="en-US" sz="2400" dirty="0">
                <a:solidFill>
                  <a:srgbClr val="000099"/>
                </a:solidFill>
                <a:latin typeface="+mn-lt"/>
              </a:endParaRPr>
            </a:p>
            <a:p>
              <a:pPr>
                <a:spcBef>
                  <a:spcPct val="0"/>
                </a:spcBef>
                <a:buClrTx/>
                <a:buSzTx/>
                <a:buFontTx/>
                <a:buNone/>
              </a:pPr>
              <a:r>
                <a:rPr lang="en-US" altLang="en-US" sz="2400" dirty="0">
                  <a:solidFill>
                    <a:srgbClr val="000099"/>
                  </a:solidFill>
                  <a:latin typeface="+mn-lt"/>
                </a:rPr>
                <a:t>HEAD commands)</a:t>
              </a:r>
              <a:endParaRPr lang="en-US" altLang="en-US" sz="2800" dirty="0">
                <a:solidFill>
                  <a:srgbClr val="000099"/>
                </a:solidFill>
                <a:latin typeface="+mn-lt"/>
              </a:endParaRPr>
            </a:p>
          </p:txBody>
        </p:sp>
        <p:sp>
          <p:nvSpPr>
            <p:cNvPr id="12" name="Freeform 7"/>
            <p:cNvSpPr/>
            <p:nvPr/>
          </p:nvSpPr>
          <p:spPr bwMode="auto">
            <a:xfrm>
              <a:off x="3966709" y="3625624"/>
              <a:ext cx="149225" cy="1957387"/>
            </a:xfrm>
            <a:custGeom>
              <a:avLst/>
              <a:gdLst>
                <a:gd name="T0" fmla="*/ 2147483647 w 150"/>
                <a:gd name="T1" fmla="*/ 2147483647 h 924"/>
                <a:gd name="T2" fmla="*/ 0 w 150"/>
                <a:gd name="T3" fmla="*/ 0 h 924"/>
                <a:gd name="T4" fmla="*/ 0 w 150"/>
                <a:gd name="T5" fmla="*/ 2147483647 h 924"/>
                <a:gd name="T6" fmla="*/ 2147483647 w 150"/>
                <a:gd name="T7" fmla="*/ 2147483647 h 924"/>
                <a:gd name="T8" fmla="*/ 0 60000 65536"/>
                <a:gd name="T9" fmla="*/ 0 60000 65536"/>
                <a:gd name="T10" fmla="*/ 0 60000 65536"/>
                <a:gd name="T11" fmla="*/ 0 60000 65536"/>
                <a:gd name="T12" fmla="*/ 0 w 150"/>
                <a:gd name="T13" fmla="*/ 0 h 924"/>
                <a:gd name="T14" fmla="*/ 150 w 150"/>
                <a:gd name="T15" fmla="*/ 924 h 924"/>
              </a:gdLst>
              <a:ahLst/>
              <a:cxnLst>
                <a:cxn ang="T8">
                  <a:pos x="T0" y="T1"/>
                </a:cxn>
                <a:cxn ang="T9">
                  <a:pos x="T2" y="T3"/>
                </a:cxn>
                <a:cxn ang="T10">
                  <a:pos x="T4" y="T5"/>
                </a:cxn>
                <a:cxn ang="T11">
                  <a:pos x="T6" y="T7"/>
                </a:cxn>
              </a:cxnLst>
              <a:rect l="T12" t="T13" r="T14" b="T15"/>
              <a:pathLst>
                <a:path w="150" h="924">
                  <a:moveTo>
                    <a:pt x="122" y="6"/>
                  </a:moveTo>
                  <a:lnTo>
                    <a:pt x="0" y="0"/>
                  </a:lnTo>
                  <a:lnTo>
                    <a:pt x="0" y="924"/>
                  </a:lnTo>
                  <a:lnTo>
                    <a:pt x="150" y="918"/>
                  </a:lnTo>
                </a:path>
              </a:pathLst>
            </a:custGeom>
            <a:noFill/>
            <a:ln w="19050">
              <a:solidFill>
                <a:srgbClr val="000099"/>
              </a:solidFill>
              <a:rou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 name="Text Box 8"/>
            <p:cNvSpPr txBox="1">
              <a:spLocks noChangeArrowheads="1"/>
            </p:cNvSpPr>
            <p:nvPr/>
          </p:nvSpPr>
          <p:spPr bwMode="auto">
            <a:xfrm>
              <a:off x="2833669" y="4143149"/>
              <a:ext cx="10711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r">
                <a:spcBef>
                  <a:spcPct val="0"/>
                </a:spcBef>
                <a:buClrTx/>
                <a:buSzTx/>
                <a:buFontTx/>
                <a:buNone/>
              </a:pPr>
              <a:r>
                <a:rPr lang="en-US" altLang="en-US" sz="2400" dirty="0">
                  <a:solidFill>
                    <a:srgbClr val="000099"/>
                  </a:solidFill>
                  <a:latin typeface="+mn-lt"/>
                </a:rPr>
                <a:t>header</a:t>
              </a:r>
              <a:endParaRPr lang="en-US" altLang="en-US" sz="2400" dirty="0">
                <a:solidFill>
                  <a:srgbClr val="000099"/>
                </a:solidFill>
                <a:latin typeface="+mn-lt"/>
              </a:endParaRPr>
            </a:p>
            <a:p>
              <a:pPr algn="r">
                <a:spcBef>
                  <a:spcPct val="0"/>
                </a:spcBef>
                <a:buClrTx/>
                <a:buSzTx/>
                <a:buFontTx/>
                <a:buNone/>
              </a:pPr>
              <a:r>
                <a:rPr lang="en-US" altLang="en-US" sz="2400" dirty="0">
                  <a:solidFill>
                    <a:srgbClr val="000099"/>
                  </a:solidFill>
                  <a:latin typeface="+mn-lt"/>
                </a:rPr>
                <a:t> lines</a:t>
              </a:r>
              <a:endParaRPr lang="en-US" altLang="en-US" sz="2800" dirty="0">
                <a:solidFill>
                  <a:srgbClr val="000099"/>
                </a:solidFill>
                <a:latin typeface="+mn-lt"/>
              </a:endParaRPr>
            </a:p>
          </p:txBody>
        </p:sp>
        <p:sp>
          <p:nvSpPr>
            <p:cNvPr id="14" name="Line 10"/>
            <p:cNvSpPr>
              <a:spLocks noChangeShapeType="1"/>
            </p:cNvSpPr>
            <p:nvPr/>
          </p:nvSpPr>
          <p:spPr bwMode="auto">
            <a:xfrm>
              <a:off x="3499984" y="5710011"/>
              <a:ext cx="511175" cy="0"/>
            </a:xfrm>
            <a:prstGeom prst="line">
              <a:avLst/>
            </a:prstGeom>
            <a:noFill/>
            <a:ln w="19050">
              <a:solidFill>
                <a:srgbClr val="000099"/>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 name="Text Box 11"/>
            <p:cNvSpPr txBox="1">
              <a:spLocks noChangeArrowheads="1"/>
            </p:cNvSpPr>
            <p:nvPr/>
          </p:nvSpPr>
          <p:spPr bwMode="auto">
            <a:xfrm>
              <a:off x="743905" y="5548787"/>
              <a:ext cx="277163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90000"/>
                </a:lnSpc>
                <a:spcBef>
                  <a:spcPct val="0"/>
                </a:spcBef>
                <a:buClrTx/>
                <a:buSzTx/>
                <a:buFontTx/>
                <a:buNone/>
              </a:pPr>
              <a:r>
                <a:rPr lang="en-US" altLang="en-US" dirty="0">
                  <a:solidFill>
                    <a:srgbClr val="000099"/>
                  </a:solidFill>
                  <a:latin typeface="+mn-lt"/>
                </a:rPr>
                <a:t>carriage return, line feed at start of line indicates end of header lines</a:t>
              </a:r>
              <a:endParaRPr lang="en-US" altLang="en-US" sz="2400" dirty="0">
                <a:solidFill>
                  <a:srgbClr val="000099"/>
                </a:solidFill>
                <a:latin typeface="+mn-lt"/>
              </a:endParaRPr>
            </a:p>
          </p:txBody>
        </p:sp>
        <p:sp>
          <p:nvSpPr>
            <p:cNvPr id="16" name="Text Box 16"/>
            <p:cNvSpPr txBox="1">
              <a:spLocks noChangeArrowheads="1"/>
            </p:cNvSpPr>
            <p:nvPr/>
          </p:nvSpPr>
          <p:spPr bwMode="auto">
            <a:xfrm>
              <a:off x="4000046" y="3323999"/>
              <a:ext cx="6140450" cy="2589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800" b="1" dirty="0">
                  <a:latin typeface="Courier New" panose="02070309020205020404" pitchFamily="49" charset="0"/>
                </a:rPr>
                <a:t>GET /</a:t>
              </a:r>
              <a:r>
                <a:rPr lang="en-US" altLang="en-US" sz="1800" b="1" dirty="0" err="1">
                  <a:latin typeface="Courier New" panose="02070309020205020404" pitchFamily="49" charset="0"/>
                </a:rPr>
                <a:t>index.html</a:t>
              </a:r>
              <a:r>
                <a:rPr lang="en-US" altLang="en-US" sz="1800" b="1" dirty="0">
                  <a:latin typeface="Courier New" panose="02070309020205020404" pitchFamily="49" charset="0"/>
                </a:rPr>
                <a:t> HTTP/1.1\r\n</a:t>
              </a:r>
              <a:endParaRPr lang="en-US" altLang="en-US" sz="1800" b="1" dirty="0">
                <a:latin typeface="Courier New" panose="02070309020205020404" pitchFamily="49" charset="0"/>
              </a:endParaRPr>
            </a:p>
            <a:p>
              <a:pPr>
                <a:lnSpc>
                  <a:spcPct val="90000"/>
                </a:lnSpc>
                <a:spcBef>
                  <a:spcPct val="0"/>
                </a:spcBef>
              </a:pPr>
              <a:r>
                <a:rPr lang="en-US" altLang="en-US" sz="1800" b="1" dirty="0">
                  <a:latin typeface="Courier New" panose="02070309020205020404" pitchFamily="49" charset="0"/>
                </a:rPr>
                <a:t>Host: www-</a:t>
              </a:r>
              <a:r>
                <a:rPr lang="en-US" altLang="en-US" sz="1800" b="1" dirty="0" err="1">
                  <a:latin typeface="Courier New" panose="02070309020205020404" pitchFamily="49" charset="0"/>
                </a:rPr>
                <a:t>net.cs.umass.edu</a:t>
              </a:r>
              <a:r>
                <a:rPr lang="en-US" altLang="en-US" sz="1800" b="1" dirty="0">
                  <a:latin typeface="Courier New" panose="02070309020205020404" pitchFamily="49" charset="0"/>
                </a:rPr>
                <a:t>\r\n</a:t>
              </a:r>
              <a:endParaRPr lang="en-US" altLang="en-US" sz="1800" b="1" dirty="0">
                <a:latin typeface="Courier New" panose="02070309020205020404" pitchFamily="49" charset="0"/>
              </a:endParaRPr>
            </a:p>
            <a:p>
              <a:pPr>
                <a:lnSpc>
                  <a:spcPct val="90000"/>
                </a:lnSpc>
                <a:spcBef>
                  <a:spcPct val="0"/>
                </a:spcBef>
              </a:pPr>
              <a:r>
                <a:rPr lang="en-US" altLang="en-US" sz="1800" b="1" dirty="0">
                  <a:latin typeface="Courier New" panose="02070309020205020404" pitchFamily="49" charset="0"/>
                </a:rPr>
                <a:t>User-Agent: Firefox/3.6.10\r\n</a:t>
              </a:r>
              <a:endParaRPr lang="en-US" altLang="en-US" sz="1800" b="1" dirty="0">
                <a:latin typeface="Courier New" panose="02070309020205020404" pitchFamily="49" charset="0"/>
              </a:endParaRPr>
            </a:p>
            <a:p>
              <a:pPr>
                <a:lnSpc>
                  <a:spcPct val="90000"/>
                </a:lnSpc>
                <a:spcBef>
                  <a:spcPct val="0"/>
                </a:spcBef>
              </a:pPr>
              <a:r>
                <a:rPr lang="en-US" altLang="en-US" sz="1800" b="1" dirty="0">
                  <a:latin typeface="Courier New" panose="02070309020205020404" pitchFamily="49" charset="0"/>
                </a:rPr>
                <a:t>Accept: text/</a:t>
              </a:r>
              <a:r>
                <a:rPr lang="en-US" altLang="en-US" sz="1800" b="1" dirty="0" err="1">
                  <a:latin typeface="Courier New" panose="02070309020205020404" pitchFamily="49" charset="0"/>
                </a:rPr>
                <a:t>html,application</a:t>
              </a:r>
              <a:r>
                <a:rPr lang="en-US" altLang="en-US" sz="1800" b="1" dirty="0">
                  <a:latin typeface="Courier New" panose="02070309020205020404" pitchFamily="49" charset="0"/>
                </a:rPr>
                <a:t>/</a:t>
              </a:r>
              <a:r>
                <a:rPr lang="en-US" altLang="en-US" sz="1800" b="1" dirty="0" err="1">
                  <a:latin typeface="Courier New" panose="02070309020205020404" pitchFamily="49" charset="0"/>
                </a:rPr>
                <a:t>xhtml+xml</a:t>
              </a:r>
              <a:r>
                <a:rPr lang="en-US" altLang="en-US" sz="1800" b="1" dirty="0">
                  <a:latin typeface="Courier New" panose="02070309020205020404" pitchFamily="49" charset="0"/>
                </a:rPr>
                <a:t>\r\n</a:t>
              </a:r>
              <a:endParaRPr lang="en-US" altLang="en-US" sz="1800" b="1" dirty="0">
                <a:latin typeface="Courier New" panose="02070309020205020404" pitchFamily="49" charset="0"/>
              </a:endParaRPr>
            </a:p>
            <a:p>
              <a:pPr>
                <a:lnSpc>
                  <a:spcPct val="90000"/>
                </a:lnSpc>
                <a:spcBef>
                  <a:spcPct val="0"/>
                </a:spcBef>
              </a:pPr>
              <a:r>
                <a:rPr lang="en-US" altLang="en-US" sz="1800" b="1" dirty="0">
                  <a:latin typeface="Courier New" panose="02070309020205020404" pitchFamily="49" charset="0"/>
                </a:rPr>
                <a:t>Accept-Language: </a:t>
              </a:r>
              <a:r>
                <a:rPr lang="en-US" altLang="en-US" sz="1800" b="1" dirty="0" err="1">
                  <a:latin typeface="Courier New" panose="02070309020205020404" pitchFamily="49" charset="0"/>
                </a:rPr>
                <a:t>en-us,en;q</a:t>
              </a:r>
              <a:r>
                <a:rPr lang="en-US" altLang="en-US" sz="1800" b="1" dirty="0">
                  <a:latin typeface="Courier New" panose="02070309020205020404" pitchFamily="49" charset="0"/>
                </a:rPr>
                <a:t>=0.5\r\n</a:t>
              </a:r>
              <a:endParaRPr lang="en-US" altLang="en-US" sz="1800" b="1" dirty="0">
                <a:latin typeface="Courier New" panose="02070309020205020404" pitchFamily="49" charset="0"/>
              </a:endParaRPr>
            </a:p>
            <a:p>
              <a:pPr>
                <a:lnSpc>
                  <a:spcPct val="90000"/>
                </a:lnSpc>
                <a:spcBef>
                  <a:spcPct val="0"/>
                </a:spcBef>
              </a:pPr>
              <a:r>
                <a:rPr lang="en-US" altLang="en-US" sz="1800" b="1" dirty="0">
                  <a:latin typeface="Courier New" panose="02070309020205020404" pitchFamily="49" charset="0"/>
                </a:rPr>
                <a:t>Accept-Encoding: </a:t>
              </a:r>
              <a:r>
                <a:rPr lang="en-US" altLang="en-US" sz="1800" b="1" dirty="0" err="1">
                  <a:latin typeface="Courier New" panose="02070309020205020404" pitchFamily="49" charset="0"/>
                </a:rPr>
                <a:t>gzip,deflate</a:t>
              </a:r>
              <a:r>
                <a:rPr lang="en-US" altLang="en-US" sz="1800" b="1" dirty="0">
                  <a:latin typeface="Courier New" panose="02070309020205020404" pitchFamily="49" charset="0"/>
                </a:rPr>
                <a:t>\r\n</a:t>
              </a:r>
              <a:endParaRPr lang="en-US" altLang="en-US" sz="1800" b="1" dirty="0">
                <a:latin typeface="Courier New" panose="02070309020205020404" pitchFamily="49" charset="0"/>
              </a:endParaRPr>
            </a:p>
            <a:p>
              <a:pPr>
                <a:lnSpc>
                  <a:spcPct val="90000"/>
                </a:lnSpc>
                <a:spcBef>
                  <a:spcPct val="0"/>
                </a:spcBef>
              </a:pPr>
              <a:r>
                <a:rPr lang="en-US" altLang="en-US" sz="1800" b="1" dirty="0">
                  <a:latin typeface="Courier New" panose="02070309020205020404" pitchFamily="49" charset="0"/>
                </a:rPr>
                <a:t>Accept-Charset: ISO-8859-1,utf-8;q=0.7\r\n</a:t>
              </a:r>
              <a:endParaRPr lang="en-US" altLang="en-US" sz="1800" b="1" dirty="0">
                <a:latin typeface="Courier New" panose="02070309020205020404" pitchFamily="49" charset="0"/>
              </a:endParaRPr>
            </a:p>
            <a:p>
              <a:pPr>
                <a:lnSpc>
                  <a:spcPct val="90000"/>
                </a:lnSpc>
                <a:spcBef>
                  <a:spcPct val="0"/>
                </a:spcBef>
              </a:pPr>
              <a:r>
                <a:rPr lang="en-US" altLang="en-US" sz="1800" b="1" dirty="0">
                  <a:latin typeface="Courier New" panose="02070309020205020404" pitchFamily="49" charset="0"/>
                </a:rPr>
                <a:t>Keep-Alive: 115\r\n</a:t>
              </a:r>
              <a:endParaRPr lang="en-US" altLang="en-US" sz="1800" b="1" dirty="0">
                <a:latin typeface="Courier New" panose="02070309020205020404" pitchFamily="49" charset="0"/>
              </a:endParaRPr>
            </a:p>
            <a:p>
              <a:pPr>
                <a:lnSpc>
                  <a:spcPct val="90000"/>
                </a:lnSpc>
                <a:spcBef>
                  <a:spcPct val="0"/>
                </a:spcBef>
              </a:pPr>
              <a:r>
                <a:rPr lang="en-US" altLang="en-US" sz="1800" b="1" dirty="0">
                  <a:latin typeface="Courier New" panose="02070309020205020404" pitchFamily="49" charset="0"/>
                </a:rPr>
                <a:t>Connection: keep-alive\r\n</a:t>
              </a:r>
              <a:endParaRPr lang="en-US" altLang="en-US" sz="1800" b="1" dirty="0">
                <a:latin typeface="Courier New" panose="02070309020205020404" pitchFamily="49" charset="0"/>
              </a:endParaRPr>
            </a:p>
            <a:p>
              <a:pPr>
                <a:lnSpc>
                  <a:spcPct val="90000"/>
                </a:lnSpc>
                <a:spcBef>
                  <a:spcPct val="0"/>
                </a:spcBef>
              </a:pPr>
              <a:r>
                <a:rPr lang="en-US" altLang="en-US" sz="1800" b="1" dirty="0">
                  <a:latin typeface="Courier New" panose="02070309020205020404" pitchFamily="49" charset="0"/>
                </a:rPr>
                <a:t>\r\n</a:t>
              </a:r>
              <a:endParaRPr lang="en-US" altLang="en-US" sz="1800" b="1" dirty="0">
                <a:latin typeface="Courier New" panose="02070309020205020404" pitchFamily="49" charset="0"/>
              </a:endParaRPr>
            </a:p>
          </p:txBody>
        </p:sp>
        <p:sp>
          <p:nvSpPr>
            <p:cNvPr id="17" name="Line 17"/>
            <p:cNvSpPr>
              <a:spLocks noChangeShapeType="1"/>
            </p:cNvSpPr>
            <p:nvPr/>
          </p:nvSpPr>
          <p:spPr bwMode="auto">
            <a:xfrm flipH="1">
              <a:off x="7524296" y="2841399"/>
              <a:ext cx="166688" cy="514350"/>
            </a:xfrm>
            <a:prstGeom prst="line">
              <a:avLst/>
            </a:prstGeom>
            <a:noFill/>
            <a:ln w="9525">
              <a:solidFill>
                <a:srgbClr val="000099"/>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8" name="Text Box 18"/>
            <p:cNvSpPr txBox="1">
              <a:spLocks noChangeArrowheads="1"/>
            </p:cNvSpPr>
            <p:nvPr/>
          </p:nvSpPr>
          <p:spPr bwMode="auto">
            <a:xfrm>
              <a:off x="7575096" y="2554061"/>
              <a:ext cx="27837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dirty="0">
                  <a:latin typeface="+mn-lt"/>
                </a:rPr>
                <a:t>carriage return character</a:t>
              </a:r>
              <a:endParaRPr lang="en-US" altLang="en-US" dirty="0">
                <a:latin typeface="+mn-lt"/>
              </a:endParaRPr>
            </a:p>
          </p:txBody>
        </p:sp>
        <p:sp>
          <p:nvSpPr>
            <p:cNvPr id="19" name="Text Box 19"/>
            <p:cNvSpPr txBox="1">
              <a:spLocks noChangeArrowheads="1"/>
            </p:cNvSpPr>
            <p:nvPr/>
          </p:nvSpPr>
          <p:spPr bwMode="auto">
            <a:xfrm>
              <a:off x="7727496" y="2850924"/>
              <a:ext cx="2149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dirty="0">
                  <a:latin typeface="+mn-lt"/>
                </a:rPr>
                <a:t>line-feed character</a:t>
              </a:r>
              <a:endParaRPr lang="en-US" altLang="en-US" dirty="0">
                <a:latin typeface="+mn-lt"/>
              </a:endParaRPr>
            </a:p>
          </p:txBody>
        </p:sp>
        <p:sp>
          <p:nvSpPr>
            <p:cNvPr id="20" name="Line 20"/>
            <p:cNvSpPr>
              <a:spLocks noChangeShapeType="1"/>
            </p:cNvSpPr>
            <p:nvPr/>
          </p:nvSpPr>
          <p:spPr bwMode="auto">
            <a:xfrm flipH="1">
              <a:off x="7805284" y="3150961"/>
              <a:ext cx="80962" cy="252413"/>
            </a:xfrm>
            <a:prstGeom prst="line">
              <a:avLst/>
            </a:prstGeom>
            <a:noFill/>
            <a:ln w="9525">
              <a:solidFill>
                <a:srgbClr val="000099"/>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cxnSp>
          <p:nvCxnSpPr>
            <p:cNvPr id="4" name="Straight Arrow Connector 3"/>
            <p:cNvCxnSpPr/>
            <p:nvPr/>
          </p:nvCxnSpPr>
          <p:spPr>
            <a:xfrm>
              <a:off x="2558822" y="3471412"/>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1"/>
            <p:cNvSpPr txBox="1">
              <a:spLocks noChangeArrowheads="1"/>
            </p:cNvSpPr>
            <p:nvPr/>
          </p:nvSpPr>
          <p:spPr bwMode="auto">
            <a:xfrm>
              <a:off x="4000046" y="6171973"/>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dirty="0"/>
                <a:t>* Check out the online interactive exercises for more examples: h</a:t>
              </a:r>
              <a:r>
                <a:rPr lang="en-US" altLang="en-US" sz="1200" dirty="0"/>
                <a:t>ttp://</a:t>
              </a:r>
              <a:r>
                <a:rPr lang="en-US" altLang="en-US" sz="1200" dirty="0" err="1"/>
                <a:t>gaia.cs.umass.edu</a:t>
              </a:r>
              <a:r>
                <a:rPr lang="en-US" altLang="en-US" sz="1200" dirty="0"/>
                <a:t>/</a:t>
              </a:r>
              <a:r>
                <a:rPr lang="en-US" altLang="en-US" sz="1200" dirty="0" err="1"/>
                <a:t>kurose_ross</a:t>
              </a:r>
              <a:r>
                <a:rPr lang="en-US" altLang="en-US" sz="1200" dirty="0"/>
                <a:t>/interactive/</a:t>
              </a:r>
              <a:endParaRPr lang="en-US" altLang="en-US" sz="1200"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ea typeface="MS PGothic" panose="020B0600070205080204" pitchFamily="34" charset="-128"/>
              </a:rPr>
              <a:t>HTTP request message: general format</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22" name="Text Box 9"/>
          <p:cNvSpPr txBox="1">
            <a:spLocks noChangeArrowheads="1"/>
          </p:cNvSpPr>
          <p:nvPr/>
        </p:nvSpPr>
        <p:spPr bwMode="auto">
          <a:xfrm>
            <a:off x="8704472" y="1752600"/>
            <a:ext cx="1030287"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a:solidFill>
                  <a:srgbClr val="CC0000"/>
                </a:solidFill>
              </a:rPr>
              <a:t>request</a:t>
            </a:r>
            <a:endParaRPr lang="en-US" altLang="en-US">
              <a:solidFill>
                <a:srgbClr val="CC0000"/>
              </a:solidFill>
            </a:endParaRPr>
          </a:p>
          <a:p>
            <a:pPr>
              <a:lnSpc>
                <a:spcPct val="90000"/>
              </a:lnSpc>
              <a:spcBef>
                <a:spcPct val="0"/>
              </a:spcBef>
            </a:pPr>
            <a:r>
              <a:rPr lang="en-US" altLang="en-US">
                <a:solidFill>
                  <a:srgbClr val="CC0000"/>
                </a:solidFill>
              </a:rPr>
              <a:t>line</a:t>
            </a:r>
            <a:endParaRPr lang="en-US" altLang="en-US">
              <a:solidFill>
                <a:srgbClr val="CC0000"/>
              </a:solidFill>
            </a:endParaRPr>
          </a:p>
        </p:txBody>
      </p:sp>
      <p:sp>
        <p:nvSpPr>
          <p:cNvPr id="23" name="Text Box 11"/>
          <p:cNvSpPr txBox="1">
            <a:spLocks noChangeArrowheads="1"/>
          </p:cNvSpPr>
          <p:nvPr/>
        </p:nvSpPr>
        <p:spPr bwMode="auto">
          <a:xfrm>
            <a:off x="8699709" y="2768600"/>
            <a:ext cx="974725"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a:solidFill>
                  <a:srgbClr val="CC0000"/>
                </a:solidFill>
              </a:rPr>
              <a:t>header</a:t>
            </a:r>
            <a:endParaRPr lang="en-US" altLang="en-US">
              <a:solidFill>
                <a:srgbClr val="CC0000"/>
              </a:solidFill>
            </a:endParaRPr>
          </a:p>
          <a:p>
            <a:pPr>
              <a:lnSpc>
                <a:spcPct val="90000"/>
              </a:lnSpc>
              <a:spcBef>
                <a:spcPct val="0"/>
              </a:spcBef>
            </a:pPr>
            <a:r>
              <a:rPr lang="en-US" altLang="en-US">
                <a:solidFill>
                  <a:srgbClr val="CC0000"/>
                </a:solidFill>
              </a:rPr>
              <a:t>lines</a:t>
            </a:r>
            <a:endParaRPr lang="en-US" altLang="en-US">
              <a:solidFill>
                <a:srgbClr val="CC0000"/>
              </a:solidFill>
            </a:endParaRPr>
          </a:p>
        </p:txBody>
      </p:sp>
      <p:sp>
        <p:nvSpPr>
          <p:cNvPr id="24" name="Rectangle 12"/>
          <p:cNvSpPr>
            <a:spLocks noChangeArrowheads="1"/>
          </p:cNvSpPr>
          <p:nvPr/>
        </p:nvSpPr>
        <p:spPr bwMode="auto">
          <a:xfrm>
            <a:off x="8315534" y="2338387"/>
            <a:ext cx="346075" cy="1819275"/>
          </a:xfrm>
          <a:prstGeom prst="rect">
            <a:avLst/>
          </a:prstGeom>
          <a:noFill/>
          <a:ln w="19050">
            <a:solidFill>
              <a:srgbClr val="CC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25" name="Rectangle 13"/>
          <p:cNvSpPr>
            <a:spLocks noChangeArrowheads="1"/>
          </p:cNvSpPr>
          <p:nvPr/>
        </p:nvSpPr>
        <p:spPr bwMode="auto">
          <a:xfrm>
            <a:off x="8182184" y="2287587"/>
            <a:ext cx="290513" cy="20177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26" name="Rectangle 15"/>
          <p:cNvSpPr>
            <a:spLocks noChangeArrowheads="1"/>
          </p:cNvSpPr>
          <p:nvPr/>
        </p:nvSpPr>
        <p:spPr bwMode="auto">
          <a:xfrm>
            <a:off x="8550484" y="4394200"/>
            <a:ext cx="712788" cy="12160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27" name="Text Box 16"/>
          <p:cNvSpPr txBox="1">
            <a:spLocks noChangeArrowheads="1"/>
          </p:cNvSpPr>
          <p:nvPr/>
        </p:nvSpPr>
        <p:spPr bwMode="auto">
          <a:xfrm>
            <a:off x="8701297" y="4959350"/>
            <a:ext cx="735012" cy="3667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a:solidFill>
                  <a:srgbClr val="CC0000"/>
                </a:solidFill>
              </a:rPr>
              <a:t>body</a:t>
            </a:r>
            <a:endParaRPr lang="en-US" altLang="en-US">
              <a:solidFill>
                <a:srgbClr val="CC0000"/>
              </a:solidFill>
            </a:endParaRPr>
          </a:p>
        </p:txBody>
      </p:sp>
      <p:sp>
        <p:nvSpPr>
          <p:cNvPr id="28" name="Rectangle 20"/>
          <p:cNvSpPr>
            <a:spLocks noChangeArrowheads="1"/>
          </p:cNvSpPr>
          <p:nvPr/>
        </p:nvSpPr>
        <p:spPr bwMode="auto">
          <a:xfrm>
            <a:off x="2879934" y="1789112"/>
            <a:ext cx="5638800" cy="446088"/>
          </a:xfrm>
          <a:prstGeom prst="rect">
            <a:avLst/>
          </a:prstGeom>
          <a:noFill/>
          <a:ln w="1905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29" name="Line 22"/>
          <p:cNvSpPr>
            <a:spLocks noChangeShapeType="1"/>
          </p:cNvSpPr>
          <p:nvPr/>
        </p:nvSpPr>
        <p:spPr bwMode="auto">
          <a:xfrm>
            <a:off x="4188034" y="1792287"/>
            <a:ext cx="0" cy="43815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0" name="Line 23"/>
          <p:cNvSpPr>
            <a:spLocks noChangeShapeType="1"/>
          </p:cNvSpPr>
          <p:nvPr/>
        </p:nvSpPr>
        <p:spPr bwMode="auto">
          <a:xfrm>
            <a:off x="4632534" y="1792287"/>
            <a:ext cx="0" cy="43815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1" name="Line 24"/>
          <p:cNvSpPr>
            <a:spLocks noChangeShapeType="1"/>
          </p:cNvSpPr>
          <p:nvPr/>
        </p:nvSpPr>
        <p:spPr bwMode="auto">
          <a:xfrm>
            <a:off x="5940634" y="1792287"/>
            <a:ext cx="0" cy="43815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2" name="Line 25"/>
          <p:cNvSpPr>
            <a:spLocks noChangeShapeType="1"/>
          </p:cNvSpPr>
          <p:nvPr/>
        </p:nvSpPr>
        <p:spPr bwMode="auto">
          <a:xfrm>
            <a:off x="6366084" y="1785937"/>
            <a:ext cx="0" cy="43815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3" name="Line 26"/>
          <p:cNvSpPr>
            <a:spLocks noChangeShapeType="1"/>
          </p:cNvSpPr>
          <p:nvPr/>
        </p:nvSpPr>
        <p:spPr bwMode="auto">
          <a:xfrm>
            <a:off x="7667834" y="1792287"/>
            <a:ext cx="0" cy="43815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4" name="Line 27"/>
          <p:cNvSpPr>
            <a:spLocks noChangeShapeType="1"/>
          </p:cNvSpPr>
          <p:nvPr/>
        </p:nvSpPr>
        <p:spPr bwMode="auto">
          <a:xfrm>
            <a:off x="8105984" y="1792287"/>
            <a:ext cx="0" cy="43815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5" name="Text Box 28"/>
          <p:cNvSpPr txBox="1">
            <a:spLocks noChangeArrowheads="1"/>
          </p:cNvSpPr>
          <p:nvPr/>
        </p:nvSpPr>
        <p:spPr bwMode="auto">
          <a:xfrm>
            <a:off x="3003759" y="1816100"/>
            <a:ext cx="1030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solidFill>
                  <a:srgbClr val="000099"/>
                </a:solidFill>
              </a:rPr>
              <a:t>method</a:t>
            </a:r>
            <a:endParaRPr lang="en-US" altLang="en-US">
              <a:solidFill>
                <a:srgbClr val="000099"/>
              </a:solidFill>
            </a:endParaRPr>
          </a:p>
        </p:txBody>
      </p:sp>
      <p:sp>
        <p:nvSpPr>
          <p:cNvPr id="36" name="Text Box 29"/>
          <p:cNvSpPr txBox="1">
            <a:spLocks noChangeArrowheads="1"/>
          </p:cNvSpPr>
          <p:nvPr/>
        </p:nvSpPr>
        <p:spPr bwMode="auto">
          <a:xfrm>
            <a:off x="4165809" y="179705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sp</a:t>
            </a:r>
            <a:endParaRPr lang="en-US" altLang="en-US"/>
          </a:p>
        </p:txBody>
      </p:sp>
      <p:sp>
        <p:nvSpPr>
          <p:cNvPr id="37" name="Text Box 30"/>
          <p:cNvSpPr txBox="1">
            <a:spLocks noChangeArrowheads="1"/>
          </p:cNvSpPr>
          <p:nvPr/>
        </p:nvSpPr>
        <p:spPr bwMode="auto">
          <a:xfrm>
            <a:off x="5931109" y="180340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sp</a:t>
            </a:r>
            <a:endParaRPr lang="en-US" altLang="en-US"/>
          </a:p>
        </p:txBody>
      </p:sp>
      <p:sp>
        <p:nvSpPr>
          <p:cNvPr id="38" name="Text Box 31"/>
          <p:cNvSpPr txBox="1">
            <a:spLocks noChangeArrowheads="1"/>
          </p:cNvSpPr>
          <p:nvPr/>
        </p:nvSpPr>
        <p:spPr bwMode="auto">
          <a:xfrm>
            <a:off x="7683709" y="1809750"/>
            <a:ext cx="403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cr</a:t>
            </a:r>
            <a:endParaRPr lang="en-US" altLang="en-US"/>
          </a:p>
        </p:txBody>
      </p:sp>
      <p:sp>
        <p:nvSpPr>
          <p:cNvPr id="39" name="Text Box 32"/>
          <p:cNvSpPr txBox="1">
            <a:spLocks noChangeArrowheads="1"/>
          </p:cNvSpPr>
          <p:nvPr/>
        </p:nvSpPr>
        <p:spPr bwMode="auto">
          <a:xfrm>
            <a:off x="8153609" y="1820862"/>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lf</a:t>
            </a:r>
            <a:endParaRPr lang="en-US" altLang="en-US"/>
          </a:p>
        </p:txBody>
      </p:sp>
      <p:sp>
        <p:nvSpPr>
          <p:cNvPr id="40" name="Text Box 33"/>
          <p:cNvSpPr txBox="1">
            <a:spLocks noChangeArrowheads="1"/>
          </p:cNvSpPr>
          <p:nvPr/>
        </p:nvSpPr>
        <p:spPr bwMode="auto">
          <a:xfrm>
            <a:off x="6521659" y="1803400"/>
            <a:ext cx="1003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solidFill>
                  <a:srgbClr val="000099"/>
                </a:solidFill>
              </a:rPr>
              <a:t>version</a:t>
            </a:r>
            <a:endParaRPr lang="en-US" altLang="en-US">
              <a:solidFill>
                <a:srgbClr val="000099"/>
              </a:solidFill>
            </a:endParaRPr>
          </a:p>
        </p:txBody>
      </p:sp>
      <p:sp>
        <p:nvSpPr>
          <p:cNvPr id="41" name="Text Box 34"/>
          <p:cNvSpPr txBox="1">
            <a:spLocks noChangeArrowheads="1"/>
          </p:cNvSpPr>
          <p:nvPr/>
        </p:nvSpPr>
        <p:spPr bwMode="auto">
          <a:xfrm>
            <a:off x="4896059" y="1816100"/>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solidFill>
                  <a:srgbClr val="000099"/>
                </a:solidFill>
              </a:rPr>
              <a:t>URL</a:t>
            </a:r>
            <a:endParaRPr lang="en-US" altLang="en-US">
              <a:solidFill>
                <a:srgbClr val="000099"/>
              </a:solidFill>
            </a:endParaRPr>
          </a:p>
        </p:txBody>
      </p:sp>
      <p:grpSp>
        <p:nvGrpSpPr>
          <p:cNvPr id="42" name="Group 45"/>
          <p:cNvGrpSpPr/>
          <p:nvPr/>
        </p:nvGrpSpPr>
        <p:grpSpPr bwMode="auto">
          <a:xfrm>
            <a:off x="2879934" y="2233612"/>
            <a:ext cx="4565650" cy="446088"/>
            <a:chOff x="192" y="1894"/>
            <a:chExt cx="2876" cy="281"/>
          </a:xfrm>
        </p:grpSpPr>
        <p:sp>
          <p:nvSpPr>
            <p:cNvPr id="43" name="Rectangle 35"/>
            <p:cNvSpPr>
              <a:spLocks noChangeArrowheads="1"/>
            </p:cNvSpPr>
            <p:nvPr/>
          </p:nvSpPr>
          <p:spPr bwMode="auto">
            <a:xfrm>
              <a:off x="192" y="1894"/>
              <a:ext cx="2876" cy="281"/>
            </a:xfrm>
            <a:prstGeom prst="rect">
              <a:avLst/>
            </a:prstGeom>
            <a:noFill/>
            <a:ln w="1905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44" name="Line 36"/>
            <p:cNvSpPr>
              <a:spLocks noChangeShapeType="1"/>
            </p:cNvSpPr>
            <p:nvPr/>
          </p:nvSpPr>
          <p:spPr bwMode="auto">
            <a:xfrm>
              <a:off x="1700" y="1896"/>
              <a:ext cx="0" cy="27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45" name="Line 37"/>
            <p:cNvSpPr>
              <a:spLocks noChangeShapeType="1"/>
            </p:cNvSpPr>
            <p:nvPr/>
          </p:nvSpPr>
          <p:spPr bwMode="auto">
            <a:xfrm>
              <a:off x="1832" y="1896"/>
              <a:ext cx="0" cy="27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46" name="Line 39"/>
            <p:cNvSpPr>
              <a:spLocks noChangeShapeType="1"/>
            </p:cNvSpPr>
            <p:nvPr/>
          </p:nvSpPr>
          <p:spPr bwMode="auto">
            <a:xfrm>
              <a:off x="2528" y="1896"/>
              <a:ext cx="0" cy="27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47" name="Line 40"/>
            <p:cNvSpPr>
              <a:spLocks noChangeShapeType="1"/>
            </p:cNvSpPr>
            <p:nvPr/>
          </p:nvSpPr>
          <p:spPr bwMode="auto">
            <a:xfrm>
              <a:off x="2804" y="1896"/>
              <a:ext cx="0" cy="27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48" name="Text Box 41"/>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cr</a:t>
              </a:r>
              <a:endParaRPr lang="en-US" altLang="en-US"/>
            </a:p>
          </p:txBody>
        </p:sp>
        <p:sp>
          <p:nvSpPr>
            <p:cNvPr id="49" name="Text Box 42"/>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lf</a:t>
              </a:r>
              <a:endParaRPr lang="en-US" altLang="en-US"/>
            </a:p>
          </p:txBody>
        </p:sp>
        <p:sp>
          <p:nvSpPr>
            <p:cNvPr id="50" name="Text Box 43"/>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solidFill>
                    <a:srgbClr val="000099"/>
                  </a:solidFill>
                </a:rPr>
                <a:t>value</a:t>
              </a:r>
              <a:endParaRPr lang="en-US" altLang="en-US">
                <a:solidFill>
                  <a:srgbClr val="000099"/>
                </a:solidFill>
              </a:endParaRPr>
            </a:p>
          </p:txBody>
        </p:sp>
        <p:sp>
          <p:nvSpPr>
            <p:cNvPr id="51" name="Text Box 44"/>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solidFill>
                    <a:srgbClr val="000099"/>
                  </a:solidFill>
                </a:rPr>
                <a:t>header field name</a:t>
              </a:r>
              <a:endParaRPr lang="en-US" altLang="en-US">
                <a:solidFill>
                  <a:srgbClr val="000099"/>
                </a:solidFill>
              </a:endParaRPr>
            </a:p>
          </p:txBody>
        </p:sp>
      </p:grpSp>
      <p:grpSp>
        <p:nvGrpSpPr>
          <p:cNvPr id="52" name="Group 46"/>
          <p:cNvGrpSpPr/>
          <p:nvPr/>
        </p:nvGrpSpPr>
        <p:grpSpPr bwMode="auto">
          <a:xfrm>
            <a:off x="2876759" y="3709987"/>
            <a:ext cx="4565650" cy="446088"/>
            <a:chOff x="192" y="1894"/>
            <a:chExt cx="2876" cy="281"/>
          </a:xfrm>
        </p:grpSpPr>
        <p:sp>
          <p:nvSpPr>
            <p:cNvPr id="53" name="Rectangle 47"/>
            <p:cNvSpPr>
              <a:spLocks noChangeArrowheads="1"/>
            </p:cNvSpPr>
            <p:nvPr/>
          </p:nvSpPr>
          <p:spPr bwMode="auto">
            <a:xfrm>
              <a:off x="192" y="1894"/>
              <a:ext cx="2876" cy="281"/>
            </a:xfrm>
            <a:prstGeom prst="rect">
              <a:avLst/>
            </a:prstGeom>
            <a:noFill/>
            <a:ln w="1905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54" name="Line 48"/>
            <p:cNvSpPr>
              <a:spLocks noChangeShapeType="1"/>
            </p:cNvSpPr>
            <p:nvPr/>
          </p:nvSpPr>
          <p:spPr bwMode="auto">
            <a:xfrm>
              <a:off x="1700" y="1896"/>
              <a:ext cx="0" cy="27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55" name="Line 49"/>
            <p:cNvSpPr>
              <a:spLocks noChangeShapeType="1"/>
            </p:cNvSpPr>
            <p:nvPr/>
          </p:nvSpPr>
          <p:spPr bwMode="auto">
            <a:xfrm>
              <a:off x="1832" y="1896"/>
              <a:ext cx="0" cy="27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56" name="Line 50"/>
            <p:cNvSpPr>
              <a:spLocks noChangeShapeType="1"/>
            </p:cNvSpPr>
            <p:nvPr/>
          </p:nvSpPr>
          <p:spPr bwMode="auto">
            <a:xfrm>
              <a:off x="2528" y="1896"/>
              <a:ext cx="0" cy="27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57" name="Line 51"/>
            <p:cNvSpPr>
              <a:spLocks noChangeShapeType="1"/>
            </p:cNvSpPr>
            <p:nvPr/>
          </p:nvSpPr>
          <p:spPr bwMode="auto">
            <a:xfrm>
              <a:off x="2804" y="1896"/>
              <a:ext cx="0" cy="27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58" name="Text Box 52"/>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cr</a:t>
              </a:r>
              <a:endParaRPr lang="en-US" altLang="en-US"/>
            </a:p>
          </p:txBody>
        </p:sp>
        <p:sp>
          <p:nvSpPr>
            <p:cNvPr id="59" name="Text Box 53"/>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lf</a:t>
              </a:r>
              <a:endParaRPr lang="en-US" altLang="en-US"/>
            </a:p>
          </p:txBody>
        </p:sp>
        <p:sp>
          <p:nvSpPr>
            <p:cNvPr id="60" name="Text Box 54"/>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solidFill>
                    <a:srgbClr val="000099"/>
                  </a:solidFill>
                </a:rPr>
                <a:t>value</a:t>
              </a:r>
              <a:endParaRPr lang="en-US" altLang="en-US">
                <a:solidFill>
                  <a:srgbClr val="000099"/>
                </a:solidFill>
              </a:endParaRPr>
            </a:p>
          </p:txBody>
        </p:sp>
        <p:sp>
          <p:nvSpPr>
            <p:cNvPr id="61" name="Text Box 55"/>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solidFill>
                    <a:srgbClr val="000099"/>
                  </a:solidFill>
                </a:rPr>
                <a:t>header field name</a:t>
              </a:r>
              <a:endParaRPr lang="en-US" altLang="en-US">
                <a:solidFill>
                  <a:srgbClr val="000099"/>
                </a:solidFill>
              </a:endParaRPr>
            </a:p>
          </p:txBody>
        </p:sp>
      </p:grpSp>
      <p:sp>
        <p:nvSpPr>
          <p:cNvPr id="62" name="Line 56"/>
          <p:cNvSpPr>
            <a:spLocks noChangeShapeType="1"/>
          </p:cNvSpPr>
          <p:nvPr/>
        </p:nvSpPr>
        <p:spPr bwMode="auto">
          <a:xfrm>
            <a:off x="2879934" y="2681287"/>
            <a:ext cx="0" cy="104140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nvGrpSpPr>
          <p:cNvPr id="63" name="Group 61"/>
          <p:cNvGrpSpPr/>
          <p:nvPr/>
        </p:nvGrpSpPr>
        <p:grpSpPr bwMode="auto">
          <a:xfrm>
            <a:off x="2711659" y="2905125"/>
            <a:ext cx="331788" cy="461962"/>
            <a:chOff x="462" y="1727"/>
            <a:chExt cx="209" cy="291"/>
          </a:xfrm>
        </p:grpSpPr>
        <p:sp>
          <p:nvSpPr>
            <p:cNvPr id="64" name="Rectangle 59"/>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65" name="Text Box 57"/>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a:t>
              </a:r>
              <a:endParaRPr lang="en-US" altLang="en-US"/>
            </a:p>
          </p:txBody>
        </p:sp>
        <p:sp>
          <p:nvSpPr>
            <p:cNvPr id="66" name="Text Box 58"/>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a:t>
              </a:r>
              <a:endParaRPr lang="en-US" altLang="en-US"/>
            </a:p>
          </p:txBody>
        </p:sp>
      </p:grpSp>
      <p:sp>
        <p:nvSpPr>
          <p:cNvPr id="67" name="Line 62"/>
          <p:cNvSpPr>
            <a:spLocks noChangeShapeType="1"/>
          </p:cNvSpPr>
          <p:nvPr/>
        </p:nvSpPr>
        <p:spPr bwMode="auto">
          <a:xfrm>
            <a:off x="7443997" y="2668587"/>
            <a:ext cx="0" cy="104140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nvGrpSpPr>
          <p:cNvPr id="68" name="Group 63"/>
          <p:cNvGrpSpPr/>
          <p:nvPr/>
        </p:nvGrpSpPr>
        <p:grpSpPr bwMode="auto">
          <a:xfrm>
            <a:off x="7275722" y="2892425"/>
            <a:ext cx="331787" cy="461962"/>
            <a:chOff x="462" y="1727"/>
            <a:chExt cx="209" cy="291"/>
          </a:xfrm>
        </p:grpSpPr>
        <p:sp>
          <p:nvSpPr>
            <p:cNvPr id="69" name="Rectangle 64"/>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70" name="Text Box 65"/>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a:t>
              </a:r>
              <a:endParaRPr lang="en-US" altLang="en-US"/>
            </a:p>
          </p:txBody>
        </p:sp>
        <p:sp>
          <p:nvSpPr>
            <p:cNvPr id="71" name="Text Box 66"/>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a:t>
              </a:r>
              <a:endParaRPr lang="en-US" altLang="en-US"/>
            </a:p>
          </p:txBody>
        </p:sp>
      </p:grpSp>
      <p:grpSp>
        <p:nvGrpSpPr>
          <p:cNvPr id="72" name="Group 77"/>
          <p:cNvGrpSpPr/>
          <p:nvPr/>
        </p:nvGrpSpPr>
        <p:grpSpPr bwMode="auto">
          <a:xfrm>
            <a:off x="2875172" y="4156075"/>
            <a:ext cx="963612" cy="446087"/>
            <a:chOff x="3105" y="2650"/>
            <a:chExt cx="607" cy="281"/>
          </a:xfrm>
        </p:grpSpPr>
        <p:sp>
          <p:nvSpPr>
            <p:cNvPr id="73" name="Rectangle 68"/>
            <p:cNvSpPr>
              <a:spLocks noChangeArrowheads="1"/>
            </p:cNvSpPr>
            <p:nvPr/>
          </p:nvSpPr>
          <p:spPr bwMode="auto">
            <a:xfrm>
              <a:off x="3105" y="2650"/>
              <a:ext cx="607" cy="281"/>
            </a:xfrm>
            <a:prstGeom prst="rect">
              <a:avLst/>
            </a:prstGeom>
            <a:noFill/>
            <a:ln w="1905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74" name="Line 72"/>
            <p:cNvSpPr>
              <a:spLocks noChangeShapeType="1"/>
            </p:cNvSpPr>
            <p:nvPr/>
          </p:nvSpPr>
          <p:spPr bwMode="auto">
            <a:xfrm>
              <a:off x="3406" y="2652"/>
              <a:ext cx="0" cy="27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75" name="Text Box 73"/>
            <p:cNvSpPr txBox="1">
              <a:spLocks noChangeArrowheads="1"/>
            </p:cNvSpPr>
            <p:nvPr/>
          </p:nvSpPr>
          <p:spPr bwMode="auto">
            <a:xfrm>
              <a:off x="3140" y="2663"/>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cr</a:t>
              </a:r>
              <a:endParaRPr lang="en-US" altLang="en-US"/>
            </a:p>
          </p:txBody>
        </p:sp>
        <p:sp>
          <p:nvSpPr>
            <p:cNvPr id="76" name="Text Box 74"/>
            <p:cNvSpPr txBox="1">
              <a:spLocks noChangeArrowheads="1"/>
            </p:cNvSpPr>
            <p:nvPr/>
          </p:nvSpPr>
          <p:spPr bwMode="auto">
            <a:xfrm>
              <a:off x="3436" y="26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lf</a:t>
              </a:r>
              <a:endParaRPr lang="en-US" altLang="en-US"/>
            </a:p>
          </p:txBody>
        </p:sp>
      </p:grpSp>
      <p:sp>
        <p:nvSpPr>
          <p:cNvPr id="77" name="Rectangle 78"/>
          <p:cNvSpPr>
            <a:spLocks noChangeArrowheads="1"/>
          </p:cNvSpPr>
          <p:nvPr/>
        </p:nvSpPr>
        <p:spPr bwMode="auto">
          <a:xfrm>
            <a:off x="2875172" y="4603750"/>
            <a:ext cx="5170487" cy="1120775"/>
          </a:xfrm>
          <a:prstGeom prst="rect">
            <a:avLst/>
          </a:prstGeom>
          <a:noFill/>
          <a:ln w="1905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78" name="Text Box 80"/>
          <p:cNvSpPr txBox="1">
            <a:spLocks noChangeArrowheads="1"/>
          </p:cNvSpPr>
          <p:nvPr/>
        </p:nvSpPr>
        <p:spPr bwMode="auto">
          <a:xfrm>
            <a:off x="4811922" y="4927600"/>
            <a:ext cx="1411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solidFill>
                  <a:srgbClr val="000099"/>
                </a:solidFill>
              </a:rPr>
              <a:t>entity body</a:t>
            </a:r>
            <a:endParaRPr lang="en-US" altLang="en-US">
              <a:solidFill>
                <a:srgbClr val="000099"/>
              </a:solidFill>
            </a:endParaRPr>
          </a:p>
        </p:txBody>
      </p:sp>
      <p:grpSp>
        <p:nvGrpSpPr>
          <p:cNvPr id="79" name="Group 81"/>
          <p:cNvGrpSpPr/>
          <p:nvPr/>
        </p:nvGrpSpPr>
        <p:grpSpPr bwMode="auto">
          <a:xfrm>
            <a:off x="2711659" y="4941887"/>
            <a:ext cx="331788" cy="461963"/>
            <a:chOff x="462" y="1727"/>
            <a:chExt cx="209" cy="291"/>
          </a:xfrm>
        </p:grpSpPr>
        <p:sp>
          <p:nvSpPr>
            <p:cNvPr id="80" name="Rectangle 82"/>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81" name="Text Box 83"/>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a:t>
              </a:r>
              <a:endParaRPr lang="en-US" altLang="en-US"/>
            </a:p>
          </p:txBody>
        </p:sp>
        <p:sp>
          <p:nvSpPr>
            <p:cNvPr id="82" name="Text Box 84"/>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a:t>
              </a:r>
              <a:endParaRPr lang="en-US" altLang="en-US"/>
            </a:p>
          </p:txBody>
        </p:sp>
      </p:grpSp>
      <p:grpSp>
        <p:nvGrpSpPr>
          <p:cNvPr id="83" name="Group 85"/>
          <p:cNvGrpSpPr/>
          <p:nvPr/>
        </p:nvGrpSpPr>
        <p:grpSpPr bwMode="auto">
          <a:xfrm>
            <a:off x="7871034" y="4932362"/>
            <a:ext cx="331788" cy="461963"/>
            <a:chOff x="462" y="1727"/>
            <a:chExt cx="209" cy="291"/>
          </a:xfrm>
        </p:grpSpPr>
        <p:sp>
          <p:nvSpPr>
            <p:cNvPr id="84" name="Rectangle 86"/>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85" name="Text Box 87"/>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a:t>
              </a:r>
              <a:endParaRPr lang="en-US" altLang="en-US"/>
            </a:p>
          </p:txBody>
        </p:sp>
        <p:sp>
          <p:nvSpPr>
            <p:cNvPr id="86" name="Text Box 88"/>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a:t>~</a:t>
              </a:r>
              <a:endParaRPr lang="en-US" altLang="en-US"/>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ea typeface="MS PGothic" panose="020B0600070205080204" pitchFamily="34" charset="-128"/>
              </a:rPr>
              <a:t>Other HTTP request </a:t>
            </a:r>
            <a:r>
              <a:rPr lang="en-US" altLang="en-US" dirty="0">
                <a:ea typeface="MS PGothic" panose="020B0600070205080204" pitchFamily="34" charset="-128"/>
              </a:rPr>
              <a:t>m</a:t>
            </a:r>
            <a:r>
              <a:rPr lang="en-US" altLang="en-US" sz="4400" dirty="0">
                <a:ea typeface="MS PGothic" panose="020B0600070205080204" pitchFamily="34" charset="-128"/>
              </a:rPr>
              <a:t>essages</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87" name="Rectangle 3"/>
          <p:cNvSpPr txBox="1">
            <a:spLocks noChangeArrowheads="1"/>
          </p:cNvSpPr>
          <p:nvPr/>
        </p:nvSpPr>
        <p:spPr>
          <a:xfrm>
            <a:off x="685573" y="1727394"/>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605" indent="0">
              <a:buFont typeface="Wingdings" panose="05000000000000000000" charset="0"/>
              <a:buNone/>
              <a:defRPr/>
            </a:pPr>
            <a:r>
              <a:rPr lang="en-US" u="sng" dirty="0">
                <a:solidFill>
                  <a:srgbClr val="CC0000"/>
                </a:solidFill>
              </a:rPr>
              <a:t>POST method:</a:t>
            </a:r>
            <a:endParaRPr lang="en-US" u="sng" dirty="0">
              <a:solidFill>
                <a:srgbClr val="CC0000"/>
              </a:solidFill>
            </a:endParaRPr>
          </a:p>
          <a:p>
            <a:pPr marL="233680" indent="-233680">
              <a:spcBef>
                <a:spcPts val="400"/>
              </a:spcBef>
              <a:buFont typeface="Wingdings" panose="05000000000000000000" pitchFamily="2" charset="2"/>
              <a:buChar char="§"/>
              <a:defRPr/>
            </a:pPr>
            <a:r>
              <a:rPr lang="en-US" sz="2400" dirty="0"/>
              <a:t>web page often includes form input</a:t>
            </a:r>
            <a:endParaRPr lang="en-US" sz="2400" dirty="0"/>
          </a:p>
          <a:p>
            <a:pPr marL="233680" indent="-233680">
              <a:spcBef>
                <a:spcPts val="400"/>
              </a:spcBef>
              <a:buFont typeface="Wingdings" panose="05000000000000000000" pitchFamily="2" charset="2"/>
              <a:buChar char="§"/>
              <a:defRPr/>
            </a:pPr>
            <a:r>
              <a:rPr lang="en-US" sz="2400" dirty="0"/>
              <a:t>user input sent from client to server in entity body of HTTP POST request message</a:t>
            </a:r>
            <a:endParaRPr lang="en-US" sz="2400" dirty="0"/>
          </a:p>
        </p:txBody>
      </p:sp>
      <p:sp>
        <p:nvSpPr>
          <p:cNvPr id="88" name="Rectangle 3"/>
          <p:cNvSpPr txBox="1">
            <a:spLocks noChangeArrowheads="1"/>
          </p:cNvSpPr>
          <p:nvPr/>
        </p:nvSpPr>
        <p:spPr>
          <a:xfrm>
            <a:off x="685573" y="4466964"/>
            <a:ext cx="5541055"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605" indent="0">
              <a:buFont typeface="Wingdings" panose="05000000000000000000" charset="0"/>
              <a:buNone/>
              <a:defRPr/>
            </a:pPr>
            <a:r>
              <a:rPr lang="en-US" u="sng" dirty="0">
                <a:solidFill>
                  <a:srgbClr val="CC0000"/>
                </a:solidFill>
              </a:rPr>
              <a:t>GET method </a:t>
            </a:r>
            <a:r>
              <a:rPr lang="en-US" sz="2400" dirty="0"/>
              <a:t>(for sending data to server):</a:t>
            </a:r>
            <a:endParaRPr lang="en-US" dirty="0"/>
          </a:p>
          <a:p>
            <a:pPr marL="233680" indent="-233680">
              <a:buFont typeface="Wingdings" panose="05000000000000000000" pitchFamily="2" charset="2"/>
              <a:buChar char="§"/>
              <a:defRPr/>
            </a:pPr>
            <a:r>
              <a:rPr lang="en-US" sz="2400" dirty="0"/>
              <a:t>include user data in URL field of HTTP GET request message (following a ‘?’):</a:t>
            </a:r>
            <a:endParaRPr lang="en-US" sz="2400" dirty="0"/>
          </a:p>
        </p:txBody>
      </p:sp>
      <p:sp>
        <p:nvSpPr>
          <p:cNvPr id="89" name="Text Box 5"/>
          <p:cNvSpPr txBox="1">
            <a:spLocks noChangeArrowheads="1"/>
          </p:cNvSpPr>
          <p:nvPr/>
        </p:nvSpPr>
        <p:spPr bwMode="auto">
          <a:xfrm>
            <a:off x="798692" y="5806133"/>
            <a:ext cx="62801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800" b="1" dirty="0" err="1">
                <a:latin typeface="Courier New" panose="02070309020205020404" pitchFamily="49" charset="0"/>
              </a:rPr>
              <a:t>www.somesite.com</a:t>
            </a:r>
            <a:r>
              <a:rPr lang="en-US" altLang="en-US" sz="1800" b="1" dirty="0">
                <a:latin typeface="Courier New" panose="02070309020205020404" pitchFamily="49" charset="0"/>
              </a:rPr>
              <a:t>/</a:t>
            </a:r>
            <a:r>
              <a:rPr lang="en-US" altLang="en-US" sz="1800" b="1" dirty="0" err="1">
                <a:latin typeface="Courier New" panose="02070309020205020404" pitchFamily="49" charset="0"/>
              </a:rPr>
              <a:t>animalsearch?monkeys&amp;banana</a:t>
            </a:r>
            <a:endParaRPr lang="en-US" altLang="en-US" sz="1800" b="1" dirty="0">
              <a:latin typeface="Courier New" panose="02070309020205020404" pitchFamily="49" charset="0"/>
            </a:endParaRPr>
          </a:p>
        </p:txBody>
      </p:sp>
      <p:sp>
        <p:nvSpPr>
          <p:cNvPr id="90" name="Rectangle 3"/>
          <p:cNvSpPr txBox="1">
            <a:spLocks noChangeArrowheads="1"/>
          </p:cNvSpPr>
          <p:nvPr/>
        </p:nvSpPr>
        <p:spPr>
          <a:xfrm>
            <a:off x="6991758" y="1752600"/>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605" indent="0">
              <a:buFont typeface="Wingdings" panose="05000000000000000000" charset="0"/>
              <a:buNone/>
              <a:defRPr/>
            </a:pPr>
            <a:r>
              <a:rPr lang="en-US" u="sng" dirty="0">
                <a:solidFill>
                  <a:srgbClr val="CC0000"/>
                </a:solidFill>
              </a:rPr>
              <a:t>HEAD method:</a:t>
            </a:r>
            <a:endParaRPr lang="en-US" u="sng" dirty="0">
              <a:solidFill>
                <a:srgbClr val="CC0000"/>
              </a:solidFill>
            </a:endParaRPr>
          </a:p>
          <a:p>
            <a:pPr marL="233680" indent="-233680">
              <a:spcBef>
                <a:spcPts val="400"/>
              </a:spcBef>
              <a:buFont typeface="Wingdings" panose="05000000000000000000" pitchFamily="2" charset="2"/>
              <a:buChar char="§"/>
              <a:defRPr/>
            </a:pPr>
            <a:r>
              <a:rPr lang="en-US" sz="2400" dirty="0"/>
              <a:t>requests headers (only) that would be returned</a:t>
            </a:r>
            <a:r>
              <a:rPr lang="en-US" sz="2400" i="1" dirty="0"/>
              <a:t> if </a:t>
            </a:r>
            <a:r>
              <a:rPr lang="en-US" sz="2400" dirty="0"/>
              <a:t>specified URL were requested  with an HTTP GET method. </a:t>
            </a:r>
            <a:endParaRPr lang="en-US" sz="2400" dirty="0"/>
          </a:p>
        </p:txBody>
      </p:sp>
      <p:sp>
        <p:nvSpPr>
          <p:cNvPr id="91" name="Rectangle 3"/>
          <p:cNvSpPr txBox="1">
            <a:spLocks noChangeArrowheads="1"/>
          </p:cNvSpPr>
          <p:nvPr/>
        </p:nvSpPr>
        <p:spPr>
          <a:xfrm>
            <a:off x="6993371" y="3839527"/>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605" indent="0">
              <a:buFont typeface="Wingdings" panose="05000000000000000000" charset="0"/>
              <a:buNone/>
              <a:defRPr/>
            </a:pPr>
            <a:r>
              <a:rPr lang="en-US" u="sng" dirty="0">
                <a:solidFill>
                  <a:srgbClr val="CC0000"/>
                </a:solidFill>
              </a:rPr>
              <a:t>PUT method:</a:t>
            </a:r>
            <a:endParaRPr lang="en-US" u="sng" dirty="0">
              <a:solidFill>
                <a:srgbClr val="CC0000"/>
              </a:solidFill>
            </a:endParaRPr>
          </a:p>
          <a:p>
            <a:pPr marL="233680" indent="-233680">
              <a:spcBef>
                <a:spcPts val="400"/>
              </a:spcBef>
              <a:buFont typeface="Wingdings" panose="05000000000000000000" pitchFamily="2" charset="2"/>
              <a:buChar char="§"/>
              <a:defRPr/>
            </a:pPr>
            <a:r>
              <a:rPr lang="en-US" sz="2400" dirty="0"/>
              <a:t>uploads new file (object) to server</a:t>
            </a:r>
            <a:endParaRPr lang="en-US" sz="2400" dirty="0"/>
          </a:p>
          <a:p>
            <a:pPr marL="233680" indent="-233680">
              <a:spcBef>
                <a:spcPts val="400"/>
              </a:spcBef>
              <a:buFont typeface="Wingdings" panose="05000000000000000000" pitchFamily="2" charset="2"/>
              <a:buChar char="§"/>
              <a:defRPr/>
            </a:pPr>
            <a:r>
              <a:rPr lang="en-US" sz="2400" dirty="0"/>
              <a:t>completely replaces file that exists at specified URL with content in entity body of POST HTTP request message</a:t>
            </a:r>
            <a:endParaRPr lang="en-US" sz="24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dissolve">
                                      <p:cBhvr>
                                        <p:cTn id="10"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ea typeface="MS PGothic" panose="020B0600070205080204" pitchFamily="34" charset="-128"/>
              </a:rPr>
              <a:t>HTTP response </a:t>
            </a:r>
            <a:r>
              <a:rPr lang="en-US" altLang="en-US" dirty="0">
                <a:ea typeface="MS PGothic" panose="020B0600070205080204" pitchFamily="34" charset="-128"/>
              </a:rPr>
              <a:t>m</a:t>
            </a:r>
            <a:r>
              <a:rPr lang="en-US" altLang="en-US" sz="4400" dirty="0">
                <a:ea typeface="MS PGothic" panose="020B0600070205080204" pitchFamily="34" charset="-128"/>
              </a:rPr>
              <a:t>essage</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87" name="Text Box 5"/>
          <p:cNvSpPr txBox="1">
            <a:spLocks noChangeArrowheads="1"/>
          </p:cNvSpPr>
          <p:nvPr/>
        </p:nvSpPr>
        <p:spPr bwMode="auto">
          <a:xfrm>
            <a:off x="889630" y="1555730"/>
            <a:ext cx="40561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400" dirty="0">
                <a:solidFill>
                  <a:srgbClr val="0000A3"/>
                </a:solidFill>
                <a:latin typeface="+mn-lt"/>
              </a:rPr>
              <a:t>status line (protocol</a:t>
            </a:r>
            <a:endParaRPr lang="en-US" altLang="en-US" sz="2400" dirty="0">
              <a:solidFill>
                <a:srgbClr val="0000A3"/>
              </a:solidFill>
              <a:latin typeface="+mn-lt"/>
            </a:endParaRPr>
          </a:p>
          <a:p>
            <a:pPr>
              <a:spcBef>
                <a:spcPct val="0"/>
              </a:spcBef>
              <a:buClrTx/>
              <a:buSzTx/>
              <a:buFontTx/>
              <a:buNone/>
            </a:pPr>
            <a:r>
              <a:rPr lang="en-US" altLang="en-US" sz="2400" dirty="0">
                <a:solidFill>
                  <a:srgbClr val="0000A3"/>
                </a:solidFill>
                <a:latin typeface="+mn-lt"/>
              </a:rPr>
              <a:t>status code status phrase)</a:t>
            </a:r>
            <a:endParaRPr lang="en-US" altLang="en-US" sz="2800" dirty="0">
              <a:solidFill>
                <a:srgbClr val="0000A3"/>
              </a:solidFill>
              <a:latin typeface="+mn-lt"/>
            </a:endParaRPr>
          </a:p>
        </p:txBody>
      </p:sp>
      <p:sp>
        <p:nvSpPr>
          <p:cNvPr id="89" name="Freeform 7"/>
          <p:cNvSpPr/>
          <p:nvPr/>
        </p:nvSpPr>
        <p:spPr bwMode="auto">
          <a:xfrm>
            <a:off x="4945743" y="1971229"/>
            <a:ext cx="257175" cy="2941638"/>
          </a:xfrm>
          <a:custGeom>
            <a:avLst/>
            <a:gdLst>
              <a:gd name="T0" fmla="*/ 2147483647 w 162"/>
              <a:gd name="T1" fmla="*/ 2147483647 h 1428"/>
              <a:gd name="T2" fmla="*/ 0 w 162"/>
              <a:gd name="T3" fmla="*/ 0 h 1428"/>
              <a:gd name="T4" fmla="*/ 0 w 162"/>
              <a:gd name="T5" fmla="*/ 2147483647 h 1428"/>
              <a:gd name="T6" fmla="*/ 2147483647 w 162"/>
              <a:gd name="T7" fmla="*/ 2147483647 h 1428"/>
              <a:gd name="T8" fmla="*/ 0 60000 65536"/>
              <a:gd name="T9" fmla="*/ 0 60000 65536"/>
              <a:gd name="T10" fmla="*/ 0 60000 65536"/>
              <a:gd name="T11" fmla="*/ 0 60000 65536"/>
              <a:gd name="T12" fmla="*/ 0 w 162"/>
              <a:gd name="T13" fmla="*/ 0 h 1428"/>
              <a:gd name="T14" fmla="*/ 162 w 162"/>
              <a:gd name="T15" fmla="*/ 1428 h 1428"/>
            </a:gdLst>
            <a:ahLst/>
            <a:cxnLst>
              <a:cxn ang="T8">
                <a:pos x="T0" y="T1"/>
              </a:cxn>
              <a:cxn ang="T9">
                <a:pos x="T2" y="T3"/>
              </a:cxn>
              <a:cxn ang="T10">
                <a:pos x="T4" y="T5"/>
              </a:cxn>
              <a:cxn ang="T11">
                <a:pos x="T6" y="T7"/>
              </a:cxn>
            </a:cxnLst>
            <a:rect l="T12" t="T13" r="T14" b="T15"/>
            <a:pathLst>
              <a:path w="162" h="1428">
                <a:moveTo>
                  <a:pt x="132" y="9"/>
                </a:moveTo>
                <a:lnTo>
                  <a:pt x="0" y="0"/>
                </a:lnTo>
                <a:lnTo>
                  <a:pt x="0" y="1428"/>
                </a:lnTo>
                <a:lnTo>
                  <a:pt x="162" y="1425"/>
                </a:lnTo>
              </a:path>
            </a:pathLst>
          </a:custGeom>
          <a:noFill/>
          <a:ln w="19050">
            <a:solidFill>
              <a:srgbClr val="0000A3"/>
            </a:solidFill>
            <a:rou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90" name="Text Box 8"/>
          <p:cNvSpPr txBox="1">
            <a:spLocks noChangeArrowheads="1"/>
          </p:cNvSpPr>
          <p:nvPr/>
        </p:nvSpPr>
        <p:spPr bwMode="auto">
          <a:xfrm>
            <a:off x="3685704" y="2952304"/>
            <a:ext cx="10711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r">
              <a:spcBef>
                <a:spcPct val="0"/>
              </a:spcBef>
              <a:buClrTx/>
              <a:buSzTx/>
              <a:buFontTx/>
              <a:buNone/>
            </a:pPr>
            <a:r>
              <a:rPr lang="en-US" altLang="en-US" sz="2400" dirty="0">
                <a:solidFill>
                  <a:srgbClr val="0000A3"/>
                </a:solidFill>
                <a:latin typeface="+mn-lt"/>
              </a:rPr>
              <a:t>header</a:t>
            </a:r>
            <a:endParaRPr lang="en-US" altLang="en-US" sz="2400" dirty="0">
              <a:solidFill>
                <a:srgbClr val="0000A3"/>
              </a:solidFill>
              <a:latin typeface="+mn-lt"/>
            </a:endParaRPr>
          </a:p>
          <a:p>
            <a:pPr algn="r">
              <a:spcBef>
                <a:spcPct val="0"/>
              </a:spcBef>
              <a:buClrTx/>
              <a:buSzTx/>
              <a:buFontTx/>
              <a:buNone/>
            </a:pPr>
            <a:r>
              <a:rPr lang="en-US" altLang="en-US" sz="2400" dirty="0">
                <a:solidFill>
                  <a:srgbClr val="0000A3"/>
                </a:solidFill>
                <a:latin typeface="+mn-lt"/>
              </a:rPr>
              <a:t> lines</a:t>
            </a:r>
            <a:endParaRPr lang="en-US" altLang="en-US" sz="2800" dirty="0">
              <a:solidFill>
                <a:srgbClr val="0000A3"/>
              </a:solidFill>
              <a:latin typeface="+mn-lt"/>
            </a:endParaRPr>
          </a:p>
        </p:txBody>
      </p:sp>
      <p:sp>
        <p:nvSpPr>
          <p:cNvPr id="92" name="Text Box 10"/>
          <p:cNvSpPr txBox="1">
            <a:spLocks noChangeArrowheads="1"/>
          </p:cNvSpPr>
          <p:nvPr/>
        </p:nvSpPr>
        <p:spPr bwMode="auto">
          <a:xfrm>
            <a:off x="779412" y="4803102"/>
            <a:ext cx="36028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400" dirty="0">
                <a:solidFill>
                  <a:srgbClr val="0000A3"/>
                </a:solidFill>
                <a:latin typeface="+mn-lt"/>
              </a:rPr>
              <a:t>data, e.g.,  requested</a:t>
            </a:r>
            <a:endParaRPr lang="en-US" altLang="en-US" sz="2400" dirty="0">
              <a:solidFill>
                <a:srgbClr val="0000A3"/>
              </a:solidFill>
              <a:latin typeface="+mn-lt"/>
            </a:endParaRPr>
          </a:p>
          <a:p>
            <a:pPr>
              <a:spcBef>
                <a:spcPct val="0"/>
              </a:spcBef>
              <a:buClrTx/>
              <a:buSzTx/>
              <a:buFontTx/>
              <a:buNone/>
            </a:pPr>
            <a:r>
              <a:rPr lang="en-US" altLang="en-US" sz="2400" dirty="0">
                <a:solidFill>
                  <a:srgbClr val="0000A3"/>
                </a:solidFill>
                <a:latin typeface="+mn-lt"/>
              </a:rPr>
              <a:t>HTML file</a:t>
            </a:r>
            <a:endParaRPr lang="en-US" altLang="en-US" sz="2800" dirty="0">
              <a:solidFill>
                <a:srgbClr val="0000A3"/>
              </a:solidFill>
              <a:latin typeface="+mn-lt"/>
            </a:endParaRPr>
          </a:p>
        </p:txBody>
      </p:sp>
      <p:sp>
        <p:nvSpPr>
          <p:cNvPr id="93" name="Rectangle 15"/>
          <p:cNvSpPr>
            <a:spLocks noChangeArrowheads="1"/>
          </p:cNvSpPr>
          <p:nvPr/>
        </p:nvSpPr>
        <p:spPr bwMode="auto">
          <a:xfrm>
            <a:off x="5131481" y="1710879"/>
            <a:ext cx="6311900" cy="355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90000"/>
              </a:lnSpc>
              <a:spcBef>
                <a:spcPct val="0"/>
              </a:spcBef>
            </a:pPr>
            <a:r>
              <a:rPr lang="en-US" altLang="en-US" sz="1800" b="1">
                <a:latin typeface="Courier New" panose="02070309020205020404" pitchFamily="49" charset="0"/>
              </a:rPr>
              <a:t>HTTP/1.1 200 OK\r\n</a:t>
            </a:r>
            <a:endParaRPr lang="en-US" altLang="en-US" sz="1800" b="1">
              <a:latin typeface="Courier New" panose="02070309020205020404" pitchFamily="49" charset="0"/>
            </a:endParaRPr>
          </a:p>
          <a:p>
            <a:pPr>
              <a:lnSpc>
                <a:spcPct val="90000"/>
              </a:lnSpc>
              <a:spcBef>
                <a:spcPct val="0"/>
              </a:spcBef>
            </a:pPr>
            <a:r>
              <a:rPr lang="en-US" altLang="en-US" sz="1800" b="1">
                <a:latin typeface="Courier New" panose="02070309020205020404" pitchFamily="49" charset="0"/>
              </a:rPr>
              <a:t>Date: Sun, 26 Sep 2010 20:09:20 GMT\r\n</a:t>
            </a:r>
            <a:endParaRPr lang="en-US" altLang="en-US" sz="1800" b="1">
              <a:latin typeface="Courier New" panose="02070309020205020404" pitchFamily="49" charset="0"/>
            </a:endParaRPr>
          </a:p>
          <a:p>
            <a:pPr>
              <a:lnSpc>
                <a:spcPct val="90000"/>
              </a:lnSpc>
              <a:spcBef>
                <a:spcPct val="0"/>
              </a:spcBef>
            </a:pPr>
            <a:r>
              <a:rPr lang="en-US" altLang="en-US" sz="1800" b="1">
                <a:latin typeface="Courier New" panose="02070309020205020404" pitchFamily="49" charset="0"/>
              </a:rPr>
              <a:t>Server: Apache/2.0.52 (CentOS)\r\n</a:t>
            </a:r>
            <a:endParaRPr lang="en-US" altLang="en-US" sz="1800" b="1">
              <a:latin typeface="Courier New" panose="02070309020205020404" pitchFamily="49" charset="0"/>
            </a:endParaRPr>
          </a:p>
          <a:p>
            <a:pPr>
              <a:lnSpc>
                <a:spcPct val="90000"/>
              </a:lnSpc>
              <a:spcBef>
                <a:spcPct val="0"/>
              </a:spcBef>
            </a:pPr>
            <a:r>
              <a:rPr lang="en-US" altLang="en-US" sz="1800" b="1">
                <a:latin typeface="Courier New" panose="02070309020205020404" pitchFamily="49" charset="0"/>
              </a:rPr>
              <a:t>Last-Modified: Tue, 30 Oct 2007 17:00:02 GMT\r\n</a:t>
            </a:r>
            <a:endParaRPr lang="en-US" altLang="en-US" sz="1800" b="1">
              <a:latin typeface="Courier New" panose="02070309020205020404" pitchFamily="49" charset="0"/>
            </a:endParaRPr>
          </a:p>
          <a:p>
            <a:pPr>
              <a:lnSpc>
                <a:spcPct val="90000"/>
              </a:lnSpc>
              <a:spcBef>
                <a:spcPct val="0"/>
              </a:spcBef>
            </a:pPr>
            <a:r>
              <a:rPr lang="en-US" altLang="en-US" sz="1800" b="1">
                <a:latin typeface="Courier New" panose="02070309020205020404" pitchFamily="49" charset="0"/>
              </a:rPr>
              <a:t>ETag: "17dc6-a5c-bf716880"\r\n</a:t>
            </a:r>
            <a:endParaRPr lang="en-US" altLang="en-US" sz="1800" b="1">
              <a:latin typeface="Courier New" panose="02070309020205020404" pitchFamily="49" charset="0"/>
            </a:endParaRPr>
          </a:p>
          <a:p>
            <a:pPr>
              <a:lnSpc>
                <a:spcPct val="90000"/>
              </a:lnSpc>
              <a:spcBef>
                <a:spcPct val="0"/>
              </a:spcBef>
            </a:pPr>
            <a:r>
              <a:rPr lang="en-US" altLang="en-US" sz="1800" b="1">
                <a:latin typeface="Courier New" panose="02070309020205020404" pitchFamily="49" charset="0"/>
              </a:rPr>
              <a:t>Accept-Ranges: bytes\r\n</a:t>
            </a:r>
            <a:endParaRPr lang="en-US" altLang="en-US" sz="1800" b="1">
              <a:latin typeface="Courier New" panose="02070309020205020404" pitchFamily="49" charset="0"/>
            </a:endParaRPr>
          </a:p>
          <a:p>
            <a:pPr>
              <a:lnSpc>
                <a:spcPct val="90000"/>
              </a:lnSpc>
              <a:spcBef>
                <a:spcPct val="0"/>
              </a:spcBef>
            </a:pPr>
            <a:r>
              <a:rPr lang="en-US" altLang="en-US" sz="1800" b="1">
                <a:latin typeface="Courier New" panose="02070309020205020404" pitchFamily="49" charset="0"/>
              </a:rPr>
              <a:t>Content-Length: 2652\r\n</a:t>
            </a:r>
            <a:endParaRPr lang="en-US" altLang="en-US" sz="1800" b="1">
              <a:latin typeface="Courier New" panose="02070309020205020404" pitchFamily="49" charset="0"/>
            </a:endParaRPr>
          </a:p>
          <a:p>
            <a:pPr>
              <a:lnSpc>
                <a:spcPct val="90000"/>
              </a:lnSpc>
              <a:spcBef>
                <a:spcPct val="0"/>
              </a:spcBef>
            </a:pPr>
            <a:r>
              <a:rPr lang="en-US" altLang="en-US" sz="1800" b="1">
                <a:latin typeface="Courier New" panose="02070309020205020404" pitchFamily="49" charset="0"/>
              </a:rPr>
              <a:t>Keep-Alive: timeout=10, max=100\r\n</a:t>
            </a:r>
            <a:endParaRPr lang="en-US" altLang="en-US" sz="1800" b="1">
              <a:latin typeface="Courier New" panose="02070309020205020404" pitchFamily="49" charset="0"/>
            </a:endParaRPr>
          </a:p>
          <a:p>
            <a:pPr>
              <a:lnSpc>
                <a:spcPct val="90000"/>
              </a:lnSpc>
              <a:spcBef>
                <a:spcPct val="0"/>
              </a:spcBef>
            </a:pPr>
            <a:r>
              <a:rPr lang="en-US" altLang="en-US" sz="1800" b="1">
                <a:latin typeface="Courier New" panose="02070309020205020404" pitchFamily="49" charset="0"/>
              </a:rPr>
              <a:t>Connection: Keep-Alive\r\n</a:t>
            </a:r>
            <a:endParaRPr lang="en-US" altLang="en-US" sz="1800" b="1">
              <a:latin typeface="Courier New" panose="02070309020205020404" pitchFamily="49" charset="0"/>
            </a:endParaRPr>
          </a:p>
          <a:p>
            <a:pPr>
              <a:lnSpc>
                <a:spcPct val="90000"/>
              </a:lnSpc>
              <a:spcBef>
                <a:spcPct val="0"/>
              </a:spcBef>
            </a:pPr>
            <a:r>
              <a:rPr lang="en-US" altLang="en-US" sz="1800" b="1">
                <a:latin typeface="Courier New" panose="02070309020205020404" pitchFamily="49" charset="0"/>
              </a:rPr>
              <a:t>Content-Type: text/html; charset=ISO-8859-1\r\n</a:t>
            </a:r>
            <a:endParaRPr lang="en-US" altLang="en-US" sz="1800" b="1">
              <a:latin typeface="Courier New" panose="02070309020205020404" pitchFamily="49" charset="0"/>
            </a:endParaRPr>
          </a:p>
          <a:p>
            <a:pPr>
              <a:lnSpc>
                <a:spcPct val="90000"/>
              </a:lnSpc>
              <a:spcBef>
                <a:spcPct val="0"/>
              </a:spcBef>
            </a:pPr>
            <a:r>
              <a:rPr lang="en-US" altLang="en-US" sz="1800" b="1">
                <a:latin typeface="Courier New" panose="02070309020205020404" pitchFamily="49" charset="0"/>
              </a:rPr>
              <a:t>\r\n</a:t>
            </a:r>
            <a:endParaRPr lang="en-US" altLang="en-US" sz="1800" b="1">
              <a:latin typeface="Courier New" panose="02070309020205020404" pitchFamily="49" charset="0"/>
            </a:endParaRPr>
          </a:p>
          <a:p>
            <a:pPr>
              <a:lnSpc>
                <a:spcPct val="90000"/>
              </a:lnSpc>
              <a:spcBef>
                <a:spcPct val="0"/>
              </a:spcBef>
            </a:pPr>
            <a:r>
              <a:rPr lang="it-IT" altLang="en-US" sz="1800" b="1">
                <a:latin typeface="Courier New" panose="02070309020205020404" pitchFamily="49" charset="0"/>
              </a:rPr>
              <a:t>data data data data data ... </a:t>
            </a:r>
            <a:endParaRPr lang="en-US" altLang="en-US" sz="1800" b="1">
              <a:latin typeface="Courier New" panose="02070309020205020404" pitchFamily="49" charset="0"/>
            </a:endParaRPr>
          </a:p>
        </p:txBody>
      </p:sp>
      <p:cxnSp>
        <p:nvCxnSpPr>
          <p:cNvPr id="94" name="Straight Arrow Connector 93"/>
          <p:cNvCxnSpPr/>
          <p:nvPr/>
        </p:nvCxnSpPr>
        <p:spPr>
          <a:xfrm>
            <a:off x="3593872" y="1845820"/>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p:nvPr/>
        </p:nvCxnSpPr>
        <p:spPr>
          <a:xfrm>
            <a:off x="3593872" y="5046220"/>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sp>
        <p:nvSpPr>
          <p:cNvPr id="96" name="TextBox 1"/>
          <p:cNvSpPr txBox="1">
            <a:spLocks noChangeArrowheads="1"/>
          </p:cNvSpPr>
          <p:nvPr/>
        </p:nvSpPr>
        <p:spPr bwMode="auto">
          <a:xfrm>
            <a:off x="889630" y="6155251"/>
            <a:ext cx="95213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dirty="0"/>
              <a:t>* Check out the online interactive exercises for more examples: h</a:t>
            </a:r>
            <a:r>
              <a:rPr lang="en-US" altLang="en-US" sz="1200" dirty="0"/>
              <a:t>ttp://</a:t>
            </a:r>
            <a:r>
              <a:rPr lang="en-US" altLang="en-US" sz="1200" dirty="0" err="1"/>
              <a:t>gaia.cs.umass.edu</a:t>
            </a:r>
            <a:r>
              <a:rPr lang="en-US" altLang="en-US" sz="1200" dirty="0"/>
              <a:t>/</a:t>
            </a:r>
            <a:r>
              <a:rPr lang="en-US" altLang="en-US" sz="1200" dirty="0" err="1"/>
              <a:t>kurose_ross</a:t>
            </a:r>
            <a:r>
              <a:rPr lang="en-US" altLang="en-US" sz="1200" dirty="0"/>
              <a:t>/interactive/</a:t>
            </a:r>
            <a:endParaRPr lang="en-US" altLang="en-US" sz="1200" dirty="0"/>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430001"/>
            <a:ext cx="10515600" cy="894622"/>
          </a:xfrm>
        </p:spPr>
        <p:txBody>
          <a:bodyPr>
            <a:normAutofit/>
          </a:bodyPr>
          <a:lstStyle/>
          <a:p>
            <a:r>
              <a:rPr lang="en-US" altLang="en-US" sz="4400" dirty="0">
                <a:ea typeface="MS PGothic" panose="020B0600070205080204" pitchFamily="34" charset="-128"/>
              </a:rPr>
              <a:t>HTTP response </a:t>
            </a:r>
            <a:r>
              <a:rPr lang="en-US" altLang="en-US" dirty="0">
                <a:ea typeface="MS PGothic" panose="020B0600070205080204" pitchFamily="34" charset="-128"/>
              </a:rPr>
              <a:t>s</a:t>
            </a:r>
            <a:r>
              <a:rPr lang="en-US" altLang="en-US" sz="4400" dirty="0">
                <a:ea typeface="MS PGothic" panose="020B0600070205080204" pitchFamily="34" charset="-128"/>
              </a:rPr>
              <a:t>tatus </a:t>
            </a:r>
            <a:r>
              <a:rPr lang="en-US" altLang="en-US" dirty="0">
                <a:ea typeface="MS PGothic" panose="020B0600070205080204" pitchFamily="34" charset="-128"/>
              </a:rPr>
              <a:t>c</a:t>
            </a:r>
            <a:r>
              <a:rPr lang="en-US" altLang="en-US" sz="4400" dirty="0">
                <a:ea typeface="MS PGothic" panose="020B0600070205080204" pitchFamily="34" charset="-128"/>
              </a:rPr>
              <a:t>odes</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2" name="Rectangle 3"/>
          <p:cNvSpPr txBox="1">
            <a:spLocks noChangeArrowheads="1"/>
          </p:cNvSpPr>
          <p:nvPr/>
        </p:nvSpPr>
        <p:spPr>
          <a:xfrm>
            <a:off x="1179871" y="2274314"/>
            <a:ext cx="10678300" cy="4168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95000"/>
              </a:lnSpc>
              <a:spcBef>
                <a:spcPts val="400"/>
              </a:spcBef>
              <a:buFont typeface="Wingdings" panose="05000000000000000000" pitchFamily="2" charset="2"/>
              <a:buNone/>
            </a:pPr>
            <a:r>
              <a:rPr lang="en-US" altLang="en-US" dirty="0">
                <a:solidFill>
                  <a:srgbClr val="CC0000"/>
                </a:solidFill>
                <a:ea typeface="MS PGothic" panose="020B0600070205080204" pitchFamily="34" charset="-128"/>
              </a:rPr>
              <a:t>200 OK</a:t>
            </a:r>
            <a:endParaRPr lang="en-US" altLang="en-US" dirty="0">
              <a:solidFill>
                <a:srgbClr val="CC0000"/>
              </a:solidFill>
              <a:ea typeface="MS PGothic" panose="020B0600070205080204" pitchFamily="34" charset="-128"/>
            </a:endParaRPr>
          </a:p>
          <a:p>
            <a:pPr lvl="1">
              <a:lnSpc>
                <a:spcPct val="95000"/>
              </a:lnSpc>
              <a:spcBef>
                <a:spcPts val="400"/>
              </a:spcBef>
            </a:pPr>
            <a:r>
              <a:rPr lang="en-US" altLang="en-US" dirty="0">
                <a:ea typeface="MS PGothic" panose="020B0600070205080204" pitchFamily="34" charset="-128"/>
              </a:rPr>
              <a:t>request succeeded, requested object later in this message</a:t>
            </a:r>
            <a:endParaRPr lang="en-US" altLang="en-US" dirty="0">
              <a:ea typeface="MS PGothic" panose="020B0600070205080204" pitchFamily="34" charset="-128"/>
            </a:endParaRPr>
          </a:p>
          <a:p>
            <a:pPr>
              <a:lnSpc>
                <a:spcPct val="95000"/>
              </a:lnSpc>
              <a:spcBef>
                <a:spcPts val="400"/>
              </a:spcBef>
              <a:buFont typeface="Wingdings" panose="05000000000000000000" pitchFamily="2" charset="2"/>
              <a:buNone/>
            </a:pPr>
            <a:r>
              <a:rPr lang="en-US" altLang="en-US" dirty="0">
                <a:solidFill>
                  <a:srgbClr val="CC0000"/>
                </a:solidFill>
                <a:ea typeface="MS PGothic" panose="020B0600070205080204" pitchFamily="34" charset="-128"/>
              </a:rPr>
              <a:t>301 Moved Permanently</a:t>
            </a:r>
            <a:endParaRPr lang="en-US" altLang="en-US" dirty="0">
              <a:solidFill>
                <a:srgbClr val="CC0000"/>
              </a:solidFill>
              <a:ea typeface="MS PGothic" panose="020B0600070205080204" pitchFamily="34" charset="-128"/>
            </a:endParaRPr>
          </a:p>
          <a:p>
            <a:pPr lvl="1">
              <a:lnSpc>
                <a:spcPct val="95000"/>
              </a:lnSpc>
              <a:spcBef>
                <a:spcPts val="400"/>
              </a:spcBef>
            </a:pPr>
            <a:r>
              <a:rPr lang="en-US" altLang="en-US" dirty="0">
                <a:ea typeface="MS PGothic" panose="020B0600070205080204" pitchFamily="34" charset="-128"/>
              </a:rPr>
              <a:t>requested object moved, new location specified later in this message (in Location: field)</a:t>
            </a:r>
            <a:endParaRPr lang="en-US" altLang="en-US" dirty="0">
              <a:ea typeface="MS PGothic" panose="020B0600070205080204" pitchFamily="34" charset="-128"/>
            </a:endParaRPr>
          </a:p>
          <a:p>
            <a:pPr>
              <a:lnSpc>
                <a:spcPct val="95000"/>
              </a:lnSpc>
              <a:spcBef>
                <a:spcPts val="400"/>
              </a:spcBef>
              <a:buFont typeface="Wingdings" panose="05000000000000000000" pitchFamily="2" charset="2"/>
              <a:buNone/>
            </a:pPr>
            <a:r>
              <a:rPr lang="en-US" altLang="en-US" dirty="0">
                <a:solidFill>
                  <a:srgbClr val="CC0000"/>
                </a:solidFill>
                <a:ea typeface="MS PGothic" panose="020B0600070205080204" pitchFamily="34" charset="-128"/>
              </a:rPr>
              <a:t>400 Bad Request</a:t>
            </a:r>
            <a:endParaRPr lang="en-US" altLang="en-US" dirty="0">
              <a:solidFill>
                <a:srgbClr val="CC0000"/>
              </a:solidFill>
              <a:ea typeface="MS PGothic" panose="020B0600070205080204" pitchFamily="34" charset="-128"/>
            </a:endParaRPr>
          </a:p>
          <a:p>
            <a:pPr lvl="1">
              <a:lnSpc>
                <a:spcPct val="95000"/>
              </a:lnSpc>
              <a:spcBef>
                <a:spcPts val="400"/>
              </a:spcBef>
            </a:pPr>
            <a:r>
              <a:rPr lang="en-US" altLang="en-US" dirty="0">
                <a:ea typeface="MS PGothic" panose="020B0600070205080204" pitchFamily="34" charset="-128"/>
              </a:rPr>
              <a:t>request msg not understood by server</a:t>
            </a:r>
            <a:endParaRPr lang="en-US" altLang="en-US" dirty="0">
              <a:ea typeface="MS PGothic" panose="020B0600070205080204" pitchFamily="34" charset="-128"/>
            </a:endParaRPr>
          </a:p>
          <a:p>
            <a:pPr>
              <a:lnSpc>
                <a:spcPct val="95000"/>
              </a:lnSpc>
              <a:spcBef>
                <a:spcPts val="400"/>
              </a:spcBef>
              <a:buFont typeface="Wingdings" panose="05000000000000000000" pitchFamily="2" charset="2"/>
              <a:buNone/>
            </a:pPr>
            <a:r>
              <a:rPr lang="en-US" altLang="en-US" dirty="0">
                <a:solidFill>
                  <a:srgbClr val="CC0000"/>
                </a:solidFill>
                <a:ea typeface="MS PGothic" panose="020B0600070205080204" pitchFamily="34" charset="-128"/>
              </a:rPr>
              <a:t>404 Not Found</a:t>
            </a:r>
            <a:endParaRPr lang="en-US" altLang="en-US" dirty="0">
              <a:solidFill>
                <a:srgbClr val="CC0000"/>
              </a:solidFill>
              <a:ea typeface="MS PGothic" panose="020B0600070205080204" pitchFamily="34" charset="-128"/>
            </a:endParaRPr>
          </a:p>
          <a:p>
            <a:pPr lvl="1">
              <a:lnSpc>
                <a:spcPct val="95000"/>
              </a:lnSpc>
              <a:spcBef>
                <a:spcPts val="400"/>
              </a:spcBef>
            </a:pPr>
            <a:r>
              <a:rPr lang="en-US" altLang="en-US" dirty="0">
                <a:ea typeface="MS PGothic" panose="020B0600070205080204" pitchFamily="34" charset="-128"/>
              </a:rPr>
              <a:t>requested document not found on this server</a:t>
            </a:r>
            <a:endParaRPr lang="en-US" altLang="en-US" dirty="0">
              <a:ea typeface="MS PGothic" panose="020B0600070205080204" pitchFamily="34" charset="-128"/>
            </a:endParaRPr>
          </a:p>
          <a:p>
            <a:pPr>
              <a:lnSpc>
                <a:spcPct val="95000"/>
              </a:lnSpc>
              <a:spcBef>
                <a:spcPts val="400"/>
              </a:spcBef>
              <a:buFont typeface="Wingdings" panose="05000000000000000000" pitchFamily="2" charset="2"/>
              <a:buNone/>
            </a:pPr>
            <a:r>
              <a:rPr lang="en-US" altLang="en-US" dirty="0">
                <a:solidFill>
                  <a:srgbClr val="CC0000"/>
                </a:solidFill>
                <a:ea typeface="MS PGothic" panose="020B0600070205080204" pitchFamily="34" charset="-128"/>
              </a:rPr>
              <a:t>505 HTTP Version Not Supported</a:t>
            </a:r>
            <a:endParaRPr lang="en-US" altLang="en-US" dirty="0">
              <a:solidFill>
                <a:srgbClr val="CC0000"/>
              </a:solidFill>
              <a:ea typeface="MS PGothic" panose="020B0600070205080204" pitchFamily="34" charset="-128"/>
            </a:endParaRPr>
          </a:p>
        </p:txBody>
      </p:sp>
      <p:sp>
        <p:nvSpPr>
          <p:cNvPr id="13" name="Rectangle 5"/>
          <p:cNvSpPr>
            <a:spLocks noChangeArrowheads="1"/>
          </p:cNvSpPr>
          <p:nvPr/>
        </p:nvSpPr>
        <p:spPr bwMode="auto">
          <a:xfrm>
            <a:off x="798691" y="1325562"/>
            <a:ext cx="10856280"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51155" indent="-351155">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90000"/>
              </a:lnSpc>
              <a:buClr>
                <a:srgbClr val="000099"/>
              </a:buClr>
              <a:buSzPct val="100000"/>
              <a:buFont typeface="Wingdings" panose="05000000000000000000" pitchFamily="2" charset="2"/>
              <a:buChar char="§"/>
            </a:pPr>
            <a:r>
              <a:rPr lang="en-US" altLang="en-US" sz="2800" dirty="0">
                <a:latin typeface="+mn-lt"/>
              </a:rPr>
              <a:t>status code appears in 1st line in server-to-client response message.</a:t>
            </a:r>
            <a:endParaRPr lang="en-US" altLang="en-US" sz="2800" dirty="0">
              <a:latin typeface="+mn-lt"/>
            </a:endParaRPr>
          </a:p>
          <a:p>
            <a:pPr>
              <a:buClr>
                <a:srgbClr val="000099"/>
              </a:buClr>
              <a:buSzPct val="100000"/>
              <a:buFont typeface="Wingdings" panose="05000000000000000000" pitchFamily="2" charset="2"/>
              <a:buChar char="§"/>
            </a:pPr>
            <a:r>
              <a:rPr lang="en-US" altLang="en-US" sz="2800" dirty="0">
                <a:latin typeface="+mn-lt"/>
              </a:rPr>
              <a:t>some sample codes</a:t>
            </a:r>
            <a:r>
              <a:rPr lang="en-US" altLang="en-US" sz="2400" dirty="0">
                <a:latin typeface="+mn-lt"/>
              </a:rPr>
              <a:t>:</a:t>
            </a:r>
            <a:endParaRPr lang="en-US" altLang="en-US" sz="2400" dirty="0">
              <a:latin typeface="+mn-lt"/>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altLang="en-US" sz="4400" dirty="0">
                <a:ea typeface="MS PGothic" panose="020B0600070205080204" pitchFamily="34" charset="-128"/>
              </a:rPr>
              <a:t>Trying out HTTP (client side) for yourself</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6" name="Rectangle 3"/>
          <p:cNvSpPr txBox="1">
            <a:spLocks noChangeArrowheads="1"/>
          </p:cNvSpPr>
          <p:nvPr/>
        </p:nvSpPr>
        <p:spPr>
          <a:xfrm>
            <a:off x="579438" y="1474924"/>
            <a:ext cx="8096250"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dirty="0">
                <a:ea typeface="MS PGothic" panose="020B0600070205080204" pitchFamily="34" charset="-128"/>
              </a:rPr>
              <a:t>1. Telnet to your favorite Web server:</a:t>
            </a:r>
            <a:endParaRPr lang="en-US" altLang="en-US" dirty="0">
              <a:ea typeface="MS PGothic" panose="020B0600070205080204" pitchFamily="34" charset="-128"/>
            </a:endParaRPr>
          </a:p>
          <a:p>
            <a:pPr lvl="2">
              <a:buFontTx/>
              <a:buNone/>
            </a:pPr>
            <a:endParaRPr lang="en-US" altLang="en-US" sz="1800" dirty="0">
              <a:ea typeface="MS PGothic" panose="020B0600070205080204" pitchFamily="34" charset="-128"/>
            </a:endParaRPr>
          </a:p>
        </p:txBody>
      </p:sp>
      <p:sp>
        <p:nvSpPr>
          <p:cNvPr id="7" name="Text Box 5"/>
          <p:cNvSpPr txBox="1">
            <a:spLocks noChangeArrowheads="1"/>
          </p:cNvSpPr>
          <p:nvPr/>
        </p:nvSpPr>
        <p:spPr bwMode="auto">
          <a:xfrm>
            <a:off x="5718629" y="1884363"/>
            <a:ext cx="6244187" cy="1400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285750" indent="-285750">
              <a:spcBef>
                <a:spcPts val="600"/>
              </a:spcBef>
              <a:buClr>
                <a:srgbClr val="0000A3"/>
              </a:buClr>
              <a:buSzTx/>
              <a:buFont typeface="Wingdings" panose="05000000000000000000" pitchFamily="2" charset="2"/>
              <a:buChar char="§"/>
            </a:pPr>
            <a:r>
              <a:rPr lang="en-US" altLang="en-US" dirty="0">
                <a:latin typeface="+mn-lt"/>
              </a:rPr>
              <a:t>opens TCP connection to port 80 (default HTTP server port)  at </a:t>
            </a:r>
            <a:r>
              <a:rPr lang="en-US" altLang="en-US" dirty="0" err="1">
                <a:latin typeface="+mn-lt"/>
              </a:rPr>
              <a:t>gaia.cs.umass</a:t>
            </a:r>
            <a:r>
              <a:rPr lang="en-US" altLang="en-US" dirty="0">
                <a:latin typeface="+mn-lt"/>
              </a:rPr>
              <a:t>. </a:t>
            </a:r>
            <a:r>
              <a:rPr lang="en-US" altLang="en-US" dirty="0" err="1">
                <a:latin typeface="+mn-lt"/>
              </a:rPr>
              <a:t>edu</a:t>
            </a:r>
            <a:r>
              <a:rPr lang="en-US" altLang="en-US" dirty="0">
                <a:latin typeface="+mn-lt"/>
              </a:rPr>
              <a:t>.</a:t>
            </a:r>
            <a:endParaRPr lang="en-US" altLang="en-US" dirty="0">
              <a:latin typeface="+mn-lt"/>
            </a:endParaRPr>
          </a:p>
          <a:p>
            <a:pPr marL="285750" indent="-285750">
              <a:spcBef>
                <a:spcPts val="600"/>
              </a:spcBef>
              <a:buClr>
                <a:srgbClr val="0000A3"/>
              </a:buClr>
              <a:buSzTx/>
              <a:buFont typeface="Wingdings" panose="05000000000000000000" pitchFamily="2" charset="2"/>
              <a:buChar char="§"/>
            </a:pPr>
            <a:r>
              <a:rPr lang="en-US" altLang="en-US" dirty="0">
                <a:latin typeface="+mn-lt"/>
              </a:rPr>
              <a:t>anything typed in will be sent  to port 80 at </a:t>
            </a:r>
            <a:r>
              <a:rPr lang="en-US" altLang="en-US" dirty="0" err="1">
                <a:latin typeface="+mn-lt"/>
              </a:rPr>
              <a:t>gaia.cs.umass.edu</a:t>
            </a:r>
            <a:endParaRPr lang="en-US" altLang="en-US" sz="2800" dirty="0">
              <a:latin typeface="+mn-lt"/>
            </a:endParaRPr>
          </a:p>
        </p:txBody>
      </p:sp>
      <p:sp>
        <p:nvSpPr>
          <p:cNvPr id="8" name="Text Box 6"/>
          <p:cNvSpPr txBox="1">
            <a:spLocks noChangeArrowheads="1"/>
          </p:cNvSpPr>
          <p:nvPr/>
        </p:nvSpPr>
        <p:spPr bwMode="auto">
          <a:xfrm>
            <a:off x="1124351" y="1998799"/>
            <a:ext cx="43396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b="1" dirty="0">
                <a:solidFill>
                  <a:srgbClr val="CC0000"/>
                </a:solidFill>
                <a:latin typeface="Courier New" panose="02070309020205020404" pitchFamily="49" charset="0"/>
              </a:rPr>
              <a:t>telnet </a:t>
            </a:r>
            <a:r>
              <a:rPr lang="en-US" altLang="en-US" b="1" dirty="0" err="1">
                <a:solidFill>
                  <a:srgbClr val="CC0000"/>
                </a:solidFill>
                <a:latin typeface="Courier New" panose="02070309020205020404" pitchFamily="49" charset="0"/>
              </a:rPr>
              <a:t>gaia.cs.umass.edu</a:t>
            </a:r>
            <a:r>
              <a:rPr lang="en-US" altLang="en-US" b="1" dirty="0">
                <a:solidFill>
                  <a:srgbClr val="CC0000"/>
                </a:solidFill>
                <a:latin typeface="Courier New" panose="02070309020205020404" pitchFamily="49" charset="0"/>
              </a:rPr>
              <a:t> 80</a:t>
            </a:r>
            <a:endParaRPr lang="en-US" altLang="en-US" sz="3200" dirty="0">
              <a:solidFill>
                <a:srgbClr val="CC0000"/>
              </a:solidFill>
            </a:endParaRPr>
          </a:p>
        </p:txBody>
      </p:sp>
      <p:grpSp>
        <p:nvGrpSpPr>
          <p:cNvPr id="4" name="Group 3"/>
          <p:cNvGrpSpPr/>
          <p:nvPr/>
        </p:nvGrpSpPr>
        <p:grpSpPr>
          <a:xfrm>
            <a:off x="711200" y="5286696"/>
            <a:ext cx="8289126" cy="996484"/>
            <a:chOff x="711200" y="5286696"/>
            <a:chExt cx="8289126" cy="996484"/>
          </a:xfrm>
        </p:grpSpPr>
        <p:sp>
          <p:nvSpPr>
            <p:cNvPr id="15" name="Rectangle 14"/>
            <p:cNvSpPr>
              <a:spLocks noChangeArrowheads="1"/>
            </p:cNvSpPr>
            <p:nvPr/>
          </p:nvSpPr>
          <p:spPr bwMode="auto">
            <a:xfrm>
              <a:off x="711200" y="5286696"/>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800" dirty="0">
                  <a:latin typeface="+mn-lt"/>
                </a:rPr>
                <a:t>3. look at response message sent by HTTP server!</a:t>
              </a:r>
              <a:endParaRPr lang="en-US" altLang="en-US" sz="2800" dirty="0">
                <a:latin typeface="+mn-lt"/>
              </a:endParaRPr>
            </a:p>
          </p:txBody>
        </p:sp>
        <p:sp>
          <p:nvSpPr>
            <p:cNvPr id="16" name="Text Box 17"/>
            <p:cNvSpPr txBox="1">
              <a:spLocks noChangeArrowheads="1"/>
            </p:cNvSpPr>
            <p:nvPr/>
          </p:nvSpPr>
          <p:spPr bwMode="auto">
            <a:xfrm>
              <a:off x="1066295" y="5821515"/>
              <a:ext cx="79340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dirty="0">
                  <a:latin typeface="+mn-lt"/>
                </a:rPr>
                <a:t>(or use Wireshark to look at captured HTTP request/response)</a:t>
              </a:r>
              <a:endParaRPr lang="en-US" altLang="en-US" sz="2400" dirty="0">
                <a:latin typeface="+mn-lt"/>
              </a:endParaRPr>
            </a:p>
          </p:txBody>
        </p:sp>
      </p:grpSp>
      <p:grpSp>
        <p:nvGrpSpPr>
          <p:cNvPr id="2" name="Group 1"/>
          <p:cNvGrpSpPr/>
          <p:nvPr/>
        </p:nvGrpSpPr>
        <p:grpSpPr>
          <a:xfrm>
            <a:off x="727530" y="3145663"/>
            <a:ext cx="11243449" cy="2045073"/>
            <a:chOff x="727530" y="3145663"/>
            <a:chExt cx="11243449" cy="2045073"/>
          </a:xfrm>
        </p:grpSpPr>
        <p:sp>
          <p:nvSpPr>
            <p:cNvPr id="10" name="Rectangle 7"/>
            <p:cNvSpPr>
              <a:spLocks noChangeArrowheads="1"/>
            </p:cNvSpPr>
            <p:nvPr/>
          </p:nvSpPr>
          <p:spPr bwMode="auto">
            <a:xfrm>
              <a:off x="727530" y="3145663"/>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800" dirty="0">
                  <a:latin typeface="+mn-lt"/>
                </a:rPr>
                <a:t>2. type in a GET HTTP request:</a:t>
              </a:r>
              <a:endParaRPr lang="en-US" altLang="en-US" sz="2800" dirty="0">
                <a:latin typeface="+mn-lt"/>
              </a:endParaRPr>
            </a:p>
            <a:p>
              <a:pPr lvl="2">
                <a:buClrTx/>
                <a:buSzTx/>
                <a:buFontTx/>
                <a:buNone/>
              </a:pPr>
              <a:endParaRPr lang="en-US" altLang="en-US" sz="1800" dirty="0">
                <a:latin typeface="Comic Sans MS" panose="030F0702030302020204" pitchFamily="66" charset="0"/>
              </a:endParaRPr>
            </a:p>
          </p:txBody>
        </p:sp>
        <p:sp>
          <p:nvSpPr>
            <p:cNvPr id="11" name="Text Box 8"/>
            <p:cNvSpPr txBox="1">
              <a:spLocks noChangeArrowheads="1"/>
            </p:cNvSpPr>
            <p:nvPr/>
          </p:nvSpPr>
          <p:spPr bwMode="auto">
            <a:xfrm>
              <a:off x="1258273" y="3748006"/>
              <a:ext cx="74174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b="1" dirty="0">
                  <a:solidFill>
                    <a:srgbClr val="CC0000"/>
                  </a:solidFill>
                  <a:latin typeface="Courier New" panose="02070309020205020404" pitchFamily="49" charset="0"/>
                </a:rPr>
                <a:t>GET /</a:t>
              </a:r>
              <a:r>
                <a:rPr lang="en-US" altLang="en-US" b="1" dirty="0" err="1">
                  <a:solidFill>
                    <a:srgbClr val="CC0000"/>
                  </a:solidFill>
                  <a:latin typeface="Courier New" panose="02070309020205020404" pitchFamily="49" charset="0"/>
                </a:rPr>
                <a:t>kurose_ross</a:t>
              </a:r>
              <a:r>
                <a:rPr lang="en-US" altLang="en-US" b="1" dirty="0">
                  <a:solidFill>
                    <a:srgbClr val="CC0000"/>
                  </a:solidFill>
                  <a:latin typeface="Courier New" panose="02070309020205020404" pitchFamily="49" charset="0"/>
                </a:rPr>
                <a:t>/interactive/</a:t>
              </a:r>
              <a:r>
                <a:rPr lang="en-US" altLang="en-US" b="1" dirty="0" err="1">
                  <a:solidFill>
                    <a:srgbClr val="CC0000"/>
                  </a:solidFill>
                  <a:latin typeface="Courier New" panose="02070309020205020404" pitchFamily="49" charset="0"/>
                </a:rPr>
                <a:t>index.php</a:t>
              </a:r>
              <a:r>
                <a:rPr lang="en-US" altLang="en-US" b="1" dirty="0">
                  <a:solidFill>
                    <a:srgbClr val="CC0000"/>
                  </a:solidFill>
                  <a:latin typeface="Courier New" panose="02070309020205020404" pitchFamily="49" charset="0"/>
                </a:rPr>
                <a:t> HTTP/1.1</a:t>
              </a:r>
              <a:endParaRPr lang="en-US" altLang="en-US" b="1" dirty="0">
                <a:solidFill>
                  <a:srgbClr val="CC0000"/>
                </a:solidFill>
                <a:latin typeface="Courier New" panose="02070309020205020404" pitchFamily="49" charset="0"/>
              </a:endParaRPr>
            </a:p>
            <a:p>
              <a:pPr>
                <a:spcBef>
                  <a:spcPct val="0"/>
                </a:spcBef>
                <a:buClrTx/>
                <a:buSzTx/>
                <a:buFontTx/>
                <a:buNone/>
              </a:pPr>
              <a:r>
                <a:rPr lang="en-US" altLang="en-US" b="1" dirty="0">
                  <a:solidFill>
                    <a:srgbClr val="CC0000"/>
                  </a:solidFill>
                  <a:latin typeface="Courier New" panose="02070309020205020404" pitchFamily="49" charset="0"/>
                </a:rPr>
                <a:t>Host: </a:t>
              </a:r>
              <a:r>
                <a:rPr lang="en-US" altLang="en-US" b="1" dirty="0" err="1">
                  <a:solidFill>
                    <a:srgbClr val="CC0000"/>
                  </a:solidFill>
                  <a:latin typeface="Courier New" panose="02070309020205020404" pitchFamily="49" charset="0"/>
                </a:rPr>
                <a:t>gaia.cs.umass.edu</a:t>
              </a:r>
              <a:endParaRPr lang="en-US" altLang="en-US" b="1" dirty="0">
                <a:solidFill>
                  <a:srgbClr val="CC0000"/>
                </a:solidFill>
                <a:latin typeface="Courier New" panose="02070309020205020404" pitchFamily="49" charset="0"/>
              </a:endParaRPr>
            </a:p>
          </p:txBody>
        </p:sp>
        <p:sp>
          <p:nvSpPr>
            <p:cNvPr id="19" name="Text Box 5"/>
            <p:cNvSpPr txBox="1">
              <a:spLocks noChangeArrowheads="1"/>
            </p:cNvSpPr>
            <p:nvPr/>
          </p:nvSpPr>
          <p:spPr bwMode="auto">
            <a:xfrm>
              <a:off x="5726792" y="4175073"/>
              <a:ext cx="624418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285750" indent="-285750">
                <a:spcBef>
                  <a:spcPct val="0"/>
                </a:spcBef>
                <a:buClr>
                  <a:srgbClr val="0000A3"/>
                </a:buClr>
                <a:buSzTx/>
                <a:buFont typeface="Wingdings" panose="05000000000000000000" pitchFamily="2" charset="2"/>
                <a:buChar char="§"/>
              </a:pPr>
              <a:r>
                <a:rPr lang="en-US" altLang="en-US" dirty="0">
                  <a:latin typeface="+mn-lt"/>
                </a:rPr>
                <a:t>by typing this in (hit carriage return twice), you send this minimal (but complete)  GET request to HTTP server</a:t>
              </a:r>
              <a:endParaRPr lang="en-US" altLang="en-US" dirty="0">
                <a:latin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altLang="en-US" sz="4400" dirty="0">
                <a:ea typeface="MS PGothic" panose="020B0600070205080204" pitchFamily="34" charset="-128"/>
              </a:rPr>
              <a:t>Maintaining user/server state: cookies</a:t>
            </a:r>
            <a:endParaRPr lang="en-US" sz="4400" dirty="0"/>
          </a:p>
        </p:txBody>
      </p:sp>
      <p:sp>
        <p:nvSpPr>
          <p:cNvPr id="3"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
        <p:nvSpPr>
          <p:cNvPr id="12" name="Rectangle 3"/>
          <p:cNvSpPr txBox="1">
            <a:spLocks noChangeArrowheads="1"/>
          </p:cNvSpPr>
          <p:nvPr/>
        </p:nvSpPr>
        <p:spPr>
          <a:xfrm>
            <a:off x="751523" y="1368109"/>
            <a:ext cx="5877880" cy="273412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dirty="0">
                <a:ea typeface="MS PGothic" panose="020B0600070205080204" pitchFamily="34" charset="-128"/>
              </a:rPr>
              <a:t>Recall:  HTTP GET/response interaction is </a:t>
            </a:r>
            <a:r>
              <a:rPr lang="en-US" altLang="en-US" sz="3200" i="1" dirty="0">
                <a:solidFill>
                  <a:srgbClr val="C00000"/>
                </a:solidFill>
                <a:ea typeface="MS PGothic" panose="020B0600070205080204" pitchFamily="34" charset="-128"/>
              </a:rPr>
              <a:t>stateless</a:t>
            </a:r>
            <a:endParaRPr lang="en-US" altLang="en-US" sz="3200" i="1" dirty="0">
              <a:solidFill>
                <a:srgbClr val="C00000"/>
              </a:solidFill>
              <a:ea typeface="MS PGothic" panose="020B0600070205080204" pitchFamily="34" charset="-128"/>
            </a:endParaRPr>
          </a:p>
          <a:p>
            <a:r>
              <a:rPr lang="en-US" altLang="en-US" dirty="0">
                <a:ea typeface="MS PGothic" panose="020B0600070205080204" pitchFamily="34" charset="-128"/>
              </a:rPr>
              <a:t>no notion of multi-step exchanges of HTTP messages to complete a Web “transaction” </a:t>
            </a:r>
            <a:endParaRPr lang="en-US" altLang="en-US" dirty="0">
              <a:ea typeface="MS PGothic" panose="020B0600070205080204" pitchFamily="34" charset="-128"/>
            </a:endParaRPr>
          </a:p>
          <a:p>
            <a:pPr lvl="1"/>
            <a:r>
              <a:rPr lang="en-US" altLang="en-US" dirty="0">
                <a:ea typeface="MS PGothic" panose="020B0600070205080204" pitchFamily="34" charset="-128"/>
              </a:rPr>
              <a:t>no need for client/server to track “state” of multi-step exchange</a:t>
            </a:r>
            <a:endParaRPr lang="en-US" altLang="en-US" dirty="0">
              <a:ea typeface="MS PGothic" panose="020B0600070205080204" pitchFamily="34" charset="-128"/>
            </a:endParaRPr>
          </a:p>
          <a:p>
            <a:pPr lvl="1"/>
            <a:r>
              <a:rPr lang="en-US" altLang="en-US" dirty="0">
                <a:ea typeface="MS PGothic" panose="020B0600070205080204" pitchFamily="34" charset="-128"/>
              </a:rPr>
              <a:t>all HTTP requests are independent of each other</a:t>
            </a:r>
            <a:endParaRPr lang="en-US" altLang="en-US" dirty="0">
              <a:ea typeface="MS PGothic" panose="020B0600070205080204" pitchFamily="34" charset="-128"/>
            </a:endParaRPr>
          </a:p>
          <a:p>
            <a:pPr lvl="1"/>
            <a:r>
              <a:rPr lang="en-US" altLang="en-US" dirty="0">
                <a:ea typeface="MS PGothic" panose="020B0600070205080204" pitchFamily="34" charset="-128"/>
              </a:rPr>
              <a:t>no need for client/server to “recover” from a partially-completed-but-never-completely-completed transaction</a:t>
            </a:r>
            <a:endParaRPr lang="en-US" altLang="en-US" dirty="0">
              <a:ea typeface="MS PGothic" panose="020B0600070205080204" pitchFamily="34" charset="-128"/>
            </a:endParaRPr>
          </a:p>
        </p:txBody>
      </p:sp>
      <p:sp>
        <p:nvSpPr>
          <p:cNvPr id="2" name="TextBox 1"/>
          <p:cNvSpPr txBox="1"/>
          <p:nvPr/>
        </p:nvSpPr>
        <p:spPr>
          <a:xfrm>
            <a:off x="7777183" y="1266045"/>
            <a:ext cx="3347349" cy="646331"/>
          </a:xfrm>
          <a:prstGeom prst="rect">
            <a:avLst/>
          </a:prstGeom>
          <a:noFill/>
        </p:spPr>
        <p:txBody>
          <a:bodyPr wrap="square" rtlCol="0">
            <a:spAutoFit/>
          </a:bodyPr>
          <a:lstStyle/>
          <a:p>
            <a:r>
              <a:rPr lang="en-US" dirty="0">
                <a:solidFill>
                  <a:srgbClr val="0000A3"/>
                </a:solidFill>
              </a:rPr>
              <a:t>a stateful protocol: </a:t>
            </a:r>
            <a:r>
              <a:rPr lang="en-US" dirty="0"/>
              <a:t>client makes two changes to X, or none at all</a:t>
            </a:r>
            <a:endParaRPr lang="en-US" dirty="0"/>
          </a:p>
        </p:txBody>
      </p:sp>
      <p:sp>
        <p:nvSpPr>
          <p:cNvPr id="14" name="Line 15"/>
          <p:cNvSpPr>
            <a:spLocks noChangeShapeType="1"/>
          </p:cNvSpPr>
          <p:nvPr/>
        </p:nvSpPr>
        <p:spPr bwMode="auto">
          <a:xfrm>
            <a:off x="8211743" y="2818375"/>
            <a:ext cx="0" cy="2832100"/>
          </a:xfrm>
          <a:prstGeom prst="line">
            <a:avLst/>
          </a:prstGeom>
          <a:noFill/>
          <a:ln w="9525">
            <a:solidFill>
              <a:srgbClr val="FF0000"/>
            </a:solidFill>
            <a:prstDash val="sysDot"/>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17" name="Line 16"/>
          <p:cNvSpPr>
            <a:spLocks noChangeShapeType="1"/>
          </p:cNvSpPr>
          <p:nvPr/>
        </p:nvSpPr>
        <p:spPr bwMode="auto">
          <a:xfrm>
            <a:off x="9902430" y="2812025"/>
            <a:ext cx="0" cy="2881312"/>
          </a:xfrm>
          <a:prstGeom prst="line">
            <a:avLst/>
          </a:prstGeom>
          <a:noFill/>
          <a:ln w="9525">
            <a:solidFill>
              <a:srgbClr val="FF0000"/>
            </a:solidFill>
            <a:prstDash val="sysDot"/>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34" name="Text Box 37"/>
          <p:cNvSpPr txBox="1">
            <a:spLocks noChangeArrowheads="1"/>
          </p:cNvSpPr>
          <p:nvPr/>
        </p:nvSpPr>
        <p:spPr bwMode="auto">
          <a:xfrm>
            <a:off x="7986318" y="5664762"/>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spcBef>
                <a:spcPct val="0"/>
              </a:spcBef>
              <a:buClrTx/>
              <a:buSzTx/>
              <a:buFontTx/>
              <a:buNone/>
            </a:pPr>
            <a:r>
              <a:rPr lang="en-US" altLang="en-US" sz="1400">
                <a:solidFill>
                  <a:schemeClr val="bg1">
                    <a:lumMod val="65000"/>
                  </a:schemeClr>
                </a:solidFill>
                <a:latin typeface="+mn-lt"/>
              </a:rPr>
              <a:t>time</a:t>
            </a:r>
            <a:endParaRPr lang="en-US" altLang="en-US" sz="1400">
              <a:solidFill>
                <a:schemeClr val="bg1">
                  <a:lumMod val="65000"/>
                </a:schemeClr>
              </a:solidFill>
              <a:latin typeface="+mn-lt"/>
            </a:endParaRPr>
          </a:p>
        </p:txBody>
      </p:sp>
      <p:sp>
        <p:nvSpPr>
          <p:cNvPr id="35" name="Text Box 38"/>
          <p:cNvSpPr txBox="1">
            <a:spLocks noChangeArrowheads="1"/>
          </p:cNvSpPr>
          <p:nvPr/>
        </p:nvSpPr>
        <p:spPr bwMode="auto">
          <a:xfrm>
            <a:off x="9664305" y="5647300"/>
            <a:ext cx="5196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400">
                <a:solidFill>
                  <a:schemeClr val="bg1">
                    <a:lumMod val="65000"/>
                  </a:schemeClr>
                </a:solidFill>
                <a:latin typeface="+mn-lt"/>
              </a:rPr>
              <a:t>time</a:t>
            </a:r>
            <a:endParaRPr lang="en-US" altLang="en-US" sz="1400">
              <a:solidFill>
                <a:schemeClr val="bg1">
                  <a:lumMod val="65000"/>
                </a:schemeClr>
              </a:solidFill>
              <a:latin typeface="+mn-lt"/>
            </a:endParaRPr>
          </a:p>
        </p:txBody>
      </p:sp>
      <p:grpSp>
        <p:nvGrpSpPr>
          <p:cNvPr id="36" name="Group 43"/>
          <p:cNvGrpSpPr/>
          <p:nvPr/>
        </p:nvGrpSpPr>
        <p:grpSpPr bwMode="auto">
          <a:xfrm>
            <a:off x="9702405" y="2045262"/>
            <a:ext cx="423863" cy="684213"/>
            <a:chOff x="4140" y="429"/>
            <a:chExt cx="1425" cy="2396"/>
          </a:xfrm>
        </p:grpSpPr>
        <p:sp>
          <p:nvSpPr>
            <p:cNvPr id="37" name="Freeform 44"/>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sp>
          <p:nvSpPr>
            <p:cNvPr id="38" name="Rectangle 45"/>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39" name="Freeform 46"/>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sp>
          <p:nvSpPr>
            <p:cNvPr id="40" name="Freeform 47"/>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sp>
          <p:nvSpPr>
            <p:cNvPr id="41" name="Rectangle 48"/>
            <p:cNvSpPr>
              <a:spLocks noChangeArrowheads="1"/>
            </p:cNvSpPr>
            <p:nvPr/>
          </p:nvSpPr>
          <p:spPr bwMode="auto">
            <a:xfrm>
              <a:off x="4209" y="690"/>
              <a:ext cx="598"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nvGrpSpPr>
            <p:cNvPr id="42" name="Group 49"/>
            <p:cNvGrpSpPr/>
            <p:nvPr/>
          </p:nvGrpSpPr>
          <p:grpSpPr bwMode="auto">
            <a:xfrm>
              <a:off x="4749" y="668"/>
              <a:ext cx="581" cy="145"/>
              <a:chOff x="614" y="2568"/>
              <a:chExt cx="725" cy="139"/>
            </a:xfrm>
          </p:grpSpPr>
          <p:sp>
            <p:nvSpPr>
              <p:cNvPr id="67" name="AutoShape 50"/>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68" name="AutoShape 51"/>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sp>
          <p:nvSpPr>
            <p:cNvPr id="43" name="Rectangle 52"/>
            <p:cNvSpPr>
              <a:spLocks noChangeArrowheads="1"/>
            </p:cNvSpPr>
            <p:nvPr/>
          </p:nvSpPr>
          <p:spPr bwMode="auto">
            <a:xfrm>
              <a:off x="4225" y="1018"/>
              <a:ext cx="592"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nvGrpSpPr>
            <p:cNvPr id="44" name="Group 53"/>
            <p:cNvGrpSpPr/>
            <p:nvPr/>
          </p:nvGrpSpPr>
          <p:grpSpPr bwMode="auto">
            <a:xfrm>
              <a:off x="4747" y="994"/>
              <a:ext cx="581" cy="134"/>
              <a:chOff x="614" y="2568"/>
              <a:chExt cx="725" cy="139"/>
            </a:xfrm>
          </p:grpSpPr>
          <p:sp>
            <p:nvSpPr>
              <p:cNvPr id="65" name="AutoShape 54"/>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66" name="AutoShape 55"/>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sp>
          <p:nvSpPr>
            <p:cNvPr id="45" name="Rectangle 56"/>
            <p:cNvSpPr>
              <a:spLocks noChangeArrowheads="1"/>
            </p:cNvSpPr>
            <p:nvPr/>
          </p:nvSpPr>
          <p:spPr bwMode="auto">
            <a:xfrm>
              <a:off x="4215" y="1357"/>
              <a:ext cx="598"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46" name="Rectangle 57"/>
            <p:cNvSpPr>
              <a:spLocks noChangeArrowheads="1"/>
            </p:cNvSpPr>
            <p:nvPr/>
          </p:nvSpPr>
          <p:spPr bwMode="auto">
            <a:xfrm>
              <a:off x="4225" y="1658"/>
              <a:ext cx="598"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nvGrpSpPr>
            <p:cNvPr id="47" name="Group 58"/>
            <p:cNvGrpSpPr/>
            <p:nvPr/>
          </p:nvGrpSpPr>
          <p:grpSpPr bwMode="auto">
            <a:xfrm>
              <a:off x="4735" y="1627"/>
              <a:ext cx="582" cy="151"/>
              <a:chOff x="614" y="2568"/>
              <a:chExt cx="725" cy="139"/>
            </a:xfrm>
          </p:grpSpPr>
          <p:sp>
            <p:nvSpPr>
              <p:cNvPr id="63" name="AutoShape 59"/>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64" name="AutoShape 60"/>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sp>
          <p:nvSpPr>
            <p:cNvPr id="48" name="Freeform 61"/>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grpSp>
          <p:nvGrpSpPr>
            <p:cNvPr id="49" name="Group 62"/>
            <p:cNvGrpSpPr/>
            <p:nvPr/>
          </p:nvGrpSpPr>
          <p:grpSpPr bwMode="auto">
            <a:xfrm>
              <a:off x="4739" y="1327"/>
              <a:ext cx="582" cy="139"/>
              <a:chOff x="614" y="2568"/>
              <a:chExt cx="725" cy="139"/>
            </a:xfrm>
          </p:grpSpPr>
          <p:sp>
            <p:nvSpPr>
              <p:cNvPr id="61" name="AutoShape 63"/>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62" name="AutoShape 64"/>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sp>
          <p:nvSpPr>
            <p:cNvPr id="50" name="Rectangle 65"/>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51" name="Freeform 66"/>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sp>
          <p:nvSpPr>
            <p:cNvPr id="52" name="Freeform 67"/>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sp>
          <p:nvSpPr>
            <p:cNvPr id="53" name="Oval 68"/>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54" name="Freeform 69"/>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p>
          </p:txBody>
        </p:sp>
        <p:sp>
          <p:nvSpPr>
            <p:cNvPr id="55" name="AutoShape 70"/>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56" name="AutoShape 71"/>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57" name="Oval 72"/>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58" name="Oval 73"/>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2400">
                <a:solidFill>
                  <a:srgbClr val="FF0000"/>
                </a:solidFill>
                <a:latin typeface="+mn-lt"/>
                <a:cs typeface="Arial" panose="020B0604020202020204" pitchFamily="34" charset="0"/>
              </a:endParaRPr>
            </a:p>
          </p:txBody>
        </p:sp>
        <p:sp>
          <p:nvSpPr>
            <p:cNvPr id="59" name="Oval 74"/>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60" name="Rectangle 75"/>
            <p:cNvSpPr>
              <a:spLocks noChangeArrowheads="1"/>
            </p:cNvSpPr>
            <p:nvPr/>
          </p:nvSpPr>
          <p:spPr bwMode="auto">
            <a:xfrm>
              <a:off x="5063" y="1835"/>
              <a:ext cx="85" cy="762"/>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grpSp>
      <p:grpSp>
        <p:nvGrpSpPr>
          <p:cNvPr id="69" name="Group 76"/>
          <p:cNvGrpSpPr/>
          <p:nvPr/>
        </p:nvGrpSpPr>
        <p:grpSpPr bwMode="auto">
          <a:xfrm>
            <a:off x="7700568" y="2067487"/>
            <a:ext cx="698500" cy="709613"/>
            <a:chOff x="-44" y="1473"/>
            <a:chExt cx="981" cy="1105"/>
          </a:xfrm>
        </p:grpSpPr>
        <p:pic>
          <p:nvPicPr>
            <p:cNvPr id="70" name="Picture 77"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78"/>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400"/>
            </a:p>
          </p:txBody>
        </p:sp>
      </p:grpSp>
      <p:grpSp>
        <p:nvGrpSpPr>
          <p:cNvPr id="125" name="Group 124"/>
          <p:cNvGrpSpPr/>
          <p:nvPr/>
        </p:nvGrpSpPr>
        <p:grpSpPr>
          <a:xfrm>
            <a:off x="8211743" y="3942941"/>
            <a:ext cx="1673225" cy="337184"/>
            <a:chOff x="8211743" y="3942941"/>
            <a:chExt cx="1673225" cy="337184"/>
          </a:xfrm>
        </p:grpSpPr>
        <p:sp>
          <p:nvSpPr>
            <p:cNvPr id="77" name="Line 18"/>
            <p:cNvSpPr>
              <a:spLocks noChangeShapeType="1"/>
            </p:cNvSpPr>
            <p:nvPr/>
          </p:nvSpPr>
          <p:spPr bwMode="auto">
            <a:xfrm flipH="1">
              <a:off x="8211743" y="3942941"/>
              <a:ext cx="1673225" cy="242211"/>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78" name="TextBox 77"/>
            <p:cNvSpPr txBox="1"/>
            <p:nvPr/>
          </p:nvSpPr>
          <p:spPr>
            <a:xfrm rot="21106037">
              <a:off x="9382305" y="3972348"/>
              <a:ext cx="462053" cy="307777"/>
            </a:xfrm>
            <a:prstGeom prst="rect">
              <a:avLst/>
            </a:prstGeom>
            <a:noFill/>
          </p:spPr>
          <p:txBody>
            <a:bodyPr wrap="square" rtlCol="0">
              <a:spAutoFit/>
            </a:bodyPr>
            <a:lstStyle/>
            <a:p>
              <a:r>
                <a:rPr lang="en-US" sz="1400" dirty="0"/>
                <a:t>OK</a:t>
              </a:r>
              <a:endParaRPr lang="en-US" sz="1400" i="1" dirty="0"/>
            </a:p>
          </p:txBody>
        </p:sp>
      </p:grpSp>
      <p:grpSp>
        <p:nvGrpSpPr>
          <p:cNvPr id="127" name="Group 126"/>
          <p:cNvGrpSpPr/>
          <p:nvPr/>
        </p:nvGrpSpPr>
        <p:grpSpPr>
          <a:xfrm>
            <a:off x="8220565" y="4654247"/>
            <a:ext cx="1673225" cy="307777"/>
            <a:chOff x="8220565" y="4654247"/>
            <a:chExt cx="1673225" cy="307777"/>
          </a:xfrm>
        </p:grpSpPr>
        <p:sp>
          <p:nvSpPr>
            <p:cNvPr id="82" name="Line 18"/>
            <p:cNvSpPr>
              <a:spLocks noChangeShapeType="1"/>
            </p:cNvSpPr>
            <p:nvPr/>
          </p:nvSpPr>
          <p:spPr bwMode="auto">
            <a:xfrm flipH="1">
              <a:off x="8220565" y="4655320"/>
              <a:ext cx="1673225" cy="242211"/>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83" name="TextBox 82"/>
            <p:cNvSpPr txBox="1"/>
            <p:nvPr/>
          </p:nvSpPr>
          <p:spPr>
            <a:xfrm rot="21106037">
              <a:off x="9360647" y="4654247"/>
              <a:ext cx="462053" cy="307777"/>
            </a:xfrm>
            <a:prstGeom prst="rect">
              <a:avLst/>
            </a:prstGeom>
            <a:noFill/>
          </p:spPr>
          <p:txBody>
            <a:bodyPr wrap="square" rtlCol="0">
              <a:spAutoFit/>
            </a:bodyPr>
            <a:lstStyle/>
            <a:p>
              <a:r>
                <a:rPr lang="en-US" sz="1400" dirty="0"/>
                <a:t>OK</a:t>
              </a:r>
              <a:endParaRPr lang="en-US" sz="1400" i="1" dirty="0"/>
            </a:p>
          </p:txBody>
        </p:sp>
      </p:grpSp>
      <p:grpSp>
        <p:nvGrpSpPr>
          <p:cNvPr id="128" name="Group 127"/>
          <p:cNvGrpSpPr/>
          <p:nvPr/>
        </p:nvGrpSpPr>
        <p:grpSpPr>
          <a:xfrm>
            <a:off x="8226030" y="4881121"/>
            <a:ext cx="1684338" cy="344172"/>
            <a:chOff x="8226030" y="4881121"/>
            <a:chExt cx="1684338" cy="344172"/>
          </a:xfrm>
        </p:grpSpPr>
        <p:sp>
          <p:nvSpPr>
            <p:cNvPr id="86" name="Line 17"/>
            <p:cNvSpPr>
              <a:spLocks noChangeShapeType="1"/>
            </p:cNvSpPr>
            <p:nvPr/>
          </p:nvSpPr>
          <p:spPr bwMode="auto">
            <a:xfrm>
              <a:off x="8226030" y="4990711"/>
              <a:ext cx="1684338" cy="234582"/>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88" name="TextBox 87"/>
            <p:cNvSpPr txBox="1"/>
            <p:nvPr/>
          </p:nvSpPr>
          <p:spPr>
            <a:xfrm rot="460210">
              <a:off x="8601378" y="4881121"/>
              <a:ext cx="1126989" cy="307777"/>
            </a:xfrm>
            <a:prstGeom prst="rect">
              <a:avLst/>
            </a:prstGeom>
            <a:noFill/>
          </p:spPr>
          <p:txBody>
            <a:bodyPr wrap="square" rtlCol="0">
              <a:spAutoFit/>
            </a:bodyPr>
            <a:lstStyle/>
            <a:p>
              <a:r>
                <a:rPr lang="en-US" sz="1400" dirty="0"/>
                <a:t>unlock </a:t>
              </a:r>
              <a:r>
                <a:rPr lang="en-US" sz="1400" i="1" dirty="0"/>
                <a:t>X</a:t>
              </a:r>
              <a:endParaRPr lang="en-US" sz="1400" i="1" dirty="0"/>
            </a:p>
          </p:txBody>
        </p:sp>
      </p:grpSp>
      <p:grpSp>
        <p:nvGrpSpPr>
          <p:cNvPr id="129" name="Group 128"/>
          <p:cNvGrpSpPr/>
          <p:nvPr/>
        </p:nvGrpSpPr>
        <p:grpSpPr>
          <a:xfrm>
            <a:off x="8211743" y="5253900"/>
            <a:ext cx="1673225" cy="336684"/>
            <a:chOff x="8211743" y="5253900"/>
            <a:chExt cx="1673225" cy="336684"/>
          </a:xfrm>
        </p:grpSpPr>
        <p:sp>
          <p:nvSpPr>
            <p:cNvPr id="87" name="Line 18"/>
            <p:cNvSpPr>
              <a:spLocks noChangeShapeType="1"/>
            </p:cNvSpPr>
            <p:nvPr/>
          </p:nvSpPr>
          <p:spPr bwMode="auto">
            <a:xfrm flipH="1">
              <a:off x="8211743" y="5253900"/>
              <a:ext cx="1673225" cy="242211"/>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89" name="TextBox 88"/>
            <p:cNvSpPr txBox="1"/>
            <p:nvPr/>
          </p:nvSpPr>
          <p:spPr>
            <a:xfrm rot="21106037">
              <a:off x="9373746" y="5282807"/>
              <a:ext cx="462053" cy="307777"/>
            </a:xfrm>
            <a:prstGeom prst="rect">
              <a:avLst/>
            </a:prstGeom>
            <a:noFill/>
          </p:spPr>
          <p:txBody>
            <a:bodyPr wrap="square" rtlCol="0">
              <a:spAutoFit/>
            </a:bodyPr>
            <a:lstStyle/>
            <a:p>
              <a:r>
                <a:rPr lang="en-US" sz="1400" dirty="0"/>
                <a:t>OK</a:t>
              </a:r>
              <a:endParaRPr lang="en-US" sz="1400" i="1" dirty="0"/>
            </a:p>
          </p:txBody>
        </p:sp>
      </p:grpSp>
      <p:grpSp>
        <p:nvGrpSpPr>
          <p:cNvPr id="130" name="Group 129"/>
          <p:cNvGrpSpPr/>
          <p:nvPr/>
        </p:nvGrpSpPr>
        <p:grpSpPr>
          <a:xfrm>
            <a:off x="8226030" y="3575737"/>
            <a:ext cx="1696234" cy="338597"/>
            <a:chOff x="8226030" y="3575737"/>
            <a:chExt cx="1696234" cy="338597"/>
          </a:xfrm>
        </p:grpSpPr>
        <p:sp>
          <p:nvSpPr>
            <p:cNvPr id="76" name="Line 17"/>
            <p:cNvSpPr>
              <a:spLocks noChangeShapeType="1"/>
            </p:cNvSpPr>
            <p:nvPr/>
          </p:nvSpPr>
          <p:spPr bwMode="auto">
            <a:xfrm>
              <a:off x="8226030" y="3679752"/>
              <a:ext cx="1684338" cy="234582"/>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79" name="TextBox 78"/>
            <p:cNvSpPr txBox="1"/>
            <p:nvPr/>
          </p:nvSpPr>
          <p:spPr>
            <a:xfrm rot="460210">
              <a:off x="8589335" y="3575737"/>
              <a:ext cx="1332929" cy="307777"/>
            </a:xfrm>
            <a:prstGeom prst="rect">
              <a:avLst/>
            </a:prstGeom>
            <a:noFill/>
          </p:spPr>
          <p:txBody>
            <a:bodyPr wrap="square" rtlCol="0">
              <a:spAutoFit/>
            </a:bodyPr>
            <a:lstStyle/>
            <a:p>
              <a:r>
                <a:rPr lang="en-US" sz="1400" dirty="0"/>
                <a:t>update </a:t>
              </a:r>
              <a:r>
                <a:rPr lang="en-US" sz="1400" i="1" dirty="0"/>
                <a:t>X      X’</a:t>
              </a:r>
              <a:endParaRPr lang="en-US" sz="1400" i="1" dirty="0"/>
            </a:p>
          </p:txBody>
        </p:sp>
        <p:cxnSp>
          <p:nvCxnSpPr>
            <p:cNvPr id="92" name="Straight Arrow Connector 91"/>
            <p:cNvCxnSpPr/>
            <p:nvPr/>
          </p:nvCxnSpPr>
          <p:spPr>
            <a:xfrm flipH="1" flipV="1">
              <a:off x="9331367" y="3750644"/>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1" name="Group 130"/>
          <p:cNvGrpSpPr/>
          <p:nvPr/>
        </p:nvGrpSpPr>
        <p:grpSpPr>
          <a:xfrm>
            <a:off x="8234852" y="4259764"/>
            <a:ext cx="1684338" cy="366949"/>
            <a:chOff x="8234852" y="4259764"/>
            <a:chExt cx="1684338" cy="366949"/>
          </a:xfrm>
        </p:grpSpPr>
        <p:sp>
          <p:nvSpPr>
            <p:cNvPr id="81" name="Line 17"/>
            <p:cNvSpPr>
              <a:spLocks noChangeShapeType="1"/>
            </p:cNvSpPr>
            <p:nvPr/>
          </p:nvSpPr>
          <p:spPr bwMode="auto">
            <a:xfrm>
              <a:off x="8234852" y="4392131"/>
              <a:ext cx="1684338" cy="234582"/>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84" name="TextBox 83"/>
            <p:cNvSpPr txBox="1"/>
            <p:nvPr/>
          </p:nvSpPr>
          <p:spPr>
            <a:xfrm rot="460210">
              <a:off x="8600615" y="4259764"/>
              <a:ext cx="1257041" cy="307777"/>
            </a:xfrm>
            <a:prstGeom prst="rect">
              <a:avLst/>
            </a:prstGeom>
            <a:noFill/>
          </p:spPr>
          <p:txBody>
            <a:bodyPr wrap="square" rtlCol="0">
              <a:spAutoFit/>
            </a:bodyPr>
            <a:lstStyle/>
            <a:p>
              <a:r>
                <a:rPr lang="en-US" sz="1400" dirty="0"/>
                <a:t>update </a:t>
              </a:r>
              <a:r>
                <a:rPr lang="en-US" sz="1400" i="1" dirty="0"/>
                <a:t>X      X’’</a:t>
              </a:r>
              <a:endParaRPr lang="en-US" sz="1400" i="1" dirty="0"/>
            </a:p>
          </p:txBody>
        </p:sp>
        <p:cxnSp>
          <p:nvCxnSpPr>
            <p:cNvPr id="96" name="Straight Arrow Connector 95"/>
            <p:cNvCxnSpPr/>
            <p:nvPr/>
          </p:nvCxnSpPr>
          <p:spPr>
            <a:xfrm flipH="1" flipV="1">
              <a:off x="9339955" y="4436145"/>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1" name="Group 120"/>
          <p:cNvGrpSpPr/>
          <p:nvPr/>
        </p:nvGrpSpPr>
        <p:grpSpPr>
          <a:xfrm>
            <a:off x="8226030" y="2820539"/>
            <a:ext cx="1684338" cy="362594"/>
            <a:chOff x="8226030" y="2820539"/>
            <a:chExt cx="1684338" cy="362594"/>
          </a:xfrm>
        </p:grpSpPr>
        <p:sp>
          <p:nvSpPr>
            <p:cNvPr id="5" name="TextBox 4"/>
            <p:cNvSpPr txBox="1"/>
            <p:nvPr/>
          </p:nvSpPr>
          <p:spPr>
            <a:xfrm rot="460210">
              <a:off x="8283881" y="2820539"/>
              <a:ext cx="1560697" cy="307777"/>
            </a:xfrm>
            <a:prstGeom prst="rect">
              <a:avLst/>
            </a:prstGeom>
            <a:noFill/>
          </p:spPr>
          <p:txBody>
            <a:bodyPr wrap="square" rtlCol="0">
              <a:spAutoFit/>
            </a:bodyPr>
            <a:lstStyle/>
            <a:p>
              <a:r>
                <a:rPr lang="en-US" sz="1400" dirty="0"/>
                <a:t>lock data record </a:t>
              </a:r>
              <a:r>
                <a:rPr lang="en-US" sz="1400" i="1" dirty="0"/>
                <a:t>X</a:t>
              </a:r>
              <a:endParaRPr lang="en-US" sz="1400" i="1" dirty="0"/>
            </a:p>
          </p:txBody>
        </p:sp>
        <p:sp>
          <p:nvSpPr>
            <p:cNvPr id="18" name="Line 17"/>
            <p:cNvSpPr>
              <a:spLocks noChangeShapeType="1"/>
            </p:cNvSpPr>
            <p:nvPr/>
          </p:nvSpPr>
          <p:spPr bwMode="auto">
            <a:xfrm>
              <a:off x="8226030" y="2948551"/>
              <a:ext cx="1684338" cy="234582"/>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grpSp>
      <p:grpSp>
        <p:nvGrpSpPr>
          <p:cNvPr id="123" name="Group 122"/>
          <p:cNvGrpSpPr/>
          <p:nvPr/>
        </p:nvGrpSpPr>
        <p:grpSpPr>
          <a:xfrm>
            <a:off x="8211743" y="3211740"/>
            <a:ext cx="1673225" cy="326272"/>
            <a:chOff x="8211743" y="3211740"/>
            <a:chExt cx="1673225" cy="326272"/>
          </a:xfrm>
        </p:grpSpPr>
        <p:sp>
          <p:nvSpPr>
            <p:cNvPr id="20" name="Line 18"/>
            <p:cNvSpPr>
              <a:spLocks noChangeShapeType="1"/>
            </p:cNvSpPr>
            <p:nvPr/>
          </p:nvSpPr>
          <p:spPr bwMode="auto">
            <a:xfrm flipH="1">
              <a:off x="8211743" y="3211740"/>
              <a:ext cx="1673225" cy="242211"/>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74" name="TextBox 73"/>
            <p:cNvSpPr txBox="1"/>
            <p:nvPr/>
          </p:nvSpPr>
          <p:spPr>
            <a:xfrm rot="21106037">
              <a:off x="9368027" y="3230235"/>
              <a:ext cx="462053" cy="307777"/>
            </a:xfrm>
            <a:prstGeom prst="rect">
              <a:avLst/>
            </a:prstGeom>
            <a:noFill/>
          </p:spPr>
          <p:txBody>
            <a:bodyPr wrap="square" rtlCol="0">
              <a:spAutoFit/>
            </a:bodyPr>
            <a:lstStyle/>
            <a:p>
              <a:r>
                <a:rPr lang="en-US" sz="1400" dirty="0"/>
                <a:t>OK</a:t>
              </a:r>
              <a:endParaRPr lang="en-US" sz="1400" i="1" dirty="0"/>
            </a:p>
          </p:txBody>
        </p:sp>
      </p:grpSp>
      <p:grpSp>
        <p:nvGrpSpPr>
          <p:cNvPr id="122" name="Group 121"/>
          <p:cNvGrpSpPr/>
          <p:nvPr/>
        </p:nvGrpSpPr>
        <p:grpSpPr>
          <a:xfrm>
            <a:off x="10136156" y="2957082"/>
            <a:ext cx="522425" cy="400110"/>
            <a:chOff x="10136156" y="2957082"/>
            <a:chExt cx="522425" cy="400110"/>
          </a:xfrm>
        </p:grpSpPr>
        <p:sp>
          <p:nvSpPr>
            <p:cNvPr id="91" name="AutoShape 327"/>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latin typeface="Times New Roman" panose="02020603050405020304" pitchFamily="18" charset="0"/>
                <a:cs typeface="Arial" panose="020B0604020202020204" pitchFamily="34" charset="0"/>
              </a:endParaRPr>
            </a:p>
          </p:txBody>
        </p:sp>
        <p:sp>
          <p:nvSpPr>
            <p:cNvPr id="97" name="TextBox 96"/>
            <p:cNvSpPr txBox="1"/>
            <p:nvPr/>
          </p:nvSpPr>
          <p:spPr>
            <a:xfrm>
              <a:off x="10364121" y="3049415"/>
              <a:ext cx="294460" cy="307777"/>
            </a:xfrm>
            <a:prstGeom prst="rect">
              <a:avLst/>
            </a:prstGeom>
            <a:noFill/>
          </p:spPr>
          <p:txBody>
            <a:bodyPr wrap="square" rtlCol="0">
              <a:spAutoFit/>
            </a:bodyPr>
            <a:lstStyle/>
            <a:p>
              <a:r>
                <a:rPr lang="en-US" sz="1400" i="1" dirty="0"/>
                <a:t>X</a:t>
              </a:r>
              <a:endParaRPr lang="en-US" sz="1400" i="1" dirty="0"/>
            </a:p>
          </p:txBody>
        </p:sp>
        <p:pic>
          <p:nvPicPr>
            <p:cNvPr id="101" name="Picture 100"/>
            <p:cNvPicPr>
              <a:picLocks noChangeAspect="1"/>
            </p:cNvPicPr>
            <p:nvPr/>
          </p:nvPicPr>
          <p:blipFill>
            <a:blip r:embed="rId2"/>
            <a:stretch>
              <a:fillRect/>
            </a:stretch>
          </p:blipFill>
          <p:spPr>
            <a:xfrm>
              <a:off x="10136156" y="2995160"/>
              <a:ext cx="307778" cy="307778"/>
            </a:xfrm>
            <a:prstGeom prst="rect">
              <a:avLst/>
            </a:prstGeom>
          </p:spPr>
        </p:pic>
      </p:grpSp>
      <p:sp>
        <p:nvSpPr>
          <p:cNvPr id="102" name="AutoShape 327"/>
          <p:cNvSpPr>
            <a:spLocks noChangeArrowheads="1"/>
          </p:cNvSpPr>
          <p:nvPr/>
        </p:nvSpPr>
        <p:spPr bwMode="auto">
          <a:xfrm>
            <a:off x="10157378" y="2195369"/>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latin typeface="Times New Roman" panose="02020603050405020304" pitchFamily="18" charset="0"/>
              <a:cs typeface="Arial" panose="020B0604020202020204" pitchFamily="34" charset="0"/>
            </a:endParaRPr>
          </a:p>
        </p:txBody>
      </p:sp>
      <p:sp>
        <p:nvSpPr>
          <p:cNvPr id="103" name="TextBox 102"/>
          <p:cNvSpPr txBox="1"/>
          <p:nvPr/>
        </p:nvSpPr>
        <p:spPr>
          <a:xfrm>
            <a:off x="10383166" y="2287702"/>
            <a:ext cx="294460" cy="307777"/>
          </a:xfrm>
          <a:prstGeom prst="rect">
            <a:avLst/>
          </a:prstGeom>
          <a:noFill/>
        </p:spPr>
        <p:txBody>
          <a:bodyPr wrap="square" rtlCol="0">
            <a:spAutoFit/>
          </a:bodyPr>
          <a:lstStyle/>
          <a:p>
            <a:r>
              <a:rPr lang="en-US" sz="1400" i="1" dirty="0"/>
              <a:t>X</a:t>
            </a:r>
            <a:endParaRPr lang="en-US" sz="1400" i="1" dirty="0"/>
          </a:p>
        </p:txBody>
      </p:sp>
      <p:grpSp>
        <p:nvGrpSpPr>
          <p:cNvPr id="106" name="Group 105"/>
          <p:cNvGrpSpPr/>
          <p:nvPr/>
        </p:nvGrpSpPr>
        <p:grpSpPr>
          <a:xfrm>
            <a:off x="10132163" y="3702128"/>
            <a:ext cx="592569" cy="400110"/>
            <a:chOff x="10136156" y="2957082"/>
            <a:chExt cx="592569" cy="400110"/>
          </a:xfrm>
        </p:grpSpPr>
        <p:sp>
          <p:nvSpPr>
            <p:cNvPr id="107" name="AutoShape 327"/>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latin typeface="Times New Roman" panose="02020603050405020304" pitchFamily="18" charset="0"/>
                <a:cs typeface="Arial" panose="020B0604020202020204" pitchFamily="34" charset="0"/>
              </a:endParaRPr>
            </a:p>
          </p:txBody>
        </p:sp>
        <p:sp>
          <p:nvSpPr>
            <p:cNvPr id="108" name="TextBox 107"/>
            <p:cNvSpPr txBox="1"/>
            <p:nvPr/>
          </p:nvSpPr>
          <p:spPr>
            <a:xfrm>
              <a:off x="10364121" y="3049415"/>
              <a:ext cx="364604" cy="307777"/>
            </a:xfrm>
            <a:prstGeom prst="rect">
              <a:avLst/>
            </a:prstGeom>
            <a:noFill/>
          </p:spPr>
          <p:txBody>
            <a:bodyPr wrap="square" rtlCol="0">
              <a:spAutoFit/>
            </a:bodyPr>
            <a:lstStyle/>
            <a:p>
              <a:r>
                <a:rPr lang="en-US" sz="1400" i="1" dirty="0"/>
                <a:t>X’</a:t>
              </a:r>
              <a:endParaRPr lang="en-US" sz="1400" i="1" dirty="0"/>
            </a:p>
          </p:txBody>
        </p:sp>
        <p:pic>
          <p:nvPicPr>
            <p:cNvPr id="109" name="Picture 108"/>
            <p:cNvPicPr>
              <a:picLocks noChangeAspect="1"/>
            </p:cNvPicPr>
            <p:nvPr/>
          </p:nvPicPr>
          <p:blipFill>
            <a:blip r:embed="rId2"/>
            <a:stretch>
              <a:fillRect/>
            </a:stretch>
          </p:blipFill>
          <p:spPr>
            <a:xfrm>
              <a:off x="10136156" y="2995160"/>
              <a:ext cx="307778" cy="307778"/>
            </a:xfrm>
            <a:prstGeom prst="rect">
              <a:avLst/>
            </a:prstGeom>
          </p:spPr>
        </p:pic>
      </p:grpSp>
      <p:grpSp>
        <p:nvGrpSpPr>
          <p:cNvPr id="110" name="Group 109"/>
          <p:cNvGrpSpPr/>
          <p:nvPr/>
        </p:nvGrpSpPr>
        <p:grpSpPr>
          <a:xfrm>
            <a:off x="10128170" y="4447174"/>
            <a:ext cx="592569" cy="400110"/>
            <a:chOff x="10136156" y="2957082"/>
            <a:chExt cx="592569" cy="400110"/>
          </a:xfrm>
        </p:grpSpPr>
        <p:sp>
          <p:nvSpPr>
            <p:cNvPr id="111" name="AutoShape 327"/>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latin typeface="Times New Roman" panose="02020603050405020304" pitchFamily="18" charset="0"/>
                <a:cs typeface="Arial" panose="020B0604020202020204" pitchFamily="34" charset="0"/>
              </a:endParaRPr>
            </a:p>
          </p:txBody>
        </p:sp>
        <p:sp>
          <p:nvSpPr>
            <p:cNvPr id="112" name="TextBox 111"/>
            <p:cNvSpPr txBox="1"/>
            <p:nvPr/>
          </p:nvSpPr>
          <p:spPr>
            <a:xfrm>
              <a:off x="10364121" y="3049415"/>
              <a:ext cx="364604" cy="307777"/>
            </a:xfrm>
            <a:prstGeom prst="rect">
              <a:avLst/>
            </a:prstGeom>
            <a:noFill/>
          </p:spPr>
          <p:txBody>
            <a:bodyPr wrap="square" rtlCol="0">
              <a:spAutoFit/>
            </a:bodyPr>
            <a:lstStyle/>
            <a:p>
              <a:r>
                <a:rPr lang="en-US" sz="1400" i="1" dirty="0"/>
                <a:t>X’’</a:t>
              </a:r>
              <a:endParaRPr lang="en-US" sz="1400" i="1" dirty="0"/>
            </a:p>
          </p:txBody>
        </p:sp>
        <p:pic>
          <p:nvPicPr>
            <p:cNvPr id="113" name="Picture 112"/>
            <p:cNvPicPr>
              <a:picLocks noChangeAspect="1"/>
            </p:cNvPicPr>
            <p:nvPr/>
          </p:nvPicPr>
          <p:blipFill>
            <a:blip r:embed="rId2"/>
            <a:stretch>
              <a:fillRect/>
            </a:stretch>
          </p:blipFill>
          <p:spPr>
            <a:xfrm>
              <a:off x="10136156" y="2995160"/>
              <a:ext cx="307778" cy="307778"/>
            </a:xfrm>
            <a:prstGeom prst="rect">
              <a:avLst/>
            </a:prstGeom>
          </p:spPr>
        </p:pic>
      </p:grpSp>
      <p:grpSp>
        <p:nvGrpSpPr>
          <p:cNvPr id="114" name="Group 113"/>
          <p:cNvGrpSpPr/>
          <p:nvPr/>
        </p:nvGrpSpPr>
        <p:grpSpPr>
          <a:xfrm>
            <a:off x="10126354" y="5192220"/>
            <a:ext cx="726072" cy="400110"/>
            <a:chOff x="10138333" y="2957082"/>
            <a:chExt cx="726072" cy="400110"/>
          </a:xfrm>
        </p:grpSpPr>
        <p:sp>
          <p:nvSpPr>
            <p:cNvPr id="115" name="AutoShape 327"/>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latin typeface="Times New Roman" panose="02020603050405020304" pitchFamily="18" charset="0"/>
                <a:cs typeface="Arial" panose="020B0604020202020204" pitchFamily="34" charset="0"/>
              </a:endParaRPr>
            </a:p>
          </p:txBody>
        </p:sp>
        <p:sp>
          <p:nvSpPr>
            <p:cNvPr id="116" name="TextBox 115"/>
            <p:cNvSpPr txBox="1"/>
            <p:nvPr/>
          </p:nvSpPr>
          <p:spPr>
            <a:xfrm>
              <a:off x="10364121" y="3049415"/>
              <a:ext cx="500284" cy="307777"/>
            </a:xfrm>
            <a:prstGeom prst="rect">
              <a:avLst/>
            </a:prstGeom>
            <a:noFill/>
          </p:spPr>
          <p:txBody>
            <a:bodyPr wrap="square" rtlCol="0">
              <a:spAutoFit/>
            </a:bodyPr>
            <a:lstStyle/>
            <a:p>
              <a:r>
                <a:rPr lang="en-US" sz="1400" i="1" dirty="0"/>
                <a:t>X’’</a:t>
              </a:r>
              <a:endParaRPr lang="en-US" sz="1400" i="1" dirty="0"/>
            </a:p>
          </p:txBody>
        </p:sp>
      </p:grpSp>
      <p:sp>
        <p:nvSpPr>
          <p:cNvPr id="118" name="TextBox 117"/>
          <p:cNvSpPr txBox="1"/>
          <p:nvPr/>
        </p:nvSpPr>
        <p:spPr>
          <a:xfrm>
            <a:off x="7895870" y="4140346"/>
            <a:ext cx="414291" cy="338554"/>
          </a:xfrm>
          <a:prstGeom prst="rect">
            <a:avLst/>
          </a:prstGeom>
          <a:noFill/>
        </p:spPr>
        <p:txBody>
          <a:bodyPr wrap="square" rtlCol="0">
            <a:spAutoFit/>
          </a:bodyPr>
          <a:lstStyle/>
          <a:p>
            <a:r>
              <a:rPr lang="en-US" sz="1600" i="1" dirty="0">
                <a:solidFill>
                  <a:srgbClr val="0000A3"/>
                </a:solidFill>
              </a:rPr>
              <a:t>t’</a:t>
            </a:r>
            <a:endParaRPr lang="en-US" sz="1600" i="1" dirty="0"/>
          </a:p>
        </p:txBody>
      </p:sp>
      <p:sp>
        <p:nvSpPr>
          <p:cNvPr id="119" name="TextBox 118"/>
          <p:cNvSpPr txBox="1"/>
          <p:nvPr/>
        </p:nvSpPr>
        <p:spPr>
          <a:xfrm>
            <a:off x="7384517" y="5969340"/>
            <a:ext cx="4115505" cy="584775"/>
          </a:xfrm>
          <a:prstGeom prst="rect">
            <a:avLst/>
          </a:prstGeom>
          <a:noFill/>
        </p:spPr>
        <p:txBody>
          <a:bodyPr wrap="square" rtlCol="0">
            <a:spAutoFit/>
          </a:bodyPr>
          <a:lstStyle/>
          <a:p>
            <a:r>
              <a:rPr lang="en-US" sz="1600" i="1" dirty="0">
                <a:solidFill>
                  <a:srgbClr val="C00000"/>
                </a:solidFill>
              </a:rPr>
              <a:t>Q: </a:t>
            </a:r>
            <a:r>
              <a:rPr lang="en-US" sz="1600" dirty="0"/>
              <a:t>what happens if network connection or client crashes at </a:t>
            </a:r>
            <a:r>
              <a:rPr lang="en-US" sz="1600" i="1" dirty="0"/>
              <a:t>t’ </a:t>
            </a:r>
            <a:r>
              <a:rPr lang="en-US" sz="1600" dirty="0"/>
              <a:t>?</a:t>
            </a:r>
            <a:endParaRPr lang="en-US" sz="16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dissolve">
                                      <p:cBhvr>
                                        <p:cTn id="11" dur="500"/>
                                        <p:tgtEl>
                                          <p:spTgt spid="122"/>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23"/>
                                        </p:tgtEl>
                                        <p:attrNameLst>
                                          <p:attrName>style.visibility</p:attrName>
                                        </p:attrNameLst>
                                      </p:cBhvr>
                                      <p:to>
                                        <p:strVal val="visible"/>
                                      </p:to>
                                    </p:set>
                                    <p:animEffect transition="in" filter="wipe(right)">
                                      <p:cBhvr>
                                        <p:cTn id="15" dur="500"/>
                                        <p:tgtEl>
                                          <p:spTgt spid="12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0"/>
                                        </p:tgtEl>
                                        <p:attrNameLst>
                                          <p:attrName>style.visibility</p:attrName>
                                        </p:attrNameLst>
                                      </p:cBhvr>
                                      <p:to>
                                        <p:strVal val="visible"/>
                                      </p:to>
                                    </p:set>
                                    <p:animEffect transition="in" filter="wipe(left)">
                                      <p:cBhvr>
                                        <p:cTn id="20" dur="500"/>
                                        <p:tgtEl>
                                          <p:spTgt spid="130"/>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106"/>
                                        </p:tgtEl>
                                        <p:attrNameLst>
                                          <p:attrName>style.visibility</p:attrName>
                                        </p:attrNameLst>
                                      </p:cBhvr>
                                      <p:to>
                                        <p:strVal val="visible"/>
                                      </p:to>
                                    </p:set>
                                    <p:animEffect transition="in" filter="dissolve">
                                      <p:cBhvr>
                                        <p:cTn id="24" dur="500"/>
                                        <p:tgtEl>
                                          <p:spTgt spid="106"/>
                                        </p:tgtEl>
                                      </p:cBhvr>
                                    </p:animEffect>
                                  </p:childTnLst>
                                </p:cTn>
                              </p:par>
                            </p:childTnLst>
                          </p:cTn>
                        </p:par>
                        <p:par>
                          <p:cTn id="25" fill="hold">
                            <p:stCondLst>
                              <p:cond delay="1000"/>
                            </p:stCondLst>
                            <p:childTnLst>
                              <p:par>
                                <p:cTn id="26" presetID="22" presetClass="entr" presetSubtype="2" fill="hold"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wipe(right)">
                                      <p:cBhvr>
                                        <p:cTn id="28" dur="500"/>
                                        <p:tgtEl>
                                          <p:spTgt spid="125"/>
                                        </p:tgtEl>
                                      </p:cBhvr>
                                    </p:animEffect>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131"/>
                                        </p:tgtEl>
                                        <p:attrNameLst>
                                          <p:attrName>style.visibility</p:attrName>
                                        </p:attrNameLst>
                                      </p:cBhvr>
                                      <p:to>
                                        <p:strVal val="visible"/>
                                      </p:to>
                                    </p:set>
                                    <p:animEffect transition="in" filter="wipe(left)">
                                      <p:cBhvr>
                                        <p:cTn id="32" dur="500"/>
                                        <p:tgtEl>
                                          <p:spTgt spid="131"/>
                                        </p:tgtEl>
                                      </p:cBhvr>
                                    </p:animEffect>
                                  </p:childTnLst>
                                </p:cTn>
                              </p:par>
                            </p:childTnLst>
                          </p:cTn>
                        </p:par>
                        <p:par>
                          <p:cTn id="33" fill="hold">
                            <p:stCondLst>
                              <p:cond delay="2000"/>
                            </p:stCondLst>
                            <p:childTnLst>
                              <p:par>
                                <p:cTn id="34" presetID="9" presetClass="entr" presetSubtype="0" fill="hold" nodeType="after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dissolve">
                                      <p:cBhvr>
                                        <p:cTn id="36" dur="500"/>
                                        <p:tgtEl>
                                          <p:spTgt spid="110"/>
                                        </p:tgtEl>
                                      </p:cBhvr>
                                    </p:animEffect>
                                  </p:childTnLst>
                                </p:cTn>
                              </p:par>
                            </p:childTnLst>
                          </p:cTn>
                        </p:par>
                        <p:par>
                          <p:cTn id="37" fill="hold">
                            <p:stCondLst>
                              <p:cond delay="2500"/>
                            </p:stCondLst>
                            <p:childTnLst>
                              <p:par>
                                <p:cTn id="38" presetID="22" presetClass="entr" presetSubtype="2" fill="hold" nodeType="afterEffect">
                                  <p:stCondLst>
                                    <p:cond delay="0"/>
                                  </p:stCondLst>
                                  <p:childTnLst>
                                    <p:set>
                                      <p:cBhvr>
                                        <p:cTn id="39" dur="1" fill="hold">
                                          <p:stCondLst>
                                            <p:cond delay="0"/>
                                          </p:stCondLst>
                                        </p:cTn>
                                        <p:tgtEl>
                                          <p:spTgt spid="127"/>
                                        </p:tgtEl>
                                        <p:attrNameLst>
                                          <p:attrName>style.visibility</p:attrName>
                                        </p:attrNameLst>
                                      </p:cBhvr>
                                      <p:to>
                                        <p:strVal val="visible"/>
                                      </p:to>
                                    </p:set>
                                    <p:animEffect transition="in" filter="wipe(right)">
                                      <p:cBhvr>
                                        <p:cTn id="40" dur="500"/>
                                        <p:tgtEl>
                                          <p:spTgt spid="127"/>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wipe(left)">
                                      <p:cBhvr>
                                        <p:cTn id="45" dur="500"/>
                                        <p:tgtEl>
                                          <p:spTgt spid="128"/>
                                        </p:tgtEl>
                                      </p:cBhvr>
                                    </p:animEffect>
                                  </p:childTnLst>
                                </p:cTn>
                              </p:par>
                            </p:childTnLst>
                          </p:cTn>
                        </p:par>
                        <p:par>
                          <p:cTn id="46" fill="hold">
                            <p:stCondLst>
                              <p:cond delay="500"/>
                            </p:stCondLst>
                            <p:childTnLst>
                              <p:par>
                                <p:cTn id="47" presetID="9" presetClass="entr" presetSubtype="0" fill="hold"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dissolve">
                                      <p:cBhvr>
                                        <p:cTn id="49" dur="500"/>
                                        <p:tgtEl>
                                          <p:spTgt spid="114"/>
                                        </p:tgtEl>
                                      </p:cBhvr>
                                    </p:animEffect>
                                  </p:childTnLst>
                                </p:cTn>
                              </p:par>
                            </p:childTnLst>
                          </p:cTn>
                        </p:par>
                        <p:par>
                          <p:cTn id="50" fill="hold">
                            <p:stCondLst>
                              <p:cond delay="1000"/>
                            </p:stCondLst>
                            <p:childTnLst>
                              <p:par>
                                <p:cTn id="51" presetID="22" presetClass="entr" presetSubtype="2" fill="hold" nodeType="afterEffect">
                                  <p:stCondLst>
                                    <p:cond delay="0"/>
                                  </p:stCondLst>
                                  <p:childTnLst>
                                    <p:set>
                                      <p:cBhvr>
                                        <p:cTn id="52" dur="1" fill="hold">
                                          <p:stCondLst>
                                            <p:cond delay="0"/>
                                          </p:stCondLst>
                                        </p:cTn>
                                        <p:tgtEl>
                                          <p:spTgt spid="129"/>
                                        </p:tgtEl>
                                        <p:attrNameLst>
                                          <p:attrName>style.visibility</p:attrName>
                                        </p:attrNameLst>
                                      </p:cBhvr>
                                      <p:to>
                                        <p:strVal val="visible"/>
                                      </p:to>
                                    </p:set>
                                    <p:animEffect transition="in" filter="wipe(right)">
                                      <p:cBhvr>
                                        <p:cTn id="53" dur="500"/>
                                        <p:tgtEl>
                                          <p:spTgt spid="129"/>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9"/>
                                        </p:tgtEl>
                                        <p:attrNameLst>
                                          <p:attrName>style.visibility</p:attrName>
                                        </p:attrNameLst>
                                      </p:cBhvr>
                                      <p:to>
                                        <p:strVal val="visible"/>
                                      </p:to>
                                    </p:set>
                                    <p:animEffect transition="in" filter="dissolve">
                                      <p:cBhvr>
                                        <p:cTn id="58" dur="5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altLang="en-US" sz="4400" dirty="0">
                <a:ea typeface="MS PGothic" panose="020B0600070205080204" pitchFamily="34" charset="-128"/>
              </a:rPr>
              <a:t>Maintaining user/server state: cookies</a:t>
            </a:r>
            <a:endParaRPr lang="en-US" sz="4400" dirty="0"/>
          </a:p>
        </p:txBody>
      </p:sp>
      <p:sp>
        <p:nvSpPr>
          <p:cNvPr id="3"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
        <p:nvSpPr>
          <p:cNvPr id="93" name="Rectangle 3"/>
          <p:cNvSpPr txBox="1">
            <a:spLocks noChangeArrowheads="1"/>
          </p:cNvSpPr>
          <p:nvPr/>
        </p:nvSpPr>
        <p:spPr>
          <a:xfrm>
            <a:off x="622608" y="1452389"/>
            <a:ext cx="6335547" cy="488791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dirty="0">
                <a:ea typeface="MS PGothic" panose="020B0600070205080204" pitchFamily="34" charset="-128"/>
              </a:rPr>
              <a:t>Web sites and client browser  use </a:t>
            </a:r>
            <a:r>
              <a:rPr lang="en-US" altLang="en-US" sz="3200" i="1" dirty="0">
                <a:solidFill>
                  <a:srgbClr val="C00000"/>
                </a:solidFill>
                <a:ea typeface="MS PGothic" panose="020B0600070205080204" pitchFamily="34" charset="-128"/>
              </a:rPr>
              <a:t>cookies</a:t>
            </a:r>
            <a:r>
              <a:rPr lang="en-US" altLang="en-US" sz="3200" dirty="0">
                <a:ea typeface="MS PGothic" panose="020B0600070205080204" pitchFamily="34" charset="-128"/>
              </a:rPr>
              <a:t> to maintain some state between transactions</a:t>
            </a:r>
            <a:endParaRPr lang="en-US" altLang="en-US" sz="3200" dirty="0">
              <a:ea typeface="MS PGothic" panose="020B0600070205080204" pitchFamily="34" charset="-128"/>
            </a:endParaRPr>
          </a:p>
          <a:p>
            <a:pPr>
              <a:buFont typeface="Wingdings" panose="05000000000000000000" pitchFamily="2" charset="2"/>
              <a:buNone/>
            </a:pPr>
            <a:r>
              <a:rPr lang="en-US" altLang="en-US" sz="3200" i="1" dirty="0">
                <a:solidFill>
                  <a:srgbClr val="0000A3"/>
                </a:solidFill>
                <a:ea typeface="MS PGothic" panose="020B0600070205080204" pitchFamily="34" charset="-128"/>
              </a:rPr>
              <a:t>four components:</a:t>
            </a:r>
            <a:endParaRPr lang="en-US" altLang="en-US" sz="3200" i="1" dirty="0">
              <a:solidFill>
                <a:srgbClr val="0000A3"/>
              </a:solidFill>
              <a:ea typeface="MS PGothic" panose="020B0600070205080204" pitchFamily="34" charset="-128"/>
            </a:endParaRPr>
          </a:p>
          <a:p>
            <a:pPr lvl="1">
              <a:buFont typeface="Wingdings" panose="05000000000000000000" pitchFamily="2" charset="2"/>
              <a:buNone/>
            </a:pPr>
            <a:r>
              <a:rPr lang="en-US" altLang="en-US" sz="2800" dirty="0">
                <a:ea typeface="MS PGothic" panose="020B0600070205080204" pitchFamily="34" charset="-128"/>
              </a:rPr>
              <a:t>1) cookie header line of HTTP </a:t>
            </a:r>
            <a:r>
              <a:rPr lang="en-US" altLang="en-US" sz="2800" i="1" dirty="0">
                <a:ea typeface="MS PGothic" panose="020B0600070205080204" pitchFamily="34" charset="-128"/>
              </a:rPr>
              <a:t>response</a:t>
            </a:r>
            <a:r>
              <a:rPr lang="en-US" altLang="en-US" sz="2800" dirty="0">
                <a:ea typeface="MS PGothic" panose="020B0600070205080204" pitchFamily="34" charset="-128"/>
              </a:rPr>
              <a:t> message</a:t>
            </a:r>
            <a:endParaRPr lang="en-US" altLang="en-US" sz="2800" dirty="0">
              <a:ea typeface="MS PGothic" panose="020B0600070205080204" pitchFamily="34" charset="-128"/>
            </a:endParaRPr>
          </a:p>
          <a:p>
            <a:pPr lvl="1">
              <a:buFont typeface="Wingdings" panose="05000000000000000000" pitchFamily="2" charset="2"/>
              <a:buNone/>
            </a:pPr>
            <a:r>
              <a:rPr lang="en-US" altLang="en-US" sz="2800" dirty="0">
                <a:ea typeface="MS PGothic" panose="020B0600070205080204" pitchFamily="34" charset="-128"/>
              </a:rPr>
              <a:t>2) cookie header line in next HTTP </a:t>
            </a:r>
            <a:r>
              <a:rPr lang="en-US" altLang="en-US" sz="2800" i="1" dirty="0">
                <a:ea typeface="MS PGothic" panose="020B0600070205080204" pitchFamily="34" charset="-128"/>
              </a:rPr>
              <a:t>request</a:t>
            </a:r>
            <a:r>
              <a:rPr lang="en-US" altLang="en-US" sz="2800" dirty="0">
                <a:ea typeface="MS PGothic" panose="020B0600070205080204" pitchFamily="34" charset="-128"/>
              </a:rPr>
              <a:t> message</a:t>
            </a:r>
            <a:endParaRPr lang="en-US" altLang="en-US" sz="2800" dirty="0">
              <a:ea typeface="MS PGothic" panose="020B0600070205080204" pitchFamily="34" charset="-128"/>
            </a:endParaRPr>
          </a:p>
          <a:p>
            <a:pPr lvl="1">
              <a:buFont typeface="Wingdings" panose="05000000000000000000" pitchFamily="2" charset="2"/>
              <a:buNone/>
            </a:pPr>
            <a:r>
              <a:rPr lang="en-US" altLang="en-US" sz="2800" dirty="0">
                <a:ea typeface="MS PGothic" panose="020B0600070205080204" pitchFamily="34" charset="-128"/>
              </a:rPr>
              <a:t>3) cookie file kept on user</a:t>
            </a:r>
            <a:r>
              <a:rPr lang="ja-JP" altLang="en-US" sz="2800">
                <a:ea typeface="MS PGothic" panose="020B0600070205080204" pitchFamily="34" charset="-128"/>
              </a:rPr>
              <a:t>’</a:t>
            </a:r>
            <a:r>
              <a:rPr lang="en-US" altLang="ja-JP" sz="2800" dirty="0">
                <a:ea typeface="MS PGothic" panose="020B0600070205080204" pitchFamily="34" charset="-128"/>
              </a:rPr>
              <a:t>s host, managed by user</a:t>
            </a:r>
            <a:r>
              <a:rPr lang="ja-JP" altLang="en-US" sz="2800">
                <a:ea typeface="MS PGothic" panose="020B0600070205080204" pitchFamily="34" charset="-128"/>
              </a:rPr>
              <a:t>’</a:t>
            </a:r>
            <a:r>
              <a:rPr lang="en-US" altLang="ja-JP" sz="2800" dirty="0">
                <a:ea typeface="MS PGothic" panose="020B0600070205080204" pitchFamily="34" charset="-128"/>
              </a:rPr>
              <a:t>s browser</a:t>
            </a:r>
            <a:endParaRPr lang="en-US" altLang="ja-JP" sz="2800" dirty="0">
              <a:ea typeface="MS PGothic" panose="020B0600070205080204" pitchFamily="34" charset="-128"/>
            </a:endParaRPr>
          </a:p>
          <a:p>
            <a:pPr lvl="1">
              <a:buFont typeface="Wingdings" panose="05000000000000000000" pitchFamily="2" charset="2"/>
              <a:buNone/>
            </a:pPr>
            <a:r>
              <a:rPr lang="en-US" altLang="en-US" sz="2800" dirty="0">
                <a:ea typeface="MS PGothic" panose="020B0600070205080204" pitchFamily="34" charset="-128"/>
              </a:rPr>
              <a:t>4) back-end database at Web site</a:t>
            </a:r>
            <a:endParaRPr lang="en-US" altLang="en-US" sz="2800" dirty="0">
              <a:ea typeface="MS PGothic" panose="020B0600070205080204" pitchFamily="34" charset="-128"/>
            </a:endParaRPr>
          </a:p>
        </p:txBody>
      </p:sp>
      <p:sp>
        <p:nvSpPr>
          <p:cNvPr id="94" name="Rectangle 4"/>
          <p:cNvSpPr txBox="1">
            <a:spLocks noChangeArrowheads="1"/>
          </p:cNvSpPr>
          <p:nvPr/>
        </p:nvSpPr>
        <p:spPr>
          <a:xfrm>
            <a:off x="7599363" y="1452389"/>
            <a:ext cx="4363453" cy="502573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indent="11430">
              <a:buFont typeface="Wingdings" panose="05000000000000000000" charset="0"/>
              <a:buNone/>
              <a:defRPr/>
            </a:pPr>
            <a:r>
              <a:rPr lang="en-US" dirty="0">
                <a:solidFill>
                  <a:srgbClr val="0000A3"/>
                </a:solidFill>
              </a:rPr>
              <a:t>Example:</a:t>
            </a:r>
            <a:endParaRPr lang="en-US" dirty="0">
              <a:solidFill>
                <a:srgbClr val="0000A3"/>
              </a:solidFill>
            </a:endParaRPr>
          </a:p>
          <a:p>
            <a:pPr marL="233680" indent="-233680">
              <a:spcBef>
                <a:spcPts val="600"/>
              </a:spcBef>
              <a:buFont typeface="Wingdings" panose="05000000000000000000" pitchFamily="2" charset="2"/>
              <a:buChar char="§"/>
              <a:defRPr/>
            </a:pPr>
            <a:r>
              <a:rPr lang="en-US" sz="2400" dirty="0"/>
              <a:t>Susan uses browser on laptop, visits specific e-commerce site for first time</a:t>
            </a:r>
            <a:endParaRPr lang="en-US" sz="2400" dirty="0"/>
          </a:p>
          <a:p>
            <a:pPr marL="233680" indent="-233680">
              <a:spcBef>
                <a:spcPts val="600"/>
              </a:spcBef>
              <a:buFont typeface="Wingdings" panose="05000000000000000000" pitchFamily="2" charset="2"/>
              <a:buChar char="§"/>
              <a:defRPr/>
            </a:pPr>
            <a:r>
              <a:rPr lang="en-US" sz="2400" dirty="0"/>
              <a:t>when initial HTTP requests arrives at site, site creates: </a:t>
            </a:r>
            <a:endParaRPr lang="en-US" sz="2400" dirty="0"/>
          </a:p>
          <a:p>
            <a:pPr marL="685800" lvl="1" indent="-228600">
              <a:spcBef>
                <a:spcPts val="600"/>
              </a:spcBef>
              <a:buFont typeface="Arial" panose="020B0604020202020204"/>
              <a:buChar char="•"/>
              <a:defRPr/>
            </a:pPr>
            <a:r>
              <a:rPr lang="en-US" dirty="0"/>
              <a:t>unique ID (aka “cookie”)</a:t>
            </a:r>
            <a:endParaRPr lang="en-US" dirty="0"/>
          </a:p>
          <a:p>
            <a:pPr marL="685800" lvl="1" indent="-228600">
              <a:spcBef>
                <a:spcPts val="600"/>
              </a:spcBef>
              <a:buFont typeface="Arial" panose="020B0604020202020204"/>
              <a:buChar char="•"/>
              <a:defRPr/>
            </a:pPr>
            <a:r>
              <a:rPr lang="en-US" dirty="0"/>
              <a:t>entry in backend database for ID</a:t>
            </a:r>
            <a:endParaRPr lang="en-US" dirty="0"/>
          </a:p>
          <a:p>
            <a:pPr marL="342900" indent="-228600">
              <a:spcBef>
                <a:spcPts val="600"/>
              </a:spcBef>
              <a:buFont typeface="Arial" panose="020B0604020202020204"/>
              <a:buChar char="•"/>
              <a:defRPr/>
            </a:pPr>
            <a:r>
              <a:rPr lang="en-US" sz="2400" dirty="0"/>
              <a:t>subsequent HTTP requests from Susan to this site will contain cookie ID value, allowing site to “identify” Susan</a:t>
            </a:r>
            <a:endParaRPr lang="en-US" sz="24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4"/>
                                        </p:tgtEl>
                                        <p:attrNameLst>
                                          <p:attrName>style.visibility</p:attrName>
                                        </p:attrNameLst>
                                      </p:cBhvr>
                                      <p:to>
                                        <p:strVal val="visible"/>
                                      </p:to>
                                    </p:set>
                                    <p:animEffect transition="in" filter="dissolve">
                                      <p:cBhvr>
                                        <p:cTn id="7"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altLang="en-US" sz="4400" dirty="0">
                <a:ea typeface="MS PGothic" panose="020B0600070205080204" pitchFamily="34" charset="-128"/>
              </a:rPr>
              <a:t>Maintaining user/server state: cookies</a:t>
            </a:r>
            <a:endParaRPr lang="en-US" sz="4400" dirty="0"/>
          </a:p>
        </p:txBody>
      </p:sp>
      <p:sp>
        <p:nvSpPr>
          <p:cNvPr id="3"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
        <p:nvSpPr>
          <p:cNvPr id="96" name="Text Box 5"/>
          <p:cNvSpPr txBox="1">
            <a:spLocks noChangeArrowheads="1"/>
          </p:cNvSpPr>
          <p:nvPr/>
        </p:nvSpPr>
        <p:spPr bwMode="auto">
          <a:xfrm>
            <a:off x="2092674" y="1266659"/>
            <a:ext cx="8739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400" b="0" i="0" u="none" strike="noStrike" kern="0" cap="none" spc="0" normalizeH="0" baseline="0" noProof="0" dirty="0">
                <a:ln>
                  <a:noFill/>
                </a:ln>
                <a:solidFill>
                  <a:srgbClr val="CC0000"/>
                </a:solidFill>
                <a:effectLst/>
                <a:uLnTx/>
                <a:uFillTx/>
                <a:latin typeface="+mn-lt"/>
                <a:ea typeface="MS PGothic" panose="020B0600070205080204" pitchFamily="34" charset="-128"/>
              </a:rPr>
              <a:t>client</a:t>
            </a:r>
            <a:endParaRPr kumimoji="0" lang="en-US" altLang="en-US" sz="2400" b="0" i="0" u="none" strike="noStrike" kern="0" cap="none" spc="0" normalizeH="0" baseline="0" noProof="0" dirty="0">
              <a:ln>
                <a:noFill/>
              </a:ln>
              <a:solidFill>
                <a:srgbClr val="CC0000"/>
              </a:solidFill>
              <a:effectLst/>
              <a:uLnTx/>
              <a:uFillTx/>
              <a:latin typeface="+mn-lt"/>
              <a:ea typeface="MS PGothic" panose="020B0600070205080204" pitchFamily="34" charset="-128"/>
            </a:endParaRPr>
          </a:p>
        </p:txBody>
      </p:sp>
      <p:sp>
        <p:nvSpPr>
          <p:cNvPr id="97" name="Text Box 6"/>
          <p:cNvSpPr txBox="1">
            <a:spLocks noChangeArrowheads="1"/>
          </p:cNvSpPr>
          <p:nvPr/>
        </p:nvSpPr>
        <p:spPr bwMode="auto">
          <a:xfrm>
            <a:off x="7072999" y="1555531"/>
            <a:ext cx="9669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400" b="0" i="0" u="none" strike="noStrike" kern="0" cap="none" spc="0" normalizeH="0" baseline="0" noProof="0" dirty="0">
                <a:ln>
                  <a:noFill/>
                </a:ln>
                <a:solidFill>
                  <a:srgbClr val="CC0000"/>
                </a:solidFill>
                <a:effectLst/>
                <a:uLnTx/>
                <a:uFillTx/>
                <a:latin typeface="+mn-lt"/>
                <a:ea typeface="MS PGothic" panose="020B0600070205080204" pitchFamily="34" charset="-128"/>
              </a:rPr>
              <a:t>server</a:t>
            </a:r>
            <a:endParaRPr kumimoji="0" lang="en-US" altLang="en-US" sz="2400" b="0" i="0" u="none" strike="noStrike" kern="0" cap="none" spc="0" normalizeH="0" baseline="0" noProof="0" dirty="0">
              <a:ln>
                <a:noFill/>
              </a:ln>
              <a:solidFill>
                <a:srgbClr val="CC0000"/>
              </a:solidFill>
              <a:effectLst/>
              <a:uLnTx/>
              <a:uFillTx/>
              <a:latin typeface="+mn-lt"/>
              <a:ea typeface="MS PGothic" panose="020B0600070205080204" pitchFamily="34" charset="-128"/>
            </a:endParaRPr>
          </a:p>
        </p:txBody>
      </p:sp>
      <p:grpSp>
        <p:nvGrpSpPr>
          <p:cNvPr id="98" name="Group 90"/>
          <p:cNvGrpSpPr/>
          <p:nvPr/>
        </p:nvGrpSpPr>
        <p:grpSpPr bwMode="auto">
          <a:xfrm>
            <a:off x="2996806" y="4057653"/>
            <a:ext cx="3873500" cy="458788"/>
            <a:chOff x="1414" y="2657"/>
            <a:chExt cx="2440" cy="289"/>
          </a:xfrm>
        </p:grpSpPr>
        <p:sp>
          <p:nvSpPr>
            <p:cNvPr id="99" name="Line 16"/>
            <p:cNvSpPr>
              <a:spLocks noChangeShapeType="1"/>
            </p:cNvSpPr>
            <p:nvPr/>
          </p:nvSpPr>
          <p:spPr bwMode="auto">
            <a:xfrm flipH="1">
              <a:off x="1414" y="2657"/>
              <a:ext cx="2440" cy="249"/>
            </a:xfrm>
            <a:prstGeom prst="line">
              <a:avLst/>
            </a:prstGeom>
            <a:noFill/>
            <a:ln w="19050">
              <a:solidFill>
                <a:srgbClr val="000000"/>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dirty="0">
                <a:ln>
                  <a:noFill/>
                </a:ln>
                <a:solidFill>
                  <a:srgbClr val="000000"/>
                </a:solidFill>
                <a:effectLst/>
                <a:uLnTx/>
                <a:uFillTx/>
                <a:ea typeface="MS PGothic" panose="020B0600070205080204" pitchFamily="34" charset="-128"/>
              </a:endParaRPr>
            </a:p>
          </p:txBody>
        </p:sp>
        <p:grpSp>
          <p:nvGrpSpPr>
            <p:cNvPr id="100" name="Group 17"/>
            <p:cNvGrpSpPr/>
            <p:nvPr/>
          </p:nvGrpSpPr>
          <p:grpSpPr bwMode="auto">
            <a:xfrm>
              <a:off x="1553" y="2694"/>
              <a:ext cx="1897" cy="252"/>
              <a:chOff x="3268" y="2846"/>
              <a:chExt cx="1897" cy="252"/>
            </a:xfrm>
          </p:grpSpPr>
          <p:sp>
            <p:nvSpPr>
              <p:cNvPr id="101" name="Rectangle 18"/>
              <p:cNvSpPr>
                <a:spLocks noChangeArrowheads="1"/>
              </p:cNvSpPr>
              <p:nvPr/>
            </p:nvSpPr>
            <p:spPr bwMode="auto">
              <a:xfrm>
                <a:off x="3282" y="2856"/>
                <a:ext cx="1692" cy="198"/>
              </a:xfrm>
              <a:prstGeom prst="rect">
                <a:avLst/>
              </a:prstGeom>
              <a:solidFill>
                <a:srgbClr val="FFFFFF"/>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02" name="Text Box 19"/>
              <p:cNvSpPr txBox="1">
                <a:spLocks noChangeArrowheads="1"/>
              </p:cNvSpPr>
              <p:nvPr/>
            </p:nvSpPr>
            <p:spPr bwMode="auto">
              <a:xfrm>
                <a:off x="3268" y="2846"/>
                <a:ext cx="1897" cy="252"/>
              </a:xfrm>
              <a:prstGeom prst="rect">
                <a:avLst/>
              </a:prstGeom>
              <a:solidFill>
                <a:srgbClr val="FFFFFF"/>
              </a:solidFill>
              <a:ln w="9525">
                <a:solidFill>
                  <a:srgbClr val="000000"/>
                </a:solidFill>
                <a:miter lim="800000"/>
              </a:ln>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usual HTTP response msg</a:t>
                </a:r>
                <a:endParaRPr kumimoji="0" lang="en-US" altLang="en-US" sz="2800" b="0"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grpSp>
      </p:grpSp>
      <p:grpSp>
        <p:nvGrpSpPr>
          <p:cNvPr id="103" name="Group 94"/>
          <p:cNvGrpSpPr/>
          <p:nvPr/>
        </p:nvGrpSpPr>
        <p:grpSpPr bwMode="auto">
          <a:xfrm>
            <a:off x="3002432" y="5867498"/>
            <a:ext cx="3859213" cy="463549"/>
            <a:chOff x="1392" y="3579"/>
            <a:chExt cx="2431" cy="292"/>
          </a:xfrm>
        </p:grpSpPr>
        <p:sp>
          <p:nvSpPr>
            <p:cNvPr id="104" name="Line 24"/>
            <p:cNvSpPr>
              <a:spLocks noChangeShapeType="1"/>
            </p:cNvSpPr>
            <p:nvPr/>
          </p:nvSpPr>
          <p:spPr bwMode="auto">
            <a:xfrm flipH="1">
              <a:off x="1392" y="3579"/>
              <a:ext cx="2431" cy="266"/>
            </a:xfrm>
            <a:prstGeom prst="line">
              <a:avLst/>
            </a:prstGeom>
            <a:noFill/>
            <a:ln w="19050">
              <a:solidFill>
                <a:srgbClr val="000000"/>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107" name="Text Box 27"/>
            <p:cNvSpPr txBox="1">
              <a:spLocks noChangeArrowheads="1"/>
            </p:cNvSpPr>
            <p:nvPr/>
          </p:nvSpPr>
          <p:spPr bwMode="auto">
            <a:xfrm>
              <a:off x="1598" y="3619"/>
              <a:ext cx="1852" cy="252"/>
            </a:xfrm>
            <a:prstGeom prst="rect">
              <a:avLst/>
            </a:prstGeom>
            <a:solidFill>
              <a:srgbClr val="FFFFFF"/>
            </a:solidFill>
            <a:ln w="9525">
              <a:solidFill>
                <a:srgbClr val="000000"/>
              </a:solidFill>
              <a:miter lim="800000"/>
            </a:ln>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usual HTTP response msg</a:t>
              </a:r>
              <a:endParaRPr kumimoji="0" lang="en-US" altLang="en-US" sz="2800" b="0"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grpSp>
      <p:sp>
        <p:nvSpPr>
          <p:cNvPr id="108" name="Text Box 59"/>
          <p:cNvSpPr txBox="1">
            <a:spLocks noChangeArrowheads="1"/>
          </p:cNvSpPr>
          <p:nvPr/>
        </p:nvSpPr>
        <p:spPr bwMode="auto">
          <a:xfrm>
            <a:off x="1733156" y="2293935"/>
            <a:ext cx="17875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cookie file</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09" name="Text Box 66"/>
          <p:cNvSpPr txBox="1">
            <a:spLocks noChangeArrowheads="1"/>
          </p:cNvSpPr>
          <p:nvPr/>
        </p:nvSpPr>
        <p:spPr bwMode="auto">
          <a:xfrm>
            <a:off x="1550772" y="4672055"/>
            <a:ext cx="18101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b="0" i="1" u="none" strike="noStrike" kern="0" cap="none" spc="0" normalizeH="0" baseline="0" noProof="0" dirty="0">
                <a:ln>
                  <a:noFill/>
                </a:ln>
                <a:solidFill>
                  <a:srgbClr val="000000"/>
                </a:solidFill>
                <a:effectLst/>
                <a:uLnTx/>
                <a:uFillTx/>
                <a:latin typeface="+mn-lt"/>
                <a:ea typeface="MS PGothic" panose="020B0600070205080204" pitchFamily="34" charset="-128"/>
              </a:rPr>
              <a:t>one week later:</a:t>
            </a:r>
            <a:endParaRPr kumimoji="0" lang="en-US" altLang="en-US" b="0" i="1"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grpSp>
        <p:nvGrpSpPr>
          <p:cNvPr id="110" name="Group 89"/>
          <p:cNvGrpSpPr/>
          <p:nvPr/>
        </p:nvGrpSpPr>
        <p:grpSpPr bwMode="auto">
          <a:xfrm>
            <a:off x="2998327" y="3429000"/>
            <a:ext cx="6777024" cy="1128713"/>
            <a:chOff x="1411" y="2261"/>
            <a:chExt cx="3533" cy="711"/>
          </a:xfrm>
        </p:grpSpPr>
        <p:sp>
          <p:nvSpPr>
            <p:cNvPr id="111" name="Line 12"/>
            <p:cNvSpPr>
              <a:spLocks noChangeShapeType="1"/>
            </p:cNvSpPr>
            <p:nvPr/>
          </p:nvSpPr>
          <p:spPr bwMode="auto">
            <a:xfrm>
              <a:off x="1411" y="2361"/>
              <a:ext cx="2016" cy="240"/>
            </a:xfrm>
            <a:prstGeom prst="line">
              <a:avLst/>
            </a:prstGeom>
            <a:noFill/>
            <a:ln w="19050">
              <a:solidFill>
                <a:srgbClr val="000000"/>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112" name="Text Box 15"/>
            <p:cNvSpPr txBox="1">
              <a:spLocks noChangeArrowheads="1"/>
            </p:cNvSpPr>
            <p:nvPr/>
          </p:nvSpPr>
          <p:spPr bwMode="auto">
            <a:xfrm>
              <a:off x="1548" y="2261"/>
              <a:ext cx="1689" cy="404"/>
            </a:xfrm>
            <a:prstGeom prst="rect">
              <a:avLst/>
            </a:prstGeom>
            <a:solidFill>
              <a:srgbClr val="FFFFFF"/>
            </a:solidFill>
            <a:ln w="9525">
              <a:solidFill>
                <a:srgbClr val="000000"/>
              </a:solidFill>
              <a:miter lim="800000"/>
            </a:ln>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8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usual HTTP request msg</a:t>
              </a:r>
              <a:endPar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80000"/>
                </a:lnSpc>
                <a:spcBef>
                  <a:spcPct val="0"/>
                </a:spcBef>
                <a:spcAft>
                  <a:spcPct val="0"/>
                </a:spcAft>
                <a:buClrTx/>
                <a:buSzTx/>
                <a:buFontTx/>
                <a:buNone/>
                <a:defRPr/>
              </a:pPr>
              <a:r>
                <a:rPr kumimoji="0" lang="en-US" altLang="en-US" sz="2400" b="1" i="0" u="none" strike="noStrike" kern="0" cap="none" spc="0" normalizeH="0" baseline="0" noProof="0" dirty="0">
                  <a:ln>
                    <a:noFill/>
                  </a:ln>
                  <a:solidFill>
                    <a:srgbClr val="000000"/>
                  </a:solidFill>
                  <a:effectLst/>
                  <a:uLnTx/>
                  <a:uFillTx/>
                  <a:latin typeface="+mn-lt"/>
                  <a:ea typeface="MS PGothic" panose="020B0600070205080204" pitchFamily="34" charset="-128"/>
                </a:rPr>
                <a:t>cookie: 1678</a:t>
              </a:r>
              <a:endParaRPr kumimoji="0" lang="en-US" altLang="en-US" sz="2400" b="1"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sp>
          <p:nvSpPr>
            <p:cNvPr id="113" name="Text Box 28"/>
            <p:cNvSpPr txBox="1">
              <a:spLocks noChangeArrowheads="1"/>
            </p:cNvSpPr>
            <p:nvPr/>
          </p:nvSpPr>
          <p:spPr bwMode="auto">
            <a:xfrm>
              <a:off x="3549" y="233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rPr>
                <a:t>cookie-</a:t>
              </a:r>
              <a:endPar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rPr>
                <a:t>specific</a:t>
              </a:r>
              <a:endPar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rPr>
                <a:t>action</a:t>
              </a:r>
              <a:endPar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endParaRPr>
            </a:p>
          </p:txBody>
        </p:sp>
        <p:sp>
          <p:nvSpPr>
            <p:cNvPr id="114" name="Line 42"/>
            <p:cNvSpPr>
              <a:spLocks noChangeShapeType="1"/>
            </p:cNvSpPr>
            <p:nvPr/>
          </p:nvSpPr>
          <p:spPr bwMode="auto">
            <a:xfrm flipV="1">
              <a:off x="4252" y="2367"/>
              <a:ext cx="692" cy="26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nvGrpSpPr>
            <p:cNvPr id="115" name="Group 83"/>
            <p:cNvGrpSpPr/>
            <p:nvPr/>
          </p:nvGrpSpPr>
          <p:grpSpPr bwMode="auto">
            <a:xfrm>
              <a:off x="4306" y="2363"/>
              <a:ext cx="539" cy="252"/>
              <a:chOff x="4306" y="2273"/>
              <a:chExt cx="539" cy="252"/>
            </a:xfrm>
          </p:grpSpPr>
          <p:sp>
            <p:nvSpPr>
              <p:cNvPr id="116" name="Rectangle 72"/>
              <p:cNvSpPr>
                <a:spLocks noChangeArrowheads="1"/>
              </p:cNvSpPr>
              <p:nvPr/>
            </p:nvSpPr>
            <p:spPr bwMode="auto">
              <a:xfrm>
                <a:off x="4409" y="2365"/>
                <a:ext cx="384" cy="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17" name="Text Box 43"/>
              <p:cNvSpPr txBox="1">
                <a:spLocks noChangeArrowheads="1"/>
              </p:cNvSpPr>
              <p:nvPr/>
            </p:nvSpPr>
            <p:spPr bwMode="auto">
              <a:xfrm>
                <a:off x="4306" y="2273"/>
                <a:ext cx="5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access</a:t>
                </a:r>
                <a:endPar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grpSp>
      </p:grpSp>
      <p:grpSp>
        <p:nvGrpSpPr>
          <p:cNvPr id="118" name="Group 81"/>
          <p:cNvGrpSpPr/>
          <p:nvPr/>
        </p:nvGrpSpPr>
        <p:grpSpPr bwMode="auto">
          <a:xfrm>
            <a:off x="1704581" y="1762123"/>
            <a:ext cx="1066800" cy="565150"/>
            <a:chOff x="527" y="1047"/>
            <a:chExt cx="855" cy="486"/>
          </a:xfrm>
        </p:grpSpPr>
        <p:sp>
          <p:nvSpPr>
            <p:cNvPr id="119" name="AutoShape 67"/>
            <p:cNvSpPr>
              <a:spLocks noChangeArrowheads="1"/>
            </p:cNvSpPr>
            <p:nvPr/>
          </p:nvSpPr>
          <p:spPr bwMode="auto">
            <a:xfrm>
              <a:off x="527" y="1047"/>
              <a:ext cx="855" cy="486"/>
            </a:xfrm>
            <a:prstGeom prst="can">
              <a:avLst>
                <a:gd name="adj" fmla="val 25000"/>
              </a:avLst>
            </a:prstGeom>
            <a:solidFill>
              <a:srgbClr val="3333CC"/>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20" name="Text Box 60"/>
            <p:cNvSpPr txBox="1">
              <a:spLocks noChangeArrowheads="1"/>
            </p:cNvSpPr>
            <p:nvPr/>
          </p:nvSpPr>
          <p:spPr bwMode="auto">
            <a:xfrm>
              <a:off x="552" y="1193"/>
              <a:ext cx="80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400" b="1" i="0" u="none" strike="noStrike" kern="0" cap="none" spc="0" normalizeH="0" baseline="0" noProof="0" dirty="0" err="1">
                  <a:ln>
                    <a:noFill/>
                  </a:ln>
                  <a:solidFill>
                    <a:srgbClr val="FFFFFF"/>
                  </a:solidFill>
                  <a:effectLst/>
                  <a:uLnTx/>
                  <a:uFillTx/>
                  <a:latin typeface="+mn-lt"/>
                  <a:ea typeface="MS PGothic" panose="020B0600070205080204" pitchFamily="34" charset="-128"/>
                </a:rPr>
                <a:t>ebay</a:t>
              </a:r>
              <a:r>
                <a:rPr kumimoji="0" lang="en-US" altLang="en-US" sz="1400" b="1" i="0" u="none" strike="noStrike" kern="0" cap="none" spc="0" normalizeH="0" baseline="0" noProof="0" dirty="0">
                  <a:ln>
                    <a:noFill/>
                  </a:ln>
                  <a:solidFill>
                    <a:srgbClr val="FFFFFF"/>
                  </a:solidFill>
                  <a:effectLst/>
                  <a:uLnTx/>
                  <a:uFillTx/>
                  <a:latin typeface="+mn-lt"/>
                  <a:ea typeface="MS PGothic" panose="020B0600070205080204" pitchFamily="34" charset="-128"/>
                </a:rPr>
                <a:t> 8734</a:t>
              </a:r>
              <a:endParaRPr kumimoji="0" lang="en-US" altLang="en-US" sz="1400" b="1" i="0" u="none" strike="noStrike" kern="0" cap="none" spc="0" normalizeH="0" baseline="0" noProof="0" dirty="0">
                <a:ln>
                  <a:noFill/>
                </a:ln>
                <a:solidFill>
                  <a:srgbClr val="FFFFFF"/>
                </a:solidFill>
                <a:effectLst/>
                <a:uLnTx/>
                <a:uFillTx/>
                <a:latin typeface="+mn-lt"/>
                <a:ea typeface="MS PGothic" panose="020B0600070205080204" pitchFamily="34" charset="-128"/>
              </a:endParaRPr>
            </a:p>
          </p:txBody>
        </p:sp>
      </p:grpSp>
      <p:grpSp>
        <p:nvGrpSpPr>
          <p:cNvPr id="121" name="Group 95"/>
          <p:cNvGrpSpPr/>
          <p:nvPr/>
        </p:nvGrpSpPr>
        <p:grpSpPr bwMode="auto">
          <a:xfrm>
            <a:off x="2952356" y="1946272"/>
            <a:ext cx="6972540" cy="1301749"/>
            <a:chOff x="1386" y="1327"/>
            <a:chExt cx="3730" cy="820"/>
          </a:xfrm>
        </p:grpSpPr>
        <p:sp>
          <p:nvSpPr>
            <p:cNvPr id="122" name="Line 4"/>
            <p:cNvSpPr>
              <a:spLocks noChangeShapeType="1"/>
            </p:cNvSpPr>
            <p:nvPr/>
          </p:nvSpPr>
          <p:spPr bwMode="auto">
            <a:xfrm>
              <a:off x="1386" y="1355"/>
              <a:ext cx="2082" cy="240"/>
            </a:xfrm>
            <a:prstGeom prst="line">
              <a:avLst/>
            </a:prstGeom>
            <a:noFill/>
            <a:ln w="19050">
              <a:solidFill>
                <a:srgbClr val="000000"/>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123" name="Text Box 8"/>
            <p:cNvSpPr txBox="1">
              <a:spLocks noChangeArrowheads="1"/>
            </p:cNvSpPr>
            <p:nvPr/>
          </p:nvSpPr>
          <p:spPr bwMode="auto">
            <a:xfrm>
              <a:off x="1554" y="1327"/>
              <a:ext cx="1689" cy="252"/>
            </a:xfrm>
            <a:prstGeom prst="rect">
              <a:avLst/>
            </a:prstGeom>
            <a:solidFill>
              <a:srgbClr val="FFFFFF"/>
            </a:solidFill>
            <a:ln w="9525">
              <a:solidFill>
                <a:srgbClr val="000000"/>
              </a:solidFill>
              <a:miter lim="800000"/>
            </a:ln>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usual HTTP request msg</a:t>
              </a:r>
              <a:endPar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sp>
          <p:nvSpPr>
            <p:cNvPr id="124" name="Text Box 31"/>
            <p:cNvSpPr txBox="1">
              <a:spLocks noChangeArrowheads="1"/>
            </p:cNvSpPr>
            <p:nvPr/>
          </p:nvSpPr>
          <p:spPr bwMode="auto">
            <a:xfrm>
              <a:off x="3460" y="1390"/>
              <a:ext cx="84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000099"/>
                  </a:solidFill>
                  <a:effectLst/>
                  <a:uLnTx/>
                  <a:uFillTx/>
                  <a:latin typeface="+mn-lt"/>
                  <a:ea typeface="MS PGothic" panose="020B0600070205080204" pitchFamily="34" charset="-128"/>
                </a:rPr>
                <a:t>Amazon server</a:t>
              </a:r>
              <a:endParaRPr kumimoji="0" lang="en-US" altLang="en-US" sz="1800" b="0" i="0" u="none" strike="noStrike" kern="0" cap="none" spc="0" normalizeH="0" baseline="0" noProof="0" dirty="0">
                <a:ln>
                  <a:noFill/>
                </a:ln>
                <a:solidFill>
                  <a:srgbClr val="000099"/>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000099"/>
                  </a:solidFill>
                  <a:effectLst/>
                  <a:uLnTx/>
                  <a:uFillTx/>
                  <a:latin typeface="+mn-lt"/>
                  <a:ea typeface="MS PGothic" panose="020B0600070205080204" pitchFamily="34" charset="-128"/>
                </a:rPr>
                <a:t>creates ID</a:t>
              </a:r>
              <a:endParaRPr kumimoji="0" lang="en-US" altLang="en-US" sz="1800" b="0" i="0" u="none" strike="noStrike" kern="0" cap="none" spc="0" normalizeH="0" baseline="0" noProof="0" dirty="0">
                <a:ln>
                  <a:noFill/>
                </a:ln>
                <a:solidFill>
                  <a:srgbClr val="000099"/>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000099"/>
                  </a:solidFill>
                  <a:effectLst/>
                  <a:uLnTx/>
                  <a:uFillTx/>
                  <a:latin typeface="+mn-lt"/>
                  <a:ea typeface="MS PGothic" panose="020B0600070205080204" pitchFamily="34" charset="-128"/>
                </a:rPr>
                <a:t>1678 for user</a:t>
              </a:r>
              <a:endPar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endParaRPr>
            </a:p>
          </p:txBody>
        </p:sp>
        <p:grpSp>
          <p:nvGrpSpPr>
            <p:cNvPr id="125" name="Group 82"/>
            <p:cNvGrpSpPr/>
            <p:nvPr/>
          </p:nvGrpSpPr>
          <p:grpSpPr bwMode="auto">
            <a:xfrm>
              <a:off x="4377" y="1730"/>
              <a:ext cx="739" cy="417"/>
              <a:chOff x="4377" y="1640"/>
              <a:chExt cx="739" cy="417"/>
            </a:xfrm>
          </p:grpSpPr>
          <p:sp>
            <p:nvSpPr>
              <p:cNvPr id="126" name="Line 40"/>
              <p:cNvSpPr>
                <a:spLocks noChangeShapeType="1"/>
              </p:cNvSpPr>
              <p:nvPr/>
            </p:nvSpPr>
            <p:spPr bwMode="auto">
              <a:xfrm>
                <a:off x="4377" y="1640"/>
                <a:ext cx="659" cy="414"/>
              </a:xfrm>
              <a:prstGeom prst="line">
                <a:avLst/>
              </a:prstGeom>
              <a:noFill/>
              <a:ln w="9525">
                <a:solidFill>
                  <a:srgbClr val="000000"/>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127" name="Rectangle 73"/>
              <p:cNvSpPr>
                <a:spLocks noChangeArrowheads="1"/>
              </p:cNvSpPr>
              <p:nvPr/>
            </p:nvSpPr>
            <p:spPr bwMode="auto">
              <a:xfrm>
                <a:off x="4470" y="1729"/>
                <a:ext cx="602" cy="2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28" name="Text Box 41"/>
              <p:cNvSpPr txBox="1">
                <a:spLocks noChangeArrowheads="1"/>
              </p:cNvSpPr>
              <p:nvPr/>
            </p:nvSpPr>
            <p:spPr bwMode="auto">
              <a:xfrm>
                <a:off x="4381" y="1702"/>
                <a:ext cx="735"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75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create</a:t>
                </a:r>
                <a:endPar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endParaRPr>
              </a:p>
              <a:p>
                <a:pPr marL="0" marR="0" lvl="0" indent="0" defTabSz="914400" eaLnBrk="0" fontAlgn="base" latinLnBrk="0" hangingPunct="0">
                  <a:lnSpc>
                    <a:spcPct val="75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    entry</a:t>
                </a:r>
                <a:endPar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grpSp>
      </p:grpSp>
      <p:grpSp>
        <p:nvGrpSpPr>
          <p:cNvPr id="129" name="Group 88"/>
          <p:cNvGrpSpPr/>
          <p:nvPr/>
        </p:nvGrpSpPr>
        <p:grpSpPr bwMode="auto">
          <a:xfrm>
            <a:off x="1675603" y="2474086"/>
            <a:ext cx="5151555" cy="890270"/>
            <a:chOff x="462" y="1603"/>
            <a:chExt cx="3550" cy="719"/>
          </a:xfrm>
        </p:grpSpPr>
        <p:sp>
          <p:nvSpPr>
            <p:cNvPr id="130" name="Line 9"/>
            <p:cNvSpPr>
              <a:spLocks noChangeShapeType="1"/>
            </p:cNvSpPr>
            <p:nvPr/>
          </p:nvSpPr>
          <p:spPr bwMode="auto">
            <a:xfrm flipH="1">
              <a:off x="1404" y="1603"/>
              <a:ext cx="2608" cy="274"/>
            </a:xfrm>
            <a:prstGeom prst="line">
              <a:avLst/>
            </a:prstGeom>
            <a:noFill/>
            <a:ln w="19050">
              <a:solidFill>
                <a:srgbClr val="000000"/>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131" name="Text Box 11"/>
            <p:cNvSpPr txBox="1">
              <a:spLocks noChangeArrowheads="1"/>
            </p:cNvSpPr>
            <p:nvPr/>
          </p:nvSpPr>
          <p:spPr bwMode="auto">
            <a:xfrm>
              <a:off x="1552" y="1650"/>
              <a:ext cx="1665" cy="518"/>
            </a:xfrm>
            <a:prstGeom prst="rect">
              <a:avLst/>
            </a:prstGeom>
            <a:solidFill>
              <a:srgbClr val="FFFFFF"/>
            </a:solidFill>
            <a:ln w="9525">
              <a:solidFill>
                <a:srgbClr val="000000"/>
              </a:solidFill>
              <a:miter lim="800000"/>
            </a:ln>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8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usual HTTP response </a:t>
              </a:r>
              <a:endPar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80000"/>
                </a:lnSpc>
                <a:spcBef>
                  <a:spcPct val="0"/>
                </a:spcBef>
                <a:spcAft>
                  <a:spcPct val="0"/>
                </a:spcAft>
                <a:buClrTx/>
                <a:buSzTx/>
                <a:buFontTx/>
                <a:buNone/>
                <a:defRPr/>
              </a:pPr>
              <a:r>
                <a:rPr kumimoji="0" lang="en-US" altLang="en-US" sz="2400" b="1" i="0" u="none" strike="noStrike" kern="0" cap="none" spc="0" normalizeH="0" baseline="0" noProof="0" dirty="0">
                  <a:ln>
                    <a:noFill/>
                  </a:ln>
                  <a:solidFill>
                    <a:srgbClr val="000000"/>
                  </a:solidFill>
                  <a:effectLst/>
                  <a:uLnTx/>
                  <a:uFillTx/>
                  <a:latin typeface="+mn-lt"/>
                  <a:ea typeface="MS PGothic" panose="020B0600070205080204" pitchFamily="34" charset="-128"/>
                </a:rPr>
                <a:t>set-cookie: 1678 </a:t>
              </a:r>
              <a:endParaRPr kumimoji="0" lang="en-US" altLang="en-US" sz="2400" b="1"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grpSp>
          <p:nvGrpSpPr>
            <p:cNvPr id="132" name="Group 76"/>
            <p:cNvGrpSpPr/>
            <p:nvPr/>
          </p:nvGrpSpPr>
          <p:grpSpPr bwMode="auto">
            <a:xfrm>
              <a:off x="462" y="1836"/>
              <a:ext cx="1004" cy="486"/>
              <a:chOff x="687" y="1746"/>
              <a:chExt cx="1004" cy="486"/>
            </a:xfrm>
          </p:grpSpPr>
          <p:sp>
            <p:nvSpPr>
              <p:cNvPr id="133" name="AutoShape 74"/>
              <p:cNvSpPr>
                <a:spLocks noChangeArrowheads="1"/>
              </p:cNvSpPr>
              <p:nvPr/>
            </p:nvSpPr>
            <p:spPr bwMode="auto">
              <a:xfrm>
                <a:off x="702" y="1746"/>
                <a:ext cx="735" cy="486"/>
              </a:xfrm>
              <a:prstGeom prst="can">
                <a:avLst>
                  <a:gd name="adj" fmla="val 25000"/>
                </a:avLst>
              </a:prstGeom>
              <a:solidFill>
                <a:srgbClr val="3333CC"/>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34" name="Text Box 75"/>
              <p:cNvSpPr txBox="1">
                <a:spLocks noChangeArrowheads="1"/>
              </p:cNvSpPr>
              <p:nvPr/>
            </p:nvSpPr>
            <p:spPr bwMode="auto">
              <a:xfrm>
                <a:off x="687" y="1836"/>
                <a:ext cx="100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90000"/>
                  </a:lnSpc>
                  <a:spcBef>
                    <a:spcPct val="0"/>
                  </a:spcBef>
                  <a:spcAft>
                    <a:spcPct val="0"/>
                  </a:spcAft>
                  <a:buClrTx/>
                  <a:buSzTx/>
                  <a:buFontTx/>
                  <a:buNone/>
                  <a:defRPr/>
                </a:pPr>
                <a:r>
                  <a:rPr kumimoji="0" lang="en-US" altLang="en-US" sz="1400" b="1" i="0" u="none" strike="noStrike" kern="0" cap="none" spc="0" normalizeH="0" baseline="0" noProof="0" dirty="0" err="1">
                    <a:ln>
                      <a:noFill/>
                    </a:ln>
                    <a:solidFill>
                      <a:srgbClr val="FFFFFF"/>
                    </a:solidFill>
                    <a:effectLst/>
                    <a:uLnTx/>
                    <a:uFillTx/>
                    <a:latin typeface="+mn-lt"/>
                    <a:ea typeface="MS PGothic" panose="020B0600070205080204" pitchFamily="34" charset="-128"/>
                  </a:rPr>
                  <a:t>ebay</a:t>
                </a:r>
                <a:r>
                  <a:rPr kumimoji="0" lang="en-US" altLang="en-US" sz="1400" b="1" i="0" u="none" strike="noStrike" kern="0" cap="none" spc="0" normalizeH="0" baseline="0" noProof="0" dirty="0">
                    <a:ln>
                      <a:noFill/>
                    </a:ln>
                    <a:solidFill>
                      <a:srgbClr val="FFFFFF"/>
                    </a:solidFill>
                    <a:effectLst/>
                    <a:uLnTx/>
                    <a:uFillTx/>
                    <a:latin typeface="+mn-lt"/>
                    <a:ea typeface="MS PGothic" panose="020B0600070205080204" pitchFamily="34" charset="-128"/>
                  </a:rPr>
                  <a:t> 8734</a:t>
                </a:r>
                <a:endParaRPr kumimoji="0" lang="en-US" altLang="en-US" sz="1400" b="1" i="0" u="none" strike="noStrike" kern="0" cap="none" spc="0" normalizeH="0" baseline="0" noProof="0" dirty="0">
                  <a:ln>
                    <a:noFill/>
                  </a:ln>
                  <a:solidFill>
                    <a:srgbClr val="FFFFFF"/>
                  </a:solidFill>
                  <a:effectLst/>
                  <a:uLnTx/>
                  <a:uFillTx/>
                  <a:latin typeface="+mn-lt"/>
                  <a:ea typeface="MS PGothic" panose="020B0600070205080204" pitchFamily="34" charset="-128"/>
                </a:endParaRPr>
              </a:p>
              <a:p>
                <a:pPr marL="0" marR="0" lvl="0" indent="0" defTabSz="914400" eaLnBrk="0" fontAlgn="base" latinLnBrk="0" hangingPunct="0">
                  <a:lnSpc>
                    <a:spcPct val="90000"/>
                  </a:lnSpc>
                  <a:spcBef>
                    <a:spcPct val="0"/>
                  </a:spcBef>
                  <a:spcAft>
                    <a:spcPct val="0"/>
                  </a:spcAft>
                  <a:buClrTx/>
                  <a:buSzTx/>
                  <a:buFontTx/>
                  <a:buNone/>
                  <a:defRPr/>
                </a:pPr>
                <a:r>
                  <a:rPr kumimoji="0" lang="en-US" altLang="en-US" sz="1400" b="1" i="0" u="none" strike="noStrike" kern="0" cap="none" spc="0" normalizeH="0" baseline="0" noProof="0" dirty="0">
                    <a:ln>
                      <a:noFill/>
                    </a:ln>
                    <a:solidFill>
                      <a:srgbClr val="FFFFFF"/>
                    </a:solidFill>
                    <a:effectLst/>
                    <a:uLnTx/>
                    <a:uFillTx/>
                    <a:latin typeface="+mn-lt"/>
                    <a:ea typeface="MS PGothic" panose="020B0600070205080204" pitchFamily="34" charset="-128"/>
                  </a:rPr>
                  <a:t>amazon 1678</a:t>
                </a:r>
                <a:endParaRPr kumimoji="0" lang="en-US" altLang="en-US" sz="1400" b="1" i="0" u="none" strike="noStrike" kern="0" cap="none" spc="0" normalizeH="0" baseline="0" noProof="0" dirty="0">
                  <a:ln>
                    <a:noFill/>
                  </a:ln>
                  <a:solidFill>
                    <a:srgbClr val="FFFFFF"/>
                  </a:solidFill>
                  <a:effectLst/>
                  <a:uLnTx/>
                  <a:uFillTx/>
                  <a:latin typeface="+mn-lt"/>
                  <a:ea typeface="MS PGothic" panose="020B0600070205080204" pitchFamily="34" charset="-128"/>
                </a:endParaRPr>
              </a:p>
            </p:txBody>
          </p:sp>
        </p:grpSp>
      </p:grpSp>
      <p:grpSp>
        <p:nvGrpSpPr>
          <p:cNvPr id="135" name="Group 93"/>
          <p:cNvGrpSpPr/>
          <p:nvPr/>
        </p:nvGrpSpPr>
        <p:grpSpPr bwMode="auto">
          <a:xfrm>
            <a:off x="2994226" y="4365354"/>
            <a:ext cx="6781125" cy="2001838"/>
            <a:chOff x="1406" y="2641"/>
            <a:chExt cx="3562" cy="1261"/>
          </a:xfrm>
        </p:grpSpPr>
        <p:sp>
          <p:nvSpPr>
            <p:cNvPr id="136" name="Line 20"/>
            <p:cNvSpPr>
              <a:spLocks noChangeShapeType="1"/>
            </p:cNvSpPr>
            <p:nvPr/>
          </p:nvSpPr>
          <p:spPr bwMode="auto">
            <a:xfrm>
              <a:off x="1406" y="3293"/>
              <a:ext cx="2032" cy="242"/>
            </a:xfrm>
            <a:prstGeom prst="line">
              <a:avLst/>
            </a:prstGeom>
            <a:noFill/>
            <a:ln w="19050">
              <a:solidFill>
                <a:srgbClr val="000000"/>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dirty="0">
                <a:ln>
                  <a:noFill/>
                </a:ln>
                <a:solidFill>
                  <a:srgbClr val="000000"/>
                </a:solidFill>
                <a:effectLst/>
                <a:uLnTx/>
                <a:uFillTx/>
                <a:ea typeface="MS PGothic" panose="020B0600070205080204" pitchFamily="34" charset="-128"/>
              </a:endParaRPr>
            </a:p>
          </p:txBody>
        </p:sp>
        <p:sp>
          <p:nvSpPr>
            <p:cNvPr id="137" name="Text Box 23"/>
            <p:cNvSpPr txBox="1">
              <a:spLocks noChangeArrowheads="1"/>
            </p:cNvSpPr>
            <p:nvPr/>
          </p:nvSpPr>
          <p:spPr bwMode="auto">
            <a:xfrm>
              <a:off x="1561" y="3171"/>
              <a:ext cx="1689" cy="404"/>
            </a:xfrm>
            <a:prstGeom prst="rect">
              <a:avLst/>
            </a:prstGeom>
            <a:solidFill>
              <a:srgbClr val="FFFFFF"/>
            </a:solidFill>
            <a:ln w="9525">
              <a:solidFill>
                <a:srgbClr val="000000"/>
              </a:solidFill>
              <a:miter lim="800000"/>
            </a:ln>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8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rPr>
                <a:t>usual HTTP request msg</a:t>
              </a:r>
              <a:endPar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80000"/>
                </a:lnSpc>
                <a:spcBef>
                  <a:spcPct val="0"/>
                </a:spcBef>
                <a:spcAft>
                  <a:spcPct val="0"/>
                </a:spcAft>
                <a:buClrTx/>
                <a:buSzTx/>
                <a:buFontTx/>
                <a:buNone/>
                <a:defRPr/>
              </a:pPr>
              <a:r>
                <a:rPr kumimoji="0" lang="en-US" altLang="en-US" sz="2400" b="1" i="0" u="none" strike="noStrike" kern="0" cap="none" spc="0" normalizeH="0" baseline="0" noProof="0" dirty="0">
                  <a:ln>
                    <a:noFill/>
                  </a:ln>
                  <a:solidFill>
                    <a:srgbClr val="000000"/>
                  </a:solidFill>
                  <a:effectLst/>
                  <a:uLnTx/>
                  <a:uFillTx/>
                  <a:latin typeface="+mn-lt"/>
                  <a:ea typeface="MS PGothic" panose="020B0600070205080204" pitchFamily="34" charset="-128"/>
                </a:rPr>
                <a:t>cookie: 1678</a:t>
              </a:r>
              <a:endParaRPr kumimoji="0" lang="en-US" altLang="en-US" sz="2400" b="1"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sp>
          <p:nvSpPr>
            <p:cNvPr id="138" name="Text Box 29"/>
            <p:cNvSpPr txBox="1">
              <a:spLocks noChangeArrowheads="1"/>
            </p:cNvSpPr>
            <p:nvPr/>
          </p:nvSpPr>
          <p:spPr bwMode="auto">
            <a:xfrm>
              <a:off x="3579" y="326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rPr>
                <a:t>cookie-</a:t>
              </a:r>
              <a:endPar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rPr>
                <a:t>specific</a:t>
              </a:r>
              <a:endPar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rPr>
                <a:t>action</a:t>
              </a:r>
              <a:endParaRPr kumimoji="0" lang="en-US" altLang="en-US" b="0" i="0" u="none" strike="noStrike" kern="0" cap="none" spc="0" normalizeH="0" baseline="0" noProof="0" dirty="0">
                <a:ln>
                  <a:noFill/>
                </a:ln>
                <a:solidFill>
                  <a:srgbClr val="000099"/>
                </a:solidFill>
                <a:effectLst/>
                <a:uLnTx/>
                <a:uFillTx/>
                <a:latin typeface="+mn-lt"/>
                <a:ea typeface="MS PGothic" panose="020B0600070205080204" pitchFamily="34" charset="-128"/>
              </a:endParaRPr>
            </a:p>
          </p:txBody>
        </p:sp>
        <p:sp>
          <p:nvSpPr>
            <p:cNvPr id="139" name="Line 44"/>
            <p:cNvSpPr>
              <a:spLocks noChangeShapeType="1"/>
            </p:cNvSpPr>
            <p:nvPr/>
          </p:nvSpPr>
          <p:spPr bwMode="auto">
            <a:xfrm flipV="1">
              <a:off x="4181" y="2641"/>
              <a:ext cx="787" cy="86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140" name="Text Box 71"/>
            <p:cNvSpPr txBox="1">
              <a:spLocks noChangeArrowheads="1"/>
            </p:cNvSpPr>
            <p:nvPr/>
          </p:nvSpPr>
          <p:spPr bwMode="auto">
            <a:xfrm>
              <a:off x="4287" y="2939"/>
              <a:ext cx="539" cy="2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a:ln>
                    <a:noFill/>
                  </a:ln>
                  <a:solidFill>
                    <a:srgbClr val="000000"/>
                  </a:solidFill>
                  <a:effectLst/>
                  <a:uLnTx/>
                  <a:uFillTx/>
                  <a:latin typeface="+mn-lt"/>
                  <a:ea typeface="MS PGothic" panose="020B0600070205080204" pitchFamily="34" charset="-128"/>
                </a:rPr>
                <a:t>access</a:t>
              </a:r>
              <a:endParaRPr kumimoji="0" lang="en-US" altLang="en-US"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141" name="Group 77"/>
          <p:cNvGrpSpPr/>
          <p:nvPr/>
        </p:nvGrpSpPr>
        <p:grpSpPr bwMode="auto">
          <a:xfrm>
            <a:off x="1655687" y="5113066"/>
            <a:ext cx="1389062" cy="633978"/>
            <a:chOff x="702" y="1746"/>
            <a:chExt cx="1004" cy="486"/>
          </a:xfrm>
        </p:grpSpPr>
        <p:sp>
          <p:nvSpPr>
            <p:cNvPr id="142" name="AutoShape 78"/>
            <p:cNvSpPr>
              <a:spLocks noChangeArrowheads="1"/>
            </p:cNvSpPr>
            <p:nvPr/>
          </p:nvSpPr>
          <p:spPr bwMode="auto">
            <a:xfrm>
              <a:off x="735" y="1746"/>
              <a:ext cx="773" cy="486"/>
            </a:xfrm>
            <a:prstGeom prst="can">
              <a:avLst>
                <a:gd name="adj" fmla="val 25000"/>
              </a:avLst>
            </a:prstGeom>
            <a:solidFill>
              <a:srgbClr val="3333CC"/>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43" name="Text Box 79"/>
            <p:cNvSpPr txBox="1">
              <a:spLocks noChangeArrowheads="1"/>
            </p:cNvSpPr>
            <p:nvPr/>
          </p:nvSpPr>
          <p:spPr bwMode="auto">
            <a:xfrm>
              <a:off x="702" y="1851"/>
              <a:ext cx="1004"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90000"/>
                </a:lnSpc>
                <a:spcBef>
                  <a:spcPct val="0"/>
                </a:spcBef>
                <a:spcAft>
                  <a:spcPct val="0"/>
                </a:spcAft>
                <a:buClrTx/>
                <a:buSzTx/>
                <a:buFontTx/>
                <a:buNone/>
                <a:defRPr/>
              </a:pPr>
              <a:r>
                <a:rPr kumimoji="0" lang="en-US" altLang="en-US" sz="1400" b="1" i="0" u="none" strike="noStrike" kern="0" cap="none" spc="0" normalizeH="0" baseline="0" noProof="0" dirty="0" err="1">
                  <a:ln>
                    <a:noFill/>
                  </a:ln>
                  <a:solidFill>
                    <a:srgbClr val="FFFFFF"/>
                  </a:solidFill>
                  <a:effectLst/>
                  <a:uLnTx/>
                  <a:uFillTx/>
                  <a:latin typeface="+mn-lt"/>
                  <a:ea typeface="MS PGothic" panose="020B0600070205080204" pitchFamily="34" charset="-128"/>
                </a:rPr>
                <a:t>ebay</a:t>
              </a:r>
              <a:r>
                <a:rPr kumimoji="0" lang="en-US" altLang="en-US" sz="1400" b="1" i="0" u="none" strike="noStrike" kern="0" cap="none" spc="0" normalizeH="0" baseline="0" noProof="0" dirty="0">
                  <a:ln>
                    <a:noFill/>
                  </a:ln>
                  <a:solidFill>
                    <a:srgbClr val="FFFFFF"/>
                  </a:solidFill>
                  <a:effectLst/>
                  <a:uLnTx/>
                  <a:uFillTx/>
                  <a:latin typeface="+mn-lt"/>
                  <a:ea typeface="MS PGothic" panose="020B0600070205080204" pitchFamily="34" charset="-128"/>
                </a:rPr>
                <a:t> 8734</a:t>
              </a:r>
              <a:endParaRPr kumimoji="0" lang="en-US" altLang="en-US" sz="1400" b="1" i="0" u="none" strike="noStrike" kern="0" cap="none" spc="0" normalizeH="0" baseline="0" noProof="0" dirty="0">
                <a:ln>
                  <a:noFill/>
                </a:ln>
                <a:solidFill>
                  <a:srgbClr val="FFFFFF"/>
                </a:solidFill>
                <a:effectLst/>
                <a:uLnTx/>
                <a:uFillTx/>
                <a:latin typeface="+mn-lt"/>
                <a:ea typeface="MS PGothic" panose="020B0600070205080204" pitchFamily="34" charset="-128"/>
              </a:endParaRPr>
            </a:p>
            <a:p>
              <a:pPr marL="0" marR="0" lvl="0" indent="0" defTabSz="914400" eaLnBrk="0" fontAlgn="base" latinLnBrk="0" hangingPunct="0">
                <a:lnSpc>
                  <a:spcPct val="90000"/>
                </a:lnSpc>
                <a:spcBef>
                  <a:spcPct val="0"/>
                </a:spcBef>
                <a:spcAft>
                  <a:spcPct val="0"/>
                </a:spcAft>
                <a:buClrTx/>
                <a:buSzTx/>
                <a:buFontTx/>
                <a:buNone/>
                <a:defRPr/>
              </a:pPr>
              <a:r>
                <a:rPr kumimoji="0" lang="en-US" altLang="en-US" sz="1400" b="1" i="0" u="none" strike="noStrike" kern="0" cap="none" spc="0" normalizeH="0" baseline="0" noProof="0" dirty="0">
                  <a:ln>
                    <a:noFill/>
                  </a:ln>
                  <a:solidFill>
                    <a:srgbClr val="FFFFFF"/>
                  </a:solidFill>
                  <a:effectLst/>
                  <a:uLnTx/>
                  <a:uFillTx/>
                  <a:latin typeface="+mn-lt"/>
                  <a:ea typeface="MS PGothic" panose="020B0600070205080204" pitchFamily="34" charset="-128"/>
                </a:rPr>
                <a:t>amazon 1678</a:t>
              </a:r>
              <a:endParaRPr kumimoji="0" lang="en-US" altLang="en-US" sz="1600" b="1" i="0" u="none" strike="noStrike" kern="0" cap="none" spc="0" normalizeH="0" baseline="0" noProof="0" dirty="0">
                <a:ln>
                  <a:noFill/>
                </a:ln>
                <a:solidFill>
                  <a:srgbClr val="FFFFFF"/>
                </a:solidFill>
                <a:effectLst/>
                <a:uLnTx/>
                <a:uFillTx/>
                <a:latin typeface="+mn-lt"/>
                <a:ea typeface="MS PGothic" panose="020B0600070205080204" pitchFamily="34" charset="-128"/>
              </a:endParaRPr>
            </a:p>
          </p:txBody>
        </p:sp>
      </p:grpSp>
      <p:sp>
        <p:nvSpPr>
          <p:cNvPr id="144" name="Text Box 80"/>
          <p:cNvSpPr txBox="1">
            <a:spLocks noChangeArrowheads="1"/>
          </p:cNvSpPr>
          <p:nvPr/>
        </p:nvSpPr>
        <p:spPr bwMode="auto">
          <a:xfrm>
            <a:off x="9834963" y="2582111"/>
            <a:ext cx="11400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CC0000"/>
                </a:solidFill>
                <a:effectLst/>
                <a:uLnTx/>
                <a:uFillTx/>
                <a:latin typeface="+mn-lt"/>
                <a:ea typeface="MS PGothic" panose="020B0600070205080204" pitchFamily="34" charset="-128"/>
              </a:rPr>
              <a:t>backend</a:t>
            </a:r>
            <a:endParaRPr kumimoji="0" lang="en-US" altLang="en-US" b="0" i="0" u="none" strike="noStrike" kern="0" cap="none" spc="0" normalizeH="0" baseline="0" noProof="0" dirty="0">
              <a:ln>
                <a:noFill/>
              </a:ln>
              <a:solidFill>
                <a:srgbClr val="CC0000"/>
              </a:solidFill>
              <a:effectLst/>
              <a:uLnTx/>
              <a:uFillTx/>
              <a:latin typeface="+mn-lt"/>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b="0" i="0" u="none" strike="noStrike" kern="0" cap="none" spc="0" normalizeH="0" baseline="0" noProof="0" dirty="0">
                <a:ln>
                  <a:noFill/>
                </a:ln>
                <a:solidFill>
                  <a:srgbClr val="CC0000"/>
                </a:solidFill>
                <a:effectLst/>
                <a:uLnTx/>
                <a:uFillTx/>
                <a:latin typeface="+mn-lt"/>
                <a:ea typeface="MS PGothic" panose="020B0600070205080204" pitchFamily="34" charset="-128"/>
              </a:rPr>
              <a:t>database</a:t>
            </a:r>
            <a:endParaRPr kumimoji="0" lang="en-US" altLang="en-US" b="0" i="0" u="none" strike="noStrike" kern="0" cap="none" spc="0" normalizeH="0" baseline="0" noProof="0" dirty="0">
              <a:ln>
                <a:noFill/>
              </a:ln>
              <a:solidFill>
                <a:srgbClr val="CC0000"/>
              </a:solidFill>
              <a:effectLst/>
              <a:uLnTx/>
              <a:uFillTx/>
              <a:latin typeface="+mn-lt"/>
              <a:ea typeface="MS PGothic" panose="020B0600070205080204" pitchFamily="34" charset="-128"/>
            </a:endParaRPr>
          </a:p>
        </p:txBody>
      </p:sp>
      <p:sp>
        <p:nvSpPr>
          <p:cNvPr id="145" name="AutoShape 327"/>
          <p:cNvSpPr>
            <a:spLocks noChangeArrowheads="1"/>
          </p:cNvSpPr>
          <p:nvPr/>
        </p:nvSpPr>
        <p:spPr bwMode="auto">
          <a:xfrm>
            <a:off x="10104838" y="3202824"/>
            <a:ext cx="592138" cy="908050"/>
          </a:xfrm>
          <a:prstGeom prst="can">
            <a:avLst>
              <a:gd name="adj" fmla="val 31004"/>
            </a:avLst>
          </a:prstGeom>
          <a:gradFill rotWithShape="1">
            <a:gsLst>
              <a:gs pos="0">
                <a:srgbClr val="000099"/>
              </a:gs>
              <a:gs pos="100000">
                <a:srgbClr val="FFFFFF"/>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cs typeface="Arial" panose="020B0604020202020204" pitchFamily="34" charset="0"/>
            </a:endParaRPr>
          </a:p>
        </p:txBody>
      </p:sp>
      <p:grpSp>
        <p:nvGrpSpPr>
          <p:cNvPr id="146" name="Group 63"/>
          <p:cNvGrpSpPr/>
          <p:nvPr/>
        </p:nvGrpSpPr>
        <p:grpSpPr bwMode="auto">
          <a:xfrm>
            <a:off x="6709231" y="1274501"/>
            <a:ext cx="351110" cy="610396"/>
            <a:chOff x="4140" y="429"/>
            <a:chExt cx="1425" cy="2396"/>
          </a:xfrm>
        </p:grpSpPr>
        <p:sp>
          <p:nvSpPr>
            <p:cNvPr id="147" name="Freeform 64"/>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148" name="Rectangle 65"/>
            <p:cNvSpPr>
              <a:spLocks noChangeArrowheads="1"/>
            </p:cNvSpPr>
            <p:nvPr/>
          </p:nvSpPr>
          <p:spPr bwMode="auto">
            <a:xfrm>
              <a:off x="4206" y="429"/>
              <a:ext cx="1045"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49" name="Freeform 66"/>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150" name="Freeform 67"/>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151" name="Rectangle 68"/>
            <p:cNvSpPr>
              <a:spLocks noChangeArrowheads="1"/>
            </p:cNvSpPr>
            <p:nvPr/>
          </p:nvSpPr>
          <p:spPr bwMode="auto">
            <a:xfrm>
              <a:off x="4212" y="695"/>
              <a:ext cx="594"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152" name="Group 69"/>
            <p:cNvGrpSpPr/>
            <p:nvPr/>
          </p:nvGrpSpPr>
          <p:grpSpPr bwMode="auto">
            <a:xfrm>
              <a:off x="4749" y="668"/>
              <a:ext cx="581" cy="145"/>
              <a:chOff x="614" y="2568"/>
              <a:chExt cx="725" cy="139"/>
            </a:xfrm>
          </p:grpSpPr>
          <p:sp>
            <p:nvSpPr>
              <p:cNvPr id="177" name="AutoShape 70"/>
              <p:cNvSpPr>
                <a:spLocks noChangeArrowheads="1"/>
              </p:cNvSpPr>
              <p:nvPr/>
            </p:nvSpPr>
            <p:spPr bwMode="auto">
              <a:xfrm>
                <a:off x="616" y="2566"/>
                <a:ext cx="721"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78" name="AutoShape 71"/>
              <p:cNvSpPr>
                <a:spLocks noChangeArrowheads="1"/>
              </p:cNvSpPr>
              <p:nvPr/>
            </p:nvSpPr>
            <p:spPr bwMode="auto">
              <a:xfrm>
                <a:off x="630" y="2580"/>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153" name="Rectangle 72"/>
            <p:cNvSpPr>
              <a:spLocks noChangeArrowheads="1"/>
            </p:cNvSpPr>
            <p:nvPr/>
          </p:nvSpPr>
          <p:spPr bwMode="auto">
            <a:xfrm>
              <a:off x="4223" y="1021"/>
              <a:ext cx="600"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154" name="Group 73"/>
            <p:cNvGrpSpPr/>
            <p:nvPr/>
          </p:nvGrpSpPr>
          <p:grpSpPr bwMode="auto">
            <a:xfrm>
              <a:off x="4747" y="994"/>
              <a:ext cx="581" cy="134"/>
              <a:chOff x="614" y="2568"/>
              <a:chExt cx="725" cy="139"/>
            </a:xfrm>
          </p:grpSpPr>
          <p:sp>
            <p:nvSpPr>
              <p:cNvPr id="175" name="AutoShape 74"/>
              <p:cNvSpPr>
                <a:spLocks noChangeArrowheads="1"/>
              </p:cNvSpPr>
              <p:nvPr/>
            </p:nvSpPr>
            <p:spPr bwMode="auto">
              <a:xfrm>
                <a:off x="612" y="2570"/>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76" name="AutoShape 75"/>
              <p:cNvSpPr>
                <a:spLocks noChangeArrowheads="1"/>
              </p:cNvSpPr>
              <p:nvPr/>
            </p:nvSpPr>
            <p:spPr bwMode="auto">
              <a:xfrm>
                <a:off x="625" y="2585"/>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155" name="Rectangle 76"/>
            <p:cNvSpPr>
              <a:spLocks noChangeArrowheads="1"/>
            </p:cNvSpPr>
            <p:nvPr/>
          </p:nvSpPr>
          <p:spPr bwMode="auto">
            <a:xfrm>
              <a:off x="4217" y="1356"/>
              <a:ext cx="594" cy="49"/>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56" name="Rectangle 77"/>
            <p:cNvSpPr>
              <a:spLocks noChangeArrowheads="1"/>
            </p:cNvSpPr>
            <p:nvPr/>
          </p:nvSpPr>
          <p:spPr bwMode="auto">
            <a:xfrm>
              <a:off x="4228" y="1657"/>
              <a:ext cx="594"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157" name="Group 78"/>
            <p:cNvGrpSpPr/>
            <p:nvPr/>
          </p:nvGrpSpPr>
          <p:grpSpPr bwMode="auto">
            <a:xfrm>
              <a:off x="4735" y="1627"/>
              <a:ext cx="582" cy="151"/>
              <a:chOff x="614" y="2568"/>
              <a:chExt cx="725" cy="139"/>
            </a:xfrm>
          </p:grpSpPr>
          <p:sp>
            <p:nvSpPr>
              <p:cNvPr id="173" name="AutoShape 79"/>
              <p:cNvSpPr>
                <a:spLocks noChangeArrowheads="1"/>
              </p:cNvSpPr>
              <p:nvPr/>
            </p:nvSpPr>
            <p:spPr bwMode="auto">
              <a:xfrm>
                <a:off x="613" y="2568"/>
                <a:ext cx="727"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74" name="AutoShape 80"/>
              <p:cNvSpPr>
                <a:spLocks noChangeArrowheads="1"/>
              </p:cNvSpPr>
              <p:nvPr/>
            </p:nvSpPr>
            <p:spPr bwMode="auto">
              <a:xfrm>
                <a:off x="627" y="2586"/>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158" name="Freeform 81"/>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nvGrpSpPr>
            <p:cNvPr id="159" name="Group 82"/>
            <p:cNvGrpSpPr/>
            <p:nvPr/>
          </p:nvGrpSpPr>
          <p:grpSpPr bwMode="auto">
            <a:xfrm>
              <a:off x="4739" y="1327"/>
              <a:ext cx="582" cy="139"/>
              <a:chOff x="614" y="2568"/>
              <a:chExt cx="725" cy="139"/>
            </a:xfrm>
          </p:grpSpPr>
          <p:sp>
            <p:nvSpPr>
              <p:cNvPr id="171" name="AutoShape 83"/>
              <p:cNvSpPr>
                <a:spLocks noChangeArrowheads="1"/>
              </p:cNvSpPr>
              <p:nvPr/>
            </p:nvSpPr>
            <p:spPr bwMode="auto">
              <a:xfrm>
                <a:off x="615" y="2567"/>
                <a:ext cx="727"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72" name="AutoShape 84"/>
              <p:cNvSpPr>
                <a:spLocks noChangeArrowheads="1"/>
              </p:cNvSpPr>
              <p:nvPr/>
            </p:nvSpPr>
            <p:spPr bwMode="auto">
              <a:xfrm>
                <a:off x="629" y="2582"/>
                <a:ext cx="692"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160" name="Rectangle 85"/>
            <p:cNvSpPr>
              <a:spLocks noChangeArrowheads="1"/>
            </p:cNvSpPr>
            <p:nvPr/>
          </p:nvSpPr>
          <p:spPr bwMode="auto">
            <a:xfrm>
              <a:off x="5251"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61" name="Freeform 86"/>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162" name="Freeform 87"/>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163" name="Oval 88"/>
            <p:cNvSpPr>
              <a:spLocks noChangeArrowheads="1"/>
            </p:cNvSpPr>
            <p:nvPr/>
          </p:nvSpPr>
          <p:spPr bwMode="auto">
            <a:xfrm>
              <a:off x="5515" y="2613"/>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64" name="Freeform 89"/>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165" name="AutoShape 90"/>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66" name="AutoShape 91"/>
            <p:cNvSpPr>
              <a:spLocks noChangeArrowheads="1"/>
            </p:cNvSpPr>
            <p:nvPr/>
          </p:nvSpPr>
          <p:spPr bwMode="auto">
            <a:xfrm>
              <a:off x="4206" y="2712"/>
              <a:ext cx="1067" cy="84"/>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67" name="Oval 92"/>
            <p:cNvSpPr>
              <a:spLocks noChangeArrowheads="1"/>
            </p:cNvSpPr>
            <p:nvPr/>
          </p:nvSpPr>
          <p:spPr bwMode="auto">
            <a:xfrm>
              <a:off x="4311" y="2381"/>
              <a:ext cx="154"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68" name="Oval 93"/>
            <p:cNvSpPr>
              <a:spLocks noChangeArrowheads="1"/>
            </p:cNvSpPr>
            <p:nvPr/>
          </p:nvSpPr>
          <p:spPr bwMode="auto">
            <a:xfrm>
              <a:off x="4487" y="2386"/>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b="0" i="0" u="none" strike="noStrike" kern="0" cap="none" spc="0" normalizeH="0" baseline="0" noProof="0">
                <a:ln>
                  <a:noFill/>
                </a:ln>
                <a:solidFill>
                  <a:srgbClr val="FF0000"/>
                </a:solidFill>
                <a:effectLst/>
                <a:uLnTx/>
                <a:uFillTx/>
                <a:latin typeface="+mn-lt"/>
                <a:ea typeface="MS PGothic" panose="020B0600070205080204" pitchFamily="34" charset="-128"/>
                <a:cs typeface="Arial" panose="020B0604020202020204" pitchFamily="34" charset="0"/>
              </a:endParaRPr>
            </a:p>
          </p:txBody>
        </p:sp>
        <p:sp>
          <p:nvSpPr>
            <p:cNvPr id="169" name="Oval 94"/>
            <p:cNvSpPr>
              <a:spLocks noChangeArrowheads="1"/>
            </p:cNvSpPr>
            <p:nvPr/>
          </p:nvSpPr>
          <p:spPr bwMode="auto">
            <a:xfrm>
              <a:off x="4663" y="2381"/>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170" name="Rectangle 95"/>
            <p:cNvSpPr>
              <a:spLocks noChangeArrowheads="1"/>
            </p:cNvSpPr>
            <p:nvPr/>
          </p:nvSpPr>
          <p:spPr bwMode="auto">
            <a:xfrm>
              <a:off x="5064" y="1834"/>
              <a:ext cx="83" cy="764"/>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179" name="Group 96"/>
          <p:cNvGrpSpPr/>
          <p:nvPr/>
        </p:nvGrpSpPr>
        <p:grpSpPr bwMode="auto">
          <a:xfrm>
            <a:off x="2734523" y="1369488"/>
            <a:ext cx="667783" cy="586047"/>
            <a:chOff x="-44" y="1473"/>
            <a:chExt cx="981" cy="1105"/>
          </a:xfrm>
        </p:grpSpPr>
        <p:pic>
          <p:nvPicPr>
            <p:cNvPr id="180" name="Picture 97"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Freeform 98"/>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88" name="Line 15"/>
          <p:cNvSpPr>
            <a:spLocks noChangeShapeType="1"/>
          </p:cNvSpPr>
          <p:nvPr/>
        </p:nvSpPr>
        <p:spPr bwMode="auto">
          <a:xfrm flipH="1">
            <a:off x="2999897" y="1993139"/>
            <a:ext cx="510" cy="4465805"/>
          </a:xfrm>
          <a:prstGeom prst="line">
            <a:avLst/>
          </a:prstGeom>
          <a:noFill/>
          <a:ln w="9525">
            <a:solidFill>
              <a:srgbClr val="FF0000"/>
            </a:solidFill>
            <a:prstDash val="sysDot"/>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89" name="Text Box 37"/>
          <p:cNvSpPr txBox="1">
            <a:spLocks noChangeArrowheads="1"/>
          </p:cNvSpPr>
          <p:nvPr/>
        </p:nvSpPr>
        <p:spPr bwMode="auto">
          <a:xfrm>
            <a:off x="2746707" y="6459827"/>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spcBef>
                <a:spcPct val="0"/>
              </a:spcBef>
              <a:buClrTx/>
              <a:buSzTx/>
              <a:buFontTx/>
              <a:buNone/>
            </a:pPr>
            <a:r>
              <a:rPr lang="en-US" altLang="en-US" sz="1400" dirty="0">
                <a:solidFill>
                  <a:schemeClr val="bg1">
                    <a:lumMod val="65000"/>
                  </a:schemeClr>
                </a:solidFill>
                <a:latin typeface="+mn-lt"/>
              </a:rPr>
              <a:t>time</a:t>
            </a:r>
            <a:endParaRPr lang="en-US" altLang="en-US" sz="1400" dirty="0">
              <a:solidFill>
                <a:schemeClr val="bg1">
                  <a:lumMod val="65000"/>
                </a:schemeClr>
              </a:solidFill>
              <a:latin typeface="+mn-lt"/>
            </a:endParaRPr>
          </a:p>
        </p:txBody>
      </p:sp>
      <p:sp>
        <p:nvSpPr>
          <p:cNvPr id="90" name="Line 15"/>
          <p:cNvSpPr>
            <a:spLocks noChangeShapeType="1"/>
          </p:cNvSpPr>
          <p:nvPr/>
        </p:nvSpPr>
        <p:spPr bwMode="auto">
          <a:xfrm flipH="1">
            <a:off x="6867352" y="2001551"/>
            <a:ext cx="510" cy="4465805"/>
          </a:xfrm>
          <a:prstGeom prst="line">
            <a:avLst/>
          </a:prstGeom>
          <a:noFill/>
          <a:ln w="9525">
            <a:solidFill>
              <a:srgbClr val="FF0000"/>
            </a:solidFill>
            <a:prstDash val="sysDot"/>
            <a:round/>
            <a:tailEnd type="triangle" w="med" len="med"/>
          </a:ln>
          <a:extLst>
            <a:ext uri="{909E8E84-426E-40DD-AFC4-6F175D3DCCD1}">
              <a14:hiddenFill xmlns:a14="http://schemas.microsoft.com/office/drawing/2010/main">
                <a:noFill/>
              </a14:hiddenFill>
            </a:ext>
          </a:extLst>
        </p:spPr>
        <p:txBody>
          <a:bodyPr wrap="none" anchor="ctr"/>
          <a:lstStyle/>
          <a:p>
            <a:endParaRPr lang="en-US" sz="2400"/>
          </a:p>
        </p:txBody>
      </p:sp>
      <p:sp>
        <p:nvSpPr>
          <p:cNvPr id="91" name="Text Box 37"/>
          <p:cNvSpPr txBox="1">
            <a:spLocks noChangeArrowheads="1"/>
          </p:cNvSpPr>
          <p:nvPr/>
        </p:nvSpPr>
        <p:spPr bwMode="auto">
          <a:xfrm>
            <a:off x="6614162" y="6468239"/>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spcBef>
                <a:spcPct val="0"/>
              </a:spcBef>
              <a:buClrTx/>
              <a:buSzTx/>
              <a:buFontTx/>
              <a:buNone/>
            </a:pPr>
            <a:r>
              <a:rPr lang="en-US" altLang="en-US" sz="1400" dirty="0">
                <a:solidFill>
                  <a:schemeClr val="bg1">
                    <a:lumMod val="65000"/>
                  </a:schemeClr>
                </a:solidFill>
                <a:latin typeface="+mn-lt"/>
              </a:rPr>
              <a:t>time</a:t>
            </a:r>
            <a:endParaRPr lang="en-US" altLang="en-US" sz="1400" dirty="0">
              <a:solidFill>
                <a:schemeClr val="bg1">
                  <a:lumMod val="65000"/>
                </a:schemeClr>
              </a:solidFill>
              <a:latin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8"/>
                                        </p:tgtEl>
                                        <p:attrNameLst>
                                          <p:attrName>style.visibility</p:attrName>
                                        </p:attrNameLst>
                                      </p:cBhvr>
                                      <p:to>
                                        <p:strVal val="hidden"/>
                                      </p:to>
                                    </p:set>
                                  </p:childTnLst>
                                </p:cTn>
                              </p:par>
                              <p:par>
                                <p:cTn id="7" presetID="22" presetClass="entr" presetSubtype="8" fill="hold" nodeType="withEffect">
                                  <p:stCondLst>
                                    <p:cond delay="0"/>
                                  </p:stCondLst>
                                  <p:childTnLst>
                                    <p:set>
                                      <p:cBhvr>
                                        <p:cTn id="8" dur="1" fill="hold">
                                          <p:stCondLst>
                                            <p:cond delay="0"/>
                                          </p:stCondLst>
                                        </p:cTn>
                                        <p:tgtEl>
                                          <p:spTgt spid="121"/>
                                        </p:tgtEl>
                                        <p:attrNameLst>
                                          <p:attrName>style.visibility</p:attrName>
                                        </p:attrNameLst>
                                      </p:cBhvr>
                                      <p:to>
                                        <p:strVal val="visible"/>
                                      </p:to>
                                    </p:set>
                                    <p:animEffect transition="in" filter="wipe(left)">
                                      <p:cBhvr>
                                        <p:cTn id="9" dur="2000"/>
                                        <p:tgtEl>
                                          <p:spTgt spid="12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wipe(right)">
                                      <p:cBhvr>
                                        <p:cTn id="14" dur="3000"/>
                                        <p:tgtEl>
                                          <p:spTgt spid="12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10"/>
                                        </p:tgtEl>
                                        <p:attrNameLst>
                                          <p:attrName>style.visibility</p:attrName>
                                        </p:attrNameLst>
                                      </p:cBhvr>
                                      <p:to>
                                        <p:strVal val="visible"/>
                                      </p:to>
                                    </p:set>
                                    <p:animEffect transition="in" filter="wipe(left)">
                                      <p:cBhvr>
                                        <p:cTn id="19" dur="2000"/>
                                        <p:tgtEl>
                                          <p:spTgt spid="110"/>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wipe(right)">
                                      <p:cBhvr>
                                        <p:cTn id="23" dur="1000"/>
                                        <p:tgtEl>
                                          <p:spTgt spid="98"/>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09"/>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41"/>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wipe(left)">
                                      <p:cBhvr>
                                        <p:cTn id="34" dur="2000"/>
                                        <p:tgtEl>
                                          <p:spTgt spid="135"/>
                                        </p:tgtEl>
                                      </p:cBhvr>
                                    </p:animEffect>
                                  </p:childTnLst>
                                </p:cTn>
                              </p:par>
                            </p:childTnLst>
                          </p:cTn>
                        </p:par>
                        <p:par>
                          <p:cTn id="35" fill="hold">
                            <p:stCondLst>
                              <p:cond delay="2000"/>
                            </p:stCondLst>
                            <p:childTnLst>
                              <p:par>
                                <p:cTn id="36" presetID="22" presetClass="entr" presetSubtype="2" fill="hold"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wipe(right)">
                                      <p:cBhvr>
                                        <p:cTn id="38"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sz="4400" dirty="0">
                <a:ea typeface="MS PGothic" panose="020B0600070205080204" pitchFamily="34" charset="-128"/>
              </a:rPr>
              <a:t>HTTP cookies: comments</a:t>
            </a:r>
            <a:endParaRPr lang="en-US" sz="4400" dirty="0"/>
          </a:p>
        </p:txBody>
      </p:sp>
      <p:sp>
        <p:nvSpPr>
          <p:cNvPr id="3"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
        <p:nvSpPr>
          <p:cNvPr id="88" name="Rectangle 3"/>
          <p:cNvSpPr txBox="1">
            <a:spLocks noChangeArrowheads="1"/>
          </p:cNvSpPr>
          <p:nvPr/>
        </p:nvSpPr>
        <p:spPr>
          <a:xfrm>
            <a:off x="648049" y="1556443"/>
            <a:ext cx="6034668" cy="2641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75000"/>
              </a:lnSpc>
              <a:buFont typeface="Wingdings" panose="05000000000000000000" pitchFamily="2" charset="2"/>
              <a:buNone/>
            </a:pPr>
            <a:r>
              <a:rPr lang="en-US" altLang="en-US" i="1" dirty="0">
                <a:solidFill>
                  <a:srgbClr val="CC0000"/>
                </a:solidFill>
                <a:ea typeface="MS PGothic" panose="020B0600070205080204" pitchFamily="34" charset="-128"/>
              </a:rPr>
              <a:t>What cookies can be used for:</a:t>
            </a:r>
            <a:endParaRPr lang="en-US" altLang="en-US" i="1" dirty="0">
              <a:solidFill>
                <a:srgbClr val="CC0000"/>
              </a:solidFill>
              <a:ea typeface="MS PGothic" panose="020B0600070205080204" pitchFamily="34" charset="-128"/>
            </a:endParaRPr>
          </a:p>
          <a:p>
            <a:pPr>
              <a:lnSpc>
                <a:spcPct val="75000"/>
              </a:lnSpc>
            </a:pPr>
            <a:r>
              <a:rPr lang="en-US" altLang="en-US" sz="2400" dirty="0">
                <a:ea typeface="MS PGothic" panose="020B0600070205080204" pitchFamily="34" charset="-128"/>
              </a:rPr>
              <a:t>authorization</a:t>
            </a:r>
            <a:endParaRPr lang="en-US" altLang="en-US" sz="2400" dirty="0">
              <a:ea typeface="MS PGothic" panose="020B0600070205080204" pitchFamily="34" charset="-128"/>
            </a:endParaRPr>
          </a:p>
          <a:p>
            <a:pPr>
              <a:lnSpc>
                <a:spcPct val="75000"/>
              </a:lnSpc>
            </a:pPr>
            <a:r>
              <a:rPr lang="en-US" altLang="en-US" sz="2400" dirty="0">
                <a:ea typeface="MS PGothic" panose="020B0600070205080204" pitchFamily="34" charset="-128"/>
              </a:rPr>
              <a:t>shopping carts</a:t>
            </a:r>
            <a:endParaRPr lang="en-US" altLang="en-US" sz="2400" dirty="0">
              <a:ea typeface="MS PGothic" panose="020B0600070205080204" pitchFamily="34" charset="-128"/>
            </a:endParaRPr>
          </a:p>
          <a:p>
            <a:pPr>
              <a:lnSpc>
                <a:spcPct val="75000"/>
              </a:lnSpc>
            </a:pPr>
            <a:r>
              <a:rPr lang="en-US" altLang="en-US" sz="2400" dirty="0">
                <a:ea typeface="MS PGothic" panose="020B0600070205080204" pitchFamily="34" charset="-128"/>
              </a:rPr>
              <a:t>recommendations</a:t>
            </a:r>
            <a:endParaRPr lang="en-US" altLang="en-US" sz="2400" dirty="0">
              <a:ea typeface="MS PGothic" panose="020B0600070205080204" pitchFamily="34" charset="-128"/>
            </a:endParaRPr>
          </a:p>
          <a:p>
            <a:pPr>
              <a:lnSpc>
                <a:spcPct val="75000"/>
              </a:lnSpc>
            </a:pPr>
            <a:r>
              <a:rPr lang="en-US" altLang="en-US" sz="2400" dirty="0">
                <a:ea typeface="MS PGothic" panose="020B0600070205080204" pitchFamily="34" charset="-128"/>
              </a:rPr>
              <a:t>user session state (Web e-mail)</a:t>
            </a:r>
            <a:endParaRPr lang="en-US" altLang="en-US" sz="2400" dirty="0">
              <a:ea typeface="MS PGothic" panose="020B0600070205080204" pitchFamily="34" charset="-128"/>
            </a:endParaRPr>
          </a:p>
        </p:txBody>
      </p:sp>
      <p:sp>
        <p:nvSpPr>
          <p:cNvPr id="89" name="Rectangle 13"/>
          <p:cNvSpPr>
            <a:spLocks noChangeArrowheads="1"/>
          </p:cNvSpPr>
          <p:nvPr/>
        </p:nvSpPr>
        <p:spPr bwMode="auto">
          <a:xfrm>
            <a:off x="7504291" y="1568189"/>
            <a:ext cx="3810000" cy="3553646"/>
          </a:xfrm>
          <a:prstGeom prst="rect">
            <a:avLst/>
          </a:prstGeom>
          <a:noFill/>
          <a:ln w="19050">
            <a:solidFill>
              <a:srgbClr val="000099"/>
            </a:solidFill>
            <a:miter lim="800000"/>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i="1" dirty="0">
                <a:solidFill>
                  <a:srgbClr val="CC0000"/>
                </a:solidFill>
                <a:latin typeface="+mn-lt"/>
              </a:rPr>
              <a:t>cookies and privacy:</a:t>
            </a:r>
            <a:endParaRPr lang="en-US" altLang="en-US" sz="2400" i="1" dirty="0">
              <a:solidFill>
                <a:srgbClr val="CC0000"/>
              </a:solidFill>
              <a:latin typeface="+mn-lt"/>
            </a:endParaRPr>
          </a:p>
          <a:p>
            <a:pPr>
              <a:lnSpc>
                <a:spcPct val="90000"/>
              </a:lnSpc>
              <a:buClr>
                <a:srgbClr val="000099"/>
              </a:buClr>
              <a:buSzPct val="100000"/>
              <a:buFont typeface="Wingdings" panose="05000000000000000000" pitchFamily="2" charset="2"/>
              <a:buChar char="§"/>
            </a:pPr>
            <a:r>
              <a:rPr lang="en-US" altLang="en-US" sz="2400" dirty="0">
                <a:latin typeface="+mn-lt"/>
              </a:rPr>
              <a:t>cookies permit sites to </a:t>
            </a:r>
            <a:r>
              <a:rPr lang="en-US" altLang="en-US" sz="2400" i="1" dirty="0">
                <a:latin typeface="+mn-lt"/>
              </a:rPr>
              <a:t>learn</a:t>
            </a:r>
            <a:r>
              <a:rPr lang="en-US" altLang="en-US" sz="2400" dirty="0">
                <a:latin typeface="+mn-lt"/>
              </a:rPr>
              <a:t> a lot about you on their site.</a:t>
            </a:r>
            <a:endParaRPr lang="en-US" altLang="en-US" sz="2400" dirty="0">
              <a:latin typeface="+mn-lt"/>
            </a:endParaRPr>
          </a:p>
          <a:p>
            <a:pPr>
              <a:lnSpc>
                <a:spcPct val="90000"/>
              </a:lnSpc>
              <a:buClr>
                <a:srgbClr val="000099"/>
              </a:buClr>
              <a:buSzPct val="100000"/>
              <a:buFont typeface="Wingdings" panose="05000000000000000000" pitchFamily="2" charset="2"/>
              <a:buChar char="§"/>
            </a:pPr>
            <a:r>
              <a:rPr lang="en-US" altLang="en-US" sz="2400" dirty="0">
                <a:latin typeface="+mn-lt"/>
              </a:rPr>
              <a:t>third party persistent cookies (tracking cookies) allow common identity (cookie value) to be tracked across multiple web sites</a:t>
            </a:r>
            <a:endParaRPr lang="en-US" altLang="en-US" sz="2400" dirty="0">
              <a:latin typeface="+mn-lt"/>
            </a:endParaRPr>
          </a:p>
        </p:txBody>
      </p:sp>
      <p:sp>
        <p:nvSpPr>
          <p:cNvPr id="90" name="Text Box 14"/>
          <p:cNvSpPr txBox="1">
            <a:spLocks noChangeArrowheads="1"/>
          </p:cNvSpPr>
          <p:nvPr/>
        </p:nvSpPr>
        <p:spPr bwMode="auto">
          <a:xfrm>
            <a:off x="10149568" y="1325611"/>
            <a:ext cx="838691"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400" dirty="0">
                <a:solidFill>
                  <a:srgbClr val="000099"/>
                </a:solidFill>
                <a:latin typeface="+mn-lt"/>
              </a:rPr>
              <a:t>aside</a:t>
            </a:r>
            <a:endParaRPr lang="en-US" altLang="en-US" sz="2400" dirty="0">
              <a:solidFill>
                <a:srgbClr val="000099"/>
              </a:solidFill>
              <a:latin typeface="+mn-lt"/>
            </a:endParaRPr>
          </a:p>
        </p:txBody>
      </p:sp>
      <p:sp>
        <p:nvSpPr>
          <p:cNvPr id="91" name="Rectangle 15"/>
          <p:cNvSpPr>
            <a:spLocks noChangeArrowheads="1"/>
          </p:cNvSpPr>
          <p:nvPr/>
        </p:nvSpPr>
        <p:spPr bwMode="auto">
          <a:xfrm>
            <a:off x="721562" y="3980757"/>
            <a:ext cx="6689454"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800" i="1" dirty="0">
                <a:solidFill>
                  <a:srgbClr val="CC0000"/>
                </a:solidFill>
                <a:latin typeface="+mn-lt"/>
              </a:rPr>
              <a:t>Challenge: How to keep </a:t>
            </a:r>
            <a:r>
              <a:rPr lang="en-US" altLang="ja-JP" sz="2800" i="1" dirty="0">
                <a:solidFill>
                  <a:srgbClr val="CC0000"/>
                </a:solidFill>
                <a:latin typeface="+mn-lt"/>
              </a:rPr>
              <a:t>state:</a:t>
            </a:r>
            <a:endParaRPr lang="en-US" altLang="ja-JP" sz="2800" i="1" dirty="0">
              <a:solidFill>
                <a:srgbClr val="CC0000"/>
              </a:solidFill>
              <a:latin typeface="+mn-lt"/>
            </a:endParaRPr>
          </a:p>
          <a:p>
            <a:pPr>
              <a:lnSpc>
                <a:spcPct val="90000"/>
              </a:lnSpc>
              <a:buClr>
                <a:srgbClr val="000099"/>
              </a:buClr>
              <a:buSzPct val="100000"/>
              <a:buFont typeface="Wingdings" panose="05000000000000000000" pitchFamily="2" charset="2"/>
              <a:buChar char="§"/>
            </a:pPr>
            <a:r>
              <a:rPr lang="en-US" altLang="en-US" sz="2400" dirty="0">
                <a:latin typeface="+mn-lt"/>
              </a:rPr>
              <a:t>protocol endpoints: maintain state at sender/receiver over multiple transactions</a:t>
            </a:r>
            <a:endParaRPr lang="en-US" altLang="en-US" sz="2400" dirty="0">
              <a:latin typeface="+mn-lt"/>
            </a:endParaRPr>
          </a:p>
          <a:p>
            <a:pPr>
              <a:lnSpc>
                <a:spcPct val="90000"/>
              </a:lnSpc>
              <a:buClr>
                <a:srgbClr val="000099"/>
              </a:buClr>
              <a:buSzPct val="100000"/>
              <a:buFont typeface="Wingdings" panose="05000000000000000000" pitchFamily="2" charset="2"/>
              <a:buChar char="§"/>
            </a:pPr>
            <a:r>
              <a:rPr lang="en-US" altLang="en-US" sz="2400" dirty="0">
                <a:latin typeface="+mn-lt"/>
              </a:rPr>
              <a:t>cookies: HTTP messages carry state</a:t>
            </a:r>
            <a:endParaRPr lang="en-US" altLang="en-US" sz="2400" dirty="0">
              <a:latin typeface="+mn-lt"/>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sz="4400" dirty="0">
                <a:ea typeface="MS PGothic" panose="020B0600070205080204" pitchFamily="34" charset="-128"/>
              </a:rPr>
              <a:t>Web caches (proxy servers)</a:t>
            </a:r>
            <a:endParaRPr lang="en-US" sz="4400" dirty="0"/>
          </a:p>
        </p:txBody>
      </p:sp>
      <p:sp>
        <p:nvSpPr>
          <p:cNvPr id="3"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grpSp>
        <p:nvGrpSpPr>
          <p:cNvPr id="8" name="Group 171"/>
          <p:cNvGrpSpPr/>
          <p:nvPr/>
        </p:nvGrpSpPr>
        <p:grpSpPr bwMode="auto">
          <a:xfrm>
            <a:off x="6272213" y="2445088"/>
            <a:ext cx="687387" cy="763588"/>
            <a:chOff x="-44" y="1473"/>
            <a:chExt cx="981" cy="1105"/>
          </a:xfrm>
        </p:grpSpPr>
        <p:pic>
          <p:nvPicPr>
            <p:cNvPr id="10" name="Picture 172"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Freeform 173"/>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12" name="Group 102"/>
          <p:cNvGrpSpPr/>
          <p:nvPr/>
        </p:nvGrpSpPr>
        <p:grpSpPr bwMode="auto">
          <a:xfrm>
            <a:off x="6337300" y="4318338"/>
            <a:ext cx="687388" cy="763588"/>
            <a:chOff x="-44" y="1473"/>
            <a:chExt cx="981" cy="1105"/>
          </a:xfrm>
        </p:grpSpPr>
        <p:pic>
          <p:nvPicPr>
            <p:cNvPr id="13" name="Picture 103"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Freeform 104"/>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15" name="Group 138"/>
          <p:cNvGrpSpPr/>
          <p:nvPr/>
        </p:nvGrpSpPr>
        <p:grpSpPr bwMode="auto">
          <a:xfrm>
            <a:off x="8475663" y="3207088"/>
            <a:ext cx="400050" cy="715963"/>
            <a:chOff x="4140" y="429"/>
            <a:chExt cx="1425" cy="2396"/>
          </a:xfrm>
        </p:grpSpPr>
        <p:sp>
          <p:nvSpPr>
            <p:cNvPr id="16" name="Freeform 139"/>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 name="Rectangle 140"/>
            <p:cNvSpPr>
              <a:spLocks noChangeArrowheads="1"/>
            </p:cNvSpPr>
            <p:nvPr/>
          </p:nvSpPr>
          <p:spPr bwMode="auto">
            <a:xfrm>
              <a:off x="4208"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8" name="Freeform 141"/>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 name="Freeform 142"/>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0" name="Rectangle 143"/>
            <p:cNvSpPr>
              <a:spLocks noChangeArrowheads="1"/>
            </p:cNvSpPr>
            <p:nvPr/>
          </p:nvSpPr>
          <p:spPr bwMode="auto">
            <a:xfrm>
              <a:off x="4214" y="695"/>
              <a:ext cx="594" cy="48"/>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21" name="Group 144"/>
            <p:cNvGrpSpPr/>
            <p:nvPr/>
          </p:nvGrpSpPr>
          <p:grpSpPr bwMode="auto">
            <a:xfrm>
              <a:off x="4749" y="668"/>
              <a:ext cx="581" cy="145"/>
              <a:chOff x="614" y="2568"/>
              <a:chExt cx="725" cy="139"/>
            </a:xfrm>
          </p:grpSpPr>
          <p:sp>
            <p:nvSpPr>
              <p:cNvPr id="46" name="AutoShape 145"/>
              <p:cNvSpPr>
                <a:spLocks noChangeArrowheads="1"/>
              </p:cNvSpPr>
              <p:nvPr/>
            </p:nvSpPr>
            <p:spPr bwMode="auto">
              <a:xfrm>
                <a:off x="616" y="2568"/>
                <a:ext cx="720"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47" name="AutoShape 146"/>
              <p:cNvSpPr>
                <a:spLocks noChangeArrowheads="1"/>
              </p:cNvSpPr>
              <p:nvPr/>
            </p:nvSpPr>
            <p:spPr bwMode="auto">
              <a:xfrm>
                <a:off x="630" y="2583"/>
                <a:ext cx="67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22" name="Rectangle 147"/>
            <p:cNvSpPr>
              <a:spLocks noChangeArrowheads="1"/>
            </p:cNvSpPr>
            <p:nvPr/>
          </p:nvSpPr>
          <p:spPr bwMode="auto">
            <a:xfrm>
              <a:off x="4225" y="1019"/>
              <a:ext cx="594" cy="48"/>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23" name="Group 148"/>
            <p:cNvGrpSpPr/>
            <p:nvPr/>
          </p:nvGrpSpPr>
          <p:grpSpPr bwMode="auto">
            <a:xfrm>
              <a:off x="4747" y="994"/>
              <a:ext cx="581" cy="134"/>
              <a:chOff x="614" y="2568"/>
              <a:chExt cx="725" cy="139"/>
            </a:xfrm>
          </p:grpSpPr>
          <p:sp>
            <p:nvSpPr>
              <p:cNvPr id="44" name="AutoShape 149"/>
              <p:cNvSpPr>
                <a:spLocks noChangeArrowheads="1"/>
              </p:cNvSpPr>
              <p:nvPr/>
            </p:nvSpPr>
            <p:spPr bwMode="auto">
              <a:xfrm>
                <a:off x="612" y="2566"/>
                <a:ext cx="727"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45" name="AutoShape 150"/>
              <p:cNvSpPr>
                <a:spLocks noChangeArrowheads="1"/>
              </p:cNvSpPr>
              <p:nvPr/>
            </p:nvSpPr>
            <p:spPr bwMode="auto">
              <a:xfrm>
                <a:off x="626" y="2583"/>
                <a:ext cx="692"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24" name="Rectangle 151"/>
            <p:cNvSpPr>
              <a:spLocks noChangeArrowheads="1"/>
            </p:cNvSpPr>
            <p:nvPr/>
          </p:nvSpPr>
          <p:spPr bwMode="auto">
            <a:xfrm>
              <a:off x="4219" y="1359"/>
              <a:ext cx="594" cy="48"/>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25" name="Rectangle 152"/>
            <p:cNvSpPr>
              <a:spLocks noChangeArrowheads="1"/>
            </p:cNvSpPr>
            <p:nvPr/>
          </p:nvSpPr>
          <p:spPr bwMode="auto">
            <a:xfrm>
              <a:off x="4230" y="1656"/>
              <a:ext cx="594" cy="48"/>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26" name="Group 153"/>
            <p:cNvGrpSpPr/>
            <p:nvPr/>
          </p:nvGrpSpPr>
          <p:grpSpPr bwMode="auto">
            <a:xfrm>
              <a:off x="4735" y="1627"/>
              <a:ext cx="582" cy="151"/>
              <a:chOff x="614" y="2568"/>
              <a:chExt cx="725" cy="139"/>
            </a:xfrm>
          </p:grpSpPr>
          <p:sp>
            <p:nvSpPr>
              <p:cNvPr id="42" name="AutoShape 154"/>
              <p:cNvSpPr>
                <a:spLocks noChangeArrowheads="1"/>
              </p:cNvSpPr>
              <p:nvPr/>
            </p:nvSpPr>
            <p:spPr bwMode="auto">
              <a:xfrm>
                <a:off x="612" y="2570"/>
                <a:ext cx="726"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43" name="AutoShape 155"/>
              <p:cNvSpPr>
                <a:spLocks noChangeArrowheads="1"/>
              </p:cNvSpPr>
              <p:nvPr/>
            </p:nvSpPr>
            <p:spPr bwMode="auto">
              <a:xfrm>
                <a:off x="627"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27" name="Freeform 156"/>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8" name="Group 157"/>
            <p:cNvGrpSpPr/>
            <p:nvPr/>
          </p:nvGrpSpPr>
          <p:grpSpPr bwMode="auto">
            <a:xfrm>
              <a:off x="4739" y="1327"/>
              <a:ext cx="582" cy="139"/>
              <a:chOff x="614" y="2568"/>
              <a:chExt cx="725" cy="139"/>
            </a:xfrm>
          </p:grpSpPr>
          <p:sp>
            <p:nvSpPr>
              <p:cNvPr id="40" name="AutoShape 158"/>
              <p:cNvSpPr>
                <a:spLocks noChangeArrowheads="1"/>
              </p:cNvSpPr>
              <p:nvPr/>
            </p:nvSpPr>
            <p:spPr bwMode="auto">
              <a:xfrm>
                <a:off x="615" y="2568"/>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41" name="AutoShape 159"/>
              <p:cNvSpPr>
                <a:spLocks noChangeArrowheads="1"/>
              </p:cNvSpPr>
              <p:nvPr/>
            </p:nvSpPr>
            <p:spPr bwMode="auto">
              <a:xfrm>
                <a:off x="629"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29" name="Rectangle 160"/>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0" name="Freeform 161"/>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31" name="Freeform 162"/>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32" name="Oval 163"/>
            <p:cNvSpPr>
              <a:spLocks noChangeArrowheads="1"/>
            </p:cNvSpPr>
            <p:nvPr/>
          </p:nvSpPr>
          <p:spPr bwMode="auto">
            <a:xfrm>
              <a:off x="5520" y="2612"/>
              <a:ext cx="45" cy="96"/>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3" name="Freeform 164"/>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34" name="AutoShape 165"/>
            <p:cNvSpPr>
              <a:spLocks noChangeArrowheads="1"/>
            </p:cNvSpPr>
            <p:nvPr/>
          </p:nvSpPr>
          <p:spPr bwMode="auto">
            <a:xfrm>
              <a:off x="4140" y="2676"/>
              <a:ext cx="1199" cy="149"/>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5" name="AutoShape 166"/>
            <p:cNvSpPr>
              <a:spLocks noChangeArrowheads="1"/>
            </p:cNvSpPr>
            <p:nvPr/>
          </p:nvSpPr>
          <p:spPr bwMode="auto">
            <a:xfrm>
              <a:off x="4208" y="2713"/>
              <a:ext cx="1069" cy="80"/>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6" name="Oval 167"/>
            <p:cNvSpPr>
              <a:spLocks noChangeArrowheads="1"/>
            </p:cNvSpPr>
            <p:nvPr/>
          </p:nvSpPr>
          <p:spPr bwMode="auto">
            <a:xfrm>
              <a:off x="4310" y="2384"/>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7" name="Oval 168"/>
            <p:cNvSpPr>
              <a:spLocks noChangeArrowheads="1"/>
            </p:cNvSpPr>
            <p:nvPr/>
          </p:nvSpPr>
          <p:spPr bwMode="auto">
            <a:xfrm>
              <a:off x="4485" y="2384"/>
              <a:ext cx="158"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latin typeface="+mn-lt"/>
                <a:cs typeface="Arial" panose="020B0604020202020204" pitchFamily="34" charset="0"/>
              </a:endParaRPr>
            </a:p>
          </p:txBody>
        </p:sp>
        <p:sp>
          <p:nvSpPr>
            <p:cNvPr id="38" name="Oval 169"/>
            <p:cNvSpPr>
              <a:spLocks noChangeArrowheads="1"/>
            </p:cNvSpPr>
            <p:nvPr/>
          </p:nvSpPr>
          <p:spPr bwMode="auto">
            <a:xfrm>
              <a:off x="4660" y="2379"/>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9" name="Rectangle 170"/>
            <p:cNvSpPr>
              <a:spLocks noChangeArrowheads="1"/>
            </p:cNvSpPr>
            <p:nvPr/>
          </p:nvSpPr>
          <p:spPr bwMode="auto">
            <a:xfrm>
              <a:off x="5062" y="1837"/>
              <a:ext cx="85" cy="760"/>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grpSp>
        <p:nvGrpSpPr>
          <p:cNvPr id="48" name="Group 105"/>
          <p:cNvGrpSpPr/>
          <p:nvPr/>
        </p:nvGrpSpPr>
        <p:grpSpPr bwMode="auto">
          <a:xfrm>
            <a:off x="10423525" y="2586376"/>
            <a:ext cx="433388" cy="715962"/>
            <a:chOff x="4140" y="429"/>
            <a:chExt cx="1425" cy="2396"/>
          </a:xfrm>
        </p:grpSpPr>
        <p:sp>
          <p:nvSpPr>
            <p:cNvPr id="49" name="Freeform 106"/>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 name="Rectangle 107"/>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1" name="Freeform 108"/>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2" name="Freeform 109"/>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3" name="Rectangle 110"/>
            <p:cNvSpPr>
              <a:spLocks noChangeArrowheads="1"/>
            </p:cNvSpPr>
            <p:nvPr/>
          </p:nvSpPr>
          <p:spPr bwMode="auto">
            <a:xfrm>
              <a:off x="4213" y="695"/>
              <a:ext cx="595" cy="48"/>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54" name="Group 111"/>
            <p:cNvGrpSpPr/>
            <p:nvPr/>
          </p:nvGrpSpPr>
          <p:grpSpPr bwMode="auto">
            <a:xfrm>
              <a:off x="4749" y="668"/>
              <a:ext cx="581" cy="145"/>
              <a:chOff x="614" y="2568"/>
              <a:chExt cx="725" cy="139"/>
            </a:xfrm>
          </p:grpSpPr>
          <p:sp>
            <p:nvSpPr>
              <p:cNvPr id="79" name="AutoShape 112"/>
              <p:cNvSpPr>
                <a:spLocks noChangeArrowheads="1"/>
              </p:cNvSpPr>
              <p:nvPr/>
            </p:nvSpPr>
            <p:spPr bwMode="auto">
              <a:xfrm>
                <a:off x="616" y="2568"/>
                <a:ext cx="723"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80" name="AutoShape 113"/>
              <p:cNvSpPr>
                <a:spLocks noChangeArrowheads="1"/>
              </p:cNvSpPr>
              <p:nvPr/>
            </p:nvSpPr>
            <p:spPr bwMode="auto">
              <a:xfrm>
                <a:off x="629" y="2583"/>
                <a:ext cx="69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55" name="Rectangle 114"/>
            <p:cNvSpPr>
              <a:spLocks noChangeArrowheads="1"/>
            </p:cNvSpPr>
            <p:nvPr/>
          </p:nvSpPr>
          <p:spPr bwMode="auto">
            <a:xfrm>
              <a:off x="4224" y="1019"/>
              <a:ext cx="595" cy="48"/>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56" name="Group 115"/>
            <p:cNvGrpSpPr/>
            <p:nvPr/>
          </p:nvGrpSpPr>
          <p:grpSpPr bwMode="auto">
            <a:xfrm>
              <a:off x="4747" y="994"/>
              <a:ext cx="581" cy="134"/>
              <a:chOff x="614" y="2568"/>
              <a:chExt cx="725" cy="139"/>
            </a:xfrm>
          </p:grpSpPr>
          <p:sp>
            <p:nvSpPr>
              <p:cNvPr id="77" name="AutoShape 116"/>
              <p:cNvSpPr>
                <a:spLocks noChangeArrowheads="1"/>
              </p:cNvSpPr>
              <p:nvPr/>
            </p:nvSpPr>
            <p:spPr bwMode="auto">
              <a:xfrm>
                <a:off x="612" y="2566"/>
                <a:ext cx="730"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78" name="AutoShape 117"/>
              <p:cNvSpPr>
                <a:spLocks noChangeArrowheads="1"/>
              </p:cNvSpPr>
              <p:nvPr/>
            </p:nvSpPr>
            <p:spPr bwMode="auto">
              <a:xfrm>
                <a:off x="625" y="2583"/>
                <a:ext cx="697"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57" name="Rectangle 118"/>
            <p:cNvSpPr>
              <a:spLocks noChangeArrowheads="1"/>
            </p:cNvSpPr>
            <p:nvPr/>
          </p:nvSpPr>
          <p:spPr bwMode="auto">
            <a:xfrm>
              <a:off x="4218" y="1359"/>
              <a:ext cx="595" cy="48"/>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8" name="Rectangle 119"/>
            <p:cNvSpPr>
              <a:spLocks noChangeArrowheads="1"/>
            </p:cNvSpPr>
            <p:nvPr/>
          </p:nvSpPr>
          <p:spPr bwMode="auto">
            <a:xfrm>
              <a:off x="4229" y="1656"/>
              <a:ext cx="595" cy="48"/>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59" name="Group 120"/>
            <p:cNvGrpSpPr/>
            <p:nvPr/>
          </p:nvGrpSpPr>
          <p:grpSpPr bwMode="auto">
            <a:xfrm>
              <a:off x="4735" y="1627"/>
              <a:ext cx="582" cy="151"/>
              <a:chOff x="614" y="2568"/>
              <a:chExt cx="725" cy="139"/>
            </a:xfrm>
          </p:grpSpPr>
          <p:sp>
            <p:nvSpPr>
              <p:cNvPr id="75" name="AutoShape 121"/>
              <p:cNvSpPr>
                <a:spLocks noChangeArrowheads="1"/>
              </p:cNvSpPr>
              <p:nvPr/>
            </p:nvSpPr>
            <p:spPr bwMode="auto">
              <a:xfrm>
                <a:off x="614" y="2570"/>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76" name="AutoShape 122"/>
              <p:cNvSpPr>
                <a:spLocks noChangeArrowheads="1"/>
              </p:cNvSpPr>
              <p:nvPr/>
            </p:nvSpPr>
            <p:spPr bwMode="auto">
              <a:xfrm>
                <a:off x="627" y="2585"/>
                <a:ext cx="683"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60" name="Freeform 123"/>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61" name="Group 124"/>
            <p:cNvGrpSpPr/>
            <p:nvPr/>
          </p:nvGrpSpPr>
          <p:grpSpPr bwMode="auto">
            <a:xfrm>
              <a:off x="4739" y="1327"/>
              <a:ext cx="582" cy="139"/>
              <a:chOff x="614" y="2568"/>
              <a:chExt cx="725" cy="139"/>
            </a:xfrm>
          </p:grpSpPr>
          <p:sp>
            <p:nvSpPr>
              <p:cNvPr id="73" name="AutoShape 125"/>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74" name="AutoShape 126"/>
              <p:cNvSpPr>
                <a:spLocks noChangeArrowheads="1"/>
              </p:cNvSpPr>
              <p:nvPr/>
            </p:nvSpPr>
            <p:spPr bwMode="auto">
              <a:xfrm>
                <a:off x="629" y="2584"/>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62" name="Rectangle 127"/>
            <p:cNvSpPr>
              <a:spLocks noChangeArrowheads="1"/>
            </p:cNvSpPr>
            <p:nvPr/>
          </p:nvSpPr>
          <p:spPr bwMode="auto">
            <a:xfrm>
              <a:off x="5252"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63" name="Freeform 128"/>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4" name="Freeform 129"/>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5" name="Oval 130"/>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66" name="Freeform 131"/>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7" name="AutoShape 132"/>
            <p:cNvSpPr>
              <a:spLocks noChangeArrowheads="1"/>
            </p:cNvSpPr>
            <p:nvPr/>
          </p:nvSpPr>
          <p:spPr bwMode="auto">
            <a:xfrm>
              <a:off x="4140" y="2676"/>
              <a:ext cx="1201" cy="149"/>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68" name="AutoShape 133"/>
            <p:cNvSpPr>
              <a:spLocks noChangeArrowheads="1"/>
            </p:cNvSpPr>
            <p:nvPr/>
          </p:nvSpPr>
          <p:spPr bwMode="auto">
            <a:xfrm>
              <a:off x="4208" y="2713"/>
              <a:ext cx="1070" cy="80"/>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69" name="Oval 134"/>
            <p:cNvSpPr>
              <a:spLocks noChangeArrowheads="1"/>
            </p:cNvSpPr>
            <p:nvPr/>
          </p:nvSpPr>
          <p:spPr bwMode="auto">
            <a:xfrm>
              <a:off x="4307" y="2384"/>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70" name="Oval 135"/>
            <p:cNvSpPr>
              <a:spLocks noChangeArrowheads="1"/>
            </p:cNvSpPr>
            <p:nvPr/>
          </p:nvSpPr>
          <p:spPr bwMode="auto">
            <a:xfrm>
              <a:off x="4485" y="2384"/>
              <a:ext cx="162"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latin typeface="+mn-lt"/>
                <a:cs typeface="Arial" panose="020B0604020202020204" pitchFamily="34" charset="0"/>
              </a:endParaRPr>
            </a:p>
          </p:txBody>
        </p:sp>
        <p:sp>
          <p:nvSpPr>
            <p:cNvPr id="71" name="Oval 136"/>
            <p:cNvSpPr>
              <a:spLocks noChangeArrowheads="1"/>
            </p:cNvSpPr>
            <p:nvPr/>
          </p:nvSpPr>
          <p:spPr bwMode="auto">
            <a:xfrm>
              <a:off x="4662" y="2379"/>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72" name="Rectangle 137"/>
            <p:cNvSpPr>
              <a:spLocks noChangeArrowheads="1"/>
            </p:cNvSpPr>
            <p:nvPr/>
          </p:nvSpPr>
          <p:spPr bwMode="auto">
            <a:xfrm>
              <a:off x="5064" y="1837"/>
              <a:ext cx="84" cy="760"/>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81" name="Rectangle 3"/>
          <p:cNvSpPr txBox="1">
            <a:spLocks noChangeArrowheads="1"/>
          </p:cNvSpPr>
          <p:nvPr/>
        </p:nvSpPr>
        <p:spPr>
          <a:xfrm>
            <a:off x="817755" y="2025650"/>
            <a:ext cx="4394625" cy="3762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680" indent="-233680"/>
            <a:r>
              <a:rPr lang="en-US" altLang="en-US" sz="2400" dirty="0">
                <a:ea typeface="MS PGothic" panose="020B0600070205080204" pitchFamily="34" charset="-128"/>
              </a:rPr>
              <a:t>user configures browser to point to a </a:t>
            </a:r>
            <a:r>
              <a:rPr lang="en-US" altLang="en-US" sz="2400" i="1" dirty="0">
                <a:solidFill>
                  <a:srgbClr val="C00000"/>
                </a:solidFill>
                <a:ea typeface="MS PGothic" panose="020B0600070205080204" pitchFamily="34" charset="-128"/>
              </a:rPr>
              <a:t>Web cache</a:t>
            </a:r>
            <a:endParaRPr lang="en-US" altLang="en-US" sz="2400" i="1" dirty="0">
              <a:solidFill>
                <a:srgbClr val="C00000"/>
              </a:solidFill>
              <a:ea typeface="MS PGothic" panose="020B0600070205080204" pitchFamily="34" charset="-128"/>
            </a:endParaRPr>
          </a:p>
          <a:p>
            <a:pPr marL="233680" indent="-233680"/>
            <a:r>
              <a:rPr lang="en-US" altLang="en-US" sz="2400" dirty="0">
                <a:ea typeface="MS PGothic" panose="020B0600070205080204" pitchFamily="34" charset="-128"/>
              </a:rPr>
              <a:t>browser sends all HTTP requests to cache</a:t>
            </a:r>
            <a:endParaRPr lang="en-US" altLang="en-US" sz="2400" dirty="0">
              <a:ea typeface="MS PGothic" panose="020B0600070205080204" pitchFamily="34" charset="-128"/>
            </a:endParaRPr>
          </a:p>
          <a:p>
            <a:pPr marL="685800" lvl="1" indent="-228600"/>
            <a:r>
              <a:rPr lang="en-US" altLang="en-US" i="1" dirty="0">
                <a:solidFill>
                  <a:srgbClr val="0000A3"/>
                </a:solidFill>
                <a:ea typeface="MS PGothic" panose="020B0600070205080204" pitchFamily="34" charset="-128"/>
              </a:rPr>
              <a:t>if</a:t>
            </a:r>
            <a:r>
              <a:rPr lang="en-US" altLang="en-US" dirty="0">
                <a:ea typeface="MS PGothic" panose="020B0600070205080204" pitchFamily="34" charset="-128"/>
              </a:rPr>
              <a:t> object in cache: cache returns object to client</a:t>
            </a:r>
            <a:endParaRPr lang="en-US" altLang="en-US" dirty="0">
              <a:ea typeface="MS PGothic" panose="020B0600070205080204" pitchFamily="34" charset="-128"/>
            </a:endParaRPr>
          </a:p>
          <a:p>
            <a:pPr marL="685800" lvl="1" indent="-228600"/>
            <a:r>
              <a:rPr lang="en-US" altLang="en-US" i="1" dirty="0">
                <a:solidFill>
                  <a:srgbClr val="0000A3"/>
                </a:solidFill>
                <a:ea typeface="MS PGothic" panose="020B0600070205080204" pitchFamily="34" charset="-128"/>
              </a:rPr>
              <a:t>else</a:t>
            </a:r>
            <a:r>
              <a:rPr lang="en-US" altLang="en-US" dirty="0">
                <a:ea typeface="MS PGothic" panose="020B0600070205080204" pitchFamily="34" charset="-128"/>
              </a:rPr>
              <a:t> cache requests object from origin server, caches received object, then returns object to client</a:t>
            </a:r>
            <a:endParaRPr lang="en-US" altLang="en-US" dirty="0">
              <a:ea typeface="MS PGothic" panose="020B0600070205080204" pitchFamily="34" charset="-128"/>
            </a:endParaRPr>
          </a:p>
        </p:txBody>
      </p:sp>
      <p:sp>
        <p:nvSpPr>
          <p:cNvPr id="82" name="Rectangle 4"/>
          <p:cNvSpPr>
            <a:spLocks noChangeArrowheads="1"/>
          </p:cNvSpPr>
          <p:nvPr/>
        </p:nvSpPr>
        <p:spPr bwMode="auto">
          <a:xfrm>
            <a:off x="865381" y="1333500"/>
            <a:ext cx="8750300"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800" i="1" dirty="0">
                <a:solidFill>
                  <a:srgbClr val="CC0000"/>
                </a:solidFill>
                <a:latin typeface="+mn-lt"/>
              </a:rPr>
              <a:t>Goal:</a:t>
            </a:r>
            <a:r>
              <a:rPr lang="en-US" altLang="en-US" sz="2800" dirty="0">
                <a:latin typeface="+mn-lt"/>
              </a:rPr>
              <a:t> satisfy client request without involving origin server</a:t>
            </a:r>
            <a:endParaRPr lang="en-US" altLang="en-US" sz="2800" dirty="0">
              <a:latin typeface="+mn-lt"/>
            </a:endParaRPr>
          </a:p>
        </p:txBody>
      </p:sp>
      <p:sp>
        <p:nvSpPr>
          <p:cNvPr id="83" name="Text Box 6"/>
          <p:cNvSpPr txBox="1">
            <a:spLocks noChangeArrowheads="1"/>
          </p:cNvSpPr>
          <p:nvPr/>
        </p:nvSpPr>
        <p:spPr bwMode="auto">
          <a:xfrm>
            <a:off x="6416675" y="3118188"/>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600">
                <a:latin typeface="+mn-lt"/>
              </a:rPr>
              <a:t>client</a:t>
            </a:r>
            <a:endParaRPr lang="en-US" altLang="en-US" sz="2400">
              <a:latin typeface="+mn-lt"/>
            </a:endParaRPr>
          </a:p>
        </p:txBody>
      </p:sp>
      <p:sp>
        <p:nvSpPr>
          <p:cNvPr id="84" name="Text Box 8"/>
          <p:cNvSpPr txBox="1">
            <a:spLocks noChangeArrowheads="1"/>
          </p:cNvSpPr>
          <p:nvPr/>
        </p:nvSpPr>
        <p:spPr bwMode="auto">
          <a:xfrm>
            <a:off x="8228633" y="2524463"/>
            <a:ext cx="83695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lnSpc>
                <a:spcPct val="90000"/>
              </a:lnSpc>
              <a:spcBef>
                <a:spcPct val="0"/>
              </a:spcBef>
              <a:buClrTx/>
              <a:buSzTx/>
              <a:buFontTx/>
              <a:buNone/>
            </a:pPr>
            <a:r>
              <a:rPr lang="en-US" altLang="en-US" dirty="0">
                <a:latin typeface="+mn-lt"/>
              </a:rPr>
              <a:t>proxy</a:t>
            </a:r>
            <a:endParaRPr lang="en-US" altLang="en-US" dirty="0">
              <a:latin typeface="+mn-lt"/>
            </a:endParaRPr>
          </a:p>
          <a:p>
            <a:pPr algn="ctr">
              <a:lnSpc>
                <a:spcPct val="90000"/>
              </a:lnSpc>
              <a:spcBef>
                <a:spcPct val="0"/>
              </a:spcBef>
              <a:buClrTx/>
              <a:buSzTx/>
              <a:buFontTx/>
              <a:buNone/>
            </a:pPr>
            <a:r>
              <a:rPr lang="en-US" altLang="en-US" dirty="0">
                <a:latin typeface="+mn-lt"/>
              </a:rPr>
              <a:t>server</a:t>
            </a:r>
            <a:endParaRPr lang="en-US" altLang="en-US" sz="2400" dirty="0">
              <a:latin typeface="+mn-lt"/>
            </a:endParaRPr>
          </a:p>
        </p:txBody>
      </p:sp>
      <p:sp>
        <p:nvSpPr>
          <p:cNvPr id="85" name="Text Box 21"/>
          <p:cNvSpPr txBox="1">
            <a:spLocks noChangeArrowheads="1"/>
          </p:cNvSpPr>
          <p:nvPr/>
        </p:nvSpPr>
        <p:spPr bwMode="auto">
          <a:xfrm>
            <a:off x="6538913" y="5089863"/>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600">
                <a:latin typeface="+mn-lt"/>
              </a:rPr>
              <a:t>client</a:t>
            </a:r>
            <a:endParaRPr lang="en-US" altLang="en-US" sz="2400">
              <a:latin typeface="+mn-lt"/>
            </a:endParaRPr>
          </a:p>
        </p:txBody>
      </p:sp>
      <p:grpSp>
        <p:nvGrpSpPr>
          <p:cNvPr id="86" name="Group 53"/>
          <p:cNvGrpSpPr/>
          <p:nvPr/>
        </p:nvGrpSpPr>
        <p:grpSpPr bwMode="auto">
          <a:xfrm>
            <a:off x="6915150" y="3845263"/>
            <a:ext cx="1490663" cy="760413"/>
            <a:chOff x="2942" y="2580"/>
            <a:chExt cx="939" cy="479"/>
          </a:xfrm>
        </p:grpSpPr>
        <p:sp>
          <p:nvSpPr>
            <p:cNvPr id="87" name="Line 19"/>
            <p:cNvSpPr>
              <a:spLocks noChangeShapeType="1"/>
            </p:cNvSpPr>
            <p:nvPr/>
          </p:nvSpPr>
          <p:spPr bwMode="auto">
            <a:xfrm flipV="1">
              <a:off x="2998" y="2580"/>
              <a:ext cx="883" cy="479"/>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2" name="Text Box 23"/>
            <p:cNvSpPr txBox="1">
              <a:spLocks noChangeArrowheads="1"/>
            </p:cNvSpPr>
            <p:nvPr/>
          </p:nvSpPr>
          <p:spPr bwMode="auto">
            <a:xfrm rot="19907361">
              <a:off x="2942" y="264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600">
                  <a:solidFill>
                    <a:srgbClr val="CC0000"/>
                  </a:solidFill>
                  <a:latin typeface="+mn-lt"/>
                </a:rPr>
                <a:t>HTTP request</a:t>
              </a:r>
              <a:endParaRPr lang="en-US" altLang="en-US" sz="2400">
                <a:solidFill>
                  <a:srgbClr val="CC0000"/>
                </a:solidFill>
                <a:latin typeface="+mn-lt"/>
              </a:endParaRPr>
            </a:p>
          </p:txBody>
        </p:sp>
      </p:grpSp>
      <p:grpSp>
        <p:nvGrpSpPr>
          <p:cNvPr id="93" name="Group 54"/>
          <p:cNvGrpSpPr/>
          <p:nvPr/>
        </p:nvGrpSpPr>
        <p:grpSpPr bwMode="auto">
          <a:xfrm>
            <a:off x="7054850" y="3932576"/>
            <a:ext cx="1487488" cy="785812"/>
            <a:chOff x="3030" y="2635"/>
            <a:chExt cx="937" cy="495"/>
          </a:xfrm>
        </p:grpSpPr>
        <p:sp>
          <p:nvSpPr>
            <p:cNvPr id="94" name="Line 20"/>
            <p:cNvSpPr>
              <a:spLocks noChangeShapeType="1"/>
            </p:cNvSpPr>
            <p:nvPr/>
          </p:nvSpPr>
          <p:spPr bwMode="auto">
            <a:xfrm flipH="1">
              <a:off x="3030" y="2635"/>
              <a:ext cx="884" cy="495"/>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5" name="Text Box 25"/>
            <p:cNvSpPr txBox="1">
              <a:spLocks noChangeArrowheads="1"/>
            </p:cNvSpPr>
            <p:nvPr/>
          </p:nvSpPr>
          <p:spPr bwMode="auto">
            <a:xfrm rot="19862217">
              <a:off x="3069" y="2846"/>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600">
                  <a:solidFill>
                    <a:srgbClr val="CC0000"/>
                  </a:solidFill>
                  <a:latin typeface="+mn-lt"/>
                </a:rPr>
                <a:t>HTTP response</a:t>
              </a:r>
              <a:endParaRPr lang="en-US" altLang="en-US" sz="2400">
                <a:solidFill>
                  <a:srgbClr val="CC0000"/>
                </a:solidFill>
                <a:latin typeface="+mn-lt"/>
              </a:endParaRPr>
            </a:p>
          </p:txBody>
        </p:sp>
      </p:grpSp>
      <p:grpSp>
        <p:nvGrpSpPr>
          <p:cNvPr id="96" name="Group 49"/>
          <p:cNvGrpSpPr/>
          <p:nvPr/>
        </p:nvGrpSpPr>
        <p:grpSpPr bwMode="auto">
          <a:xfrm>
            <a:off x="7010400" y="2873713"/>
            <a:ext cx="3251200" cy="730250"/>
            <a:chOff x="3002" y="1979"/>
            <a:chExt cx="2048" cy="460"/>
          </a:xfrm>
        </p:grpSpPr>
        <p:sp>
          <p:nvSpPr>
            <p:cNvPr id="97" name="Freeform 18"/>
            <p:cNvSpPr/>
            <p:nvPr/>
          </p:nvSpPr>
          <p:spPr bwMode="auto">
            <a:xfrm>
              <a:off x="3002" y="1979"/>
              <a:ext cx="2048" cy="460"/>
            </a:xfrm>
            <a:custGeom>
              <a:avLst/>
              <a:gdLst>
                <a:gd name="T0" fmla="*/ 0 w 2048"/>
                <a:gd name="T1" fmla="*/ 2 h 460"/>
                <a:gd name="T2" fmla="*/ 1011 w 2048"/>
                <a:gd name="T3" fmla="*/ 460 h 460"/>
                <a:gd name="T4" fmla="*/ 2048 w 2048"/>
                <a:gd name="T5" fmla="*/ 0 h 460"/>
                <a:gd name="T6" fmla="*/ 0 60000 65536"/>
                <a:gd name="T7" fmla="*/ 0 60000 65536"/>
                <a:gd name="T8" fmla="*/ 0 60000 65536"/>
                <a:gd name="T9" fmla="*/ 0 w 2048"/>
                <a:gd name="T10" fmla="*/ 0 h 460"/>
                <a:gd name="T11" fmla="*/ 2048 w 2048"/>
                <a:gd name="T12" fmla="*/ 460 h 460"/>
              </a:gdLst>
              <a:ahLst/>
              <a:cxnLst>
                <a:cxn ang="T6">
                  <a:pos x="T0" y="T1"/>
                </a:cxn>
                <a:cxn ang="T7">
                  <a:pos x="T2" y="T3"/>
                </a:cxn>
                <a:cxn ang="T8">
                  <a:pos x="T4" y="T5"/>
                </a:cxn>
              </a:cxnLst>
              <a:rect l="T9" t="T10" r="T11" b="T12"/>
              <a:pathLst>
                <a:path w="2048" h="460">
                  <a:moveTo>
                    <a:pt x="0" y="2"/>
                  </a:moveTo>
                  <a:lnTo>
                    <a:pt x="1011" y="460"/>
                  </a:lnTo>
                  <a:lnTo>
                    <a:pt x="2048" y="0"/>
                  </a:lnTo>
                </a:path>
              </a:pathLst>
            </a:custGeom>
            <a:noFill/>
            <a:ln w="28575">
              <a:solidFill>
                <a:srgbClr val="CC0000"/>
              </a:solidFill>
              <a:rou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98" name="Text Box 22"/>
            <p:cNvSpPr txBox="1">
              <a:spLocks noChangeArrowheads="1"/>
            </p:cNvSpPr>
            <p:nvPr/>
          </p:nvSpPr>
          <p:spPr bwMode="auto">
            <a:xfrm rot="1422049">
              <a:off x="3129" y="200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600">
                  <a:solidFill>
                    <a:srgbClr val="CC0000"/>
                  </a:solidFill>
                  <a:latin typeface="+mn-lt"/>
                </a:rPr>
                <a:t>HTTP request</a:t>
              </a:r>
              <a:endParaRPr lang="en-US" altLang="en-US" sz="2400">
                <a:solidFill>
                  <a:srgbClr val="CC0000"/>
                </a:solidFill>
                <a:latin typeface="+mn-lt"/>
              </a:endParaRPr>
            </a:p>
          </p:txBody>
        </p:sp>
        <p:sp>
          <p:nvSpPr>
            <p:cNvPr id="99" name="Text Box 45"/>
            <p:cNvSpPr txBox="1">
              <a:spLocks noChangeArrowheads="1"/>
            </p:cNvSpPr>
            <p:nvPr/>
          </p:nvSpPr>
          <p:spPr bwMode="auto">
            <a:xfrm rot="20180032">
              <a:off x="4160" y="201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600">
                  <a:solidFill>
                    <a:srgbClr val="CC0000"/>
                  </a:solidFill>
                  <a:latin typeface="+mn-lt"/>
                </a:rPr>
                <a:t>HTTP request</a:t>
              </a:r>
              <a:endParaRPr lang="en-US" altLang="en-US" sz="2400">
                <a:solidFill>
                  <a:srgbClr val="CC0000"/>
                </a:solidFill>
                <a:latin typeface="+mn-lt"/>
              </a:endParaRPr>
            </a:p>
          </p:txBody>
        </p:sp>
      </p:grpSp>
      <p:sp>
        <p:nvSpPr>
          <p:cNvPr id="100" name="Text Box 47"/>
          <p:cNvSpPr txBox="1">
            <a:spLocks noChangeArrowheads="1"/>
          </p:cNvSpPr>
          <p:nvPr/>
        </p:nvSpPr>
        <p:spPr bwMode="auto">
          <a:xfrm>
            <a:off x="10264364" y="5228882"/>
            <a:ext cx="70884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lnSpc>
                <a:spcPct val="90000"/>
              </a:lnSpc>
              <a:spcBef>
                <a:spcPct val="0"/>
              </a:spcBef>
              <a:buClrTx/>
              <a:buSzTx/>
              <a:buFontTx/>
              <a:buNone/>
            </a:pPr>
            <a:r>
              <a:rPr lang="en-US" altLang="en-US" sz="1600" dirty="0">
                <a:latin typeface="+mn-lt"/>
              </a:rPr>
              <a:t>origin </a:t>
            </a:r>
            <a:endParaRPr lang="en-US" altLang="en-US" sz="1600" dirty="0">
              <a:latin typeface="+mn-lt"/>
            </a:endParaRPr>
          </a:p>
          <a:p>
            <a:pPr algn="ctr">
              <a:lnSpc>
                <a:spcPct val="90000"/>
              </a:lnSpc>
              <a:spcBef>
                <a:spcPct val="0"/>
              </a:spcBef>
              <a:buClrTx/>
              <a:buSzTx/>
              <a:buFontTx/>
              <a:buNone/>
            </a:pPr>
            <a:r>
              <a:rPr lang="en-US" altLang="en-US" sz="1600" dirty="0">
                <a:latin typeface="+mn-lt"/>
              </a:rPr>
              <a:t>server</a:t>
            </a:r>
            <a:endParaRPr lang="en-US" altLang="en-US" sz="2400" dirty="0">
              <a:latin typeface="+mn-lt"/>
            </a:endParaRPr>
          </a:p>
        </p:txBody>
      </p:sp>
      <p:sp>
        <p:nvSpPr>
          <p:cNvPr id="101" name="Text Box 48"/>
          <p:cNvSpPr txBox="1">
            <a:spLocks noChangeArrowheads="1"/>
          </p:cNvSpPr>
          <p:nvPr/>
        </p:nvSpPr>
        <p:spPr bwMode="auto">
          <a:xfrm>
            <a:off x="10281826" y="3292132"/>
            <a:ext cx="70884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lnSpc>
                <a:spcPct val="90000"/>
              </a:lnSpc>
              <a:spcBef>
                <a:spcPct val="0"/>
              </a:spcBef>
              <a:buClrTx/>
              <a:buSzTx/>
              <a:buFontTx/>
              <a:buNone/>
            </a:pPr>
            <a:r>
              <a:rPr lang="en-US" altLang="en-US" sz="1600" dirty="0">
                <a:latin typeface="+mn-lt"/>
              </a:rPr>
              <a:t>origin </a:t>
            </a:r>
            <a:endParaRPr lang="en-US" altLang="en-US" sz="1600" dirty="0">
              <a:latin typeface="+mn-lt"/>
            </a:endParaRPr>
          </a:p>
          <a:p>
            <a:pPr algn="ctr">
              <a:lnSpc>
                <a:spcPct val="80000"/>
              </a:lnSpc>
              <a:spcBef>
                <a:spcPct val="0"/>
              </a:spcBef>
              <a:buClrTx/>
              <a:buSzTx/>
              <a:buFontTx/>
              <a:buNone/>
            </a:pPr>
            <a:r>
              <a:rPr lang="en-US" altLang="en-US" sz="1600" dirty="0">
                <a:latin typeface="+mn-lt"/>
              </a:rPr>
              <a:t>server</a:t>
            </a:r>
            <a:endParaRPr lang="en-US" altLang="en-US" sz="2400" dirty="0">
              <a:latin typeface="+mn-lt"/>
            </a:endParaRPr>
          </a:p>
        </p:txBody>
      </p:sp>
      <p:sp>
        <p:nvSpPr>
          <p:cNvPr id="102" name="Rectangle 55"/>
          <p:cNvSpPr>
            <a:spLocks noChangeArrowheads="1"/>
          </p:cNvSpPr>
          <p:nvPr/>
        </p:nvSpPr>
        <p:spPr bwMode="auto">
          <a:xfrm>
            <a:off x="9191625" y="4099263"/>
            <a:ext cx="406400"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pic>
        <p:nvPicPr>
          <p:cNvPr id="103" name="Picture 5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542588" y="23815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4" name="Group 60"/>
          <p:cNvGrpSpPr/>
          <p:nvPr/>
        </p:nvGrpSpPr>
        <p:grpSpPr bwMode="auto">
          <a:xfrm>
            <a:off x="6237288" y="2421276"/>
            <a:ext cx="4110038" cy="1814512"/>
            <a:chOff x="2515" y="1687"/>
            <a:chExt cx="2589" cy="1143"/>
          </a:xfrm>
        </p:grpSpPr>
        <p:sp>
          <p:nvSpPr>
            <p:cNvPr id="105" name="Freeform 44"/>
            <p:cNvSpPr/>
            <p:nvPr/>
          </p:nvSpPr>
          <p:spPr bwMode="auto">
            <a:xfrm>
              <a:off x="2985" y="2026"/>
              <a:ext cx="2119" cy="476"/>
            </a:xfrm>
            <a:custGeom>
              <a:avLst/>
              <a:gdLst>
                <a:gd name="T0" fmla="*/ 2119 w 2119"/>
                <a:gd name="T1" fmla="*/ 0 h 476"/>
                <a:gd name="T2" fmla="*/ 1020 w 2119"/>
                <a:gd name="T3" fmla="*/ 476 h 476"/>
                <a:gd name="T4" fmla="*/ 0 w 2119"/>
                <a:gd name="T5" fmla="*/ 8 h 476"/>
                <a:gd name="T6" fmla="*/ 0 60000 65536"/>
                <a:gd name="T7" fmla="*/ 0 60000 65536"/>
                <a:gd name="T8" fmla="*/ 0 60000 65536"/>
                <a:gd name="T9" fmla="*/ 0 w 2119"/>
                <a:gd name="T10" fmla="*/ 0 h 476"/>
                <a:gd name="T11" fmla="*/ 2119 w 2119"/>
                <a:gd name="T12" fmla="*/ 476 h 476"/>
              </a:gdLst>
              <a:ahLst/>
              <a:cxnLst>
                <a:cxn ang="T6">
                  <a:pos x="T0" y="T1"/>
                </a:cxn>
                <a:cxn ang="T7">
                  <a:pos x="T2" y="T3"/>
                </a:cxn>
                <a:cxn ang="T8">
                  <a:pos x="T4" y="T5"/>
                </a:cxn>
              </a:cxnLst>
              <a:rect l="T9" t="T10" r="T11" b="T12"/>
              <a:pathLst>
                <a:path w="2119" h="476">
                  <a:moveTo>
                    <a:pt x="2119" y="0"/>
                  </a:moveTo>
                  <a:lnTo>
                    <a:pt x="1020" y="476"/>
                  </a:lnTo>
                  <a:lnTo>
                    <a:pt x="0" y="8"/>
                  </a:lnTo>
                </a:path>
              </a:pathLst>
            </a:custGeom>
            <a:noFill/>
            <a:ln w="28575">
              <a:solidFill>
                <a:srgbClr val="CC0000"/>
              </a:solidFill>
              <a:rou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06" name="Text Box 24"/>
            <p:cNvSpPr txBox="1">
              <a:spLocks noChangeArrowheads="1"/>
            </p:cNvSpPr>
            <p:nvPr/>
          </p:nvSpPr>
          <p:spPr bwMode="auto">
            <a:xfrm rot="1411598">
              <a:off x="2963" y="2243"/>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600">
                  <a:solidFill>
                    <a:srgbClr val="CC0000"/>
                  </a:solidFill>
                  <a:latin typeface="+mn-lt"/>
                </a:rPr>
                <a:t>HTTP response</a:t>
              </a:r>
              <a:endParaRPr lang="en-US" altLang="en-US" sz="2400">
                <a:solidFill>
                  <a:srgbClr val="CC0000"/>
                </a:solidFill>
                <a:latin typeface="+mn-lt"/>
              </a:endParaRPr>
            </a:p>
          </p:txBody>
        </p:sp>
        <p:sp>
          <p:nvSpPr>
            <p:cNvPr id="107" name="Text Box 46"/>
            <p:cNvSpPr txBox="1">
              <a:spLocks noChangeArrowheads="1"/>
            </p:cNvSpPr>
            <p:nvPr/>
          </p:nvSpPr>
          <p:spPr bwMode="auto">
            <a:xfrm rot="20184211">
              <a:off x="4193" y="2231"/>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600">
                  <a:solidFill>
                    <a:srgbClr val="CC0000"/>
                  </a:solidFill>
                  <a:latin typeface="+mn-lt"/>
                </a:rPr>
                <a:t>HTTP response</a:t>
              </a:r>
              <a:endParaRPr lang="en-US" altLang="en-US" sz="2400">
                <a:solidFill>
                  <a:srgbClr val="CC0000"/>
                </a:solidFill>
                <a:latin typeface="+mn-lt"/>
              </a:endParaRPr>
            </a:p>
          </p:txBody>
        </p:sp>
        <p:pic>
          <p:nvPicPr>
            <p:cNvPr id="108" name="Picture 5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79" y="255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5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 y="168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0" name="Picture 6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84913" y="43627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1" name="Group 69"/>
          <p:cNvGrpSpPr/>
          <p:nvPr/>
        </p:nvGrpSpPr>
        <p:grpSpPr bwMode="auto">
          <a:xfrm>
            <a:off x="10356850" y="4513601"/>
            <a:ext cx="433388" cy="715962"/>
            <a:chOff x="4140" y="429"/>
            <a:chExt cx="1425" cy="2396"/>
          </a:xfrm>
        </p:grpSpPr>
        <p:sp>
          <p:nvSpPr>
            <p:cNvPr id="112" name="Freeform 70"/>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13" name="Rectangle 71"/>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14" name="Freeform 72"/>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15" name="Freeform 73"/>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16" name="Rectangle 74"/>
            <p:cNvSpPr>
              <a:spLocks noChangeArrowheads="1"/>
            </p:cNvSpPr>
            <p:nvPr/>
          </p:nvSpPr>
          <p:spPr bwMode="auto">
            <a:xfrm>
              <a:off x="4213" y="695"/>
              <a:ext cx="595" cy="48"/>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117" name="Group 75"/>
            <p:cNvGrpSpPr/>
            <p:nvPr/>
          </p:nvGrpSpPr>
          <p:grpSpPr bwMode="auto">
            <a:xfrm>
              <a:off x="4749" y="668"/>
              <a:ext cx="581" cy="145"/>
              <a:chOff x="614" y="2568"/>
              <a:chExt cx="725" cy="139"/>
            </a:xfrm>
          </p:grpSpPr>
          <p:sp>
            <p:nvSpPr>
              <p:cNvPr id="142" name="AutoShape 76"/>
              <p:cNvSpPr>
                <a:spLocks noChangeArrowheads="1"/>
              </p:cNvSpPr>
              <p:nvPr/>
            </p:nvSpPr>
            <p:spPr bwMode="auto">
              <a:xfrm>
                <a:off x="616" y="2568"/>
                <a:ext cx="723"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43" name="AutoShape 77"/>
              <p:cNvSpPr>
                <a:spLocks noChangeArrowheads="1"/>
              </p:cNvSpPr>
              <p:nvPr/>
            </p:nvSpPr>
            <p:spPr bwMode="auto">
              <a:xfrm>
                <a:off x="629" y="2583"/>
                <a:ext cx="69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118" name="Rectangle 78"/>
            <p:cNvSpPr>
              <a:spLocks noChangeArrowheads="1"/>
            </p:cNvSpPr>
            <p:nvPr/>
          </p:nvSpPr>
          <p:spPr bwMode="auto">
            <a:xfrm>
              <a:off x="4224" y="1019"/>
              <a:ext cx="595" cy="48"/>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119" name="Group 79"/>
            <p:cNvGrpSpPr/>
            <p:nvPr/>
          </p:nvGrpSpPr>
          <p:grpSpPr bwMode="auto">
            <a:xfrm>
              <a:off x="4747" y="994"/>
              <a:ext cx="581" cy="134"/>
              <a:chOff x="614" y="2568"/>
              <a:chExt cx="725" cy="139"/>
            </a:xfrm>
          </p:grpSpPr>
          <p:sp>
            <p:nvSpPr>
              <p:cNvPr id="140" name="AutoShape 80"/>
              <p:cNvSpPr>
                <a:spLocks noChangeArrowheads="1"/>
              </p:cNvSpPr>
              <p:nvPr/>
            </p:nvSpPr>
            <p:spPr bwMode="auto">
              <a:xfrm>
                <a:off x="612" y="2566"/>
                <a:ext cx="730"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41" name="AutoShape 81"/>
              <p:cNvSpPr>
                <a:spLocks noChangeArrowheads="1"/>
              </p:cNvSpPr>
              <p:nvPr/>
            </p:nvSpPr>
            <p:spPr bwMode="auto">
              <a:xfrm>
                <a:off x="625" y="2583"/>
                <a:ext cx="697"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120" name="Rectangle 82"/>
            <p:cNvSpPr>
              <a:spLocks noChangeArrowheads="1"/>
            </p:cNvSpPr>
            <p:nvPr/>
          </p:nvSpPr>
          <p:spPr bwMode="auto">
            <a:xfrm>
              <a:off x="4218" y="1359"/>
              <a:ext cx="595" cy="48"/>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21" name="Rectangle 83"/>
            <p:cNvSpPr>
              <a:spLocks noChangeArrowheads="1"/>
            </p:cNvSpPr>
            <p:nvPr/>
          </p:nvSpPr>
          <p:spPr bwMode="auto">
            <a:xfrm>
              <a:off x="4229" y="1656"/>
              <a:ext cx="595" cy="48"/>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122" name="Group 84"/>
            <p:cNvGrpSpPr/>
            <p:nvPr/>
          </p:nvGrpSpPr>
          <p:grpSpPr bwMode="auto">
            <a:xfrm>
              <a:off x="4735" y="1627"/>
              <a:ext cx="582" cy="151"/>
              <a:chOff x="614" y="2568"/>
              <a:chExt cx="725" cy="139"/>
            </a:xfrm>
          </p:grpSpPr>
          <p:sp>
            <p:nvSpPr>
              <p:cNvPr id="138" name="AutoShape 85"/>
              <p:cNvSpPr>
                <a:spLocks noChangeArrowheads="1"/>
              </p:cNvSpPr>
              <p:nvPr/>
            </p:nvSpPr>
            <p:spPr bwMode="auto">
              <a:xfrm>
                <a:off x="614" y="2570"/>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39" name="AutoShape 86"/>
              <p:cNvSpPr>
                <a:spLocks noChangeArrowheads="1"/>
              </p:cNvSpPr>
              <p:nvPr/>
            </p:nvSpPr>
            <p:spPr bwMode="auto">
              <a:xfrm>
                <a:off x="627" y="2585"/>
                <a:ext cx="683"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123" name="Freeform 87"/>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24" name="Group 88"/>
            <p:cNvGrpSpPr/>
            <p:nvPr/>
          </p:nvGrpSpPr>
          <p:grpSpPr bwMode="auto">
            <a:xfrm>
              <a:off x="4739" y="1327"/>
              <a:ext cx="582" cy="139"/>
              <a:chOff x="614" y="2568"/>
              <a:chExt cx="725" cy="139"/>
            </a:xfrm>
          </p:grpSpPr>
          <p:sp>
            <p:nvSpPr>
              <p:cNvPr id="136" name="AutoShape 89"/>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37" name="AutoShape 90"/>
              <p:cNvSpPr>
                <a:spLocks noChangeArrowheads="1"/>
              </p:cNvSpPr>
              <p:nvPr/>
            </p:nvSpPr>
            <p:spPr bwMode="auto">
              <a:xfrm>
                <a:off x="629" y="2584"/>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125" name="Rectangle 91"/>
            <p:cNvSpPr>
              <a:spLocks noChangeArrowheads="1"/>
            </p:cNvSpPr>
            <p:nvPr/>
          </p:nvSpPr>
          <p:spPr bwMode="auto">
            <a:xfrm>
              <a:off x="5252"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26" name="Freeform 92"/>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27" name="Freeform 93"/>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28" name="Oval 94"/>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29" name="Freeform 95"/>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30" name="AutoShape 96"/>
            <p:cNvSpPr>
              <a:spLocks noChangeArrowheads="1"/>
            </p:cNvSpPr>
            <p:nvPr/>
          </p:nvSpPr>
          <p:spPr bwMode="auto">
            <a:xfrm>
              <a:off x="4140" y="2676"/>
              <a:ext cx="1201" cy="149"/>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31" name="AutoShape 97"/>
            <p:cNvSpPr>
              <a:spLocks noChangeArrowheads="1"/>
            </p:cNvSpPr>
            <p:nvPr/>
          </p:nvSpPr>
          <p:spPr bwMode="auto">
            <a:xfrm>
              <a:off x="4208" y="2713"/>
              <a:ext cx="1070" cy="80"/>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32" name="Oval 98"/>
            <p:cNvSpPr>
              <a:spLocks noChangeArrowheads="1"/>
            </p:cNvSpPr>
            <p:nvPr/>
          </p:nvSpPr>
          <p:spPr bwMode="auto">
            <a:xfrm>
              <a:off x="4307" y="2384"/>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33" name="Oval 99"/>
            <p:cNvSpPr>
              <a:spLocks noChangeArrowheads="1"/>
            </p:cNvSpPr>
            <p:nvPr/>
          </p:nvSpPr>
          <p:spPr bwMode="auto">
            <a:xfrm>
              <a:off x="4485" y="2384"/>
              <a:ext cx="162"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latin typeface="+mn-lt"/>
                <a:cs typeface="Arial" panose="020B0604020202020204" pitchFamily="34" charset="0"/>
              </a:endParaRPr>
            </a:p>
          </p:txBody>
        </p:sp>
        <p:sp>
          <p:nvSpPr>
            <p:cNvPr id="134" name="Oval 100"/>
            <p:cNvSpPr>
              <a:spLocks noChangeArrowheads="1"/>
            </p:cNvSpPr>
            <p:nvPr/>
          </p:nvSpPr>
          <p:spPr bwMode="auto">
            <a:xfrm>
              <a:off x="4662" y="2379"/>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35" name="Rectangle 101"/>
            <p:cNvSpPr>
              <a:spLocks noChangeArrowheads="1"/>
            </p:cNvSpPr>
            <p:nvPr/>
          </p:nvSpPr>
          <p:spPr bwMode="auto">
            <a:xfrm>
              <a:off x="5064" y="1837"/>
              <a:ext cx="84" cy="760"/>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wipe(left)">
                                      <p:cBhvr>
                                        <p:cTn id="7" dur="2000"/>
                                        <p:tgtEl>
                                          <p:spTgt spid="96"/>
                                        </p:tgtEl>
                                      </p:cBhvr>
                                    </p:animEffect>
                                  </p:childTnLst>
                                </p:cTn>
                              </p:par>
                            </p:childTnLst>
                          </p:cTn>
                        </p:par>
                        <p:par>
                          <p:cTn id="8" fill="hold">
                            <p:stCondLst>
                              <p:cond delay="2000"/>
                            </p:stCondLst>
                            <p:childTnLst>
                              <p:par>
                                <p:cTn id="9" presetID="22" presetClass="entr" presetSubtype="2" fill="hold" nodeType="afterEffect">
                                  <p:stCondLst>
                                    <p:cond delay="0"/>
                                  </p:stCondLst>
                                  <p:childTnLst>
                                    <p:set>
                                      <p:cBhvr>
                                        <p:cTn id="10" dur="1" fill="hold">
                                          <p:stCondLst>
                                            <p:cond delay="0"/>
                                          </p:stCondLst>
                                        </p:cTn>
                                        <p:tgtEl>
                                          <p:spTgt spid="104"/>
                                        </p:tgtEl>
                                        <p:attrNameLst>
                                          <p:attrName>style.visibility</p:attrName>
                                        </p:attrNameLst>
                                      </p:cBhvr>
                                      <p:to>
                                        <p:strVal val="visible"/>
                                      </p:to>
                                    </p:set>
                                    <p:animEffect transition="in" filter="wipe(right)">
                                      <p:cBhvr>
                                        <p:cTn id="11" dur="2000"/>
                                        <p:tgtEl>
                                          <p:spTgt spid="104"/>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86"/>
                                        </p:tgtEl>
                                        <p:attrNameLst>
                                          <p:attrName>style.visibility</p:attrName>
                                        </p:attrNameLst>
                                      </p:cBhvr>
                                      <p:to>
                                        <p:strVal val="visible"/>
                                      </p:to>
                                    </p:set>
                                    <p:animEffect transition="in" filter="wipe(left)">
                                      <p:cBhvr>
                                        <p:cTn id="16" dur="2000"/>
                                        <p:tgtEl>
                                          <p:spTgt spid="86"/>
                                        </p:tgtEl>
                                      </p:cBhvr>
                                    </p:animEffect>
                                  </p:childTnLst>
                                </p:cTn>
                              </p:par>
                            </p:childTnLst>
                          </p:cTn>
                        </p:par>
                        <p:par>
                          <p:cTn id="17" fill="hold">
                            <p:stCondLst>
                              <p:cond delay="2000"/>
                            </p:stCondLst>
                            <p:childTnLst>
                              <p:par>
                                <p:cTn id="18" presetID="22" presetClass="entr" presetSubtype="2" fill="hold" nodeType="afterEffect">
                                  <p:stCondLst>
                                    <p:cond delay="0"/>
                                  </p:stCondLst>
                                  <p:childTnLst>
                                    <p:set>
                                      <p:cBhvr>
                                        <p:cTn id="19" dur="1" fill="hold">
                                          <p:stCondLst>
                                            <p:cond delay="0"/>
                                          </p:stCondLst>
                                        </p:cTn>
                                        <p:tgtEl>
                                          <p:spTgt spid="93"/>
                                        </p:tgtEl>
                                        <p:attrNameLst>
                                          <p:attrName>style.visibility</p:attrName>
                                        </p:attrNameLst>
                                      </p:cBhvr>
                                      <p:to>
                                        <p:strVal val="visible"/>
                                      </p:to>
                                    </p:set>
                                    <p:animEffect transition="in" filter="wipe(right)">
                                      <p:cBhvr>
                                        <p:cTn id="20" dur="2000"/>
                                        <p:tgtEl>
                                          <p:spTgt spid="93"/>
                                        </p:tgtEl>
                                      </p:cBhvr>
                                    </p:animEffect>
                                  </p:childTnLst>
                                </p:cTn>
                              </p:par>
                            </p:childTnLst>
                          </p:cTn>
                        </p:par>
                        <p:par>
                          <p:cTn id="21" fill="hold">
                            <p:stCondLst>
                              <p:cond delay="4000"/>
                            </p:stCondLst>
                            <p:childTnLst>
                              <p:par>
                                <p:cTn id="22" presetID="22" presetClass="entr" presetSubtype="2" fill="hold" nodeType="afterEffect">
                                  <p:stCondLst>
                                    <p:cond delay="0"/>
                                  </p:stCondLst>
                                  <p:childTnLst>
                                    <p:set>
                                      <p:cBhvr>
                                        <p:cTn id="23" dur="1" fill="hold">
                                          <p:stCondLst>
                                            <p:cond delay="0"/>
                                          </p:stCondLst>
                                        </p:cTn>
                                        <p:tgtEl>
                                          <p:spTgt spid="110"/>
                                        </p:tgtEl>
                                        <p:attrNameLst>
                                          <p:attrName>style.visibility</p:attrName>
                                        </p:attrNameLst>
                                      </p:cBhvr>
                                      <p:to>
                                        <p:strVal val="visible"/>
                                      </p:to>
                                    </p:set>
                                    <p:animEffect transition="in" filter="wipe(right)">
                                      <p:cBhvr>
                                        <p:cTn id="24" dur="5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sz="4400" dirty="0">
                <a:ea typeface="MS PGothic" panose="020B0600070205080204" pitchFamily="34" charset="-128"/>
              </a:rPr>
              <a:t>Web caches (proxy servers)</a:t>
            </a:r>
            <a:endParaRPr lang="en-US" sz="4400" dirty="0"/>
          </a:p>
        </p:txBody>
      </p:sp>
      <p:sp>
        <p:nvSpPr>
          <p:cNvPr id="3"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
        <p:nvSpPr>
          <p:cNvPr id="144" name="Rectangle 3"/>
          <p:cNvSpPr txBox="1">
            <a:spLocks noChangeArrowheads="1"/>
          </p:cNvSpPr>
          <p:nvPr/>
        </p:nvSpPr>
        <p:spPr>
          <a:xfrm>
            <a:off x="600308" y="1534695"/>
            <a:ext cx="475227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8305" indent="-278130"/>
            <a:r>
              <a:rPr lang="en-US" altLang="en-US" sz="3200" dirty="0">
                <a:ea typeface="MS PGothic" panose="020B0600070205080204" pitchFamily="34" charset="-128"/>
              </a:rPr>
              <a:t>Web cache acts as both client and server</a:t>
            </a:r>
            <a:endParaRPr lang="en-US" altLang="en-US" sz="3200" dirty="0">
              <a:ea typeface="MS PGothic" panose="020B0600070205080204" pitchFamily="34" charset="-128"/>
            </a:endParaRPr>
          </a:p>
          <a:p>
            <a:pPr lvl="1"/>
            <a:r>
              <a:rPr lang="en-US" altLang="en-US" sz="2800" dirty="0">
                <a:ea typeface="MS PGothic" panose="020B0600070205080204" pitchFamily="34" charset="-128"/>
              </a:rPr>
              <a:t>server for original requesting client</a:t>
            </a:r>
            <a:endParaRPr lang="en-US" altLang="en-US" sz="2800" dirty="0">
              <a:ea typeface="MS PGothic" panose="020B0600070205080204" pitchFamily="34" charset="-128"/>
            </a:endParaRPr>
          </a:p>
          <a:p>
            <a:pPr lvl="1"/>
            <a:r>
              <a:rPr lang="en-US" altLang="en-US" sz="2800" dirty="0">
                <a:ea typeface="MS PGothic" panose="020B0600070205080204" pitchFamily="34" charset="-128"/>
              </a:rPr>
              <a:t>client to origin server</a:t>
            </a:r>
            <a:endParaRPr lang="en-US" altLang="en-US" sz="2800" dirty="0">
              <a:ea typeface="MS PGothic" panose="020B0600070205080204" pitchFamily="34" charset="-128"/>
            </a:endParaRPr>
          </a:p>
          <a:p>
            <a:pPr marL="408305" indent="-278130"/>
            <a:r>
              <a:rPr lang="en-US" altLang="en-US" sz="3200" dirty="0">
                <a:ea typeface="MS PGothic" panose="020B0600070205080204" pitchFamily="34" charset="-128"/>
              </a:rPr>
              <a:t>typically cache is installed by ISP (university, company, residential ISP)</a:t>
            </a:r>
            <a:endParaRPr lang="en-US" altLang="en-US" sz="3200" dirty="0">
              <a:ea typeface="MS PGothic" panose="020B0600070205080204" pitchFamily="34" charset="-128"/>
            </a:endParaRPr>
          </a:p>
        </p:txBody>
      </p:sp>
      <p:sp>
        <p:nvSpPr>
          <p:cNvPr id="145" name="Rectangle 4"/>
          <p:cNvSpPr txBox="1">
            <a:spLocks noChangeArrowheads="1"/>
          </p:cNvSpPr>
          <p:nvPr/>
        </p:nvSpPr>
        <p:spPr>
          <a:xfrm>
            <a:off x="5544015" y="1534695"/>
            <a:ext cx="60476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i="1" dirty="0">
                <a:solidFill>
                  <a:srgbClr val="CC0000"/>
                </a:solidFill>
                <a:ea typeface="MS PGothic" panose="020B0600070205080204" pitchFamily="34" charset="-128"/>
              </a:rPr>
              <a:t>Why </a:t>
            </a:r>
            <a:r>
              <a:rPr lang="en-US" altLang="en-US" sz="3200" dirty="0">
                <a:ea typeface="MS PGothic" panose="020B0600070205080204" pitchFamily="34" charset="-128"/>
              </a:rPr>
              <a:t>Web caching?</a:t>
            </a:r>
            <a:endParaRPr lang="en-US" altLang="en-US" sz="3200" dirty="0">
              <a:ea typeface="MS PGothic" panose="020B0600070205080204" pitchFamily="34" charset="-128"/>
            </a:endParaRPr>
          </a:p>
          <a:p>
            <a:pPr marL="408305" indent="-287655"/>
            <a:r>
              <a:rPr lang="en-US" altLang="en-US" sz="3200" dirty="0">
                <a:ea typeface="MS PGothic" panose="020B0600070205080204" pitchFamily="34" charset="-128"/>
              </a:rPr>
              <a:t>reduce response time for client request </a:t>
            </a:r>
            <a:endParaRPr lang="en-US" altLang="en-US" sz="3200" dirty="0">
              <a:ea typeface="MS PGothic" panose="020B0600070205080204" pitchFamily="34" charset="-128"/>
            </a:endParaRPr>
          </a:p>
          <a:p>
            <a:pPr marL="751205" lvl="1" indent="-287655"/>
            <a:r>
              <a:rPr lang="en-US" altLang="en-US" sz="2800" dirty="0">
                <a:ea typeface="MS PGothic" panose="020B0600070205080204" pitchFamily="34" charset="-128"/>
              </a:rPr>
              <a:t>cache is closer to client</a:t>
            </a:r>
            <a:endParaRPr lang="en-US" altLang="en-US" sz="2800" dirty="0">
              <a:ea typeface="MS PGothic" panose="020B0600070205080204" pitchFamily="34" charset="-128"/>
            </a:endParaRPr>
          </a:p>
          <a:p>
            <a:pPr marL="408305" indent="-287655"/>
            <a:r>
              <a:rPr lang="en-US" altLang="en-US" sz="3200" dirty="0">
                <a:ea typeface="MS PGothic" panose="020B0600070205080204" pitchFamily="34" charset="-128"/>
              </a:rPr>
              <a:t>reduce traffic on an institution</a:t>
            </a:r>
            <a:r>
              <a:rPr lang="ja-JP" altLang="en-US" sz="3200">
                <a:ea typeface="MS PGothic" panose="020B0600070205080204" pitchFamily="34" charset="-128"/>
              </a:rPr>
              <a:t>’</a:t>
            </a:r>
            <a:r>
              <a:rPr lang="en-US" altLang="ja-JP" sz="3200" dirty="0">
                <a:ea typeface="MS PGothic" panose="020B0600070205080204" pitchFamily="34" charset="-128"/>
              </a:rPr>
              <a:t>s access link</a:t>
            </a:r>
            <a:endParaRPr lang="en-US" altLang="ja-JP" sz="3200" dirty="0">
              <a:ea typeface="MS PGothic" panose="020B0600070205080204" pitchFamily="34" charset="-128"/>
            </a:endParaRPr>
          </a:p>
          <a:p>
            <a:pPr marL="408305" indent="-287655"/>
            <a:r>
              <a:rPr lang="en-US" altLang="en-US" sz="3200" dirty="0">
                <a:ea typeface="MS PGothic" panose="020B0600070205080204" pitchFamily="34" charset="-128"/>
              </a:rPr>
              <a:t>Internet is dense with caches </a:t>
            </a:r>
            <a:endParaRPr lang="en-US" altLang="en-US" sz="3200" dirty="0">
              <a:ea typeface="MS PGothic" panose="020B0600070205080204" pitchFamily="34" charset="-128"/>
            </a:endParaRPr>
          </a:p>
          <a:p>
            <a:pPr marL="751205" lvl="1" indent="-287655"/>
            <a:r>
              <a:rPr lang="en-US" altLang="en-US" sz="2800" dirty="0">
                <a:ea typeface="MS PGothic" panose="020B0600070205080204" pitchFamily="34" charset="-128"/>
              </a:rPr>
              <a:t>enables “</a:t>
            </a:r>
            <a:r>
              <a:rPr lang="en-US" altLang="ja-JP" sz="2800" dirty="0">
                <a:ea typeface="MS PGothic" panose="020B0600070205080204" pitchFamily="34" charset="-128"/>
              </a:rPr>
              <a:t>poor” content providers to more effectively deliver content</a:t>
            </a:r>
            <a:endParaRPr lang="en-US" altLang="en-US" sz="2800" dirty="0">
              <a:ea typeface="MS PGothic" panose="020B0600070205080204" pitchFamily="34" charset="-128"/>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sz="4400" dirty="0">
                <a:ea typeface="MS PGothic" panose="020B0600070205080204" pitchFamily="34" charset="-128"/>
              </a:rPr>
              <a:t>Caching example</a:t>
            </a:r>
            <a:endParaRPr lang="en-US" sz="4400" dirty="0"/>
          </a:p>
        </p:txBody>
      </p:sp>
      <p:sp>
        <p:nvSpPr>
          <p:cNvPr id="3" name="Slide Number Placeholder 2"/>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fld>
            <a:endParaRPr lang="en-US" dirty="0"/>
          </a:p>
        </p:txBody>
      </p:sp>
      <p:sp>
        <p:nvSpPr>
          <p:cNvPr id="254" name="Line 2"/>
          <p:cNvSpPr>
            <a:spLocks noChangeShapeType="1"/>
          </p:cNvSpPr>
          <p:nvPr/>
        </p:nvSpPr>
        <p:spPr bwMode="auto">
          <a:xfrm>
            <a:off x="7744795" y="2487883"/>
            <a:ext cx="285750" cy="114300"/>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5" name="Text Box 50"/>
          <p:cNvSpPr txBox="1">
            <a:spLocks noChangeArrowheads="1"/>
          </p:cNvSpPr>
          <p:nvPr/>
        </p:nvSpPr>
        <p:spPr bwMode="auto">
          <a:xfrm>
            <a:off x="1017367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origin</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servers</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6" name="Line 51"/>
          <p:cNvSpPr>
            <a:spLocks noChangeShapeType="1"/>
          </p:cNvSpPr>
          <p:nvPr/>
        </p:nvSpPr>
        <p:spPr bwMode="auto">
          <a:xfrm>
            <a:off x="8554420" y="2106883"/>
            <a:ext cx="66675" cy="276225"/>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7" name="Line 52"/>
          <p:cNvSpPr>
            <a:spLocks noChangeShapeType="1"/>
          </p:cNvSpPr>
          <p:nvPr/>
        </p:nvSpPr>
        <p:spPr bwMode="auto">
          <a:xfrm flipH="1">
            <a:off x="9183070" y="2144983"/>
            <a:ext cx="9525" cy="238125"/>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8" name="Line 53"/>
          <p:cNvSpPr>
            <a:spLocks noChangeShapeType="1"/>
          </p:cNvSpPr>
          <p:nvPr/>
        </p:nvSpPr>
        <p:spPr bwMode="auto">
          <a:xfrm flipH="1">
            <a:off x="9640270" y="2306908"/>
            <a:ext cx="133350" cy="209550"/>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9" name="Line 54"/>
          <p:cNvSpPr>
            <a:spLocks noChangeShapeType="1"/>
          </p:cNvSpPr>
          <p:nvPr/>
        </p:nvSpPr>
        <p:spPr bwMode="auto">
          <a:xfrm flipH="1" flipV="1">
            <a:off x="9802195" y="3068908"/>
            <a:ext cx="247650" cy="0"/>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0" name="Freeform 55"/>
          <p:cNvSpPr/>
          <p:nvPr/>
        </p:nvSpPr>
        <p:spPr bwMode="auto">
          <a:xfrm>
            <a:off x="781940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261" name="Text Box 70"/>
          <p:cNvSpPr txBox="1">
            <a:spLocks noChangeArrowheads="1"/>
          </p:cNvSpPr>
          <p:nvPr/>
        </p:nvSpPr>
        <p:spPr bwMode="auto">
          <a:xfrm>
            <a:off x="853537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public</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 Internet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262" name="Freeform 71"/>
          <p:cNvSpPr/>
          <p:nvPr/>
        </p:nvSpPr>
        <p:spPr bwMode="auto">
          <a:xfrm>
            <a:off x="742412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263" name="Line 77"/>
          <p:cNvSpPr>
            <a:spLocks noChangeShapeType="1"/>
          </p:cNvSpPr>
          <p:nvPr/>
        </p:nvSpPr>
        <p:spPr bwMode="auto">
          <a:xfrm flipH="1">
            <a:off x="7859095" y="4780233"/>
            <a:ext cx="855662" cy="431800"/>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4" name="Line 78"/>
          <p:cNvSpPr>
            <a:spLocks noChangeShapeType="1"/>
          </p:cNvSpPr>
          <p:nvPr/>
        </p:nvSpPr>
        <p:spPr bwMode="auto">
          <a:xfrm flipH="1">
            <a:off x="8368682" y="4827858"/>
            <a:ext cx="563563" cy="393700"/>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5" name="Line 79"/>
          <p:cNvSpPr>
            <a:spLocks noChangeShapeType="1"/>
          </p:cNvSpPr>
          <p:nvPr/>
        </p:nvSpPr>
        <p:spPr bwMode="auto">
          <a:xfrm flipH="1">
            <a:off x="8906845" y="4834208"/>
            <a:ext cx="149225" cy="382588"/>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7" name="Line 95"/>
          <p:cNvSpPr>
            <a:spLocks noChangeShapeType="1"/>
          </p:cNvSpPr>
          <p:nvPr/>
        </p:nvSpPr>
        <p:spPr bwMode="auto">
          <a:xfrm>
            <a:off x="9068770" y="3545158"/>
            <a:ext cx="0" cy="1062038"/>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8" name="Text Box 97"/>
          <p:cNvSpPr txBox="1">
            <a:spLocks noChangeArrowheads="1"/>
          </p:cNvSpPr>
          <p:nvPr/>
        </p:nvSpPr>
        <p:spPr bwMode="auto">
          <a:xfrm>
            <a:off x="743682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institutional</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network</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269" name="Text Box 98"/>
          <p:cNvSpPr txBox="1">
            <a:spLocks noChangeArrowheads="1"/>
          </p:cNvSpPr>
          <p:nvPr/>
        </p:nvSpPr>
        <p:spPr bwMode="auto">
          <a:xfrm>
            <a:off x="944500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1 Gbps LAN</a:t>
            </a:r>
            <a:endParaRPr kumimoji="0" lang="en-US" altLang="en-US" sz="2400" b="0" i="0" u="none" strike="noStrike" kern="0" cap="none" spc="0" normalizeH="0" baseline="0" noProof="0">
              <a:ln>
                <a:noFill/>
              </a:ln>
              <a:solidFill>
                <a:srgbClr val="3333CC"/>
              </a:solidFill>
              <a:effectLst/>
              <a:uLnTx/>
              <a:uFillTx/>
              <a:latin typeface="Arial" panose="020B0604020202020204" pitchFamily="34" charset="0"/>
              <a:ea typeface="MS PGothic" panose="020B0600070205080204" pitchFamily="34" charset="-128"/>
            </a:endParaRPr>
          </a:p>
        </p:txBody>
      </p:sp>
      <p:sp>
        <p:nvSpPr>
          <p:cNvPr id="270" name="Text Box 99"/>
          <p:cNvSpPr txBox="1">
            <a:spLocks noChangeArrowheads="1"/>
          </p:cNvSpPr>
          <p:nvPr/>
        </p:nvSpPr>
        <p:spPr bwMode="auto">
          <a:xfrm>
            <a:off x="907035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1.54 Mbps </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access link</a:t>
            </a:r>
            <a:endParaRPr kumimoji="0" lang="en-US" altLang="en-US" sz="2400" b="0" i="0" u="none" strike="noStrike" kern="0" cap="none" spc="0" normalizeH="0" baseline="0" noProof="0">
              <a:ln>
                <a:noFill/>
              </a:ln>
              <a:solidFill>
                <a:srgbClr val="3333CC"/>
              </a:solidFill>
              <a:effectLst/>
              <a:uLnTx/>
              <a:uFillTx/>
              <a:latin typeface="Arial" panose="020B0604020202020204" pitchFamily="34" charset="0"/>
              <a:ea typeface="MS PGothic" panose="020B0600070205080204" pitchFamily="34" charset="-128"/>
            </a:endParaRPr>
          </a:p>
        </p:txBody>
      </p:sp>
      <p:sp>
        <p:nvSpPr>
          <p:cNvPr id="290" name="Oval 137"/>
          <p:cNvSpPr>
            <a:spLocks noChangeArrowheads="1"/>
          </p:cNvSpPr>
          <p:nvPr/>
        </p:nvSpPr>
        <p:spPr bwMode="auto">
          <a:xfrm>
            <a:off x="3892917" y="4742873"/>
            <a:ext cx="940980" cy="509975"/>
          </a:xfrm>
          <a:prstGeom prst="ellipse">
            <a:avLst/>
          </a:prstGeom>
          <a:noFill/>
          <a:ln w="19050">
            <a:solidFill>
              <a:srgbClr val="CC0000"/>
            </a:solidFill>
            <a:rou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1" name="Text Box 138"/>
          <p:cNvSpPr txBox="1">
            <a:spLocks noChangeArrowheads="1"/>
          </p:cNvSpPr>
          <p:nvPr/>
        </p:nvSpPr>
        <p:spPr bwMode="auto">
          <a:xfrm>
            <a:off x="4833897" y="4168466"/>
            <a:ext cx="193357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9525" marR="0" lvl="0" indent="0" defTabSz="914400" eaLnBrk="0" fontAlgn="base" latinLnBrk="0" hangingPunct="0">
              <a:lnSpc>
                <a:spcPct val="90000"/>
              </a:lnSpc>
              <a:spcBef>
                <a:spcPct val="20000"/>
              </a:spcBef>
              <a:spcAft>
                <a:spcPct val="0"/>
              </a:spcAft>
              <a:buClr>
                <a:srgbClr val="3333CC"/>
              </a:buClr>
              <a:buSzPct val="85000"/>
              <a:buFont typeface="ZapfDingbats" pitchFamily="82" charset="2"/>
              <a:buNone/>
              <a:defRPr/>
            </a:pPr>
            <a:r>
              <a:rPr kumimoji="0" lang="en-US" altLang="en-US" sz="2000" b="0" i="1" u="none" strike="noStrike" kern="0" cap="none" spc="0" normalizeH="0" baseline="0" noProof="0" dirty="0">
                <a:ln>
                  <a:noFill/>
                </a:ln>
                <a:solidFill>
                  <a:srgbClr val="CC0000"/>
                </a:solidFill>
                <a:effectLst/>
                <a:uLnTx/>
                <a:uFillTx/>
                <a:latin typeface="+mn-lt"/>
                <a:ea typeface="MS PGothic" panose="020B0600070205080204" pitchFamily="34" charset="-128"/>
              </a:rPr>
              <a:t>problem:</a:t>
            </a:r>
            <a:r>
              <a:rPr kumimoji="0" lang="en-US" altLang="en-US" sz="2000" b="0" i="1" u="none" strike="noStrike" kern="0" cap="none" spc="0" normalizeH="0" noProof="0" dirty="0">
                <a:ln>
                  <a:noFill/>
                </a:ln>
                <a:solidFill>
                  <a:srgbClr val="CC0000"/>
                </a:solidFill>
                <a:effectLst/>
                <a:uLnTx/>
                <a:uFillTx/>
                <a:latin typeface="+mn-lt"/>
                <a:ea typeface="MS PGothic" panose="020B0600070205080204" pitchFamily="34" charset="-128"/>
              </a:rPr>
              <a:t> </a:t>
            </a:r>
            <a:r>
              <a:rPr kumimoji="0" lang="en-US" altLang="en-US" sz="2000" b="0" u="none" strike="noStrike" kern="0" cap="none" spc="0" normalizeH="0" baseline="0" noProof="0" dirty="0">
                <a:ln>
                  <a:noFill/>
                </a:ln>
                <a:solidFill>
                  <a:srgbClr val="CC0000"/>
                </a:solidFill>
                <a:effectLst/>
                <a:uLnTx/>
                <a:uFillTx/>
                <a:latin typeface="+mn-lt"/>
                <a:ea typeface="MS PGothic" panose="020B0600070205080204" pitchFamily="34" charset="-128"/>
              </a:rPr>
              <a:t>large delays at high utilization!</a:t>
            </a:r>
            <a:endParaRPr kumimoji="0" lang="en-US" altLang="en-US" sz="2000" b="0" u="none" strike="noStrike" kern="0" cap="none" spc="0" normalizeH="0" baseline="0" noProof="0" dirty="0">
              <a:ln>
                <a:noFill/>
              </a:ln>
              <a:solidFill>
                <a:srgbClr val="CC0000"/>
              </a:solidFill>
              <a:effectLst/>
              <a:uLnTx/>
              <a:uFillTx/>
              <a:latin typeface="+mn-lt"/>
              <a:ea typeface="MS PGothic" panose="020B0600070205080204" pitchFamily="34" charset="-128"/>
            </a:endParaRPr>
          </a:p>
        </p:txBody>
      </p:sp>
      <p:grpSp>
        <p:nvGrpSpPr>
          <p:cNvPr id="292" name="Group 139"/>
          <p:cNvGrpSpPr/>
          <p:nvPr/>
        </p:nvGrpSpPr>
        <p:grpSpPr bwMode="auto">
          <a:xfrm>
            <a:off x="7397132" y="2035446"/>
            <a:ext cx="377825" cy="576262"/>
            <a:chOff x="4140" y="429"/>
            <a:chExt cx="1425" cy="2396"/>
          </a:xfrm>
        </p:grpSpPr>
        <p:sp>
          <p:nvSpPr>
            <p:cNvPr id="293" name="Freeform 140"/>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4" name="Rectangle 141"/>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5" name="Freeform 142"/>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6" name="Freeform 143"/>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7" name="Rectangle 144"/>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98" name="Group 145"/>
            <p:cNvGrpSpPr/>
            <p:nvPr/>
          </p:nvGrpSpPr>
          <p:grpSpPr bwMode="auto">
            <a:xfrm>
              <a:off x="4749" y="668"/>
              <a:ext cx="581" cy="145"/>
              <a:chOff x="614" y="2568"/>
              <a:chExt cx="725" cy="139"/>
            </a:xfrm>
          </p:grpSpPr>
          <p:sp>
            <p:nvSpPr>
              <p:cNvPr id="323" name="AutoShape 146"/>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4" name="AutoShape 147"/>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99" name="Rectangle 148"/>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0" name="Group 149"/>
            <p:cNvGrpSpPr/>
            <p:nvPr/>
          </p:nvGrpSpPr>
          <p:grpSpPr bwMode="auto">
            <a:xfrm>
              <a:off x="4747" y="994"/>
              <a:ext cx="581" cy="134"/>
              <a:chOff x="614" y="2568"/>
              <a:chExt cx="725" cy="139"/>
            </a:xfrm>
          </p:grpSpPr>
          <p:sp>
            <p:nvSpPr>
              <p:cNvPr id="321" name="AutoShape 150"/>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2" name="AutoShape 151"/>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1" name="Rectangle 152"/>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2" name="Rectangle 153"/>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3" name="Group 154"/>
            <p:cNvGrpSpPr/>
            <p:nvPr/>
          </p:nvGrpSpPr>
          <p:grpSpPr bwMode="auto">
            <a:xfrm>
              <a:off x="4735" y="1627"/>
              <a:ext cx="582" cy="151"/>
              <a:chOff x="614" y="2568"/>
              <a:chExt cx="725" cy="139"/>
            </a:xfrm>
          </p:grpSpPr>
          <p:sp>
            <p:nvSpPr>
              <p:cNvPr id="319" name="AutoShape 155"/>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0" name="AutoShape 156"/>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4" name="Freeform 157"/>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5" name="Group 158"/>
            <p:cNvGrpSpPr/>
            <p:nvPr/>
          </p:nvGrpSpPr>
          <p:grpSpPr bwMode="auto">
            <a:xfrm>
              <a:off x="4739" y="1327"/>
              <a:ext cx="582" cy="139"/>
              <a:chOff x="614" y="2568"/>
              <a:chExt cx="725" cy="139"/>
            </a:xfrm>
          </p:grpSpPr>
          <p:sp>
            <p:nvSpPr>
              <p:cNvPr id="317" name="AutoShape 159"/>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8" name="AutoShape 160"/>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6" name="Rectangle 161"/>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7" name="Freeform 162"/>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8" name="Freeform 163"/>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9" name="Oval 164"/>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0" name="Freeform 165"/>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1" name="AutoShape 166"/>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2" name="AutoShape 167"/>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3" name="Oval 168"/>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4" name="Oval 169"/>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5" name="Oval 170"/>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6" name="Rectangle 171"/>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25" name="Group 172"/>
          <p:cNvGrpSpPr/>
          <p:nvPr/>
        </p:nvGrpSpPr>
        <p:grpSpPr bwMode="auto">
          <a:xfrm>
            <a:off x="7546357" y="5148533"/>
            <a:ext cx="525463" cy="557213"/>
            <a:chOff x="-44" y="1473"/>
            <a:chExt cx="981" cy="1105"/>
          </a:xfrm>
        </p:grpSpPr>
        <p:pic>
          <p:nvPicPr>
            <p:cNvPr id="326" name="Picture 173"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28" name="Group 175"/>
          <p:cNvGrpSpPr/>
          <p:nvPr/>
        </p:nvGrpSpPr>
        <p:grpSpPr bwMode="auto">
          <a:xfrm>
            <a:off x="8311532" y="1557608"/>
            <a:ext cx="377825" cy="576263"/>
            <a:chOff x="4140" y="429"/>
            <a:chExt cx="1425" cy="2396"/>
          </a:xfrm>
        </p:grpSpPr>
        <p:sp>
          <p:nvSpPr>
            <p:cNvPr id="329" name="Freeform 176"/>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0" name="Rectangle 177"/>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1" name="Freeform 178"/>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2" name="Freeform 179"/>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3" name="Rectangle 180"/>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4" name="Group 181"/>
            <p:cNvGrpSpPr/>
            <p:nvPr/>
          </p:nvGrpSpPr>
          <p:grpSpPr bwMode="auto">
            <a:xfrm>
              <a:off x="4749" y="668"/>
              <a:ext cx="581" cy="145"/>
              <a:chOff x="614" y="2568"/>
              <a:chExt cx="725" cy="139"/>
            </a:xfrm>
          </p:grpSpPr>
          <p:sp>
            <p:nvSpPr>
              <p:cNvPr id="359" name="AutoShape 182"/>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0" name="AutoShape 183"/>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35" name="Rectangle 184"/>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6" name="Group 185"/>
            <p:cNvGrpSpPr/>
            <p:nvPr/>
          </p:nvGrpSpPr>
          <p:grpSpPr bwMode="auto">
            <a:xfrm>
              <a:off x="4747" y="994"/>
              <a:ext cx="581" cy="134"/>
              <a:chOff x="614" y="2568"/>
              <a:chExt cx="725" cy="139"/>
            </a:xfrm>
          </p:grpSpPr>
          <p:sp>
            <p:nvSpPr>
              <p:cNvPr id="357" name="AutoShape 186"/>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8" name="AutoShape 187"/>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37" name="Rectangle 188"/>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8" name="Rectangle 189"/>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9" name="Group 190"/>
            <p:cNvGrpSpPr/>
            <p:nvPr/>
          </p:nvGrpSpPr>
          <p:grpSpPr bwMode="auto">
            <a:xfrm>
              <a:off x="4735" y="1627"/>
              <a:ext cx="582" cy="151"/>
              <a:chOff x="614" y="2568"/>
              <a:chExt cx="725" cy="139"/>
            </a:xfrm>
          </p:grpSpPr>
          <p:sp>
            <p:nvSpPr>
              <p:cNvPr id="355" name="AutoShape 191"/>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6" name="AutoShape 192"/>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40" name="Freeform 193"/>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41" name="Group 194"/>
            <p:cNvGrpSpPr/>
            <p:nvPr/>
          </p:nvGrpSpPr>
          <p:grpSpPr bwMode="auto">
            <a:xfrm>
              <a:off x="4739" y="1327"/>
              <a:ext cx="582" cy="139"/>
              <a:chOff x="614" y="2568"/>
              <a:chExt cx="725" cy="139"/>
            </a:xfrm>
          </p:grpSpPr>
          <p:sp>
            <p:nvSpPr>
              <p:cNvPr id="353" name="AutoShape 195"/>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4" name="AutoShape 196"/>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42" name="Rectangle 197"/>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3" name="Freeform 198"/>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4" name="Freeform 199"/>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5" name="Oval 200"/>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6" name="Freeform 201"/>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7" name="AutoShape 202"/>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8" name="AutoShape 203"/>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9" name="Oval 204"/>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0" name="Oval 205"/>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Oval 206"/>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2" name="Rectangle 207"/>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61" name="Group 208"/>
          <p:cNvGrpSpPr/>
          <p:nvPr/>
        </p:nvGrpSpPr>
        <p:grpSpPr bwMode="auto">
          <a:xfrm>
            <a:off x="9064007" y="1589358"/>
            <a:ext cx="377825" cy="576263"/>
            <a:chOff x="4140" y="429"/>
            <a:chExt cx="1425" cy="2396"/>
          </a:xfrm>
        </p:grpSpPr>
        <p:sp>
          <p:nvSpPr>
            <p:cNvPr id="362" name="Freeform 209"/>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3" name="Rectangle 210"/>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4" name="Freeform 211"/>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5" name="Freeform 212"/>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6" name="Rectangle 213"/>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67" name="Group 214"/>
            <p:cNvGrpSpPr/>
            <p:nvPr/>
          </p:nvGrpSpPr>
          <p:grpSpPr bwMode="auto">
            <a:xfrm>
              <a:off x="4749" y="668"/>
              <a:ext cx="581" cy="145"/>
              <a:chOff x="614" y="2568"/>
              <a:chExt cx="725" cy="139"/>
            </a:xfrm>
          </p:grpSpPr>
          <p:sp>
            <p:nvSpPr>
              <p:cNvPr id="392" name="AutoShape 215"/>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3" name="AutoShape 216"/>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68" name="Rectangle 217"/>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69" name="Group 218"/>
            <p:cNvGrpSpPr/>
            <p:nvPr/>
          </p:nvGrpSpPr>
          <p:grpSpPr bwMode="auto">
            <a:xfrm>
              <a:off x="4747" y="994"/>
              <a:ext cx="581" cy="134"/>
              <a:chOff x="614" y="2568"/>
              <a:chExt cx="725" cy="139"/>
            </a:xfrm>
          </p:grpSpPr>
          <p:sp>
            <p:nvSpPr>
              <p:cNvPr id="390" name="AutoShape 219"/>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1" name="AutoShape 220"/>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0" name="Rectangle 221"/>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1" name="Rectangle 222"/>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72" name="Group 223"/>
            <p:cNvGrpSpPr/>
            <p:nvPr/>
          </p:nvGrpSpPr>
          <p:grpSpPr bwMode="auto">
            <a:xfrm>
              <a:off x="4735" y="1627"/>
              <a:ext cx="582" cy="151"/>
              <a:chOff x="614" y="2568"/>
              <a:chExt cx="725" cy="139"/>
            </a:xfrm>
          </p:grpSpPr>
          <p:sp>
            <p:nvSpPr>
              <p:cNvPr id="388" name="AutoShape 224"/>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9" name="AutoShape 225"/>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3" name="Freeform 226"/>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74" name="Group 227"/>
            <p:cNvGrpSpPr/>
            <p:nvPr/>
          </p:nvGrpSpPr>
          <p:grpSpPr bwMode="auto">
            <a:xfrm>
              <a:off x="4739" y="1327"/>
              <a:ext cx="582" cy="139"/>
              <a:chOff x="614" y="2568"/>
              <a:chExt cx="725" cy="139"/>
            </a:xfrm>
          </p:grpSpPr>
          <p:sp>
            <p:nvSpPr>
              <p:cNvPr id="386" name="AutoShape 228"/>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7" name="AutoShape 229"/>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5" name="Rectangle 230"/>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6" name="Freeform 231"/>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7" name="Freeform 232"/>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8" name="Oval 233"/>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9" name="Freeform 234"/>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0" name="AutoShape 235"/>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1" name="AutoShape 236"/>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2" name="Oval 237"/>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3" name="Oval 238"/>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Oval 239"/>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5" name="Rectangle 240"/>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94" name="Group 241"/>
          <p:cNvGrpSpPr/>
          <p:nvPr/>
        </p:nvGrpSpPr>
        <p:grpSpPr bwMode="auto">
          <a:xfrm>
            <a:off x="9673607" y="1741758"/>
            <a:ext cx="377825" cy="576263"/>
            <a:chOff x="4140" y="429"/>
            <a:chExt cx="1425" cy="2396"/>
          </a:xfrm>
        </p:grpSpPr>
        <p:sp>
          <p:nvSpPr>
            <p:cNvPr id="395" name="Freeform 242"/>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6" name="Rectangle 243"/>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7" name="Freeform 244"/>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8" name="Freeform 245"/>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9" name="Rectangle 246"/>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0" name="Group 247"/>
            <p:cNvGrpSpPr/>
            <p:nvPr/>
          </p:nvGrpSpPr>
          <p:grpSpPr bwMode="auto">
            <a:xfrm>
              <a:off x="4749" y="668"/>
              <a:ext cx="581" cy="145"/>
              <a:chOff x="614" y="2568"/>
              <a:chExt cx="725" cy="139"/>
            </a:xfrm>
          </p:grpSpPr>
          <p:sp>
            <p:nvSpPr>
              <p:cNvPr id="425" name="AutoShape 248"/>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6" name="AutoShape 249"/>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1" name="Rectangle 250"/>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2" name="Group 251"/>
            <p:cNvGrpSpPr/>
            <p:nvPr/>
          </p:nvGrpSpPr>
          <p:grpSpPr bwMode="auto">
            <a:xfrm>
              <a:off x="4747" y="994"/>
              <a:ext cx="581" cy="134"/>
              <a:chOff x="614" y="2568"/>
              <a:chExt cx="725" cy="139"/>
            </a:xfrm>
          </p:grpSpPr>
          <p:sp>
            <p:nvSpPr>
              <p:cNvPr id="423" name="AutoShape 252"/>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4" name="AutoShape 253"/>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3" name="Rectangle 254"/>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04" name="Rectangle 255"/>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5" name="Group 256"/>
            <p:cNvGrpSpPr/>
            <p:nvPr/>
          </p:nvGrpSpPr>
          <p:grpSpPr bwMode="auto">
            <a:xfrm>
              <a:off x="4735" y="1627"/>
              <a:ext cx="582" cy="151"/>
              <a:chOff x="614" y="2568"/>
              <a:chExt cx="725" cy="139"/>
            </a:xfrm>
          </p:grpSpPr>
          <p:sp>
            <p:nvSpPr>
              <p:cNvPr id="421" name="AutoShape 257"/>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2" name="AutoShape 258"/>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6" name="Freeform 259"/>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7" name="Group 260"/>
            <p:cNvGrpSpPr/>
            <p:nvPr/>
          </p:nvGrpSpPr>
          <p:grpSpPr bwMode="auto">
            <a:xfrm>
              <a:off x="4739" y="1327"/>
              <a:ext cx="582" cy="139"/>
              <a:chOff x="614" y="2568"/>
              <a:chExt cx="725" cy="139"/>
            </a:xfrm>
          </p:grpSpPr>
          <p:sp>
            <p:nvSpPr>
              <p:cNvPr id="419" name="AutoShape 261"/>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0" name="AutoShape 262"/>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8" name="Rectangle 263"/>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09" name="Freeform 264"/>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0" name="Freeform 265"/>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1" name="Oval 266"/>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2" name="Freeform 267"/>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3" name="AutoShape 268"/>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4" name="AutoShape 269"/>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5" name="Oval 270"/>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6" name="Oval 271"/>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7" name="Oval 272"/>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8" name="Rectangle 273"/>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27" name="Group 274"/>
          <p:cNvGrpSpPr/>
          <p:nvPr/>
        </p:nvGrpSpPr>
        <p:grpSpPr bwMode="auto">
          <a:xfrm>
            <a:off x="10002220" y="2687908"/>
            <a:ext cx="377825" cy="576263"/>
            <a:chOff x="4140" y="429"/>
            <a:chExt cx="1425" cy="2396"/>
          </a:xfrm>
        </p:grpSpPr>
        <p:sp>
          <p:nvSpPr>
            <p:cNvPr id="428" name="Freeform 275"/>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9" name="Rectangle 276"/>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0" name="Freeform 277"/>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1" name="Freeform 278"/>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2" name="Rectangle 279"/>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33" name="Group 280"/>
            <p:cNvGrpSpPr/>
            <p:nvPr/>
          </p:nvGrpSpPr>
          <p:grpSpPr bwMode="auto">
            <a:xfrm>
              <a:off x="4749" y="668"/>
              <a:ext cx="581" cy="145"/>
              <a:chOff x="614" y="2568"/>
              <a:chExt cx="725" cy="139"/>
            </a:xfrm>
          </p:grpSpPr>
          <p:sp>
            <p:nvSpPr>
              <p:cNvPr id="458" name="AutoShape 281"/>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9" name="AutoShape 282"/>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34" name="Rectangle 283"/>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35" name="Group 284"/>
            <p:cNvGrpSpPr/>
            <p:nvPr/>
          </p:nvGrpSpPr>
          <p:grpSpPr bwMode="auto">
            <a:xfrm>
              <a:off x="4747" y="994"/>
              <a:ext cx="581" cy="134"/>
              <a:chOff x="614" y="2568"/>
              <a:chExt cx="725" cy="139"/>
            </a:xfrm>
          </p:grpSpPr>
          <p:sp>
            <p:nvSpPr>
              <p:cNvPr id="456" name="AutoShape 285"/>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7" name="AutoShape 286"/>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36" name="Rectangle 287"/>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7" name="Rectangle 288"/>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38" name="Group 289"/>
            <p:cNvGrpSpPr/>
            <p:nvPr/>
          </p:nvGrpSpPr>
          <p:grpSpPr bwMode="auto">
            <a:xfrm>
              <a:off x="4735" y="1627"/>
              <a:ext cx="582" cy="151"/>
              <a:chOff x="614" y="2568"/>
              <a:chExt cx="725" cy="139"/>
            </a:xfrm>
          </p:grpSpPr>
          <p:sp>
            <p:nvSpPr>
              <p:cNvPr id="454" name="AutoShape 290"/>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5" name="AutoShape 291"/>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39" name="Freeform 292"/>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40" name="Group 293"/>
            <p:cNvGrpSpPr/>
            <p:nvPr/>
          </p:nvGrpSpPr>
          <p:grpSpPr bwMode="auto">
            <a:xfrm>
              <a:off x="4739" y="1327"/>
              <a:ext cx="582" cy="139"/>
              <a:chOff x="614" y="2568"/>
              <a:chExt cx="725" cy="139"/>
            </a:xfrm>
          </p:grpSpPr>
          <p:sp>
            <p:nvSpPr>
              <p:cNvPr id="452" name="AutoShape 294"/>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3" name="AutoShape 295"/>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41" name="Rectangle 296"/>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2" name="Freeform 297"/>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3" name="Freeform 298"/>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4" name="Oval 299"/>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5" name="Freeform 300"/>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6" name="AutoShape 301"/>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7" name="AutoShape 302"/>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8" name="Oval 303"/>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9" name="Oval 304"/>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Oval 305"/>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1" name="Rectangle 306"/>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93" name="Group 340"/>
          <p:cNvGrpSpPr/>
          <p:nvPr/>
        </p:nvGrpSpPr>
        <p:grpSpPr bwMode="auto">
          <a:xfrm>
            <a:off x="8057532" y="5170758"/>
            <a:ext cx="525463" cy="557213"/>
            <a:chOff x="-44" y="1473"/>
            <a:chExt cx="981" cy="1105"/>
          </a:xfrm>
        </p:grpSpPr>
        <p:pic>
          <p:nvPicPr>
            <p:cNvPr id="494" name="Picture 341"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96" name="Group 343"/>
          <p:cNvGrpSpPr/>
          <p:nvPr/>
        </p:nvGrpSpPr>
        <p:grpSpPr bwMode="auto">
          <a:xfrm>
            <a:off x="8581407" y="5159646"/>
            <a:ext cx="525463" cy="557212"/>
            <a:chOff x="-44" y="1473"/>
            <a:chExt cx="981" cy="1105"/>
          </a:xfrm>
        </p:grpSpPr>
        <p:pic>
          <p:nvPicPr>
            <p:cNvPr id="497" name="Picture 344"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502" name="Group 501"/>
          <p:cNvGrpSpPr/>
          <p:nvPr/>
        </p:nvGrpSpPr>
        <p:grpSpPr>
          <a:xfrm>
            <a:off x="8628916" y="4437217"/>
            <a:ext cx="889089" cy="466491"/>
            <a:chOff x="7493876" y="2774731"/>
            <a:chExt cx="1481958" cy="894622"/>
          </a:xfrm>
        </p:grpSpPr>
        <p:sp>
          <p:nvSpPr>
            <p:cNvPr id="511" name="Freeform 510"/>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12" name="Oval 511"/>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13" name="Group 512"/>
            <p:cNvGrpSpPr/>
            <p:nvPr/>
          </p:nvGrpSpPr>
          <p:grpSpPr>
            <a:xfrm>
              <a:off x="7713663" y="2848339"/>
              <a:ext cx="1042107" cy="425543"/>
              <a:chOff x="7786941" y="2884917"/>
              <a:chExt cx="897649" cy="353919"/>
            </a:xfrm>
          </p:grpSpPr>
          <p:sp>
            <p:nvSpPr>
              <p:cNvPr id="514" name="Freeform 513"/>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Freeform 514"/>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Freeform 515"/>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Freeform 516"/>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1" name="Group 520"/>
          <p:cNvGrpSpPr/>
          <p:nvPr/>
        </p:nvGrpSpPr>
        <p:grpSpPr>
          <a:xfrm>
            <a:off x="8650253" y="3095664"/>
            <a:ext cx="889089" cy="466491"/>
            <a:chOff x="7493876" y="2774731"/>
            <a:chExt cx="1481958" cy="894622"/>
          </a:xfrm>
        </p:grpSpPr>
        <p:sp>
          <p:nvSpPr>
            <p:cNvPr id="522" name="Freeform 521"/>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23" name="Oval 522"/>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24" name="Group 523"/>
            <p:cNvGrpSpPr/>
            <p:nvPr/>
          </p:nvGrpSpPr>
          <p:grpSpPr>
            <a:xfrm>
              <a:off x="7713663" y="2848339"/>
              <a:ext cx="1042107" cy="425543"/>
              <a:chOff x="7786941" y="2884917"/>
              <a:chExt cx="897649" cy="353919"/>
            </a:xfrm>
          </p:grpSpPr>
          <p:sp>
            <p:nvSpPr>
              <p:cNvPr id="525" name="Freeform 524"/>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Freeform 527"/>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29" name="Rectangle 4"/>
          <p:cNvSpPr>
            <a:spLocks noChangeArrowheads="1"/>
          </p:cNvSpPr>
          <p:nvPr/>
        </p:nvSpPr>
        <p:spPr bwMode="auto">
          <a:xfrm>
            <a:off x="855446" y="4042622"/>
            <a:ext cx="6361287" cy="2302427"/>
          </a:xfrm>
          <a:prstGeom prst="rect">
            <a:avLst/>
          </a:prstGeom>
          <a:noFill/>
          <a:ln>
            <a:noFill/>
          </a:ln>
        </p:spPr>
        <p:txBody>
          <a:bodyPr/>
          <a:lstStyle/>
          <a:p>
            <a:pPr marL="342900" indent="-342900" eaLnBrk="0" fontAlgn="base" hangingPunct="0">
              <a:lnSpc>
                <a:spcPct val="85000"/>
              </a:lnSpc>
              <a:spcBef>
                <a:spcPct val="45000"/>
              </a:spcBef>
              <a:spcAft>
                <a:spcPct val="0"/>
              </a:spcAft>
              <a:buClr>
                <a:srgbClr val="000099"/>
              </a:buClr>
              <a:buSzPct val="65000"/>
              <a:buFont typeface="Wingdings" panose="05000000000000000000" charset="0"/>
              <a:buNone/>
              <a:defRPr/>
            </a:pPr>
            <a:r>
              <a:rPr lang="en-US" sz="2400" i="1" dirty="0">
                <a:solidFill>
                  <a:srgbClr val="CC0000"/>
                </a:solidFill>
                <a:latin typeface="Calibri" panose="020F0502020204030204" pitchFamily="34" charset="0"/>
                <a:ea typeface="MS PGothic" panose="020B0600070205080204" pitchFamily="34" charset="-128"/>
                <a:cs typeface="Calibri" panose="020F0502020204030204" pitchFamily="34" charset="0"/>
              </a:rPr>
              <a:t>Performance:</a:t>
            </a:r>
            <a:endParaRPr lang="en-US" sz="2400" i="1" dirty="0">
              <a:solidFill>
                <a:srgbClr val="CC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ct val="200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LAN utilization: .0015</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ct val="200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access link utilization = </a:t>
            </a:r>
            <a:r>
              <a:rPr lang="en-US" sz="2400" dirty="0">
                <a:solidFill>
                  <a:srgbClr val="C00000"/>
                </a:solidFill>
                <a:latin typeface="Calibri" panose="020F0502020204030204" pitchFamily="34" charset="0"/>
                <a:ea typeface="MS PGothic" panose="020B0600070205080204" pitchFamily="34" charset="-128"/>
                <a:cs typeface="Calibri" panose="020F0502020204030204" pitchFamily="34" charset="0"/>
              </a:rPr>
              <a:t>.97</a:t>
            </a:r>
            <a:endParaRPr lang="en-US" sz="2400" dirty="0">
              <a:solidFill>
                <a:srgbClr val="C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6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end-end delay  =  Internet delay +</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eaLnBrk="0" fontAlgn="base" hangingPunct="0">
              <a:lnSpc>
                <a:spcPct val="85000"/>
              </a:lnSpc>
              <a:spcAft>
                <a:spcPct val="0"/>
              </a:spcAft>
              <a:buClr>
                <a:srgbClr val="000099"/>
              </a:buClr>
              <a:buSzPct val="100000"/>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                                     access link delay + LAN delay </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eaLnBrk="0" fontAlgn="base" hangingPunct="0">
              <a:lnSpc>
                <a:spcPct val="85000"/>
              </a:lnSpc>
              <a:spcBef>
                <a:spcPts val="600"/>
              </a:spcBef>
              <a:spcAft>
                <a:spcPct val="0"/>
              </a:spcAft>
              <a:buClr>
                <a:srgbClr val="000099"/>
              </a:buClr>
              <a:buSzPct val="100000"/>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                                 =  2 sec + minutes + </a:t>
            </a:r>
            <a:r>
              <a:rPr lang="en-US" sz="2400" dirty="0" err="1">
                <a:solidFill>
                  <a:srgbClr val="000000"/>
                </a:solidFill>
                <a:latin typeface="Calibri" panose="020F0502020204030204" pitchFamily="34" charset="0"/>
                <a:ea typeface="MS PGothic" panose="020B0600070205080204" pitchFamily="34" charset="-128"/>
                <a:cs typeface="Calibri" panose="020F0502020204030204" pitchFamily="34" charset="0"/>
              </a:rPr>
              <a:t>usecs</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ct val="20000"/>
              </a:spcBef>
              <a:spcAft>
                <a:spcPct val="0"/>
              </a:spcAft>
              <a:buClr>
                <a:srgbClr val="000099"/>
              </a:buClr>
              <a:buSzPct val="65000"/>
              <a:buFont typeface="Wingdings" panose="05000000000000000000" charset="0"/>
              <a:buChar char="v"/>
              <a:defRPr/>
            </a:pP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p:txBody>
      </p:sp>
      <p:sp>
        <p:nvSpPr>
          <p:cNvPr id="530" name="Rectangle 4"/>
          <p:cNvSpPr>
            <a:spLocks noChangeArrowheads="1"/>
          </p:cNvSpPr>
          <p:nvPr/>
        </p:nvSpPr>
        <p:spPr bwMode="auto">
          <a:xfrm>
            <a:off x="870724" y="1362307"/>
            <a:ext cx="6123957" cy="2519263"/>
          </a:xfrm>
          <a:prstGeom prst="rect">
            <a:avLst/>
          </a:prstGeom>
          <a:noFill/>
          <a:ln>
            <a:noFill/>
          </a:ln>
        </p:spPr>
        <p:txBody>
          <a:bodyPr/>
          <a:lstStyle/>
          <a:p>
            <a:pPr marL="342900" indent="-342900" eaLnBrk="0" fontAlgn="base" hangingPunct="0">
              <a:lnSpc>
                <a:spcPct val="85000"/>
              </a:lnSpc>
              <a:spcBef>
                <a:spcPct val="20000"/>
              </a:spcBef>
              <a:spcAft>
                <a:spcPct val="0"/>
              </a:spcAft>
              <a:buClr>
                <a:srgbClr val="000099"/>
              </a:buClr>
              <a:buSzPct val="65000"/>
              <a:buFont typeface="Wingdings" panose="05000000000000000000" charset="0"/>
              <a:buNone/>
              <a:defRPr/>
            </a:pPr>
            <a:r>
              <a:rPr lang="en-US" sz="2800" i="1" dirty="0">
                <a:solidFill>
                  <a:srgbClr val="CC0000"/>
                </a:solidFill>
                <a:latin typeface="Calibri" panose="020F0502020204030204" pitchFamily="34" charset="0"/>
                <a:ea typeface="MS PGothic" panose="020B0600070205080204" pitchFamily="34" charset="-128"/>
                <a:cs typeface="Calibri" panose="020F0502020204030204" pitchFamily="34" charset="0"/>
              </a:rPr>
              <a:t>Scenario:</a:t>
            </a:r>
            <a:endParaRPr lang="en-US" sz="2800" i="1" dirty="0">
              <a:solidFill>
                <a:srgbClr val="CC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access link rate: 1.54 Mbps</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RTT from institutional router to server: 2 sec</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Web object size: 100K bits</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Average request rate from browsers to origin servers: 15/sec</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800100" lvl="1"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average data rate to browsers: 1.50 Mbps</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29"/>
                                        </p:tgtEl>
                                        <p:attrNameLst>
                                          <p:attrName>style.visibility</p:attrName>
                                        </p:attrNameLst>
                                      </p:cBhvr>
                                      <p:to>
                                        <p:strVal val="visible"/>
                                      </p:to>
                                    </p:set>
                                    <p:animEffect transition="in" filter="dissolve">
                                      <p:cBhvr>
                                        <p:cTn id="7" dur="500"/>
                                        <p:tgtEl>
                                          <p:spTgt spid="52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91"/>
                                        </p:tgtEl>
                                        <p:attrNameLst>
                                          <p:attrName>style.visibility</p:attrName>
                                        </p:attrNameLst>
                                      </p:cBhvr>
                                      <p:to>
                                        <p:strVal val="visible"/>
                                      </p:to>
                                    </p:set>
                                    <p:animEffect transition="in" filter="dissolve">
                                      <p:cBhvr>
                                        <p:cTn id="15" dur="500"/>
                                        <p:tgtEl>
                                          <p:spTgt spid="2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291" grpId="0"/>
      <p:bldP spid="529"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sz="4400" dirty="0">
                <a:ea typeface="MS PGothic" panose="020B0600070205080204" pitchFamily="34" charset="-128"/>
              </a:rPr>
              <a:t>Caching example: buy a faster access link</a:t>
            </a:r>
            <a:endParaRPr lang="en-US" sz="4400" dirty="0"/>
          </a:p>
        </p:txBody>
      </p:sp>
      <p:sp>
        <p:nvSpPr>
          <p:cNvPr id="3" name="Slide Number Placeholder 2"/>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fld>
            <a:endParaRPr lang="en-US" dirty="0"/>
          </a:p>
        </p:txBody>
      </p:sp>
      <p:sp>
        <p:nvSpPr>
          <p:cNvPr id="254" name="Line 2"/>
          <p:cNvSpPr>
            <a:spLocks noChangeShapeType="1"/>
          </p:cNvSpPr>
          <p:nvPr/>
        </p:nvSpPr>
        <p:spPr bwMode="auto">
          <a:xfrm>
            <a:off x="7744795" y="2487883"/>
            <a:ext cx="285750" cy="114300"/>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5" name="Text Box 50"/>
          <p:cNvSpPr txBox="1">
            <a:spLocks noChangeArrowheads="1"/>
          </p:cNvSpPr>
          <p:nvPr/>
        </p:nvSpPr>
        <p:spPr bwMode="auto">
          <a:xfrm>
            <a:off x="1017367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origin</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servers</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6" name="Line 51"/>
          <p:cNvSpPr>
            <a:spLocks noChangeShapeType="1"/>
          </p:cNvSpPr>
          <p:nvPr/>
        </p:nvSpPr>
        <p:spPr bwMode="auto">
          <a:xfrm>
            <a:off x="8554420" y="2106883"/>
            <a:ext cx="66675" cy="276225"/>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7" name="Line 52"/>
          <p:cNvSpPr>
            <a:spLocks noChangeShapeType="1"/>
          </p:cNvSpPr>
          <p:nvPr/>
        </p:nvSpPr>
        <p:spPr bwMode="auto">
          <a:xfrm flipH="1">
            <a:off x="9183070" y="2144983"/>
            <a:ext cx="9525" cy="238125"/>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8" name="Line 53"/>
          <p:cNvSpPr>
            <a:spLocks noChangeShapeType="1"/>
          </p:cNvSpPr>
          <p:nvPr/>
        </p:nvSpPr>
        <p:spPr bwMode="auto">
          <a:xfrm flipH="1">
            <a:off x="9640270" y="2306908"/>
            <a:ext cx="133350" cy="209550"/>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9" name="Line 54"/>
          <p:cNvSpPr>
            <a:spLocks noChangeShapeType="1"/>
          </p:cNvSpPr>
          <p:nvPr/>
        </p:nvSpPr>
        <p:spPr bwMode="auto">
          <a:xfrm flipH="1" flipV="1">
            <a:off x="9802195" y="3068908"/>
            <a:ext cx="247650" cy="0"/>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0" name="Freeform 55"/>
          <p:cNvSpPr/>
          <p:nvPr/>
        </p:nvSpPr>
        <p:spPr bwMode="auto">
          <a:xfrm>
            <a:off x="781940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261" name="Text Box 70"/>
          <p:cNvSpPr txBox="1">
            <a:spLocks noChangeArrowheads="1"/>
          </p:cNvSpPr>
          <p:nvPr/>
        </p:nvSpPr>
        <p:spPr bwMode="auto">
          <a:xfrm>
            <a:off x="853537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public</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 Internet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262" name="Freeform 71"/>
          <p:cNvSpPr/>
          <p:nvPr/>
        </p:nvSpPr>
        <p:spPr bwMode="auto">
          <a:xfrm>
            <a:off x="742412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263" name="Line 77"/>
          <p:cNvSpPr>
            <a:spLocks noChangeShapeType="1"/>
          </p:cNvSpPr>
          <p:nvPr/>
        </p:nvSpPr>
        <p:spPr bwMode="auto">
          <a:xfrm flipH="1">
            <a:off x="7859095" y="4780233"/>
            <a:ext cx="855662" cy="431800"/>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4" name="Line 78"/>
          <p:cNvSpPr>
            <a:spLocks noChangeShapeType="1"/>
          </p:cNvSpPr>
          <p:nvPr/>
        </p:nvSpPr>
        <p:spPr bwMode="auto">
          <a:xfrm flipH="1">
            <a:off x="8368682" y="4827858"/>
            <a:ext cx="563563" cy="393700"/>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5" name="Line 79"/>
          <p:cNvSpPr>
            <a:spLocks noChangeShapeType="1"/>
          </p:cNvSpPr>
          <p:nvPr/>
        </p:nvSpPr>
        <p:spPr bwMode="auto">
          <a:xfrm flipH="1">
            <a:off x="8906845" y="4834208"/>
            <a:ext cx="149225" cy="382588"/>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7" name="Line 95"/>
          <p:cNvSpPr>
            <a:spLocks noChangeShapeType="1"/>
          </p:cNvSpPr>
          <p:nvPr/>
        </p:nvSpPr>
        <p:spPr bwMode="auto">
          <a:xfrm>
            <a:off x="9068770" y="3545158"/>
            <a:ext cx="0" cy="1062038"/>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8" name="Text Box 97"/>
          <p:cNvSpPr txBox="1">
            <a:spLocks noChangeArrowheads="1"/>
          </p:cNvSpPr>
          <p:nvPr/>
        </p:nvSpPr>
        <p:spPr bwMode="auto">
          <a:xfrm>
            <a:off x="743682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institutional</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network</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269" name="Text Box 98"/>
          <p:cNvSpPr txBox="1">
            <a:spLocks noChangeArrowheads="1"/>
          </p:cNvSpPr>
          <p:nvPr/>
        </p:nvSpPr>
        <p:spPr bwMode="auto">
          <a:xfrm>
            <a:off x="944500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1 Gbps LAN</a:t>
            </a:r>
            <a:endParaRPr kumimoji="0" lang="en-US" altLang="en-US" sz="2400" b="0" i="0" u="none" strike="noStrike" kern="0" cap="none" spc="0" normalizeH="0" baseline="0" noProof="0">
              <a:ln>
                <a:noFill/>
              </a:ln>
              <a:solidFill>
                <a:srgbClr val="3333CC"/>
              </a:solidFill>
              <a:effectLst/>
              <a:uLnTx/>
              <a:uFillTx/>
              <a:latin typeface="Arial" panose="020B0604020202020204" pitchFamily="34" charset="0"/>
              <a:ea typeface="MS PGothic" panose="020B0600070205080204" pitchFamily="34" charset="-128"/>
            </a:endParaRPr>
          </a:p>
        </p:txBody>
      </p:sp>
      <p:sp>
        <p:nvSpPr>
          <p:cNvPr id="270" name="Text Box 99"/>
          <p:cNvSpPr txBox="1">
            <a:spLocks noChangeArrowheads="1"/>
          </p:cNvSpPr>
          <p:nvPr/>
        </p:nvSpPr>
        <p:spPr bwMode="auto">
          <a:xfrm>
            <a:off x="907035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1.54 Mbps </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access link</a:t>
            </a:r>
            <a:endParaRPr kumimoji="0" lang="en-US" altLang="en-US" sz="2400" b="0" i="0" u="none" strike="noStrike" kern="0" cap="none" spc="0" normalizeH="0" baseline="0" noProof="0">
              <a:ln>
                <a:noFill/>
              </a:ln>
              <a:solidFill>
                <a:srgbClr val="3333CC"/>
              </a:solidFill>
              <a:effectLst/>
              <a:uLnTx/>
              <a:uFillTx/>
              <a:latin typeface="Arial" panose="020B0604020202020204" pitchFamily="34" charset="0"/>
              <a:ea typeface="MS PGothic" panose="020B0600070205080204" pitchFamily="34" charset="-128"/>
            </a:endParaRPr>
          </a:p>
        </p:txBody>
      </p:sp>
      <p:grpSp>
        <p:nvGrpSpPr>
          <p:cNvPr id="292" name="Group 139"/>
          <p:cNvGrpSpPr/>
          <p:nvPr/>
        </p:nvGrpSpPr>
        <p:grpSpPr bwMode="auto">
          <a:xfrm>
            <a:off x="7397132" y="2035446"/>
            <a:ext cx="377825" cy="576262"/>
            <a:chOff x="4140" y="429"/>
            <a:chExt cx="1425" cy="2396"/>
          </a:xfrm>
        </p:grpSpPr>
        <p:sp>
          <p:nvSpPr>
            <p:cNvPr id="293" name="Freeform 140"/>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4" name="Rectangle 141"/>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5" name="Freeform 142"/>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6" name="Freeform 143"/>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7" name="Rectangle 144"/>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98" name="Group 145"/>
            <p:cNvGrpSpPr/>
            <p:nvPr/>
          </p:nvGrpSpPr>
          <p:grpSpPr bwMode="auto">
            <a:xfrm>
              <a:off x="4749" y="668"/>
              <a:ext cx="581" cy="145"/>
              <a:chOff x="614" y="2568"/>
              <a:chExt cx="725" cy="139"/>
            </a:xfrm>
          </p:grpSpPr>
          <p:sp>
            <p:nvSpPr>
              <p:cNvPr id="323" name="AutoShape 146"/>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4" name="AutoShape 147"/>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99" name="Rectangle 148"/>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0" name="Group 149"/>
            <p:cNvGrpSpPr/>
            <p:nvPr/>
          </p:nvGrpSpPr>
          <p:grpSpPr bwMode="auto">
            <a:xfrm>
              <a:off x="4747" y="994"/>
              <a:ext cx="581" cy="134"/>
              <a:chOff x="614" y="2568"/>
              <a:chExt cx="725" cy="139"/>
            </a:xfrm>
          </p:grpSpPr>
          <p:sp>
            <p:nvSpPr>
              <p:cNvPr id="321" name="AutoShape 150"/>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2" name="AutoShape 151"/>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1" name="Rectangle 152"/>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2" name="Rectangle 153"/>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3" name="Group 154"/>
            <p:cNvGrpSpPr/>
            <p:nvPr/>
          </p:nvGrpSpPr>
          <p:grpSpPr bwMode="auto">
            <a:xfrm>
              <a:off x="4735" y="1627"/>
              <a:ext cx="582" cy="151"/>
              <a:chOff x="614" y="2568"/>
              <a:chExt cx="725" cy="139"/>
            </a:xfrm>
          </p:grpSpPr>
          <p:sp>
            <p:nvSpPr>
              <p:cNvPr id="319" name="AutoShape 155"/>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0" name="AutoShape 156"/>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4" name="Freeform 157"/>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5" name="Group 158"/>
            <p:cNvGrpSpPr/>
            <p:nvPr/>
          </p:nvGrpSpPr>
          <p:grpSpPr bwMode="auto">
            <a:xfrm>
              <a:off x="4739" y="1327"/>
              <a:ext cx="582" cy="139"/>
              <a:chOff x="614" y="2568"/>
              <a:chExt cx="725" cy="139"/>
            </a:xfrm>
          </p:grpSpPr>
          <p:sp>
            <p:nvSpPr>
              <p:cNvPr id="317" name="AutoShape 159"/>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8" name="AutoShape 160"/>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6" name="Rectangle 161"/>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7" name="Freeform 162"/>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8" name="Freeform 163"/>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9" name="Oval 164"/>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0" name="Freeform 165"/>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1" name="AutoShape 166"/>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2" name="AutoShape 167"/>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3" name="Oval 168"/>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4" name="Oval 169"/>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5" name="Oval 170"/>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6" name="Rectangle 171"/>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25" name="Group 172"/>
          <p:cNvGrpSpPr/>
          <p:nvPr/>
        </p:nvGrpSpPr>
        <p:grpSpPr bwMode="auto">
          <a:xfrm>
            <a:off x="7546357" y="5148533"/>
            <a:ext cx="525463" cy="557213"/>
            <a:chOff x="-44" y="1473"/>
            <a:chExt cx="981" cy="1105"/>
          </a:xfrm>
        </p:grpSpPr>
        <p:pic>
          <p:nvPicPr>
            <p:cNvPr id="326" name="Picture 173"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28" name="Group 175"/>
          <p:cNvGrpSpPr/>
          <p:nvPr/>
        </p:nvGrpSpPr>
        <p:grpSpPr bwMode="auto">
          <a:xfrm>
            <a:off x="8311532" y="1557608"/>
            <a:ext cx="377825" cy="576263"/>
            <a:chOff x="4140" y="429"/>
            <a:chExt cx="1425" cy="2396"/>
          </a:xfrm>
        </p:grpSpPr>
        <p:sp>
          <p:nvSpPr>
            <p:cNvPr id="329" name="Freeform 176"/>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0" name="Rectangle 177"/>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1" name="Freeform 178"/>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2" name="Freeform 179"/>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3" name="Rectangle 180"/>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4" name="Group 181"/>
            <p:cNvGrpSpPr/>
            <p:nvPr/>
          </p:nvGrpSpPr>
          <p:grpSpPr bwMode="auto">
            <a:xfrm>
              <a:off x="4749" y="668"/>
              <a:ext cx="581" cy="145"/>
              <a:chOff x="614" y="2568"/>
              <a:chExt cx="725" cy="139"/>
            </a:xfrm>
          </p:grpSpPr>
          <p:sp>
            <p:nvSpPr>
              <p:cNvPr id="359" name="AutoShape 182"/>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0" name="AutoShape 183"/>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35" name="Rectangle 184"/>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6" name="Group 185"/>
            <p:cNvGrpSpPr/>
            <p:nvPr/>
          </p:nvGrpSpPr>
          <p:grpSpPr bwMode="auto">
            <a:xfrm>
              <a:off x="4747" y="994"/>
              <a:ext cx="581" cy="134"/>
              <a:chOff x="614" y="2568"/>
              <a:chExt cx="725" cy="139"/>
            </a:xfrm>
          </p:grpSpPr>
          <p:sp>
            <p:nvSpPr>
              <p:cNvPr id="357" name="AutoShape 186"/>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8" name="AutoShape 187"/>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37" name="Rectangle 188"/>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8" name="Rectangle 189"/>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9" name="Group 190"/>
            <p:cNvGrpSpPr/>
            <p:nvPr/>
          </p:nvGrpSpPr>
          <p:grpSpPr bwMode="auto">
            <a:xfrm>
              <a:off x="4735" y="1627"/>
              <a:ext cx="582" cy="151"/>
              <a:chOff x="614" y="2568"/>
              <a:chExt cx="725" cy="139"/>
            </a:xfrm>
          </p:grpSpPr>
          <p:sp>
            <p:nvSpPr>
              <p:cNvPr id="355" name="AutoShape 191"/>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6" name="AutoShape 192"/>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40" name="Freeform 193"/>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41" name="Group 194"/>
            <p:cNvGrpSpPr/>
            <p:nvPr/>
          </p:nvGrpSpPr>
          <p:grpSpPr bwMode="auto">
            <a:xfrm>
              <a:off x="4739" y="1327"/>
              <a:ext cx="582" cy="139"/>
              <a:chOff x="614" y="2568"/>
              <a:chExt cx="725" cy="139"/>
            </a:xfrm>
          </p:grpSpPr>
          <p:sp>
            <p:nvSpPr>
              <p:cNvPr id="353" name="AutoShape 195"/>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4" name="AutoShape 196"/>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42" name="Rectangle 197"/>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3" name="Freeform 198"/>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4" name="Freeform 199"/>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5" name="Oval 200"/>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6" name="Freeform 201"/>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7" name="AutoShape 202"/>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8" name="AutoShape 203"/>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9" name="Oval 204"/>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0" name="Oval 205"/>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Oval 206"/>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2" name="Rectangle 207"/>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61" name="Group 208"/>
          <p:cNvGrpSpPr/>
          <p:nvPr/>
        </p:nvGrpSpPr>
        <p:grpSpPr bwMode="auto">
          <a:xfrm>
            <a:off x="9064007" y="1589358"/>
            <a:ext cx="377825" cy="576263"/>
            <a:chOff x="4140" y="429"/>
            <a:chExt cx="1425" cy="2396"/>
          </a:xfrm>
        </p:grpSpPr>
        <p:sp>
          <p:nvSpPr>
            <p:cNvPr id="362" name="Freeform 209"/>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3" name="Rectangle 210"/>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4" name="Freeform 211"/>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5" name="Freeform 212"/>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6" name="Rectangle 213"/>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67" name="Group 214"/>
            <p:cNvGrpSpPr/>
            <p:nvPr/>
          </p:nvGrpSpPr>
          <p:grpSpPr bwMode="auto">
            <a:xfrm>
              <a:off x="4749" y="668"/>
              <a:ext cx="581" cy="145"/>
              <a:chOff x="614" y="2568"/>
              <a:chExt cx="725" cy="139"/>
            </a:xfrm>
          </p:grpSpPr>
          <p:sp>
            <p:nvSpPr>
              <p:cNvPr id="392" name="AutoShape 215"/>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3" name="AutoShape 216"/>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68" name="Rectangle 217"/>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69" name="Group 218"/>
            <p:cNvGrpSpPr/>
            <p:nvPr/>
          </p:nvGrpSpPr>
          <p:grpSpPr bwMode="auto">
            <a:xfrm>
              <a:off x="4747" y="994"/>
              <a:ext cx="581" cy="134"/>
              <a:chOff x="614" y="2568"/>
              <a:chExt cx="725" cy="139"/>
            </a:xfrm>
          </p:grpSpPr>
          <p:sp>
            <p:nvSpPr>
              <p:cNvPr id="390" name="AutoShape 219"/>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1" name="AutoShape 220"/>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0" name="Rectangle 221"/>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1" name="Rectangle 222"/>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72" name="Group 223"/>
            <p:cNvGrpSpPr/>
            <p:nvPr/>
          </p:nvGrpSpPr>
          <p:grpSpPr bwMode="auto">
            <a:xfrm>
              <a:off x="4735" y="1627"/>
              <a:ext cx="582" cy="151"/>
              <a:chOff x="614" y="2568"/>
              <a:chExt cx="725" cy="139"/>
            </a:xfrm>
          </p:grpSpPr>
          <p:sp>
            <p:nvSpPr>
              <p:cNvPr id="388" name="AutoShape 224"/>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9" name="AutoShape 225"/>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3" name="Freeform 226"/>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74" name="Group 227"/>
            <p:cNvGrpSpPr/>
            <p:nvPr/>
          </p:nvGrpSpPr>
          <p:grpSpPr bwMode="auto">
            <a:xfrm>
              <a:off x="4739" y="1327"/>
              <a:ext cx="582" cy="139"/>
              <a:chOff x="614" y="2568"/>
              <a:chExt cx="725" cy="139"/>
            </a:xfrm>
          </p:grpSpPr>
          <p:sp>
            <p:nvSpPr>
              <p:cNvPr id="386" name="AutoShape 228"/>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7" name="AutoShape 229"/>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5" name="Rectangle 230"/>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6" name="Freeform 231"/>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7" name="Freeform 232"/>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8" name="Oval 233"/>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9" name="Freeform 234"/>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0" name="AutoShape 235"/>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1" name="AutoShape 236"/>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2" name="Oval 237"/>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3" name="Oval 238"/>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Oval 239"/>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5" name="Rectangle 240"/>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94" name="Group 241"/>
          <p:cNvGrpSpPr/>
          <p:nvPr/>
        </p:nvGrpSpPr>
        <p:grpSpPr bwMode="auto">
          <a:xfrm>
            <a:off x="9673607" y="1741758"/>
            <a:ext cx="377825" cy="576263"/>
            <a:chOff x="4140" y="429"/>
            <a:chExt cx="1425" cy="2396"/>
          </a:xfrm>
        </p:grpSpPr>
        <p:sp>
          <p:nvSpPr>
            <p:cNvPr id="395" name="Freeform 242"/>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6" name="Rectangle 243"/>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7" name="Freeform 244"/>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8" name="Freeform 245"/>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9" name="Rectangle 246"/>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0" name="Group 247"/>
            <p:cNvGrpSpPr/>
            <p:nvPr/>
          </p:nvGrpSpPr>
          <p:grpSpPr bwMode="auto">
            <a:xfrm>
              <a:off x="4749" y="668"/>
              <a:ext cx="581" cy="145"/>
              <a:chOff x="614" y="2568"/>
              <a:chExt cx="725" cy="139"/>
            </a:xfrm>
          </p:grpSpPr>
          <p:sp>
            <p:nvSpPr>
              <p:cNvPr id="425" name="AutoShape 248"/>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6" name="AutoShape 249"/>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1" name="Rectangle 250"/>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2" name="Group 251"/>
            <p:cNvGrpSpPr/>
            <p:nvPr/>
          </p:nvGrpSpPr>
          <p:grpSpPr bwMode="auto">
            <a:xfrm>
              <a:off x="4747" y="994"/>
              <a:ext cx="581" cy="134"/>
              <a:chOff x="614" y="2568"/>
              <a:chExt cx="725" cy="139"/>
            </a:xfrm>
          </p:grpSpPr>
          <p:sp>
            <p:nvSpPr>
              <p:cNvPr id="423" name="AutoShape 252"/>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4" name="AutoShape 253"/>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3" name="Rectangle 254"/>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04" name="Rectangle 255"/>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5" name="Group 256"/>
            <p:cNvGrpSpPr/>
            <p:nvPr/>
          </p:nvGrpSpPr>
          <p:grpSpPr bwMode="auto">
            <a:xfrm>
              <a:off x="4735" y="1627"/>
              <a:ext cx="582" cy="151"/>
              <a:chOff x="614" y="2568"/>
              <a:chExt cx="725" cy="139"/>
            </a:xfrm>
          </p:grpSpPr>
          <p:sp>
            <p:nvSpPr>
              <p:cNvPr id="421" name="AutoShape 257"/>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2" name="AutoShape 258"/>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6" name="Freeform 259"/>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7" name="Group 260"/>
            <p:cNvGrpSpPr/>
            <p:nvPr/>
          </p:nvGrpSpPr>
          <p:grpSpPr bwMode="auto">
            <a:xfrm>
              <a:off x="4739" y="1327"/>
              <a:ext cx="582" cy="139"/>
              <a:chOff x="614" y="2568"/>
              <a:chExt cx="725" cy="139"/>
            </a:xfrm>
          </p:grpSpPr>
          <p:sp>
            <p:nvSpPr>
              <p:cNvPr id="419" name="AutoShape 261"/>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0" name="AutoShape 262"/>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8" name="Rectangle 263"/>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09" name="Freeform 264"/>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0" name="Freeform 265"/>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1" name="Oval 266"/>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2" name="Freeform 267"/>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3" name="AutoShape 268"/>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4" name="AutoShape 269"/>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5" name="Oval 270"/>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6" name="Oval 271"/>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7" name="Oval 272"/>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8" name="Rectangle 273"/>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27" name="Group 274"/>
          <p:cNvGrpSpPr/>
          <p:nvPr/>
        </p:nvGrpSpPr>
        <p:grpSpPr bwMode="auto">
          <a:xfrm>
            <a:off x="10002220" y="2687908"/>
            <a:ext cx="377825" cy="576263"/>
            <a:chOff x="4140" y="429"/>
            <a:chExt cx="1425" cy="2396"/>
          </a:xfrm>
        </p:grpSpPr>
        <p:sp>
          <p:nvSpPr>
            <p:cNvPr id="428" name="Freeform 275"/>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9" name="Rectangle 276"/>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0" name="Freeform 277"/>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1" name="Freeform 278"/>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2" name="Rectangle 279"/>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33" name="Group 280"/>
            <p:cNvGrpSpPr/>
            <p:nvPr/>
          </p:nvGrpSpPr>
          <p:grpSpPr bwMode="auto">
            <a:xfrm>
              <a:off x="4749" y="668"/>
              <a:ext cx="581" cy="145"/>
              <a:chOff x="614" y="2568"/>
              <a:chExt cx="725" cy="139"/>
            </a:xfrm>
          </p:grpSpPr>
          <p:sp>
            <p:nvSpPr>
              <p:cNvPr id="458" name="AutoShape 281"/>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9" name="AutoShape 282"/>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34" name="Rectangle 283"/>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35" name="Group 284"/>
            <p:cNvGrpSpPr/>
            <p:nvPr/>
          </p:nvGrpSpPr>
          <p:grpSpPr bwMode="auto">
            <a:xfrm>
              <a:off x="4747" y="994"/>
              <a:ext cx="581" cy="134"/>
              <a:chOff x="614" y="2568"/>
              <a:chExt cx="725" cy="139"/>
            </a:xfrm>
          </p:grpSpPr>
          <p:sp>
            <p:nvSpPr>
              <p:cNvPr id="456" name="AutoShape 285"/>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7" name="AutoShape 286"/>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36" name="Rectangle 287"/>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7" name="Rectangle 288"/>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38" name="Group 289"/>
            <p:cNvGrpSpPr/>
            <p:nvPr/>
          </p:nvGrpSpPr>
          <p:grpSpPr bwMode="auto">
            <a:xfrm>
              <a:off x="4735" y="1627"/>
              <a:ext cx="582" cy="151"/>
              <a:chOff x="614" y="2568"/>
              <a:chExt cx="725" cy="139"/>
            </a:xfrm>
          </p:grpSpPr>
          <p:sp>
            <p:nvSpPr>
              <p:cNvPr id="454" name="AutoShape 290"/>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5" name="AutoShape 291"/>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39" name="Freeform 292"/>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40" name="Group 293"/>
            <p:cNvGrpSpPr/>
            <p:nvPr/>
          </p:nvGrpSpPr>
          <p:grpSpPr bwMode="auto">
            <a:xfrm>
              <a:off x="4739" y="1327"/>
              <a:ext cx="582" cy="139"/>
              <a:chOff x="614" y="2568"/>
              <a:chExt cx="725" cy="139"/>
            </a:xfrm>
          </p:grpSpPr>
          <p:sp>
            <p:nvSpPr>
              <p:cNvPr id="452" name="AutoShape 294"/>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3" name="AutoShape 295"/>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41" name="Rectangle 296"/>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2" name="Freeform 297"/>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3" name="Freeform 298"/>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4" name="Oval 299"/>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5" name="Freeform 300"/>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6" name="AutoShape 301"/>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7" name="AutoShape 302"/>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8" name="Oval 303"/>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9" name="Oval 304"/>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Oval 305"/>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1" name="Rectangle 306"/>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93" name="Group 340"/>
          <p:cNvGrpSpPr/>
          <p:nvPr/>
        </p:nvGrpSpPr>
        <p:grpSpPr bwMode="auto">
          <a:xfrm>
            <a:off x="8057532" y="5170758"/>
            <a:ext cx="525463" cy="557213"/>
            <a:chOff x="-44" y="1473"/>
            <a:chExt cx="981" cy="1105"/>
          </a:xfrm>
        </p:grpSpPr>
        <p:pic>
          <p:nvPicPr>
            <p:cNvPr id="494" name="Picture 341"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96" name="Group 343"/>
          <p:cNvGrpSpPr/>
          <p:nvPr/>
        </p:nvGrpSpPr>
        <p:grpSpPr bwMode="auto">
          <a:xfrm>
            <a:off x="8581407" y="5159646"/>
            <a:ext cx="525463" cy="557212"/>
            <a:chOff x="-44" y="1473"/>
            <a:chExt cx="981" cy="1105"/>
          </a:xfrm>
        </p:grpSpPr>
        <p:pic>
          <p:nvPicPr>
            <p:cNvPr id="497" name="Picture 344"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502" name="Group 501"/>
          <p:cNvGrpSpPr/>
          <p:nvPr/>
        </p:nvGrpSpPr>
        <p:grpSpPr>
          <a:xfrm>
            <a:off x="8628916" y="4437217"/>
            <a:ext cx="889089" cy="466491"/>
            <a:chOff x="7493876" y="2774731"/>
            <a:chExt cx="1481958" cy="894622"/>
          </a:xfrm>
        </p:grpSpPr>
        <p:sp>
          <p:nvSpPr>
            <p:cNvPr id="511" name="Freeform 510"/>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12" name="Oval 511"/>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13" name="Group 512"/>
            <p:cNvGrpSpPr/>
            <p:nvPr/>
          </p:nvGrpSpPr>
          <p:grpSpPr>
            <a:xfrm>
              <a:off x="7713663" y="2848339"/>
              <a:ext cx="1042107" cy="425543"/>
              <a:chOff x="7786941" y="2884917"/>
              <a:chExt cx="897649" cy="353919"/>
            </a:xfrm>
          </p:grpSpPr>
          <p:sp>
            <p:nvSpPr>
              <p:cNvPr id="514" name="Freeform 513"/>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Freeform 514"/>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Freeform 515"/>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Freeform 516"/>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1" name="Group 520"/>
          <p:cNvGrpSpPr/>
          <p:nvPr/>
        </p:nvGrpSpPr>
        <p:grpSpPr>
          <a:xfrm>
            <a:off x="8650253" y="3095664"/>
            <a:ext cx="889089" cy="466491"/>
            <a:chOff x="7493876" y="2774731"/>
            <a:chExt cx="1481958" cy="894622"/>
          </a:xfrm>
        </p:grpSpPr>
        <p:sp>
          <p:nvSpPr>
            <p:cNvPr id="522" name="Freeform 521"/>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23" name="Oval 522"/>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24" name="Group 523"/>
            <p:cNvGrpSpPr/>
            <p:nvPr/>
          </p:nvGrpSpPr>
          <p:grpSpPr>
            <a:xfrm>
              <a:off x="7713663" y="2848339"/>
              <a:ext cx="1042107" cy="425543"/>
              <a:chOff x="7786941" y="2884917"/>
              <a:chExt cx="897649" cy="353919"/>
            </a:xfrm>
          </p:grpSpPr>
          <p:sp>
            <p:nvSpPr>
              <p:cNvPr id="525" name="Freeform 524"/>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Freeform 527"/>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29" name="Rectangle 4"/>
          <p:cNvSpPr>
            <a:spLocks noChangeArrowheads="1"/>
          </p:cNvSpPr>
          <p:nvPr/>
        </p:nvSpPr>
        <p:spPr bwMode="auto">
          <a:xfrm>
            <a:off x="855446" y="4042622"/>
            <a:ext cx="6361287" cy="2302427"/>
          </a:xfrm>
          <a:prstGeom prst="rect">
            <a:avLst/>
          </a:prstGeom>
          <a:noFill/>
          <a:ln>
            <a:noFill/>
          </a:ln>
        </p:spPr>
        <p:txBody>
          <a:bodyPr/>
          <a:lstStyle/>
          <a:p>
            <a:pPr marL="342900" indent="-342900" eaLnBrk="0" fontAlgn="base" hangingPunct="0">
              <a:lnSpc>
                <a:spcPct val="85000"/>
              </a:lnSpc>
              <a:spcBef>
                <a:spcPct val="45000"/>
              </a:spcBef>
              <a:spcAft>
                <a:spcPct val="0"/>
              </a:spcAft>
              <a:buClr>
                <a:srgbClr val="000099"/>
              </a:buClr>
              <a:buSzPct val="65000"/>
              <a:buFont typeface="Wingdings" panose="05000000000000000000" charset="0"/>
              <a:buNone/>
              <a:defRPr/>
            </a:pPr>
            <a:r>
              <a:rPr lang="en-US" sz="2400" i="1" dirty="0">
                <a:solidFill>
                  <a:srgbClr val="CC0000"/>
                </a:solidFill>
                <a:latin typeface="Calibri" panose="020F0502020204030204" pitchFamily="34" charset="0"/>
                <a:ea typeface="MS PGothic" panose="020B0600070205080204" pitchFamily="34" charset="-128"/>
                <a:cs typeface="Calibri" panose="020F0502020204030204" pitchFamily="34" charset="0"/>
              </a:rPr>
              <a:t>Performance:</a:t>
            </a:r>
            <a:endParaRPr lang="en-US" sz="2400" i="1" dirty="0">
              <a:solidFill>
                <a:srgbClr val="CC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ct val="200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LAN utilization: .0015</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ct val="200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access link utilization = .</a:t>
            </a:r>
            <a:r>
              <a:rPr lang="en-US" sz="2400" dirty="0">
                <a:solidFill>
                  <a:srgbClr val="CC0000"/>
                </a:solidFill>
                <a:latin typeface="Calibri" panose="020F0502020204030204" pitchFamily="34" charset="0"/>
                <a:ea typeface="MS PGothic" panose="020B0600070205080204" pitchFamily="34" charset="-128"/>
                <a:cs typeface="Calibri" panose="020F0502020204030204" pitchFamily="34" charset="0"/>
              </a:rPr>
              <a:t>97</a:t>
            </a:r>
            <a:endParaRPr lang="en-US" sz="2400" dirty="0">
              <a:solidFill>
                <a:srgbClr val="CC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6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end-end delay  =  Internet delay +</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eaLnBrk="0" fontAlgn="base" hangingPunct="0">
              <a:lnSpc>
                <a:spcPct val="85000"/>
              </a:lnSpc>
              <a:spcAft>
                <a:spcPct val="0"/>
              </a:spcAft>
              <a:buClr>
                <a:srgbClr val="000099"/>
              </a:buClr>
              <a:buSzPct val="100000"/>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                                     access link delay + LAN delay </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eaLnBrk="0" fontAlgn="base" hangingPunct="0">
              <a:lnSpc>
                <a:spcPct val="85000"/>
              </a:lnSpc>
              <a:spcBef>
                <a:spcPts val="600"/>
              </a:spcBef>
              <a:spcAft>
                <a:spcPct val="0"/>
              </a:spcAft>
              <a:buClr>
                <a:srgbClr val="000099"/>
              </a:buClr>
              <a:buSzPct val="100000"/>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                                 =  2 sec + minutes + </a:t>
            </a:r>
            <a:r>
              <a:rPr lang="en-US" sz="2400" dirty="0" err="1">
                <a:solidFill>
                  <a:srgbClr val="000000"/>
                </a:solidFill>
                <a:latin typeface="Calibri" panose="020F0502020204030204" pitchFamily="34" charset="0"/>
                <a:ea typeface="MS PGothic" panose="020B0600070205080204" pitchFamily="34" charset="-128"/>
                <a:cs typeface="Calibri" panose="020F0502020204030204" pitchFamily="34" charset="0"/>
              </a:rPr>
              <a:t>usecs</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ct val="20000"/>
              </a:spcBef>
              <a:spcAft>
                <a:spcPct val="0"/>
              </a:spcAft>
              <a:buClr>
                <a:srgbClr val="000099"/>
              </a:buClr>
              <a:buSzPct val="65000"/>
              <a:buFont typeface="Wingdings" panose="05000000000000000000" charset="0"/>
              <a:buChar char="v"/>
              <a:defRPr/>
            </a:pP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p:txBody>
      </p:sp>
      <p:sp>
        <p:nvSpPr>
          <p:cNvPr id="530" name="Rectangle 4"/>
          <p:cNvSpPr>
            <a:spLocks noChangeArrowheads="1"/>
          </p:cNvSpPr>
          <p:nvPr/>
        </p:nvSpPr>
        <p:spPr bwMode="auto">
          <a:xfrm>
            <a:off x="870724" y="1362307"/>
            <a:ext cx="6123957" cy="2519263"/>
          </a:xfrm>
          <a:prstGeom prst="rect">
            <a:avLst/>
          </a:prstGeom>
          <a:noFill/>
          <a:ln>
            <a:noFill/>
          </a:ln>
        </p:spPr>
        <p:txBody>
          <a:bodyPr/>
          <a:lstStyle/>
          <a:p>
            <a:pPr marL="342900" indent="-342900" eaLnBrk="0" fontAlgn="base" hangingPunct="0">
              <a:lnSpc>
                <a:spcPct val="85000"/>
              </a:lnSpc>
              <a:spcBef>
                <a:spcPct val="20000"/>
              </a:spcBef>
              <a:spcAft>
                <a:spcPct val="0"/>
              </a:spcAft>
              <a:buClr>
                <a:srgbClr val="000099"/>
              </a:buClr>
              <a:buSzPct val="65000"/>
              <a:buFont typeface="Wingdings" panose="05000000000000000000" charset="0"/>
              <a:buNone/>
              <a:defRPr/>
            </a:pPr>
            <a:r>
              <a:rPr lang="en-US" sz="2800" i="1" dirty="0">
                <a:solidFill>
                  <a:srgbClr val="CC0000"/>
                </a:solidFill>
                <a:latin typeface="Calibri" panose="020F0502020204030204" pitchFamily="34" charset="0"/>
                <a:ea typeface="MS PGothic" panose="020B0600070205080204" pitchFamily="34" charset="-128"/>
                <a:cs typeface="Calibri" panose="020F0502020204030204" pitchFamily="34" charset="0"/>
              </a:rPr>
              <a:t>Scenario:</a:t>
            </a:r>
            <a:endParaRPr lang="en-US" sz="2800" i="1" dirty="0">
              <a:solidFill>
                <a:srgbClr val="CC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access link rate: 1.54 Mbps</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RTT from institutional router to server: 2 sec</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Web object size: 100K bits</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Avg request rate from browsers to origin servers: 15/sec</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800100" lvl="1"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avg data rate to browsers: 1.50 Mbps</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p:txBody>
      </p:sp>
      <p:grpSp>
        <p:nvGrpSpPr>
          <p:cNvPr id="2" name="Group 1"/>
          <p:cNvGrpSpPr/>
          <p:nvPr/>
        </p:nvGrpSpPr>
        <p:grpSpPr>
          <a:xfrm>
            <a:off x="3269205" y="1370475"/>
            <a:ext cx="7974440" cy="2642996"/>
            <a:chOff x="3269205" y="1370475"/>
            <a:chExt cx="7974440" cy="2642996"/>
          </a:xfrm>
        </p:grpSpPr>
        <p:grpSp>
          <p:nvGrpSpPr>
            <p:cNvPr id="214" name="Group 213"/>
            <p:cNvGrpSpPr/>
            <p:nvPr/>
          </p:nvGrpSpPr>
          <p:grpSpPr>
            <a:xfrm>
              <a:off x="3269205" y="1370475"/>
              <a:ext cx="2248984" cy="736408"/>
              <a:chOff x="4785771" y="3827302"/>
              <a:chExt cx="2248984" cy="736408"/>
            </a:xfrm>
          </p:grpSpPr>
          <p:sp>
            <p:nvSpPr>
              <p:cNvPr id="215" name="Text Box 52"/>
              <p:cNvSpPr txBox="1">
                <a:spLocks noChangeArrowheads="1"/>
              </p:cNvSpPr>
              <p:nvPr/>
            </p:nvSpPr>
            <p:spPr bwMode="auto">
              <a:xfrm>
                <a:off x="5449268" y="3827302"/>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dirty="0">
                    <a:latin typeface="+mn-lt"/>
                  </a:rPr>
                  <a:t>154 Mbps</a:t>
                </a:r>
                <a:endParaRPr lang="en-US" altLang="en-US" sz="2400" dirty="0">
                  <a:latin typeface="+mn-lt"/>
                </a:endParaRPr>
              </a:p>
            </p:txBody>
          </p:sp>
          <p:sp>
            <p:nvSpPr>
              <p:cNvPr id="216" name="Rectangle 215"/>
              <p:cNvSpPr/>
              <p:nvPr/>
            </p:nvSpPr>
            <p:spPr>
              <a:xfrm>
                <a:off x="4785771" y="4223523"/>
                <a:ext cx="611420"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Line 51"/>
              <p:cNvSpPr>
                <a:spLocks noChangeShapeType="1"/>
              </p:cNvSpPr>
              <p:nvPr/>
            </p:nvSpPr>
            <p:spPr bwMode="auto">
              <a:xfrm flipV="1">
                <a:off x="4828478" y="4140660"/>
                <a:ext cx="680225" cy="423048"/>
              </a:xfrm>
              <a:prstGeom prst="line">
                <a:avLst/>
              </a:prstGeom>
              <a:noFill/>
              <a:ln w="38100">
                <a:solidFill>
                  <a:srgbClr val="CC0000"/>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grpSp>
        <p:grpSp>
          <p:nvGrpSpPr>
            <p:cNvPr id="218" name="Group 217"/>
            <p:cNvGrpSpPr/>
            <p:nvPr/>
          </p:nvGrpSpPr>
          <p:grpSpPr>
            <a:xfrm>
              <a:off x="9113107" y="3496571"/>
              <a:ext cx="2130538" cy="516900"/>
              <a:chOff x="4352719" y="3567941"/>
              <a:chExt cx="2130538" cy="516900"/>
            </a:xfrm>
          </p:grpSpPr>
          <p:sp>
            <p:nvSpPr>
              <p:cNvPr id="219" name="Text Box 52"/>
              <p:cNvSpPr txBox="1">
                <a:spLocks noChangeArrowheads="1"/>
              </p:cNvSpPr>
              <p:nvPr/>
            </p:nvSpPr>
            <p:spPr bwMode="auto">
              <a:xfrm>
                <a:off x="4897770" y="3567941"/>
                <a:ext cx="15854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dirty="0">
                    <a:cs typeface="Arial" panose="020B0604020202020204" pitchFamily="34" charset="0"/>
                  </a:rPr>
                  <a:t>154 Mbps</a:t>
                </a:r>
                <a:endParaRPr lang="en-US" altLang="en-US" sz="1600" dirty="0">
                  <a:cs typeface="Arial" panose="020B0604020202020204" pitchFamily="34" charset="0"/>
                </a:endParaRPr>
              </a:p>
            </p:txBody>
          </p:sp>
          <p:sp>
            <p:nvSpPr>
              <p:cNvPr id="220" name="Rectangle 219"/>
              <p:cNvSpPr/>
              <p:nvPr/>
            </p:nvSpPr>
            <p:spPr>
              <a:xfrm>
                <a:off x="4352719" y="3822059"/>
                <a:ext cx="527164" cy="262782"/>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Line 51"/>
              <p:cNvSpPr>
                <a:spLocks noChangeShapeType="1"/>
              </p:cNvSpPr>
              <p:nvPr/>
            </p:nvSpPr>
            <p:spPr bwMode="auto">
              <a:xfrm flipV="1">
                <a:off x="4459229" y="3805441"/>
                <a:ext cx="554004" cy="237118"/>
              </a:xfrm>
              <a:prstGeom prst="line">
                <a:avLst/>
              </a:prstGeom>
              <a:noFill/>
              <a:ln w="38100">
                <a:solidFill>
                  <a:srgbClr val="CC0000"/>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grpSp>
      </p:grpSp>
      <p:grpSp>
        <p:nvGrpSpPr>
          <p:cNvPr id="222" name="Group 221"/>
          <p:cNvGrpSpPr/>
          <p:nvPr/>
        </p:nvGrpSpPr>
        <p:grpSpPr>
          <a:xfrm>
            <a:off x="4118194" y="4759893"/>
            <a:ext cx="2583033" cy="461665"/>
            <a:chOff x="4114801" y="3880785"/>
            <a:chExt cx="2583033" cy="461665"/>
          </a:xfrm>
        </p:grpSpPr>
        <p:sp>
          <p:nvSpPr>
            <p:cNvPr id="223" name="Text Box 52"/>
            <p:cNvSpPr txBox="1">
              <a:spLocks noChangeArrowheads="1"/>
            </p:cNvSpPr>
            <p:nvPr/>
          </p:nvSpPr>
          <p:spPr bwMode="auto">
            <a:xfrm>
              <a:off x="5112347" y="3880785"/>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dirty="0">
                  <a:latin typeface="+mn-lt"/>
                </a:rPr>
                <a:t>.0097</a:t>
              </a:r>
              <a:endParaRPr lang="en-US" altLang="en-US" sz="2400" dirty="0">
                <a:latin typeface="+mn-lt"/>
              </a:endParaRPr>
            </a:p>
          </p:txBody>
        </p:sp>
        <p:sp>
          <p:nvSpPr>
            <p:cNvPr id="224" name="Rectangle 223"/>
            <p:cNvSpPr/>
            <p:nvPr/>
          </p:nvSpPr>
          <p:spPr>
            <a:xfrm>
              <a:off x="4114801" y="3955100"/>
              <a:ext cx="498412"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Line 51"/>
            <p:cNvSpPr>
              <a:spLocks noChangeShapeType="1"/>
            </p:cNvSpPr>
            <p:nvPr/>
          </p:nvSpPr>
          <p:spPr bwMode="auto">
            <a:xfrm>
              <a:off x="4234070" y="4117024"/>
              <a:ext cx="936703" cy="1"/>
            </a:xfrm>
            <a:prstGeom prst="line">
              <a:avLst/>
            </a:prstGeom>
            <a:noFill/>
            <a:ln w="38100">
              <a:solidFill>
                <a:srgbClr val="CC0000"/>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grpSp>
      <p:grpSp>
        <p:nvGrpSpPr>
          <p:cNvPr id="226" name="Group 225"/>
          <p:cNvGrpSpPr/>
          <p:nvPr/>
        </p:nvGrpSpPr>
        <p:grpSpPr>
          <a:xfrm>
            <a:off x="4413584" y="5927345"/>
            <a:ext cx="3023236" cy="698306"/>
            <a:chOff x="3635854" y="3415544"/>
            <a:chExt cx="3023236" cy="698306"/>
          </a:xfrm>
        </p:grpSpPr>
        <p:sp>
          <p:nvSpPr>
            <p:cNvPr id="227" name="Text Box 52"/>
            <p:cNvSpPr txBox="1">
              <a:spLocks noChangeArrowheads="1"/>
            </p:cNvSpPr>
            <p:nvPr/>
          </p:nvSpPr>
          <p:spPr bwMode="auto">
            <a:xfrm>
              <a:off x="5555973" y="3652185"/>
              <a:ext cx="11031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dirty="0" err="1">
                  <a:latin typeface="+mn-lt"/>
                </a:rPr>
                <a:t>msecs</a:t>
              </a:r>
              <a:endParaRPr lang="en-US" altLang="en-US" sz="2400" dirty="0">
                <a:latin typeface="+mn-lt"/>
              </a:endParaRPr>
            </a:p>
          </p:txBody>
        </p:sp>
        <p:sp>
          <p:nvSpPr>
            <p:cNvPr id="228" name="Rectangle 227"/>
            <p:cNvSpPr/>
            <p:nvPr/>
          </p:nvSpPr>
          <p:spPr>
            <a:xfrm>
              <a:off x="3635854" y="3415544"/>
              <a:ext cx="962683"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Line 51"/>
            <p:cNvSpPr>
              <a:spLocks noChangeShapeType="1"/>
            </p:cNvSpPr>
            <p:nvPr/>
          </p:nvSpPr>
          <p:spPr bwMode="auto">
            <a:xfrm>
              <a:off x="3662316" y="3504654"/>
              <a:ext cx="1983056" cy="461665"/>
            </a:xfrm>
            <a:prstGeom prst="line">
              <a:avLst/>
            </a:prstGeom>
            <a:noFill/>
            <a:ln w="38100">
              <a:solidFill>
                <a:srgbClr val="CC0000"/>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grpSp>
      <p:sp>
        <p:nvSpPr>
          <p:cNvPr id="230" name="Text Box 83"/>
          <p:cNvSpPr txBox="1">
            <a:spLocks noChangeArrowheads="1"/>
          </p:cNvSpPr>
          <p:nvPr/>
        </p:nvSpPr>
        <p:spPr bwMode="auto">
          <a:xfrm>
            <a:off x="870724" y="6212256"/>
            <a:ext cx="45657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i="1" dirty="0">
                <a:solidFill>
                  <a:srgbClr val="CC0000"/>
                </a:solidFill>
                <a:latin typeface="+mn-lt"/>
              </a:rPr>
              <a:t>Cost:</a:t>
            </a:r>
            <a:r>
              <a:rPr lang="en-US" altLang="en-US" sz="2400" dirty="0">
                <a:latin typeface="+mn-lt"/>
              </a:rPr>
              <a:t> faster access link (expensive!)</a:t>
            </a:r>
            <a:endParaRPr lang="en-US" altLang="en-US" sz="2400" dirty="0">
              <a:latin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2"/>
                                        </p:tgtEl>
                                        <p:attrNameLst>
                                          <p:attrName>style.visibility</p:attrName>
                                        </p:attrNameLst>
                                      </p:cBhvr>
                                      <p:to>
                                        <p:strVal val="visible"/>
                                      </p:to>
                                    </p:set>
                                    <p:animEffect transition="in" filter="dissolve">
                                      <p:cBhvr>
                                        <p:cTn id="12" dur="500"/>
                                        <p:tgtEl>
                                          <p:spTgt spid="222"/>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226"/>
                                        </p:tgtEl>
                                        <p:attrNameLst>
                                          <p:attrName>style.visibility</p:attrName>
                                        </p:attrNameLst>
                                      </p:cBhvr>
                                      <p:to>
                                        <p:strVal val="visible"/>
                                      </p:to>
                                    </p:set>
                                    <p:animEffect transition="in" filter="dissolve">
                                      <p:cBhvr>
                                        <p:cTn id="16" dur="500"/>
                                        <p:tgtEl>
                                          <p:spTgt spid="22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230"/>
                                        </p:tgtEl>
                                        <p:attrNameLst>
                                          <p:attrName>style.visibility</p:attrName>
                                        </p:attrNameLst>
                                      </p:cBhvr>
                                      <p:to>
                                        <p:strVal val="visible"/>
                                      </p:to>
                                    </p:set>
                                    <p:animEffect transition="in" filter="dissolve">
                                      <p:cBhvr>
                                        <p:cTn id="21"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 name="Rectangle 4"/>
          <p:cNvSpPr>
            <a:spLocks noChangeArrowheads="1"/>
          </p:cNvSpPr>
          <p:nvPr/>
        </p:nvSpPr>
        <p:spPr bwMode="auto">
          <a:xfrm>
            <a:off x="855446" y="4042622"/>
            <a:ext cx="6361287" cy="2302427"/>
          </a:xfrm>
          <a:prstGeom prst="rect">
            <a:avLst/>
          </a:prstGeom>
          <a:noFill/>
          <a:ln>
            <a:noFill/>
          </a:ln>
        </p:spPr>
        <p:txBody>
          <a:bodyPr/>
          <a:lstStyle/>
          <a:p>
            <a:pPr marL="342900" indent="-342900" eaLnBrk="0" fontAlgn="base" hangingPunct="0">
              <a:lnSpc>
                <a:spcPct val="85000"/>
              </a:lnSpc>
              <a:spcBef>
                <a:spcPct val="45000"/>
              </a:spcBef>
              <a:spcAft>
                <a:spcPct val="0"/>
              </a:spcAft>
              <a:buClr>
                <a:srgbClr val="000099"/>
              </a:buClr>
              <a:buSzPct val="65000"/>
              <a:buFont typeface="Wingdings" panose="05000000000000000000" charset="0"/>
              <a:buNone/>
              <a:defRPr/>
            </a:pPr>
            <a:r>
              <a:rPr lang="en-US" sz="2400" i="1" dirty="0">
                <a:solidFill>
                  <a:srgbClr val="CC0000"/>
                </a:solidFill>
                <a:latin typeface="Calibri" panose="020F0502020204030204" pitchFamily="34" charset="0"/>
                <a:ea typeface="MS PGothic" panose="020B0600070205080204" pitchFamily="34" charset="-128"/>
                <a:cs typeface="Calibri" panose="020F0502020204030204" pitchFamily="34" charset="0"/>
              </a:rPr>
              <a:t>Performance:</a:t>
            </a:r>
            <a:endParaRPr lang="en-US" sz="2400" i="1" dirty="0">
              <a:solidFill>
                <a:srgbClr val="CC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ct val="200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LAN utilization: .</a:t>
            </a:r>
            <a:r>
              <a:rPr lang="en-US" sz="2400" dirty="0">
                <a:solidFill>
                  <a:srgbClr val="C00000"/>
                </a:solidFill>
                <a:latin typeface="Calibri" panose="020F0502020204030204" pitchFamily="34" charset="0"/>
                <a:ea typeface="MS PGothic" panose="020B0600070205080204" pitchFamily="34" charset="-128"/>
                <a:cs typeface="Calibri" panose="020F0502020204030204" pitchFamily="34" charset="0"/>
              </a:rPr>
              <a:t>?</a:t>
            </a:r>
            <a:endParaRPr lang="en-US" sz="2400" dirty="0">
              <a:solidFill>
                <a:srgbClr val="C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ct val="200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access link utilization = </a:t>
            </a:r>
            <a:r>
              <a:rPr lang="en-US" sz="2400" dirty="0">
                <a:solidFill>
                  <a:srgbClr val="C00000"/>
                </a:solidFill>
                <a:latin typeface="Calibri" panose="020F0502020204030204" pitchFamily="34" charset="0"/>
                <a:ea typeface="MS PGothic" panose="020B0600070205080204" pitchFamily="34" charset="-128"/>
                <a:cs typeface="Calibri" panose="020F0502020204030204" pitchFamily="34" charset="0"/>
              </a:rPr>
              <a:t>?</a:t>
            </a:r>
            <a:endParaRPr lang="en-US" sz="2400" dirty="0">
              <a:solidFill>
                <a:srgbClr val="C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ct val="200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average end-end delay  = </a:t>
            </a:r>
            <a:r>
              <a:rPr lang="en-US" sz="2400" dirty="0">
                <a:solidFill>
                  <a:srgbClr val="C00000"/>
                </a:solidFill>
                <a:latin typeface="Calibri" panose="020F0502020204030204" pitchFamily="34" charset="0"/>
                <a:ea typeface="MS PGothic" panose="020B0600070205080204" pitchFamily="34" charset="-128"/>
                <a:cs typeface="Calibri" panose="020F0502020204030204" pitchFamily="34" charset="0"/>
              </a:rPr>
              <a:t>?</a:t>
            </a: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 </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p:txBody>
      </p:sp>
      <p:sp>
        <p:nvSpPr>
          <p:cNvPr id="9" name="Title 1"/>
          <p:cNvSpPr>
            <a:spLocks noGrp="1"/>
          </p:cNvSpPr>
          <p:nvPr>
            <p:ph type="title"/>
          </p:nvPr>
        </p:nvSpPr>
        <p:spPr>
          <a:xfrm>
            <a:off x="798691" y="379879"/>
            <a:ext cx="10515600" cy="894622"/>
          </a:xfrm>
        </p:spPr>
        <p:txBody>
          <a:bodyPr>
            <a:normAutofit/>
          </a:bodyPr>
          <a:lstStyle/>
          <a:p>
            <a:r>
              <a:rPr lang="en-US" sz="4400" dirty="0">
                <a:ea typeface="MS PGothic" panose="020B0600070205080204" pitchFamily="34" charset="-128"/>
              </a:rPr>
              <a:t>Caching example: install a web cache</a:t>
            </a:r>
            <a:endParaRPr lang="en-US" sz="4400" dirty="0"/>
          </a:p>
        </p:txBody>
      </p:sp>
      <p:sp>
        <p:nvSpPr>
          <p:cNvPr id="3" name="Slide Number Placeholder 2"/>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fld>
            <a:endParaRPr lang="en-US" dirty="0"/>
          </a:p>
        </p:txBody>
      </p:sp>
      <p:sp>
        <p:nvSpPr>
          <p:cNvPr id="254" name="Line 2"/>
          <p:cNvSpPr>
            <a:spLocks noChangeShapeType="1"/>
          </p:cNvSpPr>
          <p:nvPr/>
        </p:nvSpPr>
        <p:spPr bwMode="auto">
          <a:xfrm>
            <a:off x="7744795" y="2487883"/>
            <a:ext cx="285750" cy="114300"/>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5" name="Text Box 50"/>
          <p:cNvSpPr txBox="1">
            <a:spLocks noChangeArrowheads="1"/>
          </p:cNvSpPr>
          <p:nvPr/>
        </p:nvSpPr>
        <p:spPr bwMode="auto">
          <a:xfrm>
            <a:off x="1017367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origin</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servers</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6" name="Line 51"/>
          <p:cNvSpPr>
            <a:spLocks noChangeShapeType="1"/>
          </p:cNvSpPr>
          <p:nvPr/>
        </p:nvSpPr>
        <p:spPr bwMode="auto">
          <a:xfrm>
            <a:off x="8554420" y="2106883"/>
            <a:ext cx="66675" cy="276225"/>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7" name="Line 52"/>
          <p:cNvSpPr>
            <a:spLocks noChangeShapeType="1"/>
          </p:cNvSpPr>
          <p:nvPr/>
        </p:nvSpPr>
        <p:spPr bwMode="auto">
          <a:xfrm flipH="1">
            <a:off x="9183070" y="2144983"/>
            <a:ext cx="9525" cy="238125"/>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8" name="Line 53"/>
          <p:cNvSpPr>
            <a:spLocks noChangeShapeType="1"/>
          </p:cNvSpPr>
          <p:nvPr/>
        </p:nvSpPr>
        <p:spPr bwMode="auto">
          <a:xfrm flipH="1">
            <a:off x="9640270" y="2306908"/>
            <a:ext cx="133350" cy="209550"/>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9" name="Line 54"/>
          <p:cNvSpPr>
            <a:spLocks noChangeShapeType="1"/>
          </p:cNvSpPr>
          <p:nvPr/>
        </p:nvSpPr>
        <p:spPr bwMode="auto">
          <a:xfrm flipH="1" flipV="1">
            <a:off x="9802195" y="3068908"/>
            <a:ext cx="247650" cy="0"/>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0" name="Freeform 55"/>
          <p:cNvSpPr/>
          <p:nvPr/>
        </p:nvSpPr>
        <p:spPr bwMode="auto">
          <a:xfrm>
            <a:off x="781940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261" name="Text Box 70"/>
          <p:cNvSpPr txBox="1">
            <a:spLocks noChangeArrowheads="1"/>
          </p:cNvSpPr>
          <p:nvPr/>
        </p:nvSpPr>
        <p:spPr bwMode="auto">
          <a:xfrm>
            <a:off x="853537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public</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 Internet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262" name="Freeform 71"/>
          <p:cNvSpPr/>
          <p:nvPr/>
        </p:nvSpPr>
        <p:spPr bwMode="auto">
          <a:xfrm>
            <a:off x="7424346" y="4514213"/>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263" name="Line 77"/>
          <p:cNvSpPr>
            <a:spLocks noChangeShapeType="1"/>
          </p:cNvSpPr>
          <p:nvPr/>
        </p:nvSpPr>
        <p:spPr bwMode="auto">
          <a:xfrm flipH="1">
            <a:off x="7859095" y="4780233"/>
            <a:ext cx="855662" cy="431800"/>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4" name="Line 78"/>
          <p:cNvSpPr>
            <a:spLocks noChangeShapeType="1"/>
          </p:cNvSpPr>
          <p:nvPr/>
        </p:nvSpPr>
        <p:spPr bwMode="auto">
          <a:xfrm flipH="1">
            <a:off x="8368682" y="4827858"/>
            <a:ext cx="563563" cy="393700"/>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5" name="Line 79"/>
          <p:cNvSpPr>
            <a:spLocks noChangeShapeType="1"/>
          </p:cNvSpPr>
          <p:nvPr/>
        </p:nvSpPr>
        <p:spPr bwMode="auto">
          <a:xfrm flipH="1">
            <a:off x="8906845" y="4834208"/>
            <a:ext cx="149225" cy="382588"/>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7" name="Line 95"/>
          <p:cNvSpPr>
            <a:spLocks noChangeShapeType="1"/>
          </p:cNvSpPr>
          <p:nvPr/>
        </p:nvSpPr>
        <p:spPr bwMode="auto">
          <a:xfrm>
            <a:off x="9068770" y="3545158"/>
            <a:ext cx="0" cy="1062038"/>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8" name="Text Box 97"/>
          <p:cNvSpPr txBox="1">
            <a:spLocks noChangeArrowheads="1"/>
          </p:cNvSpPr>
          <p:nvPr/>
        </p:nvSpPr>
        <p:spPr bwMode="auto">
          <a:xfrm>
            <a:off x="743682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institutional</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network</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269" name="Text Box 98"/>
          <p:cNvSpPr txBox="1">
            <a:spLocks noChangeArrowheads="1"/>
          </p:cNvSpPr>
          <p:nvPr/>
        </p:nvSpPr>
        <p:spPr bwMode="auto">
          <a:xfrm>
            <a:off x="944500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MS PGothic" panose="020B0600070205080204" pitchFamily="34" charset="-128"/>
            </a:endParaRPr>
          </a:p>
        </p:txBody>
      </p:sp>
      <p:sp>
        <p:nvSpPr>
          <p:cNvPr id="270" name="Text Box 99"/>
          <p:cNvSpPr txBox="1">
            <a:spLocks noChangeArrowheads="1"/>
          </p:cNvSpPr>
          <p:nvPr/>
        </p:nvSpPr>
        <p:spPr bwMode="auto">
          <a:xfrm>
            <a:off x="907035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1.54 Mbps </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MS PGothic" panose="020B0600070205080204" pitchFamily="34" charset="-128"/>
            </a:endParaRPr>
          </a:p>
        </p:txBody>
      </p:sp>
      <p:grpSp>
        <p:nvGrpSpPr>
          <p:cNvPr id="292" name="Group 139"/>
          <p:cNvGrpSpPr/>
          <p:nvPr/>
        </p:nvGrpSpPr>
        <p:grpSpPr bwMode="auto">
          <a:xfrm>
            <a:off x="7397132" y="2035446"/>
            <a:ext cx="377825" cy="576262"/>
            <a:chOff x="4140" y="429"/>
            <a:chExt cx="1425" cy="2396"/>
          </a:xfrm>
        </p:grpSpPr>
        <p:sp>
          <p:nvSpPr>
            <p:cNvPr id="293" name="Freeform 140"/>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4" name="Rectangle 141"/>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5" name="Freeform 142"/>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6" name="Freeform 143"/>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7" name="Rectangle 144"/>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98" name="Group 145"/>
            <p:cNvGrpSpPr/>
            <p:nvPr/>
          </p:nvGrpSpPr>
          <p:grpSpPr bwMode="auto">
            <a:xfrm>
              <a:off x="4749" y="668"/>
              <a:ext cx="581" cy="145"/>
              <a:chOff x="614" y="2568"/>
              <a:chExt cx="725" cy="139"/>
            </a:xfrm>
          </p:grpSpPr>
          <p:sp>
            <p:nvSpPr>
              <p:cNvPr id="323" name="AutoShape 146"/>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4" name="AutoShape 147"/>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99" name="Rectangle 148"/>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0" name="Group 149"/>
            <p:cNvGrpSpPr/>
            <p:nvPr/>
          </p:nvGrpSpPr>
          <p:grpSpPr bwMode="auto">
            <a:xfrm>
              <a:off x="4747" y="994"/>
              <a:ext cx="581" cy="134"/>
              <a:chOff x="614" y="2568"/>
              <a:chExt cx="725" cy="139"/>
            </a:xfrm>
          </p:grpSpPr>
          <p:sp>
            <p:nvSpPr>
              <p:cNvPr id="321" name="AutoShape 150"/>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2" name="AutoShape 151"/>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1" name="Rectangle 152"/>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2" name="Rectangle 153"/>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3" name="Group 154"/>
            <p:cNvGrpSpPr/>
            <p:nvPr/>
          </p:nvGrpSpPr>
          <p:grpSpPr bwMode="auto">
            <a:xfrm>
              <a:off x="4735" y="1627"/>
              <a:ext cx="582" cy="151"/>
              <a:chOff x="614" y="2568"/>
              <a:chExt cx="725" cy="139"/>
            </a:xfrm>
          </p:grpSpPr>
          <p:sp>
            <p:nvSpPr>
              <p:cNvPr id="319" name="AutoShape 155"/>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0" name="AutoShape 156"/>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4" name="Freeform 157"/>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5" name="Group 158"/>
            <p:cNvGrpSpPr/>
            <p:nvPr/>
          </p:nvGrpSpPr>
          <p:grpSpPr bwMode="auto">
            <a:xfrm>
              <a:off x="4739" y="1327"/>
              <a:ext cx="582" cy="139"/>
              <a:chOff x="614" y="2568"/>
              <a:chExt cx="725" cy="139"/>
            </a:xfrm>
          </p:grpSpPr>
          <p:sp>
            <p:nvSpPr>
              <p:cNvPr id="317" name="AutoShape 159"/>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8" name="AutoShape 160"/>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6" name="Rectangle 161"/>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7" name="Freeform 162"/>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8" name="Freeform 163"/>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9" name="Oval 164"/>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0" name="Freeform 165"/>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1" name="AutoShape 166"/>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2" name="AutoShape 167"/>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3" name="Oval 168"/>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4" name="Oval 169"/>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5" name="Oval 170"/>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6" name="Rectangle 171"/>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25" name="Group 172"/>
          <p:cNvGrpSpPr/>
          <p:nvPr/>
        </p:nvGrpSpPr>
        <p:grpSpPr bwMode="auto">
          <a:xfrm>
            <a:off x="7546357" y="5148533"/>
            <a:ext cx="525463" cy="557213"/>
            <a:chOff x="-44" y="1473"/>
            <a:chExt cx="981" cy="1105"/>
          </a:xfrm>
        </p:grpSpPr>
        <p:pic>
          <p:nvPicPr>
            <p:cNvPr id="326" name="Picture 173"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28" name="Group 175"/>
          <p:cNvGrpSpPr/>
          <p:nvPr/>
        </p:nvGrpSpPr>
        <p:grpSpPr bwMode="auto">
          <a:xfrm>
            <a:off x="8311532" y="1557608"/>
            <a:ext cx="377825" cy="576263"/>
            <a:chOff x="4140" y="429"/>
            <a:chExt cx="1425" cy="2396"/>
          </a:xfrm>
        </p:grpSpPr>
        <p:sp>
          <p:nvSpPr>
            <p:cNvPr id="329" name="Freeform 176"/>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0" name="Rectangle 177"/>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1" name="Freeform 178"/>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2" name="Freeform 179"/>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3" name="Rectangle 180"/>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4" name="Group 181"/>
            <p:cNvGrpSpPr/>
            <p:nvPr/>
          </p:nvGrpSpPr>
          <p:grpSpPr bwMode="auto">
            <a:xfrm>
              <a:off x="4749" y="668"/>
              <a:ext cx="581" cy="145"/>
              <a:chOff x="614" y="2568"/>
              <a:chExt cx="725" cy="139"/>
            </a:xfrm>
          </p:grpSpPr>
          <p:sp>
            <p:nvSpPr>
              <p:cNvPr id="359" name="AutoShape 182"/>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0" name="AutoShape 183"/>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35" name="Rectangle 184"/>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6" name="Group 185"/>
            <p:cNvGrpSpPr/>
            <p:nvPr/>
          </p:nvGrpSpPr>
          <p:grpSpPr bwMode="auto">
            <a:xfrm>
              <a:off x="4747" y="994"/>
              <a:ext cx="581" cy="134"/>
              <a:chOff x="614" y="2568"/>
              <a:chExt cx="725" cy="139"/>
            </a:xfrm>
          </p:grpSpPr>
          <p:sp>
            <p:nvSpPr>
              <p:cNvPr id="357" name="AutoShape 186"/>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8" name="AutoShape 187"/>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37" name="Rectangle 188"/>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8" name="Rectangle 189"/>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9" name="Group 190"/>
            <p:cNvGrpSpPr/>
            <p:nvPr/>
          </p:nvGrpSpPr>
          <p:grpSpPr bwMode="auto">
            <a:xfrm>
              <a:off x="4735" y="1627"/>
              <a:ext cx="582" cy="151"/>
              <a:chOff x="614" y="2568"/>
              <a:chExt cx="725" cy="139"/>
            </a:xfrm>
          </p:grpSpPr>
          <p:sp>
            <p:nvSpPr>
              <p:cNvPr id="355" name="AutoShape 191"/>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6" name="AutoShape 192"/>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40" name="Freeform 193"/>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41" name="Group 194"/>
            <p:cNvGrpSpPr/>
            <p:nvPr/>
          </p:nvGrpSpPr>
          <p:grpSpPr bwMode="auto">
            <a:xfrm>
              <a:off x="4739" y="1327"/>
              <a:ext cx="582" cy="139"/>
              <a:chOff x="614" y="2568"/>
              <a:chExt cx="725" cy="139"/>
            </a:xfrm>
          </p:grpSpPr>
          <p:sp>
            <p:nvSpPr>
              <p:cNvPr id="353" name="AutoShape 195"/>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4" name="AutoShape 196"/>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42" name="Rectangle 197"/>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3" name="Freeform 198"/>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4" name="Freeform 199"/>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5" name="Oval 200"/>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6" name="Freeform 201"/>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7" name="AutoShape 202"/>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8" name="AutoShape 203"/>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9" name="Oval 204"/>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0" name="Oval 205"/>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Oval 206"/>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2" name="Rectangle 207"/>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61" name="Group 208"/>
          <p:cNvGrpSpPr/>
          <p:nvPr/>
        </p:nvGrpSpPr>
        <p:grpSpPr bwMode="auto">
          <a:xfrm>
            <a:off x="9064007" y="1589358"/>
            <a:ext cx="377825" cy="576263"/>
            <a:chOff x="4140" y="429"/>
            <a:chExt cx="1425" cy="2396"/>
          </a:xfrm>
        </p:grpSpPr>
        <p:sp>
          <p:nvSpPr>
            <p:cNvPr id="362" name="Freeform 209"/>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3" name="Rectangle 210"/>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4" name="Freeform 211"/>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5" name="Freeform 212"/>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6" name="Rectangle 213"/>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67" name="Group 214"/>
            <p:cNvGrpSpPr/>
            <p:nvPr/>
          </p:nvGrpSpPr>
          <p:grpSpPr bwMode="auto">
            <a:xfrm>
              <a:off x="4749" y="668"/>
              <a:ext cx="581" cy="145"/>
              <a:chOff x="614" y="2568"/>
              <a:chExt cx="725" cy="139"/>
            </a:xfrm>
          </p:grpSpPr>
          <p:sp>
            <p:nvSpPr>
              <p:cNvPr id="392" name="AutoShape 215"/>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3" name="AutoShape 216"/>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68" name="Rectangle 217"/>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69" name="Group 218"/>
            <p:cNvGrpSpPr/>
            <p:nvPr/>
          </p:nvGrpSpPr>
          <p:grpSpPr bwMode="auto">
            <a:xfrm>
              <a:off x="4747" y="994"/>
              <a:ext cx="581" cy="134"/>
              <a:chOff x="614" y="2568"/>
              <a:chExt cx="725" cy="139"/>
            </a:xfrm>
          </p:grpSpPr>
          <p:sp>
            <p:nvSpPr>
              <p:cNvPr id="390" name="AutoShape 219"/>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1" name="AutoShape 220"/>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0" name="Rectangle 221"/>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1" name="Rectangle 222"/>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72" name="Group 223"/>
            <p:cNvGrpSpPr/>
            <p:nvPr/>
          </p:nvGrpSpPr>
          <p:grpSpPr bwMode="auto">
            <a:xfrm>
              <a:off x="4735" y="1627"/>
              <a:ext cx="582" cy="151"/>
              <a:chOff x="614" y="2568"/>
              <a:chExt cx="725" cy="139"/>
            </a:xfrm>
          </p:grpSpPr>
          <p:sp>
            <p:nvSpPr>
              <p:cNvPr id="388" name="AutoShape 224"/>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9" name="AutoShape 225"/>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3" name="Freeform 226"/>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74" name="Group 227"/>
            <p:cNvGrpSpPr/>
            <p:nvPr/>
          </p:nvGrpSpPr>
          <p:grpSpPr bwMode="auto">
            <a:xfrm>
              <a:off x="4739" y="1327"/>
              <a:ext cx="582" cy="139"/>
              <a:chOff x="614" y="2568"/>
              <a:chExt cx="725" cy="139"/>
            </a:xfrm>
          </p:grpSpPr>
          <p:sp>
            <p:nvSpPr>
              <p:cNvPr id="386" name="AutoShape 228"/>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7" name="AutoShape 229"/>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5" name="Rectangle 230"/>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6" name="Freeform 231"/>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7" name="Freeform 232"/>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8" name="Oval 233"/>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9" name="Freeform 234"/>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0" name="AutoShape 235"/>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1" name="AutoShape 236"/>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2" name="Oval 237"/>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3" name="Oval 238"/>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Oval 239"/>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5" name="Rectangle 240"/>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94" name="Group 241"/>
          <p:cNvGrpSpPr/>
          <p:nvPr/>
        </p:nvGrpSpPr>
        <p:grpSpPr bwMode="auto">
          <a:xfrm>
            <a:off x="9673607" y="1741758"/>
            <a:ext cx="377825" cy="576263"/>
            <a:chOff x="4140" y="429"/>
            <a:chExt cx="1425" cy="2396"/>
          </a:xfrm>
        </p:grpSpPr>
        <p:sp>
          <p:nvSpPr>
            <p:cNvPr id="395" name="Freeform 242"/>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6" name="Rectangle 243"/>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7" name="Freeform 244"/>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8" name="Freeform 245"/>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9" name="Rectangle 246"/>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0" name="Group 247"/>
            <p:cNvGrpSpPr/>
            <p:nvPr/>
          </p:nvGrpSpPr>
          <p:grpSpPr bwMode="auto">
            <a:xfrm>
              <a:off x="4749" y="668"/>
              <a:ext cx="581" cy="145"/>
              <a:chOff x="614" y="2568"/>
              <a:chExt cx="725" cy="139"/>
            </a:xfrm>
          </p:grpSpPr>
          <p:sp>
            <p:nvSpPr>
              <p:cNvPr id="425" name="AutoShape 248"/>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6" name="AutoShape 249"/>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1" name="Rectangle 250"/>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2" name="Group 251"/>
            <p:cNvGrpSpPr/>
            <p:nvPr/>
          </p:nvGrpSpPr>
          <p:grpSpPr bwMode="auto">
            <a:xfrm>
              <a:off x="4747" y="994"/>
              <a:ext cx="581" cy="134"/>
              <a:chOff x="614" y="2568"/>
              <a:chExt cx="725" cy="139"/>
            </a:xfrm>
          </p:grpSpPr>
          <p:sp>
            <p:nvSpPr>
              <p:cNvPr id="423" name="AutoShape 252"/>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4" name="AutoShape 253"/>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3" name="Rectangle 254"/>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04" name="Rectangle 255"/>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5" name="Group 256"/>
            <p:cNvGrpSpPr/>
            <p:nvPr/>
          </p:nvGrpSpPr>
          <p:grpSpPr bwMode="auto">
            <a:xfrm>
              <a:off x="4735" y="1627"/>
              <a:ext cx="582" cy="151"/>
              <a:chOff x="614" y="2568"/>
              <a:chExt cx="725" cy="139"/>
            </a:xfrm>
          </p:grpSpPr>
          <p:sp>
            <p:nvSpPr>
              <p:cNvPr id="421" name="AutoShape 257"/>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2" name="AutoShape 258"/>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6" name="Freeform 259"/>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7" name="Group 260"/>
            <p:cNvGrpSpPr/>
            <p:nvPr/>
          </p:nvGrpSpPr>
          <p:grpSpPr bwMode="auto">
            <a:xfrm>
              <a:off x="4739" y="1327"/>
              <a:ext cx="582" cy="139"/>
              <a:chOff x="614" y="2568"/>
              <a:chExt cx="725" cy="139"/>
            </a:xfrm>
          </p:grpSpPr>
          <p:sp>
            <p:nvSpPr>
              <p:cNvPr id="419" name="AutoShape 261"/>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0" name="AutoShape 262"/>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8" name="Rectangle 263"/>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09" name="Freeform 264"/>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0" name="Freeform 265"/>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1" name="Oval 266"/>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2" name="Freeform 267"/>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3" name="AutoShape 268"/>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4" name="AutoShape 269"/>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5" name="Oval 270"/>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6" name="Oval 271"/>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7" name="Oval 272"/>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8" name="Rectangle 273"/>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27" name="Group 274"/>
          <p:cNvGrpSpPr/>
          <p:nvPr/>
        </p:nvGrpSpPr>
        <p:grpSpPr bwMode="auto">
          <a:xfrm>
            <a:off x="10002220" y="2687908"/>
            <a:ext cx="377825" cy="576263"/>
            <a:chOff x="4140" y="429"/>
            <a:chExt cx="1425" cy="2396"/>
          </a:xfrm>
        </p:grpSpPr>
        <p:sp>
          <p:nvSpPr>
            <p:cNvPr id="428" name="Freeform 275"/>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9" name="Rectangle 276"/>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0" name="Freeform 277"/>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1" name="Freeform 278"/>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2" name="Rectangle 279"/>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33" name="Group 280"/>
            <p:cNvGrpSpPr/>
            <p:nvPr/>
          </p:nvGrpSpPr>
          <p:grpSpPr bwMode="auto">
            <a:xfrm>
              <a:off x="4749" y="668"/>
              <a:ext cx="581" cy="145"/>
              <a:chOff x="614" y="2568"/>
              <a:chExt cx="725" cy="139"/>
            </a:xfrm>
          </p:grpSpPr>
          <p:sp>
            <p:nvSpPr>
              <p:cNvPr id="458" name="AutoShape 281"/>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9" name="AutoShape 282"/>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34" name="Rectangle 283"/>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35" name="Group 284"/>
            <p:cNvGrpSpPr/>
            <p:nvPr/>
          </p:nvGrpSpPr>
          <p:grpSpPr bwMode="auto">
            <a:xfrm>
              <a:off x="4747" y="994"/>
              <a:ext cx="581" cy="134"/>
              <a:chOff x="614" y="2568"/>
              <a:chExt cx="725" cy="139"/>
            </a:xfrm>
          </p:grpSpPr>
          <p:sp>
            <p:nvSpPr>
              <p:cNvPr id="456" name="AutoShape 285"/>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7" name="AutoShape 286"/>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36" name="Rectangle 287"/>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7" name="Rectangle 288"/>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38" name="Group 289"/>
            <p:cNvGrpSpPr/>
            <p:nvPr/>
          </p:nvGrpSpPr>
          <p:grpSpPr bwMode="auto">
            <a:xfrm>
              <a:off x="4735" y="1627"/>
              <a:ext cx="582" cy="151"/>
              <a:chOff x="614" y="2568"/>
              <a:chExt cx="725" cy="139"/>
            </a:xfrm>
          </p:grpSpPr>
          <p:sp>
            <p:nvSpPr>
              <p:cNvPr id="454" name="AutoShape 290"/>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5" name="AutoShape 291"/>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39" name="Freeform 292"/>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40" name="Group 293"/>
            <p:cNvGrpSpPr/>
            <p:nvPr/>
          </p:nvGrpSpPr>
          <p:grpSpPr bwMode="auto">
            <a:xfrm>
              <a:off x="4739" y="1327"/>
              <a:ext cx="582" cy="139"/>
              <a:chOff x="614" y="2568"/>
              <a:chExt cx="725" cy="139"/>
            </a:xfrm>
          </p:grpSpPr>
          <p:sp>
            <p:nvSpPr>
              <p:cNvPr id="452" name="AutoShape 294"/>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3" name="AutoShape 295"/>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41" name="Rectangle 296"/>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2" name="Freeform 297"/>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3" name="Freeform 298"/>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4" name="Oval 299"/>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5" name="Freeform 300"/>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6" name="AutoShape 301"/>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7" name="AutoShape 302"/>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8" name="Oval 303"/>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9" name="Oval 304"/>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Oval 305"/>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1" name="Rectangle 306"/>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93" name="Group 340"/>
          <p:cNvGrpSpPr/>
          <p:nvPr/>
        </p:nvGrpSpPr>
        <p:grpSpPr bwMode="auto">
          <a:xfrm>
            <a:off x="8057532" y="5170758"/>
            <a:ext cx="525463" cy="557213"/>
            <a:chOff x="-44" y="1473"/>
            <a:chExt cx="981" cy="1105"/>
          </a:xfrm>
        </p:grpSpPr>
        <p:pic>
          <p:nvPicPr>
            <p:cNvPr id="494" name="Picture 341"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96" name="Group 343"/>
          <p:cNvGrpSpPr/>
          <p:nvPr/>
        </p:nvGrpSpPr>
        <p:grpSpPr bwMode="auto">
          <a:xfrm>
            <a:off x="8581407" y="5159646"/>
            <a:ext cx="525463" cy="557212"/>
            <a:chOff x="-44" y="1473"/>
            <a:chExt cx="981" cy="1105"/>
          </a:xfrm>
        </p:grpSpPr>
        <p:pic>
          <p:nvPicPr>
            <p:cNvPr id="497" name="Picture 344"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521" name="Group 520"/>
          <p:cNvGrpSpPr/>
          <p:nvPr/>
        </p:nvGrpSpPr>
        <p:grpSpPr>
          <a:xfrm>
            <a:off x="8650253" y="3095664"/>
            <a:ext cx="889089" cy="466491"/>
            <a:chOff x="7493876" y="2774731"/>
            <a:chExt cx="1481958" cy="894622"/>
          </a:xfrm>
        </p:grpSpPr>
        <p:sp>
          <p:nvSpPr>
            <p:cNvPr id="522" name="Freeform 521"/>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23" name="Oval 522"/>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24" name="Group 523"/>
            <p:cNvGrpSpPr/>
            <p:nvPr/>
          </p:nvGrpSpPr>
          <p:grpSpPr>
            <a:xfrm>
              <a:off x="7713663" y="2848339"/>
              <a:ext cx="1042107" cy="425543"/>
              <a:chOff x="7786941" y="2884917"/>
              <a:chExt cx="897649" cy="353919"/>
            </a:xfrm>
          </p:grpSpPr>
          <p:sp>
            <p:nvSpPr>
              <p:cNvPr id="525" name="Freeform 524"/>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Freeform 527"/>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30" name="Rectangle 4"/>
          <p:cNvSpPr>
            <a:spLocks noChangeArrowheads="1"/>
          </p:cNvSpPr>
          <p:nvPr/>
        </p:nvSpPr>
        <p:spPr bwMode="auto">
          <a:xfrm>
            <a:off x="870724" y="1362307"/>
            <a:ext cx="6123957" cy="2519263"/>
          </a:xfrm>
          <a:prstGeom prst="rect">
            <a:avLst/>
          </a:prstGeom>
          <a:noFill/>
          <a:ln>
            <a:noFill/>
          </a:ln>
        </p:spPr>
        <p:txBody>
          <a:bodyPr/>
          <a:lstStyle/>
          <a:p>
            <a:pPr marL="342900" indent="-342900" eaLnBrk="0" fontAlgn="base" hangingPunct="0">
              <a:lnSpc>
                <a:spcPct val="85000"/>
              </a:lnSpc>
              <a:spcBef>
                <a:spcPct val="20000"/>
              </a:spcBef>
              <a:spcAft>
                <a:spcPct val="0"/>
              </a:spcAft>
              <a:buClr>
                <a:srgbClr val="000099"/>
              </a:buClr>
              <a:buSzPct val="65000"/>
              <a:buFont typeface="Wingdings" panose="05000000000000000000" charset="0"/>
              <a:buNone/>
              <a:defRPr/>
            </a:pPr>
            <a:r>
              <a:rPr lang="en-US" sz="2800" i="1" dirty="0">
                <a:solidFill>
                  <a:srgbClr val="CC0000"/>
                </a:solidFill>
                <a:latin typeface="Calibri" panose="020F0502020204030204" pitchFamily="34" charset="0"/>
                <a:ea typeface="MS PGothic" panose="020B0600070205080204" pitchFamily="34" charset="-128"/>
                <a:cs typeface="Calibri" panose="020F0502020204030204" pitchFamily="34" charset="0"/>
              </a:rPr>
              <a:t>Scenario:</a:t>
            </a:r>
            <a:endParaRPr lang="en-US" sz="2800" i="1" dirty="0">
              <a:solidFill>
                <a:srgbClr val="CC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access link rate: 1.54 Mbps</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RTT from institutional router to server: 2 sec</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Web object size: 100K bits</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342900"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Avg request rate from browsers to origin servers: 15/sec</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a:p>
            <a:pPr marL="800100" lvl="1" indent="-342900" eaLnBrk="0" fontAlgn="base" hangingPunct="0">
              <a:lnSpc>
                <a:spcPct val="85000"/>
              </a:lnSpc>
              <a:spcBef>
                <a:spcPts val="400"/>
              </a:spcBef>
              <a:spcAft>
                <a:spcPct val="0"/>
              </a:spcAft>
              <a:buClr>
                <a:srgbClr val="000099"/>
              </a:buClr>
              <a:buSzPct val="100000"/>
              <a:buFont typeface="Wingdings" panose="05000000000000000000" pitchFamily="2" charset="2"/>
              <a:buChar char="§"/>
              <a:defRPr/>
            </a:pPr>
            <a:r>
              <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rPr>
              <a:t>avg data rate to browsers: 1.50 Mbps</a:t>
            </a:r>
            <a:endParaRPr lang="en-US" sz="2400" dirty="0">
              <a:solidFill>
                <a:srgbClr val="000000"/>
              </a:solidFill>
              <a:latin typeface="Calibri" panose="020F0502020204030204" pitchFamily="34" charset="0"/>
              <a:ea typeface="MS PGothic" panose="020B0600070205080204" pitchFamily="34" charset="-128"/>
              <a:cs typeface="Calibri" panose="020F0502020204030204" pitchFamily="34" charset="0"/>
            </a:endParaRPr>
          </a:p>
        </p:txBody>
      </p:sp>
      <p:grpSp>
        <p:nvGrpSpPr>
          <p:cNvPr id="502" name="Group 501"/>
          <p:cNvGrpSpPr/>
          <p:nvPr/>
        </p:nvGrpSpPr>
        <p:grpSpPr>
          <a:xfrm>
            <a:off x="8628916" y="4437217"/>
            <a:ext cx="889089" cy="466491"/>
            <a:chOff x="7493876" y="2774731"/>
            <a:chExt cx="1481958" cy="894622"/>
          </a:xfrm>
        </p:grpSpPr>
        <p:sp>
          <p:nvSpPr>
            <p:cNvPr id="511" name="Freeform 510"/>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12" name="Oval 511"/>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13" name="Group 512"/>
            <p:cNvGrpSpPr/>
            <p:nvPr/>
          </p:nvGrpSpPr>
          <p:grpSpPr>
            <a:xfrm>
              <a:off x="7713663" y="2848339"/>
              <a:ext cx="1042107" cy="425543"/>
              <a:chOff x="7786941" y="2884917"/>
              <a:chExt cx="897649" cy="353919"/>
            </a:xfrm>
          </p:grpSpPr>
          <p:sp>
            <p:nvSpPr>
              <p:cNvPr id="514" name="Freeform 513"/>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Freeform 514"/>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Freeform 515"/>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Freeform 516"/>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 name="Group 7"/>
          <p:cNvGrpSpPr/>
          <p:nvPr/>
        </p:nvGrpSpPr>
        <p:grpSpPr>
          <a:xfrm>
            <a:off x="9001301" y="4807753"/>
            <a:ext cx="811212" cy="1033463"/>
            <a:chOff x="9001301" y="5550914"/>
            <a:chExt cx="811212" cy="1033463"/>
          </a:xfrm>
        </p:grpSpPr>
        <p:sp>
          <p:nvSpPr>
            <p:cNvPr id="5" name="Oval 4"/>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p:cNvGrpSpPr/>
            <p:nvPr/>
          </p:nvGrpSpPr>
          <p:grpSpPr>
            <a:xfrm>
              <a:off x="9256094" y="5631762"/>
              <a:ext cx="377825" cy="800176"/>
              <a:chOff x="10907888" y="5189290"/>
              <a:chExt cx="377825" cy="800176"/>
            </a:xfrm>
          </p:grpSpPr>
          <p:sp>
            <p:nvSpPr>
              <p:cNvPr id="266" name="Line 80"/>
              <p:cNvSpPr>
                <a:spLocks noChangeShapeType="1"/>
              </p:cNvSpPr>
              <p:nvPr/>
            </p:nvSpPr>
            <p:spPr bwMode="auto">
              <a:xfrm>
                <a:off x="10966625" y="5189290"/>
                <a:ext cx="76200" cy="322262"/>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60" name="Group 307"/>
              <p:cNvGrpSpPr/>
              <p:nvPr/>
            </p:nvGrpSpPr>
            <p:grpSpPr bwMode="auto">
              <a:xfrm>
                <a:off x="10907888" y="5413204"/>
                <a:ext cx="377825" cy="576262"/>
                <a:chOff x="4140" y="429"/>
                <a:chExt cx="1425" cy="2396"/>
              </a:xfrm>
            </p:grpSpPr>
            <p:sp>
              <p:nvSpPr>
                <p:cNvPr id="461" name="Freeform 308"/>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62" name="Rectangle 309"/>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63" name="Freeform 310"/>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64" name="Freeform 311"/>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65" name="Rectangle 312"/>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66" name="Group 313"/>
                <p:cNvGrpSpPr/>
                <p:nvPr/>
              </p:nvGrpSpPr>
              <p:grpSpPr bwMode="auto">
                <a:xfrm>
                  <a:off x="4749" y="668"/>
                  <a:ext cx="581" cy="145"/>
                  <a:chOff x="614" y="2568"/>
                  <a:chExt cx="725" cy="139"/>
                </a:xfrm>
              </p:grpSpPr>
              <p:sp>
                <p:nvSpPr>
                  <p:cNvPr id="491" name="AutoShape 314"/>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92" name="AutoShape 315"/>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67" name="Rectangle 316"/>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68" name="Group 317"/>
                <p:cNvGrpSpPr/>
                <p:nvPr/>
              </p:nvGrpSpPr>
              <p:grpSpPr bwMode="auto">
                <a:xfrm>
                  <a:off x="4747" y="994"/>
                  <a:ext cx="581" cy="134"/>
                  <a:chOff x="614" y="2568"/>
                  <a:chExt cx="725" cy="139"/>
                </a:xfrm>
              </p:grpSpPr>
              <p:sp>
                <p:nvSpPr>
                  <p:cNvPr id="489" name="AutoShape 318"/>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90" name="AutoShape 319"/>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69" name="Rectangle 320"/>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0" name="Rectangle 321"/>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71" name="Group 322"/>
                <p:cNvGrpSpPr/>
                <p:nvPr/>
              </p:nvGrpSpPr>
              <p:grpSpPr bwMode="auto">
                <a:xfrm>
                  <a:off x="4735" y="1627"/>
                  <a:ext cx="582" cy="151"/>
                  <a:chOff x="614" y="2568"/>
                  <a:chExt cx="725" cy="139"/>
                </a:xfrm>
              </p:grpSpPr>
              <p:sp>
                <p:nvSpPr>
                  <p:cNvPr id="487" name="AutoShape 323"/>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8" name="AutoShape 324"/>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72" name="Freeform 325"/>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73" name="Group 326"/>
                <p:cNvGrpSpPr/>
                <p:nvPr/>
              </p:nvGrpSpPr>
              <p:grpSpPr bwMode="auto">
                <a:xfrm>
                  <a:off x="4739" y="1327"/>
                  <a:ext cx="582" cy="139"/>
                  <a:chOff x="614" y="2568"/>
                  <a:chExt cx="725" cy="139"/>
                </a:xfrm>
              </p:grpSpPr>
              <p:sp>
                <p:nvSpPr>
                  <p:cNvPr id="485" name="AutoShape 327"/>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6" name="AutoShape 328"/>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74" name="Rectangle 329"/>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5" name="Freeform 330"/>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6" name="Freeform 331"/>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7" name="Oval 332"/>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8" name="Freeform 333"/>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9" name="AutoShape 334"/>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0" name="AutoShape 335"/>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1" name="Oval 336"/>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2" name="Oval 337"/>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3" name="Oval 338"/>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4" name="Rectangle 339"/>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grpSp>
      <p:sp>
        <p:nvSpPr>
          <p:cNvPr id="281" name="Text Box 76"/>
          <p:cNvSpPr txBox="1">
            <a:spLocks noChangeArrowheads="1"/>
          </p:cNvSpPr>
          <p:nvPr/>
        </p:nvSpPr>
        <p:spPr bwMode="auto">
          <a:xfrm>
            <a:off x="4415950" y="4554227"/>
            <a:ext cx="281846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lnSpc>
                <a:spcPct val="80000"/>
              </a:lnSpc>
              <a:spcBef>
                <a:spcPct val="0"/>
              </a:spcBef>
            </a:pPr>
            <a:r>
              <a:rPr lang="en-US" altLang="en-US" sz="2400" i="1" dirty="0">
                <a:solidFill>
                  <a:srgbClr val="CC0000"/>
                </a:solidFill>
                <a:latin typeface="+mn-lt"/>
              </a:rPr>
              <a:t>How to compute link </a:t>
            </a:r>
            <a:endParaRPr lang="en-US" altLang="en-US" sz="2400" i="1" dirty="0">
              <a:solidFill>
                <a:srgbClr val="CC0000"/>
              </a:solidFill>
              <a:latin typeface="+mn-lt"/>
            </a:endParaRPr>
          </a:p>
          <a:p>
            <a:pPr algn="ctr">
              <a:lnSpc>
                <a:spcPct val="80000"/>
              </a:lnSpc>
              <a:spcBef>
                <a:spcPct val="0"/>
              </a:spcBef>
            </a:pPr>
            <a:r>
              <a:rPr lang="en-US" altLang="en-US" sz="2400" i="1" dirty="0">
                <a:solidFill>
                  <a:srgbClr val="CC0000"/>
                </a:solidFill>
                <a:latin typeface="+mn-lt"/>
              </a:rPr>
              <a:t>utilization, delay?</a:t>
            </a:r>
            <a:endParaRPr lang="en-US" altLang="en-US" sz="2400" i="1" dirty="0">
              <a:solidFill>
                <a:srgbClr val="CC0000"/>
              </a:solidFill>
              <a:latin typeface="+mn-lt"/>
            </a:endParaRPr>
          </a:p>
        </p:txBody>
      </p:sp>
      <p:sp>
        <p:nvSpPr>
          <p:cNvPr id="282" name="Text Box 83"/>
          <p:cNvSpPr txBox="1">
            <a:spLocks noChangeArrowheads="1"/>
          </p:cNvSpPr>
          <p:nvPr/>
        </p:nvSpPr>
        <p:spPr bwMode="auto">
          <a:xfrm>
            <a:off x="870724" y="5712506"/>
            <a:ext cx="33066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i="1" dirty="0">
                <a:solidFill>
                  <a:srgbClr val="CC0000"/>
                </a:solidFill>
                <a:latin typeface="+mn-lt"/>
              </a:rPr>
              <a:t>Cost:</a:t>
            </a:r>
            <a:r>
              <a:rPr lang="en-US" altLang="en-US" sz="2400" dirty="0">
                <a:latin typeface="+mn-lt"/>
              </a:rPr>
              <a:t> web cache (cheap!)</a:t>
            </a:r>
            <a:endParaRPr lang="en-US" altLang="en-US" sz="2400" dirty="0">
              <a:latin typeface="+mn-lt"/>
            </a:endParaRPr>
          </a:p>
        </p:txBody>
      </p:sp>
      <p:sp>
        <p:nvSpPr>
          <p:cNvPr id="251" name="Text Box 98"/>
          <p:cNvSpPr txBox="1">
            <a:spLocks noChangeArrowheads="1"/>
          </p:cNvSpPr>
          <p:nvPr/>
        </p:nvSpPr>
        <p:spPr bwMode="auto">
          <a:xfrm>
            <a:off x="910512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MS PGothic" panose="020B0600070205080204" pitchFamily="34" charset="-128"/>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MS PGothic" panose="020B0600070205080204" pitchFamily="34" charset="-128"/>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dissolve">
                                      <p:cBhvr>
                                        <p:cTn id="10" dur="500"/>
                                        <p:tgtEl>
                                          <p:spTgt spid="25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dissolve">
                                      <p:cBhvr>
                                        <p:cTn id="15" dur="500"/>
                                        <p:tgtEl>
                                          <p:spTgt spid="28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81">
                                            <p:txEl>
                                              <p:pRg st="0" end="0"/>
                                            </p:txEl>
                                          </p:spTgt>
                                        </p:tgtEl>
                                        <p:attrNameLst>
                                          <p:attrName>style.visibility</p:attrName>
                                        </p:attrNameLst>
                                      </p:cBhvr>
                                      <p:to>
                                        <p:strVal val="visible"/>
                                      </p:to>
                                    </p:set>
                                    <p:animEffect transition="in" filter="dissolve">
                                      <p:cBhvr>
                                        <p:cTn id="20" dur="500"/>
                                        <p:tgtEl>
                                          <p:spTgt spid="281">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281">
                                            <p:txEl>
                                              <p:pRg st="1" end="1"/>
                                            </p:txEl>
                                          </p:spTgt>
                                        </p:tgtEl>
                                        <p:attrNameLst>
                                          <p:attrName>style.visibility</p:attrName>
                                        </p:attrNameLst>
                                      </p:cBhvr>
                                      <p:to>
                                        <p:strVal val="visible"/>
                                      </p:to>
                                    </p:set>
                                    <p:animEffect transition="in" filter="dissolve">
                                      <p:cBhvr>
                                        <p:cTn id="23" dur="500"/>
                                        <p:tgtEl>
                                          <p:spTgt spid="28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2" grpId="0"/>
      <p:bldP spid="251"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sz="4400" dirty="0">
                <a:ea typeface="MS PGothic" panose="020B0600070205080204" pitchFamily="34" charset="-128"/>
              </a:rPr>
              <a:t>Caching example: install a web cache</a:t>
            </a:r>
            <a:endParaRPr lang="en-US" sz="4400" dirty="0"/>
          </a:p>
        </p:txBody>
      </p:sp>
      <p:sp>
        <p:nvSpPr>
          <p:cNvPr id="3" name="Slide Number Placeholder 2"/>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fld>
            <a:endParaRPr lang="en-US" dirty="0"/>
          </a:p>
        </p:txBody>
      </p:sp>
      <p:sp>
        <p:nvSpPr>
          <p:cNvPr id="254" name="Line 2"/>
          <p:cNvSpPr>
            <a:spLocks noChangeShapeType="1"/>
          </p:cNvSpPr>
          <p:nvPr/>
        </p:nvSpPr>
        <p:spPr bwMode="auto">
          <a:xfrm>
            <a:off x="7744795" y="2487883"/>
            <a:ext cx="285750" cy="114300"/>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5" name="Text Box 50"/>
          <p:cNvSpPr txBox="1">
            <a:spLocks noChangeArrowheads="1"/>
          </p:cNvSpPr>
          <p:nvPr/>
        </p:nvSpPr>
        <p:spPr bwMode="auto">
          <a:xfrm>
            <a:off x="1017367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origin</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servers</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6" name="Line 51"/>
          <p:cNvSpPr>
            <a:spLocks noChangeShapeType="1"/>
          </p:cNvSpPr>
          <p:nvPr/>
        </p:nvSpPr>
        <p:spPr bwMode="auto">
          <a:xfrm>
            <a:off x="8554420" y="2106883"/>
            <a:ext cx="66675" cy="276225"/>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7" name="Line 52"/>
          <p:cNvSpPr>
            <a:spLocks noChangeShapeType="1"/>
          </p:cNvSpPr>
          <p:nvPr/>
        </p:nvSpPr>
        <p:spPr bwMode="auto">
          <a:xfrm flipH="1">
            <a:off x="9183070" y="2144983"/>
            <a:ext cx="9525" cy="238125"/>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8" name="Line 53"/>
          <p:cNvSpPr>
            <a:spLocks noChangeShapeType="1"/>
          </p:cNvSpPr>
          <p:nvPr/>
        </p:nvSpPr>
        <p:spPr bwMode="auto">
          <a:xfrm flipH="1">
            <a:off x="9640270" y="2306908"/>
            <a:ext cx="133350" cy="209550"/>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9" name="Line 54"/>
          <p:cNvSpPr>
            <a:spLocks noChangeShapeType="1"/>
          </p:cNvSpPr>
          <p:nvPr/>
        </p:nvSpPr>
        <p:spPr bwMode="auto">
          <a:xfrm flipH="1" flipV="1">
            <a:off x="9802195" y="3068908"/>
            <a:ext cx="247650" cy="0"/>
          </a:xfrm>
          <a:prstGeom prst="line">
            <a:avLst/>
          </a:prstGeom>
          <a:noFill/>
          <a:ln w="28575">
            <a:solidFill>
              <a:srgbClr val="3333CC"/>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0" name="Freeform 55"/>
          <p:cNvSpPr/>
          <p:nvPr/>
        </p:nvSpPr>
        <p:spPr bwMode="auto">
          <a:xfrm>
            <a:off x="781940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261" name="Text Box 70"/>
          <p:cNvSpPr txBox="1">
            <a:spLocks noChangeArrowheads="1"/>
          </p:cNvSpPr>
          <p:nvPr/>
        </p:nvSpPr>
        <p:spPr bwMode="auto">
          <a:xfrm>
            <a:off x="853537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public</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 Internet</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262" name="Freeform 71"/>
          <p:cNvSpPr/>
          <p:nvPr/>
        </p:nvSpPr>
        <p:spPr bwMode="auto">
          <a:xfrm>
            <a:off x="7409832" y="4470671"/>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263" name="Line 77"/>
          <p:cNvSpPr>
            <a:spLocks noChangeShapeType="1"/>
          </p:cNvSpPr>
          <p:nvPr/>
        </p:nvSpPr>
        <p:spPr bwMode="auto">
          <a:xfrm flipH="1">
            <a:off x="7859095" y="4780233"/>
            <a:ext cx="855662" cy="431800"/>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4" name="Line 78"/>
          <p:cNvSpPr>
            <a:spLocks noChangeShapeType="1"/>
          </p:cNvSpPr>
          <p:nvPr/>
        </p:nvSpPr>
        <p:spPr bwMode="auto">
          <a:xfrm flipH="1">
            <a:off x="8368682" y="4827858"/>
            <a:ext cx="563563" cy="393700"/>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5" name="Line 79"/>
          <p:cNvSpPr>
            <a:spLocks noChangeShapeType="1"/>
          </p:cNvSpPr>
          <p:nvPr/>
        </p:nvSpPr>
        <p:spPr bwMode="auto">
          <a:xfrm flipH="1">
            <a:off x="8906845" y="4834208"/>
            <a:ext cx="149225" cy="382588"/>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7" name="Line 95"/>
          <p:cNvSpPr>
            <a:spLocks noChangeShapeType="1"/>
          </p:cNvSpPr>
          <p:nvPr/>
        </p:nvSpPr>
        <p:spPr bwMode="auto">
          <a:xfrm>
            <a:off x="9068770" y="3545158"/>
            <a:ext cx="0" cy="1062038"/>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8" name="Text Box 97"/>
          <p:cNvSpPr txBox="1">
            <a:spLocks noChangeArrowheads="1"/>
          </p:cNvSpPr>
          <p:nvPr/>
        </p:nvSpPr>
        <p:spPr bwMode="auto">
          <a:xfrm>
            <a:off x="743682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institutional</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network</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269" name="Text Box 98"/>
          <p:cNvSpPr txBox="1">
            <a:spLocks noChangeArrowheads="1"/>
          </p:cNvSpPr>
          <p:nvPr/>
        </p:nvSpPr>
        <p:spPr bwMode="auto">
          <a:xfrm>
            <a:off x="944500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MS PGothic" panose="020B0600070205080204" pitchFamily="34" charset="-128"/>
            </a:endParaRPr>
          </a:p>
        </p:txBody>
      </p:sp>
      <p:sp>
        <p:nvSpPr>
          <p:cNvPr id="270" name="Text Box 99"/>
          <p:cNvSpPr txBox="1">
            <a:spLocks noChangeArrowheads="1"/>
          </p:cNvSpPr>
          <p:nvPr/>
        </p:nvSpPr>
        <p:spPr bwMode="auto">
          <a:xfrm>
            <a:off x="907035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1.54 Mbps </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MS PGothic" panose="020B0600070205080204" pitchFamily="34" charset="-128"/>
            </a:endParaRPr>
          </a:p>
        </p:txBody>
      </p:sp>
      <p:grpSp>
        <p:nvGrpSpPr>
          <p:cNvPr id="292" name="Group 139"/>
          <p:cNvGrpSpPr/>
          <p:nvPr/>
        </p:nvGrpSpPr>
        <p:grpSpPr bwMode="auto">
          <a:xfrm>
            <a:off x="7397132" y="2035446"/>
            <a:ext cx="377825" cy="576262"/>
            <a:chOff x="4140" y="429"/>
            <a:chExt cx="1425" cy="2396"/>
          </a:xfrm>
        </p:grpSpPr>
        <p:sp>
          <p:nvSpPr>
            <p:cNvPr id="293" name="Freeform 140"/>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4" name="Rectangle 141"/>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5" name="Freeform 142"/>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6" name="Freeform 143"/>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7" name="Rectangle 144"/>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98" name="Group 145"/>
            <p:cNvGrpSpPr/>
            <p:nvPr/>
          </p:nvGrpSpPr>
          <p:grpSpPr bwMode="auto">
            <a:xfrm>
              <a:off x="4749" y="668"/>
              <a:ext cx="581" cy="145"/>
              <a:chOff x="614" y="2568"/>
              <a:chExt cx="725" cy="139"/>
            </a:xfrm>
          </p:grpSpPr>
          <p:sp>
            <p:nvSpPr>
              <p:cNvPr id="323" name="AutoShape 146"/>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4" name="AutoShape 147"/>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99" name="Rectangle 148"/>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0" name="Group 149"/>
            <p:cNvGrpSpPr/>
            <p:nvPr/>
          </p:nvGrpSpPr>
          <p:grpSpPr bwMode="auto">
            <a:xfrm>
              <a:off x="4747" y="994"/>
              <a:ext cx="581" cy="134"/>
              <a:chOff x="614" y="2568"/>
              <a:chExt cx="725" cy="139"/>
            </a:xfrm>
          </p:grpSpPr>
          <p:sp>
            <p:nvSpPr>
              <p:cNvPr id="321" name="AutoShape 150"/>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2" name="AutoShape 151"/>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1" name="Rectangle 152"/>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2" name="Rectangle 153"/>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3" name="Group 154"/>
            <p:cNvGrpSpPr/>
            <p:nvPr/>
          </p:nvGrpSpPr>
          <p:grpSpPr bwMode="auto">
            <a:xfrm>
              <a:off x="4735" y="1627"/>
              <a:ext cx="582" cy="151"/>
              <a:chOff x="614" y="2568"/>
              <a:chExt cx="725" cy="139"/>
            </a:xfrm>
          </p:grpSpPr>
          <p:sp>
            <p:nvSpPr>
              <p:cNvPr id="319" name="AutoShape 155"/>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0" name="AutoShape 156"/>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4" name="Freeform 157"/>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5" name="Group 158"/>
            <p:cNvGrpSpPr/>
            <p:nvPr/>
          </p:nvGrpSpPr>
          <p:grpSpPr bwMode="auto">
            <a:xfrm>
              <a:off x="4739" y="1327"/>
              <a:ext cx="582" cy="139"/>
              <a:chOff x="614" y="2568"/>
              <a:chExt cx="725" cy="139"/>
            </a:xfrm>
          </p:grpSpPr>
          <p:sp>
            <p:nvSpPr>
              <p:cNvPr id="317" name="AutoShape 159"/>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8" name="AutoShape 160"/>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6" name="Rectangle 161"/>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7" name="Freeform 162"/>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8" name="Freeform 163"/>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9" name="Oval 164"/>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0" name="Freeform 165"/>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1" name="AutoShape 166"/>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2" name="AutoShape 167"/>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3" name="Oval 168"/>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4" name="Oval 169"/>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5" name="Oval 170"/>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6" name="Rectangle 171"/>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25" name="Group 172"/>
          <p:cNvGrpSpPr/>
          <p:nvPr/>
        </p:nvGrpSpPr>
        <p:grpSpPr bwMode="auto">
          <a:xfrm>
            <a:off x="7546357" y="5148533"/>
            <a:ext cx="525463" cy="557213"/>
            <a:chOff x="-44" y="1473"/>
            <a:chExt cx="981" cy="1105"/>
          </a:xfrm>
        </p:grpSpPr>
        <p:pic>
          <p:nvPicPr>
            <p:cNvPr id="326" name="Picture 173"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28" name="Group 175"/>
          <p:cNvGrpSpPr/>
          <p:nvPr/>
        </p:nvGrpSpPr>
        <p:grpSpPr bwMode="auto">
          <a:xfrm>
            <a:off x="8311532" y="1557608"/>
            <a:ext cx="377825" cy="576263"/>
            <a:chOff x="4140" y="429"/>
            <a:chExt cx="1425" cy="2396"/>
          </a:xfrm>
        </p:grpSpPr>
        <p:sp>
          <p:nvSpPr>
            <p:cNvPr id="329" name="Freeform 176"/>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0" name="Rectangle 177"/>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1" name="Freeform 178"/>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2" name="Freeform 179"/>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3" name="Rectangle 180"/>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4" name="Group 181"/>
            <p:cNvGrpSpPr/>
            <p:nvPr/>
          </p:nvGrpSpPr>
          <p:grpSpPr bwMode="auto">
            <a:xfrm>
              <a:off x="4749" y="668"/>
              <a:ext cx="581" cy="145"/>
              <a:chOff x="614" y="2568"/>
              <a:chExt cx="725" cy="139"/>
            </a:xfrm>
          </p:grpSpPr>
          <p:sp>
            <p:nvSpPr>
              <p:cNvPr id="359" name="AutoShape 182"/>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0" name="AutoShape 183"/>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35" name="Rectangle 184"/>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6" name="Group 185"/>
            <p:cNvGrpSpPr/>
            <p:nvPr/>
          </p:nvGrpSpPr>
          <p:grpSpPr bwMode="auto">
            <a:xfrm>
              <a:off x="4747" y="994"/>
              <a:ext cx="581" cy="134"/>
              <a:chOff x="614" y="2568"/>
              <a:chExt cx="725" cy="139"/>
            </a:xfrm>
          </p:grpSpPr>
          <p:sp>
            <p:nvSpPr>
              <p:cNvPr id="357" name="AutoShape 186"/>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8" name="AutoShape 187"/>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37" name="Rectangle 188"/>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8" name="Rectangle 189"/>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9" name="Group 190"/>
            <p:cNvGrpSpPr/>
            <p:nvPr/>
          </p:nvGrpSpPr>
          <p:grpSpPr bwMode="auto">
            <a:xfrm>
              <a:off x="4735" y="1627"/>
              <a:ext cx="582" cy="151"/>
              <a:chOff x="614" y="2568"/>
              <a:chExt cx="725" cy="139"/>
            </a:xfrm>
          </p:grpSpPr>
          <p:sp>
            <p:nvSpPr>
              <p:cNvPr id="355" name="AutoShape 191"/>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6" name="AutoShape 192"/>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40" name="Freeform 193"/>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41" name="Group 194"/>
            <p:cNvGrpSpPr/>
            <p:nvPr/>
          </p:nvGrpSpPr>
          <p:grpSpPr bwMode="auto">
            <a:xfrm>
              <a:off x="4739" y="1327"/>
              <a:ext cx="582" cy="139"/>
              <a:chOff x="614" y="2568"/>
              <a:chExt cx="725" cy="139"/>
            </a:xfrm>
          </p:grpSpPr>
          <p:sp>
            <p:nvSpPr>
              <p:cNvPr id="353" name="AutoShape 195"/>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4" name="AutoShape 196"/>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42" name="Rectangle 197"/>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3" name="Freeform 198"/>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4" name="Freeform 199"/>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5" name="Oval 200"/>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6" name="Freeform 201"/>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7" name="AutoShape 202"/>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8" name="AutoShape 203"/>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9" name="Oval 204"/>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0" name="Oval 205"/>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Oval 206"/>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2" name="Rectangle 207"/>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61" name="Group 208"/>
          <p:cNvGrpSpPr/>
          <p:nvPr/>
        </p:nvGrpSpPr>
        <p:grpSpPr bwMode="auto">
          <a:xfrm>
            <a:off x="9064007" y="1589358"/>
            <a:ext cx="377825" cy="576263"/>
            <a:chOff x="4140" y="429"/>
            <a:chExt cx="1425" cy="2396"/>
          </a:xfrm>
        </p:grpSpPr>
        <p:sp>
          <p:nvSpPr>
            <p:cNvPr id="362" name="Freeform 209"/>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3" name="Rectangle 210"/>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4" name="Freeform 211"/>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5" name="Freeform 212"/>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6" name="Rectangle 213"/>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67" name="Group 214"/>
            <p:cNvGrpSpPr/>
            <p:nvPr/>
          </p:nvGrpSpPr>
          <p:grpSpPr bwMode="auto">
            <a:xfrm>
              <a:off x="4749" y="668"/>
              <a:ext cx="581" cy="145"/>
              <a:chOff x="614" y="2568"/>
              <a:chExt cx="725" cy="139"/>
            </a:xfrm>
          </p:grpSpPr>
          <p:sp>
            <p:nvSpPr>
              <p:cNvPr id="392" name="AutoShape 215"/>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3" name="AutoShape 216"/>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68" name="Rectangle 217"/>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69" name="Group 218"/>
            <p:cNvGrpSpPr/>
            <p:nvPr/>
          </p:nvGrpSpPr>
          <p:grpSpPr bwMode="auto">
            <a:xfrm>
              <a:off x="4747" y="994"/>
              <a:ext cx="581" cy="134"/>
              <a:chOff x="614" y="2568"/>
              <a:chExt cx="725" cy="139"/>
            </a:xfrm>
          </p:grpSpPr>
          <p:sp>
            <p:nvSpPr>
              <p:cNvPr id="390" name="AutoShape 219"/>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1" name="AutoShape 220"/>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0" name="Rectangle 221"/>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1" name="Rectangle 222"/>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72" name="Group 223"/>
            <p:cNvGrpSpPr/>
            <p:nvPr/>
          </p:nvGrpSpPr>
          <p:grpSpPr bwMode="auto">
            <a:xfrm>
              <a:off x="4735" y="1627"/>
              <a:ext cx="582" cy="151"/>
              <a:chOff x="614" y="2568"/>
              <a:chExt cx="725" cy="139"/>
            </a:xfrm>
          </p:grpSpPr>
          <p:sp>
            <p:nvSpPr>
              <p:cNvPr id="388" name="AutoShape 224"/>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9" name="AutoShape 225"/>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3" name="Freeform 226"/>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74" name="Group 227"/>
            <p:cNvGrpSpPr/>
            <p:nvPr/>
          </p:nvGrpSpPr>
          <p:grpSpPr bwMode="auto">
            <a:xfrm>
              <a:off x="4739" y="1327"/>
              <a:ext cx="582" cy="139"/>
              <a:chOff x="614" y="2568"/>
              <a:chExt cx="725" cy="139"/>
            </a:xfrm>
          </p:grpSpPr>
          <p:sp>
            <p:nvSpPr>
              <p:cNvPr id="386" name="AutoShape 228"/>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7" name="AutoShape 229"/>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5" name="Rectangle 230"/>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6" name="Freeform 231"/>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7" name="Freeform 232"/>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8" name="Oval 233"/>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9" name="Freeform 234"/>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0" name="AutoShape 235"/>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1" name="AutoShape 236"/>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2" name="Oval 237"/>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3" name="Oval 238"/>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Oval 239"/>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5" name="Rectangle 240"/>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94" name="Group 241"/>
          <p:cNvGrpSpPr/>
          <p:nvPr/>
        </p:nvGrpSpPr>
        <p:grpSpPr bwMode="auto">
          <a:xfrm>
            <a:off x="9673607" y="1741758"/>
            <a:ext cx="377825" cy="576263"/>
            <a:chOff x="4140" y="429"/>
            <a:chExt cx="1425" cy="2396"/>
          </a:xfrm>
        </p:grpSpPr>
        <p:sp>
          <p:nvSpPr>
            <p:cNvPr id="395" name="Freeform 242"/>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6" name="Rectangle 243"/>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7" name="Freeform 244"/>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8" name="Freeform 245"/>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99" name="Rectangle 246"/>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0" name="Group 247"/>
            <p:cNvGrpSpPr/>
            <p:nvPr/>
          </p:nvGrpSpPr>
          <p:grpSpPr bwMode="auto">
            <a:xfrm>
              <a:off x="4749" y="668"/>
              <a:ext cx="581" cy="145"/>
              <a:chOff x="614" y="2568"/>
              <a:chExt cx="725" cy="139"/>
            </a:xfrm>
          </p:grpSpPr>
          <p:sp>
            <p:nvSpPr>
              <p:cNvPr id="425" name="AutoShape 248"/>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6" name="AutoShape 249"/>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1" name="Rectangle 250"/>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2" name="Group 251"/>
            <p:cNvGrpSpPr/>
            <p:nvPr/>
          </p:nvGrpSpPr>
          <p:grpSpPr bwMode="auto">
            <a:xfrm>
              <a:off x="4747" y="994"/>
              <a:ext cx="581" cy="134"/>
              <a:chOff x="614" y="2568"/>
              <a:chExt cx="725" cy="139"/>
            </a:xfrm>
          </p:grpSpPr>
          <p:sp>
            <p:nvSpPr>
              <p:cNvPr id="423" name="AutoShape 252"/>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4" name="AutoShape 253"/>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3" name="Rectangle 254"/>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04" name="Rectangle 255"/>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5" name="Group 256"/>
            <p:cNvGrpSpPr/>
            <p:nvPr/>
          </p:nvGrpSpPr>
          <p:grpSpPr bwMode="auto">
            <a:xfrm>
              <a:off x="4735" y="1627"/>
              <a:ext cx="582" cy="151"/>
              <a:chOff x="614" y="2568"/>
              <a:chExt cx="725" cy="139"/>
            </a:xfrm>
          </p:grpSpPr>
          <p:sp>
            <p:nvSpPr>
              <p:cNvPr id="421" name="AutoShape 257"/>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2" name="AutoShape 258"/>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6" name="Freeform 259"/>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07" name="Group 260"/>
            <p:cNvGrpSpPr/>
            <p:nvPr/>
          </p:nvGrpSpPr>
          <p:grpSpPr bwMode="auto">
            <a:xfrm>
              <a:off x="4739" y="1327"/>
              <a:ext cx="582" cy="139"/>
              <a:chOff x="614" y="2568"/>
              <a:chExt cx="725" cy="139"/>
            </a:xfrm>
          </p:grpSpPr>
          <p:sp>
            <p:nvSpPr>
              <p:cNvPr id="419" name="AutoShape 261"/>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0" name="AutoShape 262"/>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08" name="Rectangle 263"/>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09" name="Freeform 264"/>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0" name="Freeform 265"/>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1" name="Oval 266"/>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2" name="Freeform 267"/>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3" name="AutoShape 268"/>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4" name="AutoShape 269"/>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5" name="Oval 270"/>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6" name="Oval 271"/>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7" name="Oval 272"/>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18" name="Rectangle 273"/>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27" name="Group 274"/>
          <p:cNvGrpSpPr/>
          <p:nvPr/>
        </p:nvGrpSpPr>
        <p:grpSpPr bwMode="auto">
          <a:xfrm>
            <a:off x="10002220" y="2687908"/>
            <a:ext cx="377825" cy="576263"/>
            <a:chOff x="4140" y="429"/>
            <a:chExt cx="1425" cy="2396"/>
          </a:xfrm>
        </p:grpSpPr>
        <p:sp>
          <p:nvSpPr>
            <p:cNvPr id="428" name="Freeform 275"/>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9" name="Rectangle 276"/>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0" name="Freeform 277"/>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1" name="Freeform 278"/>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2" name="Rectangle 279"/>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33" name="Group 280"/>
            <p:cNvGrpSpPr/>
            <p:nvPr/>
          </p:nvGrpSpPr>
          <p:grpSpPr bwMode="auto">
            <a:xfrm>
              <a:off x="4749" y="668"/>
              <a:ext cx="581" cy="145"/>
              <a:chOff x="614" y="2568"/>
              <a:chExt cx="725" cy="139"/>
            </a:xfrm>
          </p:grpSpPr>
          <p:sp>
            <p:nvSpPr>
              <p:cNvPr id="458" name="AutoShape 281"/>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9" name="AutoShape 282"/>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34" name="Rectangle 283"/>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35" name="Group 284"/>
            <p:cNvGrpSpPr/>
            <p:nvPr/>
          </p:nvGrpSpPr>
          <p:grpSpPr bwMode="auto">
            <a:xfrm>
              <a:off x="4747" y="994"/>
              <a:ext cx="581" cy="134"/>
              <a:chOff x="614" y="2568"/>
              <a:chExt cx="725" cy="139"/>
            </a:xfrm>
          </p:grpSpPr>
          <p:sp>
            <p:nvSpPr>
              <p:cNvPr id="456" name="AutoShape 285"/>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7" name="AutoShape 286"/>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36" name="Rectangle 287"/>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37" name="Rectangle 288"/>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38" name="Group 289"/>
            <p:cNvGrpSpPr/>
            <p:nvPr/>
          </p:nvGrpSpPr>
          <p:grpSpPr bwMode="auto">
            <a:xfrm>
              <a:off x="4735" y="1627"/>
              <a:ext cx="582" cy="151"/>
              <a:chOff x="614" y="2568"/>
              <a:chExt cx="725" cy="139"/>
            </a:xfrm>
          </p:grpSpPr>
          <p:sp>
            <p:nvSpPr>
              <p:cNvPr id="454" name="AutoShape 290"/>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5" name="AutoShape 291"/>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39" name="Freeform 292"/>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40" name="Group 293"/>
            <p:cNvGrpSpPr/>
            <p:nvPr/>
          </p:nvGrpSpPr>
          <p:grpSpPr bwMode="auto">
            <a:xfrm>
              <a:off x="4739" y="1327"/>
              <a:ext cx="582" cy="139"/>
              <a:chOff x="614" y="2568"/>
              <a:chExt cx="725" cy="139"/>
            </a:xfrm>
          </p:grpSpPr>
          <p:sp>
            <p:nvSpPr>
              <p:cNvPr id="452" name="AutoShape 294"/>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3" name="AutoShape 295"/>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41" name="Rectangle 296"/>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2" name="Freeform 297"/>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3" name="Freeform 298"/>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4" name="Oval 299"/>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5" name="Freeform 300"/>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6" name="AutoShape 301"/>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7" name="AutoShape 302"/>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8" name="Oval 303"/>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49" name="Oval 304"/>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Oval 305"/>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51" name="Rectangle 306"/>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93" name="Group 340"/>
          <p:cNvGrpSpPr/>
          <p:nvPr/>
        </p:nvGrpSpPr>
        <p:grpSpPr bwMode="auto">
          <a:xfrm>
            <a:off x="8057532" y="5170758"/>
            <a:ext cx="525463" cy="557213"/>
            <a:chOff x="-44" y="1473"/>
            <a:chExt cx="981" cy="1105"/>
          </a:xfrm>
        </p:grpSpPr>
        <p:pic>
          <p:nvPicPr>
            <p:cNvPr id="494" name="Picture 341"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96" name="Group 343"/>
          <p:cNvGrpSpPr/>
          <p:nvPr/>
        </p:nvGrpSpPr>
        <p:grpSpPr bwMode="auto">
          <a:xfrm>
            <a:off x="8581407" y="5159646"/>
            <a:ext cx="525463" cy="557212"/>
            <a:chOff x="-44" y="1473"/>
            <a:chExt cx="981" cy="1105"/>
          </a:xfrm>
        </p:grpSpPr>
        <p:pic>
          <p:nvPicPr>
            <p:cNvPr id="497" name="Picture 344"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521" name="Group 520"/>
          <p:cNvGrpSpPr/>
          <p:nvPr/>
        </p:nvGrpSpPr>
        <p:grpSpPr>
          <a:xfrm>
            <a:off x="8650253" y="3095664"/>
            <a:ext cx="889089" cy="466491"/>
            <a:chOff x="7493876" y="2774731"/>
            <a:chExt cx="1481958" cy="894622"/>
          </a:xfrm>
        </p:grpSpPr>
        <p:sp>
          <p:nvSpPr>
            <p:cNvPr id="522" name="Freeform 521"/>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23" name="Oval 522"/>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24" name="Group 523"/>
            <p:cNvGrpSpPr/>
            <p:nvPr/>
          </p:nvGrpSpPr>
          <p:grpSpPr>
            <a:xfrm>
              <a:off x="7713663" y="2848339"/>
              <a:ext cx="1042107" cy="425543"/>
              <a:chOff x="7786941" y="2884917"/>
              <a:chExt cx="897649" cy="353919"/>
            </a:xfrm>
          </p:grpSpPr>
          <p:sp>
            <p:nvSpPr>
              <p:cNvPr id="525" name="Freeform 524"/>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Freeform 527"/>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02" name="Group 501"/>
          <p:cNvGrpSpPr/>
          <p:nvPr/>
        </p:nvGrpSpPr>
        <p:grpSpPr>
          <a:xfrm>
            <a:off x="8628916" y="4437217"/>
            <a:ext cx="889089" cy="466491"/>
            <a:chOff x="7493876" y="2774731"/>
            <a:chExt cx="1481958" cy="894622"/>
          </a:xfrm>
        </p:grpSpPr>
        <p:sp>
          <p:nvSpPr>
            <p:cNvPr id="511" name="Freeform 510"/>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12" name="Oval 511"/>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13" name="Group 512"/>
            <p:cNvGrpSpPr/>
            <p:nvPr/>
          </p:nvGrpSpPr>
          <p:grpSpPr>
            <a:xfrm>
              <a:off x="7713663" y="2848339"/>
              <a:ext cx="1042107" cy="425543"/>
              <a:chOff x="7786941" y="2884917"/>
              <a:chExt cx="897649" cy="353919"/>
            </a:xfrm>
          </p:grpSpPr>
          <p:sp>
            <p:nvSpPr>
              <p:cNvPr id="514" name="Freeform 513"/>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Freeform 514"/>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Freeform 515"/>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Freeform 516"/>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 name="Group 7"/>
          <p:cNvGrpSpPr/>
          <p:nvPr/>
        </p:nvGrpSpPr>
        <p:grpSpPr>
          <a:xfrm>
            <a:off x="9001301" y="4807753"/>
            <a:ext cx="811212" cy="1033463"/>
            <a:chOff x="9001301" y="5550914"/>
            <a:chExt cx="811212" cy="1033463"/>
          </a:xfrm>
        </p:grpSpPr>
        <p:sp>
          <p:nvSpPr>
            <p:cNvPr id="5" name="Oval 4"/>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p:cNvGrpSpPr/>
            <p:nvPr/>
          </p:nvGrpSpPr>
          <p:grpSpPr>
            <a:xfrm>
              <a:off x="9256094" y="5631762"/>
              <a:ext cx="377825" cy="800176"/>
              <a:chOff x="10907888" y="5189290"/>
              <a:chExt cx="377825" cy="800176"/>
            </a:xfrm>
          </p:grpSpPr>
          <p:sp>
            <p:nvSpPr>
              <p:cNvPr id="266" name="Line 80"/>
              <p:cNvSpPr>
                <a:spLocks noChangeShapeType="1"/>
              </p:cNvSpPr>
              <p:nvPr/>
            </p:nvSpPr>
            <p:spPr bwMode="auto">
              <a:xfrm>
                <a:off x="10966625" y="5189290"/>
                <a:ext cx="76200" cy="322262"/>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60" name="Group 307"/>
              <p:cNvGrpSpPr/>
              <p:nvPr/>
            </p:nvGrpSpPr>
            <p:grpSpPr bwMode="auto">
              <a:xfrm>
                <a:off x="10907888" y="5413204"/>
                <a:ext cx="377825" cy="576262"/>
                <a:chOff x="4140" y="429"/>
                <a:chExt cx="1425" cy="2396"/>
              </a:xfrm>
            </p:grpSpPr>
            <p:sp>
              <p:nvSpPr>
                <p:cNvPr id="461" name="Freeform 308"/>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62" name="Rectangle 309"/>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63" name="Freeform 310"/>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64" name="Freeform 311"/>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65" name="Rectangle 312"/>
                <p:cNvSpPr>
                  <a:spLocks noChangeArrowheads="1"/>
                </p:cNvSpPr>
                <p:nvPr/>
              </p:nvSpPr>
              <p:spPr bwMode="auto">
                <a:xfrm>
                  <a:off x="4212" y="693"/>
                  <a:ext cx="599"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66" name="Group 313"/>
                <p:cNvGrpSpPr/>
                <p:nvPr/>
              </p:nvGrpSpPr>
              <p:grpSpPr bwMode="auto">
                <a:xfrm>
                  <a:off x="4749" y="668"/>
                  <a:ext cx="581" cy="145"/>
                  <a:chOff x="614" y="2568"/>
                  <a:chExt cx="725" cy="139"/>
                </a:xfrm>
              </p:grpSpPr>
              <p:sp>
                <p:nvSpPr>
                  <p:cNvPr id="491" name="AutoShape 314"/>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92" name="AutoShape 315"/>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67" name="Rectangle 316"/>
                <p:cNvSpPr>
                  <a:spLocks noChangeArrowheads="1"/>
                </p:cNvSpPr>
                <p:nvPr/>
              </p:nvSpPr>
              <p:spPr bwMode="auto">
                <a:xfrm>
                  <a:off x="4224" y="1016"/>
                  <a:ext cx="599" cy="53"/>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68" name="Group 317"/>
                <p:cNvGrpSpPr/>
                <p:nvPr/>
              </p:nvGrpSpPr>
              <p:grpSpPr bwMode="auto">
                <a:xfrm>
                  <a:off x="4747" y="994"/>
                  <a:ext cx="581" cy="134"/>
                  <a:chOff x="614" y="2568"/>
                  <a:chExt cx="725" cy="139"/>
                </a:xfrm>
              </p:grpSpPr>
              <p:sp>
                <p:nvSpPr>
                  <p:cNvPr id="489" name="AutoShape 318"/>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90" name="AutoShape 319"/>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69" name="Rectangle 320"/>
                <p:cNvSpPr>
                  <a:spLocks noChangeArrowheads="1"/>
                </p:cNvSpPr>
                <p:nvPr/>
              </p:nvSpPr>
              <p:spPr bwMode="auto">
                <a:xfrm>
                  <a:off x="4218" y="1360"/>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0" name="Rectangle 321"/>
                <p:cNvSpPr>
                  <a:spLocks noChangeArrowheads="1"/>
                </p:cNvSpPr>
                <p:nvPr/>
              </p:nvSpPr>
              <p:spPr bwMode="auto">
                <a:xfrm>
                  <a:off x="4230" y="1657"/>
                  <a:ext cx="593" cy="46"/>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71" name="Group 322"/>
                <p:cNvGrpSpPr/>
                <p:nvPr/>
              </p:nvGrpSpPr>
              <p:grpSpPr bwMode="auto">
                <a:xfrm>
                  <a:off x="4735" y="1627"/>
                  <a:ext cx="582" cy="151"/>
                  <a:chOff x="614" y="2568"/>
                  <a:chExt cx="725" cy="139"/>
                </a:xfrm>
              </p:grpSpPr>
              <p:sp>
                <p:nvSpPr>
                  <p:cNvPr id="487" name="AutoShape 323"/>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8" name="AutoShape 324"/>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72" name="Freeform 325"/>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473" name="Group 326"/>
                <p:cNvGrpSpPr/>
                <p:nvPr/>
              </p:nvGrpSpPr>
              <p:grpSpPr bwMode="auto">
                <a:xfrm>
                  <a:off x="4739" y="1327"/>
                  <a:ext cx="582" cy="139"/>
                  <a:chOff x="614" y="2568"/>
                  <a:chExt cx="725" cy="139"/>
                </a:xfrm>
              </p:grpSpPr>
              <p:sp>
                <p:nvSpPr>
                  <p:cNvPr id="485" name="AutoShape 327"/>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6" name="AutoShape 328"/>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474" name="Rectangle 329"/>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5" name="Freeform 330"/>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6" name="Freeform 331"/>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7" name="Oval 332"/>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8" name="Freeform 333"/>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79" name="AutoShape 334"/>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0" name="AutoShape 335"/>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1" name="Oval 336"/>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2" name="Oval 337"/>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3" name="Oval 338"/>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4" name="Rectangle 339"/>
                <p:cNvSpPr>
                  <a:spLocks noChangeArrowheads="1"/>
                </p:cNvSpPr>
                <p:nvPr/>
              </p:nvSpPr>
              <p:spPr bwMode="auto">
                <a:xfrm>
                  <a:off x="5062" y="1835"/>
                  <a:ext cx="84"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grpSp>
      <p:sp>
        <p:nvSpPr>
          <p:cNvPr id="251" name="Text Box 98"/>
          <p:cNvSpPr txBox="1">
            <a:spLocks noChangeArrowheads="1"/>
          </p:cNvSpPr>
          <p:nvPr/>
        </p:nvSpPr>
        <p:spPr bwMode="auto">
          <a:xfrm>
            <a:off x="910512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MS PGothic" panose="020B0600070205080204" pitchFamily="34" charset="-128"/>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MS PGothic" panose="020B0600070205080204" pitchFamily="34" charset="-128"/>
            </a:endParaRPr>
          </a:p>
        </p:txBody>
      </p:sp>
      <p:sp>
        <p:nvSpPr>
          <p:cNvPr id="252" name="Rectangle 4"/>
          <p:cNvSpPr txBox="1">
            <a:spLocks noChangeArrowheads="1"/>
          </p:cNvSpPr>
          <p:nvPr/>
        </p:nvSpPr>
        <p:spPr>
          <a:xfrm>
            <a:off x="816624" y="1311713"/>
            <a:ext cx="6166171" cy="2276941"/>
          </a:xfrm>
          <a:prstGeom prst="rect">
            <a:avLst/>
          </a:prstGeom>
        </p:spPr>
        <p:txBody>
          <a:bodyPr vert="horz" lIns="91440" tIns="45720" rIns="91440" bIns="45720" rtlCol="0">
            <a:normAutofit fontScale="77500" lnSpcReduction="20000"/>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indent="0">
              <a:lnSpc>
                <a:spcPct val="110000"/>
              </a:lnSpc>
              <a:spcBef>
                <a:spcPts val="400"/>
              </a:spcBef>
              <a:buFont typeface="Wingdings" panose="05000000000000000000" pitchFamily="2" charset="2"/>
              <a:buNone/>
              <a:tabLst>
                <a:tab pos="575945" algn="l"/>
              </a:tabLst>
            </a:pPr>
            <a:r>
              <a:rPr lang="en-US" altLang="en-US" sz="3600" dirty="0">
                <a:solidFill>
                  <a:srgbClr val="CC0000"/>
                </a:solidFill>
                <a:ea typeface="MS PGothic" panose="020B0600070205080204" pitchFamily="34" charset="-128"/>
              </a:rPr>
              <a:t>Calculating access link utilization, end-end delay with cache:</a:t>
            </a:r>
            <a:endParaRPr lang="en-US" altLang="en-US" sz="3600" dirty="0">
              <a:solidFill>
                <a:srgbClr val="CC0000"/>
              </a:solidFill>
              <a:ea typeface="MS PGothic" panose="020B0600070205080204" pitchFamily="34" charset="-128"/>
            </a:endParaRPr>
          </a:p>
          <a:p>
            <a:pPr indent="-231775">
              <a:lnSpc>
                <a:spcPct val="110000"/>
              </a:lnSpc>
              <a:spcBef>
                <a:spcPts val="400"/>
              </a:spcBef>
              <a:tabLst>
                <a:tab pos="53975" algn="l"/>
                <a:tab pos="575945" algn="l"/>
              </a:tabLst>
            </a:pPr>
            <a:r>
              <a:rPr lang="en-US" altLang="en-US" sz="3100" dirty="0">
                <a:ea typeface="MS PGothic" panose="020B0600070205080204" pitchFamily="34" charset="-128"/>
              </a:rPr>
              <a:t>suppose cache hit rate is 0.4:  40% requests satisfied at cache, 60% requests satisfied at origin </a:t>
            </a:r>
            <a:endParaRPr lang="en-US" altLang="en-US" sz="3100" dirty="0">
              <a:ea typeface="MS PGothic" panose="020B0600070205080204" pitchFamily="34" charset="-128"/>
            </a:endParaRPr>
          </a:p>
          <a:p>
            <a:pPr marL="228600" indent="-228600">
              <a:lnSpc>
                <a:spcPct val="80000"/>
              </a:lnSpc>
              <a:buFont typeface="Wingdings" panose="05000000000000000000" pitchFamily="2" charset="2"/>
              <a:buNone/>
              <a:tabLst>
                <a:tab pos="575945" algn="l"/>
              </a:tabLst>
            </a:pPr>
            <a:r>
              <a:rPr lang="en-US" altLang="en-US" sz="2400" dirty="0">
                <a:latin typeface="Gill Sans MT" panose="020B0502020104020203" pitchFamily="34" charset="77"/>
                <a:ea typeface="MS PGothic" panose="020B0600070205080204" pitchFamily="34" charset="-128"/>
              </a:rPr>
              <a:t>  </a:t>
            </a:r>
            <a:endParaRPr lang="en-US" altLang="en-US" sz="2400" dirty="0">
              <a:latin typeface="Gill Sans MT" panose="020B0502020104020203" pitchFamily="34" charset="77"/>
              <a:ea typeface="MS PGothic" panose="020B0600070205080204" pitchFamily="34" charset="-128"/>
            </a:endParaRPr>
          </a:p>
        </p:txBody>
      </p:sp>
      <p:sp>
        <p:nvSpPr>
          <p:cNvPr id="253" name="Rectangle 4"/>
          <p:cNvSpPr>
            <a:spLocks noChangeArrowheads="1"/>
          </p:cNvSpPr>
          <p:nvPr/>
        </p:nvSpPr>
        <p:spPr bwMode="auto">
          <a:xfrm>
            <a:off x="925554" y="3108706"/>
            <a:ext cx="6168360" cy="1570038"/>
          </a:xfrm>
          <a:prstGeom prst="rect">
            <a:avLst/>
          </a:prstGeom>
          <a:noFill/>
          <a:ln>
            <a:noFill/>
          </a:ln>
        </p:spPr>
        <p:txBody>
          <a:bodyPr/>
          <a:lstStyle/>
          <a:p>
            <a:pPr marL="231775" indent="-231775">
              <a:lnSpc>
                <a:spcPct val="90000"/>
              </a:lnSpc>
              <a:spcBef>
                <a:spcPts val="400"/>
              </a:spcBef>
              <a:buClr>
                <a:srgbClr val="000099"/>
              </a:buClr>
              <a:buSzPct val="100000"/>
              <a:buFont typeface="Wingdings" panose="05000000000000000000" pitchFamily="2" charset="2"/>
              <a:buChar char="§"/>
              <a:tabLst>
                <a:tab pos="575945" algn="l"/>
              </a:tabLst>
              <a:defRPr/>
            </a:pPr>
            <a:r>
              <a:rPr lang="en-US" sz="2400" dirty="0">
                <a:ea typeface="MS PGothic" panose="020B0600070205080204" pitchFamily="34" charset="-128"/>
                <a:cs typeface="MS PGothic" panose="020B0600070205080204" pitchFamily="34" charset="-128"/>
              </a:rPr>
              <a:t>access link: 60% of requests use access link </a:t>
            </a:r>
            <a:endParaRPr lang="en-US" sz="2400" dirty="0">
              <a:ea typeface="MS PGothic" panose="020B0600070205080204" pitchFamily="34" charset="-128"/>
              <a:cs typeface="MS PGothic" panose="020B0600070205080204" pitchFamily="34" charset="-128"/>
            </a:endParaRPr>
          </a:p>
          <a:p>
            <a:pPr marL="231775" indent="-231775">
              <a:lnSpc>
                <a:spcPct val="90000"/>
              </a:lnSpc>
              <a:spcBef>
                <a:spcPts val="400"/>
              </a:spcBef>
              <a:buClr>
                <a:srgbClr val="000099"/>
              </a:buClr>
              <a:buSzPct val="100000"/>
              <a:buFont typeface="Wingdings" panose="05000000000000000000" pitchFamily="2" charset="2"/>
              <a:buChar char="§"/>
              <a:tabLst>
                <a:tab pos="575945" algn="l"/>
              </a:tabLst>
              <a:defRPr/>
            </a:pPr>
            <a:r>
              <a:rPr lang="en-US" sz="2400" dirty="0">
                <a:ea typeface="MS PGothic" panose="020B0600070205080204" pitchFamily="34" charset="-128"/>
                <a:cs typeface="MS PGothic" panose="020B0600070205080204" pitchFamily="34" charset="-128"/>
              </a:rPr>
              <a:t>data rate to browsers over access link </a:t>
            </a:r>
            <a:endParaRPr lang="en-US" sz="2400" dirty="0">
              <a:ea typeface="MS PGothic" panose="020B0600070205080204" pitchFamily="34" charset="-128"/>
              <a:cs typeface="MS PGothic" panose="020B0600070205080204" pitchFamily="34" charset="-128"/>
            </a:endParaRPr>
          </a:p>
          <a:p>
            <a:pPr>
              <a:lnSpc>
                <a:spcPct val="90000"/>
              </a:lnSpc>
              <a:spcBef>
                <a:spcPts val="400"/>
              </a:spcBef>
              <a:buClr>
                <a:srgbClr val="000099"/>
              </a:buClr>
              <a:buSzPct val="65000"/>
              <a:buFont typeface="ZapfDingbats" charset="0"/>
              <a:buNone/>
              <a:tabLst>
                <a:tab pos="575945" algn="l"/>
              </a:tabLst>
              <a:defRPr/>
            </a:pPr>
            <a:r>
              <a:rPr lang="en-US" sz="2400" dirty="0">
                <a:ea typeface="MS PGothic" panose="020B0600070205080204" pitchFamily="34" charset="-128"/>
                <a:cs typeface="MS PGothic" panose="020B0600070205080204" pitchFamily="34" charset="-128"/>
              </a:rPr>
              <a:t>       = 0.6 * 1.50 Mbps  =  .9 Mbps </a:t>
            </a:r>
            <a:endParaRPr lang="en-US" sz="2400" dirty="0">
              <a:ea typeface="MS PGothic" panose="020B0600070205080204" pitchFamily="34" charset="-128"/>
              <a:cs typeface="MS PGothic" panose="020B0600070205080204" pitchFamily="34" charset="-128"/>
            </a:endParaRPr>
          </a:p>
          <a:p>
            <a:pPr marL="231775" indent="-231775">
              <a:lnSpc>
                <a:spcPct val="90000"/>
              </a:lnSpc>
              <a:spcBef>
                <a:spcPts val="400"/>
              </a:spcBef>
              <a:buClr>
                <a:srgbClr val="0000A3"/>
              </a:buClr>
              <a:buSzPct val="100000"/>
              <a:buFont typeface="Wingdings" panose="05000000000000000000" pitchFamily="2" charset="2"/>
              <a:buChar char="§"/>
              <a:tabLst>
                <a:tab pos="575945" algn="l"/>
              </a:tabLst>
              <a:defRPr/>
            </a:pPr>
            <a:r>
              <a:rPr lang="en-US" sz="2400" dirty="0">
                <a:ea typeface="MS PGothic" panose="020B0600070205080204" pitchFamily="34" charset="-128"/>
                <a:cs typeface="MS PGothic" panose="020B0600070205080204" pitchFamily="34" charset="-128"/>
              </a:rPr>
              <a:t>utilization = 0.9/1.54 = .58</a:t>
            </a:r>
            <a:endParaRPr lang="en-US" sz="2400" dirty="0">
              <a:ea typeface="MS PGothic" panose="020B0600070205080204" pitchFamily="34" charset="-128"/>
              <a:cs typeface="MS PGothic" panose="020B0600070205080204" pitchFamily="34" charset="-128"/>
            </a:endParaRPr>
          </a:p>
        </p:txBody>
      </p:sp>
      <p:sp>
        <p:nvSpPr>
          <p:cNvPr id="271" name="Rectangle 4"/>
          <p:cNvSpPr>
            <a:spLocks noChangeArrowheads="1"/>
          </p:cNvSpPr>
          <p:nvPr/>
        </p:nvSpPr>
        <p:spPr bwMode="auto">
          <a:xfrm>
            <a:off x="847726" y="4715508"/>
            <a:ext cx="6438281" cy="1492250"/>
          </a:xfrm>
          <a:prstGeom prst="rect">
            <a:avLst/>
          </a:prstGeom>
          <a:noFill/>
          <a:ln>
            <a:noFill/>
          </a:ln>
        </p:spPr>
        <p:txBody>
          <a:bodyPr/>
          <a:lstStyle/>
          <a:p>
            <a:pPr marL="285750" indent="-220980">
              <a:lnSpc>
                <a:spcPct val="85000"/>
              </a:lnSpc>
              <a:buClr>
                <a:srgbClr val="000099"/>
              </a:buClr>
              <a:buSzPct val="100000"/>
              <a:buFont typeface="Wingdings" panose="05000000000000000000" pitchFamily="2" charset="2"/>
              <a:buChar char="§"/>
              <a:tabLst>
                <a:tab pos="575945" algn="l"/>
              </a:tabLst>
              <a:defRPr/>
            </a:pPr>
            <a:r>
              <a:rPr lang="en-US" sz="2400" dirty="0">
                <a:ea typeface="MS PGothic" panose="020B0600070205080204" pitchFamily="34" charset="-128"/>
                <a:cs typeface="MS PGothic" panose="020B0600070205080204" pitchFamily="34" charset="-128"/>
              </a:rPr>
              <a:t>average end-end delay</a:t>
            </a:r>
            <a:endParaRPr lang="en-US" sz="2400" dirty="0">
              <a:ea typeface="MS PGothic" panose="020B0600070205080204" pitchFamily="34" charset="-128"/>
              <a:cs typeface="MS PGothic" panose="020B0600070205080204" pitchFamily="34" charset="-128"/>
            </a:endParaRPr>
          </a:p>
          <a:p>
            <a:pPr marL="342900" lvl="1">
              <a:lnSpc>
                <a:spcPct val="90000"/>
              </a:lnSpc>
              <a:spcBef>
                <a:spcPts val="400"/>
              </a:spcBef>
              <a:buClr>
                <a:srgbClr val="000099"/>
              </a:buClr>
              <a:buSzTx/>
              <a:tabLst>
                <a:tab pos="575945" algn="l"/>
              </a:tabLst>
              <a:defRPr/>
            </a:pPr>
            <a:r>
              <a:rPr lang="en-US" sz="2400" dirty="0">
                <a:ea typeface="MS PGothic" panose="020B0600070205080204" pitchFamily="34" charset="-128"/>
                <a:cs typeface="MS PGothic" panose="020B0600070205080204" pitchFamily="34" charset="-128"/>
              </a:rPr>
              <a:t>= 0.6 * (delay from origin servers)</a:t>
            </a:r>
            <a:endParaRPr lang="en-US" sz="2400" dirty="0">
              <a:ea typeface="MS PGothic" panose="020B0600070205080204" pitchFamily="34" charset="-128"/>
              <a:cs typeface="MS PGothic" panose="020B0600070205080204" pitchFamily="34" charset="-128"/>
            </a:endParaRPr>
          </a:p>
          <a:p>
            <a:pPr marL="342900" lvl="1">
              <a:lnSpc>
                <a:spcPct val="90000"/>
              </a:lnSpc>
              <a:spcBef>
                <a:spcPts val="400"/>
              </a:spcBef>
              <a:buClr>
                <a:srgbClr val="000099"/>
              </a:buClr>
              <a:buSzTx/>
              <a:tabLst>
                <a:tab pos="575945" algn="l"/>
              </a:tabLst>
              <a:defRPr/>
            </a:pPr>
            <a:r>
              <a:rPr lang="en-US" sz="2400" dirty="0">
                <a:ea typeface="MS PGothic" panose="020B0600070205080204" pitchFamily="34" charset="-128"/>
                <a:cs typeface="MS PGothic" panose="020B0600070205080204" pitchFamily="34" charset="-128"/>
              </a:rPr>
              <a:t>           + 0.4 * (delay when satisfied at cache)</a:t>
            </a:r>
            <a:endParaRPr lang="en-US" sz="2400" dirty="0">
              <a:ea typeface="MS PGothic" panose="020B0600070205080204" pitchFamily="34" charset="-128"/>
              <a:cs typeface="MS PGothic" panose="020B0600070205080204" pitchFamily="34" charset="-128"/>
            </a:endParaRPr>
          </a:p>
          <a:p>
            <a:pPr marL="342900" lvl="1">
              <a:lnSpc>
                <a:spcPct val="90000"/>
              </a:lnSpc>
              <a:spcBef>
                <a:spcPts val="400"/>
              </a:spcBef>
              <a:buClr>
                <a:srgbClr val="000099"/>
              </a:buClr>
              <a:buSzTx/>
              <a:tabLst>
                <a:tab pos="575945" algn="l"/>
              </a:tabLst>
              <a:defRPr/>
            </a:pPr>
            <a:r>
              <a:rPr lang="en-US" sz="2400" dirty="0">
                <a:ea typeface="MS PGothic" panose="020B0600070205080204" pitchFamily="34" charset="-128"/>
                <a:cs typeface="MS PGothic" panose="020B0600070205080204" pitchFamily="34" charset="-128"/>
              </a:rPr>
              <a:t>= 0.6 (2.01) + 0.4 (~msecs) = ~ 1.2 secs</a:t>
            </a:r>
            <a:endParaRPr lang="en-US" sz="2400" dirty="0">
              <a:ea typeface="MS PGothic" panose="020B0600070205080204" pitchFamily="34" charset="-128"/>
              <a:cs typeface="MS PGothic" panose="020B0600070205080204" pitchFamily="34" charset="-128"/>
            </a:endParaRPr>
          </a:p>
          <a:p>
            <a:pPr marL="228600" indent="-228600">
              <a:lnSpc>
                <a:spcPct val="80000"/>
              </a:lnSpc>
              <a:buClr>
                <a:srgbClr val="000099"/>
              </a:buClr>
              <a:buSzPct val="65000"/>
              <a:buFont typeface="Wingdings" panose="05000000000000000000" charset="0"/>
              <a:buNone/>
              <a:tabLst>
                <a:tab pos="575945" algn="l"/>
              </a:tabLst>
              <a:defRPr/>
            </a:pPr>
            <a:r>
              <a:rPr lang="en-US" sz="2400" dirty="0">
                <a:latin typeface="Gill Sans MT" panose="020B0502020104020203" pitchFamily="34" charset="0"/>
                <a:ea typeface="MS PGothic" panose="020B0600070205080204" pitchFamily="34" charset="-128"/>
                <a:cs typeface="MS PGothic" panose="020B0600070205080204" pitchFamily="34" charset="-128"/>
              </a:rPr>
              <a:t>  </a:t>
            </a:r>
            <a:endParaRPr lang="en-US" sz="2400" dirty="0">
              <a:latin typeface="Gill Sans MT" panose="020B0502020104020203" pitchFamily="34" charset="0"/>
              <a:ea typeface="MS PGothic" panose="020B0600070205080204" pitchFamily="34" charset="-128"/>
              <a:cs typeface="MS PGothic" panose="020B0600070205080204" pitchFamily="34" charset="-128"/>
            </a:endParaRPr>
          </a:p>
        </p:txBody>
      </p:sp>
      <p:sp>
        <p:nvSpPr>
          <p:cNvPr id="2" name="TextBox 1"/>
          <p:cNvSpPr txBox="1"/>
          <p:nvPr/>
        </p:nvSpPr>
        <p:spPr>
          <a:xfrm>
            <a:off x="898695" y="6241612"/>
            <a:ext cx="9274975" cy="738664"/>
          </a:xfrm>
          <a:prstGeom prst="rect">
            <a:avLst/>
          </a:prstGeom>
          <a:noFill/>
        </p:spPr>
        <p:txBody>
          <a:bodyPr wrap="none" rtlCol="0">
            <a:spAutoFit/>
          </a:bodyPr>
          <a:lstStyle/>
          <a:p>
            <a:r>
              <a:rPr lang="en-US" sz="2400" i="1" dirty="0">
                <a:solidFill>
                  <a:srgbClr val="C00000"/>
                </a:solidFill>
                <a:ea typeface="MS PGothic" panose="020B0600070205080204" pitchFamily="34" charset="-128"/>
                <a:cs typeface="MS PGothic" panose="020B0600070205080204" pitchFamily="34" charset="-128"/>
              </a:rPr>
              <a:t>lower average end-end delay than with 154 Mbps link (and cheaper too!)</a:t>
            </a:r>
            <a:endParaRPr lang="en-US" sz="2400" i="1" dirty="0">
              <a:solidFill>
                <a:srgbClr val="C00000"/>
              </a:solidFill>
              <a:ea typeface="MS PGothic" panose="020B0600070205080204" pitchFamily="34" charset="-128"/>
              <a:cs typeface="MS PGothic" panose="020B0600070205080204" pitchFamily="34" charset="-128"/>
            </a:endParaRPr>
          </a:p>
          <a:p>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3"/>
                                        </p:tgtEl>
                                        <p:attrNameLst>
                                          <p:attrName>style.visibility</p:attrName>
                                        </p:attrNameLst>
                                      </p:cBhvr>
                                      <p:to>
                                        <p:strVal val="visible"/>
                                      </p:to>
                                    </p:set>
                                    <p:animEffect transition="in" filter="dissolve">
                                      <p:cBhvr>
                                        <p:cTn id="7" dur="500"/>
                                        <p:tgtEl>
                                          <p:spTgt spid="2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1"/>
                                        </p:tgtEl>
                                        <p:attrNameLst>
                                          <p:attrName>style.visibility</p:attrName>
                                        </p:attrNameLst>
                                      </p:cBhvr>
                                      <p:to>
                                        <p:strVal val="visible"/>
                                      </p:to>
                                    </p:set>
                                    <p:animEffect transition="in" filter="dissolve">
                                      <p:cBhvr>
                                        <p:cTn id="12" dur="500"/>
                                        <p:tgtEl>
                                          <p:spTgt spid="2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71" grpId="0"/>
      <p:bldP spid="2"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sz="4400" dirty="0">
                <a:ea typeface="MS PGothic" panose="020B0600070205080204" pitchFamily="34" charset="-128"/>
              </a:rPr>
              <a:t>Conditional GET</a:t>
            </a:r>
            <a:endParaRPr lang="en-US" sz="4400" dirty="0"/>
          </a:p>
        </p:txBody>
      </p:sp>
      <p:sp>
        <p:nvSpPr>
          <p:cNvPr id="3" name="Slide Number Placeholder 2"/>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fld>
            <a:endParaRPr lang="en-US" dirty="0"/>
          </a:p>
        </p:txBody>
      </p:sp>
      <p:sp>
        <p:nvSpPr>
          <p:cNvPr id="272" name="Rectangle 3"/>
          <p:cNvSpPr txBox="1">
            <a:spLocks noChangeArrowheads="1"/>
          </p:cNvSpPr>
          <p:nvPr/>
        </p:nvSpPr>
        <p:spPr>
          <a:xfrm>
            <a:off x="714337" y="1626575"/>
            <a:ext cx="5597253" cy="513238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altLang="en-US" i="1" dirty="0">
                <a:solidFill>
                  <a:srgbClr val="CC0000"/>
                </a:solidFill>
                <a:ea typeface="MS PGothic" panose="020B0600070205080204" pitchFamily="34" charset="-128"/>
              </a:rPr>
              <a:t>Goal:</a:t>
            </a:r>
            <a:r>
              <a:rPr lang="en-US" altLang="en-US" dirty="0">
                <a:ea typeface="MS PGothic" panose="020B0600070205080204" pitchFamily="34" charset="-128"/>
              </a:rPr>
              <a:t> don</a:t>
            </a:r>
            <a:r>
              <a:rPr lang="ja-JP" altLang="en-US">
                <a:ea typeface="MS PGothic" panose="020B0600070205080204" pitchFamily="34" charset="-128"/>
              </a:rPr>
              <a:t>’</a:t>
            </a:r>
            <a:r>
              <a:rPr lang="en-US" altLang="ja-JP" dirty="0">
                <a:ea typeface="MS PGothic" panose="020B0600070205080204" pitchFamily="34" charset="-128"/>
              </a:rPr>
              <a:t>t send object if cache has up-to-date cached version</a:t>
            </a:r>
            <a:endParaRPr lang="en-US" altLang="ja-JP" dirty="0">
              <a:ea typeface="MS PGothic" panose="020B0600070205080204" pitchFamily="34" charset="-128"/>
            </a:endParaRPr>
          </a:p>
          <a:p>
            <a:pPr lvl="1"/>
            <a:r>
              <a:rPr lang="en-US" altLang="en-US" dirty="0">
                <a:ea typeface="MS PGothic" panose="020B0600070205080204" pitchFamily="34" charset="-128"/>
              </a:rPr>
              <a:t>no object transmission delay</a:t>
            </a:r>
            <a:endParaRPr lang="en-US" altLang="en-US" dirty="0">
              <a:ea typeface="MS PGothic" panose="020B0600070205080204" pitchFamily="34" charset="-128"/>
            </a:endParaRPr>
          </a:p>
          <a:p>
            <a:pPr lvl="1"/>
            <a:r>
              <a:rPr lang="en-US" altLang="en-US" dirty="0">
                <a:ea typeface="MS PGothic" panose="020B0600070205080204" pitchFamily="34" charset="-128"/>
              </a:rPr>
              <a:t>lower link utilization</a:t>
            </a:r>
            <a:endParaRPr lang="en-US" altLang="en-US" dirty="0">
              <a:ea typeface="MS PGothic" panose="020B0600070205080204" pitchFamily="34" charset="-128"/>
            </a:endParaRPr>
          </a:p>
          <a:p>
            <a:r>
              <a:rPr lang="en-US" altLang="en-US" i="1" dirty="0">
                <a:solidFill>
                  <a:srgbClr val="000090"/>
                </a:solidFill>
                <a:ea typeface="MS PGothic" panose="020B0600070205080204" pitchFamily="34" charset="-128"/>
              </a:rPr>
              <a:t>cache:</a:t>
            </a:r>
            <a:r>
              <a:rPr lang="en-US" altLang="en-US" dirty="0">
                <a:solidFill>
                  <a:srgbClr val="000090"/>
                </a:solidFill>
                <a:ea typeface="MS PGothic" panose="020B0600070205080204" pitchFamily="34" charset="-128"/>
              </a:rPr>
              <a:t> </a:t>
            </a:r>
            <a:r>
              <a:rPr lang="en-US" altLang="en-US" dirty="0">
                <a:ea typeface="MS PGothic" panose="020B0600070205080204" pitchFamily="34" charset="-128"/>
              </a:rPr>
              <a:t>specify date of cached copy in HTTP request</a:t>
            </a:r>
            <a:endParaRPr lang="en-US" altLang="en-US" dirty="0">
              <a:ea typeface="MS PGothic" panose="020B0600070205080204" pitchFamily="34" charset="-128"/>
            </a:endParaRPr>
          </a:p>
          <a:p>
            <a:pPr lvl="1">
              <a:buFont typeface="Wingdings" panose="05000000000000000000" pitchFamily="2" charset="2"/>
              <a:buNone/>
            </a:pPr>
            <a:r>
              <a:rPr lang="en-US" altLang="en-US" b="1" dirty="0">
                <a:ea typeface="MS PGothic" panose="020B0600070205080204" pitchFamily="34" charset="-128"/>
              </a:rPr>
              <a:t>If-modified-since: &lt;date&gt;</a:t>
            </a:r>
            <a:endParaRPr lang="en-US" altLang="en-US" b="1" dirty="0">
              <a:ea typeface="MS PGothic" panose="020B0600070205080204" pitchFamily="34" charset="-128"/>
            </a:endParaRPr>
          </a:p>
          <a:p>
            <a:r>
              <a:rPr lang="en-US" altLang="en-US" i="1" dirty="0">
                <a:solidFill>
                  <a:srgbClr val="000090"/>
                </a:solidFill>
                <a:ea typeface="MS PGothic" panose="020B0600070205080204" pitchFamily="34" charset="-128"/>
              </a:rPr>
              <a:t>server:</a:t>
            </a:r>
            <a:r>
              <a:rPr lang="en-US" altLang="en-US" dirty="0">
                <a:solidFill>
                  <a:srgbClr val="000090"/>
                </a:solidFill>
                <a:ea typeface="MS PGothic" panose="020B0600070205080204" pitchFamily="34" charset="-128"/>
              </a:rPr>
              <a:t> </a:t>
            </a:r>
            <a:r>
              <a:rPr lang="en-US" altLang="en-US" dirty="0">
                <a:ea typeface="MS PGothic" panose="020B0600070205080204" pitchFamily="34" charset="-128"/>
              </a:rPr>
              <a:t>response contains no object if cached copy is up-to-date: </a:t>
            </a:r>
            <a:endParaRPr lang="en-US" altLang="en-US" dirty="0">
              <a:ea typeface="MS PGothic" panose="020B0600070205080204" pitchFamily="34" charset="-128"/>
            </a:endParaRPr>
          </a:p>
          <a:p>
            <a:pPr lvl="1">
              <a:buFont typeface="Wingdings" panose="05000000000000000000" pitchFamily="2" charset="2"/>
              <a:buNone/>
            </a:pPr>
            <a:r>
              <a:rPr lang="en-US" altLang="en-US" b="1" dirty="0">
                <a:ea typeface="MS PGothic" panose="020B0600070205080204" pitchFamily="34" charset="-128"/>
              </a:rPr>
              <a:t>HTTP/1.0 304 Not Modified</a:t>
            </a:r>
            <a:endParaRPr lang="en-US" altLang="en-US" sz="2800" dirty="0">
              <a:ea typeface="MS PGothic" panose="020B0600070205080204" pitchFamily="34" charset="-128"/>
            </a:endParaRPr>
          </a:p>
        </p:txBody>
      </p:sp>
      <p:sp>
        <p:nvSpPr>
          <p:cNvPr id="273" name="Line 4"/>
          <p:cNvSpPr>
            <a:spLocks noChangeShapeType="1"/>
          </p:cNvSpPr>
          <p:nvPr/>
        </p:nvSpPr>
        <p:spPr bwMode="auto">
          <a:xfrm>
            <a:off x="7035490" y="2068251"/>
            <a:ext cx="3305175" cy="3810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74" name="Text Box 8"/>
          <p:cNvSpPr txBox="1">
            <a:spLocks noChangeArrowheads="1"/>
          </p:cNvSpPr>
          <p:nvPr/>
        </p:nvSpPr>
        <p:spPr bwMode="auto">
          <a:xfrm>
            <a:off x="7341878" y="1952364"/>
            <a:ext cx="2681287" cy="620712"/>
          </a:xfrm>
          <a:prstGeom prst="rect">
            <a:avLst/>
          </a:prstGeom>
          <a:solidFill>
            <a:schemeClr val="bg1"/>
          </a:solidFill>
          <a:ln w="9525">
            <a:solidFill>
              <a:schemeClr val="tx1"/>
            </a:solidFill>
            <a:miter lim="800000"/>
          </a:ln>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800">
                <a:latin typeface="+mn-lt"/>
              </a:rPr>
              <a:t>HTTP request msg</a:t>
            </a:r>
            <a:endParaRPr lang="en-US" altLang="en-US" sz="1800">
              <a:latin typeface="+mn-lt"/>
            </a:endParaRPr>
          </a:p>
          <a:p>
            <a:pPr algn="ctr">
              <a:spcBef>
                <a:spcPct val="0"/>
              </a:spcBef>
              <a:buClrTx/>
              <a:buSzTx/>
              <a:buFontTx/>
              <a:buNone/>
            </a:pPr>
            <a:r>
              <a:rPr lang="en-US" altLang="en-US" sz="1600" b="1">
                <a:latin typeface="+mn-lt"/>
              </a:rPr>
              <a:t>If-modified-since: &lt;date&gt;</a:t>
            </a:r>
            <a:endParaRPr lang="en-US" altLang="en-US" b="1">
              <a:latin typeface="+mn-lt"/>
            </a:endParaRPr>
          </a:p>
        </p:txBody>
      </p:sp>
      <p:sp>
        <p:nvSpPr>
          <p:cNvPr id="275" name="Line 9"/>
          <p:cNvSpPr>
            <a:spLocks noChangeShapeType="1"/>
          </p:cNvSpPr>
          <p:nvPr/>
        </p:nvSpPr>
        <p:spPr bwMode="auto">
          <a:xfrm flipH="1">
            <a:off x="7054540" y="2814376"/>
            <a:ext cx="3305175" cy="3810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276" name="Group 30"/>
          <p:cNvGrpSpPr/>
          <p:nvPr/>
        </p:nvGrpSpPr>
        <p:grpSpPr bwMode="auto">
          <a:xfrm>
            <a:off x="7322828" y="2808026"/>
            <a:ext cx="2643187" cy="865188"/>
            <a:chOff x="2698" y="2036"/>
            <a:chExt cx="1665" cy="545"/>
          </a:xfrm>
        </p:grpSpPr>
        <p:sp>
          <p:nvSpPr>
            <p:cNvPr id="277" name="Rectangle 10"/>
            <p:cNvSpPr>
              <a:spLocks noChangeArrowheads="1"/>
            </p:cNvSpPr>
            <p:nvPr/>
          </p:nvSpPr>
          <p:spPr bwMode="auto">
            <a:xfrm>
              <a:off x="2760" y="2071"/>
              <a:ext cx="1578" cy="465"/>
            </a:xfrm>
            <a:prstGeom prst="rect">
              <a:avLst/>
            </a:prstGeom>
            <a:solidFill>
              <a:schemeClr val="bg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278" name="Text Box 11"/>
            <p:cNvSpPr txBox="1">
              <a:spLocks noChangeArrowheads="1"/>
            </p:cNvSpPr>
            <p:nvPr/>
          </p:nvSpPr>
          <p:spPr bwMode="auto">
            <a:xfrm>
              <a:off x="2698" y="2036"/>
              <a:ext cx="1665" cy="545"/>
            </a:xfrm>
            <a:prstGeom prst="rect">
              <a:avLst/>
            </a:prstGeom>
            <a:solidFill>
              <a:schemeClr val="bg1"/>
            </a:solidFill>
            <a:ln w="9525">
              <a:solidFill>
                <a:schemeClr val="tx1"/>
              </a:solidFill>
              <a:miter lim="800000"/>
            </a:ln>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800">
                  <a:latin typeface="+mn-lt"/>
                </a:rPr>
                <a:t>HTTP response</a:t>
              </a:r>
              <a:endParaRPr lang="en-US" altLang="en-US" sz="1800">
                <a:latin typeface="+mn-lt"/>
              </a:endParaRPr>
            </a:p>
            <a:p>
              <a:pPr algn="ctr">
                <a:spcBef>
                  <a:spcPct val="0"/>
                </a:spcBef>
                <a:buClrTx/>
                <a:buSzTx/>
                <a:buFontTx/>
                <a:buNone/>
              </a:pPr>
              <a:r>
                <a:rPr lang="en-US" altLang="en-US" sz="1600" b="1">
                  <a:latin typeface="+mn-lt"/>
                </a:rPr>
                <a:t>HTTP/1.0 </a:t>
              </a:r>
              <a:endParaRPr lang="en-US" altLang="en-US" sz="1600" b="1">
                <a:latin typeface="+mn-lt"/>
              </a:endParaRPr>
            </a:p>
            <a:p>
              <a:pPr algn="ctr">
                <a:spcBef>
                  <a:spcPct val="0"/>
                </a:spcBef>
                <a:buClrTx/>
                <a:buSzTx/>
                <a:buFontTx/>
                <a:buNone/>
              </a:pPr>
              <a:r>
                <a:rPr lang="en-US" altLang="en-US" sz="1600" b="1">
                  <a:latin typeface="+mn-lt"/>
                </a:rPr>
                <a:t>304 Not Modified</a:t>
              </a:r>
              <a:endParaRPr lang="en-US" altLang="en-US" b="1">
                <a:latin typeface="+mn-lt"/>
              </a:endParaRPr>
            </a:p>
          </p:txBody>
        </p:sp>
      </p:grpSp>
      <p:sp>
        <p:nvSpPr>
          <p:cNvPr id="279" name="Text Box 28"/>
          <p:cNvSpPr txBox="1">
            <a:spLocks noChangeArrowheads="1"/>
          </p:cNvSpPr>
          <p:nvPr/>
        </p:nvSpPr>
        <p:spPr bwMode="auto">
          <a:xfrm>
            <a:off x="10420040" y="2103176"/>
            <a:ext cx="1047750" cy="146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800">
                <a:solidFill>
                  <a:srgbClr val="000099"/>
                </a:solidFill>
                <a:latin typeface="+mn-lt"/>
              </a:rPr>
              <a:t>object </a:t>
            </a:r>
            <a:endParaRPr lang="en-US" altLang="en-US" sz="1800">
              <a:solidFill>
                <a:srgbClr val="000099"/>
              </a:solidFill>
              <a:latin typeface="+mn-lt"/>
            </a:endParaRPr>
          </a:p>
          <a:p>
            <a:pPr algn="ctr">
              <a:spcBef>
                <a:spcPct val="0"/>
              </a:spcBef>
              <a:buClrTx/>
              <a:buSzTx/>
              <a:buFontTx/>
              <a:buNone/>
            </a:pPr>
            <a:r>
              <a:rPr lang="en-US" altLang="en-US" sz="1800">
                <a:solidFill>
                  <a:srgbClr val="000099"/>
                </a:solidFill>
                <a:latin typeface="+mn-lt"/>
              </a:rPr>
              <a:t>not </a:t>
            </a:r>
            <a:endParaRPr lang="en-US" altLang="en-US" sz="1800">
              <a:solidFill>
                <a:srgbClr val="000099"/>
              </a:solidFill>
              <a:latin typeface="+mn-lt"/>
            </a:endParaRPr>
          </a:p>
          <a:p>
            <a:pPr algn="ctr">
              <a:spcBef>
                <a:spcPct val="0"/>
              </a:spcBef>
              <a:buClrTx/>
              <a:buSzTx/>
              <a:buFontTx/>
              <a:buNone/>
            </a:pPr>
            <a:r>
              <a:rPr lang="en-US" altLang="en-US" sz="1800">
                <a:solidFill>
                  <a:srgbClr val="000099"/>
                </a:solidFill>
                <a:latin typeface="+mn-lt"/>
              </a:rPr>
              <a:t>modified</a:t>
            </a:r>
            <a:endParaRPr lang="en-US" altLang="en-US" sz="1800">
              <a:solidFill>
                <a:srgbClr val="000099"/>
              </a:solidFill>
              <a:latin typeface="+mn-lt"/>
            </a:endParaRPr>
          </a:p>
          <a:p>
            <a:pPr algn="ctr">
              <a:spcBef>
                <a:spcPct val="0"/>
              </a:spcBef>
              <a:buClrTx/>
              <a:buSzTx/>
              <a:buFontTx/>
              <a:buNone/>
            </a:pPr>
            <a:r>
              <a:rPr lang="en-US" altLang="en-US" sz="1800">
                <a:solidFill>
                  <a:srgbClr val="000099"/>
                </a:solidFill>
                <a:latin typeface="+mn-lt"/>
              </a:rPr>
              <a:t>before</a:t>
            </a:r>
            <a:endParaRPr lang="en-US" altLang="en-US" sz="1800">
              <a:solidFill>
                <a:srgbClr val="000099"/>
              </a:solidFill>
              <a:latin typeface="+mn-lt"/>
            </a:endParaRPr>
          </a:p>
          <a:p>
            <a:pPr algn="ctr">
              <a:spcBef>
                <a:spcPct val="0"/>
              </a:spcBef>
              <a:buClrTx/>
              <a:buSzTx/>
              <a:buFontTx/>
              <a:buNone/>
            </a:pPr>
            <a:r>
              <a:rPr lang="en-US" altLang="en-US" sz="1800">
                <a:solidFill>
                  <a:srgbClr val="000099"/>
                </a:solidFill>
                <a:latin typeface="+mn-lt"/>
              </a:rPr>
              <a:t>&lt;date&gt;</a:t>
            </a:r>
            <a:endParaRPr lang="en-US" altLang="en-US" sz="1800">
              <a:solidFill>
                <a:srgbClr val="000099"/>
              </a:solidFill>
              <a:latin typeface="+mn-lt"/>
            </a:endParaRPr>
          </a:p>
        </p:txBody>
      </p:sp>
      <p:sp>
        <p:nvSpPr>
          <p:cNvPr id="280" name="Line 31"/>
          <p:cNvSpPr>
            <a:spLocks noChangeShapeType="1"/>
          </p:cNvSpPr>
          <p:nvPr/>
        </p:nvSpPr>
        <p:spPr bwMode="auto">
          <a:xfrm>
            <a:off x="6792603" y="4033576"/>
            <a:ext cx="3905250" cy="0"/>
          </a:xfrm>
          <a:prstGeom prst="line">
            <a:avLst/>
          </a:prstGeom>
          <a:noFill/>
          <a:ln w="28575">
            <a:solidFill>
              <a:srgbClr val="000099"/>
            </a:solidFill>
            <a:prstDash val="dash"/>
            <a:round/>
          </a:ln>
          <a:extLst>
            <a:ext uri="{909E8E84-426E-40DD-AFC4-6F175D3DCCD1}">
              <a14:hiddenFill xmlns:a14="http://schemas.microsoft.com/office/drawing/2010/main">
                <a:noFill/>
              </a14:hiddenFill>
            </a:ext>
          </a:extLst>
        </p:spPr>
        <p:txBody>
          <a:bodyPr wrap="none" anchor="ctr"/>
          <a:lstStyle/>
          <a:p>
            <a:endParaRPr lang="en-US"/>
          </a:p>
        </p:txBody>
      </p:sp>
      <p:sp>
        <p:nvSpPr>
          <p:cNvPr id="281" name="Line 32"/>
          <p:cNvSpPr>
            <a:spLocks noChangeShapeType="1"/>
          </p:cNvSpPr>
          <p:nvPr/>
        </p:nvSpPr>
        <p:spPr bwMode="auto">
          <a:xfrm>
            <a:off x="7102165" y="4632064"/>
            <a:ext cx="3305175" cy="3810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82" name="Text Box 34"/>
          <p:cNvSpPr txBox="1">
            <a:spLocks noChangeArrowheads="1"/>
          </p:cNvSpPr>
          <p:nvPr/>
        </p:nvSpPr>
        <p:spPr bwMode="auto">
          <a:xfrm>
            <a:off x="7346640" y="4516176"/>
            <a:ext cx="2681288" cy="620713"/>
          </a:xfrm>
          <a:prstGeom prst="rect">
            <a:avLst/>
          </a:prstGeom>
          <a:solidFill>
            <a:schemeClr val="bg1"/>
          </a:solidFill>
          <a:ln w="9525">
            <a:solidFill>
              <a:schemeClr val="tx1"/>
            </a:solidFill>
            <a:miter lim="800000"/>
          </a:ln>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800">
                <a:latin typeface="+mn-lt"/>
              </a:rPr>
              <a:t>HTTP request msg</a:t>
            </a:r>
            <a:endParaRPr lang="en-US" altLang="en-US" sz="1800">
              <a:latin typeface="+mn-lt"/>
            </a:endParaRPr>
          </a:p>
          <a:p>
            <a:pPr algn="ctr">
              <a:spcBef>
                <a:spcPct val="0"/>
              </a:spcBef>
              <a:buClrTx/>
              <a:buSzTx/>
              <a:buFontTx/>
              <a:buNone/>
            </a:pPr>
            <a:r>
              <a:rPr lang="en-US" altLang="en-US" sz="1600" b="1">
                <a:latin typeface="+mn-lt"/>
              </a:rPr>
              <a:t>If-modified-since: &lt;date&gt;</a:t>
            </a:r>
            <a:endParaRPr lang="en-US" altLang="en-US" b="1">
              <a:latin typeface="+mn-lt"/>
            </a:endParaRPr>
          </a:p>
        </p:txBody>
      </p:sp>
      <p:sp>
        <p:nvSpPr>
          <p:cNvPr id="283" name="Line 35"/>
          <p:cNvSpPr>
            <a:spLocks noChangeShapeType="1"/>
          </p:cNvSpPr>
          <p:nvPr/>
        </p:nvSpPr>
        <p:spPr bwMode="auto">
          <a:xfrm flipH="1">
            <a:off x="7121215" y="5411526"/>
            <a:ext cx="3305175" cy="3810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84" name="Text Box 38"/>
          <p:cNvSpPr txBox="1">
            <a:spLocks noChangeArrowheads="1"/>
          </p:cNvSpPr>
          <p:nvPr/>
        </p:nvSpPr>
        <p:spPr bwMode="auto">
          <a:xfrm>
            <a:off x="7365690" y="5355964"/>
            <a:ext cx="2643188" cy="1231106"/>
          </a:xfrm>
          <a:prstGeom prst="rect">
            <a:avLst/>
          </a:prstGeom>
          <a:solidFill>
            <a:schemeClr val="bg1"/>
          </a:solidFill>
          <a:ln w="9525">
            <a:solidFill>
              <a:schemeClr val="tx1"/>
            </a:solidFill>
            <a:miter lim="800000"/>
          </a:ln>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800" dirty="0">
                <a:latin typeface="+mn-lt"/>
              </a:rPr>
              <a:t>HTTP response</a:t>
            </a:r>
            <a:endParaRPr lang="en-US" altLang="en-US" sz="1800" dirty="0">
              <a:latin typeface="+mn-lt"/>
            </a:endParaRPr>
          </a:p>
          <a:p>
            <a:pPr algn="ctr">
              <a:spcBef>
                <a:spcPct val="0"/>
              </a:spcBef>
              <a:buClrTx/>
              <a:buSzTx/>
              <a:buFontTx/>
              <a:buNone/>
            </a:pPr>
            <a:r>
              <a:rPr lang="en-US" altLang="en-US" sz="1600" b="1" dirty="0">
                <a:latin typeface="+mn-lt"/>
              </a:rPr>
              <a:t>HTTP/1.0 200 OK</a:t>
            </a:r>
            <a:endParaRPr lang="en-US" altLang="en-US" sz="1600" b="1" dirty="0">
              <a:latin typeface="+mn-lt"/>
            </a:endParaRPr>
          </a:p>
          <a:p>
            <a:pPr algn="ctr">
              <a:spcBef>
                <a:spcPct val="0"/>
              </a:spcBef>
              <a:buClrTx/>
              <a:buSzTx/>
              <a:buFontTx/>
              <a:buNone/>
            </a:pPr>
            <a:r>
              <a:rPr lang="en-US" altLang="en-US" b="1" dirty="0">
                <a:latin typeface="+mn-lt"/>
              </a:rPr>
              <a:t>&lt;data&gt;</a:t>
            </a:r>
            <a:endParaRPr lang="en-US" altLang="en-US" b="1" dirty="0">
              <a:latin typeface="+mn-lt"/>
            </a:endParaRPr>
          </a:p>
          <a:p>
            <a:pPr algn="ctr">
              <a:spcBef>
                <a:spcPct val="0"/>
              </a:spcBef>
              <a:buClrTx/>
              <a:buSzTx/>
              <a:buFontTx/>
              <a:buNone/>
            </a:pPr>
            <a:endParaRPr lang="en-US" altLang="en-US" b="1" dirty="0">
              <a:latin typeface="+mn-lt"/>
            </a:endParaRPr>
          </a:p>
        </p:txBody>
      </p:sp>
      <p:sp>
        <p:nvSpPr>
          <p:cNvPr id="285" name="Text Box 39"/>
          <p:cNvSpPr txBox="1">
            <a:spLocks noChangeArrowheads="1"/>
          </p:cNvSpPr>
          <p:nvPr/>
        </p:nvSpPr>
        <p:spPr bwMode="auto">
          <a:xfrm>
            <a:off x="10499415" y="4762239"/>
            <a:ext cx="10477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1800">
                <a:solidFill>
                  <a:srgbClr val="000099"/>
                </a:solidFill>
                <a:latin typeface="+mn-lt"/>
              </a:rPr>
              <a:t>object </a:t>
            </a:r>
            <a:endParaRPr lang="en-US" altLang="en-US" sz="1800">
              <a:solidFill>
                <a:srgbClr val="000099"/>
              </a:solidFill>
              <a:latin typeface="+mn-lt"/>
            </a:endParaRPr>
          </a:p>
          <a:p>
            <a:pPr algn="ctr">
              <a:spcBef>
                <a:spcPct val="0"/>
              </a:spcBef>
              <a:buClrTx/>
              <a:buSzTx/>
              <a:buFontTx/>
              <a:buNone/>
            </a:pPr>
            <a:r>
              <a:rPr lang="en-US" altLang="en-US" sz="1800">
                <a:solidFill>
                  <a:srgbClr val="000099"/>
                </a:solidFill>
                <a:latin typeface="+mn-lt"/>
              </a:rPr>
              <a:t>modified</a:t>
            </a:r>
            <a:endParaRPr lang="en-US" altLang="en-US" sz="1800">
              <a:solidFill>
                <a:srgbClr val="000099"/>
              </a:solidFill>
              <a:latin typeface="+mn-lt"/>
            </a:endParaRPr>
          </a:p>
          <a:p>
            <a:pPr algn="ctr">
              <a:spcBef>
                <a:spcPct val="0"/>
              </a:spcBef>
              <a:buClrTx/>
              <a:buSzTx/>
              <a:buFontTx/>
              <a:buNone/>
            </a:pPr>
            <a:r>
              <a:rPr lang="en-US" altLang="en-US" sz="1800">
                <a:solidFill>
                  <a:srgbClr val="000099"/>
                </a:solidFill>
                <a:latin typeface="+mn-lt"/>
              </a:rPr>
              <a:t>after </a:t>
            </a:r>
            <a:endParaRPr lang="en-US" altLang="en-US" sz="1800">
              <a:solidFill>
                <a:srgbClr val="000099"/>
              </a:solidFill>
              <a:latin typeface="+mn-lt"/>
            </a:endParaRPr>
          </a:p>
          <a:p>
            <a:pPr algn="ctr">
              <a:spcBef>
                <a:spcPct val="0"/>
              </a:spcBef>
              <a:buClrTx/>
              <a:buSzTx/>
              <a:buFontTx/>
              <a:buNone/>
            </a:pPr>
            <a:r>
              <a:rPr lang="en-US" altLang="en-US" sz="1800">
                <a:solidFill>
                  <a:srgbClr val="000099"/>
                </a:solidFill>
                <a:latin typeface="+mn-lt"/>
              </a:rPr>
              <a:t>&lt;date&gt;</a:t>
            </a:r>
            <a:endParaRPr lang="en-US" altLang="en-US" sz="1800">
              <a:solidFill>
                <a:srgbClr val="000099"/>
              </a:solidFill>
              <a:latin typeface="+mn-lt"/>
            </a:endParaRPr>
          </a:p>
        </p:txBody>
      </p:sp>
      <p:grpSp>
        <p:nvGrpSpPr>
          <p:cNvPr id="2" name="Group 1"/>
          <p:cNvGrpSpPr/>
          <p:nvPr/>
        </p:nvGrpSpPr>
        <p:grpSpPr>
          <a:xfrm>
            <a:off x="6311590" y="931601"/>
            <a:ext cx="4549154" cy="787400"/>
            <a:chOff x="6311590" y="931601"/>
            <a:chExt cx="4549154" cy="787400"/>
          </a:xfrm>
        </p:grpSpPr>
        <p:sp>
          <p:nvSpPr>
            <p:cNvPr id="286" name="Text Box 5"/>
            <p:cNvSpPr txBox="1">
              <a:spLocks noChangeArrowheads="1"/>
            </p:cNvSpPr>
            <p:nvPr/>
          </p:nvSpPr>
          <p:spPr bwMode="auto">
            <a:xfrm>
              <a:off x="6311590" y="1015739"/>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a:solidFill>
                    <a:srgbClr val="CC0000"/>
                  </a:solidFill>
                  <a:latin typeface="+mn-lt"/>
                </a:rPr>
                <a:t>client</a:t>
              </a:r>
              <a:endParaRPr lang="en-US" altLang="en-US">
                <a:solidFill>
                  <a:srgbClr val="CC0000"/>
                </a:solidFill>
                <a:latin typeface="+mn-lt"/>
              </a:endParaRPr>
            </a:p>
          </p:txBody>
        </p:sp>
        <p:sp>
          <p:nvSpPr>
            <p:cNvPr id="287" name="Text Box 6"/>
            <p:cNvSpPr txBox="1">
              <a:spLocks noChangeArrowheads="1"/>
            </p:cNvSpPr>
            <p:nvPr/>
          </p:nvSpPr>
          <p:spPr bwMode="auto">
            <a:xfrm>
              <a:off x="10023785" y="1010976"/>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a:solidFill>
                    <a:srgbClr val="CC0000"/>
                  </a:solidFill>
                  <a:latin typeface="+mn-lt"/>
                </a:rPr>
                <a:t>server</a:t>
              </a:r>
              <a:endParaRPr lang="en-US" altLang="en-US">
                <a:solidFill>
                  <a:srgbClr val="CC0000"/>
                </a:solidFill>
                <a:latin typeface="+mn-lt"/>
              </a:endParaRPr>
            </a:p>
          </p:txBody>
        </p:sp>
        <p:grpSp>
          <p:nvGrpSpPr>
            <p:cNvPr id="288" name="Group 34"/>
            <p:cNvGrpSpPr/>
            <p:nvPr/>
          </p:nvGrpSpPr>
          <p:grpSpPr bwMode="auto">
            <a:xfrm>
              <a:off x="9588190" y="931601"/>
              <a:ext cx="422275" cy="685800"/>
              <a:chOff x="4140" y="429"/>
              <a:chExt cx="1425" cy="2396"/>
            </a:xfrm>
          </p:grpSpPr>
          <p:sp>
            <p:nvSpPr>
              <p:cNvPr id="289" name="Freeform 35"/>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90" name="Rectangle 36"/>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291" name="Freeform 37"/>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499" name="Freeform 38"/>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0" name="Rectangle 39"/>
              <p:cNvSpPr>
                <a:spLocks noChangeArrowheads="1"/>
              </p:cNvSpPr>
              <p:nvPr/>
            </p:nvSpPr>
            <p:spPr bwMode="auto">
              <a:xfrm>
                <a:off x="4210" y="695"/>
                <a:ext cx="600"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501" name="Group 40"/>
              <p:cNvGrpSpPr/>
              <p:nvPr/>
            </p:nvGrpSpPr>
            <p:grpSpPr bwMode="auto">
              <a:xfrm>
                <a:off x="4749" y="668"/>
                <a:ext cx="581" cy="145"/>
                <a:chOff x="614" y="2568"/>
                <a:chExt cx="725" cy="139"/>
              </a:xfrm>
            </p:grpSpPr>
            <p:sp>
              <p:nvSpPr>
                <p:cNvPr id="542" name="AutoShape 41"/>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43" name="AutoShape 42"/>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503" name="Rectangle 43"/>
              <p:cNvSpPr>
                <a:spLocks noChangeArrowheads="1"/>
              </p:cNvSpPr>
              <p:nvPr/>
            </p:nvSpPr>
            <p:spPr bwMode="auto">
              <a:xfrm>
                <a:off x="4226" y="1017"/>
                <a:ext cx="595"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504" name="Group 44"/>
              <p:cNvGrpSpPr/>
              <p:nvPr/>
            </p:nvGrpSpPr>
            <p:grpSpPr bwMode="auto">
              <a:xfrm>
                <a:off x="4747" y="994"/>
                <a:ext cx="581" cy="134"/>
                <a:chOff x="614" y="2568"/>
                <a:chExt cx="725" cy="139"/>
              </a:xfrm>
            </p:grpSpPr>
            <p:sp>
              <p:nvSpPr>
                <p:cNvPr id="540" name="AutoShape 45"/>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41" name="AutoShape 46"/>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505" name="Rectangle 47"/>
              <p:cNvSpPr>
                <a:spLocks noChangeArrowheads="1"/>
              </p:cNvSpPr>
              <p:nvPr/>
            </p:nvSpPr>
            <p:spPr bwMode="auto">
              <a:xfrm>
                <a:off x="4215" y="1355"/>
                <a:ext cx="600"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06" name="Rectangle 48"/>
              <p:cNvSpPr>
                <a:spLocks noChangeArrowheads="1"/>
              </p:cNvSpPr>
              <p:nvPr/>
            </p:nvSpPr>
            <p:spPr bwMode="auto">
              <a:xfrm>
                <a:off x="4226" y="1655"/>
                <a:ext cx="600"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507" name="Group 49"/>
              <p:cNvGrpSpPr/>
              <p:nvPr/>
            </p:nvGrpSpPr>
            <p:grpSpPr bwMode="auto">
              <a:xfrm>
                <a:off x="4735" y="1627"/>
                <a:ext cx="582" cy="151"/>
                <a:chOff x="614" y="2568"/>
                <a:chExt cx="725" cy="139"/>
              </a:xfrm>
            </p:grpSpPr>
            <p:sp>
              <p:nvSpPr>
                <p:cNvPr id="538" name="AutoShape 50"/>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39" name="AutoShape 51"/>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508" name="Freeform 52"/>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509" name="Group 53"/>
              <p:cNvGrpSpPr/>
              <p:nvPr/>
            </p:nvGrpSpPr>
            <p:grpSpPr bwMode="auto">
              <a:xfrm>
                <a:off x="4739" y="1327"/>
                <a:ext cx="582" cy="139"/>
                <a:chOff x="614" y="2568"/>
                <a:chExt cx="725" cy="139"/>
              </a:xfrm>
            </p:grpSpPr>
            <p:sp>
              <p:nvSpPr>
                <p:cNvPr id="536" name="AutoShape 54"/>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37" name="AutoShape 55"/>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510" name="Rectangle 56"/>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18" name="Freeform 57"/>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9" name="Freeform 58"/>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20" name="Oval 59"/>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29" name="Freeform 60"/>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30" name="AutoShape 61"/>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31" name="AutoShape 62"/>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32" name="Oval 63"/>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33" name="Oval 64"/>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latin typeface="+mn-lt"/>
                  <a:cs typeface="Arial" panose="020B0604020202020204" pitchFamily="34" charset="0"/>
                </a:endParaRPr>
              </a:p>
            </p:txBody>
          </p:sp>
          <p:sp>
            <p:nvSpPr>
              <p:cNvPr id="534" name="Oval 65"/>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35" name="Rectangle 66"/>
              <p:cNvSpPr>
                <a:spLocks noChangeArrowheads="1"/>
              </p:cNvSpPr>
              <p:nvPr/>
            </p:nvSpPr>
            <p:spPr bwMode="auto">
              <a:xfrm>
                <a:off x="5061" y="1838"/>
                <a:ext cx="86" cy="760"/>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grpSp>
          <p:nvGrpSpPr>
            <p:cNvPr id="544" name="Group 67"/>
            <p:cNvGrpSpPr/>
            <p:nvPr/>
          </p:nvGrpSpPr>
          <p:grpSpPr bwMode="auto">
            <a:xfrm>
              <a:off x="6887853" y="976051"/>
              <a:ext cx="742950" cy="742950"/>
              <a:chOff x="-44" y="1473"/>
              <a:chExt cx="981" cy="1105"/>
            </a:xfrm>
          </p:grpSpPr>
          <p:pic>
            <p:nvPicPr>
              <p:cNvPr id="545" name="Picture 68"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 name="Freeform 6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73"/>
                                        </p:tgtEl>
                                        <p:attrNameLst>
                                          <p:attrName>style.visibility</p:attrName>
                                        </p:attrNameLst>
                                      </p:cBhvr>
                                      <p:to>
                                        <p:strVal val="visible"/>
                                      </p:to>
                                    </p:set>
                                    <p:animEffect transition="in" filter="wipe(left)">
                                      <p:cBhvr>
                                        <p:cTn id="11" dur="500"/>
                                        <p:tgtEl>
                                          <p:spTgt spid="273"/>
                                        </p:tgtEl>
                                      </p:cBhvr>
                                    </p:animEffect>
                                  </p:childTnLst>
                                </p:cTn>
                              </p:par>
                              <p:par>
                                <p:cTn id="12" presetID="22" presetClass="entr" presetSubtype="8" fill="hold" grpId="0" nodeType="withEffect">
                                  <p:stCondLst>
                                    <p:cond delay="0"/>
                                  </p:stCondLst>
                                  <p:childTnLst>
                                    <p:set>
                                      <p:cBhvr>
                                        <p:cTn id="13" dur="1" fill="hold">
                                          <p:stCondLst>
                                            <p:cond delay="0"/>
                                          </p:stCondLst>
                                        </p:cTn>
                                        <p:tgtEl>
                                          <p:spTgt spid="274"/>
                                        </p:tgtEl>
                                        <p:attrNameLst>
                                          <p:attrName>style.visibility</p:attrName>
                                        </p:attrNameLst>
                                      </p:cBhvr>
                                      <p:to>
                                        <p:strVal val="visible"/>
                                      </p:to>
                                    </p:set>
                                    <p:animEffect transition="in" filter="wipe(left)">
                                      <p:cBhvr>
                                        <p:cTn id="14" dur="500"/>
                                        <p:tgtEl>
                                          <p:spTgt spid="274"/>
                                        </p:tgtEl>
                                      </p:cBhvr>
                                    </p:animEffect>
                                  </p:childTnLst>
                                </p:cTn>
                              </p:par>
                            </p:childTnLst>
                          </p:cTn>
                        </p:par>
                        <p:par>
                          <p:cTn id="15" fill="hold">
                            <p:stCondLst>
                              <p:cond delay="1000"/>
                            </p:stCondLst>
                            <p:childTnLst>
                              <p:par>
                                <p:cTn id="16" presetID="9" presetClass="entr" presetSubtype="0" fill="hold" grpId="0" nodeType="afterEffect">
                                  <p:stCondLst>
                                    <p:cond delay="0"/>
                                  </p:stCondLst>
                                  <p:childTnLst>
                                    <p:set>
                                      <p:cBhvr>
                                        <p:cTn id="17" dur="1" fill="hold">
                                          <p:stCondLst>
                                            <p:cond delay="0"/>
                                          </p:stCondLst>
                                        </p:cTn>
                                        <p:tgtEl>
                                          <p:spTgt spid="279"/>
                                        </p:tgtEl>
                                        <p:attrNameLst>
                                          <p:attrName>style.visibility</p:attrName>
                                        </p:attrNameLst>
                                      </p:cBhvr>
                                      <p:to>
                                        <p:strVal val="visible"/>
                                      </p:to>
                                    </p:set>
                                    <p:animEffect transition="in" filter="dissolve">
                                      <p:cBhvr>
                                        <p:cTn id="18" dur="500"/>
                                        <p:tgtEl>
                                          <p:spTgt spid="279"/>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2" fill="hold" nodeType="clickEffect">
                                  <p:stCondLst>
                                    <p:cond delay="0"/>
                                  </p:stCondLst>
                                  <p:childTnLst>
                                    <p:set>
                                      <p:cBhvr>
                                        <p:cTn id="22" dur="1" fill="hold">
                                          <p:stCondLst>
                                            <p:cond delay="0"/>
                                          </p:stCondLst>
                                        </p:cTn>
                                        <p:tgtEl>
                                          <p:spTgt spid="275"/>
                                        </p:tgtEl>
                                        <p:attrNameLst>
                                          <p:attrName>style.visibility</p:attrName>
                                        </p:attrNameLst>
                                      </p:cBhvr>
                                      <p:to>
                                        <p:strVal val="visible"/>
                                      </p:to>
                                    </p:set>
                                    <p:animEffect transition="in" filter="wipe(right)">
                                      <p:cBhvr>
                                        <p:cTn id="23" dur="500"/>
                                        <p:tgtEl>
                                          <p:spTgt spid="275"/>
                                        </p:tgtEl>
                                      </p:cBhvr>
                                    </p:animEffect>
                                  </p:childTnLst>
                                </p:cTn>
                              </p:par>
                              <p:par>
                                <p:cTn id="24" presetID="22" presetClass="entr" presetSubtype="2" fill="hold" nodeType="withEffect">
                                  <p:stCondLst>
                                    <p:cond delay="0"/>
                                  </p:stCondLst>
                                  <p:childTnLst>
                                    <p:set>
                                      <p:cBhvr>
                                        <p:cTn id="25" dur="1" fill="hold">
                                          <p:stCondLst>
                                            <p:cond delay="0"/>
                                          </p:stCondLst>
                                        </p:cTn>
                                        <p:tgtEl>
                                          <p:spTgt spid="276"/>
                                        </p:tgtEl>
                                        <p:attrNameLst>
                                          <p:attrName>style.visibility</p:attrName>
                                        </p:attrNameLst>
                                      </p:cBhvr>
                                      <p:to>
                                        <p:strVal val="visible"/>
                                      </p:to>
                                    </p:set>
                                    <p:animEffect transition="in" filter="wipe(right)">
                                      <p:cBhvr>
                                        <p:cTn id="26" dur="500"/>
                                        <p:tgtEl>
                                          <p:spTgt spid="276"/>
                                        </p:tgtEl>
                                      </p:cBhvr>
                                    </p:animEffec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280"/>
                                        </p:tgtEl>
                                        <p:attrNameLst>
                                          <p:attrName>style.visibility</p:attrName>
                                        </p:attrNameLst>
                                      </p:cBhvr>
                                      <p:to>
                                        <p:strVal val="visible"/>
                                      </p:to>
                                    </p:set>
                                  </p:childTnLst>
                                </p:cTn>
                              </p:par>
                            </p:childTnLst>
                          </p:cTn>
                        </p:par>
                        <p:par>
                          <p:cTn id="31" fill="hold">
                            <p:stCondLst>
                              <p:cond delay="0"/>
                            </p:stCondLst>
                            <p:childTnLst>
                              <p:par>
                                <p:cTn id="32" presetID="22" presetClass="entr" presetSubtype="8" fill="hold" nodeType="afterEffect">
                                  <p:stCondLst>
                                    <p:cond delay="0"/>
                                  </p:stCondLst>
                                  <p:childTnLst>
                                    <p:set>
                                      <p:cBhvr>
                                        <p:cTn id="33" dur="1" fill="hold">
                                          <p:stCondLst>
                                            <p:cond delay="0"/>
                                          </p:stCondLst>
                                        </p:cTn>
                                        <p:tgtEl>
                                          <p:spTgt spid="281"/>
                                        </p:tgtEl>
                                        <p:attrNameLst>
                                          <p:attrName>style.visibility</p:attrName>
                                        </p:attrNameLst>
                                      </p:cBhvr>
                                      <p:to>
                                        <p:strVal val="visible"/>
                                      </p:to>
                                    </p:set>
                                    <p:animEffect transition="in" filter="wipe(left)">
                                      <p:cBhvr>
                                        <p:cTn id="34" dur="500"/>
                                        <p:tgtEl>
                                          <p:spTgt spid="281"/>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282"/>
                                        </p:tgtEl>
                                        <p:attrNameLst>
                                          <p:attrName>style.visibility</p:attrName>
                                        </p:attrNameLst>
                                      </p:cBhvr>
                                      <p:to>
                                        <p:strVal val="visible"/>
                                      </p:to>
                                    </p:set>
                                    <p:animEffect transition="in" filter="wipe(left)">
                                      <p:cBhvr>
                                        <p:cTn id="37" dur="500"/>
                                        <p:tgtEl>
                                          <p:spTgt spid="282"/>
                                        </p:tgtEl>
                                      </p:cBhvr>
                                    </p:animEffect>
                                  </p:childTnLst>
                                </p:cTn>
                              </p:par>
                            </p:childTnLst>
                          </p:cTn>
                        </p:par>
                        <p:par>
                          <p:cTn id="38" fill="hold">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285"/>
                                        </p:tgtEl>
                                        <p:attrNameLst>
                                          <p:attrName>style.visibility</p:attrName>
                                        </p:attrNameLst>
                                      </p:cBhvr>
                                      <p:to>
                                        <p:strVal val="visible"/>
                                      </p:to>
                                    </p:set>
                                    <p:animEffect transition="in" filter="dissolve">
                                      <p:cBhvr>
                                        <p:cTn id="41" dur="500"/>
                                        <p:tgtEl>
                                          <p:spTgt spid="285"/>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2" fill="hold" nodeType="clickEffect">
                                  <p:stCondLst>
                                    <p:cond delay="0"/>
                                  </p:stCondLst>
                                  <p:childTnLst>
                                    <p:set>
                                      <p:cBhvr>
                                        <p:cTn id="45" dur="1" fill="hold">
                                          <p:stCondLst>
                                            <p:cond delay="0"/>
                                          </p:stCondLst>
                                        </p:cTn>
                                        <p:tgtEl>
                                          <p:spTgt spid="283"/>
                                        </p:tgtEl>
                                        <p:attrNameLst>
                                          <p:attrName>style.visibility</p:attrName>
                                        </p:attrNameLst>
                                      </p:cBhvr>
                                      <p:to>
                                        <p:strVal val="visible"/>
                                      </p:to>
                                    </p:set>
                                    <p:animEffect transition="in" filter="wipe(right)">
                                      <p:cBhvr>
                                        <p:cTn id="46" dur="500"/>
                                        <p:tgtEl>
                                          <p:spTgt spid="283"/>
                                        </p:tgtEl>
                                      </p:cBhvr>
                                    </p:animEffect>
                                  </p:childTnLst>
                                </p:cTn>
                              </p:par>
                              <p:par>
                                <p:cTn id="47" presetID="22" presetClass="entr" presetSubtype="2" fill="hold" grpId="0" nodeType="withEffect">
                                  <p:stCondLst>
                                    <p:cond delay="0"/>
                                  </p:stCondLst>
                                  <p:childTnLst>
                                    <p:set>
                                      <p:cBhvr>
                                        <p:cTn id="48" dur="1" fill="hold">
                                          <p:stCondLst>
                                            <p:cond delay="0"/>
                                          </p:stCondLst>
                                        </p:cTn>
                                        <p:tgtEl>
                                          <p:spTgt spid="284"/>
                                        </p:tgtEl>
                                        <p:attrNameLst>
                                          <p:attrName>style.visibility</p:attrName>
                                        </p:attrNameLst>
                                      </p:cBhvr>
                                      <p:to>
                                        <p:strVal val="visible"/>
                                      </p:to>
                                    </p:set>
                                    <p:animEffect transition="in" filter="wipe(right)">
                                      <p:cBhvr>
                                        <p:cTn id="49" dur="500"/>
                                        <p:tgtEl>
                                          <p:spTgt spid="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P spid="279" grpId="0"/>
      <p:bldP spid="282" grpId="0" animBg="1"/>
      <p:bldP spid="284" grpId="0" animBg="1"/>
      <p:bldP spid="285"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651417" y="223762"/>
            <a:ext cx="10515600" cy="894622"/>
          </a:xfrm>
        </p:spPr>
        <p:txBody>
          <a:bodyPr>
            <a:normAutofit/>
          </a:bodyPr>
          <a:lstStyle/>
          <a:p>
            <a:r>
              <a:rPr lang="en-US" sz="4400" dirty="0">
                <a:ea typeface="MS PGothic" panose="020B0600070205080204" pitchFamily="34" charset="-128"/>
              </a:rPr>
              <a:t>HTTP/2</a:t>
            </a:r>
            <a:endParaRPr lang="en-US" sz="4400" dirty="0"/>
          </a:p>
        </p:txBody>
      </p:sp>
      <p:sp>
        <p:nvSpPr>
          <p:cNvPr id="272" name="Rectangle 3"/>
          <p:cNvSpPr txBox="1">
            <a:spLocks noChangeArrowheads="1"/>
          </p:cNvSpPr>
          <p:nvPr/>
        </p:nvSpPr>
        <p:spPr>
          <a:xfrm>
            <a:off x="673719" y="1118384"/>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lgn="ctr">
              <a:buNone/>
            </a:pPr>
            <a:r>
              <a:rPr lang="en-US" altLang="en-US" i="1" dirty="0">
                <a:solidFill>
                  <a:srgbClr val="000090"/>
                </a:solidFill>
                <a:ea typeface="MS PGothic" panose="020B0600070205080204" pitchFamily="34" charset="-128"/>
              </a:rPr>
              <a:t>Key goal: </a:t>
            </a:r>
            <a:r>
              <a:rPr lang="en-US" altLang="en-US" dirty="0">
                <a:ea typeface="MS PGothic" panose="020B0600070205080204" pitchFamily="34" charset="-128"/>
              </a:rPr>
              <a:t>decreased delay in multi-object </a:t>
            </a:r>
            <a:r>
              <a:rPr lang="en-US" altLang="en-US">
                <a:ea typeface="MS PGothic" panose="020B0600070205080204" pitchFamily="34" charset="-128"/>
              </a:rPr>
              <a:t>HTTP requests</a:t>
            </a:r>
            <a:endParaRPr lang="en-US" altLang="en-US" dirty="0">
              <a:ea typeface="MS PGothic" panose="020B0600070205080204" pitchFamily="34" charset="-128"/>
            </a:endParaRPr>
          </a:p>
          <a:p>
            <a:pPr lvl="1"/>
            <a:endParaRPr lang="en-US" altLang="en-US" dirty="0">
              <a:ea typeface="MS PGothic" panose="020B0600070205080204" pitchFamily="34" charset="-128"/>
            </a:endParaRPr>
          </a:p>
        </p:txBody>
      </p:sp>
      <p:sp>
        <p:nvSpPr>
          <p:cNvPr id="57" name="Rectangle 3"/>
          <p:cNvSpPr txBox="1">
            <a:spLocks noChangeArrowheads="1"/>
          </p:cNvSpPr>
          <p:nvPr/>
        </p:nvSpPr>
        <p:spPr>
          <a:xfrm>
            <a:off x="914400" y="1752600"/>
            <a:ext cx="10654118" cy="393044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indent="0">
              <a:buNone/>
            </a:pPr>
            <a:r>
              <a:rPr lang="en-US" altLang="en-US" sz="3200" i="1" u="sng" dirty="0">
                <a:solidFill>
                  <a:srgbClr val="C00000"/>
                </a:solidFill>
                <a:ea typeface="MS PGothic" panose="020B0600070205080204" pitchFamily="34" charset="-128"/>
              </a:rPr>
              <a:t>HTTP1.1:</a:t>
            </a:r>
            <a:r>
              <a:rPr lang="en-US" altLang="en-US" sz="3200" u="sng" dirty="0">
                <a:solidFill>
                  <a:srgbClr val="C00000"/>
                </a:solidFill>
                <a:ea typeface="MS PGothic" panose="020B0600070205080204" pitchFamily="34" charset="-128"/>
              </a:rPr>
              <a:t> </a:t>
            </a:r>
            <a:r>
              <a:rPr lang="en-US" altLang="en-US" sz="3200" dirty="0">
                <a:ea typeface="MS PGothic" panose="020B0600070205080204" pitchFamily="34" charset="-128"/>
              </a:rPr>
              <a:t>introduced </a:t>
            </a:r>
            <a:r>
              <a:rPr lang="en-US" altLang="en-US" sz="3200" dirty="0">
                <a:solidFill>
                  <a:srgbClr val="0000A3"/>
                </a:solidFill>
                <a:ea typeface="MS PGothic" panose="020B0600070205080204" pitchFamily="34" charset="-128"/>
              </a:rPr>
              <a:t>multiple, pipelined GETs</a:t>
            </a:r>
            <a:r>
              <a:rPr lang="en-US" altLang="en-US" sz="3200" dirty="0">
                <a:ea typeface="MS PGothic" panose="020B0600070205080204" pitchFamily="34" charset="-128"/>
              </a:rPr>
              <a:t> over single TCP connection</a:t>
            </a:r>
            <a:endParaRPr lang="en-US" altLang="en-US" sz="3200" b="1" dirty="0">
              <a:ea typeface="MS PGothic" panose="020B0600070205080204" pitchFamily="34" charset="-128"/>
            </a:endParaRPr>
          </a:p>
          <a:p>
            <a:r>
              <a:rPr lang="en-US" altLang="en-US" dirty="0">
                <a:ea typeface="MS PGothic" panose="020B0600070205080204" pitchFamily="34" charset="-128"/>
              </a:rPr>
              <a:t>server responds </a:t>
            </a:r>
            <a:r>
              <a:rPr lang="en-US" altLang="en-US" i="1" dirty="0">
                <a:ea typeface="MS PGothic" panose="020B0600070205080204" pitchFamily="34" charset="-128"/>
              </a:rPr>
              <a:t>in-order</a:t>
            </a:r>
            <a:r>
              <a:rPr lang="en-US" altLang="en-US" dirty="0">
                <a:ea typeface="MS PGothic" panose="020B0600070205080204" pitchFamily="34" charset="-128"/>
              </a:rPr>
              <a:t> (FCFS: first-come-first-served scheduling) to GET requests</a:t>
            </a:r>
            <a:endParaRPr lang="en-US" altLang="en-US" dirty="0">
              <a:ea typeface="MS PGothic" panose="020B0600070205080204" pitchFamily="34" charset="-128"/>
            </a:endParaRPr>
          </a:p>
          <a:p>
            <a:r>
              <a:rPr lang="en-US" altLang="en-US" dirty="0">
                <a:ea typeface="MS PGothic" panose="020B0600070205080204" pitchFamily="34" charset="-128"/>
              </a:rPr>
              <a:t>with FCFS, small object may have to wait for transmission  (</a:t>
            </a:r>
            <a:r>
              <a:rPr lang="en-US" altLang="en-US" dirty="0">
                <a:solidFill>
                  <a:srgbClr val="C00000"/>
                </a:solidFill>
                <a:ea typeface="MS PGothic" panose="020B0600070205080204" pitchFamily="34" charset="-128"/>
              </a:rPr>
              <a:t>head-of-line (HOL) blocking</a:t>
            </a:r>
            <a:r>
              <a:rPr lang="en-US" altLang="en-US" dirty="0">
                <a:ea typeface="MS PGothic" panose="020B0600070205080204" pitchFamily="34" charset="-128"/>
              </a:rPr>
              <a:t>) behind large object(s)</a:t>
            </a:r>
            <a:endParaRPr lang="en-US" altLang="en-US" dirty="0">
              <a:ea typeface="MS PGothic" panose="020B0600070205080204" pitchFamily="34" charset="-128"/>
            </a:endParaRPr>
          </a:p>
          <a:p>
            <a:r>
              <a:rPr lang="en-US" altLang="en-US" dirty="0">
                <a:ea typeface="MS PGothic" panose="020B0600070205080204" pitchFamily="34" charset="-128"/>
              </a:rPr>
              <a:t>loss recovery (retransmitting lost TCP segments) stalls object transmission</a:t>
            </a:r>
            <a:endParaRPr lang="en-US" altLang="en-US" dirty="0">
              <a:ea typeface="MS PGothic" panose="020B0600070205080204" pitchFamily="34" charset="-128"/>
            </a:endParaRPr>
          </a:p>
          <a:p>
            <a:pPr lvl="1"/>
            <a:endParaRPr lang="en-US" altLang="en-US" dirty="0">
              <a:ea typeface="MS PGothic" panose="020B0600070205080204" pitchFamily="34" charset="-128"/>
            </a:endParaRPr>
          </a:p>
        </p:txBody>
      </p:sp>
      <p:sp>
        <p:nvSpPr>
          <p:cNvPr id="5" name="Slide Number Placeholder 2"/>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fld>
            <a:endParaRPr lang="en-US" dirty="0"/>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651417" y="223762"/>
            <a:ext cx="10515600" cy="894622"/>
          </a:xfrm>
        </p:spPr>
        <p:txBody>
          <a:bodyPr>
            <a:normAutofit/>
          </a:bodyPr>
          <a:lstStyle/>
          <a:p>
            <a:r>
              <a:rPr lang="en-US" sz="4400" dirty="0">
                <a:ea typeface="MS PGothic" panose="020B0600070205080204" pitchFamily="34" charset="-128"/>
              </a:rPr>
              <a:t>HTTP/2</a:t>
            </a:r>
            <a:endParaRPr lang="en-US" sz="4400" dirty="0"/>
          </a:p>
        </p:txBody>
      </p:sp>
      <p:sp>
        <p:nvSpPr>
          <p:cNvPr id="272" name="Rectangle 3"/>
          <p:cNvSpPr txBox="1">
            <a:spLocks noChangeArrowheads="1"/>
          </p:cNvSpPr>
          <p:nvPr/>
        </p:nvSpPr>
        <p:spPr>
          <a:xfrm>
            <a:off x="673719" y="1118384"/>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lgn="ctr">
              <a:buNone/>
            </a:pPr>
            <a:r>
              <a:rPr lang="en-US" altLang="en-US" i="1" dirty="0">
                <a:solidFill>
                  <a:srgbClr val="000090"/>
                </a:solidFill>
                <a:ea typeface="MS PGothic" panose="020B0600070205080204" pitchFamily="34" charset="-128"/>
              </a:rPr>
              <a:t>Key goal: </a:t>
            </a:r>
            <a:r>
              <a:rPr lang="en-US" altLang="en-US" dirty="0">
                <a:ea typeface="MS PGothic" panose="020B0600070205080204" pitchFamily="34" charset="-128"/>
              </a:rPr>
              <a:t>decreased delay in multi-object </a:t>
            </a:r>
            <a:r>
              <a:rPr lang="en-US" altLang="en-US">
                <a:ea typeface="MS PGothic" panose="020B0600070205080204" pitchFamily="34" charset="-128"/>
              </a:rPr>
              <a:t>HTTP requests</a:t>
            </a:r>
            <a:endParaRPr lang="en-US" altLang="en-US" dirty="0">
              <a:ea typeface="MS PGothic" panose="020B0600070205080204" pitchFamily="34" charset="-128"/>
            </a:endParaRPr>
          </a:p>
          <a:p>
            <a:pPr lvl="1"/>
            <a:endParaRPr lang="en-US" altLang="en-US" dirty="0">
              <a:ea typeface="MS PGothic" panose="020B0600070205080204" pitchFamily="34" charset="-128"/>
            </a:endParaRPr>
          </a:p>
        </p:txBody>
      </p:sp>
      <p:sp>
        <p:nvSpPr>
          <p:cNvPr id="56" name="Rectangle 3"/>
          <p:cNvSpPr txBox="1">
            <a:spLocks noChangeArrowheads="1"/>
          </p:cNvSpPr>
          <p:nvPr/>
        </p:nvSpPr>
        <p:spPr>
          <a:xfrm>
            <a:off x="1003084" y="2048927"/>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indent="0">
              <a:buNone/>
            </a:pPr>
            <a:r>
              <a:rPr lang="en-US" altLang="en-US" sz="3200" i="1" u="sng" dirty="0">
                <a:solidFill>
                  <a:srgbClr val="C00000"/>
                </a:solidFill>
                <a:ea typeface="MS PGothic" panose="020B0600070205080204" pitchFamily="34" charset="-128"/>
              </a:rPr>
              <a:t>HTTP/2:</a:t>
            </a:r>
            <a:r>
              <a:rPr lang="en-US" altLang="en-US" sz="3200" dirty="0">
                <a:ea typeface="MS PGothic" panose="020B0600070205080204" pitchFamily="34" charset="-128"/>
              </a:rPr>
              <a:t> </a:t>
            </a:r>
            <a:r>
              <a:rPr lang="en-US" altLang="en-US" sz="2000" dirty="0">
                <a:ea typeface="MS PGothic" panose="020B0600070205080204" pitchFamily="34" charset="-128"/>
              </a:rPr>
              <a:t>[RFC 7540, 2015] </a:t>
            </a:r>
            <a:r>
              <a:rPr lang="en-US" altLang="en-US" sz="3200" dirty="0">
                <a:ea typeface="MS PGothic" panose="020B0600070205080204" pitchFamily="34" charset="-128"/>
              </a:rPr>
              <a:t>increased flexibility at </a:t>
            </a:r>
            <a:r>
              <a:rPr lang="en-US" altLang="en-US" sz="3200" i="1" dirty="0">
                <a:ea typeface="MS PGothic" panose="020B0600070205080204" pitchFamily="34" charset="-128"/>
              </a:rPr>
              <a:t>server</a:t>
            </a:r>
            <a:r>
              <a:rPr lang="en-US" altLang="en-US" sz="3200" dirty="0">
                <a:ea typeface="MS PGothic" panose="020B0600070205080204" pitchFamily="34" charset="-128"/>
              </a:rPr>
              <a:t> in sending objects to client:</a:t>
            </a:r>
            <a:endParaRPr lang="en-US" altLang="en-US" sz="3200" dirty="0">
              <a:ea typeface="MS PGothic" panose="020B0600070205080204" pitchFamily="34" charset="-128"/>
            </a:endParaRPr>
          </a:p>
          <a:p>
            <a:pPr marL="346075" indent="-281305"/>
            <a:r>
              <a:rPr lang="en-US" altLang="en-US" dirty="0">
                <a:ea typeface="MS PGothic" panose="020B0600070205080204" pitchFamily="34" charset="-128"/>
              </a:rPr>
              <a:t>methods, status codes, most header fields unchanged from HTTP 1.1</a:t>
            </a:r>
            <a:endParaRPr lang="en-US" altLang="en-US" dirty="0">
              <a:ea typeface="MS PGothic" panose="020B0600070205080204" pitchFamily="34" charset="-128"/>
            </a:endParaRPr>
          </a:p>
          <a:p>
            <a:pPr marL="346075" indent="-281305"/>
            <a:r>
              <a:rPr lang="en-US" altLang="en-US" dirty="0">
                <a:ea typeface="MS PGothic" panose="020B0600070205080204" pitchFamily="34" charset="-128"/>
              </a:rPr>
              <a:t>transmission order of requested objects based on client-specified object priority </a:t>
            </a:r>
            <a:r>
              <a:rPr lang="en-US" altLang="en-US" sz="2400" dirty="0">
                <a:ea typeface="MS PGothic" panose="020B0600070205080204" pitchFamily="34" charset="-128"/>
              </a:rPr>
              <a:t>(not necessarily FCFS)</a:t>
            </a:r>
            <a:endParaRPr lang="en-US" altLang="en-US" sz="2400" dirty="0">
              <a:ea typeface="MS PGothic" panose="020B0600070205080204" pitchFamily="34" charset="-128"/>
            </a:endParaRPr>
          </a:p>
          <a:p>
            <a:pPr marL="346075" indent="-281305"/>
            <a:r>
              <a:rPr lang="en-US" altLang="en-US" i="1" dirty="0">
                <a:ea typeface="MS PGothic" panose="020B0600070205080204" pitchFamily="34" charset="-128"/>
              </a:rPr>
              <a:t>push</a:t>
            </a:r>
            <a:r>
              <a:rPr lang="en-US" altLang="en-US" dirty="0">
                <a:ea typeface="MS PGothic" panose="020B0600070205080204" pitchFamily="34" charset="-128"/>
              </a:rPr>
              <a:t> unrequested objects to client</a:t>
            </a:r>
            <a:endParaRPr lang="en-US" altLang="en-US" dirty="0">
              <a:ea typeface="MS PGothic" panose="020B0600070205080204" pitchFamily="34" charset="-128"/>
            </a:endParaRPr>
          </a:p>
          <a:p>
            <a:pPr marL="346075" indent="-281305"/>
            <a:r>
              <a:rPr lang="en-US" altLang="en-US" dirty="0">
                <a:ea typeface="MS PGothic" panose="020B0600070205080204" pitchFamily="34" charset="-128"/>
              </a:rPr>
              <a:t>divide objects into frames, schedule frames to mitigate HOL blocking</a:t>
            </a:r>
            <a:endParaRPr lang="en-US" altLang="en-US" dirty="0">
              <a:ea typeface="MS PGothic" panose="020B0600070205080204" pitchFamily="34" charset="-128"/>
            </a:endParaRPr>
          </a:p>
          <a:p>
            <a:pPr lvl="1"/>
            <a:endParaRPr lang="en-US" altLang="en-US" dirty="0">
              <a:ea typeface="MS PGothic" panose="020B0600070205080204" pitchFamily="34" charset="-128"/>
            </a:endParaRPr>
          </a:p>
          <a:p>
            <a:pPr lvl="1"/>
            <a:endParaRPr lang="en-US" altLang="en-US" dirty="0">
              <a:ea typeface="MS PGothic" panose="020B0600070205080204" pitchFamily="34" charset="-128"/>
            </a:endParaRPr>
          </a:p>
        </p:txBody>
      </p:sp>
      <p:sp>
        <p:nvSpPr>
          <p:cNvPr id="5" name="Slide Number Placeholder 2"/>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sz="4400" dirty="0">
                <a:ea typeface="MS PGothic" panose="020B0600070205080204" pitchFamily="34" charset="-128"/>
              </a:rPr>
              <a:t>HTTP/2: mitigating HOL blocking</a:t>
            </a:r>
            <a:endParaRPr lang="en-US" sz="4400" dirty="0"/>
          </a:p>
        </p:txBody>
      </p:sp>
      <p:sp>
        <p:nvSpPr>
          <p:cNvPr id="272" name="Rectangle 3"/>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altLang="en-US" dirty="0">
                <a:ea typeface="MS PGothic" panose="020B0600070205080204" pitchFamily="34" charset="-128"/>
              </a:rPr>
              <a:t>HTTP 1.1: client requests 1 large object (e.g., video file, and 3 smaller objects)</a:t>
            </a:r>
            <a:endParaRPr lang="en-US" altLang="en-US" dirty="0">
              <a:ea typeface="MS PGothic" panose="020B0600070205080204" pitchFamily="34" charset="-128"/>
            </a:endParaRPr>
          </a:p>
          <a:p>
            <a:pPr lvl="1"/>
            <a:endParaRPr lang="en-US" altLang="en-US" dirty="0">
              <a:ea typeface="MS PGothic" panose="020B0600070205080204" pitchFamily="34" charset="-128"/>
            </a:endParaRPr>
          </a:p>
        </p:txBody>
      </p:sp>
      <p:sp>
        <p:nvSpPr>
          <p:cNvPr id="11" name="Text Box 5"/>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dirty="0">
                <a:solidFill>
                  <a:srgbClr val="CC0000"/>
                </a:solidFill>
                <a:latin typeface="+mn-lt"/>
              </a:rPr>
              <a:t>client</a:t>
            </a:r>
            <a:endParaRPr lang="en-US" altLang="en-US" dirty="0">
              <a:solidFill>
                <a:srgbClr val="CC0000"/>
              </a:solidFill>
              <a:latin typeface="+mn-lt"/>
            </a:endParaRPr>
          </a:p>
        </p:txBody>
      </p:sp>
      <p:sp>
        <p:nvSpPr>
          <p:cNvPr id="12" name="Text Box 6"/>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dirty="0">
                <a:solidFill>
                  <a:srgbClr val="CC0000"/>
                </a:solidFill>
                <a:latin typeface="+mn-lt"/>
              </a:rPr>
              <a:t>server</a:t>
            </a:r>
            <a:endParaRPr lang="en-US" altLang="en-US" dirty="0">
              <a:solidFill>
                <a:srgbClr val="CC0000"/>
              </a:solidFill>
              <a:latin typeface="+mn-lt"/>
            </a:endParaRPr>
          </a:p>
        </p:txBody>
      </p:sp>
      <p:grpSp>
        <p:nvGrpSpPr>
          <p:cNvPr id="13" name="Group 34"/>
          <p:cNvGrpSpPr/>
          <p:nvPr/>
        </p:nvGrpSpPr>
        <p:grpSpPr bwMode="auto">
          <a:xfrm>
            <a:off x="7234967" y="2262203"/>
            <a:ext cx="422275" cy="685800"/>
            <a:chOff x="4140" y="429"/>
            <a:chExt cx="1425" cy="2396"/>
          </a:xfrm>
        </p:grpSpPr>
        <p:sp>
          <p:nvSpPr>
            <p:cNvPr id="14" name="Freeform 35"/>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 name="Rectangle 36"/>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6" name="Freeform 37"/>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 name="Freeform 38"/>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8" name="Rectangle 39"/>
            <p:cNvSpPr>
              <a:spLocks noChangeArrowheads="1"/>
            </p:cNvSpPr>
            <p:nvPr/>
          </p:nvSpPr>
          <p:spPr bwMode="auto">
            <a:xfrm>
              <a:off x="4210" y="695"/>
              <a:ext cx="600"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19" name="Group 40"/>
            <p:cNvGrpSpPr/>
            <p:nvPr/>
          </p:nvGrpSpPr>
          <p:grpSpPr bwMode="auto">
            <a:xfrm>
              <a:off x="4749" y="668"/>
              <a:ext cx="581" cy="145"/>
              <a:chOff x="614" y="2568"/>
              <a:chExt cx="725" cy="139"/>
            </a:xfrm>
          </p:grpSpPr>
          <p:sp>
            <p:nvSpPr>
              <p:cNvPr id="44" name="AutoShape 41"/>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45" name="AutoShape 42"/>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20" name="Rectangle 43"/>
            <p:cNvSpPr>
              <a:spLocks noChangeArrowheads="1"/>
            </p:cNvSpPr>
            <p:nvPr/>
          </p:nvSpPr>
          <p:spPr bwMode="auto">
            <a:xfrm>
              <a:off x="4226" y="1017"/>
              <a:ext cx="595"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21" name="Group 44"/>
            <p:cNvGrpSpPr/>
            <p:nvPr/>
          </p:nvGrpSpPr>
          <p:grpSpPr bwMode="auto">
            <a:xfrm>
              <a:off x="4747" y="994"/>
              <a:ext cx="581" cy="134"/>
              <a:chOff x="614" y="2568"/>
              <a:chExt cx="725" cy="139"/>
            </a:xfrm>
          </p:grpSpPr>
          <p:sp>
            <p:nvSpPr>
              <p:cNvPr id="42" name="AutoShape 45"/>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43" name="AutoShape 46"/>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22" name="Rectangle 47"/>
            <p:cNvSpPr>
              <a:spLocks noChangeArrowheads="1"/>
            </p:cNvSpPr>
            <p:nvPr/>
          </p:nvSpPr>
          <p:spPr bwMode="auto">
            <a:xfrm>
              <a:off x="4215" y="1355"/>
              <a:ext cx="600"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23" name="Rectangle 48"/>
            <p:cNvSpPr>
              <a:spLocks noChangeArrowheads="1"/>
            </p:cNvSpPr>
            <p:nvPr/>
          </p:nvSpPr>
          <p:spPr bwMode="auto">
            <a:xfrm>
              <a:off x="4226" y="1655"/>
              <a:ext cx="600"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24" name="Group 49"/>
            <p:cNvGrpSpPr/>
            <p:nvPr/>
          </p:nvGrpSpPr>
          <p:grpSpPr bwMode="auto">
            <a:xfrm>
              <a:off x="4735" y="1627"/>
              <a:ext cx="582" cy="151"/>
              <a:chOff x="614" y="2568"/>
              <a:chExt cx="725" cy="139"/>
            </a:xfrm>
          </p:grpSpPr>
          <p:sp>
            <p:nvSpPr>
              <p:cNvPr id="40" name="AutoShape 50"/>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41" name="AutoShape 51"/>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25" name="Freeform 52"/>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6" name="Group 53"/>
            <p:cNvGrpSpPr/>
            <p:nvPr/>
          </p:nvGrpSpPr>
          <p:grpSpPr bwMode="auto">
            <a:xfrm>
              <a:off x="4739" y="1327"/>
              <a:ext cx="582" cy="139"/>
              <a:chOff x="614" y="2568"/>
              <a:chExt cx="725" cy="139"/>
            </a:xfrm>
          </p:grpSpPr>
          <p:sp>
            <p:nvSpPr>
              <p:cNvPr id="38" name="AutoShape 54"/>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9" name="AutoShape 55"/>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27" name="Rectangle 56"/>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28" name="Freeform 57"/>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9" name="Freeform 58"/>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30" name="Oval 59"/>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1" name="Freeform 60"/>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32" name="AutoShape 61"/>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3" name="AutoShape 62"/>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4" name="Oval 63"/>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5" name="Oval 64"/>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latin typeface="+mn-lt"/>
                <a:cs typeface="Arial" panose="020B0604020202020204" pitchFamily="34" charset="0"/>
              </a:endParaRPr>
            </a:p>
          </p:txBody>
        </p:sp>
        <p:sp>
          <p:nvSpPr>
            <p:cNvPr id="36" name="Oval 65"/>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7" name="Rectangle 66"/>
            <p:cNvSpPr>
              <a:spLocks noChangeArrowheads="1"/>
            </p:cNvSpPr>
            <p:nvPr/>
          </p:nvSpPr>
          <p:spPr bwMode="auto">
            <a:xfrm>
              <a:off x="5061" y="1838"/>
              <a:ext cx="86" cy="760"/>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grpSp>
        <p:nvGrpSpPr>
          <p:cNvPr id="46" name="Group 67"/>
          <p:cNvGrpSpPr/>
          <p:nvPr/>
        </p:nvGrpSpPr>
        <p:grpSpPr bwMode="auto">
          <a:xfrm>
            <a:off x="2885332" y="2291964"/>
            <a:ext cx="742950" cy="742950"/>
            <a:chOff x="-44" y="1473"/>
            <a:chExt cx="981" cy="1105"/>
          </a:xfrm>
        </p:grpSpPr>
        <p:pic>
          <p:nvPicPr>
            <p:cNvPr id="47" name="Picture 68"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cxnSp>
        <p:nvCxnSpPr>
          <p:cNvPr id="5" name="Straight Arrow Connector 4"/>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6093263" y="2667596"/>
            <a:ext cx="892099" cy="338554"/>
          </a:xfrm>
          <a:prstGeom prst="rect">
            <a:avLst/>
          </a:prstGeom>
          <a:noFill/>
        </p:spPr>
        <p:txBody>
          <a:bodyPr wrap="square" rtlCol="0">
            <a:spAutoFit/>
          </a:bodyPr>
          <a:lstStyle/>
          <a:p>
            <a:r>
              <a:rPr lang="en-US" sz="1600" dirty="0"/>
              <a:t>GET O</a:t>
            </a:r>
            <a:r>
              <a:rPr lang="en-US" sz="1600" baseline="-25000" dirty="0"/>
              <a:t>1</a:t>
            </a:r>
            <a:endParaRPr lang="en-US" sz="1600" baseline="-25000" dirty="0"/>
          </a:p>
        </p:txBody>
      </p:sp>
      <p:sp>
        <p:nvSpPr>
          <p:cNvPr id="51" name="TextBox 50"/>
          <p:cNvSpPr txBox="1"/>
          <p:nvPr/>
        </p:nvSpPr>
        <p:spPr>
          <a:xfrm>
            <a:off x="5291796" y="2596769"/>
            <a:ext cx="892099" cy="338554"/>
          </a:xfrm>
          <a:prstGeom prst="rect">
            <a:avLst/>
          </a:prstGeom>
          <a:noFill/>
        </p:spPr>
        <p:txBody>
          <a:bodyPr wrap="square" rtlCol="0">
            <a:spAutoFit/>
          </a:bodyPr>
          <a:lstStyle/>
          <a:p>
            <a:r>
              <a:rPr lang="en-US" sz="1600" dirty="0"/>
              <a:t>GET O</a:t>
            </a:r>
            <a:r>
              <a:rPr lang="en-US" sz="1600" baseline="-25000" dirty="0"/>
              <a:t>2</a:t>
            </a:r>
            <a:endParaRPr lang="en-US" sz="1600" baseline="-25000" dirty="0"/>
          </a:p>
        </p:txBody>
      </p:sp>
      <p:sp>
        <p:nvSpPr>
          <p:cNvPr id="52" name="TextBox 51"/>
          <p:cNvSpPr txBox="1"/>
          <p:nvPr/>
        </p:nvSpPr>
        <p:spPr>
          <a:xfrm>
            <a:off x="4513773" y="2538104"/>
            <a:ext cx="892099" cy="338554"/>
          </a:xfrm>
          <a:prstGeom prst="rect">
            <a:avLst/>
          </a:prstGeom>
          <a:noFill/>
        </p:spPr>
        <p:txBody>
          <a:bodyPr wrap="square" rtlCol="0">
            <a:spAutoFit/>
          </a:bodyPr>
          <a:lstStyle/>
          <a:p>
            <a:r>
              <a:rPr lang="en-US" sz="1600" dirty="0"/>
              <a:t>GET O</a:t>
            </a:r>
            <a:r>
              <a:rPr lang="en-US" sz="1600" baseline="-25000" dirty="0"/>
              <a:t>3</a:t>
            </a:r>
            <a:endParaRPr lang="en-US" sz="1600" baseline="-25000" dirty="0"/>
          </a:p>
        </p:txBody>
      </p:sp>
      <p:sp>
        <p:nvSpPr>
          <p:cNvPr id="53" name="TextBox 52"/>
          <p:cNvSpPr txBox="1"/>
          <p:nvPr/>
        </p:nvSpPr>
        <p:spPr>
          <a:xfrm>
            <a:off x="3721264" y="2473869"/>
            <a:ext cx="892099" cy="338554"/>
          </a:xfrm>
          <a:prstGeom prst="rect">
            <a:avLst/>
          </a:prstGeom>
          <a:noFill/>
        </p:spPr>
        <p:txBody>
          <a:bodyPr wrap="square" rtlCol="0">
            <a:spAutoFit/>
          </a:bodyPr>
          <a:lstStyle/>
          <a:p>
            <a:r>
              <a:rPr lang="en-US" sz="1600" dirty="0"/>
              <a:t>GET O</a:t>
            </a:r>
            <a:r>
              <a:rPr lang="en-US" sz="1600" baseline="-25000" dirty="0"/>
              <a:t>4</a:t>
            </a:r>
            <a:endParaRPr lang="en-US" sz="1600" baseline="-25000" dirty="0"/>
          </a:p>
        </p:txBody>
      </p:sp>
      <p:sp>
        <p:nvSpPr>
          <p:cNvPr id="63" name="Rectangle 62"/>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p:cNvGrpSpPr/>
          <p:nvPr/>
        </p:nvGrpSpPr>
        <p:grpSpPr>
          <a:xfrm>
            <a:off x="3400914" y="3064264"/>
            <a:ext cx="4052925" cy="2231577"/>
            <a:chOff x="3400914" y="3064264"/>
            <a:chExt cx="4052925" cy="2231577"/>
          </a:xfrm>
        </p:grpSpPr>
        <p:cxnSp>
          <p:nvCxnSpPr>
            <p:cNvPr id="59" name="Straight Arrow Connector 58"/>
            <p:cNvCxnSpPr/>
            <p:nvPr/>
          </p:nvCxnSpPr>
          <p:spPr>
            <a:xfrm flipH="1">
              <a:off x="3400914" y="5022530"/>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Freeform 48"/>
            <p:cNvSpPr/>
            <p:nvPr/>
          </p:nvSpPr>
          <p:spPr>
            <a:xfrm>
              <a:off x="3517643" y="3064264"/>
              <a:ext cx="3868169" cy="222617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1" fmla="*/ 3896882 w 3909701"/>
                <a:gd name="connsiteY0-2" fmla="*/ 0 h 2226179"/>
                <a:gd name="connsiteX1-3" fmla="*/ 0 w 3909701"/>
                <a:gd name="connsiteY1-4" fmla="*/ 264919 h 2226179"/>
                <a:gd name="connsiteX2-5" fmla="*/ 29910 w 3909701"/>
                <a:gd name="connsiteY2-6" fmla="*/ 2226179 h 2226179"/>
                <a:gd name="connsiteX3-7" fmla="*/ 3909701 w 3909701"/>
                <a:gd name="connsiteY3-8" fmla="*/ 1969805 h 2226179"/>
                <a:gd name="connsiteX4-9" fmla="*/ 3896882 w 3909701"/>
                <a:gd name="connsiteY4-10" fmla="*/ 0 h 2226179"/>
                <a:gd name="connsiteX0-11" fmla="*/ 3896882 w 3896882"/>
                <a:gd name="connsiteY0-12" fmla="*/ 0 h 2226179"/>
                <a:gd name="connsiteX1-13" fmla="*/ 0 w 3896882"/>
                <a:gd name="connsiteY1-14" fmla="*/ 264919 h 2226179"/>
                <a:gd name="connsiteX2-15" fmla="*/ 29910 w 3896882"/>
                <a:gd name="connsiteY2-16" fmla="*/ 2226179 h 2226179"/>
                <a:gd name="connsiteX3-17" fmla="*/ 3892609 w 3896882"/>
                <a:gd name="connsiteY3-18" fmla="*/ 1974078 h 2226179"/>
                <a:gd name="connsiteX4-19" fmla="*/ 3896882 w 3896882"/>
                <a:gd name="connsiteY4-20" fmla="*/ 0 h 2226179"/>
                <a:gd name="connsiteX0-21" fmla="*/ 3871245 w 3871245"/>
                <a:gd name="connsiteY0-22" fmla="*/ 0 h 2226179"/>
                <a:gd name="connsiteX1-23" fmla="*/ 0 w 3871245"/>
                <a:gd name="connsiteY1-24" fmla="*/ 264919 h 2226179"/>
                <a:gd name="connsiteX2-25" fmla="*/ 4273 w 3871245"/>
                <a:gd name="connsiteY2-26" fmla="*/ 2226179 h 2226179"/>
                <a:gd name="connsiteX3-27" fmla="*/ 3866972 w 3871245"/>
                <a:gd name="connsiteY3-28" fmla="*/ 1974078 h 2226179"/>
                <a:gd name="connsiteX4-29" fmla="*/ 3871245 w 3871245"/>
                <a:gd name="connsiteY4-30" fmla="*/ 0 h 2226179"/>
                <a:gd name="connsiteX0-31" fmla="*/ 3867064 w 3867064"/>
                <a:gd name="connsiteY0-32" fmla="*/ 0 h 2226179"/>
                <a:gd name="connsiteX1-33" fmla="*/ 12911 w 3867064"/>
                <a:gd name="connsiteY1-34" fmla="*/ 269192 h 2226179"/>
                <a:gd name="connsiteX2-35" fmla="*/ 92 w 3867064"/>
                <a:gd name="connsiteY2-36" fmla="*/ 2226179 h 2226179"/>
                <a:gd name="connsiteX3-37" fmla="*/ 3862791 w 3867064"/>
                <a:gd name="connsiteY3-38" fmla="*/ 1974078 h 2226179"/>
                <a:gd name="connsiteX4-39" fmla="*/ 3867064 w 3867064"/>
                <a:gd name="connsiteY4-40" fmla="*/ 0 h 2226179"/>
                <a:gd name="connsiteX0-41" fmla="*/ 3867383 w 3867383"/>
                <a:gd name="connsiteY0-42" fmla="*/ 0 h 2226179"/>
                <a:gd name="connsiteX1-43" fmla="*/ 411 w 3867383"/>
                <a:gd name="connsiteY1-44" fmla="*/ 273465 h 2226179"/>
                <a:gd name="connsiteX2-45" fmla="*/ 411 w 3867383"/>
                <a:gd name="connsiteY2-46" fmla="*/ 2226179 h 2226179"/>
                <a:gd name="connsiteX3-47" fmla="*/ 3863110 w 3867383"/>
                <a:gd name="connsiteY3-48" fmla="*/ 1974078 h 2226179"/>
                <a:gd name="connsiteX4-49" fmla="*/ 3867383 w 3867383"/>
                <a:gd name="connsiteY4-50" fmla="*/ 0 h 2226179"/>
                <a:gd name="connsiteX0-51" fmla="*/ 3867383 w 3876052"/>
                <a:gd name="connsiteY0-52" fmla="*/ 0 h 2226179"/>
                <a:gd name="connsiteX1-53" fmla="*/ 411 w 3876052"/>
                <a:gd name="connsiteY1-54" fmla="*/ 273465 h 2226179"/>
                <a:gd name="connsiteX2-55" fmla="*/ 411 w 3876052"/>
                <a:gd name="connsiteY2-56" fmla="*/ 2226179 h 2226179"/>
                <a:gd name="connsiteX3-57" fmla="*/ 3875929 w 3876052"/>
                <a:gd name="connsiteY3-58" fmla="*/ 1956987 h 2226179"/>
                <a:gd name="connsiteX4-59" fmla="*/ 3867383 w 3876052"/>
                <a:gd name="connsiteY4-60" fmla="*/ 0 h 2226179"/>
                <a:gd name="connsiteX0-61" fmla="*/ 3867383 w 3871845"/>
                <a:gd name="connsiteY0-62" fmla="*/ 0 h 2226179"/>
                <a:gd name="connsiteX1-63" fmla="*/ 411 w 3871845"/>
                <a:gd name="connsiteY1-64" fmla="*/ 273465 h 2226179"/>
                <a:gd name="connsiteX2-65" fmla="*/ 411 w 3871845"/>
                <a:gd name="connsiteY2-66" fmla="*/ 2226179 h 2226179"/>
                <a:gd name="connsiteX3-67" fmla="*/ 3871656 w 3871845"/>
                <a:gd name="connsiteY3-68" fmla="*/ 1969806 h 2226179"/>
                <a:gd name="connsiteX4-69" fmla="*/ 3867383 w 3871845"/>
                <a:gd name="connsiteY4-70" fmla="*/ 0 h 2226179"/>
                <a:gd name="connsiteX0-71" fmla="*/ 3867383 w 3872034"/>
                <a:gd name="connsiteY0-72" fmla="*/ 0 h 2226179"/>
                <a:gd name="connsiteX1-73" fmla="*/ 411 w 3872034"/>
                <a:gd name="connsiteY1-74" fmla="*/ 273465 h 2226179"/>
                <a:gd name="connsiteX2-75" fmla="*/ 411 w 3872034"/>
                <a:gd name="connsiteY2-76" fmla="*/ 2226179 h 2226179"/>
                <a:gd name="connsiteX3-77" fmla="*/ 3871656 w 3872034"/>
                <a:gd name="connsiteY3-78" fmla="*/ 1969806 h 2226179"/>
                <a:gd name="connsiteX4-79" fmla="*/ 3867383 w 3872034"/>
                <a:gd name="connsiteY4-80" fmla="*/ 0 h 2226179"/>
                <a:gd name="connsiteX0-81" fmla="*/ 3867383 w 3868169"/>
                <a:gd name="connsiteY0-82" fmla="*/ 0 h 2226179"/>
                <a:gd name="connsiteX1-83" fmla="*/ 411 w 3868169"/>
                <a:gd name="connsiteY1-84" fmla="*/ 273465 h 2226179"/>
                <a:gd name="connsiteX2-85" fmla="*/ 411 w 3868169"/>
                <a:gd name="connsiteY2-86" fmla="*/ 2226179 h 2226179"/>
                <a:gd name="connsiteX3-87" fmla="*/ 3863110 w 3868169"/>
                <a:gd name="connsiteY3-88" fmla="*/ 1969806 h 2226179"/>
                <a:gd name="connsiteX4-89" fmla="*/ 3867383 w 3868169"/>
                <a:gd name="connsiteY4-90" fmla="*/ 0 h 222617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868169" h="2226179">
                  <a:moveTo>
                    <a:pt x="3867383" y="0"/>
                  </a:moveTo>
                  <a:lnTo>
                    <a:pt x="411" y="273465"/>
                  </a:lnTo>
                  <a:cubicBezTo>
                    <a:pt x="1835" y="927218"/>
                    <a:pt x="-1013" y="1572426"/>
                    <a:pt x="411" y="2226179"/>
                  </a:cubicBezTo>
                  <a:lnTo>
                    <a:pt x="3863110" y="1969806"/>
                  </a:lnTo>
                  <a:cubicBezTo>
                    <a:pt x="3864534" y="1311780"/>
                    <a:pt x="3870232" y="61529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9"/>
          <p:cNvGrpSpPr/>
          <p:nvPr/>
        </p:nvGrpSpPr>
        <p:grpSpPr>
          <a:xfrm>
            <a:off x="3389679" y="5054301"/>
            <a:ext cx="4064160" cy="386589"/>
            <a:chOff x="3389679" y="5054301"/>
            <a:chExt cx="4064160" cy="386589"/>
          </a:xfrm>
        </p:grpSpPr>
        <p:cxnSp>
          <p:nvCxnSpPr>
            <p:cNvPr id="60" name="Straight Arrow Connector 59"/>
            <p:cNvCxnSpPr/>
            <p:nvPr/>
          </p:nvCxnSpPr>
          <p:spPr>
            <a:xfrm flipH="1">
              <a:off x="3389679" y="5161562"/>
              <a:ext cx="4064160" cy="2793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Freeform 66"/>
            <p:cNvSpPr/>
            <p:nvPr/>
          </p:nvSpPr>
          <p:spPr>
            <a:xfrm>
              <a:off x="3519116" y="5054301"/>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1" fmla="*/ 3896882 w 3909701"/>
                <a:gd name="connsiteY0-2" fmla="*/ 0 h 2226179"/>
                <a:gd name="connsiteX1-3" fmla="*/ 0 w 3909701"/>
                <a:gd name="connsiteY1-4" fmla="*/ 264919 h 2226179"/>
                <a:gd name="connsiteX2-5" fmla="*/ 29910 w 3909701"/>
                <a:gd name="connsiteY2-6" fmla="*/ 2226179 h 2226179"/>
                <a:gd name="connsiteX3-7" fmla="*/ 3909701 w 3909701"/>
                <a:gd name="connsiteY3-8" fmla="*/ 1969805 h 2226179"/>
                <a:gd name="connsiteX4-9" fmla="*/ 3896882 w 3909701"/>
                <a:gd name="connsiteY4-10" fmla="*/ 0 h 2226179"/>
                <a:gd name="connsiteX0-11" fmla="*/ 3896882 w 3896882"/>
                <a:gd name="connsiteY0-12" fmla="*/ 0 h 2226179"/>
                <a:gd name="connsiteX1-13" fmla="*/ 0 w 3896882"/>
                <a:gd name="connsiteY1-14" fmla="*/ 264919 h 2226179"/>
                <a:gd name="connsiteX2-15" fmla="*/ 29910 w 3896882"/>
                <a:gd name="connsiteY2-16" fmla="*/ 2226179 h 2226179"/>
                <a:gd name="connsiteX3-17" fmla="*/ 3892609 w 3896882"/>
                <a:gd name="connsiteY3-18" fmla="*/ 1974078 h 2226179"/>
                <a:gd name="connsiteX4-19" fmla="*/ 3896882 w 3896882"/>
                <a:gd name="connsiteY4-20" fmla="*/ 0 h 2226179"/>
                <a:gd name="connsiteX0-21" fmla="*/ 3871245 w 3871245"/>
                <a:gd name="connsiteY0-22" fmla="*/ 0 h 2226179"/>
                <a:gd name="connsiteX1-23" fmla="*/ 0 w 3871245"/>
                <a:gd name="connsiteY1-24" fmla="*/ 264919 h 2226179"/>
                <a:gd name="connsiteX2-25" fmla="*/ 4273 w 3871245"/>
                <a:gd name="connsiteY2-26" fmla="*/ 2226179 h 2226179"/>
                <a:gd name="connsiteX3-27" fmla="*/ 3866972 w 3871245"/>
                <a:gd name="connsiteY3-28" fmla="*/ 1974078 h 2226179"/>
                <a:gd name="connsiteX4-29" fmla="*/ 3871245 w 3871245"/>
                <a:gd name="connsiteY4-30" fmla="*/ 0 h 2226179"/>
                <a:gd name="connsiteX0-31" fmla="*/ 3867064 w 3867064"/>
                <a:gd name="connsiteY0-32" fmla="*/ 0 h 2226179"/>
                <a:gd name="connsiteX1-33" fmla="*/ 12911 w 3867064"/>
                <a:gd name="connsiteY1-34" fmla="*/ 269192 h 2226179"/>
                <a:gd name="connsiteX2-35" fmla="*/ 92 w 3867064"/>
                <a:gd name="connsiteY2-36" fmla="*/ 2226179 h 2226179"/>
                <a:gd name="connsiteX3-37" fmla="*/ 3862791 w 3867064"/>
                <a:gd name="connsiteY3-38" fmla="*/ 1974078 h 2226179"/>
                <a:gd name="connsiteX4-39" fmla="*/ 3867064 w 3867064"/>
                <a:gd name="connsiteY4-40" fmla="*/ 0 h 2226179"/>
                <a:gd name="connsiteX0-41" fmla="*/ 3867383 w 3867383"/>
                <a:gd name="connsiteY0-42" fmla="*/ 0 h 2226179"/>
                <a:gd name="connsiteX1-43" fmla="*/ 411 w 3867383"/>
                <a:gd name="connsiteY1-44" fmla="*/ 273465 h 2226179"/>
                <a:gd name="connsiteX2-45" fmla="*/ 411 w 3867383"/>
                <a:gd name="connsiteY2-46" fmla="*/ 2226179 h 2226179"/>
                <a:gd name="connsiteX3-47" fmla="*/ 3863110 w 3867383"/>
                <a:gd name="connsiteY3-48" fmla="*/ 1974078 h 2226179"/>
                <a:gd name="connsiteX4-49" fmla="*/ 3867383 w 3867383"/>
                <a:gd name="connsiteY4-50" fmla="*/ 0 h 2226179"/>
                <a:gd name="connsiteX0-51" fmla="*/ 3892661 w 3892661"/>
                <a:gd name="connsiteY0-52" fmla="*/ 0 h 6403180"/>
                <a:gd name="connsiteX1-53" fmla="*/ 25689 w 3892661"/>
                <a:gd name="connsiteY1-54" fmla="*/ 273465 h 6403180"/>
                <a:gd name="connsiteX2-55" fmla="*/ 51 w 3892661"/>
                <a:gd name="connsiteY2-56" fmla="*/ 6403180 h 6403180"/>
                <a:gd name="connsiteX3-57" fmla="*/ 3888388 w 3892661"/>
                <a:gd name="connsiteY3-58" fmla="*/ 1974078 h 6403180"/>
                <a:gd name="connsiteX4-59" fmla="*/ 3892661 w 3892661"/>
                <a:gd name="connsiteY4-60" fmla="*/ 0 h 6403180"/>
                <a:gd name="connsiteX0-61" fmla="*/ 3896882 w 3896882"/>
                <a:gd name="connsiteY0-62" fmla="*/ 0 h 6403180"/>
                <a:gd name="connsiteX1-63" fmla="*/ 0 w 3896882"/>
                <a:gd name="connsiteY1-64" fmla="*/ 4599655 h 6403180"/>
                <a:gd name="connsiteX2-65" fmla="*/ 4272 w 3896882"/>
                <a:gd name="connsiteY2-66" fmla="*/ 6403180 h 6403180"/>
                <a:gd name="connsiteX3-67" fmla="*/ 3892609 w 3896882"/>
                <a:gd name="connsiteY3-68" fmla="*/ 1974078 h 6403180"/>
                <a:gd name="connsiteX4-69" fmla="*/ 3896882 w 3896882"/>
                <a:gd name="connsiteY4-70" fmla="*/ 0 h 6403180"/>
                <a:gd name="connsiteX0-71" fmla="*/ 3893021 w 3893021"/>
                <a:gd name="connsiteY0-72" fmla="*/ 0 h 6403180"/>
                <a:gd name="connsiteX1-73" fmla="*/ 412 w 3893021"/>
                <a:gd name="connsiteY1-74" fmla="*/ 4152108 h 6403180"/>
                <a:gd name="connsiteX2-75" fmla="*/ 411 w 3893021"/>
                <a:gd name="connsiteY2-76" fmla="*/ 6403180 h 6403180"/>
                <a:gd name="connsiteX3-77" fmla="*/ 3888748 w 3893021"/>
                <a:gd name="connsiteY3-78" fmla="*/ 1974078 h 6403180"/>
                <a:gd name="connsiteX4-79" fmla="*/ 3893021 w 3893021"/>
                <a:gd name="connsiteY4-80" fmla="*/ 0 h 6403180"/>
                <a:gd name="connsiteX0-81" fmla="*/ 3892651 w 3892651"/>
                <a:gd name="connsiteY0-82" fmla="*/ 0 h 6403180"/>
                <a:gd name="connsiteX1-83" fmla="*/ 34226 w 3892651"/>
                <a:gd name="connsiteY1-84" fmla="*/ 4375864 h 6403180"/>
                <a:gd name="connsiteX2-85" fmla="*/ 41 w 3892651"/>
                <a:gd name="connsiteY2-86" fmla="*/ 6403180 h 6403180"/>
                <a:gd name="connsiteX3-87" fmla="*/ 3888378 w 3892651"/>
                <a:gd name="connsiteY3-88" fmla="*/ 1974078 h 6403180"/>
                <a:gd name="connsiteX4-89" fmla="*/ 3892651 w 3892651"/>
                <a:gd name="connsiteY4-90" fmla="*/ 0 h 6403180"/>
                <a:gd name="connsiteX0-91" fmla="*/ 3875591 w 3875591"/>
                <a:gd name="connsiteY0-92" fmla="*/ 0 h 6552362"/>
                <a:gd name="connsiteX1-93" fmla="*/ 17166 w 3875591"/>
                <a:gd name="connsiteY1-94" fmla="*/ 4375864 h 6552362"/>
                <a:gd name="connsiteX2-95" fmla="*/ 73 w 3875591"/>
                <a:gd name="connsiteY2-96" fmla="*/ 6552362 h 6552362"/>
                <a:gd name="connsiteX3-97" fmla="*/ 3871318 w 3875591"/>
                <a:gd name="connsiteY3-98" fmla="*/ 1974078 h 6552362"/>
                <a:gd name="connsiteX4-99" fmla="*/ 3875591 w 3875591"/>
                <a:gd name="connsiteY4-100" fmla="*/ 0 h 6552362"/>
                <a:gd name="connsiteX0-101" fmla="*/ 3875928 w 3875928"/>
                <a:gd name="connsiteY0-102" fmla="*/ 0 h 6552362"/>
                <a:gd name="connsiteX1-103" fmla="*/ 412 w 3875928"/>
                <a:gd name="connsiteY1-104" fmla="*/ 4599620 h 6552362"/>
                <a:gd name="connsiteX2-105" fmla="*/ 410 w 3875928"/>
                <a:gd name="connsiteY2-106" fmla="*/ 6552362 h 6552362"/>
                <a:gd name="connsiteX3-107" fmla="*/ 3871655 w 3875928"/>
                <a:gd name="connsiteY3-108" fmla="*/ 1974078 h 6552362"/>
                <a:gd name="connsiteX4-109" fmla="*/ 3875928 w 3875928"/>
                <a:gd name="connsiteY4-110" fmla="*/ 0 h 65523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4" name="Group 53"/>
          <p:cNvGrpSpPr/>
          <p:nvPr/>
        </p:nvGrpSpPr>
        <p:grpSpPr>
          <a:xfrm>
            <a:off x="3401181" y="5445216"/>
            <a:ext cx="4028803" cy="375356"/>
            <a:chOff x="3401181" y="5445216"/>
            <a:chExt cx="4028803" cy="375356"/>
          </a:xfrm>
        </p:grpSpPr>
        <p:cxnSp>
          <p:nvCxnSpPr>
            <p:cNvPr id="62" name="Straight Arrow Connector 61"/>
            <p:cNvCxnSpPr/>
            <p:nvPr/>
          </p:nvCxnSpPr>
          <p:spPr>
            <a:xfrm flipH="1">
              <a:off x="3401181" y="5534648"/>
              <a:ext cx="4028803" cy="26998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Freeform 69"/>
            <p:cNvSpPr/>
            <p:nvPr/>
          </p:nvSpPr>
          <p:spPr>
            <a:xfrm>
              <a:off x="3504762" y="544521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1" fmla="*/ 3896882 w 3909701"/>
                <a:gd name="connsiteY0-2" fmla="*/ 0 h 2226179"/>
                <a:gd name="connsiteX1-3" fmla="*/ 0 w 3909701"/>
                <a:gd name="connsiteY1-4" fmla="*/ 264919 h 2226179"/>
                <a:gd name="connsiteX2-5" fmla="*/ 29910 w 3909701"/>
                <a:gd name="connsiteY2-6" fmla="*/ 2226179 h 2226179"/>
                <a:gd name="connsiteX3-7" fmla="*/ 3909701 w 3909701"/>
                <a:gd name="connsiteY3-8" fmla="*/ 1969805 h 2226179"/>
                <a:gd name="connsiteX4-9" fmla="*/ 3896882 w 3909701"/>
                <a:gd name="connsiteY4-10" fmla="*/ 0 h 2226179"/>
                <a:gd name="connsiteX0-11" fmla="*/ 3896882 w 3896882"/>
                <a:gd name="connsiteY0-12" fmla="*/ 0 h 2226179"/>
                <a:gd name="connsiteX1-13" fmla="*/ 0 w 3896882"/>
                <a:gd name="connsiteY1-14" fmla="*/ 264919 h 2226179"/>
                <a:gd name="connsiteX2-15" fmla="*/ 29910 w 3896882"/>
                <a:gd name="connsiteY2-16" fmla="*/ 2226179 h 2226179"/>
                <a:gd name="connsiteX3-17" fmla="*/ 3892609 w 3896882"/>
                <a:gd name="connsiteY3-18" fmla="*/ 1974078 h 2226179"/>
                <a:gd name="connsiteX4-19" fmla="*/ 3896882 w 3896882"/>
                <a:gd name="connsiteY4-20" fmla="*/ 0 h 2226179"/>
                <a:gd name="connsiteX0-21" fmla="*/ 3871245 w 3871245"/>
                <a:gd name="connsiteY0-22" fmla="*/ 0 h 2226179"/>
                <a:gd name="connsiteX1-23" fmla="*/ 0 w 3871245"/>
                <a:gd name="connsiteY1-24" fmla="*/ 264919 h 2226179"/>
                <a:gd name="connsiteX2-25" fmla="*/ 4273 w 3871245"/>
                <a:gd name="connsiteY2-26" fmla="*/ 2226179 h 2226179"/>
                <a:gd name="connsiteX3-27" fmla="*/ 3866972 w 3871245"/>
                <a:gd name="connsiteY3-28" fmla="*/ 1974078 h 2226179"/>
                <a:gd name="connsiteX4-29" fmla="*/ 3871245 w 3871245"/>
                <a:gd name="connsiteY4-30" fmla="*/ 0 h 2226179"/>
                <a:gd name="connsiteX0-31" fmla="*/ 3867064 w 3867064"/>
                <a:gd name="connsiteY0-32" fmla="*/ 0 h 2226179"/>
                <a:gd name="connsiteX1-33" fmla="*/ 12911 w 3867064"/>
                <a:gd name="connsiteY1-34" fmla="*/ 269192 h 2226179"/>
                <a:gd name="connsiteX2-35" fmla="*/ 92 w 3867064"/>
                <a:gd name="connsiteY2-36" fmla="*/ 2226179 h 2226179"/>
                <a:gd name="connsiteX3-37" fmla="*/ 3862791 w 3867064"/>
                <a:gd name="connsiteY3-38" fmla="*/ 1974078 h 2226179"/>
                <a:gd name="connsiteX4-39" fmla="*/ 3867064 w 3867064"/>
                <a:gd name="connsiteY4-40" fmla="*/ 0 h 2226179"/>
                <a:gd name="connsiteX0-41" fmla="*/ 3867383 w 3867383"/>
                <a:gd name="connsiteY0-42" fmla="*/ 0 h 2226179"/>
                <a:gd name="connsiteX1-43" fmla="*/ 411 w 3867383"/>
                <a:gd name="connsiteY1-44" fmla="*/ 273465 h 2226179"/>
                <a:gd name="connsiteX2-45" fmla="*/ 411 w 3867383"/>
                <a:gd name="connsiteY2-46" fmla="*/ 2226179 h 2226179"/>
                <a:gd name="connsiteX3-47" fmla="*/ 3863110 w 3867383"/>
                <a:gd name="connsiteY3-48" fmla="*/ 1974078 h 2226179"/>
                <a:gd name="connsiteX4-49" fmla="*/ 3867383 w 3867383"/>
                <a:gd name="connsiteY4-50" fmla="*/ 0 h 2226179"/>
                <a:gd name="connsiteX0-51" fmla="*/ 3892661 w 3892661"/>
                <a:gd name="connsiteY0-52" fmla="*/ 0 h 6403180"/>
                <a:gd name="connsiteX1-53" fmla="*/ 25689 w 3892661"/>
                <a:gd name="connsiteY1-54" fmla="*/ 273465 h 6403180"/>
                <a:gd name="connsiteX2-55" fmla="*/ 51 w 3892661"/>
                <a:gd name="connsiteY2-56" fmla="*/ 6403180 h 6403180"/>
                <a:gd name="connsiteX3-57" fmla="*/ 3888388 w 3892661"/>
                <a:gd name="connsiteY3-58" fmla="*/ 1974078 h 6403180"/>
                <a:gd name="connsiteX4-59" fmla="*/ 3892661 w 3892661"/>
                <a:gd name="connsiteY4-60" fmla="*/ 0 h 6403180"/>
                <a:gd name="connsiteX0-61" fmla="*/ 3896882 w 3896882"/>
                <a:gd name="connsiteY0-62" fmla="*/ 0 h 6403180"/>
                <a:gd name="connsiteX1-63" fmla="*/ 0 w 3896882"/>
                <a:gd name="connsiteY1-64" fmla="*/ 4599655 h 6403180"/>
                <a:gd name="connsiteX2-65" fmla="*/ 4272 w 3896882"/>
                <a:gd name="connsiteY2-66" fmla="*/ 6403180 h 6403180"/>
                <a:gd name="connsiteX3-67" fmla="*/ 3892609 w 3896882"/>
                <a:gd name="connsiteY3-68" fmla="*/ 1974078 h 6403180"/>
                <a:gd name="connsiteX4-69" fmla="*/ 3896882 w 3896882"/>
                <a:gd name="connsiteY4-70" fmla="*/ 0 h 6403180"/>
                <a:gd name="connsiteX0-71" fmla="*/ 3893021 w 3893021"/>
                <a:gd name="connsiteY0-72" fmla="*/ 0 h 6403180"/>
                <a:gd name="connsiteX1-73" fmla="*/ 412 w 3893021"/>
                <a:gd name="connsiteY1-74" fmla="*/ 4152108 h 6403180"/>
                <a:gd name="connsiteX2-75" fmla="*/ 411 w 3893021"/>
                <a:gd name="connsiteY2-76" fmla="*/ 6403180 h 6403180"/>
                <a:gd name="connsiteX3-77" fmla="*/ 3888748 w 3893021"/>
                <a:gd name="connsiteY3-78" fmla="*/ 1974078 h 6403180"/>
                <a:gd name="connsiteX4-79" fmla="*/ 3893021 w 3893021"/>
                <a:gd name="connsiteY4-80" fmla="*/ 0 h 6403180"/>
                <a:gd name="connsiteX0-81" fmla="*/ 3892651 w 3892651"/>
                <a:gd name="connsiteY0-82" fmla="*/ 0 h 6403180"/>
                <a:gd name="connsiteX1-83" fmla="*/ 34226 w 3892651"/>
                <a:gd name="connsiteY1-84" fmla="*/ 4375864 h 6403180"/>
                <a:gd name="connsiteX2-85" fmla="*/ 41 w 3892651"/>
                <a:gd name="connsiteY2-86" fmla="*/ 6403180 h 6403180"/>
                <a:gd name="connsiteX3-87" fmla="*/ 3888378 w 3892651"/>
                <a:gd name="connsiteY3-88" fmla="*/ 1974078 h 6403180"/>
                <a:gd name="connsiteX4-89" fmla="*/ 3892651 w 3892651"/>
                <a:gd name="connsiteY4-90" fmla="*/ 0 h 6403180"/>
                <a:gd name="connsiteX0-91" fmla="*/ 3875591 w 3875591"/>
                <a:gd name="connsiteY0-92" fmla="*/ 0 h 6552362"/>
                <a:gd name="connsiteX1-93" fmla="*/ 17166 w 3875591"/>
                <a:gd name="connsiteY1-94" fmla="*/ 4375864 h 6552362"/>
                <a:gd name="connsiteX2-95" fmla="*/ 73 w 3875591"/>
                <a:gd name="connsiteY2-96" fmla="*/ 6552362 h 6552362"/>
                <a:gd name="connsiteX3-97" fmla="*/ 3871318 w 3875591"/>
                <a:gd name="connsiteY3-98" fmla="*/ 1974078 h 6552362"/>
                <a:gd name="connsiteX4-99" fmla="*/ 3875591 w 3875591"/>
                <a:gd name="connsiteY4-100" fmla="*/ 0 h 6552362"/>
                <a:gd name="connsiteX0-101" fmla="*/ 3875928 w 3875928"/>
                <a:gd name="connsiteY0-102" fmla="*/ 0 h 6552362"/>
                <a:gd name="connsiteX1-103" fmla="*/ 412 w 3875928"/>
                <a:gd name="connsiteY1-104" fmla="*/ 4599620 h 6552362"/>
                <a:gd name="connsiteX2-105" fmla="*/ 410 w 3875928"/>
                <a:gd name="connsiteY2-106" fmla="*/ 6552362 h 6552362"/>
                <a:gd name="connsiteX3-107" fmla="*/ 3871655 w 3875928"/>
                <a:gd name="connsiteY3-108" fmla="*/ 1974078 h 6552362"/>
                <a:gd name="connsiteX4-109" fmla="*/ 3875928 w 3875928"/>
                <a:gd name="connsiteY4-110" fmla="*/ 0 h 65523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grpSp>
        <p:nvGrpSpPr>
          <p:cNvPr id="3" name="Group 2"/>
          <p:cNvGrpSpPr/>
          <p:nvPr/>
        </p:nvGrpSpPr>
        <p:grpSpPr>
          <a:xfrm>
            <a:off x="1750742" y="5112121"/>
            <a:ext cx="1641327" cy="338554"/>
            <a:chOff x="1750742" y="5112121"/>
            <a:chExt cx="1641327" cy="338554"/>
          </a:xfrm>
        </p:grpSpPr>
        <p:cxnSp>
          <p:nvCxnSpPr>
            <p:cNvPr id="80" name="Straight Arrow Connector 79"/>
            <p:cNvCxnSpPr/>
            <p:nvPr/>
          </p:nvCxnSpPr>
          <p:spPr>
            <a:xfrm flipH="1">
              <a:off x="1750742" y="5290443"/>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91" name="Group 90"/>
            <p:cNvGrpSpPr/>
            <p:nvPr/>
          </p:nvGrpSpPr>
          <p:grpSpPr>
            <a:xfrm>
              <a:off x="2136070" y="5112121"/>
              <a:ext cx="459104" cy="338554"/>
              <a:chOff x="2709565" y="5090498"/>
              <a:chExt cx="459104" cy="338554"/>
            </a:xfrm>
          </p:grpSpPr>
          <p:sp>
            <p:nvSpPr>
              <p:cNvPr id="90" name="Rectangle 89"/>
              <p:cNvSpPr/>
              <p:nvPr/>
            </p:nvSpPr>
            <p:spPr>
              <a:xfrm>
                <a:off x="2785241" y="5146384"/>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TextBox 84"/>
              <p:cNvSpPr txBox="1"/>
              <p:nvPr/>
            </p:nvSpPr>
            <p:spPr>
              <a:xfrm>
                <a:off x="2709565" y="5090498"/>
                <a:ext cx="459104" cy="338554"/>
              </a:xfrm>
              <a:prstGeom prst="rect">
                <a:avLst/>
              </a:prstGeom>
              <a:noFill/>
            </p:spPr>
            <p:txBody>
              <a:bodyPr wrap="square" rtlCol="0">
                <a:spAutoFit/>
              </a:bodyPr>
              <a:lstStyle/>
              <a:p>
                <a:r>
                  <a:rPr lang="en-US" sz="1600" dirty="0"/>
                  <a:t>O</a:t>
                </a:r>
                <a:r>
                  <a:rPr lang="en-US" sz="1600" baseline="-25000" dirty="0"/>
                  <a:t>1</a:t>
                </a:r>
                <a:endParaRPr lang="en-US" sz="1600" baseline="-25000" dirty="0"/>
              </a:p>
            </p:txBody>
          </p:sp>
        </p:grpSp>
      </p:grpSp>
      <p:sp>
        <p:nvSpPr>
          <p:cNvPr id="94" name="Rectangle 93"/>
          <p:cNvSpPr/>
          <p:nvPr/>
        </p:nvSpPr>
        <p:spPr>
          <a:xfrm>
            <a:off x="2453226" y="5330278"/>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p:cNvGrpSpPr/>
          <p:nvPr/>
        </p:nvGrpSpPr>
        <p:grpSpPr>
          <a:xfrm>
            <a:off x="1750742" y="5274392"/>
            <a:ext cx="1641172" cy="338554"/>
            <a:chOff x="1750742" y="5274392"/>
            <a:chExt cx="1641172" cy="338554"/>
          </a:xfrm>
        </p:grpSpPr>
        <p:cxnSp>
          <p:nvCxnSpPr>
            <p:cNvPr id="82" name="Straight Arrow Connector 81"/>
            <p:cNvCxnSpPr/>
            <p:nvPr/>
          </p:nvCxnSpPr>
          <p:spPr>
            <a:xfrm flipH="1">
              <a:off x="1750742" y="5442843"/>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p:cNvSpPr txBox="1"/>
            <p:nvPr/>
          </p:nvSpPr>
          <p:spPr>
            <a:xfrm>
              <a:off x="2384556" y="5274392"/>
              <a:ext cx="459104" cy="338554"/>
            </a:xfrm>
            <a:prstGeom prst="rect">
              <a:avLst/>
            </a:prstGeom>
            <a:noFill/>
          </p:spPr>
          <p:txBody>
            <a:bodyPr wrap="square" rtlCol="0">
              <a:spAutoFit/>
            </a:bodyPr>
            <a:lstStyle/>
            <a:p>
              <a:r>
                <a:rPr lang="en-US" sz="1600" dirty="0"/>
                <a:t>O</a:t>
              </a:r>
              <a:r>
                <a:rPr lang="en-US" sz="1600" baseline="-25000" dirty="0"/>
                <a:t>2</a:t>
              </a:r>
              <a:endParaRPr lang="en-US" sz="1600" baseline="-25000" dirty="0"/>
            </a:p>
          </p:txBody>
        </p:sp>
      </p:grpSp>
      <p:grpSp>
        <p:nvGrpSpPr>
          <p:cNvPr id="7" name="Group 6"/>
          <p:cNvGrpSpPr/>
          <p:nvPr/>
        </p:nvGrpSpPr>
        <p:grpSpPr>
          <a:xfrm>
            <a:off x="1750742" y="5500058"/>
            <a:ext cx="1644347" cy="338554"/>
            <a:chOff x="1750742" y="5500058"/>
            <a:chExt cx="1644347" cy="338554"/>
          </a:xfrm>
        </p:grpSpPr>
        <p:cxnSp>
          <p:nvCxnSpPr>
            <p:cNvPr id="83" name="Straight Arrow Connector 82"/>
            <p:cNvCxnSpPr/>
            <p:nvPr/>
          </p:nvCxnSpPr>
          <p:spPr>
            <a:xfrm flipH="1">
              <a:off x="1750742" y="5670973"/>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p:cNvSpPr txBox="1"/>
            <p:nvPr/>
          </p:nvSpPr>
          <p:spPr>
            <a:xfrm>
              <a:off x="2578111" y="5500058"/>
              <a:ext cx="459104" cy="338554"/>
            </a:xfrm>
            <a:prstGeom prst="rect">
              <a:avLst/>
            </a:prstGeom>
            <a:noFill/>
          </p:spPr>
          <p:txBody>
            <a:bodyPr wrap="square" rtlCol="0">
              <a:spAutoFit/>
            </a:bodyPr>
            <a:lstStyle/>
            <a:p>
              <a:r>
                <a:rPr lang="en-US" sz="1600" dirty="0"/>
                <a:t>O</a:t>
              </a:r>
              <a:r>
                <a:rPr lang="en-US" sz="1600" baseline="-25000" dirty="0"/>
                <a:t>3</a:t>
              </a:r>
              <a:endParaRPr lang="en-US" sz="1600" baseline="-25000" dirty="0"/>
            </a:p>
          </p:txBody>
        </p:sp>
      </p:grpSp>
      <p:grpSp>
        <p:nvGrpSpPr>
          <p:cNvPr id="55" name="Group 54"/>
          <p:cNvGrpSpPr/>
          <p:nvPr/>
        </p:nvGrpSpPr>
        <p:grpSpPr>
          <a:xfrm>
            <a:off x="1750742" y="5634943"/>
            <a:ext cx="1641326" cy="338554"/>
            <a:chOff x="1750742" y="5634943"/>
            <a:chExt cx="1641326" cy="338554"/>
          </a:xfrm>
        </p:grpSpPr>
        <p:cxnSp>
          <p:nvCxnSpPr>
            <p:cNvPr id="84" name="Straight Arrow Connector 83"/>
            <p:cNvCxnSpPr/>
            <p:nvPr/>
          </p:nvCxnSpPr>
          <p:spPr>
            <a:xfrm flipH="1">
              <a:off x="1750742"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p:cNvSpPr txBox="1"/>
            <p:nvPr/>
          </p:nvSpPr>
          <p:spPr>
            <a:xfrm>
              <a:off x="2779553" y="5634943"/>
              <a:ext cx="459104" cy="338554"/>
            </a:xfrm>
            <a:prstGeom prst="rect">
              <a:avLst/>
            </a:prstGeom>
            <a:noFill/>
          </p:spPr>
          <p:txBody>
            <a:bodyPr wrap="square" rtlCol="0">
              <a:spAutoFit/>
            </a:bodyPr>
            <a:lstStyle/>
            <a:p>
              <a:r>
                <a:rPr lang="en-US" sz="1600" dirty="0"/>
                <a:t>O</a:t>
              </a:r>
              <a:r>
                <a:rPr lang="en-US" sz="1600" baseline="-25000" dirty="0"/>
                <a:t>4</a:t>
              </a:r>
              <a:endParaRPr lang="en-US" sz="1600" baseline="-25000" dirty="0"/>
            </a:p>
          </p:txBody>
        </p:sp>
      </p:grpSp>
      <p:sp>
        <p:nvSpPr>
          <p:cNvPr id="98" name="Rectangle 97"/>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Rectangle 98"/>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Rectangle 99"/>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TextBox 91"/>
          <p:cNvSpPr txBox="1"/>
          <p:nvPr/>
        </p:nvSpPr>
        <p:spPr>
          <a:xfrm>
            <a:off x="8322039" y="2665582"/>
            <a:ext cx="2560584" cy="369332"/>
          </a:xfrm>
          <a:prstGeom prst="rect">
            <a:avLst/>
          </a:prstGeom>
          <a:noFill/>
        </p:spPr>
        <p:txBody>
          <a:bodyPr wrap="square" rtlCol="0">
            <a:spAutoFit/>
          </a:bodyPr>
          <a:lstStyle/>
          <a:p>
            <a:r>
              <a:rPr lang="en-US" dirty="0"/>
              <a:t>object data requested</a:t>
            </a:r>
            <a:endParaRPr lang="en-US" dirty="0"/>
          </a:p>
        </p:txBody>
      </p:sp>
      <p:sp>
        <p:nvSpPr>
          <p:cNvPr id="101" name="Left Arrow 100"/>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Rectangle 103"/>
          <p:cNvSpPr/>
          <p:nvPr/>
        </p:nvSpPr>
        <p:spPr>
          <a:xfrm>
            <a:off x="10065868" y="3696565"/>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a:p>
        </p:txBody>
      </p:sp>
      <p:sp>
        <p:nvSpPr>
          <p:cNvPr id="105" name="TextBox 104"/>
          <p:cNvSpPr txBox="1"/>
          <p:nvPr/>
        </p:nvSpPr>
        <p:spPr>
          <a:xfrm>
            <a:off x="9706653" y="3898744"/>
            <a:ext cx="717183" cy="707886"/>
          </a:xfrm>
          <a:prstGeom prst="rect">
            <a:avLst/>
          </a:prstGeom>
          <a:noFill/>
        </p:spPr>
        <p:txBody>
          <a:bodyPr wrap="square" rtlCol="0">
            <a:spAutoFit/>
          </a:bodyPr>
          <a:lstStyle/>
          <a:p>
            <a:r>
              <a:rPr lang="en-US" sz="2400" dirty="0"/>
              <a:t>O</a:t>
            </a:r>
            <a:r>
              <a:rPr lang="en-US" sz="2400" baseline="-25000" dirty="0"/>
              <a:t>1</a:t>
            </a:r>
            <a:endParaRPr lang="en-US" sz="2400" baseline="-25000" dirty="0"/>
          </a:p>
        </p:txBody>
      </p:sp>
      <p:sp>
        <p:nvSpPr>
          <p:cNvPr id="107" name="Rectangle 106"/>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a:p>
        </p:txBody>
      </p:sp>
      <p:sp>
        <p:nvSpPr>
          <p:cNvPr id="108" name="TextBox 107"/>
          <p:cNvSpPr txBox="1"/>
          <p:nvPr/>
        </p:nvSpPr>
        <p:spPr>
          <a:xfrm>
            <a:off x="9717406" y="4747954"/>
            <a:ext cx="717183" cy="707886"/>
          </a:xfrm>
          <a:prstGeom prst="rect">
            <a:avLst/>
          </a:prstGeom>
          <a:noFill/>
        </p:spPr>
        <p:txBody>
          <a:bodyPr wrap="square" rtlCol="0">
            <a:spAutoFit/>
          </a:bodyPr>
          <a:lstStyle/>
          <a:p>
            <a:r>
              <a:rPr lang="en-US" sz="2400" dirty="0"/>
              <a:t>O</a:t>
            </a:r>
            <a:r>
              <a:rPr lang="en-US" sz="2400" baseline="-25000" dirty="0"/>
              <a:t>2</a:t>
            </a:r>
            <a:endParaRPr lang="en-US" sz="2400" baseline="-25000" dirty="0"/>
          </a:p>
        </p:txBody>
      </p:sp>
      <p:sp>
        <p:nvSpPr>
          <p:cNvPr id="109" name="TextBox 108"/>
          <p:cNvSpPr txBox="1"/>
          <p:nvPr/>
        </p:nvSpPr>
        <p:spPr>
          <a:xfrm>
            <a:off x="9717374" y="5101897"/>
            <a:ext cx="717183" cy="707886"/>
          </a:xfrm>
          <a:prstGeom prst="rect">
            <a:avLst/>
          </a:prstGeom>
          <a:noFill/>
        </p:spPr>
        <p:txBody>
          <a:bodyPr wrap="square" rtlCol="0">
            <a:spAutoFit/>
          </a:bodyPr>
          <a:lstStyle/>
          <a:p>
            <a:r>
              <a:rPr lang="en-US" sz="2400" dirty="0"/>
              <a:t>O</a:t>
            </a:r>
            <a:r>
              <a:rPr lang="en-US" sz="2400" baseline="-25000" dirty="0"/>
              <a:t>3</a:t>
            </a:r>
            <a:endParaRPr lang="en-US" sz="2400" baseline="-25000" dirty="0"/>
          </a:p>
        </p:txBody>
      </p:sp>
      <p:sp>
        <p:nvSpPr>
          <p:cNvPr id="110" name="TextBox 109"/>
          <p:cNvSpPr txBox="1"/>
          <p:nvPr/>
        </p:nvSpPr>
        <p:spPr>
          <a:xfrm>
            <a:off x="9722211" y="5425404"/>
            <a:ext cx="717183" cy="707886"/>
          </a:xfrm>
          <a:prstGeom prst="rect">
            <a:avLst/>
          </a:prstGeom>
          <a:noFill/>
        </p:spPr>
        <p:txBody>
          <a:bodyPr wrap="square" rtlCol="0">
            <a:spAutoFit/>
          </a:bodyPr>
          <a:lstStyle/>
          <a:p>
            <a:r>
              <a:rPr lang="en-US" sz="2400" dirty="0"/>
              <a:t>O</a:t>
            </a:r>
            <a:r>
              <a:rPr lang="en-US" sz="2400" baseline="-25000" dirty="0"/>
              <a:t>4</a:t>
            </a:r>
            <a:endParaRPr lang="en-US" sz="2400" baseline="-25000" dirty="0"/>
          </a:p>
        </p:txBody>
      </p:sp>
      <p:cxnSp>
        <p:nvCxnSpPr>
          <p:cNvPr id="111" name="Straight Connector 110"/>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p:cNvSpPr txBox="1">
            <a:spLocks noChangeArrowheads="1"/>
          </p:cNvSpPr>
          <p:nvPr/>
        </p:nvSpPr>
        <p:spPr>
          <a:xfrm>
            <a:off x="2410244" y="6238081"/>
            <a:ext cx="8451975"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altLang="en-US" sz="2400" i="1" dirty="0">
                <a:ea typeface="MS PGothic" panose="020B0600070205080204" pitchFamily="34" charset="-128"/>
              </a:rPr>
              <a:t>objects delivered in order requested: O</a:t>
            </a:r>
            <a:r>
              <a:rPr lang="en-US" altLang="en-US" sz="2400" i="1" baseline="-25000" dirty="0">
                <a:ea typeface="MS PGothic" panose="020B0600070205080204" pitchFamily="34" charset="-128"/>
              </a:rPr>
              <a:t>2</a:t>
            </a:r>
            <a:r>
              <a:rPr lang="en-US" altLang="en-US" sz="2400" i="1" dirty="0">
                <a:ea typeface="MS PGothic" panose="020B0600070205080204" pitchFamily="34" charset="-128"/>
              </a:rPr>
              <a:t>, O</a:t>
            </a:r>
            <a:r>
              <a:rPr lang="en-US" altLang="en-US" sz="2400" i="1" baseline="-25000" dirty="0">
                <a:ea typeface="MS PGothic" panose="020B0600070205080204" pitchFamily="34" charset="-128"/>
              </a:rPr>
              <a:t>3</a:t>
            </a:r>
            <a:r>
              <a:rPr lang="en-US" altLang="en-US" sz="2400" i="1" dirty="0">
                <a:ea typeface="MS PGothic" panose="020B0600070205080204" pitchFamily="34" charset="-128"/>
              </a:rPr>
              <a:t>, O</a:t>
            </a:r>
            <a:r>
              <a:rPr lang="en-US" altLang="en-US" sz="2400" i="1" baseline="-25000" dirty="0">
                <a:ea typeface="MS PGothic" panose="020B0600070205080204" pitchFamily="34" charset="-128"/>
              </a:rPr>
              <a:t>4</a:t>
            </a:r>
            <a:r>
              <a:rPr lang="en-US" altLang="en-US" sz="2400" i="1" dirty="0">
                <a:ea typeface="MS PGothic" panose="020B0600070205080204" pitchFamily="34" charset="-128"/>
              </a:rPr>
              <a:t> wait behind O</a:t>
            </a:r>
            <a:r>
              <a:rPr lang="en-US" altLang="en-US" sz="2400" i="1" baseline="-25000" dirty="0">
                <a:ea typeface="MS PGothic" panose="020B0600070205080204" pitchFamily="34" charset="-128"/>
              </a:rPr>
              <a:t>1</a:t>
            </a:r>
            <a:endParaRPr lang="en-US" altLang="en-US" sz="2400" i="1" baseline="-25000" dirty="0">
              <a:ea typeface="MS PGothic" panose="020B0600070205080204" pitchFamily="34" charset="-128"/>
            </a:endParaRPr>
          </a:p>
          <a:p>
            <a:pPr lvl="1"/>
            <a:endParaRPr lang="en-US" altLang="en-US" dirty="0">
              <a:ea typeface="MS PGothic" panose="020B0600070205080204" pitchFamily="34" charset="-128"/>
            </a:endParaRPr>
          </a:p>
        </p:txBody>
      </p:sp>
      <p:grpSp>
        <p:nvGrpSpPr>
          <p:cNvPr id="57" name="Group 56"/>
          <p:cNvGrpSpPr/>
          <p:nvPr/>
        </p:nvGrpSpPr>
        <p:grpSpPr>
          <a:xfrm>
            <a:off x="3400914" y="5195255"/>
            <a:ext cx="4029070" cy="477315"/>
            <a:chOff x="3400914" y="5195255"/>
            <a:chExt cx="4029070" cy="477315"/>
          </a:xfrm>
        </p:grpSpPr>
        <p:cxnSp>
          <p:nvCxnSpPr>
            <p:cNvPr id="61" name="Straight Arrow Connector 60"/>
            <p:cNvCxnSpPr/>
            <p:nvPr/>
          </p:nvCxnSpPr>
          <p:spPr>
            <a:xfrm flipH="1">
              <a:off x="3400914" y="5403102"/>
              <a:ext cx="4029070" cy="2694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Freeform 55"/>
            <p:cNvSpPr/>
            <p:nvPr/>
          </p:nvSpPr>
          <p:spPr>
            <a:xfrm>
              <a:off x="3520812" y="5195255"/>
              <a:ext cx="3866473" cy="468804"/>
            </a:xfrm>
            <a:custGeom>
              <a:avLst/>
              <a:gdLst>
                <a:gd name="connsiteX0" fmla="*/ 0 w 3866473"/>
                <a:gd name="connsiteY0" fmla="*/ 264573 h 468804"/>
                <a:gd name="connsiteX1" fmla="*/ 0 w 3866473"/>
                <a:gd name="connsiteY1" fmla="*/ 468804 h 468804"/>
                <a:gd name="connsiteX2" fmla="*/ 3866473 w 3866473"/>
                <a:gd name="connsiteY2" fmla="*/ 204232 h 468804"/>
                <a:gd name="connsiteX3" fmla="*/ 3861832 w 3866473"/>
                <a:gd name="connsiteY3" fmla="*/ 0 h 468804"/>
                <a:gd name="connsiteX4" fmla="*/ 0 w 3866473"/>
                <a:gd name="connsiteY4" fmla="*/ 264573 h 468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6473" h="468804">
                  <a:moveTo>
                    <a:pt x="0" y="264573"/>
                  </a:moveTo>
                  <a:lnTo>
                    <a:pt x="0" y="468804"/>
                  </a:lnTo>
                  <a:lnTo>
                    <a:pt x="3866473" y="204232"/>
                  </a:lnTo>
                  <a:lnTo>
                    <a:pt x="3861832" y="0"/>
                  </a:lnTo>
                  <a:lnTo>
                    <a:pt x="0" y="26457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3"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500"/>
                                        <p:tgtEl>
                                          <p:spTgt spid="8"/>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right)">
                                      <p:cBhvr>
                                        <p:cTn id="19" dur="500"/>
                                        <p:tgtEl>
                                          <p:spTgt spid="4"/>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right)">
                                      <p:cBhvr>
                                        <p:cTn id="23" dur="500"/>
                                        <p:tgtEl>
                                          <p:spTgt spid="57"/>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500"/>
                                        <p:tgtEl>
                                          <p:spTgt spid="7"/>
                                        </p:tgtEl>
                                      </p:cBhvr>
                                    </p:animEffect>
                                  </p:childTnLst>
                                </p:cTn>
                              </p:par>
                            </p:childTnLst>
                          </p:cTn>
                        </p:par>
                        <p:par>
                          <p:cTn id="28" fill="hold">
                            <p:stCondLst>
                              <p:cond delay="30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55"/>
                                        </p:tgtEl>
                                        <p:attrNameLst>
                                          <p:attrName>style.visibility</p:attrName>
                                        </p:attrNameLst>
                                      </p:cBhvr>
                                      <p:to>
                                        <p:strVal val="visible"/>
                                      </p:to>
                                    </p:set>
                                    <p:animEffect transition="in" filter="wipe(right)">
                                      <p:cBhvr>
                                        <p:cTn id="35" dur="500"/>
                                        <p:tgtEl>
                                          <p:spTgt spid="5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7"/>
                                        </p:tgtEl>
                                        <p:attrNameLst>
                                          <p:attrName>style.visibility</p:attrName>
                                        </p:attrNameLst>
                                      </p:cBhvr>
                                      <p:to>
                                        <p:strVal val="visible"/>
                                      </p:to>
                                    </p:set>
                                    <p:animEffect transition="in" filter="dissolve">
                                      <p:cBhvr>
                                        <p:cTn id="40"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379879"/>
            <a:ext cx="10515600" cy="894622"/>
          </a:xfrm>
        </p:spPr>
        <p:txBody>
          <a:bodyPr>
            <a:normAutofit/>
          </a:bodyPr>
          <a:lstStyle/>
          <a:p>
            <a:r>
              <a:rPr lang="en-US" sz="4400" dirty="0">
                <a:ea typeface="MS PGothic" panose="020B0600070205080204" pitchFamily="34" charset="-128"/>
              </a:rPr>
              <a:t>HTTP/2: mitigating HOL blocking</a:t>
            </a:r>
            <a:endParaRPr lang="en-US" sz="4400" dirty="0"/>
          </a:p>
        </p:txBody>
      </p:sp>
      <p:sp>
        <p:nvSpPr>
          <p:cNvPr id="272" name="Rectangle 3"/>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altLang="en-US" dirty="0">
                <a:ea typeface="MS PGothic" panose="020B0600070205080204" pitchFamily="34" charset="-128"/>
              </a:rPr>
              <a:t>HTTP/2: objects divided into frames, frame transmission interleaved</a:t>
            </a:r>
            <a:endParaRPr lang="en-US" altLang="en-US" dirty="0">
              <a:ea typeface="MS PGothic" panose="020B0600070205080204" pitchFamily="34" charset="-128"/>
            </a:endParaRPr>
          </a:p>
          <a:p>
            <a:pPr lvl="1"/>
            <a:endParaRPr lang="en-US" altLang="en-US" dirty="0">
              <a:ea typeface="MS PGothic" panose="020B0600070205080204" pitchFamily="34" charset="-128"/>
            </a:endParaRPr>
          </a:p>
        </p:txBody>
      </p:sp>
      <p:sp>
        <p:nvSpPr>
          <p:cNvPr id="11" name="Text Box 5"/>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dirty="0">
                <a:solidFill>
                  <a:srgbClr val="CC0000"/>
                </a:solidFill>
                <a:latin typeface="+mn-lt"/>
              </a:rPr>
              <a:t>client</a:t>
            </a:r>
            <a:endParaRPr lang="en-US" altLang="en-US" dirty="0">
              <a:solidFill>
                <a:srgbClr val="CC0000"/>
              </a:solidFill>
              <a:latin typeface="+mn-lt"/>
            </a:endParaRPr>
          </a:p>
        </p:txBody>
      </p:sp>
      <p:sp>
        <p:nvSpPr>
          <p:cNvPr id="12" name="Text Box 6"/>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dirty="0">
                <a:solidFill>
                  <a:srgbClr val="CC0000"/>
                </a:solidFill>
                <a:latin typeface="+mn-lt"/>
              </a:rPr>
              <a:t>server</a:t>
            </a:r>
            <a:endParaRPr lang="en-US" altLang="en-US" dirty="0">
              <a:solidFill>
                <a:srgbClr val="CC0000"/>
              </a:solidFill>
              <a:latin typeface="+mn-lt"/>
            </a:endParaRPr>
          </a:p>
        </p:txBody>
      </p:sp>
      <p:grpSp>
        <p:nvGrpSpPr>
          <p:cNvPr id="13" name="Group 34"/>
          <p:cNvGrpSpPr/>
          <p:nvPr/>
        </p:nvGrpSpPr>
        <p:grpSpPr bwMode="auto">
          <a:xfrm>
            <a:off x="7234967" y="2262203"/>
            <a:ext cx="422275" cy="685800"/>
            <a:chOff x="4140" y="429"/>
            <a:chExt cx="1425" cy="2396"/>
          </a:xfrm>
        </p:grpSpPr>
        <p:sp>
          <p:nvSpPr>
            <p:cNvPr id="14" name="Freeform 35"/>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 name="Rectangle 36"/>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16" name="Freeform 37"/>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 name="Freeform 38"/>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8" name="Rectangle 39"/>
            <p:cNvSpPr>
              <a:spLocks noChangeArrowheads="1"/>
            </p:cNvSpPr>
            <p:nvPr/>
          </p:nvSpPr>
          <p:spPr bwMode="auto">
            <a:xfrm>
              <a:off x="4210" y="695"/>
              <a:ext cx="600"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19" name="Group 40"/>
            <p:cNvGrpSpPr/>
            <p:nvPr/>
          </p:nvGrpSpPr>
          <p:grpSpPr bwMode="auto">
            <a:xfrm>
              <a:off x="4749" y="668"/>
              <a:ext cx="581" cy="145"/>
              <a:chOff x="614" y="2568"/>
              <a:chExt cx="725" cy="139"/>
            </a:xfrm>
          </p:grpSpPr>
          <p:sp>
            <p:nvSpPr>
              <p:cNvPr id="44" name="AutoShape 41"/>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45" name="AutoShape 42"/>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20" name="Rectangle 43"/>
            <p:cNvSpPr>
              <a:spLocks noChangeArrowheads="1"/>
            </p:cNvSpPr>
            <p:nvPr/>
          </p:nvSpPr>
          <p:spPr bwMode="auto">
            <a:xfrm>
              <a:off x="4226" y="1017"/>
              <a:ext cx="595"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21" name="Group 44"/>
            <p:cNvGrpSpPr/>
            <p:nvPr/>
          </p:nvGrpSpPr>
          <p:grpSpPr bwMode="auto">
            <a:xfrm>
              <a:off x="4747" y="994"/>
              <a:ext cx="581" cy="134"/>
              <a:chOff x="614" y="2568"/>
              <a:chExt cx="725" cy="139"/>
            </a:xfrm>
          </p:grpSpPr>
          <p:sp>
            <p:nvSpPr>
              <p:cNvPr id="42" name="AutoShape 45"/>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43" name="AutoShape 46"/>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22" name="Rectangle 47"/>
            <p:cNvSpPr>
              <a:spLocks noChangeArrowheads="1"/>
            </p:cNvSpPr>
            <p:nvPr/>
          </p:nvSpPr>
          <p:spPr bwMode="auto">
            <a:xfrm>
              <a:off x="4215" y="1355"/>
              <a:ext cx="600"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23" name="Rectangle 48"/>
            <p:cNvSpPr>
              <a:spLocks noChangeArrowheads="1"/>
            </p:cNvSpPr>
            <p:nvPr/>
          </p:nvSpPr>
          <p:spPr bwMode="auto">
            <a:xfrm>
              <a:off x="4226" y="1655"/>
              <a:ext cx="600"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24" name="Group 49"/>
            <p:cNvGrpSpPr/>
            <p:nvPr/>
          </p:nvGrpSpPr>
          <p:grpSpPr bwMode="auto">
            <a:xfrm>
              <a:off x="4735" y="1627"/>
              <a:ext cx="582" cy="151"/>
              <a:chOff x="614" y="2568"/>
              <a:chExt cx="725" cy="139"/>
            </a:xfrm>
          </p:grpSpPr>
          <p:sp>
            <p:nvSpPr>
              <p:cNvPr id="40" name="AutoShape 50"/>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41" name="AutoShape 51"/>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25" name="Freeform 52"/>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6" name="Group 53"/>
            <p:cNvGrpSpPr/>
            <p:nvPr/>
          </p:nvGrpSpPr>
          <p:grpSpPr bwMode="auto">
            <a:xfrm>
              <a:off x="4739" y="1327"/>
              <a:ext cx="582" cy="139"/>
              <a:chOff x="614" y="2568"/>
              <a:chExt cx="725" cy="139"/>
            </a:xfrm>
          </p:grpSpPr>
          <p:sp>
            <p:nvSpPr>
              <p:cNvPr id="38" name="AutoShape 54"/>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9" name="AutoShape 55"/>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27" name="Rectangle 56"/>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28" name="Freeform 57"/>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9" name="Freeform 58"/>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30" name="Oval 59"/>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1" name="Freeform 60"/>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32" name="AutoShape 61"/>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3" name="AutoShape 62"/>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4" name="Oval 63"/>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5" name="Oval 64"/>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latin typeface="+mn-lt"/>
                <a:cs typeface="Arial" panose="020B0604020202020204" pitchFamily="34" charset="0"/>
              </a:endParaRPr>
            </a:p>
          </p:txBody>
        </p:sp>
        <p:sp>
          <p:nvSpPr>
            <p:cNvPr id="36" name="Oval 65"/>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7" name="Rectangle 66"/>
            <p:cNvSpPr>
              <a:spLocks noChangeArrowheads="1"/>
            </p:cNvSpPr>
            <p:nvPr/>
          </p:nvSpPr>
          <p:spPr bwMode="auto">
            <a:xfrm>
              <a:off x="5061" y="1838"/>
              <a:ext cx="86" cy="760"/>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grpSp>
        <p:nvGrpSpPr>
          <p:cNvPr id="46" name="Group 67"/>
          <p:cNvGrpSpPr/>
          <p:nvPr/>
        </p:nvGrpSpPr>
        <p:grpSpPr bwMode="auto">
          <a:xfrm>
            <a:off x="2885332" y="2291964"/>
            <a:ext cx="742950" cy="742950"/>
            <a:chOff x="-44" y="1473"/>
            <a:chExt cx="981" cy="1105"/>
          </a:xfrm>
        </p:grpSpPr>
        <p:pic>
          <p:nvPicPr>
            <p:cNvPr id="47" name="Picture 68"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cxnSp>
        <p:nvCxnSpPr>
          <p:cNvPr id="5" name="Straight Arrow Connector 4"/>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6093263" y="2667596"/>
            <a:ext cx="892099" cy="338554"/>
          </a:xfrm>
          <a:prstGeom prst="rect">
            <a:avLst/>
          </a:prstGeom>
          <a:noFill/>
        </p:spPr>
        <p:txBody>
          <a:bodyPr wrap="square" rtlCol="0">
            <a:spAutoFit/>
          </a:bodyPr>
          <a:lstStyle/>
          <a:p>
            <a:r>
              <a:rPr lang="en-US" sz="1600" dirty="0"/>
              <a:t>GET O</a:t>
            </a:r>
            <a:r>
              <a:rPr lang="en-US" sz="1600" baseline="-25000" dirty="0"/>
              <a:t>1</a:t>
            </a:r>
            <a:endParaRPr lang="en-US" sz="1600" baseline="-25000" dirty="0"/>
          </a:p>
        </p:txBody>
      </p:sp>
      <p:sp>
        <p:nvSpPr>
          <p:cNvPr id="51" name="TextBox 50"/>
          <p:cNvSpPr txBox="1"/>
          <p:nvPr/>
        </p:nvSpPr>
        <p:spPr>
          <a:xfrm>
            <a:off x="5291796" y="2596769"/>
            <a:ext cx="892099" cy="338554"/>
          </a:xfrm>
          <a:prstGeom prst="rect">
            <a:avLst/>
          </a:prstGeom>
          <a:noFill/>
        </p:spPr>
        <p:txBody>
          <a:bodyPr wrap="square" rtlCol="0">
            <a:spAutoFit/>
          </a:bodyPr>
          <a:lstStyle/>
          <a:p>
            <a:r>
              <a:rPr lang="en-US" sz="1600" dirty="0"/>
              <a:t>GET O</a:t>
            </a:r>
            <a:r>
              <a:rPr lang="en-US" sz="1600" baseline="-25000" dirty="0"/>
              <a:t>2</a:t>
            </a:r>
            <a:endParaRPr lang="en-US" sz="1600" baseline="-25000" dirty="0"/>
          </a:p>
        </p:txBody>
      </p:sp>
      <p:sp>
        <p:nvSpPr>
          <p:cNvPr id="52" name="TextBox 51"/>
          <p:cNvSpPr txBox="1"/>
          <p:nvPr/>
        </p:nvSpPr>
        <p:spPr>
          <a:xfrm>
            <a:off x="4513773" y="2538104"/>
            <a:ext cx="892099" cy="338554"/>
          </a:xfrm>
          <a:prstGeom prst="rect">
            <a:avLst/>
          </a:prstGeom>
          <a:noFill/>
        </p:spPr>
        <p:txBody>
          <a:bodyPr wrap="square" rtlCol="0">
            <a:spAutoFit/>
          </a:bodyPr>
          <a:lstStyle/>
          <a:p>
            <a:r>
              <a:rPr lang="en-US" sz="1600" dirty="0"/>
              <a:t>GET O</a:t>
            </a:r>
            <a:r>
              <a:rPr lang="en-US" sz="1600" baseline="-25000" dirty="0"/>
              <a:t>3</a:t>
            </a:r>
            <a:endParaRPr lang="en-US" sz="1600" baseline="-25000" dirty="0"/>
          </a:p>
        </p:txBody>
      </p:sp>
      <p:sp>
        <p:nvSpPr>
          <p:cNvPr id="53" name="TextBox 52"/>
          <p:cNvSpPr txBox="1"/>
          <p:nvPr/>
        </p:nvSpPr>
        <p:spPr>
          <a:xfrm>
            <a:off x="3721264" y="2473869"/>
            <a:ext cx="892099" cy="338554"/>
          </a:xfrm>
          <a:prstGeom prst="rect">
            <a:avLst/>
          </a:prstGeom>
          <a:noFill/>
        </p:spPr>
        <p:txBody>
          <a:bodyPr wrap="square" rtlCol="0">
            <a:spAutoFit/>
          </a:bodyPr>
          <a:lstStyle/>
          <a:p>
            <a:r>
              <a:rPr lang="en-US" sz="1600" dirty="0"/>
              <a:t>GET O</a:t>
            </a:r>
            <a:r>
              <a:rPr lang="en-US" sz="1600" baseline="-25000" dirty="0"/>
              <a:t>4</a:t>
            </a:r>
            <a:endParaRPr lang="en-US" sz="1600" baseline="-25000" dirty="0"/>
          </a:p>
        </p:txBody>
      </p:sp>
      <p:cxnSp>
        <p:nvCxnSpPr>
          <p:cNvPr id="62" name="Straight Arrow Connector 61"/>
          <p:cNvCxnSpPr/>
          <p:nvPr/>
        </p:nvCxnSpPr>
        <p:spPr>
          <a:xfrm flipH="1">
            <a:off x="3347464" y="5534648"/>
            <a:ext cx="4093672" cy="2751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Rectangle 62"/>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Freeform 48"/>
          <p:cNvSpPr/>
          <p:nvPr/>
        </p:nvSpPr>
        <p:spPr>
          <a:xfrm>
            <a:off x="3486512" y="3835610"/>
            <a:ext cx="3867383" cy="197852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1" fmla="*/ 3896882 w 3909701"/>
              <a:gd name="connsiteY0-2" fmla="*/ 0 h 2226179"/>
              <a:gd name="connsiteX1-3" fmla="*/ 0 w 3909701"/>
              <a:gd name="connsiteY1-4" fmla="*/ 264919 h 2226179"/>
              <a:gd name="connsiteX2-5" fmla="*/ 29910 w 3909701"/>
              <a:gd name="connsiteY2-6" fmla="*/ 2226179 h 2226179"/>
              <a:gd name="connsiteX3-7" fmla="*/ 3909701 w 3909701"/>
              <a:gd name="connsiteY3-8" fmla="*/ 1969805 h 2226179"/>
              <a:gd name="connsiteX4-9" fmla="*/ 3896882 w 3909701"/>
              <a:gd name="connsiteY4-10" fmla="*/ 0 h 2226179"/>
              <a:gd name="connsiteX0-11" fmla="*/ 3896882 w 3896882"/>
              <a:gd name="connsiteY0-12" fmla="*/ 0 h 2226179"/>
              <a:gd name="connsiteX1-13" fmla="*/ 0 w 3896882"/>
              <a:gd name="connsiteY1-14" fmla="*/ 264919 h 2226179"/>
              <a:gd name="connsiteX2-15" fmla="*/ 29910 w 3896882"/>
              <a:gd name="connsiteY2-16" fmla="*/ 2226179 h 2226179"/>
              <a:gd name="connsiteX3-17" fmla="*/ 3892609 w 3896882"/>
              <a:gd name="connsiteY3-18" fmla="*/ 1974078 h 2226179"/>
              <a:gd name="connsiteX4-19" fmla="*/ 3896882 w 3896882"/>
              <a:gd name="connsiteY4-20" fmla="*/ 0 h 2226179"/>
              <a:gd name="connsiteX0-21" fmla="*/ 3871245 w 3871245"/>
              <a:gd name="connsiteY0-22" fmla="*/ 0 h 2226179"/>
              <a:gd name="connsiteX1-23" fmla="*/ 0 w 3871245"/>
              <a:gd name="connsiteY1-24" fmla="*/ 264919 h 2226179"/>
              <a:gd name="connsiteX2-25" fmla="*/ 4273 w 3871245"/>
              <a:gd name="connsiteY2-26" fmla="*/ 2226179 h 2226179"/>
              <a:gd name="connsiteX3-27" fmla="*/ 3866972 w 3871245"/>
              <a:gd name="connsiteY3-28" fmla="*/ 1974078 h 2226179"/>
              <a:gd name="connsiteX4-29" fmla="*/ 3871245 w 3871245"/>
              <a:gd name="connsiteY4-30" fmla="*/ 0 h 2226179"/>
              <a:gd name="connsiteX0-31" fmla="*/ 3867064 w 3867064"/>
              <a:gd name="connsiteY0-32" fmla="*/ 0 h 2226179"/>
              <a:gd name="connsiteX1-33" fmla="*/ 12911 w 3867064"/>
              <a:gd name="connsiteY1-34" fmla="*/ 269192 h 2226179"/>
              <a:gd name="connsiteX2-35" fmla="*/ 92 w 3867064"/>
              <a:gd name="connsiteY2-36" fmla="*/ 2226179 h 2226179"/>
              <a:gd name="connsiteX3-37" fmla="*/ 3862791 w 3867064"/>
              <a:gd name="connsiteY3-38" fmla="*/ 1974078 h 2226179"/>
              <a:gd name="connsiteX4-39" fmla="*/ 3867064 w 3867064"/>
              <a:gd name="connsiteY4-40" fmla="*/ 0 h 2226179"/>
              <a:gd name="connsiteX0-41" fmla="*/ 3867383 w 3867383"/>
              <a:gd name="connsiteY0-42" fmla="*/ 0 h 2226179"/>
              <a:gd name="connsiteX1-43" fmla="*/ 411 w 3867383"/>
              <a:gd name="connsiteY1-44" fmla="*/ 273465 h 2226179"/>
              <a:gd name="connsiteX2-45" fmla="*/ 411 w 3867383"/>
              <a:gd name="connsiteY2-46" fmla="*/ 2226179 h 2226179"/>
              <a:gd name="connsiteX3-47" fmla="*/ 3863110 w 3867383"/>
              <a:gd name="connsiteY3-48" fmla="*/ 1974078 h 2226179"/>
              <a:gd name="connsiteX4-49" fmla="*/ 3867383 w 3867383"/>
              <a:gd name="connsiteY4-50" fmla="*/ 0 h 2226179"/>
              <a:gd name="connsiteX0-51" fmla="*/ 3867383 w 3876052"/>
              <a:gd name="connsiteY0-52" fmla="*/ 0 h 2226179"/>
              <a:gd name="connsiteX1-53" fmla="*/ 411 w 3876052"/>
              <a:gd name="connsiteY1-54" fmla="*/ 273465 h 2226179"/>
              <a:gd name="connsiteX2-55" fmla="*/ 411 w 3876052"/>
              <a:gd name="connsiteY2-56" fmla="*/ 2226179 h 2226179"/>
              <a:gd name="connsiteX3-57" fmla="*/ 3875929 w 3876052"/>
              <a:gd name="connsiteY3-58" fmla="*/ 1956987 h 2226179"/>
              <a:gd name="connsiteX4-59" fmla="*/ 3867383 w 3876052"/>
              <a:gd name="connsiteY4-60" fmla="*/ 0 h 2226179"/>
              <a:gd name="connsiteX0-61" fmla="*/ 3867383 w 3871845"/>
              <a:gd name="connsiteY0-62" fmla="*/ 0 h 2226179"/>
              <a:gd name="connsiteX1-63" fmla="*/ 411 w 3871845"/>
              <a:gd name="connsiteY1-64" fmla="*/ 273465 h 2226179"/>
              <a:gd name="connsiteX2-65" fmla="*/ 411 w 3871845"/>
              <a:gd name="connsiteY2-66" fmla="*/ 2226179 h 2226179"/>
              <a:gd name="connsiteX3-67" fmla="*/ 3871656 w 3871845"/>
              <a:gd name="connsiteY3-68" fmla="*/ 1969806 h 2226179"/>
              <a:gd name="connsiteX4-69" fmla="*/ 3867383 w 3871845"/>
              <a:gd name="connsiteY4-70" fmla="*/ 0 h 2226179"/>
              <a:gd name="connsiteX0-71" fmla="*/ 3867383 w 3872034"/>
              <a:gd name="connsiteY0-72" fmla="*/ 0 h 2226179"/>
              <a:gd name="connsiteX1-73" fmla="*/ 411 w 3872034"/>
              <a:gd name="connsiteY1-74" fmla="*/ 273465 h 2226179"/>
              <a:gd name="connsiteX2-75" fmla="*/ 411 w 3872034"/>
              <a:gd name="connsiteY2-76" fmla="*/ 2226179 h 2226179"/>
              <a:gd name="connsiteX3-77" fmla="*/ 3871656 w 3872034"/>
              <a:gd name="connsiteY3-78" fmla="*/ 1969806 h 2226179"/>
              <a:gd name="connsiteX4-79" fmla="*/ 3867383 w 3872034"/>
              <a:gd name="connsiteY4-80" fmla="*/ 0 h 2226179"/>
              <a:gd name="connsiteX0-81" fmla="*/ 3867383 w 3868169"/>
              <a:gd name="connsiteY0-82" fmla="*/ 0 h 2226179"/>
              <a:gd name="connsiteX1-83" fmla="*/ 411 w 3868169"/>
              <a:gd name="connsiteY1-84" fmla="*/ 273465 h 2226179"/>
              <a:gd name="connsiteX2-85" fmla="*/ 411 w 3868169"/>
              <a:gd name="connsiteY2-86" fmla="*/ 2226179 h 2226179"/>
              <a:gd name="connsiteX3-87" fmla="*/ 3863110 w 3868169"/>
              <a:gd name="connsiteY3-88" fmla="*/ 1969806 h 2226179"/>
              <a:gd name="connsiteX4-89" fmla="*/ 3867383 w 3868169"/>
              <a:gd name="connsiteY4-90" fmla="*/ 0 h 2226179"/>
              <a:gd name="connsiteX0-91" fmla="*/ 3867383 w 3867817"/>
              <a:gd name="connsiteY0-92" fmla="*/ 0 h 2226179"/>
              <a:gd name="connsiteX1-93" fmla="*/ 411 w 3867817"/>
              <a:gd name="connsiteY1-94" fmla="*/ 273465 h 2226179"/>
              <a:gd name="connsiteX2-95" fmla="*/ 411 w 3867817"/>
              <a:gd name="connsiteY2-96" fmla="*/ 2226179 h 2226179"/>
              <a:gd name="connsiteX3-97" fmla="*/ 3856760 w 3867817"/>
              <a:gd name="connsiteY3-98" fmla="*/ 1718981 h 2226179"/>
              <a:gd name="connsiteX4-99" fmla="*/ 3867383 w 3867817"/>
              <a:gd name="connsiteY4-100" fmla="*/ 0 h 2226179"/>
              <a:gd name="connsiteX0-101" fmla="*/ 3867383 w 3867817"/>
              <a:gd name="connsiteY0-102" fmla="*/ 0 h 1978529"/>
              <a:gd name="connsiteX1-103" fmla="*/ 411 w 3867817"/>
              <a:gd name="connsiteY1-104" fmla="*/ 273465 h 1978529"/>
              <a:gd name="connsiteX2-105" fmla="*/ 411 w 3867817"/>
              <a:gd name="connsiteY2-106" fmla="*/ 1978529 h 1978529"/>
              <a:gd name="connsiteX3-107" fmla="*/ 3856760 w 3867817"/>
              <a:gd name="connsiteY3-108" fmla="*/ 1718981 h 1978529"/>
              <a:gd name="connsiteX4-109" fmla="*/ 3867383 w 3867817"/>
              <a:gd name="connsiteY4-110" fmla="*/ 0 h 1978529"/>
              <a:gd name="connsiteX0-111" fmla="*/ 3867383 w 3867383"/>
              <a:gd name="connsiteY0-112" fmla="*/ 0 h 1978529"/>
              <a:gd name="connsiteX1-113" fmla="*/ 411 w 3867383"/>
              <a:gd name="connsiteY1-114" fmla="*/ 273465 h 1978529"/>
              <a:gd name="connsiteX2-115" fmla="*/ 411 w 3867383"/>
              <a:gd name="connsiteY2-116" fmla="*/ 1978529 h 1978529"/>
              <a:gd name="connsiteX3-117" fmla="*/ 3856760 w 3867383"/>
              <a:gd name="connsiteY3-118" fmla="*/ 1718981 h 1978529"/>
              <a:gd name="connsiteX4-119" fmla="*/ 3867383 w 3867383"/>
              <a:gd name="connsiteY4-120" fmla="*/ 0 h 1978529"/>
              <a:gd name="connsiteX0-121" fmla="*/ 3867383 w 3867383"/>
              <a:gd name="connsiteY0-122" fmla="*/ 0 h 1978529"/>
              <a:gd name="connsiteX1-123" fmla="*/ 411 w 3867383"/>
              <a:gd name="connsiteY1-124" fmla="*/ 273465 h 1978529"/>
              <a:gd name="connsiteX2-125" fmla="*/ 411 w 3867383"/>
              <a:gd name="connsiteY2-126" fmla="*/ 1978529 h 1978529"/>
              <a:gd name="connsiteX3-127" fmla="*/ 3856760 w 3867383"/>
              <a:gd name="connsiteY3-128" fmla="*/ 1718981 h 1978529"/>
              <a:gd name="connsiteX4-129" fmla="*/ 3867383 w 3867383"/>
              <a:gd name="connsiteY4-130" fmla="*/ 0 h 1978529"/>
              <a:gd name="connsiteX0-131" fmla="*/ 3867383 w 3867383"/>
              <a:gd name="connsiteY0-132" fmla="*/ 0 h 1978529"/>
              <a:gd name="connsiteX1-133" fmla="*/ 411 w 3867383"/>
              <a:gd name="connsiteY1-134" fmla="*/ 273465 h 1978529"/>
              <a:gd name="connsiteX2-135" fmla="*/ 411 w 3867383"/>
              <a:gd name="connsiteY2-136" fmla="*/ 1978529 h 1978529"/>
              <a:gd name="connsiteX3-137" fmla="*/ 3856760 w 3867383"/>
              <a:gd name="connsiteY3-138" fmla="*/ 1718981 h 1978529"/>
              <a:gd name="connsiteX4-139" fmla="*/ 3867383 w 3867383"/>
              <a:gd name="connsiteY4-140" fmla="*/ 0 h 1978529"/>
              <a:gd name="connsiteX0-141" fmla="*/ 3867383 w 3867383"/>
              <a:gd name="connsiteY0-142" fmla="*/ 0 h 1978529"/>
              <a:gd name="connsiteX1-143" fmla="*/ 411 w 3867383"/>
              <a:gd name="connsiteY1-144" fmla="*/ 273465 h 1978529"/>
              <a:gd name="connsiteX2-145" fmla="*/ 411 w 3867383"/>
              <a:gd name="connsiteY2-146" fmla="*/ 1978529 h 1978529"/>
              <a:gd name="connsiteX3-147" fmla="*/ 3856760 w 3867383"/>
              <a:gd name="connsiteY3-148" fmla="*/ 1718981 h 1978529"/>
              <a:gd name="connsiteX4-149" fmla="*/ 3867383 w 3867383"/>
              <a:gd name="connsiteY4-150" fmla="*/ 0 h 197852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867383" h="1978529">
                <a:moveTo>
                  <a:pt x="3867383" y="0"/>
                </a:moveTo>
                <a:lnTo>
                  <a:pt x="411" y="273465"/>
                </a:lnTo>
                <a:cubicBezTo>
                  <a:pt x="1835" y="927218"/>
                  <a:pt x="-1013" y="1324776"/>
                  <a:pt x="411" y="1978529"/>
                </a:cubicBezTo>
                <a:lnTo>
                  <a:pt x="3856760" y="1718981"/>
                </a:lnTo>
                <a:cubicBezTo>
                  <a:pt x="3862689" y="443848"/>
                  <a:pt x="3861223" y="145762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Freeform 66"/>
          <p:cNvSpPr/>
          <p:nvPr/>
        </p:nvSpPr>
        <p:spPr>
          <a:xfrm>
            <a:off x="3479865" y="32076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1" fmla="*/ 3896882 w 3909701"/>
              <a:gd name="connsiteY0-2" fmla="*/ 0 h 2226179"/>
              <a:gd name="connsiteX1-3" fmla="*/ 0 w 3909701"/>
              <a:gd name="connsiteY1-4" fmla="*/ 264919 h 2226179"/>
              <a:gd name="connsiteX2-5" fmla="*/ 29910 w 3909701"/>
              <a:gd name="connsiteY2-6" fmla="*/ 2226179 h 2226179"/>
              <a:gd name="connsiteX3-7" fmla="*/ 3909701 w 3909701"/>
              <a:gd name="connsiteY3-8" fmla="*/ 1969805 h 2226179"/>
              <a:gd name="connsiteX4-9" fmla="*/ 3896882 w 3909701"/>
              <a:gd name="connsiteY4-10" fmla="*/ 0 h 2226179"/>
              <a:gd name="connsiteX0-11" fmla="*/ 3896882 w 3896882"/>
              <a:gd name="connsiteY0-12" fmla="*/ 0 h 2226179"/>
              <a:gd name="connsiteX1-13" fmla="*/ 0 w 3896882"/>
              <a:gd name="connsiteY1-14" fmla="*/ 264919 h 2226179"/>
              <a:gd name="connsiteX2-15" fmla="*/ 29910 w 3896882"/>
              <a:gd name="connsiteY2-16" fmla="*/ 2226179 h 2226179"/>
              <a:gd name="connsiteX3-17" fmla="*/ 3892609 w 3896882"/>
              <a:gd name="connsiteY3-18" fmla="*/ 1974078 h 2226179"/>
              <a:gd name="connsiteX4-19" fmla="*/ 3896882 w 3896882"/>
              <a:gd name="connsiteY4-20" fmla="*/ 0 h 2226179"/>
              <a:gd name="connsiteX0-21" fmla="*/ 3871245 w 3871245"/>
              <a:gd name="connsiteY0-22" fmla="*/ 0 h 2226179"/>
              <a:gd name="connsiteX1-23" fmla="*/ 0 w 3871245"/>
              <a:gd name="connsiteY1-24" fmla="*/ 264919 h 2226179"/>
              <a:gd name="connsiteX2-25" fmla="*/ 4273 w 3871245"/>
              <a:gd name="connsiteY2-26" fmla="*/ 2226179 h 2226179"/>
              <a:gd name="connsiteX3-27" fmla="*/ 3866972 w 3871245"/>
              <a:gd name="connsiteY3-28" fmla="*/ 1974078 h 2226179"/>
              <a:gd name="connsiteX4-29" fmla="*/ 3871245 w 3871245"/>
              <a:gd name="connsiteY4-30" fmla="*/ 0 h 2226179"/>
              <a:gd name="connsiteX0-31" fmla="*/ 3867064 w 3867064"/>
              <a:gd name="connsiteY0-32" fmla="*/ 0 h 2226179"/>
              <a:gd name="connsiteX1-33" fmla="*/ 12911 w 3867064"/>
              <a:gd name="connsiteY1-34" fmla="*/ 269192 h 2226179"/>
              <a:gd name="connsiteX2-35" fmla="*/ 92 w 3867064"/>
              <a:gd name="connsiteY2-36" fmla="*/ 2226179 h 2226179"/>
              <a:gd name="connsiteX3-37" fmla="*/ 3862791 w 3867064"/>
              <a:gd name="connsiteY3-38" fmla="*/ 1974078 h 2226179"/>
              <a:gd name="connsiteX4-39" fmla="*/ 3867064 w 3867064"/>
              <a:gd name="connsiteY4-40" fmla="*/ 0 h 2226179"/>
              <a:gd name="connsiteX0-41" fmla="*/ 3867383 w 3867383"/>
              <a:gd name="connsiteY0-42" fmla="*/ 0 h 2226179"/>
              <a:gd name="connsiteX1-43" fmla="*/ 411 w 3867383"/>
              <a:gd name="connsiteY1-44" fmla="*/ 273465 h 2226179"/>
              <a:gd name="connsiteX2-45" fmla="*/ 411 w 3867383"/>
              <a:gd name="connsiteY2-46" fmla="*/ 2226179 h 2226179"/>
              <a:gd name="connsiteX3-47" fmla="*/ 3863110 w 3867383"/>
              <a:gd name="connsiteY3-48" fmla="*/ 1974078 h 2226179"/>
              <a:gd name="connsiteX4-49" fmla="*/ 3867383 w 3867383"/>
              <a:gd name="connsiteY4-50" fmla="*/ 0 h 2226179"/>
              <a:gd name="connsiteX0-51" fmla="*/ 3892661 w 3892661"/>
              <a:gd name="connsiteY0-52" fmla="*/ 0 h 6403180"/>
              <a:gd name="connsiteX1-53" fmla="*/ 25689 w 3892661"/>
              <a:gd name="connsiteY1-54" fmla="*/ 273465 h 6403180"/>
              <a:gd name="connsiteX2-55" fmla="*/ 51 w 3892661"/>
              <a:gd name="connsiteY2-56" fmla="*/ 6403180 h 6403180"/>
              <a:gd name="connsiteX3-57" fmla="*/ 3888388 w 3892661"/>
              <a:gd name="connsiteY3-58" fmla="*/ 1974078 h 6403180"/>
              <a:gd name="connsiteX4-59" fmla="*/ 3892661 w 3892661"/>
              <a:gd name="connsiteY4-60" fmla="*/ 0 h 6403180"/>
              <a:gd name="connsiteX0-61" fmla="*/ 3896882 w 3896882"/>
              <a:gd name="connsiteY0-62" fmla="*/ 0 h 6403180"/>
              <a:gd name="connsiteX1-63" fmla="*/ 0 w 3896882"/>
              <a:gd name="connsiteY1-64" fmla="*/ 4599655 h 6403180"/>
              <a:gd name="connsiteX2-65" fmla="*/ 4272 w 3896882"/>
              <a:gd name="connsiteY2-66" fmla="*/ 6403180 h 6403180"/>
              <a:gd name="connsiteX3-67" fmla="*/ 3892609 w 3896882"/>
              <a:gd name="connsiteY3-68" fmla="*/ 1974078 h 6403180"/>
              <a:gd name="connsiteX4-69" fmla="*/ 3896882 w 3896882"/>
              <a:gd name="connsiteY4-70" fmla="*/ 0 h 6403180"/>
              <a:gd name="connsiteX0-71" fmla="*/ 3893021 w 3893021"/>
              <a:gd name="connsiteY0-72" fmla="*/ 0 h 6403180"/>
              <a:gd name="connsiteX1-73" fmla="*/ 412 w 3893021"/>
              <a:gd name="connsiteY1-74" fmla="*/ 4152108 h 6403180"/>
              <a:gd name="connsiteX2-75" fmla="*/ 411 w 3893021"/>
              <a:gd name="connsiteY2-76" fmla="*/ 6403180 h 6403180"/>
              <a:gd name="connsiteX3-77" fmla="*/ 3888748 w 3893021"/>
              <a:gd name="connsiteY3-78" fmla="*/ 1974078 h 6403180"/>
              <a:gd name="connsiteX4-79" fmla="*/ 3893021 w 3893021"/>
              <a:gd name="connsiteY4-80" fmla="*/ 0 h 6403180"/>
              <a:gd name="connsiteX0-81" fmla="*/ 3892651 w 3892651"/>
              <a:gd name="connsiteY0-82" fmla="*/ 0 h 6403180"/>
              <a:gd name="connsiteX1-83" fmla="*/ 34226 w 3892651"/>
              <a:gd name="connsiteY1-84" fmla="*/ 4375864 h 6403180"/>
              <a:gd name="connsiteX2-85" fmla="*/ 41 w 3892651"/>
              <a:gd name="connsiteY2-86" fmla="*/ 6403180 h 6403180"/>
              <a:gd name="connsiteX3-87" fmla="*/ 3888378 w 3892651"/>
              <a:gd name="connsiteY3-88" fmla="*/ 1974078 h 6403180"/>
              <a:gd name="connsiteX4-89" fmla="*/ 3892651 w 3892651"/>
              <a:gd name="connsiteY4-90" fmla="*/ 0 h 6403180"/>
              <a:gd name="connsiteX0-91" fmla="*/ 3875591 w 3875591"/>
              <a:gd name="connsiteY0-92" fmla="*/ 0 h 6552362"/>
              <a:gd name="connsiteX1-93" fmla="*/ 17166 w 3875591"/>
              <a:gd name="connsiteY1-94" fmla="*/ 4375864 h 6552362"/>
              <a:gd name="connsiteX2-95" fmla="*/ 73 w 3875591"/>
              <a:gd name="connsiteY2-96" fmla="*/ 6552362 h 6552362"/>
              <a:gd name="connsiteX3-97" fmla="*/ 3871318 w 3875591"/>
              <a:gd name="connsiteY3-98" fmla="*/ 1974078 h 6552362"/>
              <a:gd name="connsiteX4-99" fmla="*/ 3875591 w 3875591"/>
              <a:gd name="connsiteY4-100" fmla="*/ 0 h 6552362"/>
              <a:gd name="connsiteX0-101" fmla="*/ 3875928 w 3875928"/>
              <a:gd name="connsiteY0-102" fmla="*/ 0 h 6552362"/>
              <a:gd name="connsiteX1-103" fmla="*/ 412 w 3875928"/>
              <a:gd name="connsiteY1-104" fmla="*/ 4599620 h 6552362"/>
              <a:gd name="connsiteX2-105" fmla="*/ 410 w 3875928"/>
              <a:gd name="connsiteY2-106" fmla="*/ 6552362 h 6552362"/>
              <a:gd name="connsiteX3-107" fmla="*/ 3871655 w 3875928"/>
              <a:gd name="connsiteY3-108" fmla="*/ 1974078 h 6552362"/>
              <a:gd name="connsiteX4-109" fmla="*/ 3875928 w 3875928"/>
              <a:gd name="connsiteY4-110" fmla="*/ 0 h 65523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 name="Freeform 67"/>
          <p:cNvSpPr/>
          <p:nvPr/>
        </p:nvSpPr>
        <p:spPr>
          <a:xfrm>
            <a:off x="3479865" y="33366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1" fmla="*/ 3896882 w 3909701"/>
              <a:gd name="connsiteY0-2" fmla="*/ 0 h 2226179"/>
              <a:gd name="connsiteX1-3" fmla="*/ 0 w 3909701"/>
              <a:gd name="connsiteY1-4" fmla="*/ 264919 h 2226179"/>
              <a:gd name="connsiteX2-5" fmla="*/ 29910 w 3909701"/>
              <a:gd name="connsiteY2-6" fmla="*/ 2226179 h 2226179"/>
              <a:gd name="connsiteX3-7" fmla="*/ 3909701 w 3909701"/>
              <a:gd name="connsiteY3-8" fmla="*/ 1969805 h 2226179"/>
              <a:gd name="connsiteX4-9" fmla="*/ 3896882 w 3909701"/>
              <a:gd name="connsiteY4-10" fmla="*/ 0 h 2226179"/>
              <a:gd name="connsiteX0-11" fmla="*/ 3896882 w 3896882"/>
              <a:gd name="connsiteY0-12" fmla="*/ 0 h 2226179"/>
              <a:gd name="connsiteX1-13" fmla="*/ 0 w 3896882"/>
              <a:gd name="connsiteY1-14" fmla="*/ 264919 h 2226179"/>
              <a:gd name="connsiteX2-15" fmla="*/ 29910 w 3896882"/>
              <a:gd name="connsiteY2-16" fmla="*/ 2226179 h 2226179"/>
              <a:gd name="connsiteX3-17" fmla="*/ 3892609 w 3896882"/>
              <a:gd name="connsiteY3-18" fmla="*/ 1974078 h 2226179"/>
              <a:gd name="connsiteX4-19" fmla="*/ 3896882 w 3896882"/>
              <a:gd name="connsiteY4-20" fmla="*/ 0 h 2226179"/>
              <a:gd name="connsiteX0-21" fmla="*/ 3871245 w 3871245"/>
              <a:gd name="connsiteY0-22" fmla="*/ 0 h 2226179"/>
              <a:gd name="connsiteX1-23" fmla="*/ 0 w 3871245"/>
              <a:gd name="connsiteY1-24" fmla="*/ 264919 h 2226179"/>
              <a:gd name="connsiteX2-25" fmla="*/ 4273 w 3871245"/>
              <a:gd name="connsiteY2-26" fmla="*/ 2226179 h 2226179"/>
              <a:gd name="connsiteX3-27" fmla="*/ 3866972 w 3871245"/>
              <a:gd name="connsiteY3-28" fmla="*/ 1974078 h 2226179"/>
              <a:gd name="connsiteX4-29" fmla="*/ 3871245 w 3871245"/>
              <a:gd name="connsiteY4-30" fmla="*/ 0 h 2226179"/>
              <a:gd name="connsiteX0-31" fmla="*/ 3867064 w 3867064"/>
              <a:gd name="connsiteY0-32" fmla="*/ 0 h 2226179"/>
              <a:gd name="connsiteX1-33" fmla="*/ 12911 w 3867064"/>
              <a:gd name="connsiteY1-34" fmla="*/ 269192 h 2226179"/>
              <a:gd name="connsiteX2-35" fmla="*/ 92 w 3867064"/>
              <a:gd name="connsiteY2-36" fmla="*/ 2226179 h 2226179"/>
              <a:gd name="connsiteX3-37" fmla="*/ 3862791 w 3867064"/>
              <a:gd name="connsiteY3-38" fmla="*/ 1974078 h 2226179"/>
              <a:gd name="connsiteX4-39" fmla="*/ 3867064 w 3867064"/>
              <a:gd name="connsiteY4-40" fmla="*/ 0 h 2226179"/>
              <a:gd name="connsiteX0-41" fmla="*/ 3867383 w 3867383"/>
              <a:gd name="connsiteY0-42" fmla="*/ 0 h 2226179"/>
              <a:gd name="connsiteX1-43" fmla="*/ 411 w 3867383"/>
              <a:gd name="connsiteY1-44" fmla="*/ 273465 h 2226179"/>
              <a:gd name="connsiteX2-45" fmla="*/ 411 w 3867383"/>
              <a:gd name="connsiteY2-46" fmla="*/ 2226179 h 2226179"/>
              <a:gd name="connsiteX3-47" fmla="*/ 3863110 w 3867383"/>
              <a:gd name="connsiteY3-48" fmla="*/ 1974078 h 2226179"/>
              <a:gd name="connsiteX4-49" fmla="*/ 3867383 w 3867383"/>
              <a:gd name="connsiteY4-50" fmla="*/ 0 h 2226179"/>
              <a:gd name="connsiteX0-51" fmla="*/ 3892661 w 3892661"/>
              <a:gd name="connsiteY0-52" fmla="*/ 0 h 6403180"/>
              <a:gd name="connsiteX1-53" fmla="*/ 25689 w 3892661"/>
              <a:gd name="connsiteY1-54" fmla="*/ 273465 h 6403180"/>
              <a:gd name="connsiteX2-55" fmla="*/ 51 w 3892661"/>
              <a:gd name="connsiteY2-56" fmla="*/ 6403180 h 6403180"/>
              <a:gd name="connsiteX3-57" fmla="*/ 3888388 w 3892661"/>
              <a:gd name="connsiteY3-58" fmla="*/ 1974078 h 6403180"/>
              <a:gd name="connsiteX4-59" fmla="*/ 3892661 w 3892661"/>
              <a:gd name="connsiteY4-60" fmla="*/ 0 h 6403180"/>
              <a:gd name="connsiteX0-61" fmla="*/ 3896882 w 3896882"/>
              <a:gd name="connsiteY0-62" fmla="*/ 0 h 6403180"/>
              <a:gd name="connsiteX1-63" fmla="*/ 0 w 3896882"/>
              <a:gd name="connsiteY1-64" fmla="*/ 4599655 h 6403180"/>
              <a:gd name="connsiteX2-65" fmla="*/ 4272 w 3896882"/>
              <a:gd name="connsiteY2-66" fmla="*/ 6403180 h 6403180"/>
              <a:gd name="connsiteX3-67" fmla="*/ 3892609 w 3896882"/>
              <a:gd name="connsiteY3-68" fmla="*/ 1974078 h 6403180"/>
              <a:gd name="connsiteX4-69" fmla="*/ 3896882 w 3896882"/>
              <a:gd name="connsiteY4-70" fmla="*/ 0 h 6403180"/>
              <a:gd name="connsiteX0-71" fmla="*/ 3893021 w 3893021"/>
              <a:gd name="connsiteY0-72" fmla="*/ 0 h 6403180"/>
              <a:gd name="connsiteX1-73" fmla="*/ 412 w 3893021"/>
              <a:gd name="connsiteY1-74" fmla="*/ 4152108 h 6403180"/>
              <a:gd name="connsiteX2-75" fmla="*/ 411 w 3893021"/>
              <a:gd name="connsiteY2-76" fmla="*/ 6403180 h 6403180"/>
              <a:gd name="connsiteX3-77" fmla="*/ 3888748 w 3893021"/>
              <a:gd name="connsiteY3-78" fmla="*/ 1974078 h 6403180"/>
              <a:gd name="connsiteX4-79" fmla="*/ 3893021 w 3893021"/>
              <a:gd name="connsiteY4-80" fmla="*/ 0 h 6403180"/>
              <a:gd name="connsiteX0-81" fmla="*/ 3892651 w 3892651"/>
              <a:gd name="connsiteY0-82" fmla="*/ 0 h 6403180"/>
              <a:gd name="connsiteX1-83" fmla="*/ 34226 w 3892651"/>
              <a:gd name="connsiteY1-84" fmla="*/ 4375864 h 6403180"/>
              <a:gd name="connsiteX2-85" fmla="*/ 41 w 3892651"/>
              <a:gd name="connsiteY2-86" fmla="*/ 6403180 h 6403180"/>
              <a:gd name="connsiteX3-87" fmla="*/ 3888378 w 3892651"/>
              <a:gd name="connsiteY3-88" fmla="*/ 1974078 h 6403180"/>
              <a:gd name="connsiteX4-89" fmla="*/ 3892651 w 3892651"/>
              <a:gd name="connsiteY4-90" fmla="*/ 0 h 6403180"/>
              <a:gd name="connsiteX0-91" fmla="*/ 3875591 w 3875591"/>
              <a:gd name="connsiteY0-92" fmla="*/ 0 h 6552362"/>
              <a:gd name="connsiteX1-93" fmla="*/ 17166 w 3875591"/>
              <a:gd name="connsiteY1-94" fmla="*/ 4375864 h 6552362"/>
              <a:gd name="connsiteX2-95" fmla="*/ 73 w 3875591"/>
              <a:gd name="connsiteY2-96" fmla="*/ 6552362 h 6552362"/>
              <a:gd name="connsiteX3-97" fmla="*/ 3871318 w 3875591"/>
              <a:gd name="connsiteY3-98" fmla="*/ 1974078 h 6552362"/>
              <a:gd name="connsiteX4-99" fmla="*/ 3875591 w 3875591"/>
              <a:gd name="connsiteY4-100" fmla="*/ 0 h 6552362"/>
              <a:gd name="connsiteX0-101" fmla="*/ 3875928 w 3875928"/>
              <a:gd name="connsiteY0-102" fmla="*/ 0 h 6552362"/>
              <a:gd name="connsiteX1-103" fmla="*/ 412 w 3875928"/>
              <a:gd name="connsiteY1-104" fmla="*/ 4599620 h 6552362"/>
              <a:gd name="connsiteX2-105" fmla="*/ 410 w 3875928"/>
              <a:gd name="connsiteY2-106" fmla="*/ 6552362 h 6552362"/>
              <a:gd name="connsiteX3-107" fmla="*/ 3871655 w 3875928"/>
              <a:gd name="connsiteY3-108" fmla="*/ 1974078 h 6552362"/>
              <a:gd name="connsiteX4-109" fmla="*/ 3875928 w 3875928"/>
              <a:gd name="connsiteY4-110" fmla="*/ 0 h 65523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Freeform 69"/>
          <p:cNvSpPr/>
          <p:nvPr/>
        </p:nvSpPr>
        <p:spPr>
          <a:xfrm>
            <a:off x="3485129" y="346808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1" fmla="*/ 3896882 w 3909701"/>
              <a:gd name="connsiteY0-2" fmla="*/ 0 h 2226179"/>
              <a:gd name="connsiteX1-3" fmla="*/ 0 w 3909701"/>
              <a:gd name="connsiteY1-4" fmla="*/ 264919 h 2226179"/>
              <a:gd name="connsiteX2-5" fmla="*/ 29910 w 3909701"/>
              <a:gd name="connsiteY2-6" fmla="*/ 2226179 h 2226179"/>
              <a:gd name="connsiteX3-7" fmla="*/ 3909701 w 3909701"/>
              <a:gd name="connsiteY3-8" fmla="*/ 1969805 h 2226179"/>
              <a:gd name="connsiteX4-9" fmla="*/ 3896882 w 3909701"/>
              <a:gd name="connsiteY4-10" fmla="*/ 0 h 2226179"/>
              <a:gd name="connsiteX0-11" fmla="*/ 3896882 w 3896882"/>
              <a:gd name="connsiteY0-12" fmla="*/ 0 h 2226179"/>
              <a:gd name="connsiteX1-13" fmla="*/ 0 w 3896882"/>
              <a:gd name="connsiteY1-14" fmla="*/ 264919 h 2226179"/>
              <a:gd name="connsiteX2-15" fmla="*/ 29910 w 3896882"/>
              <a:gd name="connsiteY2-16" fmla="*/ 2226179 h 2226179"/>
              <a:gd name="connsiteX3-17" fmla="*/ 3892609 w 3896882"/>
              <a:gd name="connsiteY3-18" fmla="*/ 1974078 h 2226179"/>
              <a:gd name="connsiteX4-19" fmla="*/ 3896882 w 3896882"/>
              <a:gd name="connsiteY4-20" fmla="*/ 0 h 2226179"/>
              <a:gd name="connsiteX0-21" fmla="*/ 3871245 w 3871245"/>
              <a:gd name="connsiteY0-22" fmla="*/ 0 h 2226179"/>
              <a:gd name="connsiteX1-23" fmla="*/ 0 w 3871245"/>
              <a:gd name="connsiteY1-24" fmla="*/ 264919 h 2226179"/>
              <a:gd name="connsiteX2-25" fmla="*/ 4273 w 3871245"/>
              <a:gd name="connsiteY2-26" fmla="*/ 2226179 h 2226179"/>
              <a:gd name="connsiteX3-27" fmla="*/ 3866972 w 3871245"/>
              <a:gd name="connsiteY3-28" fmla="*/ 1974078 h 2226179"/>
              <a:gd name="connsiteX4-29" fmla="*/ 3871245 w 3871245"/>
              <a:gd name="connsiteY4-30" fmla="*/ 0 h 2226179"/>
              <a:gd name="connsiteX0-31" fmla="*/ 3867064 w 3867064"/>
              <a:gd name="connsiteY0-32" fmla="*/ 0 h 2226179"/>
              <a:gd name="connsiteX1-33" fmla="*/ 12911 w 3867064"/>
              <a:gd name="connsiteY1-34" fmla="*/ 269192 h 2226179"/>
              <a:gd name="connsiteX2-35" fmla="*/ 92 w 3867064"/>
              <a:gd name="connsiteY2-36" fmla="*/ 2226179 h 2226179"/>
              <a:gd name="connsiteX3-37" fmla="*/ 3862791 w 3867064"/>
              <a:gd name="connsiteY3-38" fmla="*/ 1974078 h 2226179"/>
              <a:gd name="connsiteX4-39" fmla="*/ 3867064 w 3867064"/>
              <a:gd name="connsiteY4-40" fmla="*/ 0 h 2226179"/>
              <a:gd name="connsiteX0-41" fmla="*/ 3867383 w 3867383"/>
              <a:gd name="connsiteY0-42" fmla="*/ 0 h 2226179"/>
              <a:gd name="connsiteX1-43" fmla="*/ 411 w 3867383"/>
              <a:gd name="connsiteY1-44" fmla="*/ 273465 h 2226179"/>
              <a:gd name="connsiteX2-45" fmla="*/ 411 w 3867383"/>
              <a:gd name="connsiteY2-46" fmla="*/ 2226179 h 2226179"/>
              <a:gd name="connsiteX3-47" fmla="*/ 3863110 w 3867383"/>
              <a:gd name="connsiteY3-48" fmla="*/ 1974078 h 2226179"/>
              <a:gd name="connsiteX4-49" fmla="*/ 3867383 w 3867383"/>
              <a:gd name="connsiteY4-50" fmla="*/ 0 h 2226179"/>
              <a:gd name="connsiteX0-51" fmla="*/ 3892661 w 3892661"/>
              <a:gd name="connsiteY0-52" fmla="*/ 0 h 6403180"/>
              <a:gd name="connsiteX1-53" fmla="*/ 25689 w 3892661"/>
              <a:gd name="connsiteY1-54" fmla="*/ 273465 h 6403180"/>
              <a:gd name="connsiteX2-55" fmla="*/ 51 w 3892661"/>
              <a:gd name="connsiteY2-56" fmla="*/ 6403180 h 6403180"/>
              <a:gd name="connsiteX3-57" fmla="*/ 3888388 w 3892661"/>
              <a:gd name="connsiteY3-58" fmla="*/ 1974078 h 6403180"/>
              <a:gd name="connsiteX4-59" fmla="*/ 3892661 w 3892661"/>
              <a:gd name="connsiteY4-60" fmla="*/ 0 h 6403180"/>
              <a:gd name="connsiteX0-61" fmla="*/ 3896882 w 3896882"/>
              <a:gd name="connsiteY0-62" fmla="*/ 0 h 6403180"/>
              <a:gd name="connsiteX1-63" fmla="*/ 0 w 3896882"/>
              <a:gd name="connsiteY1-64" fmla="*/ 4599655 h 6403180"/>
              <a:gd name="connsiteX2-65" fmla="*/ 4272 w 3896882"/>
              <a:gd name="connsiteY2-66" fmla="*/ 6403180 h 6403180"/>
              <a:gd name="connsiteX3-67" fmla="*/ 3892609 w 3896882"/>
              <a:gd name="connsiteY3-68" fmla="*/ 1974078 h 6403180"/>
              <a:gd name="connsiteX4-69" fmla="*/ 3896882 w 3896882"/>
              <a:gd name="connsiteY4-70" fmla="*/ 0 h 6403180"/>
              <a:gd name="connsiteX0-71" fmla="*/ 3893021 w 3893021"/>
              <a:gd name="connsiteY0-72" fmla="*/ 0 h 6403180"/>
              <a:gd name="connsiteX1-73" fmla="*/ 412 w 3893021"/>
              <a:gd name="connsiteY1-74" fmla="*/ 4152108 h 6403180"/>
              <a:gd name="connsiteX2-75" fmla="*/ 411 w 3893021"/>
              <a:gd name="connsiteY2-76" fmla="*/ 6403180 h 6403180"/>
              <a:gd name="connsiteX3-77" fmla="*/ 3888748 w 3893021"/>
              <a:gd name="connsiteY3-78" fmla="*/ 1974078 h 6403180"/>
              <a:gd name="connsiteX4-79" fmla="*/ 3893021 w 3893021"/>
              <a:gd name="connsiteY4-80" fmla="*/ 0 h 6403180"/>
              <a:gd name="connsiteX0-81" fmla="*/ 3892651 w 3892651"/>
              <a:gd name="connsiteY0-82" fmla="*/ 0 h 6403180"/>
              <a:gd name="connsiteX1-83" fmla="*/ 34226 w 3892651"/>
              <a:gd name="connsiteY1-84" fmla="*/ 4375864 h 6403180"/>
              <a:gd name="connsiteX2-85" fmla="*/ 41 w 3892651"/>
              <a:gd name="connsiteY2-86" fmla="*/ 6403180 h 6403180"/>
              <a:gd name="connsiteX3-87" fmla="*/ 3888378 w 3892651"/>
              <a:gd name="connsiteY3-88" fmla="*/ 1974078 h 6403180"/>
              <a:gd name="connsiteX4-89" fmla="*/ 3892651 w 3892651"/>
              <a:gd name="connsiteY4-90" fmla="*/ 0 h 6403180"/>
              <a:gd name="connsiteX0-91" fmla="*/ 3875591 w 3875591"/>
              <a:gd name="connsiteY0-92" fmla="*/ 0 h 6552362"/>
              <a:gd name="connsiteX1-93" fmla="*/ 17166 w 3875591"/>
              <a:gd name="connsiteY1-94" fmla="*/ 4375864 h 6552362"/>
              <a:gd name="connsiteX2-95" fmla="*/ 73 w 3875591"/>
              <a:gd name="connsiteY2-96" fmla="*/ 6552362 h 6552362"/>
              <a:gd name="connsiteX3-97" fmla="*/ 3871318 w 3875591"/>
              <a:gd name="connsiteY3-98" fmla="*/ 1974078 h 6552362"/>
              <a:gd name="connsiteX4-99" fmla="*/ 3875591 w 3875591"/>
              <a:gd name="connsiteY4-100" fmla="*/ 0 h 6552362"/>
              <a:gd name="connsiteX0-101" fmla="*/ 3875928 w 3875928"/>
              <a:gd name="connsiteY0-102" fmla="*/ 0 h 6552362"/>
              <a:gd name="connsiteX1-103" fmla="*/ 412 w 3875928"/>
              <a:gd name="connsiteY1-104" fmla="*/ 4599620 h 6552362"/>
              <a:gd name="connsiteX2-105" fmla="*/ 410 w 3875928"/>
              <a:gd name="connsiteY2-106" fmla="*/ 6552362 h 6552362"/>
              <a:gd name="connsiteX3-107" fmla="*/ 3871655 w 3875928"/>
              <a:gd name="connsiteY3-108" fmla="*/ 1974078 h 6552362"/>
              <a:gd name="connsiteX4-109" fmla="*/ 3875928 w 3875928"/>
              <a:gd name="connsiteY4-110" fmla="*/ 0 h 65523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Rectangle 89"/>
          <p:cNvSpPr/>
          <p:nvPr/>
        </p:nvSpPr>
        <p:spPr>
          <a:xfrm>
            <a:off x="2231742" y="3441675"/>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p:cNvGrpSpPr/>
          <p:nvPr/>
        </p:nvGrpSpPr>
        <p:grpSpPr>
          <a:xfrm>
            <a:off x="1770738" y="3385789"/>
            <a:ext cx="1641327" cy="338554"/>
            <a:chOff x="1770738" y="3385789"/>
            <a:chExt cx="1641327" cy="338554"/>
          </a:xfrm>
        </p:grpSpPr>
        <p:cxnSp>
          <p:nvCxnSpPr>
            <p:cNvPr id="80" name="Straight Arrow Connector 79"/>
            <p:cNvCxnSpPr/>
            <p:nvPr/>
          </p:nvCxnSpPr>
          <p:spPr>
            <a:xfrm flipH="1">
              <a:off x="1770738" y="3564111"/>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2156066" y="3385789"/>
              <a:ext cx="459104" cy="338554"/>
            </a:xfrm>
            <a:prstGeom prst="rect">
              <a:avLst/>
            </a:prstGeom>
            <a:noFill/>
          </p:spPr>
          <p:txBody>
            <a:bodyPr wrap="square" rtlCol="0">
              <a:spAutoFit/>
            </a:bodyPr>
            <a:lstStyle/>
            <a:p>
              <a:r>
                <a:rPr lang="en-US" sz="1600" dirty="0"/>
                <a:t>O</a:t>
              </a:r>
              <a:r>
                <a:rPr lang="en-US" sz="1600" baseline="-25000" dirty="0"/>
                <a:t>2</a:t>
              </a:r>
              <a:endParaRPr lang="en-US" sz="1600" baseline="-25000" dirty="0"/>
            </a:p>
          </p:txBody>
        </p:sp>
      </p:grpSp>
      <p:sp>
        <p:nvSpPr>
          <p:cNvPr id="94" name="Rectangle 93"/>
          <p:cNvSpPr/>
          <p:nvPr/>
        </p:nvSpPr>
        <p:spPr>
          <a:xfrm>
            <a:off x="2369264" y="3728151"/>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p:cNvGrpSpPr/>
          <p:nvPr/>
        </p:nvGrpSpPr>
        <p:grpSpPr>
          <a:xfrm>
            <a:off x="1759658" y="3661763"/>
            <a:ext cx="1641172" cy="338554"/>
            <a:chOff x="1759658" y="3661763"/>
            <a:chExt cx="1641172" cy="338554"/>
          </a:xfrm>
        </p:grpSpPr>
        <p:cxnSp>
          <p:nvCxnSpPr>
            <p:cNvPr id="82" name="Straight Arrow Connector 81"/>
            <p:cNvCxnSpPr/>
            <p:nvPr/>
          </p:nvCxnSpPr>
          <p:spPr>
            <a:xfrm flipH="1">
              <a:off x="1759658" y="3839649"/>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p:cNvSpPr txBox="1"/>
            <p:nvPr/>
          </p:nvSpPr>
          <p:spPr>
            <a:xfrm>
              <a:off x="2315510" y="3661763"/>
              <a:ext cx="459104" cy="338554"/>
            </a:xfrm>
            <a:prstGeom prst="rect">
              <a:avLst/>
            </a:prstGeom>
            <a:noFill/>
          </p:spPr>
          <p:txBody>
            <a:bodyPr wrap="square" rtlCol="0">
              <a:spAutoFit/>
            </a:bodyPr>
            <a:lstStyle/>
            <a:p>
              <a:r>
                <a:rPr lang="en-US" sz="1600" dirty="0"/>
                <a:t>O</a:t>
              </a:r>
              <a:r>
                <a:rPr lang="en-US" sz="1600" baseline="-25000" dirty="0"/>
                <a:t>4</a:t>
              </a:r>
              <a:endParaRPr lang="en-US" sz="1600" baseline="-25000" dirty="0"/>
            </a:p>
          </p:txBody>
        </p:sp>
      </p:grpSp>
      <p:sp>
        <p:nvSpPr>
          <p:cNvPr id="98" name="Rectangle 97"/>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Rectangle 98"/>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Rectangle 99"/>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TextBox 91"/>
          <p:cNvSpPr txBox="1"/>
          <p:nvPr/>
        </p:nvSpPr>
        <p:spPr>
          <a:xfrm>
            <a:off x="8345639" y="2644827"/>
            <a:ext cx="2560584" cy="369332"/>
          </a:xfrm>
          <a:prstGeom prst="rect">
            <a:avLst/>
          </a:prstGeom>
          <a:noFill/>
        </p:spPr>
        <p:txBody>
          <a:bodyPr wrap="square" rtlCol="0">
            <a:spAutoFit/>
          </a:bodyPr>
          <a:lstStyle/>
          <a:p>
            <a:r>
              <a:rPr lang="en-US" dirty="0"/>
              <a:t>object data requested</a:t>
            </a:r>
            <a:endParaRPr lang="en-US" dirty="0"/>
          </a:p>
        </p:txBody>
      </p:sp>
      <p:sp>
        <p:nvSpPr>
          <p:cNvPr id="101" name="Left Arrow 100"/>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TextBox 104"/>
          <p:cNvSpPr txBox="1"/>
          <p:nvPr/>
        </p:nvSpPr>
        <p:spPr>
          <a:xfrm>
            <a:off x="9706653" y="3898744"/>
            <a:ext cx="717183" cy="707886"/>
          </a:xfrm>
          <a:prstGeom prst="rect">
            <a:avLst/>
          </a:prstGeom>
          <a:noFill/>
        </p:spPr>
        <p:txBody>
          <a:bodyPr wrap="square" rtlCol="0">
            <a:spAutoFit/>
          </a:bodyPr>
          <a:lstStyle/>
          <a:p>
            <a:r>
              <a:rPr lang="en-US" sz="2400" dirty="0"/>
              <a:t>O</a:t>
            </a:r>
            <a:r>
              <a:rPr lang="en-US" sz="2400" baseline="-25000" dirty="0"/>
              <a:t>1</a:t>
            </a:r>
            <a:endParaRPr lang="en-US" sz="2400" baseline="-25000" dirty="0"/>
          </a:p>
        </p:txBody>
      </p:sp>
      <p:sp>
        <p:nvSpPr>
          <p:cNvPr id="107" name="Rectangle 106"/>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a:p>
        </p:txBody>
      </p:sp>
      <p:sp>
        <p:nvSpPr>
          <p:cNvPr id="108" name="TextBox 107"/>
          <p:cNvSpPr txBox="1"/>
          <p:nvPr/>
        </p:nvSpPr>
        <p:spPr>
          <a:xfrm>
            <a:off x="9717406" y="4747954"/>
            <a:ext cx="717183" cy="707886"/>
          </a:xfrm>
          <a:prstGeom prst="rect">
            <a:avLst/>
          </a:prstGeom>
          <a:noFill/>
        </p:spPr>
        <p:txBody>
          <a:bodyPr wrap="square" rtlCol="0">
            <a:spAutoFit/>
          </a:bodyPr>
          <a:lstStyle/>
          <a:p>
            <a:r>
              <a:rPr lang="en-US" sz="2400" dirty="0"/>
              <a:t>O</a:t>
            </a:r>
            <a:r>
              <a:rPr lang="en-US" sz="2400" baseline="-25000" dirty="0"/>
              <a:t>2</a:t>
            </a:r>
            <a:endParaRPr lang="en-US" sz="2400" baseline="-25000" dirty="0"/>
          </a:p>
        </p:txBody>
      </p:sp>
      <p:sp>
        <p:nvSpPr>
          <p:cNvPr id="109" name="TextBox 108"/>
          <p:cNvSpPr txBox="1"/>
          <p:nvPr/>
        </p:nvSpPr>
        <p:spPr>
          <a:xfrm>
            <a:off x="9717374" y="5101897"/>
            <a:ext cx="717183" cy="707886"/>
          </a:xfrm>
          <a:prstGeom prst="rect">
            <a:avLst/>
          </a:prstGeom>
          <a:noFill/>
        </p:spPr>
        <p:txBody>
          <a:bodyPr wrap="square" rtlCol="0">
            <a:spAutoFit/>
          </a:bodyPr>
          <a:lstStyle/>
          <a:p>
            <a:r>
              <a:rPr lang="en-US" sz="2400" dirty="0"/>
              <a:t>O</a:t>
            </a:r>
            <a:r>
              <a:rPr lang="en-US" sz="2400" baseline="-25000" dirty="0"/>
              <a:t>3</a:t>
            </a:r>
            <a:endParaRPr lang="en-US" sz="2400" baseline="-25000" dirty="0"/>
          </a:p>
        </p:txBody>
      </p:sp>
      <p:sp>
        <p:nvSpPr>
          <p:cNvPr id="110" name="TextBox 109"/>
          <p:cNvSpPr txBox="1"/>
          <p:nvPr/>
        </p:nvSpPr>
        <p:spPr>
          <a:xfrm>
            <a:off x="9722211" y="5425404"/>
            <a:ext cx="717183" cy="707886"/>
          </a:xfrm>
          <a:prstGeom prst="rect">
            <a:avLst/>
          </a:prstGeom>
          <a:noFill/>
        </p:spPr>
        <p:txBody>
          <a:bodyPr wrap="square" rtlCol="0">
            <a:spAutoFit/>
          </a:bodyPr>
          <a:lstStyle/>
          <a:p>
            <a:r>
              <a:rPr lang="en-US" sz="2400" dirty="0"/>
              <a:t>O</a:t>
            </a:r>
            <a:r>
              <a:rPr lang="en-US" sz="2400" baseline="-25000" dirty="0"/>
              <a:t>4</a:t>
            </a:r>
            <a:endParaRPr lang="en-US" sz="2400" baseline="-25000" dirty="0"/>
          </a:p>
        </p:txBody>
      </p:sp>
      <p:cxnSp>
        <p:nvCxnSpPr>
          <p:cNvPr id="111" name="Straight Connector 110"/>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p:cNvSpPr txBox="1">
            <a:spLocks noChangeArrowheads="1"/>
          </p:cNvSpPr>
          <p:nvPr/>
        </p:nvSpPr>
        <p:spPr>
          <a:xfrm>
            <a:off x="3131136" y="6194429"/>
            <a:ext cx="6552840"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altLang="en-US" sz="2400" i="1" dirty="0">
                <a:ea typeface="MS PGothic" panose="020B0600070205080204" pitchFamily="34" charset="-128"/>
              </a:rPr>
              <a:t>O</a:t>
            </a:r>
            <a:r>
              <a:rPr lang="en-US" altLang="en-US" sz="2400" i="1" baseline="-25000" dirty="0">
                <a:ea typeface="MS PGothic" panose="020B0600070205080204" pitchFamily="34" charset="-128"/>
              </a:rPr>
              <a:t>2</a:t>
            </a:r>
            <a:r>
              <a:rPr lang="en-US" altLang="en-US" sz="2400" i="1" dirty="0">
                <a:ea typeface="MS PGothic" panose="020B0600070205080204" pitchFamily="34" charset="-128"/>
              </a:rPr>
              <a:t>, O</a:t>
            </a:r>
            <a:r>
              <a:rPr lang="en-US" altLang="en-US" sz="2400" i="1" baseline="-25000" dirty="0">
                <a:ea typeface="MS PGothic" panose="020B0600070205080204" pitchFamily="34" charset="-128"/>
              </a:rPr>
              <a:t>3</a:t>
            </a:r>
            <a:r>
              <a:rPr lang="en-US" altLang="en-US" sz="2400" i="1" dirty="0">
                <a:ea typeface="MS PGothic" panose="020B0600070205080204" pitchFamily="34" charset="-128"/>
              </a:rPr>
              <a:t>, O</a:t>
            </a:r>
            <a:r>
              <a:rPr lang="en-US" altLang="en-US" sz="2400" i="1" baseline="-25000" dirty="0">
                <a:ea typeface="MS PGothic" panose="020B0600070205080204" pitchFamily="34" charset="-128"/>
              </a:rPr>
              <a:t>4</a:t>
            </a:r>
            <a:r>
              <a:rPr lang="en-US" altLang="en-US" sz="2400" i="1" dirty="0">
                <a:ea typeface="MS PGothic" panose="020B0600070205080204" pitchFamily="34" charset="-128"/>
              </a:rPr>
              <a:t> delivered quickly, O</a:t>
            </a:r>
            <a:r>
              <a:rPr lang="en-US" altLang="en-US" sz="2400" i="1" baseline="-25000" dirty="0">
                <a:ea typeface="MS PGothic" panose="020B0600070205080204" pitchFamily="34" charset="-128"/>
              </a:rPr>
              <a:t>1 </a:t>
            </a:r>
            <a:r>
              <a:rPr lang="en-US" altLang="en-US" sz="2400" i="1" dirty="0">
                <a:ea typeface="MS PGothic" panose="020B0600070205080204" pitchFamily="34" charset="-128"/>
              </a:rPr>
              <a:t>slightly delayed</a:t>
            </a:r>
            <a:endParaRPr lang="en-US" altLang="en-US" sz="2400" i="1" dirty="0">
              <a:ea typeface="MS PGothic" panose="020B0600070205080204" pitchFamily="34" charset="-128"/>
            </a:endParaRPr>
          </a:p>
          <a:p>
            <a:pPr lvl="1"/>
            <a:endParaRPr lang="en-US" altLang="en-US" dirty="0">
              <a:ea typeface="MS PGothic" panose="020B0600070205080204" pitchFamily="34" charset="-128"/>
            </a:endParaRPr>
          </a:p>
        </p:txBody>
      </p:sp>
      <p:grpSp>
        <p:nvGrpSpPr>
          <p:cNvPr id="4" name="Group 3"/>
          <p:cNvGrpSpPr/>
          <p:nvPr/>
        </p:nvGrpSpPr>
        <p:grpSpPr>
          <a:xfrm>
            <a:off x="3362984" y="3078482"/>
            <a:ext cx="4052925" cy="379692"/>
            <a:chOff x="3362984" y="3078482"/>
            <a:chExt cx="4052925" cy="379692"/>
          </a:xfrm>
        </p:grpSpPr>
        <p:cxnSp>
          <p:nvCxnSpPr>
            <p:cNvPr id="86" name="Straight Arrow Connector 85"/>
            <p:cNvCxnSpPr/>
            <p:nvPr/>
          </p:nvCxnSpPr>
          <p:spPr>
            <a:xfrm flipH="1">
              <a:off x="3362984" y="3078482"/>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Freeform 86"/>
            <p:cNvSpPr/>
            <p:nvPr/>
          </p:nvSpPr>
          <p:spPr>
            <a:xfrm>
              <a:off x="3479865" y="30828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1" fmla="*/ 3896882 w 3909701"/>
                <a:gd name="connsiteY0-2" fmla="*/ 0 h 2226179"/>
                <a:gd name="connsiteX1-3" fmla="*/ 0 w 3909701"/>
                <a:gd name="connsiteY1-4" fmla="*/ 264919 h 2226179"/>
                <a:gd name="connsiteX2-5" fmla="*/ 29910 w 3909701"/>
                <a:gd name="connsiteY2-6" fmla="*/ 2226179 h 2226179"/>
                <a:gd name="connsiteX3-7" fmla="*/ 3909701 w 3909701"/>
                <a:gd name="connsiteY3-8" fmla="*/ 1969805 h 2226179"/>
                <a:gd name="connsiteX4-9" fmla="*/ 3896882 w 3909701"/>
                <a:gd name="connsiteY4-10" fmla="*/ 0 h 2226179"/>
                <a:gd name="connsiteX0-11" fmla="*/ 3896882 w 3896882"/>
                <a:gd name="connsiteY0-12" fmla="*/ 0 h 2226179"/>
                <a:gd name="connsiteX1-13" fmla="*/ 0 w 3896882"/>
                <a:gd name="connsiteY1-14" fmla="*/ 264919 h 2226179"/>
                <a:gd name="connsiteX2-15" fmla="*/ 29910 w 3896882"/>
                <a:gd name="connsiteY2-16" fmla="*/ 2226179 h 2226179"/>
                <a:gd name="connsiteX3-17" fmla="*/ 3892609 w 3896882"/>
                <a:gd name="connsiteY3-18" fmla="*/ 1974078 h 2226179"/>
                <a:gd name="connsiteX4-19" fmla="*/ 3896882 w 3896882"/>
                <a:gd name="connsiteY4-20" fmla="*/ 0 h 2226179"/>
                <a:gd name="connsiteX0-21" fmla="*/ 3871245 w 3871245"/>
                <a:gd name="connsiteY0-22" fmla="*/ 0 h 2226179"/>
                <a:gd name="connsiteX1-23" fmla="*/ 0 w 3871245"/>
                <a:gd name="connsiteY1-24" fmla="*/ 264919 h 2226179"/>
                <a:gd name="connsiteX2-25" fmla="*/ 4273 w 3871245"/>
                <a:gd name="connsiteY2-26" fmla="*/ 2226179 h 2226179"/>
                <a:gd name="connsiteX3-27" fmla="*/ 3866972 w 3871245"/>
                <a:gd name="connsiteY3-28" fmla="*/ 1974078 h 2226179"/>
                <a:gd name="connsiteX4-29" fmla="*/ 3871245 w 3871245"/>
                <a:gd name="connsiteY4-30" fmla="*/ 0 h 2226179"/>
                <a:gd name="connsiteX0-31" fmla="*/ 3867064 w 3867064"/>
                <a:gd name="connsiteY0-32" fmla="*/ 0 h 2226179"/>
                <a:gd name="connsiteX1-33" fmla="*/ 12911 w 3867064"/>
                <a:gd name="connsiteY1-34" fmla="*/ 269192 h 2226179"/>
                <a:gd name="connsiteX2-35" fmla="*/ 92 w 3867064"/>
                <a:gd name="connsiteY2-36" fmla="*/ 2226179 h 2226179"/>
                <a:gd name="connsiteX3-37" fmla="*/ 3862791 w 3867064"/>
                <a:gd name="connsiteY3-38" fmla="*/ 1974078 h 2226179"/>
                <a:gd name="connsiteX4-39" fmla="*/ 3867064 w 3867064"/>
                <a:gd name="connsiteY4-40" fmla="*/ 0 h 2226179"/>
                <a:gd name="connsiteX0-41" fmla="*/ 3867383 w 3867383"/>
                <a:gd name="connsiteY0-42" fmla="*/ 0 h 2226179"/>
                <a:gd name="connsiteX1-43" fmla="*/ 411 w 3867383"/>
                <a:gd name="connsiteY1-44" fmla="*/ 273465 h 2226179"/>
                <a:gd name="connsiteX2-45" fmla="*/ 411 w 3867383"/>
                <a:gd name="connsiteY2-46" fmla="*/ 2226179 h 2226179"/>
                <a:gd name="connsiteX3-47" fmla="*/ 3863110 w 3867383"/>
                <a:gd name="connsiteY3-48" fmla="*/ 1974078 h 2226179"/>
                <a:gd name="connsiteX4-49" fmla="*/ 3867383 w 3867383"/>
                <a:gd name="connsiteY4-50" fmla="*/ 0 h 2226179"/>
                <a:gd name="connsiteX0-51" fmla="*/ 3892661 w 3892661"/>
                <a:gd name="connsiteY0-52" fmla="*/ 0 h 6403180"/>
                <a:gd name="connsiteX1-53" fmla="*/ 25689 w 3892661"/>
                <a:gd name="connsiteY1-54" fmla="*/ 273465 h 6403180"/>
                <a:gd name="connsiteX2-55" fmla="*/ 51 w 3892661"/>
                <a:gd name="connsiteY2-56" fmla="*/ 6403180 h 6403180"/>
                <a:gd name="connsiteX3-57" fmla="*/ 3888388 w 3892661"/>
                <a:gd name="connsiteY3-58" fmla="*/ 1974078 h 6403180"/>
                <a:gd name="connsiteX4-59" fmla="*/ 3892661 w 3892661"/>
                <a:gd name="connsiteY4-60" fmla="*/ 0 h 6403180"/>
                <a:gd name="connsiteX0-61" fmla="*/ 3896882 w 3896882"/>
                <a:gd name="connsiteY0-62" fmla="*/ 0 h 6403180"/>
                <a:gd name="connsiteX1-63" fmla="*/ 0 w 3896882"/>
                <a:gd name="connsiteY1-64" fmla="*/ 4599655 h 6403180"/>
                <a:gd name="connsiteX2-65" fmla="*/ 4272 w 3896882"/>
                <a:gd name="connsiteY2-66" fmla="*/ 6403180 h 6403180"/>
                <a:gd name="connsiteX3-67" fmla="*/ 3892609 w 3896882"/>
                <a:gd name="connsiteY3-68" fmla="*/ 1974078 h 6403180"/>
                <a:gd name="connsiteX4-69" fmla="*/ 3896882 w 3896882"/>
                <a:gd name="connsiteY4-70" fmla="*/ 0 h 6403180"/>
                <a:gd name="connsiteX0-71" fmla="*/ 3893021 w 3893021"/>
                <a:gd name="connsiteY0-72" fmla="*/ 0 h 6403180"/>
                <a:gd name="connsiteX1-73" fmla="*/ 412 w 3893021"/>
                <a:gd name="connsiteY1-74" fmla="*/ 4152108 h 6403180"/>
                <a:gd name="connsiteX2-75" fmla="*/ 411 w 3893021"/>
                <a:gd name="connsiteY2-76" fmla="*/ 6403180 h 6403180"/>
                <a:gd name="connsiteX3-77" fmla="*/ 3888748 w 3893021"/>
                <a:gd name="connsiteY3-78" fmla="*/ 1974078 h 6403180"/>
                <a:gd name="connsiteX4-79" fmla="*/ 3893021 w 3893021"/>
                <a:gd name="connsiteY4-80" fmla="*/ 0 h 6403180"/>
                <a:gd name="connsiteX0-81" fmla="*/ 3892651 w 3892651"/>
                <a:gd name="connsiteY0-82" fmla="*/ 0 h 6403180"/>
                <a:gd name="connsiteX1-83" fmla="*/ 34226 w 3892651"/>
                <a:gd name="connsiteY1-84" fmla="*/ 4375864 h 6403180"/>
                <a:gd name="connsiteX2-85" fmla="*/ 41 w 3892651"/>
                <a:gd name="connsiteY2-86" fmla="*/ 6403180 h 6403180"/>
                <a:gd name="connsiteX3-87" fmla="*/ 3888378 w 3892651"/>
                <a:gd name="connsiteY3-88" fmla="*/ 1974078 h 6403180"/>
                <a:gd name="connsiteX4-89" fmla="*/ 3892651 w 3892651"/>
                <a:gd name="connsiteY4-90" fmla="*/ 0 h 6403180"/>
                <a:gd name="connsiteX0-91" fmla="*/ 3875591 w 3875591"/>
                <a:gd name="connsiteY0-92" fmla="*/ 0 h 6552362"/>
                <a:gd name="connsiteX1-93" fmla="*/ 17166 w 3875591"/>
                <a:gd name="connsiteY1-94" fmla="*/ 4375864 h 6552362"/>
                <a:gd name="connsiteX2-95" fmla="*/ 73 w 3875591"/>
                <a:gd name="connsiteY2-96" fmla="*/ 6552362 h 6552362"/>
                <a:gd name="connsiteX3-97" fmla="*/ 3871318 w 3875591"/>
                <a:gd name="connsiteY3-98" fmla="*/ 1974078 h 6552362"/>
                <a:gd name="connsiteX4-99" fmla="*/ 3875591 w 3875591"/>
                <a:gd name="connsiteY4-100" fmla="*/ 0 h 6552362"/>
                <a:gd name="connsiteX0-101" fmla="*/ 3875928 w 3875928"/>
                <a:gd name="connsiteY0-102" fmla="*/ 0 h 6552362"/>
                <a:gd name="connsiteX1-103" fmla="*/ 412 w 3875928"/>
                <a:gd name="connsiteY1-104" fmla="*/ 4599620 h 6552362"/>
                <a:gd name="connsiteX2-105" fmla="*/ 410 w 3875928"/>
                <a:gd name="connsiteY2-106" fmla="*/ 6552362 h 6552362"/>
                <a:gd name="connsiteX3-107" fmla="*/ 3871655 w 3875928"/>
                <a:gd name="connsiteY3-108" fmla="*/ 1974078 h 6552362"/>
                <a:gd name="connsiteX4-109" fmla="*/ 3875928 w 3875928"/>
                <a:gd name="connsiteY4-110" fmla="*/ 0 h 65523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8" name="Freeform 87"/>
          <p:cNvSpPr/>
          <p:nvPr/>
        </p:nvSpPr>
        <p:spPr>
          <a:xfrm>
            <a:off x="3480625" y="3596230"/>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1" fmla="*/ 3896882 w 3909701"/>
              <a:gd name="connsiteY0-2" fmla="*/ 0 h 2226179"/>
              <a:gd name="connsiteX1-3" fmla="*/ 0 w 3909701"/>
              <a:gd name="connsiteY1-4" fmla="*/ 264919 h 2226179"/>
              <a:gd name="connsiteX2-5" fmla="*/ 29910 w 3909701"/>
              <a:gd name="connsiteY2-6" fmla="*/ 2226179 h 2226179"/>
              <a:gd name="connsiteX3-7" fmla="*/ 3909701 w 3909701"/>
              <a:gd name="connsiteY3-8" fmla="*/ 1969805 h 2226179"/>
              <a:gd name="connsiteX4-9" fmla="*/ 3896882 w 3909701"/>
              <a:gd name="connsiteY4-10" fmla="*/ 0 h 2226179"/>
              <a:gd name="connsiteX0-11" fmla="*/ 3896882 w 3896882"/>
              <a:gd name="connsiteY0-12" fmla="*/ 0 h 2226179"/>
              <a:gd name="connsiteX1-13" fmla="*/ 0 w 3896882"/>
              <a:gd name="connsiteY1-14" fmla="*/ 264919 h 2226179"/>
              <a:gd name="connsiteX2-15" fmla="*/ 29910 w 3896882"/>
              <a:gd name="connsiteY2-16" fmla="*/ 2226179 h 2226179"/>
              <a:gd name="connsiteX3-17" fmla="*/ 3892609 w 3896882"/>
              <a:gd name="connsiteY3-18" fmla="*/ 1974078 h 2226179"/>
              <a:gd name="connsiteX4-19" fmla="*/ 3896882 w 3896882"/>
              <a:gd name="connsiteY4-20" fmla="*/ 0 h 2226179"/>
              <a:gd name="connsiteX0-21" fmla="*/ 3871245 w 3871245"/>
              <a:gd name="connsiteY0-22" fmla="*/ 0 h 2226179"/>
              <a:gd name="connsiteX1-23" fmla="*/ 0 w 3871245"/>
              <a:gd name="connsiteY1-24" fmla="*/ 264919 h 2226179"/>
              <a:gd name="connsiteX2-25" fmla="*/ 4273 w 3871245"/>
              <a:gd name="connsiteY2-26" fmla="*/ 2226179 h 2226179"/>
              <a:gd name="connsiteX3-27" fmla="*/ 3866972 w 3871245"/>
              <a:gd name="connsiteY3-28" fmla="*/ 1974078 h 2226179"/>
              <a:gd name="connsiteX4-29" fmla="*/ 3871245 w 3871245"/>
              <a:gd name="connsiteY4-30" fmla="*/ 0 h 2226179"/>
              <a:gd name="connsiteX0-31" fmla="*/ 3867064 w 3867064"/>
              <a:gd name="connsiteY0-32" fmla="*/ 0 h 2226179"/>
              <a:gd name="connsiteX1-33" fmla="*/ 12911 w 3867064"/>
              <a:gd name="connsiteY1-34" fmla="*/ 269192 h 2226179"/>
              <a:gd name="connsiteX2-35" fmla="*/ 92 w 3867064"/>
              <a:gd name="connsiteY2-36" fmla="*/ 2226179 h 2226179"/>
              <a:gd name="connsiteX3-37" fmla="*/ 3862791 w 3867064"/>
              <a:gd name="connsiteY3-38" fmla="*/ 1974078 h 2226179"/>
              <a:gd name="connsiteX4-39" fmla="*/ 3867064 w 3867064"/>
              <a:gd name="connsiteY4-40" fmla="*/ 0 h 2226179"/>
              <a:gd name="connsiteX0-41" fmla="*/ 3867383 w 3867383"/>
              <a:gd name="connsiteY0-42" fmla="*/ 0 h 2226179"/>
              <a:gd name="connsiteX1-43" fmla="*/ 411 w 3867383"/>
              <a:gd name="connsiteY1-44" fmla="*/ 273465 h 2226179"/>
              <a:gd name="connsiteX2-45" fmla="*/ 411 w 3867383"/>
              <a:gd name="connsiteY2-46" fmla="*/ 2226179 h 2226179"/>
              <a:gd name="connsiteX3-47" fmla="*/ 3863110 w 3867383"/>
              <a:gd name="connsiteY3-48" fmla="*/ 1974078 h 2226179"/>
              <a:gd name="connsiteX4-49" fmla="*/ 3867383 w 3867383"/>
              <a:gd name="connsiteY4-50" fmla="*/ 0 h 2226179"/>
              <a:gd name="connsiteX0-51" fmla="*/ 3892661 w 3892661"/>
              <a:gd name="connsiteY0-52" fmla="*/ 0 h 6403180"/>
              <a:gd name="connsiteX1-53" fmla="*/ 25689 w 3892661"/>
              <a:gd name="connsiteY1-54" fmla="*/ 273465 h 6403180"/>
              <a:gd name="connsiteX2-55" fmla="*/ 51 w 3892661"/>
              <a:gd name="connsiteY2-56" fmla="*/ 6403180 h 6403180"/>
              <a:gd name="connsiteX3-57" fmla="*/ 3888388 w 3892661"/>
              <a:gd name="connsiteY3-58" fmla="*/ 1974078 h 6403180"/>
              <a:gd name="connsiteX4-59" fmla="*/ 3892661 w 3892661"/>
              <a:gd name="connsiteY4-60" fmla="*/ 0 h 6403180"/>
              <a:gd name="connsiteX0-61" fmla="*/ 3896882 w 3896882"/>
              <a:gd name="connsiteY0-62" fmla="*/ 0 h 6403180"/>
              <a:gd name="connsiteX1-63" fmla="*/ 0 w 3896882"/>
              <a:gd name="connsiteY1-64" fmla="*/ 4599655 h 6403180"/>
              <a:gd name="connsiteX2-65" fmla="*/ 4272 w 3896882"/>
              <a:gd name="connsiteY2-66" fmla="*/ 6403180 h 6403180"/>
              <a:gd name="connsiteX3-67" fmla="*/ 3892609 w 3896882"/>
              <a:gd name="connsiteY3-68" fmla="*/ 1974078 h 6403180"/>
              <a:gd name="connsiteX4-69" fmla="*/ 3896882 w 3896882"/>
              <a:gd name="connsiteY4-70" fmla="*/ 0 h 6403180"/>
              <a:gd name="connsiteX0-71" fmla="*/ 3893021 w 3893021"/>
              <a:gd name="connsiteY0-72" fmla="*/ 0 h 6403180"/>
              <a:gd name="connsiteX1-73" fmla="*/ 412 w 3893021"/>
              <a:gd name="connsiteY1-74" fmla="*/ 4152108 h 6403180"/>
              <a:gd name="connsiteX2-75" fmla="*/ 411 w 3893021"/>
              <a:gd name="connsiteY2-76" fmla="*/ 6403180 h 6403180"/>
              <a:gd name="connsiteX3-77" fmla="*/ 3888748 w 3893021"/>
              <a:gd name="connsiteY3-78" fmla="*/ 1974078 h 6403180"/>
              <a:gd name="connsiteX4-79" fmla="*/ 3893021 w 3893021"/>
              <a:gd name="connsiteY4-80" fmla="*/ 0 h 6403180"/>
              <a:gd name="connsiteX0-81" fmla="*/ 3892651 w 3892651"/>
              <a:gd name="connsiteY0-82" fmla="*/ 0 h 6403180"/>
              <a:gd name="connsiteX1-83" fmla="*/ 34226 w 3892651"/>
              <a:gd name="connsiteY1-84" fmla="*/ 4375864 h 6403180"/>
              <a:gd name="connsiteX2-85" fmla="*/ 41 w 3892651"/>
              <a:gd name="connsiteY2-86" fmla="*/ 6403180 h 6403180"/>
              <a:gd name="connsiteX3-87" fmla="*/ 3888378 w 3892651"/>
              <a:gd name="connsiteY3-88" fmla="*/ 1974078 h 6403180"/>
              <a:gd name="connsiteX4-89" fmla="*/ 3892651 w 3892651"/>
              <a:gd name="connsiteY4-90" fmla="*/ 0 h 6403180"/>
              <a:gd name="connsiteX0-91" fmla="*/ 3875591 w 3875591"/>
              <a:gd name="connsiteY0-92" fmla="*/ 0 h 6552362"/>
              <a:gd name="connsiteX1-93" fmla="*/ 17166 w 3875591"/>
              <a:gd name="connsiteY1-94" fmla="*/ 4375864 h 6552362"/>
              <a:gd name="connsiteX2-95" fmla="*/ 73 w 3875591"/>
              <a:gd name="connsiteY2-96" fmla="*/ 6552362 h 6552362"/>
              <a:gd name="connsiteX3-97" fmla="*/ 3871318 w 3875591"/>
              <a:gd name="connsiteY3-98" fmla="*/ 1974078 h 6552362"/>
              <a:gd name="connsiteX4-99" fmla="*/ 3875591 w 3875591"/>
              <a:gd name="connsiteY4-100" fmla="*/ 0 h 6552362"/>
              <a:gd name="connsiteX0-101" fmla="*/ 3875928 w 3875928"/>
              <a:gd name="connsiteY0-102" fmla="*/ 0 h 6552362"/>
              <a:gd name="connsiteX1-103" fmla="*/ 412 w 3875928"/>
              <a:gd name="connsiteY1-104" fmla="*/ 4599620 h 6552362"/>
              <a:gd name="connsiteX2-105" fmla="*/ 410 w 3875928"/>
              <a:gd name="connsiteY2-106" fmla="*/ 6552362 h 6552362"/>
              <a:gd name="connsiteX3-107" fmla="*/ 3871655 w 3875928"/>
              <a:gd name="connsiteY3-108" fmla="*/ 1974078 h 6552362"/>
              <a:gd name="connsiteX4-109" fmla="*/ 3875928 w 3875928"/>
              <a:gd name="connsiteY4-110" fmla="*/ 0 h 65523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Freeform 88"/>
          <p:cNvSpPr/>
          <p:nvPr/>
        </p:nvSpPr>
        <p:spPr>
          <a:xfrm>
            <a:off x="3485129" y="37195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1" fmla="*/ 3896882 w 3909701"/>
              <a:gd name="connsiteY0-2" fmla="*/ 0 h 2226179"/>
              <a:gd name="connsiteX1-3" fmla="*/ 0 w 3909701"/>
              <a:gd name="connsiteY1-4" fmla="*/ 264919 h 2226179"/>
              <a:gd name="connsiteX2-5" fmla="*/ 29910 w 3909701"/>
              <a:gd name="connsiteY2-6" fmla="*/ 2226179 h 2226179"/>
              <a:gd name="connsiteX3-7" fmla="*/ 3909701 w 3909701"/>
              <a:gd name="connsiteY3-8" fmla="*/ 1969805 h 2226179"/>
              <a:gd name="connsiteX4-9" fmla="*/ 3896882 w 3909701"/>
              <a:gd name="connsiteY4-10" fmla="*/ 0 h 2226179"/>
              <a:gd name="connsiteX0-11" fmla="*/ 3896882 w 3896882"/>
              <a:gd name="connsiteY0-12" fmla="*/ 0 h 2226179"/>
              <a:gd name="connsiteX1-13" fmla="*/ 0 w 3896882"/>
              <a:gd name="connsiteY1-14" fmla="*/ 264919 h 2226179"/>
              <a:gd name="connsiteX2-15" fmla="*/ 29910 w 3896882"/>
              <a:gd name="connsiteY2-16" fmla="*/ 2226179 h 2226179"/>
              <a:gd name="connsiteX3-17" fmla="*/ 3892609 w 3896882"/>
              <a:gd name="connsiteY3-18" fmla="*/ 1974078 h 2226179"/>
              <a:gd name="connsiteX4-19" fmla="*/ 3896882 w 3896882"/>
              <a:gd name="connsiteY4-20" fmla="*/ 0 h 2226179"/>
              <a:gd name="connsiteX0-21" fmla="*/ 3871245 w 3871245"/>
              <a:gd name="connsiteY0-22" fmla="*/ 0 h 2226179"/>
              <a:gd name="connsiteX1-23" fmla="*/ 0 w 3871245"/>
              <a:gd name="connsiteY1-24" fmla="*/ 264919 h 2226179"/>
              <a:gd name="connsiteX2-25" fmla="*/ 4273 w 3871245"/>
              <a:gd name="connsiteY2-26" fmla="*/ 2226179 h 2226179"/>
              <a:gd name="connsiteX3-27" fmla="*/ 3866972 w 3871245"/>
              <a:gd name="connsiteY3-28" fmla="*/ 1974078 h 2226179"/>
              <a:gd name="connsiteX4-29" fmla="*/ 3871245 w 3871245"/>
              <a:gd name="connsiteY4-30" fmla="*/ 0 h 2226179"/>
              <a:gd name="connsiteX0-31" fmla="*/ 3867064 w 3867064"/>
              <a:gd name="connsiteY0-32" fmla="*/ 0 h 2226179"/>
              <a:gd name="connsiteX1-33" fmla="*/ 12911 w 3867064"/>
              <a:gd name="connsiteY1-34" fmla="*/ 269192 h 2226179"/>
              <a:gd name="connsiteX2-35" fmla="*/ 92 w 3867064"/>
              <a:gd name="connsiteY2-36" fmla="*/ 2226179 h 2226179"/>
              <a:gd name="connsiteX3-37" fmla="*/ 3862791 w 3867064"/>
              <a:gd name="connsiteY3-38" fmla="*/ 1974078 h 2226179"/>
              <a:gd name="connsiteX4-39" fmla="*/ 3867064 w 3867064"/>
              <a:gd name="connsiteY4-40" fmla="*/ 0 h 2226179"/>
              <a:gd name="connsiteX0-41" fmla="*/ 3867383 w 3867383"/>
              <a:gd name="connsiteY0-42" fmla="*/ 0 h 2226179"/>
              <a:gd name="connsiteX1-43" fmla="*/ 411 w 3867383"/>
              <a:gd name="connsiteY1-44" fmla="*/ 273465 h 2226179"/>
              <a:gd name="connsiteX2-45" fmla="*/ 411 w 3867383"/>
              <a:gd name="connsiteY2-46" fmla="*/ 2226179 h 2226179"/>
              <a:gd name="connsiteX3-47" fmla="*/ 3863110 w 3867383"/>
              <a:gd name="connsiteY3-48" fmla="*/ 1974078 h 2226179"/>
              <a:gd name="connsiteX4-49" fmla="*/ 3867383 w 3867383"/>
              <a:gd name="connsiteY4-50" fmla="*/ 0 h 2226179"/>
              <a:gd name="connsiteX0-51" fmla="*/ 3892661 w 3892661"/>
              <a:gd name="connsiteY0-52" fmla="*/ 0 h 6403180"/>
              <a:gd name="connsiteX1-53" fmla="*/ 25689 w 3892661"/>
              <a:gd name="connsiteY1-54" fmla="*/ 273465 h 6403180"/>
              <a:gd name="connsiteX2-55" fmla="*/ 51 w 3892661"/>
              <a:gd name="connsiteY2-56" fmla="*/ 6403180 h 6403180"/>
              <a:gd name="connsiteX3-57" fmla="*/ 3888388 w 3892661"/>
              <a:gd name="connsiteY3-58" fmla="*/ 1974078 h 6403180"/>
              <a:gd name="connsiteX4-59" fmla="*/ 3892661 w 3892661"/>
              <a:gd name="connsiteY4-60" fmla="*/ 0 h 6403180"/>
              <a:gd name="connsiteX0-61" fmla="*/ 3896882 w 3896882"/>
              <a:gd name="connsiteY0-62" fmla="*/ 0 h 6403180"/>
              <a:gd name="connsiteX1-63" fmla="*/ 0 w 3896882"/>
              <a:gd name="connsiteY1-64" fmla="*/ 4599655 h 6403180"/>
              <a:gd name="connsiteX2-65" fmla="*/ 4272 w 3896882"/>
              <a:gd name="connsiteY2-66" fmla="*/ 6403180 h 6403180"/>
              <a:gd name="connsiteX3-67" fmla="*/ 3892609 w 3896882"/>
              <a:gd name="connsiteY3-68" fmla="*/ 1974078 h 6403180"/>
              <a:gd name="connsiteX4-69" fmla="*/ 3896882 w 3896882"/>
              <a:gd name="connsiteY4-70" fmla="*/ 0 h 6403180"/>
              <a:gd name="connsiteX0-71" fmla="*/ 3893021 w 3893021"/>
              <a:gd name="connsiteY0-72" fmla="*/ 0 h 6403180"/>
              <a:gd name="connsiteX1-73" fmla="*/ 412 w 3893021"/>
              <a:gd name="connsiteY1-74" fmla="*/ 4152108 h 6403180"/>
              <a:gd name="connsiteX2-75" fmla="*/ 411 w 3893021"/>
              <a:gd name="connsiteY2-76" fmla="*/ 6403180 h 6403180"/>
              <a:gd name="connsiteX3-77" fmla="*/ 3888748 w 3893021"/>
              <a:gd name="connsiteY3-78" fmla="*/ 1974078 h 6403180"/>
              <a:gd name="connsiteX4-79" fmla="*/ 3893021 w 3893021"/>
              <a:gd name="connsiteY4-80" fmla="*/ 0 h 6403180"/>
              <a:gd name="connsiteX0-81" fmla="*/ 3892651 w 3892651"/>
              <a:gd name="connsiteY0-82" fmla="*/ 0 h 6403180"/>
              <a:gd name="connsiteX1-83" fmla="*/ 34226 w 3892651"/>
              <a:gd name="connsiteY1-84" fmla="*/ 4375864 h 6403180"/>
              <a:gd name="connsiteX2-85" fmla="*/ 41 w 3892651"/>
              <a:gd name="connsiteY2-86" fmla="*/ 6403180 h 6403180"/>
              <a:gd name="connsiteX3-87" fmla="*/ 3888378 w 3892651"/>
              <a:gd name="connsiteY3-88" fmla="*/ 1974078 h 6403180"/>
              <a:gd name="connsiteX4-89" fmla="*/ 3892651 w 3892651"/>
              <a:gd name="connsiteY4-90" fmla="*/ 0 h 6403180"/>
              <a:gd name="connsiteX0-91" fmla="*/ 3875591 w 3875591"/>
              <a:gd name="connsiteY0-92" fmla="*/ 0 h 6552362"/>
              <a:gd name="connsiteX1-93" fmla="*/ 17166 w 3875591"/>
              <a:gd name="connsiteY1-94" fmla="*/ 4375864 h 6552362"/>
              <a:gd name="connsiteX2-95" fmla="*/ 73 w 3875591"/>
              <a:gd name="connsiteY2-96" fmla="*/ 6552362 h 6552362"/>
              <a:gd name="connsiteX3-97" fmla="*/ 3871318 w 3875591"/>
              <a:gd name="connsiteY3-98" fmla="*/ 1974078 h 6552362"/>
              <a:gd name="connsiteX4-99" fmla="*/ 3875591 w 3875591"/>
              <a:gd name="connsiteY4-100" fmla="*/ 0 h 6552362"/>
              <a:gd name="connsiteX0-101" fmla="*/ 3875928 w 3875928"/>
              <a:gd name="connsiteY0-102" fmla="*/ 0 h 6552362"/>
              <a:gd name="connsiteX1-103" fmla="*/ 412 w 3875928"/>
              <a:gd name="connsiteY1-104" fmla="*/ 4599620 h 6552362"/>
              <a:gd name="connsiteX2-105" fmla="*/ 410 w 3875928"/>
              <a:gd name="connsiteY2-106" fmla="*/ 6552362 h 6552362"/>
              <a:gd name="connsiteX3-107" fmla="*/ 3871655 w 3875928"/>
              <a:gd name="connsiteY3-108" fmla="*/ 1974078 h 6552362"/>
              <a:gd name="connsiteX4-109" fmla="*/ 3875928 w 3875928"/>
              <a:gd name="connsiteY4-110" fmla="*/ 0 h 65523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Rectangle 1"/>
          <p:cNvSpPr/>
          <p:nvPr/>
        </p:nvSpPr>
        <p:spPr>
          <a:xfrm>
            <a:off x="2575260" y="3949241"/>
            <a:ext cx="310918" cy="2811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0" name="Group 49"/>
          <p:cNvGrpSpPr/>
          <p:nvPr/>
        </p:nvGrpSpPr>
        <p:grpSpPr>
          <a:xfrm>
            <a:off x="1756483" y="3920514"/>
            <a:ext cx="1644347" cy="338554"/>
            <a:chOff x="1756483" y="3920514"/>
            <a:chExt cx="1644347" cy="338554"/>
          </a:xfrm>
        </p:grpSpPr>
        <p:cxnSp>
          <p:nvCxnSpPr>
            <p:cNvPr id="83" name="Straight Arrow Connector 82"/>
            <p:cNvCxnSpPr/>
            <p:nvPr/>
          </p:nvCxnSpPr>
          <p:spPr>
            <a:xfrm flipH="1">
              <a:off x="1756483" y="4094530"/>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p:cNvSpPr txBox="1"/>
            <p:nvPr/>
          </p:nvSpPr>
          <p:spPr>
            <a:xfrm>
              <a:off x="2554202" y="3920514"/>
              <a:ext cx="454883" cy="338554"/>
            </a:xfrm>
            <a:prstGeom prst="rect">
              <a:avLst/>
            </a:prstGeom>
            <a:noFill/>
          </p:spPr>
          <p:txBody>
            <a:bodyPr wrap="square" rtlCol="0">
              <a:spAutoFit/>
            </a:bodyPr>
            <a:lstStyle/>
            <a:p>
              <a:r>
                <a:rPr lang="en-US" sz="1600" dirty="0"/>
                <a:t>O</a:t>
              </a:r>
              <a:r>
                <a:rPr lang="en-US" sz="1600" baseline="-25000" dirty="0"/>
                <a:t>3</a:t>
              </a:r>
              <a:endParaRPr lang="en-US" sz="1600" baseline="-25000" dirty="0"/>
            </a:p>
          </p:txBody>
        </p:sp>
      </p:grpSp>
      <p:sp>
        <p:nvSpPr>
          <p:cNvPr id="3" name="Rectangle 2"/>
          <p:cNvSpPr/>
          <p:nvPr/>
        </p:nvSpPr>
        <p:spPr>
          <a:xfrm>
            <a:off x="2869378" y="5701781"/>
            <a:ext cx="269557" cy="229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 name="Group 53"/>
          <p:cNvGrpSpPr/>
          <p:nvPr/>
        </p:nvGrpSpPr>
        <p:grpSpPr>
          <a:xfrm>
            <a:off x="1706138" y="5621746"/>
            <a:ext cx="1641326" cy="338554"/>
            <a:chOff x="1706138" y="5621746"/>
            <a:chExt cx="1641326" cy="338554"/>
          </a:xfrm>
        </p:grpSpPr>
        <p:cxnSp>
          <p:nvCxnSpPr>
            <p:cNvPr id="84" name="Straight Arrow Connector 83"/>
            <p:cNvCxnSpPr/>
            <p:nvPr/>
          </p:nvCxnSpPr>
          <p:spPr>
            <a:xfrm flipH="1">
              <a:off x="1706138"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p:cNvSpPr txBox="1"/>
            <p:nvPr/>
          </p:nvSpPr>
          <p:spPr>
            <a:xfrm>
              <a:off x="2801769" y="5621746"/>
              <a:ext cx="459104" cy="338554"/>
            </a:xfrm>
            <a:prstGeom prst="rect">
              <a:avLst/>
            </a:prstGeom>
            <a:noFill/>
          </p:spPr>
          <p:txBody>
            <a:bodyPr wrap="square" rtlCol="0">
              <a:spAutoFit/>
            </a:bodyPr>
            <a:lstStyle/>
            <a:p>
              <a:r>
                <a:rPr lang="en-US" sz="1600" dirty="0"/>
                <a:t>O</a:t>
              </a:r>
              <a:r>
                <a:rPr lang="en-US" sz="1600" baseline="-25000" dirty="0"/>
                <a:t>1</a:t>
              </a:r>
              <a:endParaRPr lang="en-US" sz="1600" baseline="-25000" dirty="0"/>
            </a:p>
          </p:txBody>
        </p:sp>
      </p:grpSp>
      <p:cxnSp>
        <p:nvCxnSpPr>
          <p:cNvPr id="8" name="Straight Connector 7"/>
          <p:cNvCxnSpPr/>
          <p:nvPr/>
        </p:nvCxnSpPr>
        <p:spPr>
          <a:xfrm>
            <a:off x="8570246" y="531145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8585033" y="495696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8579058" y="482487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8573083" y="469278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8567108" y="456068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a:off x="8561133" y="442859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8555158" y="429649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8549183" y="416440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8543208" y="403231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8537233" y="390021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8531258" y="376812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8525283" y="363602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8540494" y="350393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8534519" y="337184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a:off x="8535606" y="323974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V="1">
            <a:off x="3452698" y="3962094"/>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V="1">
            <a:off x="3392013" y="411308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V="1">
            <a:off x="3403873" y="425067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V="1">
            <a:off x="3415733" y="439955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flipV="1">
            <a:off x="3474493" y="556214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V="1">
            <a:off x="3486353" y="571667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467438" y="4527480"/>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406753" y="467846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418613" y="481606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430473" y="496494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3482178" y="5092866"/>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3421493" y="524385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3433353" y="538144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8"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wipe(right)">
                                      <p:cBhvr>
                                        <p:cTn id="11" dur="500"/>
                                        <p:tgtEl>
                                          <p:spTgt spid="67"/>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right)">
                                      <p:cBhvr>
                                        <p:cTn id="15" dur="500"/>
                                        <p:tgtEl>
                                          <p:spTgt spid="7"/>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right)">
                                      <p:cBhvr>
                                        <p:cTn id="19" dur="500"/>
                                        <p:tgtEl>
                                          <p:spTgt spid="68"/>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wipe(right)">
                                      <p:cBhvr>
                                        <p:cTn id="23" dur="500"/>
                                        <p:tgtEl>
                                          <p:spTgt spid="7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grpId="0" nodeType="clickEffect">
                                  <p:stCondLst>
                                    <p:cond delay="0"/>
                                  </p:stCondLst>
                                  <p:childTnLst>
                                    <p:set>
                                      <p:cBhvr>
                                        <p:cTn id="31" dur="1" fill="hold">
                                          <p:stCondLst>
                                            <p:cond delay="0"/>
                                          </p:stCondLst>
                                        </p:cTn>
                                        <p:tgtEl>
                                          <p:spTgt spid="88"/>
                                        </p:tgtEl>
                                        <p:attrNameLst>
                                          <p:attrName>style.visibility</p:attrName>
                                        </p:attrNameLst>
                                      </p:cBhvr>
                                      <p:to>
                                        <p:strVal val="visible"/>
                                      </p:to>
                                    </p:set>
                                    <p:animEffect transition="in" filter="wipe(right)">
                                      <p:cBhvr>
                                        <p:cTn id="32" dur="500"/>
                                        <p:tgtEl>
                                          <p:spTgt spid="88"/>
                                        </p:tgtEl>
                                      </p:cBhvr>
                                    </p:animEffect>
                                  </p:childTnLst>
                                </p:cTn>
                              </p:par>
                            </p:childTnLst>
                          </p:cTn>
                        </p:par>
                        <p:par>
                          <p:cTn id="33" fill="hold">
                            <p:stCondLst>
                              <p:cond delay="500"/>
                            </p:stCondLst>
                            <p:childTnLst>
                              <p:par>
                                <p:cTn id="34" presetID="22" presetClass="entr" presetSubtype="2" fill="hold" grpId="0" nodeType="afterEffect">
                                  <p:stCondLst>
                                    <p:cond delay="0"/>
                                  </p:stCondLst>
                                  <p:childTnLst>
                                    <p:set>
                                      <p:cBhvr>
                                        <p:cTn id="35" dur="1" fill="hold">
                                          <p:stCondLst>
                                            <p:cond delay="0"/>
                                          </p:stCondLst>
                                        </p:cTn>
                                        <p:tgtEl>
                                          <p:spTgt spid="89"/>
                                        </p:tgtEl>
                                        <p:attrNameLst>
                                          <p:attrName>style.visibility</p:attrName>
                                        </p:attrNameLst>
                                      </p:cBhvr>
                                      <p:to>
                                        <p:strVal val="visible"/>
                                      </p:to>
                                    </p:set>
                                    <p:animEffect transition="in" filter="wipe(right)">
                                      <p:cBhvr>
                                        <p:cTn id="36" dur="500"/>
                                        <p:tgtEl>
                                          <p:spTgt spid="89"/>
                                        </p:tgtEl>
                                      </p:cBhvr>
                                    </p:animEffect>
                                  </p:childTnLst>
                                </p:cTn>
                              </p:par>
                            </p:childTnLst>
                          </p:cTn>
                        </p:par>
                        <p:par>
                          <p:cTn id="37" fill="hold">
                            <p:stCondLst>
                              <p:cond delay="1000"/>
                            </p:stCondLst>
                            <p:childTnLst>
                              <p:par>
                                <p:cTn id="38" presetID="22" presetClass="entr" presetSubtype="2" fill="hold" nodeType="after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right)">
                                      <p:cBhvr>
                                        <p:cTn id="40" dur="5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grpId="0" nodeType="click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right)">
                                      <p:cBhvr>
                                        <p:cTn id="45" dur="500"/>
                                        <p:tgtEl>
                                          <p:spTgt spid="49"/>
                                        </p:tgtEl>
                                      </p:cBhvr>
                                    </p:animEffect>
                                  </p:childTnLst>
                                </p:cTn>
                              </p:par>
                              <p:par>
                                <p:cTn id="46" presetID="22" presetClass="entr" presetSubtype="2" fill="hold" nodeType="withEffect">
                                  <p:stCondLst>
                                    <p:cond delay="0"/>
                                  </p:stCondLst>
                                  <p:childTnLst>
                                    <p:set>
                                      <p:cBhvr>
                                        <p:cTn id="47" dur="1" fill="hold">
                                          <p:stCondLst>
                                            <p:cond delay="0"/>
                                          </p:stCondLst>
                                        </p:cTn>
                                        <p:tgtEl>
                                          <p:spTgt spid="62"/>
                                        </p:tgtEl>
                                        <p:attrNameLst>
                                          <p:attrName>style.visibility</p:attrName>
                                        </p:attrNameLst>
                                      </p:cBhvr>
                                      <p:to>
                                        <p:strVal val="visible"/>
                                      </p:to>
                                    </p:set>
                                    <p:animEffect transition="in" filter="wipe(right)">
                                      <p:cBhvr>
                                        <p:cTn id="48" dur="500"/>
                                        <p:tgtEl>
                                          <p:spTgt spid="62"/>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54"/>
                                        </p:tgtEl>
                                        <p:attrNameLst>
                                          <p:attrName>style.visibility</p:attrName>
                                        </p:attrNameLst>
                                      </p:cBhvr>
                                      <p:to>
                                        <p:strVal val="visible"/>
                                      </p:to>
                                    </p:set>
                                    <p:animEffect transition="in" filter="wipe(right)">
                                      <p:cBhvr>
                                        <p:cTn id="52" dur="500"/>
                                        <p:tgtEl>
                                          <p:spTgt spid="54"/>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dissolve">
                                      <p:cBhvr>
                                        <p:cTn id="5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7" grpId="0" animBg="1"/>
      <p:bldP spid="68" grpId="0" animBg="1"/>
      <p:bldP spid="70" grpId="0" animBg="1"/>
      <p:bldP spid="117" grpId="0"/>
      <p:bldP spid="88" grpId="0" animBg="1"/>
      <p:bldP spid="89"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651417" y="223762"/>
            <a:ext cx="10515600" cy="894622"/>
          </a:xfrm>
        </p:spPr>
        <p:txBody>
          <a:bodyPr>
            <a:normAutofit/>
          </a:bodyPr>
          <a:lstStyle/>
          <a:p>
            <a:r>
              <a:rPr lang="en-US" sz="4400" dirty="0">
                <a:ea typeface="MS PGothic" panose="020B0600070205080204" pitchFamily="34" charset="-128"/>
              </a:rPr>
              <a:t>HTTP/2 to HTTP/3</a:t>
            </a:r>
            <a:endParaRPr lang="en-US" sz="4400" dirty="0"/>
          </a:p>
        </p:txBody>
      </p:sp>
      <p:sp>
        <p:nvSpPr>
          <p:cNvPr id="272" name="Rectangle 3"/>
          <p:cNvSpPr txBox="1">
            <a:spLocks noChangeArrowheads="1"/>
          </p:cNvSpPr>
          <p:nvPr/>
        </p:nvSpPr>
        <p:spPr>
          <a:xfrm>
            <a:off x="673719" y="1118384"/>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lgn="ctr">
              <a:buNone/>
            </a:pPr>
            <a:r>
              <a:rPr lang="en-US" altLang="en-US" i="1" dirty="0">
                <a:solidFill>
                  <a:srgbClr val="000090"/>
                </a:solidFill>
                <a:ea typeface="MS PGothic" panose="020B0600070205080204" pitchFamily="34" charset="-128"/>
              </a:rPr>
              <a:t>Key goal: </a:t>
            </a:r>
            <a:r>
              <a:rPr lang="en-US" altLang="en-US" dirty="0">
                <a:ea typeface="MS PGothic" panose="020B0600070205080204" pitchFamily="34" charset="-128"/>
              </a:rPr>
              <a:t>decreased delay in multi-object </a:t>
            </a:r>
            <a:r>
              <a:rPr lang="en-US" altLang="en-US">
                <a:ea typeface="MS PGothic" panose="020B0600070205080204" pitchFamily="34" charset="-128"/>
              </a:rPr>
              <a:t>HTTP requests</a:t>
            </a:r>
            <a:endParaRPr lang="en-US" altLang="en-US" dirty="0">
              <a:ea typeface="MS PGothic" panose="020B0600070205080204" pitchFamily="34" charset="-128"/>
            </a:endParaRPr>
          </a:p>
          <a:p>
            <a:pPr lvl="1"/>
            <a:endParaRPr lang="en-US" altLang="en-US" dirty="0">
              <a:ea typeface="MS PGothic" panose="020B0600070205080204" pitchFamily="34" charset="-128"/>
            </a:endParaRPr>
          </a:p>
        </p:txBody>
      </p:sp>
      <p:sp>
        <p:nvSpPr>
          <p:cNvPr id="56" name="Rectangle 3"/>
          <p:cNvSpPr txBox="1">
            <a:spLocks noChangeArrowheads="1"/>
          </p:cNvSpPr>
          <p:nvPr/>
        </p:nvSpPr>
        <p:spPr>
          <a:xfrm>
            <a:off x="1003084" y="2048927"/>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4770" indent="0">
              <a:buNone/>
            </a:pPr>
            <a:r>
              <a:rPr lang="en-US" altLang="en-US" sz="3200" dirty="0">
                <a:ea typeface="MS PGothic" panose="020B0600070205080204" pitchFamily="34" charset="-128"/>
              </a:rPr>
              <a:t>HTTP/2 over single TCP connection means:</a:t>
            </a:r>
            <a:endParaRPr lang="en-US" altLang="en-US" sz="3200" dirty="0">
              <a:ea typeface="MS PGothic" panose="020B0600070205080204" pitchFamily="34" charset="-128"/>
            </a:endParaRPr>
          </a:p>
          <a:p>
            <a:pPr marL="346075" indent="-281305"/>
            <a:r>
              <a:rPr lang="en-US" altLang="en-US" sz="3200" dirty="0">
                <a:ea typeface="MS PGothic" panose="020B0600070205080204" pitchFamily="34" charset="-128"/>
              </a:rPr>
              <a:t>recovery from packet loss still stalls all object transmissions</a:t>
            </a:r>
            <a:endParaRPr lang="en-US" altLang="en-US" sz="3200" dirty="0">
              <a:ea typeface="MS PGothic" panose="020B0600070205080204" pitchFamily="34" charset="-128"/>
            </a:endParaRPr>
          </a:p>
          <a:p>
            <a:pPr marL="688975" lvl="1" indent="-281305"/>
            <a:r>
              <a:rPr lang="en-US" altLang="en-US" sz="2800" dirty="0">
                <a:ea typeface="MS PGothic" panose="020B0600070205080204" pitchFamily="34" charset="-128"/>
              </a:rPr>
              <a:t>as in HTTP 1.1, browsers have incentive to open multiple parallel TCP connections to reduce stalling, increase overall throughput</a:t>
            </a:r>
            <a:endParaRPr lang="en-US" altLang="en-US" sz="2800" dirty="0">
              <a:ea typeface="MS PGothic" panose="020B0600070205080204" pitchFamily="34" charset="-128"/>
            </a:endParaRPr>
          </a:p>
          <a:p>
            <a:pPr marL="346075" indent="-281305"/>
            <a:r>
              <a:rPr lang="en-US" altLang="en-US" sz="3200" dirty="0">
                <a:ea typeface="MS PGothic" panose="020B0600070205080204" pitchFamily="34" charset="-128"/>
              </a:rPr>
              <a:t>no security over vanilla TCP connection</a:t>
            </a:r>
            <a:endParaRPr lang="en-US" altLang="en-US" sz="3200" dirty="0">
              <a:ea typeface="MS PGothic" panose="020B0600070205080204" pitchFamily="34" charset="-128"/>
            </a:endParaRPr>
          </a:p>
          <a:p>
            <a:pPr marL="346075" indent="-281305"/>
            <a:r>
              <a:rPr lang="en-US" altLang="en-US" sz="3200" dirty="0">
                <a:solidFill>
                  <a:srgbClr val="C00000"/>
                </a:solidFill>
                <a:ea typeface="MS PGothic" panose="020B0600070205080204" pitchFamily="34" charset="-128"/>
              </a:rPr>
              <a:t>HTTP/3: </a:t>
            </a:r>
            <a:r>
              <a:rPr lang="en-US" altLang="en-US" sz="3200" dirty="0">
                <a:ea typeface="MS PGothic" panose="020B0600070205080204" pitchFamily="34" charset="-128"/>
              </a:rPr>
              <a:t>adds security , per object error- and congestion-control (more pipelining) over UDP</a:t>
            </a:r>
            <a:endParaRPr lang="en-US" altLang="en-US" sz="3200" dirty="0">
              <a:ea typeface="MS PGothic" panose="020B0600070205080204" pitchFamily="34" charset="-128"/>
            </a:endParaRPr>
          </a:p>
          <a:p>
            <a:pPr marL="688975" lvl="1" indent="-281305"/>
            <a:r>
              <a:rPr lang="en-US" altLang="en-US" sz="2800" dirty="0">
                <a:ea typeface="MS PGothic" panose="020B0600070205080204" pitchFamily="34" charset="-128"/>
              </a:rPr>
              <a:t>more on HTTP/3 in transport layer</a:t>
            </a:r>
            <a:endParaRPr lang="en-US" altLang="en-US" sz="2800" dirty="0">
              <a:ea typeface="MS PGothic" panose="020B0600070205080204" pitchFamily="34" charset="-128"/>
            </a:endParaRPr>
          </a:p>
          <a:p>
            <a:pPr lvl="1"/>
            <a:endParaRPr lang="en-US" altLang="en-US" dirty="0">
              <a:ea typeface="MS PGothic" panose="020B0600070205080204" pitchFamily="34" charset="-128"/>
            </a:endParaRPr>
          </a:p>
          <a:p>
            <a:pPr lvl="1"/>
            <a:endParaRPr lang="en-US" altLang="en-US" dirty="0">
              <a:ea typeface="MS PGothic" panose="020B0600070205080204" pitchFamily="34" charset="-128"/>
            </a:endParaRPr>
          </a:p>
        </p:txBody>
      </p:sp>
      <p:sp>
        <p:nvSpPr>
          <p:cNvPr id="5" name="Slide Number Placeholder 2"/>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p:cNvSpPr txBox="1"/>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rgbClr val="0000A8"/>
              </a:buClr>
              <a:defRPr/>
            </a:pPr>
            <a:r>
              <a:rPr lang="en-US" sz="3200" dirty="0">
                <a:latin typeface="Calibri" panose="020F0502020204030204" pitchFamily="34" charset="0"/>
                <a:cs typeface="Calibri" panose="020F0502020204030204" pitchFamily="34" charset="0"/>
              </a:rPr>
              <a:t>E-mail, SMTP, IMAP</a:t>
            </a:r>
            <a:endParaRPr lang="en-US" sz="3200" dirty="0">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endParaRPr lang="en-US" sz="3200" dirty="0">
              <a:solidFill>
                <a:schemeClr val="bg1">
                  <a:lumMod val="75000"/>
                </a:schemeClr>
              </a:solidFill>
              <a:latin typeface="Calibri" panose="020F0502020204030204" pitchFamily="34" charset="0"/>
              <a:cs typeface="Calibri" panose="020F0502020204030204" pitchFamily="34" charset="0"/>
            </a:endParaRPr>
          </a:p>
          <a:p>
            <a:endParaRPr lang="en-US" dirty="0"/>
          </a:p>
        </p:txBody>
      </p:sp>
      <p:sp>
        <p:nvSpPr>
          <p:cNvPr id="11" name="Rectangle 4"/>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P2P applications</a:t>
            </a:r>
            <a:endParaRPr lang="en-US" altLang="en-US" sz="3200" dirty="0">
              <a:solidFill>
                <a:schemeClr val="bg1">
                  <a:lumMod val="75000"/>
                </a:schemeClr>
              </a:solidFill>
              <a:ea typeface="MS PGothic" panose="020B0600070205080204" pitchFamily="34" charset="-128"/>
            </a:endParaRPr>
          </a:p>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video streaming and content distribution networks</a:t>
            </a:r>
            <a:endParaRPr lang="en-US" altLang="en-US" sz="3200" dirty="0">
              <a:solidFill>
                <a:schemeClr val="bg1">
                  <a:lumMod val="75000"/>
                </a:schemeClr>
              </a:solidFill>
              <a:ea typeface="MS PGothic" panose="020B0600070205080204" pitchFamily="34" charset="-128"/>
            </a:endParaRPr>
          </a:p>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socket programming with UDP and TCP</a:t>
            </a:r>
            <a:endParaRPr lang="en-US" altLang="en-US" sz="3200" dirty="0">
              <a:solidFill>
                <a:schemeClr val="bg1">
                  <a:lumMod val="75000"/>
                </a:schemeClr>
              </a:solidFill>
              <a:ea typeface="MS PGothic" panose="020B0600070205080204" pitchFamily="34" charset="-128"/>
            </a:endParaRPr>
          </a:p>
          <a:p>
            <a:pPr>
              <a:buFont typeface="Wingdings" panose="05000000000000000000" pitchFamily="2" charset="2"/>
              <a:buNone/>
            </a:pPr>
            <a:endParaRPr lang="en-US" altLang="en-US" sz="2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pic>
        <p:nvPicPr>
          <p:cNvPr id="7" name="Picture 6" descr="Kurose&amp;Ross 8th edition photo"/>
          <p:cNvPicPr>
            <a:picLocks noChangeAspect="1"/>
          </p:cNvPicPr>
          <p:nvPr/>
        </p:nvPicPr>
        <p:blipFill>
          <a:blip r:embed="rId1"/>
          <a:stretch>
            <a:fillRect/>
          </a:stretch>
        </p:blipFill>
        <p:spPr>
          <a:xfrm>
            <a:off x="6957391" y="4125913"/>
            <a:ext cx="3087757" cy="2315818"/>
          </a:xfrm>
          <a:prstGeom prst="rect">
            <a:avLst/>
          </a:prstGeom>
        </p:spPr>
      </p:pic>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8" name="Rectangle 3"/>
          <p:cNvSpPr txBox="1">
            <a:spLocks noChangeArrowheads="1"/>
          </p:cNvSpPr>
          <p:nvPr/>
        </p:nvSpPr>
        <p:spPr>
          <a:xfrm>
            <a:off x="544512" y="1366838"/>
            <a:ext cx="7119031" cy="48768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dirty="0">
                <a:solidFill>
                  <a:srgbClr val="CC0000"/>
                </a:solidFill>
                <a:ea typeface="MS PGothic" panose="020B0600070205080204" pitchFamily="34" charset="-128"/>
              </a:rPr>
              <a:t>Three major components: </a:t>
            </a:r>
            <a:endParaRPr lang="en-US" altLang="en-US" sz="3200" dirty="0">
              <a:solidFill>
                <a:srgbClr val="CC0000"/>
              </a:solidFill>
              <a:ea typeface="MS PGothic" panose="020B0600070205080204" pitchFamily="34" charset="-128"/>
            </a:endParaRPr>
          </a:p>
          <a:p>
            <a:pPr marL="460375" indent="-215900">
              <a:spcBef>
                <a:spcPts val="400"/>
              </a:spcBef>
            </a:pPr>
            <a:r>
              <a:rPr lang="en-US" altLang="en-US" dirty="0">
                <a:ea typeface="MS PGothic" panose="020B0600070205080204" pitchFamily="34" charset="-128"/>
              </a:rPr>
              <a:t>user agents </a:t>
            </a:r>
            <a:endParaRPr lang="en-US" altLang="en-US" dirty="0">
              <a:ea typeface="MS PGothic" panose="020B0600070205080204" pitchFamily="34" charset="-128"/>
            </a:endParaRPr>
          </a:p>
          <a:p>
            <a:pPr marL="460375" indent="-215900">
              <a:spcBef>
                <a:spcPts val="400"/>
              </a:spcBef>
            </a:pPr>
            <a:r>
              <a:rPr lang="en-US" altLang="en-US" dirty="0">
                <a:ea typeface="MS PGothic" panose="020B0600070205080204" pitchFamily="34" charset="-128"/>
              </a:rPr>
              <a:t>mail servers </a:t>
            </a:r>
            <a:endParaRPr lang="en-US" altLang="en-US" dirty="0">
              <a:ea typeface="MS PGothic" panose="020B0600070205080204" pitchFamily="34" charset="-128"/>
            </a:endParaRPr>
          </a:p>
          <a:p>
            <a:pPr marL="460375" indent="-215900">
              <a:spcBef>
                <a:spcPts val="400"/>
              </a:spcBef>
              <a:spcAft>
                <a:spcPct val="75000"/>
              </a:spcAft>
            </a:pPr>
            <a:r>
              <a:rPr lang="en-US" altLang="en-US" dirty="0">
                <a:ea typeface="MS PGothic" panose="020B0600070205080204" pitchFamily="34" charset="-128"/>
              </a:rPr>
              <a:t>simple mail transfer protocol: SMTP</a:t>
            </a:r>
            <a:endParaRPr lang="en-US" altLang="en-US" dirty="0">
              <a:ea typeface="MS PGothic" panose="020B0600070205080204" pitchFamily="34" charset="-128"/>
            </a:endParaRPr>
          </a:p>
          <a:p>
            <a:pPr>
              <a:buFont typeface="Wingdings" panose="05000000000000000000" pitchFamily="2" charset="2"/>
              <a:buNone/>
            </a:pPr>
            <a:r>
              <a:rPr lang="en-US" altLang="en-US" sz="3600" dirty="0">
                <a:solidFill>
                  <a:srgbClr val="CC0000"/>
                </a:solidFill>
                <a:ea typeface="MS PGothic" panose="020B0600070205080204" pitchFamily="34" charset="-128"/>
              </a:rPr>
              <a:t>User Agent</a:t>
            </a:r>
            <a:endParaRPr lang="en-US" altLang="en-US" sz="3600" dirty="0">
              <a:solidFill>
                <a:srgbClr val="CC0000"/>
              </a:solidFill>
              <a:ea typeface="MS PGothic" panose="020B0600070205080204" pitchFamily="34" charset="-128"/>
            </a:endParaRPr>
          </a:p>
          <a:p>
            <a:pPr marL="460375" indent="-215900">
              <a:spcBef>
                <a:spcPts val="400"/>
              </a:spcBef>
            </a:pPr>
            <a:r>
              <a:rPr lang="en-US" altLang="en-US" dirty="0">
                <a:ea typeface="MS PGothic" panose="020B0600070205080204" pitchFamily="34" charset="-128"/>
              </a:rPr>
              <a:t>a.k.a. “</a:t>
            </a:r>
            <a:r>
              <a:rPr lang="en-US" altLang="ja-JP" dirty="0">
                <a:ea typeface="MS PGothic" panose="020B0600070205080204" pitchFamily="34" charset="-128"/>
              </a:rPr>
              <a:t>mail reader”</a:t>
            </a:r>
            <a:endParaRPr lang="en-US" altLang="ja-JP" dirty="0">
              <a:ea typeface="MS PGothic" panose="020B0600070205080204" pitchFamily="34" charset="-128"/>
            </a:endParaRPr>
          </a:p>
          <a:p>
            <a:pPr marL="460375" indent="-215900">
              <a:spcBef>
                <a:spcPts val="400"/>
              </a:spcBef>
            </a:pPr>
            <a:r>
              <a:rPr lang="en-US" altLang="en-US" dirty="0">
                <a:ea typeface="MS PGothic" panose="020B0600070205080204" pitchFamily="34" charset="-128"/>
              </a:rPr>
              <a:t>composing, editing, reading mail messages</a:t>
            </a:r>
            <a:endParaRPr lang="en-US" altLang="en-US" dirty="0">
              <a:ea typeface="MS PGothic" panose="020B0600070205080204" pitchFamily="34" charset="-128"/>
            </a:endParaRPr>
          </a:p>
          <a:p>
            <a:pPr marL="460375" indent="-215900">
              <a:spcBef>
                <a:spcPts val="400"/>
              </a:spcBef>
            </a:pPr>
            <a:r>
              <a:rPr lang="en-US" altLang="en-US" dirty="0">
                <a:ea typeface="MS PGothic" panose="020B0600070205080204" pitchFamily="34" charset="-128"/>
              </a:rPr>
              <a:t>e.g., Outlook, iPhone mail client</a:t>
            </a:r>
            <a:endParaRPr lang="en-US" altLang="en-US" dirty="0">
              <a:ea typeface="MS PGothic" panose="020B0600070205080204" pitchFamily="34" charset="-128"/>
            </a:endParaRPr>
          </a:p>
          <a:p>
            <a:pPr marL="460375" indent="-215900">
              <a:spcBef>
                <a:spcPts val="400"/>
              </a:spcBef>
            </a:pPr>
            <a:r>
              <a:rPr lang="en-US" altLang="en-US" dirty="0">
                <a:ea typeface="MS PGothic" panose="020B0600070205080204" pitchFamily="34" charset="-128"/>
              </a:rPr>
              <a:t>outgoing, incoming messages stored on server</a:t>
            </a:r>
            <a:endParaRPr lang="en-US" altLang="en-US" dirty="0">
              <a:ea typeface="MS PGothic" panose="020B0600070205080204" pitchFamily="34" charset="-128"/>
            </a:endParaRPr>
          </a:p>
        </p:txBody>
      </p:sp>
      <p:sp>
        <p:nvSpPr>
          <p:cNvPr id="223" name="Rectangle 280"/>
          <p:cNvSpPr>
            <a:spLocks noChangeArrowheads="1"/>
          </p:cNvSpPr>
          <p:nvPr/>
        </p:nvSpPr>
        <p:spPr bwMode="auto">
          <a:xfrm>
            <a:off x="9629775" y="406072"/>
            <a:ext cx="1828800" cy="981075"/>
          </a:xfrm>
          <a:prstGeom prst="rect">
            <a:avLst/>
          </a:prstGeom>
          <a:noFill/>
          <a:ln w="9525">
            <a:solidFill>
              <a:srgbClr val="00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224" name="Group 279"/>
          <p:cNvGrpSpPr/>
          <p:nvPr/>
        </p:nvGrpSpPr>
        <p:grpSpPr bwMode="auto">
          <a:xfrm>
            <a:off x="9726613" y="353688"/>
            <a:ext cx="1736725" cy="989013"/>
            <a:chOff x="4458" y="3335"/>
            <a:chExt cx="1094" cy="623"/>
          </a:xfrm>
        </p:grpSpPr>
        <p:sp>
          <p:nvSpPr>
            <p:cNvPr id="225" name="Text Box 263"/>
            <p:cNvSpPr txBox="1">
              <a:spLocks noChangeArrowheads="1"/>
            </p:cNvSpPr>
            <p:nvPr/>
          </p:nvSpPr>
          <p:spPr bwMode="auto">
            <a:xfrm>
              <a:off x="4663" y="372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 mailbox</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226" name="Group 278"/>
            <p:cNvGrpSpPr/>
            <p:nvPr/>
          </p:nvGrpSpPr>
          <p:grpSpPr bwMode="auto">
            <a:xfrm>
              <a:off x="4458" y="3408"/>
              <a:ext cx="450" cy="120"/>
              <a:chOff x="4314" y="3444"/>
              <a:chExt cx="450" cy="120"/>
            </a:xfrm>
          </p:grpSpPr>
          <p:sp>
            <p:nvSpPr>
              <p:cNvPr id="229" name="Rectangle 264"/>
              <p:cNvSpPr>
                <a:spLocks noChangeArrowheads="1"/>
              </p:cNvSpPr>
              <p:nvPr/>
            </p:nvSpPr>
            <p:spPr bwMode="auto">
              <a:xfrm>
                <a:off x="4314" y="3444"/>
                <a:ext cx="450" cy="120"/>
              </a:xfrm>
              <a:prstGeom prst="rect">
                <a:avLst/>
              </a:prstGeom>
              <a:solidFill>
                <a:srgbClr val="00FF00"/>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30" name="Line 265"/>
              <p:cNvSpPr>
                <a:spLocks noChangeShapeType="1"/>
              </p:cNvSpPr>
              <p:nvPr/>
            </p:nvSpPr>
            <p:spPr bwMode="auto">
              <a:xfrm>
                <a:off x="4363" y="3472"/>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31" name="Line 266"/>
              <p:cNvSpPr>
                <a:spLocks noChangeShapeType="1"/>
              </p:cNvSpPr>
              <p:nvPr/>
            </p:nvSpPr>
            <p:spPr bwMode="auto">
              <a:xfrm flipH="1">
                <a:off x="4472" y="3471"/>
                <a:ext cx="6"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32" name="Line 267"/>
              <p:cNvSpPr>
                <a:spLocks noChangeShapeType="1"/>
              </p:cNvSpPr>
              <p:nvPr/>
            </p:nvSpPr>
            <p:spPr bwMode="auto">
              <a:xfrm>
                <a:off x="4527" y="347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33" name="Line 268"/>
              <p:cNvSpPr>
                <a:spLocks noChangeShapeType="1"/>
              </p:cNvSpPr>
              <p:nvPr/>
            </p:nvSpPr>
            <p:spPr bwMode="auto">
              <a:xfrm>
                <a:off x="4584" y="3471"/>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34" name="Line 269"/>
              <p:cNvSpPr>
                <a:spLocks noChangeShapeType="1"/>
              </p:cNvSpPr>
              <p:nvPr/>
            </p:nvSpPr>
            <p:spPr bwMode="auto">
              <a:xfrm>
                <a:off x="4645" y="3471"/>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35" name="Line 270"/>
              <p:cNvSpPr>
                <a:spLocks noChangeShapeType="1"/>
              </p:cNvSpPr>
              <p:nvPr/>
            </p:nvSpPr>
            <p:spPr bwMode="auto">
              <a:xfrm>
                <a:off x="4701" y="3471"/>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36" name="Line 271"/>
              <p:cNvSpPr>
                <a:spLocks noChangeShapeType="1"/>
              </p:cNvSpPr>
              <p:nvPr/>
            </p:nvSpPr>
            <p:spPr bwMode="auto">
              <a:xfrm>
                <a:off x="4416" y="3472"/>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27" name="Rectangle 272"/>
            <p:cNvSpPr>
              <a:spLocks noChangeArrowheads="1"/>
            </p:cNvSpPr>
            <p:nvPr/>
          </p:nvSpPr>
          <p:spPr bwMode="auto">
            <a:xfrm>
              <a:off x="4472" y="3779"/>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28" name="Text Box 277"/>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outgoing </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message queue</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37" name="Group 454"/>
          <p:cNvGrpSpPr/>
          <p:nvPr/>
        </p:nvGrpSpPr>
        <p:grpSpPr bwMode="auto">
          <a:xfrm>
            <a:off x="7335838" y="1183947"/>
            <a:ext cx="4311650" cy="5118100"/>
            <a:chOff x="2941" y="886"/>
            <a:chExt cx="2716" cy="3224"/>
          </a:xfrm>
        </p:grpSpPr>
        <p:grpSp>
          <p:nvGrpSpPr>
            <p:cNvPr id="238" name="Group 389"/>
            <p:cNvGrpSpPr/>
            <p:nvPr/>
          </p:nvGrpSpPr>
          <p:grpSpPr bwMode="auto">
            <a:xfrm>
              <a:off x="4346" y="1756"/>
              <a:ext cx="301" cy="451"/>
              <a:chOff x="4140" y="429"/>
              <a:chExt cx="1425" cy="2396"/>
            </a:xfrm>
          </p:grpSpPr>
          <p:sp>
            <p:nvSpPr>
              <p:cNvPr id="401" name="Freeform 390"/>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402" name="Rectangle 391"/>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03" name="Freeform 392"/>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404" name="Freeform 393"/>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405" name="Rectangle 394"/>
              <p:cNvSpPr>
                <a:spLocks noChangeArrowheads="1"/>
              </p:cNvSpPr>
              <p:nvPr/>
            </p:nvSpPr>
            <p:spPr bwMode="auto">
              <a:xfrm>
                <a:off x="4211" y="695"/>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406" name="Group 395"/>
              <p:cNvGrpSpPr/>
              <p:nvPr/>
            </p:nvGrpSpPr>
            <p:grpSpPr bwMode="auto">
              <a:xfrm>
                <a:off x="4749" y="668"/>
                <a:ext cx="581" cy="145"/>
                <a:chOff x="614" y="2568"/>
                <a:chExt cx="725" cy="139"/>
              </a:xfrm>
            </p:grpSpPr>
            <p:sp>
              <p:nvSpPr>
                <p:cNvPr id="431" name="AutoShape 396"/>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32" name="AutoShape 397"/>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407" name="Rectangle 398"/>
              <p:cNvSpPr>
                <a:spLocks noChangeArrowheads="1"/>
              </p:cNvSpPr>
              <p:nvPr/>
            </p:nvSpPr>
            <p:spPr bwMode="auto">
              <a:xfrm>
                <a:off x="4225" y="1019"/>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408" name="Group 399"/>
              <p:cNvGrpSpPr/>
              <p:nvPr/>
            </p:nvGrpSpPr>
            <p:grpSpPr bwMode="auto">
              <a:xfrm>
                <a:off x="4747" y="994"/>
                <a:ext cx="581" cy="134"/>
                <a:chOff x="614" y="2568"/>
                <a:chExt cx="725" cy="139"/>
              </a:xfrm>
            </p:grpSpPr>
            <p:sp>
              <p:nvSpPr>
                <p:cNvPr id="429" name="AutoShape 400"/>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30" name="AutoShape 401"/>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409" name="Rectangle 402"/>
              <p:cNvSpPr>
                <a:spLocks noChangeArrowheads="1"/>
              </p:cNvSpPr>
              <p:nvPr/>
            </p:nvSpPr>
            <p:spPr bwMode="auto">
              <a:xfrm>
                <a:off x="4216" y="1359"/>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10" name="Rectangle 403"/>
              <p:cNvSpPr>
                <a:spLocks noChangeArrowheads="1"/>
              </p:cNvSpPr>
              <p:nvPr/>
            </p:nvSpPr>
            <p:spPr bwMode="auto">
              <a:xfrm>
                <a:off x="4230" y="1656"/>
                <a:ext cx="592"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411" name="Group 404"/>
              <p:cNvGrpSpPr/>
              <p:nvPr/>
            </p:nvGrpSpPr>
            <p:grpSpPr bwMode="auto">
              <a:xfrm>
                <a:off x="4735" y="1627"/>
                <a:ext cx="582" cy="151"/>
                <a:chOff x="614" y="2568"/>
                <a:chExt cx="725" cy="139"/>
              </a:xfrm>
            </p:grpSpPr>
            <p:sp>
              <p:nvSpPr>
                <p:cNvPr id="427" name="AutoShape 405"/>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28" name="AutoShape 406"/>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412" name="Freeform 407"/>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nvGrpSpPr>
              <p:cNvPr id="413" name="Group 408"/>
              <p:cNvGrpSpPr/>
              <p:nvPr/>
            </p:nvGrpSpPr>
            <p:grpSpPr bwMode="auto">
              <a:xfrm>
                <a:off x="4739" y="1327"/>
                <a:ext cx="582" cy="139"/>
                <a:chOff x="614" y="2568"/>
                <a:chExt cx="725" cy="139"/>
              </a:xfrm>
            </p:grpSpPr>
            <p:sp>
              <p:nvSpPr>
                <p:cNvPr id="425" name="AutoShape 409"/>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26" name="AutoShape 410"/>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414" name="Rectangle 411"/>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15" name="Freeform 412"/>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416" name="Freeform 413"/>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417" name="Oval 414"/>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18" name="Freeform 415"/>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419" name="AutoShape 416"/>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20" name="AutoShape 417"/>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21" name="Oval 418"/>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22" name="Oval 419"/>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b="0" i="0" u="none" strike="noStrike" kern="0" cap="none" spc="0" normalizeH="0" baseline="0" noProof="0">
                  <a:ln>
                    <a:noFill/>
                  </a:ln>
                  <a:solidFill>
                    <a:srgbClr val="FF0000"/>
                  </a:solidFill>
                  <a:effectLst/>
                  <a:uLnTx/>
                  <a:uFillTx/>
                  <a:latin typeface="+mn-lt"/>
                  <a:ea typeface="MS PGothic" panose="020B0600070205080204" pitchFamily="34" charset="-128"/>
                  <a:cs typeface="Arial" panose="020B0604020202020204" pitchFamily="34" charset="0"/>
                </a:endParaRPr>
              </a:p>
            </p:txBody>
          </p:sp>
          <p:sp>
            <p:nvSpPr>
              <p:cNvPr id="423" name="Oval 420"/>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24" name="Rectangle 421"/>
              <p:cNvSpPr>
                <a:spLocks noChangeArrowheads="1"/>
              </p:cNvSpPr>
              <p:nvPr/>
            </p:nvSpPr>
            <p:spPr bwMode="auto">
              <a:xfrm>
                <a:off x="5063" y="1837"/>
                <a:ext cx="85" cy="760"/>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39" name="Group 356"/>
            <p:cNvGrpSpPr/>
            <p:nvPr/>
          </p:nvGrpSpPr>
          <p:grpSpPr bwMode="auto">
            <a:xfrm>
              <a:off x="3091" y="2634"/>
              <a:ext cx="301" cy="451"/>
              <a:chOff x="4140" y="429"/>
              <a:chExt cx="1425" cy="2396"/>
            </a:xfrm>
          </p:grpSpPr>
          <p:sp>
            <p:nvSpPr>
              <p:cNvPr id="369" name="Freeform 357"/>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70" name="Rectangle 358"/>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71" name="Freeform 359"/>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72" name="Freeform 360"/>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73" name="Rectangle 361"/>
              <p:cNvSpPr>
                <a:spLocks noChangeArrowheads="1"/>
              </p:cNvSpPr>
              <p:nvPr/>
            </p:nvSpPr>
            <p:spPr bwMode="auto">
              <a:xfrm>
                <a:off x="4211" y="695"/>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374" name="Group 362"/>
              <p:cNvGrpSpPr/>
              <p:nvPr/>
            </p:nvGrpSpPr>
            <p:grpSpPr bwMode="auto">
              <a:xfrm>
                <a:off x="4749" y="668"/>
                <a:ext cx="581" cy="145"/>
                <a:chOff x="614" y="2568"/>
                <a:chExt cx="725" cy="139"/>
              </a:xfrm>
            </p:grpSpPr>
            <p:sp>
              <p:nvSpPr>
                <p:cNvPr id="399" name="AutoShape 363"/>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00" name="AutoShape 364"/>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75" name="Rectangle 365"/>
              <p:cNvSpPr>
                <a:spLocks noChangeArrowheads="1"/>
              </p:cNvSpPr>
              <p:nvPr/>
            </p:nvSpPr>
            <p:spPr bwMode="auto">
              <a:xfrm>
                <a:off x="4225" y="1019"/>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376" name="Group 366"/>
              <p:cNvGrpSpPr/>
              <p:nvPr/>
            </p:nvGrpSpPr>
            <p:grpSpPr bwMode="auto">
              <a:xfrm>
                <a:off x="4747" y="994"/>
                <a:ext cx="581" cy="134"/>
                <a:chOff x="614" y="2568"/>
                <a:chExt cx="725" cy="139"/>
              </a:xfrm>
            </p:grpSpPr>
            <p:sp>
              <p:nvSpPr>
                <p:cNvPr id="397" name="AutoShape 367"/>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98" name="AutoShape 368"/>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77" name="Rectangle 369"/>
              <p:cNvSpPr>
                <a:spLocks noChangeArrowheads="1"/>
              </p:cNvSpPr>
              <p:nvPr/>
            </p:nvSpPr>
            <p:spPr bwMode="auto">
              <a:xfrm>
                <a:off x="4216" y="1359"/>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78" name="Rectangle 370"/>
              <p:cNvSpPr>
                <a:spLocks noChangeArrowheads="1"/>
              </p:cNvSpPr>
              <p:nvPr/>
            </p:nvSpPr>
            <p:spPr bwMode="auto">
              <a:xfrm>
                <a:off x="4230" y="1656"/>
                <a:ext cx="592"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379" name="Group 371"/>
              <p:cNvGrpSpPr/>
              <p:nvPr/>
            </p:nvGrpSpPr>
            <p:grpSpPr bwMode="auto">
              <a:xfrm>
                <a:off x="4735" y="1627"/>
                <a:ext cx="582" cy="151"/>
                <a:chOff x="614" y="2568"/>
                <a:chExt cx="725" cy="139"/>
              </a:xfrm>
            </p:grpSpPr>
            <p:sp>
              <p:nvSpPr>
                <p:cNvPr id="395" name="AutoShape 372"/>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96" name="AutoShape 373"/>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80" name="Freeform 374"/>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nvGrpSpPr>
              <p:cNvPr id="381" name="Group 375"/>
              <p:cNvGrpSpPr/>
              <p:nvPr/>
            </p:nvGrpSpPr>
            <p:grpSpPr bwMode="auto">
              <a:xfrm>
                <a:off x="4739" y="1327"/>
                <a:ext cx="582" cy="139"/>
                <a:chOff x="614" y="2568"/>
                <a:chExt cx="725" cy="139"/>
              </a:xfrm>
            </p:grpSpPr>
            <p:sp>
              <p:nvSpPr>
                <p:cNvPr id="393" name="AutoShape 376"/>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94" name="AutoShape 377"/>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82" name="Rectangle 378"/>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83" name="Freeform 379"/>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84" name="Freeform 380"/>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85" name="Oval 381"/>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86" name="Freeform 382"/>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87" name="AutoShape 383"/>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88" name="AutoShape 384"/>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89" name="Oval 385"/>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90" name="Oval 386"/>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b="0" i="0" u="none" strike="noStrike" kern="0" cap="none" spc="0" normalizeH="0" baseline="0" noProof="0">
                  <a:ln>
                    <a:noFill/>
                  </a:ln>
                  <a:solidFill>
                    <a:srgbClr val="FF0000"/>
                  </a:solidFill>
                  <a:effectLst/>
                  <a:uLnTx/>
                  <a:uFillTx/>
                  <a:latin typeface="+mn-lt"/>
                  <a:ea typeface="MS PGothic" panose="020B0600070205080204" pitchFamily="34" charset="-128"/>
                  <a:cs typeface="Arial" panose="020B0604020202020204" pitchFamily="34" charset="0"/>
                </a:endParaRPr>
              </a:p>
            </p:txBody>
          </p:sp>
          <p:sp>
            <p:nvSpPr>
              <p:cNvPr id="391" name="Oval 387"/>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92" name="Rectangle 388"/>
              <p:cNvSpPr>
                <a:spLocks noChangeArrowheads="1"/>
              </p:cNvSpPr>
              <p:nvPr/>
            </p:nvSpPr>
            <p:spPr bwMode="auto">
              <a:xfrm>
                <a:off x="5063" y="1837"/>
                <a:ext cx="85" cy="760"/>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40" name="Group 320"/>
            <p:cNvGrpSpPr/>
            <p:nvPr/>
          </p:nvGrpSpPr>
          <p:grpSpPr bwMode="auto">
            <a:xfrm>
              <a:off x="3105" y="1159"/>
              <a:ext cx="301" cy="451"/>
              <a:chOff x="4140" y="429"/>
              <a:chExt cx="1425" cy="2396"/>
            </a:xfrm>
          </p:grpSpPr>
          <p:sp>
            <p:nvSpPr>
              <p:cNvPr id="337" name="Freeform 321"/>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38" name="Rectangle 322"/>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39" name="Freeform 323"/>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40" name="Freeform 324"/>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41" name="Rectangle 325"/>
              <p:cNvSpPr>
                <a:spLocks noChangeArrowheads="1"/>
              </p:cNvSpPr>
              <p:nvPr/>
            </p:nvSpPr>
            <p:spPr bwMode="auto">
              <a:xfrm>
                <a:off x="4211" y="695"/>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342" name="Group 326"/>
              <p:cNvGrpSpPr/>
              <p:nvPr/>
            </p:nvGrpSpPr>
            <p:grpSpPr bwMode="auto">
              <a:xfrm>
                <a:off x="4749" y="668"/>
                <a:ext cx="581" cy="145"/>
                <a:chOff x="614" y="2568"/>
                <a:chExt cx="725" cy="139"/>
              </a:xfrm>
            </p:grpSpPr>
            <p:sp>
              <p:nvSpPr>
                <p:cNvPr id="367" name="AutoShape 327"/>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68" name="AutoShape 328"/>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43" name="Rectangle 329"/>
              <p:cNvSpPr>
                <a:spLocks noChangeArrowheads="1"/>
              </p:cNvSpPr>
              <p:nvPr/>
            </p:nvSpPr>
            <p:spPr bwMode="auto">
              <a:xfrm>
                <a:off x="4225" y="1019"/>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344" name="Group 330"/>
              <p:cNvGrpSpPr/>
              <p:nvPr/>
            </p:nvGrpSpPr>
            <p:grpSpPr bwMode="auto">
              <a:xfrm>
                <a:off x="4747" y="994"/>
                <a:ext cx="581" cy="134"/>
                <a:chOff x="614" y="2568"/>
                <a:chExt cx="725" cy="139"/>
              </a:xfrm>
            </p:grpSpPr>
            <p:sp>
              <p:nvSpPr>
                <p:cNvPr id="365" name="AutoShape 331"/>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66" name="AutoShape 332"/>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45" name="Rectangle 333"/>
              <p:cNvSpPr>
                <a:spLocks noChangeArrowheads="1"/>
              </p:cNvSpPr>
              <p:nvPr/>
            </p:nvSpPr>
            <p:spPr bwMode="auto">
              <a:xfrm>
                <a:off x="4216" y="1359"/>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46" name="Rectangle 334"/>
              <p:cNvSpPr>
                <a:spLocks noChangeArrowheads="1"/>
              </p:cNvSpPr>
              <p:nvPr/>
            </p:nvSpPr>
            <p:spPr bwMode="auto">
              <a:xfrm>
                <a:off x="4230" y="1656"/>
                <a:ext cx="592"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347" name="Group 335"/>
              <p:cNvGrpSpPr/>
              <p:nvPr/>
            </p:nvGrpSpPr>
            <p:grpSpPr bwMode="auto">
              <a:xfrm>
                <a:off x="4735" y="1627"/>
                <a:ext cx="582" cy="151"/>
                <a:chOff x="614" y="2568"/>
                <a:chExt cx="725" cy="139"/>
              </a:xfrm>
            </p:grpSpPr>
            <p:sp>
              <p:nvSpPr>
                <p:cNvPr id="363" name="AutoShape 336"/>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64" name="AutoShape 337"/>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48" name="Freeform 338"/>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nvGrpSpPr>
              <p:cNvPr id="349" name="Group 339"/>
              <p:cNvGrpSpPr/>
              <p:nvPr/>
            </p:nvGrpSpPr>
            <p:grpSpPr bwMode="auto">
              <a:xfrm>
                <a:off x="4739" y="1327"/>
                <a:ext cx="582" cy="139"/>
                <a:chOff x="614" y="2568"/>
                <a:chExt cx="725" cy="139"/>
              </a:xfrm>
            </p:grpSpPr>
            <p:sp>
              <p:nvSpPr>
                <p:cNvPr id="361" name="AutoShape 340"/>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62" name="AutoShape 341"/>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50" name="Rectangle 342"/>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51" name="Freeform 343"/>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52" name="Freeform 344"/>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53" name="Oval 345"/>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54" name="Freeform 346"/>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55" name="AutoShape 347"/>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56" name="AutoShape 348"/>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57" name="Oval 349"/>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58" name="Oval 350"/>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b="0" i="0" u="none" strike="noStrike" kern="0" cap="none" spc="0" normalizeH="0" baseline="0" noProof="0">
                  <a:ln>
                    <a:noFill/>
                  </a:ln>
                  <a:solidFill>
                    <a:srgbClr val="FF0000"/>
                  </a:solidFill>
                  <a:effectLst/>
                  <a:uLnTx/>
                  <a:uFillTx/>
                  <a:latin typeface="+mn-lt"/>
                  <a:ea typeface="MS PGothic" panose="020B0600070205080204" pitchFamily="34" charset="-128"/>
                  <a:cs typeface="Arial" panose="020B0604020202020204" pitchFamily="34" charset="0"/>
                </a:endParaRPr>
              </a:p>
            </p:txBody>
          </p:sp>
          <p:sp>
            <p:nvSpPr>
              <p:cNvPr id="359" name="Oval 351"/>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60" name="Rectangle 352"/>
              <p:cNvSpPr>
                <a:spLocks noChangeArrowheads="1"/>
              </p:cNvSpPr>
              <p:nvPr/>
            </p:nvSpPr>
            <p:spPr bwMode="auto">
              <a:xfrm>
                <a:off x="5063" y="1837"/>
                <a:ext cx="85" cy="760"/>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241" name="Line 9"/>
            <p:cNvSpPr>
              <a:spLocks noChangeShapeType="1"/>
            </p:cNvSpPr>
            <p:nvPr/>
          </p:nvSpPr>
          <p:spPr bwMode="auto">
            <a:xfrm>
              <a:off x="3734" y="1642"/>
              <a:ext cx="708" cy="498"/>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nvGrpSpPr>
            <p:cNvPr id="242" name="Group 19"/>
            <p:cNvGrpSpPr/>
            <p:nvPr/>
          </p:nvGrpSpPr>
          <p:grpSpPr bwMode="auto">
            <a:xfrm>
              <a:off x="4466" y="1881"/>
              <a:ext cx="510" cy="661"/>
              <a:chOff x="4296" y="2627"/>
              <a:chExt cx="510" cy="661"/>
            </a:xfrm>
          </p:grpSpPr>
          <p:sp>
            <p:nvSpPr>
              <p:cNvPr id="322" name="Rectangle 20"/>
              <p:cNvSpPr>
                <a:spLocks noChangeArrowheads="1"/>
              </p:cNvSpPr>
              <p:nvPr/>
            </p:nvSpPr>
            <p:spPr bwMode="auto">
              <a:xfrm>
                <a:off x="4296" y="2652"/>
                <a:ext cx="510" cy="636"/>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23" name="Text Box 21"/>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mail</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server</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24" name="Rectangle 22"/>
              <p:cNvSpPr>
                <a:spLocks noChangeArrowheads="1"/>
              </p:cNvSpPr>
              <p:nvPr/>
            </p:nvSpPr>
            <p:spPr bwMode="auto">
              <a:xfrm>
                <a:off x="4320" y="3006"/>
                <a:ext cx="450" cy="120"/>
              </a:xfrm>
              <a:prstGeom prst="rect">
                <a:avLst/>
              </a:prstGeom>
              <a:solidFill>
                <a:srgbClr val="00FF00"/>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25" name="Line 23"/>
              <p:cNvSpPr>
                <a:spLocks noChangeShapeType="1"/>
              </p:cNvSpPr>
              <p:nvPr/>
            </p:nvSpPr>
            <p:spPr bwMode="auto">
              <a:xfrm>
                <a:off x="4369"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26" name="Line 24"/>
              <p:cNvSpPr>
                <a:spLocks noChangeShapeType="1"/>
              </p:cNvSpPr>
              <p:nvPr/>
            </p:nvSpPr>
            <p:spPr bwMode="auto">
              <a:xfrm>
                <a:off x="4478"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27" name="Line 25"/>
              <p:cNvSpPr>
                <a:spLocks noChangeShapeType="1"/>
              </p:cNvSpPr>
              <p:nvPr/>
            </p:nvSpPr>
            <p:spPr bwMode="auto">
              <a:xfrm>
                <a:off x="4533" y="3035"/>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28" name="Line 26"/>
              <p:cNvSpPr>
                <a:spLocks noChangeShapeType="1"/>
              </p:cNvSpPr>
              <p:nvPr/>
            </p:nvSpPr>
            <p:spPr bwMode="auto">
              <a:xfrm>
                <a:off x="4590"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29" name="Line 27"/>
              <p:cNvSpPr>
                <a:spLocks noChangeShapeType="1"/>
              </p:cNvSpPr>
              <p:nvPr/>
            </p:nvSpPr>
            <p:spPr bwMode="auto">
              <a:xfrm>
                <a:off x="4651"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30" name="Line 28"/>
              <p:cNvSpPr>
                <a:spLocks noChangeShapeType="1"/>
              </p:cNvSpPr>
              <p:nvPr/>
            </p:nvSpPr>
            <p:spPr bwMode="auto">
              <a:xfrm>
                <a:off x="4707"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31" name="Line 29"/>
              <p:cNvSpPr>
                <a:spLocks noChangeShapeType="1"/>
              </p:cNvSpPr>
              <p:nvPr/>
            </p:nvSpPr>
            <p:spPr bwMode="auto">
              <a:xfrm>
                <a:off x="4422"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32" name="Rectangle 30"/>
              <p:cNvSpPr>
                <a:spLocks noChangeArrowheads="1"/>
              </p:cNvSpPr>
              <p:nvPr/>
            </p:nvSpPr>
            <p:spPr bwMode="auto">
              <a:xfrm>
                <a:off x="4328"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33" name="Rectangle 31"/>
              <p:cNvSpPr>
                <a:spLocks noChangeArrowheads="1"/>
              </p:cNvSpPr>
              <p:nvPr/>
            </p:nvSpPr>
            <p:spPr bwMode="auto">
              <a:xfrm>
                <a:off x="4414"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34" name="Rectangle 32"/>
              <p:cNvSpPr>
                <a:spLocks noChangeArrowheads="1"/>
              </p:cNvSpPr>
              <p:nvPr/>
            </p:nvSpPr>
            <p:spPr bwMode="auto">
              <a:xfrm>
                <a:off x="4500" y="3172"/>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35" name="Rectangle 33"/>
              <p:cNvSpPr>
                <a:spLocks noChangeArrowheads="1"/>
              </p:cNvSpPr>
              <p:nvPr/>
            </p:nvSpPr>
            <p:spPr bwMode="auto">
              <a:xfrm>
                <a:off x="4597"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36" name="Rectangle 34"/>
              <p:cNvSpPr>
                <a:spLocks noChangeArrowheads="1"/>
              </p:cNvSpPr>
              <p:nvPr/>
            </p:nvSpPr>
            <p:spPr bwMode="auto">
              <a:xfrm>
                <a:off x="4693"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43" name="Group 60"/>
            <p:cNvGrpSpPr/>
            <p:nvPr/>
          </p:nvGrpSpPr>
          <p:grpSpPr bwMode="auto">
            <a:xfrm>
              <a:off x="3206" y="2763"/>
              <a:ext cx="510" cy="661"/>
              <a:chOff x="4296" y="2627"/>
              <a:chExt cx="510" cy="661"/>
            </a:xfrm>
          </p:grpSpPr>
          <p:sp>
            <p:nvSpPr>
              <p:cNvPr id="307" name="Rectangle 61"/>
              <p:cNvSpPr>
                <a:spLocks noChangeArrowheads="1"/>
              </p:cNvSpPr>
              <p:nvPr/>
            </p:nvSpPr>
            <p:spPr bwMode="auto">
              <a:xfrm>
                <a:off x="4296" y="2652"/>
                <a:ext cx="510" cy="636"/>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08" name="Text Box 62"/>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mail</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server</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09" name="Rectangle 63"/>
              <p:cNvSpPr>
                <a:spLocks noChangeArrowheads="1"/>
              </p:cNvSpPr>
              <p:nvPr/>
            </p:nvSpPr>
            <p:spPr bwMode="auto">
              <a:xfrm>
                <a:off x="4320" y="3006"/>
                <a:ext cx="450" cy="120"/>
              </a:xfrm>
              <a:prstGeom prst="rect">
                <a:avLst/>
              </a:prstGeom>
              <a:solidFill>
                <a:srgbClr val="00FF00"/>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10" name="Line 64"/>
              <p:cNvSpPr>
                <a:spLocks noChangeShapeType="1"/>
              </p:cNvSpPr>
              <p:nvPr/>
            </p:nvSpPr>
            <p:spPr bwMode="auto">
              <a:xfrm>
                <a:off x="4369"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1" name="Line 65"/>
              <p:cNvSpPr>
                <a:spLocks noChangeShapeType="1"/>
              </p:cNvSpPr>
              <p:nvPr/>
            </p:nvSpPr>
            <p:spPr bwMode="auto">
              <a:xfrm>
                <a:off x="4478"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2" name="Line 66"/>
              <p:cNvSpPr>
                <a:spLocks noChangeShapeType="1"/>
              </p:cNvSpPr>
              <p:nvPr/>
            </p:nvSpPr>
            <p:spPr bwMode="auto">
              <a:xfrm>
                <a:off x="4533" y="3035"/>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3" name="Line 67"/>
              <p:cNvSpPr>
                <a:spLocks noChangeShapeType="1"/>
              </p:cNvSpPr>
              <p:nvPr/>
            </p:nvSpPr>
            <p:spPr bwMode="auto">
              <a:xfrm>
                <a:off x="4590"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4" name="Line 68"/>
              <p:cNvSpPr>
                <a:spLocks noChangeShapeType="1"/>
              </p:cNvSpPr>
              <p:nvPr/>
            </p:nvSpPr>
            <p:spPr bwMode="auto">
              <a:xfrm>
                <a:off x="4651"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5" name="Line 69"/>
              <p:cNvSpPr>
                <a:spLocks noChangeShapeType="1"/>
              </p:cNvSpPr>
              <p:nvPr/>
            </p:nvSpPr>
            <p:spPr bwMode="auto">
              <a:xfrm>
                <a:off x="4707"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6" name="Line 70"/>
              <p:cNvSpPr>
                <a:spLocks noChangeShapeType="1"/>
              </p:cNvSpPr>
              <p:nvPr/>
            </p:nvSpPr>
            <p:spPr bwMode="auto">
              <a:xfrm>
                <a:off x="4422"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7" name="Rectangle 71"/>
              <p:cNvSpPr>
                <a:spLocks noChangeArrowheads="1"/>
              </p:cNvSpPr>
              <p:nvPr/>
            </p:nvSpPr>
            <p:spPr bwMode="auto">
              <a:xfrm>
                <a:off x="4328"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18" name="Rectangle 72"/>
              <p:cNvSpPr>
                <a:spLocks noChangeArrowheads="1"/>
              </p:cNvSpPr>
              <p:nvPr/>
            </p:nvSpPr>
            <p:spPr bwMode="auto">
              <a:xfrm>
                <a:off x="4414"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19" name="Rectangle 73"/>
              <p:cNvSpPr>
                <a:spLocks noChangeArrowheads="1"/>
              </p:cNvSpPr>
              <p:nvPr/>
            </p:nvSpPr>
            <p:spPr bwMode="auto">
              <a:xfrm>
                <a:off x="4500" y="3172"/>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20" name="Rectangle 74"/>
              <p:cNvSpPr>
                <a:spLocks noChangeArrowheads="1"/>
              </p:cNvSpPr>
              <p:nvPr/>
            </p:nvSpPr>
            <p:spPr bwMode="auto">
              <a:xfrm>
                <a:off x="4597"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21" name="Rectangle 75"/>
              <p:cNvSpPr>
                <a:spLocks noChangeArrowheads="1"/>
              </p:cNvSpPr>
              <p:nvPr/>
            </p:nvSpPr>
            <p:spPr bwMode="auto">
              <a:xfrm>
                <a:off x="4693"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44" name="Group 96"/>
            <p:cNvGrpSpPr/>
            <p:nvPr/>
          </p:nvGrpSpPr>
          <p:grpSpPr bwMode="auto">
            <a:xfrm>
              <a:off x="3206" y="1347"/>
              <a:ext cx="510" cy="661"/>
              <a:chOff x="4296" y="2627"/>
              <a:chExt cx="510" cy="661"/>
            </a:xfrm>
          </p:grpSpPr>
          <p:sp>
            <p:nvSpPr>
              <p:cNvPr id="292" name="Rectangle 97"/>
              <p:cNvSpPr>
                <a:spLocks noChangeArrowheads="1"/>
              </p:cNvSpPr>
              <p:nvPr/>
            </p:nvSpPr>
            <p:spPr bwMode="auto">
              <a:xfrm>
                <a:off x="4296" y="2652"/>
                <a:ext cx="510" cy="636"/>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93" name="Text Box 98"/>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mail</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server</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94" name="Rectangle 99"/>
              <p:cNvSpPr>
                <a:spLocks noChangeArrowheads="1"/>
              </p:cNvSpPr>
              <p:nvPr/>
            </p:nvSpPr>
            <p:spPr bwMode="auto">
              <a:xfrm>
                <a:off x="4320" y="3006"/>
                <a:ext cx="450" cy="120"/>
              </a:xfrm>
              <a:prstGeom prst="rect">
                <a:avLst/>
              </a:prstGeom>
              <a:solidFill>
                <a:srgbClr val="00FF00"/>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95" name="Line 100"/>
              <p:cNvSpPr>
                <a:spLocks noChangeShapeType="1"/>
              </p:cNvSpPr>
              <p:nvPr/>
            </p:nvSpPr>
            <p:spPr bwMode="auto">
              <a:xfrm>
                <a:off x="4369"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96" name="Line 101"/>
              <p:cNvSpPr>
                <a:spLocks noChangeShapeType="1"/>
              </p:cNvSpPr>
              <p:nvPr/>
            </p:nvSpPr>
            <p:spPr bwMode="auto">
              <a:xfrm>
                <a:off x="4478"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97" name="Line 102"/>
              <p:cNvSpPr>
                <a:spLocks noChangeShapeType="1"/>
              </p:cNvSpPr>
              <p:nvPr/>
            </p:nvSpPr>
            <p:spPr bwMode="auto">
              <a:xfrm>
                <a:off x="4533" y="3035"/>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98" name="Line 103"/>
              <p:cNvSpPr>
                <a:spLocks noChangeShapeType="1"/>
              </p:cNvSpPr>
              <p:nvPr/>
            </p:nvSpPr>
            <p:spPr bwMode="auto">
              <a:xfrm>
                <a:off x="4590"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99" name="Line 104"/>
              <p:cNvSpPr>
                <a:spLocks noChangeShapeType="1"/>
              </p:cNvSpPr>
              <p:nvPr/>
            </p:nvSpPr>
            <p:spPr bwMode="auto">
              <a:xfrm>
                <a:off x="4651"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00" name="Line 105"/>
              <p:cNvSpPr>
                <a:spLocks noChangeShapeType="1"/>
              </p:cNvSpPr>
              <p:nvPr/>
            </p:nvSpPr>
            <p:spPr bwMode="auto">
              <a:xfrm>
                <a:off x="4707"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01" name="Line 106"/>
              <p:cNvSpPr>
                <a:spLocks noChangeShapeType="1"/>
              </p:cNvSpPr>
              <p:nvPr/>
            </p:nvSpPr>
            <p:spPr bwMode="auto">
              <a:xfrm>
                <a:off x="4422"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02" name="Rectangle 107"/>
              <p:cNvSpPr>
                <a:spLocks noChangeArrowheads="1"/>
              </p:cNvSpPr>
              <p:nvPr/>
            </p:nvSpPr>
            <p:spPr bwMode="auto">
              <a:xfrm>
                <a:off x="4328"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03" name="Rectangle 108"/>
              <p:cNvSpPr>
                <a:spLocks noChangeArrowheads="1"/>
              </p:cNvSpPr>
              <p:nvPr/>
            </p:nvSpPr>
            <p:spPr bwMode="auto">
              <a:xfrm>
                <a:off x="4414"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04" name="Rectangle 109"/>
              <p:cNvSpPr>
                <a:spLocks noChangeArrowheads="1"/>
              </p:cNvSpPr>
              <p:nvPr/>
            </p:nvSpPr>
            <p:spPr bwMode="auto">
              <a:xfrm>
                <a:off x="4500" y="3172"/>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05" name="Rectangle 110"/>
              <p:cNvSpPr>
                <a:spLocks noChangeArrowheads="1"/>
              </p:cNvSpPr>
              <p:nvPr/>
            </p:nvSpPr>
            <p:spPr bwMode="auto">
              <a:xfrm>
                <a:off x="4597"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06" name="Rectangle 111"/>
              <p:cNvSpPr>
                <a:spLocks noChangeArrowheads="1"/>
              </p:cNvSpPr>
              <p:nvPr/>
            </p:nvSpPr>
            <p:spPr bwMode="auto">
              <a:xfrm>
                <a:off x="4693"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245" name="Line 117"/>
            <p:cNvSpPr>
              <a:spLocks noChangeShapeType="1"/>
            </p:cNvSpPr>
            <p:nvPr/>
          </p:nvSpPr>
          <p:spPr bwMode="auto">
            <a:xfrm flipV="1">
              <a:off x="3734" y="2350"/>
              <a:ext cx="708" cy="684"/>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46" name="Line 118"/>
            <p:cNvSpPr>
              <a:spLocks noChangeShapeType="1"/>
            </p:cNvSpPr>
            <p:nvPr/>
          </p:nvSpPr>
          <p:spPr bwMode="auto">
            <a:xfrm flipH="1" flipV="1">
              <a:off x="3266" y="2020"/>
              <a:ext cx="0" cy="786"/>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nvGrpSpPr>
            <p:cNvPr id="247" name="Group 119"/>
            <p:cNvGrpSpPr/>
            <p:nvPr/>
          </p:nvGrpSpPr>
          <p:grpSpPr bwMode="auto">
            <a:xfrm>
              <a:off x="3799" y="2535"/>
              <a:ext cx="641" cy="330"/>
              <a:chOff x="3749" y="2537"/>
              <a:chExt cx="641" cy="330"/>
            </a:xfrm>
          </p:grpSpPr>
          <p:sp>
            <p:nvSpPr>
              <p:cNvPr id="290" name="Rectangle 120"/>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91" name="Text Box 121"/>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800" b="0" i="0" u="none" strike="noStrike" kern="0" cap="none" spc="0" normalizeH="0" baseline="0" noProof="0">
                    <a:ln>
                      <a:noFill/>
                    </a:ln>
                    <a:solidFill>
                      <a:srgbClr val="CC0000"/>
                    </a:solidFill>
                    <a:effectLst/>
                    <a:uLnTx/>
                    <a:uFillTx/>
                    <a:latin typeface="+mn-lt"/>
                    <a:ea typeface="MS PGothic" panose="020B0600070205080204" pitchFamily="34" charset="-128"/>
                  </a:rPr>
                  <a:t>SMTP</a:t>
                </a:r>
                <a:endParaRPr kumimoji="0" lang="en-US" altLang="en-US" sz="2800" b="0" i="0" u="none" strike="noStrike" kern="0" cap="none" spc="0" normalizeH="0" baseline="0" noProof="0">
                  <a:ln>
                    <a:noFill/>
                  </a:ln>
                  <a:solidFill>
                    <a:srgbClr val="CC0000"/>
                  </a:solidFill>
                  <a:effectLst/>
                  <a:uLnTx/>
                  <a:uFillTx/>
                  <a:latin typeface="+mn-lt"/>
                  <a:ea typeface="MS PGothic" panose="020B0600070205080204" pitchFamily="34" charset="-128"/>
                </a:endParaRPr>
              </a:p>
            </p:txBody>
          </p:sp>
        </p:grpSp>
        <p:grpSp>
          <p:nvGrpSpPr>
            <p:cNvPr id="248" name="Group 122"/>
            <p:cNvGrpSpPr/>
            <p:nvPr/>
          </p:nvGrpSpPr>
          <p:grpSpPr bwMode="auto">
            <a:xfrm>
              <a:off x="3775" y="1743"/>
              <a:ext cx="641" cy="330"/>
              <a:chOff x="3749" y="2537"/>
              <a:chExt cx="641" cy="330"/>
            </a:xfrm>
          </p:grpSpPr>
          <p:sp>
            <p:nvSpPr>
              <p:cNvPr id="288" name="Rectangle 123"/>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89" name="Text Box 124"/>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800" b="0" i="0" u="none" strike="noStrike" kern="0" cap="none" spc="0" normalizeH="0" baseline="0" noProof="0">
                    <a:ln>
                      <a:noFill/>
                    </a:ln>
                    <a:solidFill>
                      <a:srgbClr val="CC0000"/>
                    </a:solidFill>
                    <a:effectLst/>
                    <a:uLnTx/>
                    <a:uFillTx/>
                    <a:latin typeface="+mn-lt"/>
                    <a:ea typeface="MS PGothic" panose="020B0600070205080204" pitchFamily="34" charset="-128"/>
                  </a:rPr>
                  <a:t>SMTP</a:t>
                </a:r>
                <a:endParaRPr kumimoji="0" lang="en-US" altLang="en-US" sz="2800" b="0" i="0" u="none" strike="noStrike" kern="0" cap="none" spc="0" normalizeH="0" baseline="0" noProof="0">
                  <a:ln>
                    <a:noFill/>
                  </a:ln>
                  <a:solidFill>
                    <a:srgbClr val="CC0000"/>
                  </a:solidFill>
                  <a:effectLst/>
                  <a:uLnTx/>
                  <a:uFillTx/>
                  <a:latin typeface="+mn-lt"/>
                  <a:ea typeface="MS PGothic" panose="020B0600070205080204" pitchFamily="34" charset="-128"/>
                </a:endParaRPr>
              </a:p>
            </p:txBody>
          </p:sp>
        </p:grpSp>
        <p:grpSp>
          <p:nvGrpSpPr>
            <p:cNvPr id="249" name="Group 125"/>
            <p:cNvGrpSpPr/>
            <p:nvPr/>
          </p:nvGrpSpPr>
          <p:grpSpPr bwMode="auto">
            <a:xfrm>
              <a:off x="2941" y="2193"/>
              <a:ext cx="641" cy="330"/>
              <a:chOff x="3749" y="2537"/>
              <a:chExt cx="641" cy="330"/>
            </a:xfrm>
          </p:grpSpPr>
          <p:sp>
            <p:nvSpPr>
              <p:cNvPr id="286" name="Rectangle 126"/>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87" name="Text Box 127"/>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800" b="0" i="0" u="none" strike="noStrike" kern="0" cap="none" spc="0" normalizeH="0" baseline="0" noProof="0">
                    <a:ln>
                      <a:noFill/>
                    </a:ln>
                    <a:solidFill>
                      <a:srgbClr val="CC0000"/>
                    </a:solidFill>
                    <a:effectLst/>
                    <a:uLnTx/>
                    <a:uFillTx/>
                    <a:latin typeface="+mn-lt"/>
                    <a:ea typeface="MS PGothic" panose="020B0600070205080204" pitchFamily="34" charset="-128"/>
                  </a:rPr>
                  <a:t>SMTP</a:t>
                </a:r>
                <a:endParaRPr kumimoji="0" lang="en-US" altLang="en-US" sz="2800" b="0" i="0" u="none" strike="noStrike" kern="0" cap="none" spc="0" normalizeH="0" baseline="0" noProof="0">
                  <a:ln>
                    <a:noFill/>
                  </a:ln>
                  <a:solidFill>
                    <a:srgbClr val="CC0000"/>
                  </a:solidFill>
                  <a:effectLst/>
                  <a:uLnTx/>
                  <a:uFillTx/>
                  <a:latin typeface="+mn-lt"/>
                  <a:ea typeface="MS PGothic" panose="020B0600070205080204" pitchFamily="34" charset="-128"/>
                </a:endParaRPr>
              </a:p>
            </p:txBody>
          </p:sp>
        </p:grpSp>
        <p:grpSp>
          <p:nvGrpSpPr>
            <p:cNvPr id="250" name="Group 423"/>
            <p:cNvGrpSpPr/>
            <p:nvPr/>
          </p:nvGrpSpPr>
          <p:grpSpPr bwMode="auto">
            <a:xfrm>
              <a:off x="3579" y="886"/>
              <a:ext cx="583" cy="664"/>
              <a:chOff x="3566" y="550"/>
              <a:chExt cx="583" cy="664"/>
            </a:xfrm>
          </p:grpSpPr>
          <p:grpSp>
            <p:nvGrpSpPr>
              <p:cNvPr id="281" name="Group 353"/>
              <p:cNvGrpSpPr/>
              <p:nvPr/>
            </p:nvGrpSpPr>
            <p:grpSpPr bwMode="auto">
              <a:xfrm>
                <a:off x="3588" y="692"/>
                <a:ext cx="561" cy="522"/>
                <a:chOff x="-44" y="1473"/>
                <a:chExt cx="981" cy="1105"/>
              </a:xfrm>
            </p:grpSpPr>
            <p:pic>
              <p:nvPicPr>
                <p:cNvPr id="284" name="Picture 354"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35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82"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83" name="Text Box 116"/>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agent</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51" name="Group 424"/>
            <p:cNvGrpSpPr/>
            <p:nvPr/>
          </p:nvGrpSpPr>
          <p:grpSpPr bwMode="auto">
            <a:xfrm>
              <a:off x="4862" y="1400"/>
              <a:ext cx="583" cy="664"/>
              <a:chOff x="3566" y="550"/>
              <a:chExt cx="583" cy="664"/>
            </a:xfrm>
          </p:grpSpPr>
          <p:grpSp>
            <p:nvGrpSpPr>
              <p:cNvPr id="276" name="Group 425"/>
              <p:cNvGrpSpPr/>
              <p:nvPr/>
            </p:nvGrpSpPr>
            <p:grpSpPr bwMode="auto">
              <a:xfrm>
                <a:off x="3588" y="692"/>
                <a:ext cx="561" cy="522"/>
                <a:chOff x="-44" y="1473"/>
                <a:chExt cx="981" cy="1105"/>
              </a:xfrm>
            </p:grpSpPr>
            <p:pic>
              <p:nvPicPr>
                <p:cNvPr id="279" name="Picture 426"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Freeform 427"/>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77"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78" name="Text Box 116"/>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agent</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52" name="Group 430"/>
            <p:cNvGrpSpPr/>
            <p:nvPr/>
          </p:nvGrpSpPr>
          <p:grpSpPr bwMode="auto">
            <a:xfrm>
              <a:off x="5074" y="1880"/>
              <a:ext cx="583" cy="664"/>
              <a:chOff x="3566" y="550"/>
              <a:chExt cx="583" cy="664"/>
            </a:xfrm>
          </p:grpSpPr>
          <p:grpSp>
            <p:nvGrpSpPr>
              <p:cNvPr id="271" name="Group 431"/>
              <p:cNvGrpSpPr/>
              <p:nvPr/>
            </p:nvGrpSpPr>
            <p:grpSpPr bwMode="auto">
              <a:xfrm>
                <a:off x="3588" y="692"/>
                <a:ext cx="561" cy="522"/>
                <a:chOff x="-44" y="1473"/>
                <a:chExt cx="981" cy="1105"/>
              </a:xfrm>
            </p:grpSpPr>
            <p:pic>
              <p:nvPicPr>
                <p:cNvPr id="274" name="Picture 432"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Freeform 433"/>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72"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73" name="Text Box 116"/>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agent</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53" name="Group 436"/>
            <p:cNvGrpSpPr/>
            <p:nvPr/>
          </p:nvGrpSpPr>
          <p:grpSpPr bwMode="auto">
            <a:xfrm>
              <a:off x="4991" y="2540"/>
              <a:ext cx="583" cy="664"/>
              <a:chOff x="3566" y="550"/>
              <a:chExt cx="583" cy="664"/>
            </a:xfrm>
          </p:grpSpPr>
          <p:grpSp>
            <p:nvGrpSpPr>
              <p:cNvPr id="266" name="Group 437"/>
              <p:cNvGrpSpPr/>
              <p:nvPr/>
            </p:nvGrpSpPr>
            <p:grpSpPr bwMode="auto">
              <a:xfrm>
                <a:off x="3588" y="692"/>
                <a:ext cx="561" cy="522"/>
                <a:chOff x="-44" y="1473"/>
                <a:chExt cx="981" cy="1105"/>
              </a:xfrm>
            </p:grpSpPr>
            <p:pic>
              <p:nvPicPr>
                <p:cNvPr id="269" name="Picture 438"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Freeform 43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67"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68" name="Text Box 116"/>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agent</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54" name="Group 442"/>
            <p:cNvGrpSpPr/>
            <p:nvPr/>
          </p:nvGrpSpPr>
          <p:grpSpPr bwMode="auto">
            <a:xfrm>
              <a:off x="3346" y="3446"/>
              <a:ext cx="583" cy="664"/>
              <a:chOff x="3566" y="550"/>
              <a:chExt cx="583" cy="664"/>
            </a:xfrm>
          </p:grpSpPr>
          <p:grpSp>
            <p:nvGrpSpPr>
              <p:cNvPr id="261" name="Group 443"/>
              <p:cNvGrpSpPr/>
              <p:nvPr/>
            </p:nvGrpSpPr>
            <p:grpSpPr bwMode="auto">
              <a:xfrm>
                <a:off x="3588" y="692"/>
                <a:ext cx="561" cy="522"/>
                <a:chOff x="-44" y="1473"/>
                <a:chExt cx="981" cy="1105"/>
              </a:xfrm>
            </p:grpSpPr>
            <p:pic>
              <p:nvPicPr>
                <p:cNvPr id="264" name="Picture 444"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Freeform 44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62"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63" name="Text Box 116"/>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agent</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55" name="Group 448"/>
            <p:cNvGrpSpPr/>
            <p:nvPr/>
          </p:nvGrpSpPr>
          <p:grpSpPr bwMode="auto">
            <a:xfrm>
              <a:off x="3805" y="3056"/>
              <a:ext cx="583" cy="664"/>
              <a:chOff x="3566" y="550"/>
              <a:chExt cx="583" cy="664"/>
            </a:xfrm>
          </p:grpSpPr>
          <p:grpSp>
            <p:nvGrpSpPr>
              <p:cNvPr id="256" name="Group 449"/>
              <p:cNvGrpSpPr/>
              <p:nvPr/>
            </p:nvGrpSpPr>
            <p:grpSpPr bwMode="auto">
              <a:xfrm>
                <a:off x="3588" y="692"/>
                <a:ext cx="561" cy="522"/>
                <a:chOff x="-44" y="1473"/>
                <a:chExt cx="981" cy="1105"/>
              </a:xfrm>
            </p:grpSpPr>
            <p:pic>
              <p:nvPicPr>
                <p:cNvPr id="259" name="Picture 450"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451"/>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57"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58" name="Text Box 116"/>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agent</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 mail servers</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223" name="Rectangle 280"/>
          <p:cNvSpPr>
            <a:spLocks noChangeArrowheads="1"/>
          </p:cNvSpPr>
          <p:nvPr/>
        </p:nvSpPr>
        <p:spPr bwMode="auto">
          <a:xfrm>
            <a:off x="9629775" y="406072"/>
            <a:ext cx="1828800" cy="981075"/>
          </a:xfrm>
          <a:prstGeom prst="rect">
            <a:avLst/>
          </a:prstGeom>
          <a:noFill/>
          <a:ln w="9525">
            <a:solidFill>
              <a:srgbClr val="00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224" name="Group 279"/>
          <p:cNvGrpSpPr/>
          <p:nvPr/>
        </p:nvGrpSpPr>
        <p:grpSpPr bwMode="auto">
          <a:xfrm>
            <a:off x="9726613" y="353688"/>
            <a:ext cx="1736725" cy="989013"/>
            <a:chOff x="4458" y="3335"/>
            <a:chExt cx="1094" cy="623"/>
          </a:xfrm>
        </p:grpSpPr>
        <p:sp>
          <p:nvSpPr>
            <p:cNvPr id="225" name="Text Box 263"/>
            <p:cNvSpPr txBox="1">
              <a:spLocks noChangeArrowheads="1"/>
            </p:cNvSpPr>
            <p:nvPr/>
          </p:nvSpPr>
          <p:spPr bwMode="auto">
            <a:xfrm>
              <a:off x="4663" y="372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 mailbox</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226" name="Group 278"/>
            <p:cNvGrpSpPr/>
            <p:nvPr/>
          </p:nvGrpSpPr>
          <p:grpSpPr bwMode="auto">
            <a:xfrm>
              <a:off x="4458" y="3408"/>
              <a:ext cx="450" cy="120"/>
              <a:chOff x="4314" y="3444"/>
              <a:chExt cx="450" cy="120"/>
            </a:xfrm>
          </p:grpSpPr>
          <p:sp>
            <p:nvSpPr>
              <p:cNvPr id="229" name="Rectangle 264"/>
              <p:cNvSpPr>
                <a:spLocks noChangeArrowheads="1"/>
              </p:cNvSpPr>
              <p:nvPr/>
            </p:nvSpPr>
            <p:spPr bwMode="auto">
              <a:xfrm>
                <a:off x="4314" y="3444"/>
                <a:ext cx="450" cy="120"/>
              </a:xfrm>
              <a:prstGeom prst="rect">
                <a:avLst/>
              </a:prstGeom>
              <a:solidFill>
                <a:srgbClr val="00FF00"/>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30" name="Line 265"/>
              <p:cNvSpPr>
                <a:spLocks noChangeShapeType="1"/>
              </p:cNvSpPr>
              <p:nvPr/>
            </p:nvSpPr>
            <p:spPr bwMode="auto">
              <a:xfrm>
                <a:off x="4363" y="3472"/>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31" name="Line 266"/>
              <p:cNvSpPr>
                <a:spLocks noChangeShapeType="1"/>
              </p:cNvSpPr>
              <p:nvPr/>
            </p:nvSpPr>
            <p:spPr bwMode="auto">
              <a:xfrm flipH="1">
                <a:off x="4472" y="3471"/>
                <a:ext cx="6"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32" name="Line 267"/>
              <p:cNvSpPr>
                <a:spLocks noChangeShapeType="1"/>
              </p:cNvSpPr>
              <p:nvPr/>
            </p:nvSpPr>
            <p:spPr bwMode="auto">
              <a:xfrm>
                <a:off x="4527" y="347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33" name="Line 268"/>
              <p:cNvSpPr>
                <a:spLocks noChangeShapeType="1"/>
              </p:cNvSpPr>
              <p:nvPr/>
            </p:nvSpPr>
            <p:spPr bwMode="auto">
              <a:xfrm>
                <a:off x="4584" y="3471"/>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34" name="Line 269"/>
              <p:cNvSpPr>
                <a:spLocks noChangeShapeType="1"/>
              </p:cNvSpPr>
              <p:nvPr/>
            </p:nvSpPr>
            <p:spPr bwMode="auto">
              <a:xfrm>
                <a:off x="4645" y="3471"/>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35" name="Line 270"/>
              <p:cNvSpPr>
                <a:spLocks noChangeShapeType="1"/>
              </p:cNvSpPr>
              <p:nvPr/>
            </p:nvSpPr>
            <p:spPr bwMode="auto">
              <a:xfrm>
                <a:off x="4701" y="3471"/>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36" name="Line 271"/>
              <p:cNvSpPr>
                <a:spLocks noChangeShapeType="1"/>
              </p:cNvSpPr>
              <p:nvPr/>
            </p:nvSpPr>
            <p:spPr bwMode="auto">
              <a:xfrm>
                <a:off x="4416" y="3472"/>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27" name="Rectangle 272"/>
            <p:cNvSpPr>
              <a:spLocks noChangeArrowheads="1"/>
            </p:cNvSpPr>
            <p:nvPr/>
          </p:nvSpPr>
          <p:spPr bwMode="auto">
            <a:xfrm>
              <a:off x="4472" y="3779"/>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28" name="Text Box 277"/>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outgoing </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message queue</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37" name="Group 454"/>
          <p:cNvGrpSpPr/>
          <p:nvPr/>
        </p:nvGrpSpPr>
        <p:grpSpPr bwMode="auto">
          <a:xfrm>
            <a:off x="7335838" y="1183947"/>
            <a:ext cx="4311650" cy="5118100"/>
            <a:chOff x="2941" y="886"/>
            <a:chExt cx="2716" cy="3224"/>
          </a:xfrm>
        </p:grpSpPr>
        <p:grpSp>
          <p:nvGrpSpPr>
            <p:cNvPr id="238" name="Group 389"/>
            <p:cNvGrpSpPr/>
            <p:nvPr/>
          </p:nvGrpSpPr>
          <p:grpSpPr bwMode="auto">
            <a:xfrm>
              <a:off x="4346" y="1756"/>
              <a:ext cx="301" cy="451"/>
              <a:chOff x="4140" y="429"/>
              <a:chExt cx="1425" cy="2396"/>
            </a:xfrm>
          </p:grpSpPr>
          <p:sp>
            <p:nvSpPr>
              <p:cNvPr id="401" name="Freeform 390"/>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402" name="Rectangle 391"/>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03" name="Freeform 392"/>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404" name="Freeform 393"/>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405" name="Rectangle 394"/>
              <p:cNvSpPr>
                <a:spLocks noChangeArrowheads="1"/>
              </p:cNvSpPr>
              <p:nvPr/>
            </p:nvSpPr>
            <p:spPr bwMode="auto">
              <a:xfrm>
                <a:off x="4211" y="695"/>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406" name="Group 395"/>
              <p:cNvGrpSpPr/>
              <p:nvPr/>
            </p:nvGrpSpPr>
            <p:grpSpPr bwMode="auto">
              <a:xfrm>
                <a:off x="4749" y="668"/>
                <a:ext cx="581" cy="145"/>
                <a:chOff x="614" y="2568"/>
                <a:chExt cx="725" cy="139"/>
              </a:xfrm>
            </p:grpSpPr>
            <p:sp>
              <p:nvSpPr>
                <p:cNvPr id="431" name="AutoShape 396"/>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32" name="AutoShape 397"/>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407" name="Rectangle 398"/>
              <p:cNvSpPr>
                <a:spLocks noChangeArrowheads="1"/>
              </p:cNvSpPr>
              <p:nvPr/>
            </p:nvSpPr>
            <p:spPr bwMode="auto">
              <a:xfrm>
                <a:off x="4225" y="1019"/>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408" name="Group 399"/>
              <p:cNvGrpSpPr/>
              <p:nvPr/>
            </p:nvGrpSpPr>
            <p:grpSpPr bwMode="auto">
              <a:xfrm>
                <a:off x="4747" y="994"/>
                <a:ext cx="581" cy="134"/>
                <a:chOff x="614" y="2568"/>
                <a:chExt cx="725" cy="139"/>
              </a:xfrm>
            </p:grpSpPr>
            <p:sp>
              <p:nvSpPr>
                <p:cNvPr id="429" name="AutoShape 400"/>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30" name="AutoShape 401"/>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409" name="Rectangle 402"/>
              <p:cNvSpPr>
                <a:spLocks noChangeArrowheads="1"/>
              </p:cNvSpPr>
              <p:nvPr/>
            </p:nvSpPr>
            <p:spPr bwMode="auto">
              <a:xfrm>
                <a:off x="4216" y="1359"/>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10" name="Rectangle 403"/>
              <p:cNvSpPr>
                <a:spLocks noChangeArrowheads="1"/>
              </p:cNvSpPr>
              <p:nvPr/>
            </p:nvSpPr>
            <p:spPr bwMode="auto">
              <a:xfrm>
                <a:off x="4230" y="1656"/>
                <a:ext cx="592"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411" name="Group 404"/>
              <p:cNvGrpSpPr/>
              <p:nvPr/>
            </p:nvGrpSpPr>
            <p:grpSpPr bwMode="auto">
              <a:xfrm>
                <a:off x="4735" y="1627"/>
                <a:ext cx="582" cy="151"/>
                <a:chOff x="614" y="2568"/>
                <a:chExt cx="725" cy="139"/>
              </a:xfrm>
            </p:grpSpPr>
            <p:sp>
              <p:nvSpPr>
                <p:cNvPr id="427" name="AutoShape 405"/>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28" name="AutoShape 406"/>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412" name="Freeform 407"/>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nvGrpSpPr>
              <p:cNvPr id="413" name="Group 408"/>
              <p:cNvGrpSpPr/>
              <p:nvPr/>
            </p:nvGrpSpPr>
            <p:grpSpPr bwMode="auto">
              <a:xfrm>
                <a:off x="4739" y="1327"/>
                <a:ext cx="582" cy="139"/>
                <a:chOff x="614" y="2568"/>
                <a:chExt cx="725" cy="139"/>
              </a:xfrm>
            </p:grpSpPr>
            <p:sp>
              <p:nvSpPr>
                <p:cNvPr id="425" name="AutoShape 409"/>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26" name="AutoShape 410"/>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414" name="Rectangle 411"/>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15" name="Freeform 412"/>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416" name="Freeform 413"/>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417" name="Oval 414"/>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18" name="Freeform 415"/>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419" name="AutoShape 416"/>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20" name="AutoShape 417"/>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21" name="Oval 418"/>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22" name="Oval 419"/>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b="0" i="0" u="none" strike="noStrike" kern="0" cap="none" spc="0" normalizeH="0" baseline="0" noProof="0">
                  <a:ln>
                    <a:noFill/>
                  </a:ln>
                  <a:solidFill>
                    <a:srgbClr val="FF0000"/>
                  </a:solidFill>
                  <a:effectLst/>
                  <a:uLnTx/>
                  <a:uFillTx/>
                  <a:latin typeface="+mn-lt"/>
                  <a:ea typeface="MS PGothic" panose="020B0600070205080204" pitchFamily="34" charset="-128"/>
                  <a:cs typeface="Arial" panose="020B0604020202020204" pitchFamily="34" charset="0"/>
                </a:endParaRPr>
              </a:p>
            </p:txBody>
          </p:sp>
          <p:sp>
            <p:nvSpPr>
              <p:cNvPr id="423" name="Oval 420"/>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24" name="Rectangle 421"/>
              <p:cNvSpPr>
                <a:spLocks noChangeArrowheads="1"/>
              </p:cNvSpPr>
              <p:nvPr/>
            </p:nvSpPr>
            <p:spPr bwMode="auto">
              <a:xfrm>
                <a:off x="5063" y="1837"/>
                <a:ext cx="85" cy="760"/>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39" name="Group 356"/>
            <p:cNvGrpSpPr/>
            <p:nvPr/>
          </p:nvGrpSpPr>
          <p:grpSpPr bwMode="auto">
            <a:xfrm>
              <a:off x="3091" y="2634"/>
              <a:ext cx="301" cy="451"/>
              <a:chOff x="4140" y="429"/>
              <a:chExt cx="1425" cy="2396"/>
            </a:xfrm>
          </p:grpSpPr>
          <p:sp>
            <p:nvSpPr>
              <p:cNvPr id="369" name="Freeform 357"/>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70" name="Rectangle 358"/>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71" name="Freeform 359"/>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72" name="Freeform 360"/>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73" name="Rectangle 361"/>
              <p:cNvSpPr>
                <a:spLocks noChangeArrowheads="1"/>
              </p:cNvSpPr>
              <p:nvPr/>
            </p:nvSpPr>
            <p:spPr bwMode="auto">
              <a:xfrm>
                <a:off x="4211" y="695"/>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374" name="Group 362"/>
              <p:cNvGrpSpPr/>
              <p:nvPr/>
            </p:nvGrpSpPr>
            <p:grpSpPr bwMode="auto">
              <a:xfrm>
                <a:off x="4749" y="668"/>
                <a:ext cx="581" cy="145"/>
                <a:chOff x="614" y="2568"/>
                <a:chExt cx="725" cy="139"/>
              </a:xfrm>
            </p:grpSpPr>
            <p:sp>
              <p:nvSpPr>
                <p:cNvPr id="399" name="AutoShape 363"/>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400" name="AutoShape 364"/>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75" name="Rectangle 365"/>
              <p:cNvSpPr>
                <a:spLocks noChangeArrowheads="1"/>
              </p:cNvSpPr>
              <p:nvPr/>
            </p:nvSpPr>
            <p:spPr bwMode="auto">
              <a:xfrm>
                <a:off x="4225" y="1019"/>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376" name="Group 366"/>
              <p:cNvGrpSpPr/>
              <p:nvPr/>
            </p:nvGrpSpPr>
            <p:grpSpPr bwMode="auto">
              <a:xfrm>
                <a:off x="4747" y="994"/>
                <a:ext cx="581" cy="134"/>
                <a:chOff x="614" y="2568"/>
                <a:chExt cx="725" cy="139"/>
              </a:xfrm>
            </p:grpSpPr>
            <p:sp>
              <p:nvSpPr>
                <p:cNvPr id="397" name="AutoShape 367"/>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98" name="AutoShape 368"/>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77" name="Rectangle 369"/>
              <p:cNvSpPr>
                <a:spLocks noChangeArrowheads="1"/>
              </p:cNvSpPr>
              <p:nvPr/>
            </p:nvSpPr>
            <p:spPr bwMode="auto">
              <a:xfrm>
                <a:off x="4216" y="1359"/>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78" name="Rectangle 370"/>
              <p:cNvSpPr>
                <a:spLocks noChangeArrowheads="1"/>
              </p:cNvSpPr>
              <p:nvPr/>
            </p:nvSpPr>
            <p:spPr bwMode="auto">
              <a:xfrm>
                <a:off x="4230" y="1656"/>
                <a:ext cx="592"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379" name="Group 371"/>
              <p:cNvGrpSpPr/>
              <p:nvPr/>
            </p:nvGrpSpPr>
            <p:grpSpPr bwMode="auto">
              <a:xfrm>
                <a:off x="4735" y="1627"/>
                <a:ext cx="582" cy="151"/>
                <a:chOff x="614" y="2568"/>
                <a:chExt cx="725" cy="139"/>
              </a:xfrm>
            </p:grpSpPr>
            <p:sp>
              <p:nvSpPr>
                <p:cNvPr id="395" name="AutoShape 372"/>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96" name="AutoShape 373"/>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80" name="Freeform 374"/>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nvGrpSpPr>
              <p:cNvPr id="381" name="Group 375"/>
              <p:cNvGrpSpPr/>
              <p:nvPr/>
            </p:nvGrpSpPr>
            <p:grpSpPr bwMode="auto">
              <a:xfrm>
                <a:off x="4739" y="1327"/>
                <a:ext cx="582" cy="139"/>
                <a:chOff x="614" y="2568"/>
                <a:chExt cx="725" cy="139"/>
              </a:xfrm>
            </p:grpSpPr>
            <p:sp>
              <p:nvSpPr>
                <p:cNvPr id="393" name="AutoShape 376"/>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94" name="AutoShape 377"/>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82" name="Rectangle 378"/>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83" name="Freeform 379"/>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84" name="Freeform 380"/>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85" name="Oval 381"/>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86" name="Freeform 382"/>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87" name="AutoShape 383"/>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88" name="AutoShape 384"/>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89" name="Oval 385"/>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90" name="Oval 386"/>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b="0" i="0" u="none" strike="noStrike" kern="0" cap="none" spc="0" normalizeH="0" baseline="0" noProof="0">
                  <a:ln>
                    <a:noFill/>
                  </a:ln>
                  <a:solidFill>
                    <a:srgbClr val="FF0000"/>
                  </a:solidFill>
                  <a:effectLst/>
                  <a:uLnTx/>
                  <a:uFillTx/>
                  <a:latin typeface="+mn-lt"/>
                  <a:ea typeface="MS PGothic" panose="020B0600070205080204" pitchFamily="34" charset="-128"/>
                  <a:cs typeface="Arial" panose="020B0604020202020204" pitchFamily="34" charset="0"/>
                </a:endParaRPr>
              </a:p>
            </p:txBody>
          </p:sp>
          <p:sp>
            <p:nvSpPr>
              <p:cNvPr id="391" name="Oval 387"/>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92" name="Rectangle 388"/>
              <p:cNvSpPr>
                <a:spLocks noChangeArrowheads="1"/>
              </p:cNvSpPr>
              <p:nvPr/>
            </p:nvSpPr>
            <p:spPr bwMode="auto">
              <a:xfrm>
                <a:off x="5063" y="1837"/>
                <a:ext cx="85" cy="760"/>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40" name="Group 320"/>
            <p:cNvGrpSpPr/>
            <p:nvPr/>
          </p:nvGrpSpPr>
          <p:grpSpPr bwMode="auto">
            <a:xfrm>
              <a:off x="3105" y="1159"/>
              <a:ext cx="301" cy="451"/>
              <a:chOff x="4140" y="429"/>
              <a:chExt cx="1425" cy="2396"/>
            </a:xfrm>
          </p:grpSpPr>
          <p:sp>
            <p:nvSpPr>
              <p:cNvPr id="337" name="Freeform 321"/>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38" name="Rectangle 322"/>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39" name="Freeform 323"/>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40" name="Freeform 324"/>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41" name="Rectangle 325"/>
              <p:cNvSpPr>
                <a:spLocks noChangeArrowheads="1"/>
              </p:cNvSpPr>
              <p:nvPr/>
            </p:nvSpPr>
            <p:spPr bwMode="auto">
              <a:xfrm>
                <a:off x="4211" y="695"/>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342" name="Group 326"/>
              <p:cNvGrpSpPr/>
              <p:nvPr/>
            </p:nvGrpSpPr>
            <p:grpSpPr bwMode="auto">
              <a:xfrm>
                <a:off x="4749" y="668"/>
                <a:ext cx="581" cy="145"/>
                <a:chOff x="614" y="2568"/>
                <a:chExt cx="725" cy="139"/>
              </a:xfrm>
            </p:grpSpPr>
            <p:sp>
              <p:nvSpPr>
                <p:cNvPr id="367" name="AutoShape 327"/>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68" name="AutoShape 328"/>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43" name="Rectangle 329"/>
              <p:cNvSpPr>
                <a:spLocks noChangeArrowheads="1"/>
              </p:cNvSpPr>
              <p:nvPr/>
            </p:nvSpPr>
            <p:spPr bwMode="auto">
              <a:xfrm>
                <a:off x="4225" y="1019"/>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344" name="Group 330"/>
              <p:cNvGrpSpPr/>
              <p:nvPr/>
            </p:nvGrpSpPr>
            <p:grpSpPr bwMode="auto">
              <a:xfrm>
                <a:off x="4747" y="994"/>
                <a:ext cx="581" cy="134"/>
                <a:chOff x="614" y="2568"/>
                <a:chExt cx="725" cy="139"/>
              </a:xfrm>
            </p:grpSpPr>
            <p:sp>
              <p:nvSpPr>
                <p:cNvPr id="365" name="AutoShape 331"/>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66" name="AutoShape 332"/>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45" name="Rectangle 333"/>
              <p:cNvSpPr>
                <a:spLocks noChangeArrowheads="1"/>
              </p:cNvSpPr>
              <p:nvPr/>
            </p:nvSpPr>
            <p:spPr bwMode="auto">
              <a:xfrm>
                <a:off x="4216" y="1359"/>
                <a:ext cx="597"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46" name="Rectangle 334"/>
              <p:cNvSpPr>
                <a:spLocks noChangeArrowheads="1"/>
              </p:cNvSpPr>
              <p:nvPr/>
            </p:nvSpPr>
            <p:spPr bwMode="auto">
              <a:xfrm>
                <a:off x="4230" y="1656"/>
                <a:ext cx="592" cy="48"/>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nvGrpSpPr>
              <p:cNvPr id="347" name="Group 335"/>
              <p:cNvGrpSpPr/>
              <p:nvPr/>
            </p:nvGrpSpPr>
            <p:grpSpPr bwMode="auto">
              <a:xfrm>
                <a:off x="4735" y="1627"/>
                <a:ext cx="582" cy="151"/>
                <a:chOff x="614" y="2568"/>
                <a:chExt cx="725" cy="139"/>
              </a:xfrm>
            </p:grpSpPr>
            <p:sp>
              <p:nvSpPr>
                <p:cNvPr id="363" name="AutoShape 336"/>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64" name="AutoShape 337"/>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48" name="Freeform 338"/>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nvGrpSpPr>
              <p:cNvPr id="349" name="Group 339"/>
              <p:cNvGrpSpPr/>
              <p:nvPr/>
            </p:nvGrpSpPr>
            <p:grpSpPr bwMode="auto">
              <a:xfrm>
                <a:off x="4739" y="1327"/>
                <a:ext cx="582" cy="139"/>
                <a:chOff x="614" y="2568"/>
                <a:chExt cx="725" cy="139"/>
              </a:xfrm>
            </p:grpSpPr>
            <p:sp>
              <p:nvSpPr>
                <p:cNvPr id="361" name="AutoShape 340"/>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62" name="AutoShape 341"/>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350" name="Rectangle 342"/>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51" name="Freeform 343"/>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52" name="Freeform 344"/>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53" name="Oval 345"/>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54" name="Freeform 346"/>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55" name="AutoShape 347"/>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56" name="AutoShape 348"/>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57" name="Oval 349"/>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58" name="Oval 350"/>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b="0" i="0" u="none" strike="noStrike" kern="0" cap="none" spc="0" normalizeH="0" baseline="0" noProof="0">
                  <a:ln>
                    <a:noFill/>
                  </a:ln>
                  <a:solidFill>
                    <a:srgbClr val="FF0000"/>
                  </a:solidFill>
                  <a:effectLst/>
                  <a:uLnTx/>
                  <a:uFillTx/>
                  <a:latin typeface="+mn-lt"/>
                  <a:ea typeface="MS PGothic" panose="020B0600070205080204" pitchFamily="34" charset="-128"/>
                  <a:cs typeface="Arial" panose="020B0604020202020204" pitchFamily="34" charset="0"/>
                </a:endParaRPr>
              </a:p>
            </p:txBody>
          </p:sp>
          <p:sp>
            <p:nvSpPr>
              <p:cNvPr id="359" name="Oval 351"/>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60" name="Rectangle 352"/>
              <p:cNvSpPr>
                <a:spLocks noChangeArrowheads="1"/>
              </p:cNvSpPr>
              <p:nvPr/>
            </p:nvSpPr>
            <p:spPr bwMode="auto">
              <a:xfrm>
                <a:off x="5063" y="1837"/>
                <a:ext cx="85" cy="760"/>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241" name="Line 9"/>
            <p:cNvSpPr>
              <a:spLocks noChangeShapeType="1"/>
            </p:cNvSpPr>
            <p:nvPr/>
          </p:nvSpPr>
          <p:spPr bwMode="auto">
            <a:xfrm>
              <a:off x="3734" y="1642"/>
              <a:ext cx="708" cy="498"/>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nvGrpSpPr>
            <p:cNvPr id="242" name="Group 19"/>
            <p:cNvGrpSpPr/>
            <p:nvPr/>
          </p:nvGrpSpPr>
          <p:grpSpPr bwMode="auto">
            <a:xfrm>
              <a:off x="4466" y="1881"/>
              <a:ext cx="510" cy="661"/>
              <a:chOff x="4296" y="2627"/>
              <a:chExt cx="510" cy="661"/>
            </a:xfrm>
          </p:grpSpPr>
          <p:sp>
            <p:nvSpPr>
              <p:cNvPr id="322" name="Rectangle 20"/>
              <p:cNvSpPr>
                <a:spLocks noChangeArrowheads="1"/>
              </p:cNvSpPr>
              <p:nvPr/>
            </p:nvSpPr>
            <p:spPr bwMode="auto">
              <a:xfrm>
                <a:off x="4296" y="2652"/>
                <a:ext cx="510" cy="636"/>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23" name="Text Box 21"/>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mail</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server</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24" name="Rectangle 22"/>
              <p:cNvSpPr>
                <a:spLocks noChangeArrowheads="1"/>
              </p:cNvSpPr>
              <p:nvPr/>
            </p:nvSpPr>
            <p:spPr bwMode="auto">
              <a:xfrm>
                <a:off x="4320" y="3006"/>
                <a:ext cx="450" cy="120"/>
              </a:xfrm>
              <a:prstGeom prst="rect">
                <a:avLst/>
              </a:prstGeom>
              <a:solidFill>
                <a:srgbClr val="00FF00"/>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25" name="Line 23"/>
              <p:cNvSpPr>
                <a:spLocks noChangeShapeType="1"/>
              </p:cNvSpPr>
              <p:nvPr/>
            </p:nvSpPr>
            <p:spPr bwMode="auto">
              <a:xfrm>
                <a:off x="4369"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26" name="Line 24"/>
              <p:cNvSpPr>
                <a:spLocks noChangeShapeType="1"/>
              </p:cNvSpPr>
              <p:nvPr/>
            </p:nvSpPr>
            <p:spPr bwMode="auto">
              <a:xfrm>
                <a:off x="4478"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27" name="Line 25"/>
              <p:cNvSpPr>
                <a:spLocks noChangeShapeType="1"/>
              </p:cNvSpPr>
              <p:nvPr/>
            </p:nvSpPr>
            <p:spPr bwMode="auto">
              <a:xfrm>
                <a:off x="4533" y="3035"/>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28" name="Line 26"/>
              <p:cNvSpPr>
                <a:spLocks noChangeShapeType="1"/>
              </p:cNvSpPr>
              <p:nvPr/>
            </p:nvSpPr>
            <p:spPr bwMode="auto">
              <a:xfrm>
                <a:off x="4590"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29" name="Line 27"/>
              <p:cNvSpPr>
                <a:spLocks noChangeShapeType="1"/>
              </p:cNvSpPr>
              <p:nvPr/>
            </p:nvSpPr>
            <p:spPr bwMode="auto">
              <a:xfrm>
                <a:off x="4651"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30" name="Line 28"/>
              <p:cNvSpPr>
                <a:spLocks noChangeShapeType="1"/>
              </p:cNvSpPr>
              <p:nvPr/>
            </p:nvSpPr>
            <p:spPr bwMode="auto">
              <a:xfrm>
                <a:off x="4707"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31" name="Line 29"/>
              <p:cNvSpPr>
                <a:spLocks noChangeShapeType="1"/>
              </p:cNvSpPr>
              <p:nvPr/>
            </p:nvSpPr>
            <p:spPr bwMode="auto">
              <a:xfrm>
                <a:off x="4422"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32" name="Rectangle 30"/>
              <p:cNvSpPr>
                <a:spLocks noChangeArrowheads="1"/>
              </p:cNvSpPr>
              <p:nvPr/>
            </p:nvSpPr>
            <p:spPr bwMode="auto">
              <a:xfrm>
                <a:off x="4328"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33" name="Rectangle 31"/>
              <p:cNvSpPr>
                <a:spLocks noChangeArrowheads="1"/>
              </p:cNvSpPr>
              <p:nvPr/>
            </p:nvSpPr>
            <p:spPr bwMode="auto">
              <a:xfrm>
                <a:off x="4414"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34" name="Rectangle 32"/>
              <p:cNvSpPr>
                <a:spLocks noChangeArrowheads="1"/>
              </p:cNvSpPr>
              <p:nvPr/>
            </p:nvSpPr>
            <p:spPr bwMode="auto">
              <a:xfrm>
                <a:off x="4500" y="3172"/>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35" name="Rectangle 33"/>
              <p:cNvSpPr>
                <a:spLocks noChangeArrowheads="1"/>
              </p:cNvSpPr>
              <p:nvPr/>
            </p:nvSpPr>
            <p:spPr bwMode="auto">
              <a:xfrm>
                <a:off x="4597"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36" name="Rectangle 34"/>
              <p:cNvSpPr>
                <a:spLocks noChangeArrowheads="1"/>
              </p:cNvSpPr>
              <p:nvPr/>
            </p:nvSpPr>
            <p:spPr bwMode="auto">
              <a:xfrm>
                <a:off x="4693"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43" name="Group 60"/>
            <p:cNvGrpSpPr/>
            <p:nvPr/>
          </p:nvGrpSpPr>
          <p:grpSpPr bwMode="auto">
            <a:xfrm>
              <a:off x="3206" y="2763"/>
              <a:ext cx="510" cy="661"/>
              <a:chOff x="4296" y="2627"/>
              <a:chExt cx="510" cy="661"/>
            </a:xfrm>
          </p:grpSpPr>
          <p:sp>
            <p:nvSpPr>
              <p:cNvPr id="307" name="Rectangle 61"/>
              <p:cNvSpPr>
                <a:spLocks noChangeArrowheads="1"/>
              </p:cNvSpPr>
              <p:nvPr/>
            </p:nvSpPr>
            <p:spPr bwMode="auto">
              <a:xfrm>
                <a:off x="4296" y="2652"/>
                <a:ext cx="510" cy="636"/>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08" name="Text Box 62"/>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mail</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server</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09" name="Rectangle 63"/>
              <p:cNvSpPr>
                <a:spLocks noChangeArrowheads="1"/>
              </p:cNvSpPr>
              <p:nvPr/>
            </p:nvSpPr>
            <p:spPr bwMode="auto">
              <a:xfrm>
                <a:off x="4320" y="3006"/>
                <a:ext cx="450" cy="120"/>
              </a:xfrm>
              <a:prstGeom prst="rect">
                <a:avLst/>
              </a:prstGeom>
              <a:solidFill>
                <a:srgbClr val="00FF00"/>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10" name="Line 64"/>
              <p:cNvSpPr>
                <a:spLocks noChangeShapeType="1"/>
              </p:cNvSpPr>
              <p:nvPr/>
            </p:nvSpPr>
            <p:spPr bwMode="auto">
              <a:xfrm>
                <a:off x="4369"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1" name="Line 65"/>
              <p:cNvSpPr>
                <a:spLocks noChangeShapeType="1"/>
              </p:cNvSpPr>
              <p:nvPr/>
            </p:nvSpPr>
            <p:spPr bwMode="auto">
              <a:xfrm>
                <a:off x="4478"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2" name="Line 66"/>
              <p:cNvSpPr>
                <a:spLocks noChangeShapeType="1"/>
              </p:cNvSpPr>
              <p:nvPr/>
            </p:nvSpPr>
            <p:spPr bwMode="auto">
              <a:xfrm>
                <a:off x="4533" y="3035"/>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3" name="Line 67"/>
              <p:cNvSpPr>
                <a:spLocks noChangeShapeType="1"/>
              </p:cNvSpPr>
              <p:nvPr/>
            </p:nvSpPr>
            <p:spPr bwMode="auto">
              <a:xfrm>
                <a:off x="4590"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4" name="Line 68"/>
              <p:cNvSpPr>
                <a:spLocks noChangeShapeType="1"/>
              </p:cNvSpPr>
              <p:nvPr/>
            </p:nvSpPr>
            <p:spPr bwMode="auto">
              <a:xfrm>
                <a:off x="4651"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5" name="Line 69"/>
              <p:cNvSpPr>
                <a:spLocks noChangeShapeType="1"/>
              </p:cNvSpPr>
              <p:nvPr/>
            </p:nvSpPr>
            <p:spPr bwMode="auto">
              <a:xfrm>
                <a:off x="4707"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6" name="Line 70"/>
              <p:cNvSpPr>
                <a:spLocks noChangeShapeType="1"/>
              </p:cNvSpPr>
              <p:nvPr/>
            </p:nvSpPr>
            <p:spPr bwMode="auto">
              <a:xfrm>
                <a:off x="4422"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17" name="Rectangle 71"/>
              <p:cNvSpPr>
                <a:spLocks noChangeArrowheads="1"/>
              </p:cNvSpPr>
              <p:nvPr/>
            </p:nvSpPr>
            <p:spPr bwMode="auto">
              <a:xfrm>
                <a:off x="4328"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18" name="Rectangle 72"/>
              <p:cNvSpPr>
                <a:spLocks noChangeArrowheads="1"/>
              </p:cNvSpPr>
              <p:nvPr/>
            </p:nvSpPr>
            <p:spPr bwMode="auto">
              <a:xfrm>
                <a:off x="4414"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19" name="Rectangle 73"/>
              <p:cNvSpPr>
                <a:spLocks noChangeArrowheads="1"/>
              </p:cNvSpPr>
              <p:nvPr/>
            </p:nvSpPr>
            <p:spPr bwMode="auto">
              <a:xfrm>
                <a:off x="4500" y="3172"/>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20" name="Rectangle 74"/>
              <p:cNvSpPr>
                <a:spLocks noChangeArrowheads="1"/>
              </p:cNvSpPr>
              <p:nvPr/>
            </p:nvSpPr>
            <p:spPr bwMode="auto">
              <a:xfrm>
                <a:off x="4597"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21" name="Rectangle 75"/>
              <p:cNvSpPr>
                <a:spLocks noChangeArrowheads="1"/>
              </p:cNvSpPr>
              <p:nvPr/>
            </p:nvSpPr>
            <p:spPr bwMode="auto">
              <a:xfrm>
                <a:off x="4693"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44" name="Group 96"/>
            <p:cNvGrpSpPr/>
            <p:nvPr/>
          </p:nvGrpSpPr>
          <p:grpSpPr bwMode="auto">
            <a:xfrm>
              <a:off x="3206" y="1347"/>
              <a:ext cx="510" cy="661"/>
              <a:chOff x="4296" y="2627"/>
              <a:chExt cx="510" cy="661"/>
            </a:xfrm>
          </p:grpSpPr>
          <p:sp>
            <p:nvSpPr>
              <p:cNvPr id="292" name="Rectangle 97"/>
              <p:cNvSpPr>
                <a:spLocks noChangeArrowheads="1"/>
              </p:cNvSpPr>
              <p:nvPr/>
            </p:nvSpPr>
            <p:spPr bwMode="auto">
              <a:xfrm>
                <a:off x="4296" y="2652"/>
                <a:ext cx="510" cy="636"/>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93" name="Text Box 98"/>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mail</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server</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94" name="Rectangle 99"/>
              <p:cNvSpPr>
                <a:spLocks noChangeArrowheads="1"/>
              </p:cNvSpPr>
              <p:nvPr/>
            </p:nvSpPr>
            <p:spPr bwMode="auto">
              <a:xfrm>
                <a:off x="4320" y="3006"/>
                <a:ext cx="450" cy="120"/>
              </a:xfrm>
              <a:prstGeom prst="rect">
                <a:avLst/>
              </a:prstGeom>
              <a:solidFill>
                <a:srgbClr val="00FF00"/>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95" name="Line 100"/>
              <p:cNvSpPr>
                <a:spLocks noChangeShapeType="1"/>
              </p:cNvSpPr>
              <p:nvPr/>
            </p:nvSpPr>
            <p:spPr bwMode="auto">
              <a:xfrm>
                <a:off x="4369"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96" name="Line 101"/>
              <p:cNvSpPr>
                <a:spLocks noChangeShapeType="1"/>
              </p:cNvSpPr>
              <p:nvPr/>
            </p:nvSpPr>
            <p:spPr bwMode="auto">
              <a:xfrm>
                <a:off x="4478"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97" name="Line 102"/>
              <p:cNvSpPr>
                <a:spLocks noChangeShapeType="1"/>
              </p:cNvSpPr>
              <p:nvPr/>
            </p:nvSpPr>
            <p:spPr bwMode="auto">
              <a:xfrm>
                <a:off x="4533" y="3035"/>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98" name="Line 103"/>
              <p:cNvSpPr>
                <a:spLocks noChangeShapeType="1"/>
              </p:cNvSpPr>
              <p:nvPr/>
            </p:nvSpPr>
            <p:spPr bwMode="auto">
              <a:xfrm>
                <a:off x="4590"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99" name="Line 104"/>
              <p:cNvSpPr>
                <a:spLocks noChangeShapeType="1"/>
              </p:cNvSpPr>
              <p:nvPr/>
            </p:nvSpPr>
            <p:spPr bwMode="auto">
              <a:xfrm>
                <a:off x="4651"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00" name="Line 105"/>
              <p:cNvSpPr>
                <a:spLocks noChangeShapeType="1"/>
              </p:cNvSpPr>
              <p:nvPr/>
            </p:nvSpPr>
            <p:spPr bwMode="auto">
              <a:xfrm>
                <a:off x="4707"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01" name="Line 106"/>
              <p:cNvSpPr>
                <a:spLocks noChangeShapeType="1"/>
              </p:cNvSpPr>
              <p:nvPr/>
            </p:nvSpPr>
            <p:spPr bwMode="auto">
              <a:xfrm>
                <a:off x="4422"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302" name="Rectangle 107"/>
              <p:cNvSpPr>
                <a:spLocks noChangeArrowheads="1"/>
              </p:cNvSpPr>
              <p:nvPr/>
            </p:nvSpPr>
            <p:spPr bwMode="auto">
              <a:xfrm>
                <a:off x="4328"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03" name="Rectangle 108"/>
              <p:cNvSpPr>
                <a:spLocks noChangeArrowheads="1"/>
              </p:cNvSpPr>
              <p:nvPr/>
            </p:nvSpPr>
            <p:spPr bwMode="auto">
              <a:xfrm>
                <a:off x="4414"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04" name="Rectangle 109"/>
              <p:cNvSpPr>
                <a:spLocks noChangeArrowheads="1"/>
              </p:cNvSpPr>
              <p:nvPr/>
            </p:nvSpPr>
            <p:spPr bwMode="auto">
              <a:xfrm>
                <a:off x="4500" y="3172"/>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05" name="Rectangle 110"/>
              <p:cNvSpPr>
                <a:spLocks noChangeArrowheads="1"/>
              </p:cNvSpPr>
              <p:nvPr/>
            </p:nvSpPr>
            <p:spPr bwMode="auto">
              <a:xfrm>
                <a:off x="4597"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306" name="Rectangle 111"/>
              <p:cNvSpPr>
                <a:spLocks noChangeArrowheads="1"/>
              </p:cNvSpPr>
              <p:nvPr/>
            </p:nvSpPr>
            <p:spPr bwMode="auto">
              <a:xfrm>
                <a:off x="4693"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sp>
          <p:nvSpPr>
            <p:cNvPr id="245" name="Line 117"/>
            <p:cNvSpPr>
              <a:spLocks noChangeShapeType="1"/>
            </p:cNvSpPr>
            <p:nvPr/>
          </p:nvSpPr>
          <p:spPr bwMode="auto">
            <a:xfrm flipV="1">
              <a:off x="3734" y="2350"/>
              <a:ext cx="708" cy="684"/>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sp>
          <p:nvSpPr>
            <p:cNvPr id="246" name="Line 118"/>
            <p:cNvSpPr>
              <a:spLocks noChangeShapeType="1"/>
            </p:cNvSpPr>
            <p:nvPr/>
          </p:nvSpPr>
          <p:spPr bwMode="auto">
            <a:xfrm flipH="1" flipV="1">
              <a:off x="3266" y="2020"/>
              <a:ext cx="0" cy="786"/>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nvGrpSpPr>
            <p:cNvPr id="247" name="Group 119"/>
            <p:cNvGrpSpPr/>
            <p:nvPr/>
          </p:nvGrpSpPr>
          <p:grpSpPr bwMode="auto">
            <a:xfrm>
              <a:off x="3799" y="2535"/>
              <a:ext cx="641" cy="330"/>
              <a:chOff x="3749" y="2537"/>
              <a:chExt cx="641" cy="330"/>
            </a:xfrm>
          </p:grpSpPr>
          <p:sp>
            <p:nvSpPr>
              <p:cNvPr id="290" name="Rectangle 120"/>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91" name="Text Box 121"/>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800" b="0" i="0" u="none" strike="noStrike" kern="0" cap="none" spc="0" normalizeH="0" baseline="0" noProof="0">
                    <a:ln>
                      <a:noFill/>
                    </a:ln>
                    <a:solidFill>
                      <a:srgbClr val="CC0000"/>
                    </a:solidFill>
                    <a:effectLst/>
                    <a:uLnTx/>
                    <a:uFillTx/>
                    <a:latin typeface="+mn-lt"/>
                    <a:ea typeface="MS PGothic" panose="020B0600070205080204" pitchFamily="34" charset="-128"/>
                  </a:rPr>
                  <a:t>SMTP</a:t>
                </a:r>
                <a:endParaRPr kumimoji="0" lang="en-US" altLang="en-US" sz="2800" b="0" i="0" u="none" strike="noStrike" kern="0" cap="none" spc="0" normalizeH="0" baseline="0" noProof="0">
                  <a:ln>
                    <a:noFill/>
                  </a:ln>
                  <a:solidFill>
                    <a:srgbClr val="CC0000"/>
                  </a:solidFill>
                  <a:effectLst/>
                  <a:uLnTx/>
                  <a:uFillTx/>
                  <a:latin typeface="+mn-lt"/>
                  <a:ea typeface="MS PGothic" panose="020B0600070205080204" pitchFamily="34" charset="-128"/>
                </a:endParaRPr>
              </a:p>
            </p:txBody>
          </p:sp>
        </p:grpSp>
        <p:grpSp>
          <p:nvGrpSpPr>
            <p:cNvPr id="248" name="Group 122"/>
            <p:cNvGrpSpPr/>
            <p:nvPr/>
          </p:nvGrpSpPr>
          <p:grpSpPr bwMode="auto">
            <a:xfrm>
              <a:off x="3775" y="1743"/>
              <a:ext cx="641" cy="330"/>
              <a:chOff x="3749" y="2537"/>
              <a:chExt cx="641" cy="330"/>
            </a:xfrm>
          </p:grpSpPr>
          <p:sp>
            <p:nvSpPr>
              <p:cNvPr id="288" name="Rectangle 123"/>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89" name="Text Box 124"/>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800" b="0" i="0" u="none" strike="noStrike" kern="0" cap="none" spc="0" normalizeH="0" baseline="0" noProof="0">
                    <a:ln>
                      <a:noFill/>
                    </a:ln>
                    <a:solidFill>
                      <a:srgbClr val="CC0000"/>
                    </a:solidFill>
                    <a:effectLst/>
                    <a:uLnTx/>
                    <a:uFillTx/>
                    <a:latin typeface="+mn-lt"/>
                    <a:ea typeface="MS PGothic" panose="020B0600070205080204" pitchFamily="34" charset="-128"/>
                  </a:rPr>
                  <a:t>SMTP</a:t>
                </a:r>
                <a:endParaRPr kumimoji="0" lang="en-US" altLang="en-US" sz="2800" b="0" i="0" u="none" strike="noStrike" kern="0" cap="none" spc="0" normalizeH="0" baseline="0" noProof="0">
                  <a:ln>
                    <a:noFill/>
                  </a:ln>
                  <a:solidFill>
                    <a:srgbClr val="CC0000"/>
                  </a:solidFill>
                  <a:effectLst/>
                  <a:uLnTx/>
                  <a:uFillTx/>
                  <a:latin typeface="+mn-lt"/>
                  <a:ea typeface="MS PGothic" panose="020B0600070205080204" pitchFamily="34" charset="-128"/>
                </a:endParaRPr>
              </a:p>
            </p:txBody>
          </p:sp>
        </p:grpSp>
        <p:grpSp>
          <p:nvGrpSpPr>
            <p:cNvPr id="249" name="Group 125"/>
            <p:cNvGrpSpPr/>
            <p:nvPr/>
          </p:nvGrpSpPr>
          <p:grpSpPr bwMode="auto">
            <a:xfrm>
              <a:off x="2941" y="2193"/>
              <a:ext cx="641" cy="330"/>
              <a:chOff x="3749" y="2537"/>
              <a:chExt cx="641" cy="330"/>
            </a:xfrm>
          </p:grpSpPr>
          <p:sp>
            <p:nvSpPr>
              <p:cNvPr id="286" name="Rectangle 126"/>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87" name="Text Box 127"/>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800" b="0" i="0" u="none" strike="noStrike" kern="0" cap="none" spc="0" normalizeH="0" baseline="0" noProof="0">
                    <a:ln>
                      <a:noFill/>
                    </a:ln>
                    <a:solidFill>
                      <a:srgbClr val="CC0000"/>
                    </a:solidFill>
                    <a:effectLst/>
                    <a:uLnTx/>
                    <a:uFillTx/>
                    <a:latin typeface="+mn-lt"/>
                    <a:ea typeface="MS PGothic" panose="020B0600070205080204" pitchFamily="34" charset="-128"/>
                  </a:rPr>
                  <a:t>SMTP</a:t>
                </a:r>
                <a:endParaRPr kumimoji="0" lang="en-US" altLang="en-US" sz="2800" b="0" i="0" u="none" strike="noStrike" kern="0" cap="none" spc="0" normalizeH="0" baseline="0" noProof="0">
                  <a:ln>
                    <a:noFill/>
                  </a:ln>
                  <a:solidFill>
                    <a:srgbClr val="CC0000"/>
                  </a:solidFill>
                  <a:effectLst/>
                  <a:uLnTx/>
                  <a:uFillTx/>
                  <a:latin typeface="+mn-lt"/>
                  <a:ea typeface="MS PGothic" panose="020B0600070205080204" pitchFamily="34" charset="-128"/>
                </a:endParaRPr>
              </a:p>
            </p:txBody>
          </p:sp>
        </p:grpSp>
        <p:grpSp>
          <p:nvGrpSpPr>
            <p:cNvPr id="250" name="Group 423"/>
            <p:cNvGrpSpPr/>
            <p:nvPr/>
          </p:nvGrpSpPr>
          <p:grpSpPr bwMode="auto">
            <a:xfrm>
              <a:off x="3579" y="886"/>
              <a:ext cx="583" cy="664"/>
              <a:chOff x="3566" y="550"/>
              <a:chExt cx="583" cy="664"/>
            </a:xfrm>
          </p:grpSpPr>
          <p:grpSp>
            <p:nvGrpSpPr>
              <p:cNvPr id="281" name="Group 353"/>
              <p:cNvGrpSpPr/>
              <p:nvPr/>
            </p:nvGrpSpPr>
            <p:grpSpPr bwMode="auto">
              <a:xfrm>
                <a:off x="3588" y="692"/>
                <a:ext cx="561" cy="522"/>
                <a:chOff x="-44" y="1473"/>
                <a:chExt cx="981" cy="1105"/>
              </a:xfrm>
            </p:grpSpPr>
            <p:pic>
              <p:nvPicPr>
                <p:cNvPr id="284" name="Picture 354"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35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82"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83" name="Text Box 116"/>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agent</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51" name="Group 424"/>
            <p:cNvGrpSpPr/>
            <p:nvPr/>
          </p:nvGrpSpPr>
          <p:grpSpPr bwMode="auto">
            <a:xfrm>
              <a:off x="4862" y="1400"/>
              <a:ext cx="583" cy="664"/>
              <a:chOff x="3566" y="550"/>
              <a:chExt cx="583" cy="664"/>
            </a:xfrm>
          </p:grpSpPr>
          <p:grpSp>
            <p:nvGrpSpPr>
              <p:cNvPr id="276" name="Group 425"/>
              <p:cNvGrpSpPr/>
              <p:nvPr/>
            </p:nvGrpSpPr>
            <p:grpSpPr bwMode="auto">
              <a:xfrm>
                <a:off x="3588" y="692"/>
                <a:ext cx="561" cy="522"/>
                <a:chOff x="-44" y="1473"/>
                <a:chExt cx="981" cy="1105"/>
              </a:xfrm>
            </p:grpSpPr>
            <p:pic>
              <p:nvPicPr>
                <p:cNvPr id="279" name="Picture 426"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Freeform 427"/>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77"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78" name="Text Box 116"/>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agent</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52" name="Group 430"/>
            <p:cNvGrpSpPr/>
            <p:nvPr/>
          </p:nvGrpSpPr>
          <p:grpSpPr bwMode="auto">
            <a:xfrm>
              <a:off x="5074" y="1880"/>
              <a:ext cx="583" cy="664"/>
              <a:chOff x="3566" y="550"/>
              <a:chExt cx="583" cy="664"/>
            </a:xfrm>
          </p:grpSpPr>
          <p:grpSp>
            <p:nvGrpSpPr>
              <p:cNvPr id="271" name="Group 431"/>
              <p:cNvGrpSpPr/>
              <p:nvPr/>
            </p:nvGrpSpPr>
            <p:grpSpPr bwMode="auto">
              <a:xfrm>
                <a:off x="3588" y="692"/>
                <a:ext cx="561" cy="522"/>
                <a:chOff x="-44" y="1473"/>
                <a:chExt cx="981" cy="1105"/>
              </a:xfrm>
            </p:grpSpPr>
            <p:pic>
              <p:nvPicPr>
                <p:cNvPr id="274" name="Picture 432"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Freeform 433"/>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72"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73" name="Text Box 116"/>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agent</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53" name="Group 436"/>
            <p:cNvGrpSpPr/>
            <p:nvPr/>
          </p:nvGrpSpPr>
          <p:grpSpPr bwMode="auto">
            <a:xfrm>
              <a:off x="4991" y="2540"/>
              <a:ext cx="583" cy="664"/>
              <a:chOff x="3566" y="550"/>
              <a:chExt cx="583" cy="664"/>
            </a:xfrm>
          </p:grpSpPr>
          <p:grpSp>
            <p:nvGrpSpPr>
              <p:cNvPr id="266" name="Group 437"/>
              <p:cNvGrpSpPr/>
              <p:nvPr/>
            </p:nvGrpSpPr>
            <p:grpSpPr bwMode="auto">
              <a:xfrm>
                <a:off x="3588" y="692"/>
                <a:ext cx="561" cy="522"/>
                <a:chOff x="-44" y="1473"/>
                <a:chExt cx="981" cy="1105"/>
              </a:xfrm>
            </p:grpSpPr>
            <p:pic>
              <p:nvPicPr>
                <p:cNvPr id="269" name="Picture 438"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Freeform 43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67"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68" name="Text Box 116"/>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agent</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54" name="Group 442"/>
            <p:cNvGrpSpPr/>
            <p:nvPr/>
          </p:nvGrpSpPr>
          <p:grpSpPr bwMode="auto">
            <a:xfrm>
              <a:off x="3346" y="3446"/>
              <a:ext cx="583" cy="664"/>
              <a:chOff x="3566" y="550"/>
              <a:chExt cx="583" cy="664"/>
            </a:xfrm>
          </p:grpSpPr>
          <p:grpSp>
            <p:nvGrpSpPr>
              <p:cNvPr id="261" name="Group 443"/>
              <p:cNvGrpSpPr/>
              <p:nvPr/>
            </p:nvGrpSpPr>
            <p:grpSpPr bwMode="auto">
              <a:xfrm>
                <a:off x="3588" y="692"/>
                <a:ext cx="561" cy="522"/>
                <a:chOff x="-44" y="1473"/>
                <a:chExt cx="981" cy="1105"/>
              </a:xfrm>
            </p:grpSpPr>
            <p:pic>
              <p:nvPicPr>
                <p:cNvPr id="264" name="Picture 444"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Freeform 44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62"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63" name="Text Box 116"/>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agent</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nvGrpSpPr>
            <p:cNvPr id="255" name="Group 448"/>
            <p:cNvGrpSpPr/>
            <p:nvPr/>
          </p:nvGrpSpPr>
          <p:grpSpPr bwMode="auto">
            <a:xfrm>
              <a:off x="3805" y="3056"/>
              <a:ext cx="583" cy="664"/>
              <a:chOff x="3566" y="550"/>
              <a:chExt cx="583" cy="664"/>
            </a:xfrm>
          </p:grpSpPr>
          <p:grpSp>
            <p:nvGrpSpPr>
              <p:cNvPr id="256" name="Group 449"/>
              <p:cNvGrpSpPr/>
              <p:nvPr/>
            </p:nvGrpSpPr>
            <p:grpSpPr bwMode="auto">
              <a:xfrm>
                <a:off x="3588" y="692"/>
                <a:ext cx="561" cy="522"/>
                <a:chOff x="-44" y="1473"/>
                <a:chExt cx="981" cy="1105"/>
              </a:xfrm>
            </p:grpSpPr>
            <p:pic>
              <p:nvPicPr>
                <p:cNvPr id="259" name="Picture 450"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451"/>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ea typeface="MS PGothic" panose="020B0600070205080204" pitchFamily="34" charset="-128"/>
                  </a:endParaRPr>
                </a:p>
              </p:txBody>
            </p:sp>
          </p:grpSp>
          <p:sp>
            <p:nvSpPr>
              <p:cNvPr id="257"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sp>
            <p:nvSpPr>
              <p:cNvPr id="258" name="Text Box 116"/>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user</a:t>
                </a:r>
                <a:endPar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mn-lt"/>
                    <a:ea typeface="MS PGothic" panose="020B0600070205080204" pitchFamily="34" charset="-128"/>
                  </a:rPr>
                  <a:t>agent</a:t>
                </a:r>
                <a:endParaRPr kumimoji="0" lang="en-US" altLang="en-US" sz="2800" b="0" i="0" u="none" strike="noStrike" kern="0" cap="none" spc="0" normalizeH="0" baseline="0" noProof="0">
                  <a:ln>
                    <a:noFill/>
                  </a:ln>
                  <a:solidFill>
                    <a:srgbClr val="000000"/>
                  </a:solidFill>
                  <a:effectLst/>
                  <a:uLnTx/>
                  <a:uFillTx/>
                  <a:latin typeface="+mn-lt"/>
                  <a:ea typeface="MS PGothic" panose="020B0600070205080204" pitchFamily="34" charset="-128"/>
                </a:endParaRPr>
              </a:p>
            </p:txBody>
          </p:sp>
        </p:grpSp>
      </p:grpSp>
      <p:sp>
        <p:nvSpPr>
          <p:cNvPr id="216" name="Rectangle 3"/>
          <p:cNvSpPr txBox="1">
            <a:spLocks noChangeArrowheads="1"/>
          </p:cNvSpPr>
          <p:nvPr/>
        </p:nvSpPr>
        <p:spPr>
          <a:xfrm>
            <a:off x="660265" y="1387147"/>
            <a:ext cx="540656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dirty="0">
                <a:solidFill>
                  <a:srgbClr val="CC0000"/>
                </a:solidFill>
                <a:ea typeface="MS PGothic" panose="020B0600070205080204" pitchFamily="34" charset="-128"/>
              </a:rPr>
              <a:t>mail servers:</a:t>
            </a:r>
            <a:endParaRPr lang="en-US" altLang="en-US" sz="3200" dirty="0">
              <a:solidFill>
                <a:srgbClr val="CC0000"/>
              </a:solidFill>
              <a:ea typeface="MS PGothic" panose="020B0600070205080204" pitchFamily="34" charset="-128"/>
            </a:endParaRPr>
          </a:p>
          <a:p>
            <a:r>
              <a:rPr lang="en-US" altLang="en-US" i="1" dirty="0">
                <a:solidFill>
                  <a:srgbClr val="CC0000"/>
                </a:solidFill>
                <a:ea typeface="MS PGothic" panose="020B0600070205080204" pitchFamily="34" charset="-128"/>
              </a:rPr>
              <a:t>mailbox</a:t>
            </a:r>
            <a:r>
              <a:rPr lang="en-US" altLang="en-US" dirty="0">
                <a:ea typeface="MS PGothic" panose="020B0600070205080204" pitchFamily="34" charset="-128"/>
              </a:rPr>
              <a:t> contains incoming messages for user</a:t>
            </a:r>
            <a:endParaRPr lang="en-US" altLang="en-US" dirty="0">
              <a:ea typeface="MS PGothic" panose="020B0600070205080204" pitchFamily="34" charset="-128"/>
            </a:endParaRPr>
          </a:p>
          <a:p>
            <a:r>
              <a:rPr lang="en-US" altLang="en-US" i="1" dirty="0">
                <a:solidFill>
                  <a:srgbClr val="CC0000"/>
                </a:solidFill>
                <a:ea typeface="MS PGothic" panose="020B0600070205080204" pitchFamily="34" charset="-128"/>
              </a:rPr>
              <a:t>message queue</a:t>
            </a:r>
            <a:r>
              <a:rPr lang="en-US" altLang="en-US" dirty="0">
                <a:ea typeface="MS PGothic" panose="020B0600070205080204" pitchFamily="34" charset="-128"/>
              </a:rPr>
              <a:t> of outgoing (to be sent) mail messages</a:t>
            </a:r>
            <a:endParaRPr lang="en-US" altLang="en-US" dirty="0">
              <a:ea typeface="MS PGothic" panose="020B0600070205080204" pitchFamily="34" charset="-128"/>
            </a:endParaRPr>
          </a:p>
          <a:p>
            <a:r>
              <a:rPr lang="en-US" altLang="en-US" i="1" dirty="0">
                <a:solidFill>
                  <a:srgbClr val="CC0000"/>
                </a:solidFill>
                <a:ea typeface="MS PGothic" panose="020B0600070205080204" pitchFamily="34" charset="-128"/>
              </a:rPr>
              <a:t>SMTP protocol</a:t>
            </a:r>
            <a:r>
              <a:rPr lang="en-US" altLang="en-US" dirty="0">
                <a:ea typeface="MS PGothic" panose="020B0600070205080204" pitchFamily="34" charset="-128"/>
              </a:rPr>
              <a:t> between mail servers to send email messages</a:t>
            </a:r>
            <a:endParaRPr lang="en-US" altLang="en-US" dirty="0">
              <a:ea typeface="MS PGothic" panose="020B0600070205080204" pitchFamily="34" charset="-128"/>
            </a:endParaRPr>
          </a:p>
          <a:p>
            <a:pPr lvl="1"/>
            <a:r>
              <a:rPr lang="en-US" altLang="en-US" sz="2800" dirty="0">
                <a:ea typeface="MS PGothic" panose="020B0600070205080204" pitchFamily="34" charset="-128"/>
              </a:rPr>
              <a:t>client: sending mail server</a:t>
            </a:r>
            <a:endParaRPr lang="en-US" altLang="en-US" sz="2800" dirty="0">
              <a:ea typeface="MS PGothic" panose="020B0600070205080204" pitchFamily="34" charset="-128"/>
            </a:endParaRPr>
          </a:p>
          <a:p>
            <a:pPr lvl="1"/>
            <a:r>
              <a:rPr lang="en-US" altLang="ja-JP" sz="2800" dirty="0">
                <a:ea typeface="MS PGothic" panose="020B0600070205080204" pitchFamily="34" charset="-128"/>
              </a:rPr>
              <a:t>“server”: receiving mail server</a:t>
            </a:r>
            <a:endParaRPr lang="en-US" altLang="en-US" sz="2800" dirty="0">
              <a:ea typeface="MS PGothic" panose="020B0600070205080204" pitchFamily="34" charset="-128"/>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 the </a:t>
            </a:r>
            <a:r>
              <a:rPr lang="en-US" altLang="en-US" dirty="0">
                <a:cs typeface="Calibri" panose="020F0502020204030204" pitchFamily="34" charset="0"/>
              </a:rPr>
              <a:t>RFC </a:t>
            </a:r>
            <a:r>
              <a:rPr lang="en-US" altLang="en-US" sz="3200" dirty="0">
                <a:cs typeface="Calibri" panose="020F0502020204030204" pitchFamily="34" charset="0"/>
              </a:rPr>
              <a:t>(5321)</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215" name="Rectangle 3"/>
          <p:cNvSpPr txBox="1">
            <a:spLocks noChangeArrowheads="1"/>
          </p:cNvSpPr>
          <p:nvPr/>
        </p:nvSpPr>
        <p:spPr>
          <a:xfrm>
            <a:off x="693827" y="1364343"/>
            <a:ext cx="1072532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600"/>
              </a:spcBef>
            </a:pPr>
            <a:r>
              <a:rPr lang="en-US" altLang="en-US" dirty="0">
                <a:ea typeface="MS PGothic" panose="020B0600070205080204" pitchFamily="34" charset="-128"/>
              </a:rPr>
              <a:t>uses TCP to reliably transfer email message from client (mail server initiating connection) to server, port 25</a:t>
            </a:r>
            <a:endParaRPr lang="en-US" altLang="en-US" dirty="0">
              <a:ea typeface="MS PGothic" panose="020B0600070205080204" pitchFamily="34" charset="-128"/>
            </a:endParaRPr>
          </a:p>
          <a:p>
            <a:pPr>
              <a:spcBef>
                <a:spcPts val="600"/>
              </a:spcBef>
            </a:pPr>
            <a:r>
              <a:rPr lang="en-US" altLang="en-US" dirty="0">
                <a:ea typeface="MS PGothic" panose="020B0600070205080204" pitchFamily="34" charset="-128"/>
              </a:rPr>
              <a:t>direct transfer: sending server (acting like client) to receiving server</a:t>
            </a:r>
            <a:endParaRPr lang="en-US" altLang="en-US" dirty="0">
              <a:ea typeface="MS PGothic" panose="020B0600070205080204" pitchFamily="34" charset="-128"/>
            </a:endParaRPr>
          </a:p>
          <a:p>
            <a:pPr>
              <a:spcBef>
                <a:spcPts val="600"/>
              </a:spcBef>
            </a:pPr>
            <a:r>
              <a:rPr lang="en-US" altLang="en-US" dirty="0">
                <a:ea typeface="MS PGothic" panose="020B0600070205080204" pitchFamily="34" charset="-128"/>
              </a:rPr>
              <a:t>three phases of transfer</a:t>
            </a:r>
            <a:endParaRPr lang="en-US" altLang="en-US" dirty="0">
              <a:ea typeface="MS PGothic" panose="020B0600070205080204" pitchFamily="34" charset="-128"/>
            </a:endParaRPr>
          </a:p>
          <a:p>
            <a:pPr lvl="1">
              <a:spcBef>
                <a:spcPts val="600"/>
              </a:spcBef>
            </a:pPr>
            <a:r>
              <a:rPr lang="en-US" altLang="en-US" dirty="0">
                <a:ea typeface="MS PGothic" panose="020B0600070205080204" pitchFamily="34" charset="-128"/>
              </a:rPr>
              <a:t>handshaking (greeting)</a:t>
            </a:r>
            <a:endParaRPr lang="en-US" altLang="en-US" dirty="0">
              <a:ea typeface="MS PGothic" panose="020B0600070205080204" pitchFamily="34" charset="-128"/>
            </a:endParaRPr>
          </a:p>
          <a:p>
            <a:pPr lvl="1">
              <a:spcBef>
                <a:spcPts val="600"/>
              </a:spcBef>
            </a:pPr>
            <a:r>
              <a:rPr lang="en-US" altLang="en-US" dirty="0">
                <a:ea typeface="MS PGothic" panose="020B0600070205080204" pitchFamily="34" charset="-128"/>
              </a:rPr>
              <a:t>transfer of messages</a:t>
            </a:r>
            <a:endParaRPr lang="en-US" altLang="en-US" dirty="0">
              <a:ea typeface="MS PGothic" panose="020B0600070205080204" pitchFamily="34" charset="-128"/>
            </a:endParaRPr>
          </a:p>
          <a:p>
            <a:pPr lvl="1">
              <a:spcBef>
                <a:spcPts val="600"/>
              </a:spcBef>
            </a:pPr>
            <a:r>
              <a:rPr lang="en-US" altLang="en-US" dirty="0">
                <a:ea typeface="MS PGothic" panose="020B0600070205080204" pitchFamily="34" charset="-128"/>
              </a:rPr>
              <a:t>closure</a:t>
            </a:r>
            <a:endParaRPr lang="en-US" altLang="en-US" dirty="0">
              <a:ea typeface="MS PGothic" panose="020B0600070205080204" pitchFamily="34" charset="-128"/>
            </a:endParaRPr>
          </a:p>
          <a:p>
            <a:pPr>
              <a:spcBef>
                <a:spcPts val="600"/>
              </a:spcBef>
            </a:pPr>
            <a:r>
              <a:rPr lang="en-US" altLang="en-US" dirty="0">
                <a:ea typeface="MS PGothic" panose="020B0600070205080204" pitchFamily="34" charset="-128"/>
              </a:rPr>
              <a:t>command/response interaction (like HTTP)</a:t>
            </a:r>
            <a:endParaRPr lang="en-US" altLang="en-US" dirty="0">
              <a:solidFill>
                <a:schemeClr val="accent2"/>
              </a:solidFill>
              <a:ea typeface="MS PGothic" panose="020B0600070205080204" pitchFamily="34" charset="-128"/>
            </a:endParaRPr>
          </a:p>
          <a:p>
            <a:pPr lvl="1">
              <a:spcBef>
                <a:spcPts val="600"/>
              </a:spcBef>
            </a:pPr>
            <a:r>
              <a:rPr lang="en-US" altLang="en-US" dirty="0">
                <a:solidFill>
                  <a:srgbClr val="000099"/>
                </a:solidFill>
                <a:ea typeface="MS PGothic" panose="020B0600070205080204" pitchFamily="34" charset="-128"/>
              </a:rPr>
              <a:t>commands:</a:t>
            </a:r>
            <a:r>
              <a:rPr lang="en-US" altLang="en-US" dirty="0">
                <a:ea typeface="MS PGothic" panose="020B0600070205080204" pitchFamily="34" charset="-128"/>
              </a:rPr>
              <a:t> ASCII text</a:t>
            </a:r>
            <a:endParaRPr lang="en-US" altLang="en-US" dirty="0">
              <a:ea typeface="MS PGothic" panose="020B0600070205080204" pitchFamily="34" charset="-128"/>
            </a:endParaRPr>
          </a:p>
          <a:p>
            <a:pPr lvl="1">
              <a:spcBef>
                <a:spcPts val="600"/>
              </a:spcBef>
            </a:pPr>
            <a:r>
              <a:rPr lang="en-US" altLang="en-US" dirty="0">
                <a:solidFill>
                  <a:srgbClr val="000099"/>
                </a:solidFill>
                <a:ea typeface="MS PGothic" panose="020B0600070205080204" pitchFamily="34" charset="-128"/>
              </a:rPr>
              <a:t>response:</a:t>
            </a:r>
            <a:r>
              <a:rPr lang="en-US" altLang="en-US" dirty="0">
                <a:ea typeface="MS PGothic" panose="020B0600070205080204" pitchFamily="34" charset="-128"/>
              </a:rPr>
              <a:t> status code and phrase</a:t>
            </a:r>
            <a:endParaRPr lang="en-US" altLang="en-US" dirty="0">
              <a:ea typeface="MS PGothic" panose="020B0600070205080204" pitchFamily="34" charset="-128"/>
            </a:endParaRPr>
          </a:p>
          <a:p>
            <a:pPr>
              <a:spcBef>
                <a:spcPts val="600"/>
              </a:spcBef>
            </a:pPr>
            <a:r>
              <a:rPr lang="en-US" altLang="en-US" dirty="0">
                <a:ea typeface="MS PGothic" panose="020B0600070205080204" pitchFamily="34" charset="-128"/>
              </a:rPr>
              <a:t>messages must be in 7-bit ASCI</a:t>
            </a:r>
            <a:endParaRPr lang="en-US" altLang="en-US" sz="3200" dirty="0">
              <a:ea typeface="MS PGothic" panose="020B0600070205080204" pitchFamily="34" charset="-128"/>
            </a:endParaRPr>
          </a:p>
          <a:p>
            <a:pPr lvl="1"/>
            <a:endParaRPr lang="en-US" altLang="en-US" dirty="0">
              <a:ea typeface="MS PGothic" panose="020B0600070205080204" pitchFamily="34" charset="-128"/>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Scenario: Alice sends e-mail to Bob</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78" name="Rectangle 3"/>
          <p:cNvSpPr txBox="1">
            <a:spLocks noChangeArrowheads="1"/>
          </p:cNvSpPr>
          <p:nvPr/>
        </p:nvSpPr>
        <p:spPr>
          <a:xfrm>
            <a:off x="707567" y="1371600"/>
            <a:ext cx="5071156" cy="115388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2400" dirty="0">
                <a:ea typeface="MS PGothic" panose="020B0600070205080204" pitchFamily="34" charset="-128"/>
              </a:rPr>
              <a:t>1) Alice uses UA to compose e-mail message “</a:t>
            </a:r>
            <a:r>
              <a:rPr lang="en-US" altLang="ja-JP" sz="2400" dirty="0">
                <a:ea typeface="MS PGothic" panose="020B0600070205080204" pitchFamily="34" charset="-128"/>
              </a:rPr>
              <a:t>to” </a:t>
            </a:r>
            <a:r>
              <a:rPr lang="en-US" altLang="ja-JP" sz="2400" dirty="0" err="1">
                <a:ea typeface="MS PGothic" panose="020B0600070205080204" pitchFamily="34" charset="-128"/>
              </a:rPr>
              <a:t>bob@someschool.edu</a:t>
            </a:r>
            <a:endParaRPr lang="en-US" altLang="ja-JP" sz="2400" dirty="0">
              <a:ea typeface="MS PGothic" panose="020B0600070205080204" pitchFamily="34" charset="-128"/>
            </a:endParaRPr>
          </a:p>
          <a:p>
            <a:pPr>
              <a:buFont typeface="Wingdings" panose="05000000000000000000" pitchFamily="2" charset="2"/>
              <a:buNone/>
            </a:pPr>
            <a:endParaRPr lang="en-US" altLang="en-US" sz="2200" dirty="0">
              <a:ea typeface="MS PGothic" panose="020B0600070205080204" pitchFamily="34" charset="-128"/>
            </a:endParaRPr>
          </a:p>
        </p:txBody>
      </p:sp>
      <p:sp>
        <p:nvSpPr>
          <p:cNvPr id="79" name="Rectangle 4"/>
          <p:cNvSpPr txBox="1">
            <a:spLocks noChangeArrowheads="1"/>
          </p:cNvSpPr>
          <p:nvPr/>
        </p:nvSpPr>
        <p:spPr>
          <a:xfrm>
            <a:off x="6638017" y="1329168"/>
            <a:ext cx="5071155" cy="94639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2400" dirty="0">
                <a:ea typeface="MS PGothic" panose="020B0600070205080204" pitchFamily="34" charset="-128"/>
              </a:rPr>
              <a:t>4) SMTP client sends Alice’</a:t>
            </a:r>
            <a:r>
              <a:rPr lang="en-US" altLang="ja-JP" sz="2400" dirty="0">
                <a:ea typeface="MS PGothic" panose="020B0600070205080204" pitchFamily="34" charset="-128"/>
              </a:rPr>
              <a:t>s message over the TCP </a:t>
            </a:r>
            <a:r>
              <a:rPr lang="en-US" altLang="ja-JP" dirty="0">
                <a:ea typeface="MS PGothic" panose="020B0600070205080204" pitchFamily="34" charset="-128"/>
                <a:cs typeface="Calibri" panose="020F0502020204030204" pitchFamily="34" charset="0"/>
              </a:rPr>
              <a:t>connection</a:t>
            </a:r>
            <a:endParaRPr lang="en-US" altLang="en-US" sz="2400" dirty="0">
              <a:latin typeface="Gill Sans MT" panose="020B0502020104020203" pitchFamily="34" charset="77"/>
              <a:ea typeface="MS PGothic" panose="020B0600070205080204" pitchFamily="34" charset="-128"/>
            </a:endParaRPr>
          </a:p>
        </p:txBody>
      </p:sp>
      <p:grpSp>
        <p:nvGrpSpPr>
          <p:cNvPr id="255" name="Group 163"/>
          <p:cNvGrpSpPr/>
          <p:nvPr/>
        </p:nvGrpSpPr>
        <p:grpSpPr bwMode="auto">
          <a:xfrm>
            <a:off x="2304142" y="4981175"/>
            <a:ext cx="912813" cy="1054100"/>
            <a:chOff x="3574" y="550"/>
            <a:chExt cx="575" cy="664"/>
          </a:xfrm>
        </p:grpSpPr>
        <p:grpSp>
          <p:nvGrpSpPr>
            <p:cNvPr id="256" name="Group 164"/>
            <p:cNvGrpSpPr/>
            <p:nvPr/>
          </p:nvGrpSpPr>
          <p:grpSpPr bwMode="auto">
            <a:xfrm>
              <a:off x="3588" y="692"/>
              <a:ext cx="561" cy="522"/>
              <a:chOff x="-44" y="1473"/>
              <a:chExt cx="981" cy="1105"/>
            </a:xfrm>
          </p:grpSpPr>
          <p:pic>
            <p:nvPicPr>
              <p:cNvPr id="259" name="Picture 165"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166"/>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57"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8" name="Text Box 116"/>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user</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agent</a:t>
              </a: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61" name="Group 130"/>
          <p:cNvGrpSpPr/>
          <p:nvPr/>
        </p:nvGrpSpPr>
        <p:grpSpPr bwMode="auto">
          <a:xfrm>
            <a:off x="6014130" y="4712887"/>
            <a:ext cx="511175" cy="693738"/>
            <a:chOff x="4140" y="429"/>
            <a:chExt cx="1425" cy="2396"/>
          </a:xfrm>
        </p:grpSpPr>
        <p:sp>
          <p:nvSpPr>
            <p:cNvPr id="262" name="Freeform 131"/>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3" name="Rectangle 132"/>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4" name="Freeform 133"/>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5" name="Freeform 134"/>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6" name="Rectangle 135"/>
            <p:cNvSpPr>
              <a:spLocks noChangeArrowheads="1"/>
            </p:cNvSpPr>
            <p:nvPr/>
          </p:nvSpPr>
          <p:spPr bwMode="auto">
            <a:xfrm>
              <a:off x="4211" y="692"/>
              <a:ext cx="597" cy="49"/>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67" name="Group 136"/>
            <p:cNvGrpSpPr/>
            <p:nvPr/>
          </p:nvGrpSpPr>
          <p:grpSpPr bwMode="auto">
            <a:xfrm>
              <a:off x="4749" y="668"/>
              <a:ext cx="581" cy="145"/>
              <a:chOff x="614" y="2568"/>
              <a:chExt cx="725" cy="139"/>
            </a:xfrm>
          </p:grpSpPr>
          <p:sp>
            <p:nvSpPr>
              <p:cNvPr id="292" name="AutoShape 137"/>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3" name="AutoShape 138"/>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68" name="Rectangle 139"/>
            <p:cNvSpPr>
              <a:spLocks noChangeArrowheads="1"/>
            </p:cNvSpPr>
            <p:nvPr/>
          </p:nvSpPr>
          <p:spPr bwMode="auto">
            <a:xfrm>
              <a:off x="4224" y="1021"/>
              <a:ext cx="597"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69" name="Group 140"/>
            <p:cNvGrpSpPr/>
            <p:nvPr/>
          </p:nvGrpSpPr>
          <p:grpSpPr bwMode="auto">
            <a:xfrm>
              <a:off x="4747" y="994"/>
              <a:ext cx="581" cy="134"/>
              <a:chOff x="614" y="2568"/>
              <a:chExt cx="725" cy="139"/>
            </a:xfrm>
          </p:grpSpPr>
          <p:sp>
            <p:nvSpPr>
              <p:cNvPr id="290" name="AutoShape 141"/>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1" name="AutoShape 142"/>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70" name="Rectangle 143"/>
            <p:cNvSpPr>
              <a:spLocks noChangeArrowheads="1"/>
            </p:cNvSpPr>
            <p:nvPr/>
          </p:nvSpPr>
          <p:spPr bwMode="auto">
            <a:xfrm>
              <a:off x="4215" y="1356"/>
              <a:ext cx="597" cy="49"/>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1" name="Rectangle 144"/>
            <p:cNvSpPr>
              <a:spLocks noChangeArrowheads="1"/>
            </p:cNvSpPr>
            <p:nvPr/>
          </p:nvSpPr>
          <p:spPr bwMode="auto">
            <a:xfrm>
              <a:off x="4229" y="1657"/>
              <a:ext cx="597"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72" name="Group 145"/>
            <p:cNvGrpSpPr/>
            <p:nvPr/>
          </p:nvGrpSpPr>
          <p:grpSpPr bwMode="auto">
            <a:xfrm>
              <a:off x="4735" y="1627"/>
              <a:ext cx="582" cy="151"/>
              <a:chOff x="614" y="2568"/>
              <a:chExt cx="725" cy="139"/>
            </a:xfrm>
          </p:grpSpPr>
          <p:sp>
            <p:nvSpPr>
              <p:cNvPr id="288" name="AutoShape 146"/>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9" name="AutoShape 147"/>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73" name="Freeform 148"/>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74" name="Group 149"/>
            <p:cNvGrpSpPr/>
            <p:nvPr/>
          </p:nvGrpSpPr>
          <p:grpSpPr bwMode="auto">
            <a:xfrm>
              <a:off x="4739" y="1327"/>
              <a:ext cx="582" cy="139"/>
              <a:chOff x="614" y="2568"/>
              <a:chExt cx="725" cy="139"/>
            </a:xfrm>
          </p:grpSpPr>
          <p:sp>
            <p:nvSpPr>
              <p:cNvPr id="286" name="AutoShape 150"/>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7" name="AutoShape 151"/>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75" name="Rectangle 152"/>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6" name="Freeform 153"/>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7" name="Freeform 154"/>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8" name="Oval 155"/>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9" name="Freeform 156"/>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0" name="AutoShape 157"/>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1" name="AutoShape 158"/>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2" name="Oval 159"/>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3" name="Oval 160"/>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4" name="Oval 161"/>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5" name="Rectangle 162"/>
            <p:cNvSpPr>
              <a:spLocks noChangeArrowheads="1"/>
            </p:cNvSpPr>
            <p:nvPr/>
          </p:nvSpPr>
          <p:spPr bwMode="auto">
            <a:xfrm>
              <a:off x="5060" y="1833"/>
              <a:ext cx="89" cy="762"/>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94" name="Group 97"/>
          <p:cNvGrpSpPr/>
          <p:nvPr/>
        </p:nvGrpSpPr>
        <p:grpSpPr bwMode="auto">
          <a:xfrm>
            <a:off x="3836080" y="4768450"/>
            <a:ext cx="511175" cy="693737"/>
            <a:chOff x="4140" y="429"/>
            <a:chExt cx="1425" cy="2396"/>
          </a:xfrm>
        </p:grpSpPr>
        <p:sp>
          <p:nvSpPr>
            <p:cNvPr id="295" name="Freeform 98"/>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6" name="Rectangle 99"/>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7" name="Freeform 100"/>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8" name="Freeform 101"/>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9" name="Rectangle 102"/>
            <p:cNvSpPr>
              <a:spLocks noChangeArrowheads="1"/>
            </p:cNvSpPr>
            <p:nvPr/>
          </p:nvSpPr>
          <p:spPr bwMode="auto">
            <a:xfrm>
              <a:off x="4211" y="692"/>
              <a:ext cx="597" cy="49"/>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0" name="Group 103"/>
            <p:cNvGrpSpPr/>
            <p:nvPr/>
          </p:nvGrpSpPr>
          <p:grpSpPr bwMode="auto">
            <a:xfrm>
              <a:off x="4749" y="668"/>
              <a:ext cx="581" cy="145"/>
              <a:chOff x="614" y="2568"/>
              <a:chExt cx="725" cy="139"/>
            </a:xfrm>
          </p:grpSpPr>
          <p:sp>
            <p:nvSpPr>
              <p:cNvPr id="325" name="AutoShape 104"/>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6" name="AutoShape 105"/>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1" name="Rectangle 106"/>
            <p:cNvSpPr>
              <a:spLocks noChangeArrowheads="1"/>
            </p:cNvSpPr>
            <p:nvPr/>
          </p:nvSpPr>
          <p:spPr bwMode="auto">
            <a:xfrm>
              <a:off x="4224" y="1021"/>
              <a:ext cx="597"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2" name="Group 107"/>
            <p:cNvGrpSpPr/>
            <p:nvPr/>
          </p:nvGrpSpPr>
          <p:grpSpPr bwMode="auto">
            <a:xfrm>
              <a:off x="4747" y="994"/>
              <a:ext cx="581" cy="134"/>
              <a:chOff x="614" y="2568"/>
              <a:chExt cx="725" cy="139"/>
            </a:xfrm>
          </p:grpSpPr>
          <p:sp>
            <p:nvSpPr>
              <p:cNvPr id="323" name="AutoShape 108"/>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4" name="AutoShape 109"/>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3" name="Rectangle 110"/>
            <p:cNvSpPr>
              <a:spLocks noChangeArrowheads="1"/>
            </p:cNvSpPr>
            <p:nvPr/>
          </p:nvSpPr>
          <p:spPr bwMode="auto">
            <a:xfrm>
              <a:off x="4215" y="1356"/>
              <a:ext cx="597" cy="49"/>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4" name="Rectangle 111"/>
            <p:cNvSpPr>
              <a:spLocks noChangeArrowheads="1"/>
            </p:cNvSpPr>
            <p:nvPr/>
          </p:nvSpPr>
          <p:spPr bwMode="auto">
            <a:xfrm>
              <a:off x="4229" y="1657"/>
              <a:ext cx="597"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5" name="Group 112"/>
            <p:cNvGrpSpPr/>
            <p:nvPr/>
          </p:nvGrpSpPr>
          <p:grpSpPr bwMode="auto">
            <a:xfrm>
              <a:off x="4735" y="1627"/>
              <a:ext cx="582" cy="151"/>
              <a:chOff x="614" y="2568"/>
              <a:chExt cx="725" cy="139"/>
            </a:xfrm>
          </p:grpSpPr>
          <p:sp>
            <p:nvSpPr>
              <p:cNvPr id="321" name="AutoShape 113"/>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2" name="AutoShape 114"/>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6" name="Freeform 115"/>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7" name="Group 116"/>
            <p:cNvGrpSpPr/>
            <p:nvPr/>
          </p:nvGrpSpPr>
          <p:grpSpPr bwMode="auto">
            <a:xfrm>
              <a:off x="4739" y="1327"/>
              <a:ext cx="582" cy="139"/>
              <a:chOff x="614" y="2568"/>
              <a:chExt cx="725" cy="139"/>
            </a:xfrm>
          </p:grpSpPr>
          <p:sp>
            <p:nvSpPr>
              <p:cNvPr id="319" name="AutoShape 117"/>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0" name="AutoShape 118"/>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8" name="Rectangle 119"/>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9" name="Freeform 120"/>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0" name="Freeform 121"/>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1" name="Oval 122"/>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2" name="Freeform 123"/>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3" name="AutoShape 124"/>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4" name="AutoShape 125"/>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5" name="Oval 126"/>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6" name="Oval 127"/>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7" name="Oval 128"/>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8" name="Rectangle 129"/>
            <p:cNvSpPr>
              <a:spLocks noChangeArrowheads="1"/>
            </p:cNvSpPr>
            <p:nvPr/>
          </p:nvSpPr>
          <p:spPr bwMode="auto">
            <a:xfrm>
              <a:off x="5060" y="1833"/>
              <a:ext cx="89" cy="762"/>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27" name="Group 20"/>
          <p:cNvGrpSpPr/>
          <p:nvPr/>
        </p:nvGrpSpPr>
        <p:grpSpPr bwMode="auto">
          <a:xfrm>
            <a:off x="3969430" y="5055787"/>
            <a:ext cx="809625" cy="1049338"/>
            <a:chOff x="4296" y="2627"/>
            <a:chExt cx="510" cy="661"/>
          </a:xfrm>
        </p:grpSpPr>
        <p:sp>
          <p:nvSpPr>
            <p:cNvPr id="328" name="Rectangle 21"/>
            <p:cNvSpPr>
              <a:spLocks noChangeArrowheads="1"/>
            </p:cNvSpPr>
            <p:nvPr/>
          </p:nvSpPr>
          <p:spPr bwMode="auto">
            <a:xfrm>
              <a:off x="4296" y="2652"/>
              <a:ext cx="510" cy="636"/>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9" name="Text Box 22"/>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mail</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server</a:t>
              </a: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0" name="Rectangle 23"/>
            <p:cNvSpPr>
              <a:spLocks noChangeArrowheads="1"/>
            </p:cNvSpPr>
            <p:nvPr/>
          </p:nvSpPr>
          <p:spPr bwMode="auto">
            <a:xfrm>
              <a:off x="4320" y="3006"/>
              <a:ext cx="450" cy="120"/>
            </a:xfrm>
            <a:prstGeom prst="rect">
              <a:avLst/>
            </a:prstGeom>
            <a:solidFill>
              <a:srgbClr val="00FF00"/>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1" name="Line 24"/>
            <p:cNvSpPr>
              <a:spLocks noChangeShapeType="1"/>
            </p:cNvSpPr>
            <p:nvPr/>
          </p:nvSpPr>
          <p:spPr bwMode="auto">
            <a:xfrm>
              <a:off x="4369"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2" name="Line 25"/>
            <p:cNvSpPr>
              <a:spLocks noChangeShapeType="1"/>
            </p:cNvSpPr>
            <p:nvPr/>
          </p:nvSpPr>
          <p:spPr bwMode="auto">
            <a:xfrm>
              <a:off x="4478"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3" name="Line 26"/>
            <p:cNvSpPr>
              <a:spLocks noChangeShapeType="1"/>
            </p:cNvSpPr>
            <p:nvPr/>
          </p:nvSpPr>
          <p:spPr bwMode="auto">
            <a:xfrm>
              <a:off x="4533" y="3035"/>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4" name="Line 27"/>
            <p:cNvSpPr>
              <a:spLocks noChangeShapeType="1"/>
            </p:cNvSpPr>
            <p:nvPr/>
          </p:nvSpPr>
          <p:spPr bwMode="auto">
            <a:xfrm>
              <a:off x="4590"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5" name="Line 28"/>
            <p:cNvSpPr>
              <a:spLocks noChangeShapeType="1"/>
            </p:cNvSpPr>
            <p:nvPr/>
          </p:nvSpPr>
          <p:spPr bwMode="auto">
            <a:xfrm>
              <a:off x="4651"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6" name="Line 29"/>
            <p:cNvSpPr>
              <a:spLocks noChangeShapeType="1"/>
            </p:cNvSpPr>
            <p:nvPr/>
          </p:nvSpPr>
          <p:spPr bwMode="auto">
            <a:xfrm>
              <a:off x="4707"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7" name="Line 30"/>
            <p:cNvSpPr>
              <a:spLocks noChangeShapeType="1"/>
            </p:cNvSpPr>
            <p:nvPr/>
          </p:nvSpPr>
          <p:spPr bwMode="auto">
            <a:xfrm>
              <a:off x="4422"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8" name="Rectangle 31"/>
            <p:cNvSpPr>
              <a:spLocks noChangeArrowheads="1"/>
            </p:cNvSpPr>
            <p:nvPr/>
          </p:nvSpPr>
          <p:spPr bwMode="auto">
            <a:xfrm>
              <a:off x="4328"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9" name="Rectangle 32"/>
            <p:cNvSpPr>
              <a:spLocks noChangeArrowheads="1"/>
            </p:cNvSpPr>
            <p:nvPr/>
          </p:nvSpPr>
          <p:spPr bwMode="auto">
            <a:xfrm>
              <a:off x="4414"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0" name="Rectangle 33"/>
            <p:cNvSpPr>
              <a:spLocks noChangeArrowheads="1"/>
            </p:cNvSpPr>
            <p:nvPr/>
          </p:nvSpPr>
          <p:spPr bwMode="auto">
            <a:xfrm>
              <a:off x="4500" y="3172"/>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1" name="Rectangle 34"/>
            <p:cNvSpPr>
              <a:spLocks noChangeArrowheads="1"/>
            </p:cNvSpPr>
            <p:nvPr/>
          </p:nvSpPr>
          <p:spPr bwMode="auto">
            <a:xfrm>
              <a:off x="4597"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2" name="Rectangle 35"/>
            <p:cNvSpPr>
              <a:spLocks noChangeArrowheads="1"/>
            </p:cNvSpPr>
            <p:nvPr/>
          </p:nvSpPr>
          <p:spPr bwMode="auto">
            <a:xfrm>
              <a:off x="4693"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pic>
        <p:nvPicPr>
          <p:cNvPr id="343" name="Picture 36" descr="Alic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64367" y="5220887"/>
            <a:ext cx="561975" cy="69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4" name="Picture 37" descr="Bob"/>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54180" y="5125637"/>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5" name="Group 48"/>
          <p:cNvGrpSpPr/>
          <p:nvPr/>
        </p:nvGrpSpPr>
        <p:grpSpPr bwMode="auto">
          <a:xfrm>
            <a:off x="6160180" y="5001812"/>
            <a:ext cx="809625" cy="1049338"/>
            <a:chOff x="4296" y="2627"/>
            <a:chExt cx="510" cy="661"/>
          </a:xfrm>
        </p:grpSpPr>
        <p:sp>
          <p:nvSpPr>
            <p:cNvPr id="346" name="Rectangle 49"/>
            <p:cNvSpPr>
              <a:spLocks noChangeArrowheads="1"/>
            </p:cNvSpPr>
            <p:nvPr/>
          </p:nvSpPr>
          <p:spPr bwMode="auto">
            <a:xfrm>
              <a:off x="4296" y="2652"/>
              <a:ext cx="510" cy="636"/>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7" name="Text Box 50"/>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mail</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server</a:t>
              </a: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8" name="Rectangle 51"/>
            <p:cNvSpPr>
              <a:spLocks noChangeArrowheads="1"/>
            </p:cNvSpPr>
            <p:nvPr/>
          </p:nvSpPr>
          <p:spPr bwMode="auto">
            <a:xfrm>
              <a:off x="4320" y="3006"/>
              <a:ext cx="450" cy="120"/>
            </a:xfrm>
            <a:prstGeom prst="rect">
              <a:avLst/>
            </a:prstGeom>
            <a:solidFill>
              <a:srgbClr val="00FF00"/>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9" name="Line 52"/>
            <p:cNvSpPr>
              <a:spLocks noChangeShapeType="1"/>
            </p:cNvSpPr>
            <p:nvPr/>
          </p:nvSpPr>
          <p:spPr bwMode="auto">
            <a:xfrm>
              <a:off x="4369"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0" name="Line 53"/>
            <p:cNvSpPr>
              <a:spLocks noChangeShapeType="1"/>
            </p:cNvSpPr>
            <p:nvPr/>
          </p:nvSpPr>
          <p:spPr bwMode="auto">
            <a:xfrm>
              <a:off x="4478"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1" name="Line 54"/>
            <p:cNvSpPr>
              <a:spLocks noChangeShapeType="1"/>
            </p:cNvSpPr>
            <p:nvPr/>
          </p:nvSpPr>
          <p:spPr bwMode="auto">
            <a:xfrm>
              <a:off x="4533" y="3035"/>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2" name="Line 55"/>
            <p:cNvSpPr>
              <a:spLocks noChangeShapeType="1"/>
            </p:cNvSpPr>
            <p:nvPr/>
          </p:nvSpPr>
          <p:spPr bwMode="auto">
            <a:xfrm>
              <a:off x="4590"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3" name="Line 56"/>
            <p:cNvSpPr>
              <a:spLocks noChangeShapeType="1"/>
            </p:cNvSpPr>
            <p:nvPr/>
          </p:nvSpPr>
          <p:spPr bwMode="auto">
            <a:xfrm>
              <a:off x="4651"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4" name="Line 57"/>
            <p:cNvSpPr>
              <a:spLocks noChangeShapeType="1"/>
            </p:cNvSpPr>
            <p:nvPr/>
          </p:nvSpPr>
          <p:spPr bwMode="auto">
            <a:xfrm>
              <a:off x="4707" y="303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5" name="Line 58"/>
            <p:cNvSpPr>
              <a:spLocks noChangeShapeType="1"/>
            </p:cNvSpPr>
            <p:nvPr/>
          </p:nvSpPr>
          <p:spPr bwMode="auto">
            <a:xfrm>
              <a:off x="4422" y="303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6" name="Rectangle 59"/>
            <p:cNvSpPr>
              <a:spLocks noChangeArrowheads="1"/>
            </p:cNvSpPr>
            <p:nvPr/>
          </p:nvSpPr>
          <p:spPr bwMode="auto">
            <a:xfrm>
              <a:off x="4328"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7" name="Rectangle 60"/>
            <p:cNvSpPr>
              <a:spLocks noChangeArrowheads="1"/>
            </p:cNvSpPr>
            <p:nvPr/>
          </p:nvSpPr>
          <p:spPr bwMode="auto">
            <a:xfrm>
              <a:off x="4414" y="317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8" name="Rectangle 61"/>
            <p:cNvSpPr>
              <a:spLocks noChangeArrowheads="1"/>
            </p:cNvSpPr>
            <p:nvPr/>
          </p:nvSpPr>
          <p:spPr bwMode="auto">
            <a:xfrm>
              <a:off x="4500" y="3172"/>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9" name="Rectangle 62"/>
            <p:cNvSpPr>
              <a:spLocks noChangeArrowheads="1"/>
            </p:cNvSpPr>
            <p:nvPr/>
          </p:nvSpPr>
          <p:spPr bwMode="auto">
            <a:xfrm>
              <a:off x="4597"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0" name="Rectangle 63"/>
            <p:cNvSpPr>
              <a:spLocks noChangeArrowheads="1"/>
            </p:cNvSpPr>
            <p:nvPr/>
          </p:nvSpPr>
          <p:spPr bwMode="auto">
            <a:xfrm>
              <a:off x="4693" y="317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61" name="Line 69"/>
          <p:cNvSpPr>
            <a:spLocks noChangeShapeType="1"/>
          </p:cNvSpPr>
          <p:nvPr/>
        </p:nvSpPr>
        <p:spPr bwMode="auto">
          <a:xfrm>
            <a:off x="3089955" y="5593950"/>
            <a:ext cx="892175" cy="146050"/>
          </a:xfrm>
          <a:prstGeom prst="line">
            <a:avLst/>
          </a:prstGeom>
          <a:noFill/>
          <a:ln w="12700">
            <a:solidFill>
              <a:srgbClr val="3333CC"/>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2" name="Line 70"/>
          <p:cNvSpPr>
            <a:spLocks noChangeShapeType="1"/>
          </p:cNvSpPr>
          <p:nvPr/>
        </p:nvSpPr>
        <p:spPr bwMode="auto">
          <a:xfrm>
            <a:off x="4775880" y="5728887"/>
            <a:ext cx="1379537" cy="219075"/>
          </a:xfrm>
          <a:prstGeom prst="line">
            <a:avLst/>
          </a:prstGeom>
          <a:noFill/>
          <a:ln w="12700">
            <a:solidFill>
              <a:srgbClr val="3333CC"/>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3" name="Line 71"/>
          <p:cNvSpPr>
            <a:spLocks noChangeShapeType="1"/>
          </p:cNvSpPr>
          <p:nvPr/>
        </p:nvSpPr>
        <p:spPr bwMode="auto">
          <a:xfrm flipV="1">
            <a:off x="7006317" y="5508225"/>
            <a:ext cx="1027113" cy="427037"/>
          </a:xfrm>
          <a:prstGeom prst="line">
            <a:avLst/>
          </a:prstGeom>
          <a:noFill/>
          <a:ln w="12700">
            <a:solidFill>
              <a:srgbClr val="3333CC"/>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4" name="Oval 72"/>
          <p:cNvSpPr>
            <a:spLocks noChangeArrowheads="1"/>
          </p:cNvSpPr>
          <p:nvPr/>
        </p:nvSpPr>
        <p:spPr bwMode="auto">
          <a:xfrm>
            <a:off x="2220005" y="5043087"/>
            <a:ext cx="292100" cy="244475"/>
          </a:xfrm>
          <a:prstGeom prst="ellipse">
            <a:avLst/>
          </a:prstGeom>
          <a:solidFill>
            <a:srgbClr val="FFFFFF"/>
          </a:solidFill>
          <a:ln w="12700">
            <a:solidFill>
              <a:srgbClr val="3333CC"/>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1</a:t>
            </a: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5" name="Oval 74"/>
          <p:cNvSpPr>
            <a:spLocks noChangeArrowheads="1"/>
          </p:cNvSpPr>
          <p:nvPr/>
        </p:nvSpPr>
        <p:spPr bwMode="auto">
          <a:xfrm>
            <a:off x="3329667" y="5538387"/>
            <a:ext cx="292100" cy="244475"/>
          </a:xfrm>
          <a:prstGeom prst="ellipse">
            <a:avLst/>
          </a:prstGeom>
          <a:solidFill>
            <a:srgbClr val="FFFFFF"/>
          </a:solidFill>
          <a:ln w="12700">
            <a:solidFill>
              <a:srgbClr val="3333CC"/>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2</a:t>
            </a: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6" name="Oval 75"/>
          <p:cNvSpPr>
            <a:spLocks noChangeArrowheads="1"/>
          </p:cNvSpPr>
          <p:nvPr/>
        </p:nvSpPr>
        <p:spPr bwMode="auto">
          <a:xfrm>
            <a:off x="4201205" y="5617762"/>
            <a:ext cx="292100" cy="244475"/>
          </a:xfrm>
          <a:prstGeom prst="ellipse">
            <a:avLst/>
          </a:prstGeom>
          <a:solidFill>
            <a:srgbClr val="FFFFFF"/>
          </a:solidFill>
          <a:ln w="12700">
            <a:solidFill>
              <a:srgbClr val="3333CC"/>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3</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7" name="Oval 76"/>
          <p:cNvSpPr>
            <a:spLocks noChangeArrowheads="1"/>
          </p:cNvSpPr>
          <p:nvPr/>
        </p:nvSpPr>
        <p:spPr bwMode="auto">
          <a:xfrm>
            <a:off x="5312455" y="5703487"/>
            <a:ext cx="292100" cy="244475"/>
          </a:xfrm>
          <a:prstGeom prst="ellipse">
            <a:avLst/>
          </a:prstGeom>
          <a:solidFill>
            <a:srgbClr val="FFFFFF"/>
          </a:solidFill>
          <a:ln w="12700">
            <a:solidFill>
              <a:srgbClr val="3333CC"/>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4</a:t>
            </a: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8" name="Oval 77"/>
          <p:cNvSpPr>
            <a:spLocks noChangeArrowheads="1"/>
          </p:cNvSpPr>
          <p:nvPr/>
        </p:nvSpPr>
        <p:spPr bwMode="auto">
          <a:xfrm>
            <a:off x="6417355" y="6035275"/>
            <a:ext cx="292100" cy="244475"/>
          </a:xfrm>
          <a:prstGeom prst="ellipse">
            <a:avLst/>
          </a:prstGeom>
          <a:solidFill>
            <a:srgbClr val="FFFFFF"/>
          </a:solidFill>
          <a:ln w="12700">
            <a:solidFill>
              <a:srgbClr val="3333CC"/>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5</a:t>
            </a: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9" name="Oval 78"/>
          <p:cNvSpPr>
            <a:spLocks noChangeArrowheads="1"/>
          </p:cNvSpPr>
          <p:nvPr/>
        </p:nvSpPr>
        <p:spPr bwMode="auto">
          <a:xfrm>
            <a:off x="7339692" y="5605062"/>
            <a:ext cx="292100" cy="244475"/>
          </a:xfrm>
          <a:prstGeom prst="ellipse">
            <a:avLst/>
          </a:prstGeom>
          <a:solidFill>
            <a:srgbClr val="FFFFFF"/>
          </a:solidFill>
          <a:ln w="12700">
            <a:solidFill>
              <a:srgbClr val="3333CC"/>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6</a:t>
            </a: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0" name="Text Box 95"/>
          <p:cNvSpPr txBox="1">
            <a:spLocks noChangeArrowheads="1"/>
          </p:cNvSpPr>
          <p:nvPr/>
        </p:nvSpPr>
        <p:spPr bwMode="auto">
          <a:xfrm>
            <a:off x="3485242" y="6168625"/>
            <a:ext cx="1819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342900" marR="0" lvl="0" indent="-34290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Alice</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a:t>
            </a:r>
            <a:r>
              <a:rPr kumimoji="0" lang="en-US" altLang="ja-JP"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s mail server</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1" name="Text Box 96"/>
          <p:cNvSpPr txBox="1">
            <a:spLocks noChangeArrowheads="1"/>
          </p:cNvSpPr>
          <p:nvPr/>
        </p:nvSpPr>
        <p:spPr bwMode="auto">
          <a:xfrm>
            <a:off x="5760130" y="6232125"/>
            <a:ext cx="17414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342900" marR="0" lvl="0" indent="-34290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Bob</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a:t>
            </a:r>
            <a:r>
              <a:rPr kumimoji="0" lang="en-US" altLang="ja-JP"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s mail server</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72" name="Group 169"/>
          <p:cNvGrpSpPr/>
          <p:nvPr/>
        </p:nvGrpSpPr>
        <p:grpSpPr bwMode="auto">
          <a:xfrm>
            <a:off x="7833405" y="4908150"/>
            <a:ext cx="912812" cy="1054100"/>
            <a:chOff x="3574" y="550"/>
            <a:chExt cx="575" cy="664"/>
          </a:xfrm>
        </p:grpSpPr>
        <p:grpSp>
          <p:nvGrpSpPr>
            <p:cNvPr id="373" name="Group 170"/>
            <p:cNvGrpSpPr/>
            <p:nvPr/>
          </p:nvGrpSpPr>
          <p:grpSpPr bwMode="auto">
            <a:xfrm>
              <a:off x="3588" y="692"/>
              <a:ext cx="561" cy="522"/>
              <a:chOff x="-44" y="1473"/>
              <a:chExt cx="981" cy="1105"/>
            </a:xfrm>
          </p:grpSpPr>
          <p:pic>
            <p:nvPicPr>
              <p:cNvPr id="376" name="Picture 171"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Freeform 172"/>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4"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5" name="Text Box 116"/>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user</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agent</a:t>
              </a: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78" name="Rectangle 3"/>
          <p:cNvSpPr txBox="1">
            <a:spLocks noChangeArrowheads="1"/>
          </p:cNvSpPr>
          <p:nvPr/>
        </p:nvSpPr>
        <p:spPr>
          <a:xfrm>
            <a:off x="728885" y="2279968"/>
            <a:ext cx="5071156" cy="110336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2400" dirty="0">
                <a:ea typeface="MS PGothic" panose="020B0600070205080204" pitchFamily="34" charset="-128"/>
              </a:rPr>
              <a:t>2) Alice’</a:t>
            </a:r>
            <a:r>
              <a:rPr lang="en-US" altLang="ja-JP" sz="2400" dirty="0">
                <a:ea typeface="MS PGothic" panose="020B0600070205080204" pitchFamily="34" charset="-128"/>
              </a:rPr>
              <a:t>s UA sends message to her mail server; message placed in message queue</a:t>
            </a:r>
            <a:endParaRPr lang="en-US" altLang="ja-JP" sz="2400" dirty="0">
              <a:ea typeface="MS PGothic" panose="020B0600070205080204" pitchFamily="34" charset="-128"/>
            </a:endParaRPr>
          </a:p>
        </p:txBody>
      </p:sp>
      <p:sp>
        <p:nvSpPr>
          <p:cNvPr id="379" name="Rectangle 3"/>
          <p:cNvSpPr txBox="1">
            <a:spLocks noChangeArrowheads="1"/>
          </p:cNvSpPr>
          <p:nvPr/>
        </p:nvSpPr>
        <p:spPr>
          <a:xfrm>
            <a:off x="739565" y="3432318"/>
            <a:ext cx="5448733" cy="108917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2400" dirty="0">
                <a:ea typeface="MS PGothic" panose="020B0600070205080204" pitchFamily="34" charset="-128"/>
              </a:rPr>
              <a:t>3) client side of SMTP opens TCP connection with Bob’</a:t>
            </a:r>
            <a:r>
              <a:rPr lang="en-US" altLang="ja-JP" sz="2400" dirty="0">
                <a:ea typeface="MS PGothic" panose="020B0600070205080204" pitchFamily="34" charset="-128"/>
              </a:rPr>
              <a:t>s mail server</a:t>
            </a:r>
            <a:endParaRPr lang="en-US" altLang="en-US" sz="2400" dirty="0">
              <a:ea typeface="MS PGothic" panose="020B0600070205080204" pitchFamily="34" charset="-128"/>
            </a:endParaRPr>
          </a:p>
        </p:txBody>
      </p:sp>
      <p:sp>
        <p:nvSpPr>
          <p:cNvPr id="380" name="Rectangle 4"/>
          <p:cNvSpPr txBox="1">
            <a:spLocks noChangeArrowheads="1"/>
          </p:cNvSpPr>
          <p:nvPr/>
        </p:nvSpPr>
        <p:spPr>
          <a:xfrm>
            <a:off x="6633422" y="2275557"/>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2400" dirty="0">
                <a:ea typeface="MS PGothic" panose="020B0600070205080204" pitchFamily="34" charset="-128"/>
              </a:rPr>
              <a:t>5) Bob’</a:t>
            </a:r>
            <a:r>
              <a:rPr lang="en-US" altLang="ja-JP" sz="2400" dirty="0">
                <a:ea typeface="MS PGothic" panose="020B0600070205080204" pitchFamily="34" charset="-128"/>
              </a:rPr>
              <a:t>s mail server places the message in Bob’s mailbox</a:t>
            </a:r>
            <a:endParaRPr lang="en-US" altLang="ja-JP" sz="2400" dirty="0">
              <a:ea typeface="MS PGothic" panose="020B0600070205080204" pitchFamily="34" charset="-128"/>
            </a:endParaRPr>
          </a:p>
          <a:p>
            <a:pPr>
              <a:buFont typeface="Wingdings" panose="05000000000000000000" pitchFamily="2" charset="2"/>
              <a:buNone/>
            </a:pPr>
            <a:endParaRPr lang="en-US" altLang="en-US" sz="2400" dirty="0">
              <a:latin typeface="Gill Sans MT" panose="020B0502020104020203" pitchFamily="34" charset="77"/>
              <a:ea typeface="MS PGothic" panose="020B0600070205080204" pitchFamily="34" charset="-128"/>
            </a:endParaRPr>
          </a:p>
        </p:txBody>
      </p:sp>
      <p:sp>
        <p:nvSpPr>
          <p:cNvPr id="381" name="Rectangle 4"/>
          <p:cNvSpPr txBox="1">
            <a:spLocks noChangeArrowheads="1"/>
          </p:cNvSpPr>
          <p:nvPr/>
        </p:nvSpPr>
        <p:spPr>
          <a:xfrm>
            <a:off x="6630762" y="3460095"/>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2400" dirty="0">
                <a:ea typeface="MS PGothic" panose="020B0600070205080204" pitchFamily="34" charset="-128"/>
              </a:rPr>
              <a:t>6) Bob invokes his user agent to read message</a:t>
            </a:r>
            <a:endParaRPr lang="en-US" altLang="en-US" sz="2400" dirty="0">
              <a:ea typeface="MS PGothic" panose="020B0600070205080204" pitchFamily="34" charset="-128"/>
            </a:endParaRPr>
          </a:p>
          <a:p>
            <a:pPr>
              <a:buFont typeface="Wingdings" panose="05000000000000000000" pitchFamily="2" charset="2"/>
              <a:buNone/>
            </a:pPr>
            <a:endParaRPr lang="en-US" altLang="en-US" sz="2200" dirty="0">
              <a:latin typeface="Gill Sans MT" panose="020B0502020104020203" pitchFamily="34" charset="77"/>
              <a:ea typeface="MS PGothic" panose="020B0600070205080204" pitchFamily="34" charset="-128"/>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8"/>
                                        </p:tgtEl>
                                        <p:attrNameLst>
                                          <p:attrName>style.visibility</p:attrName>
                                        </p:attrNameLst>
                                      </p:cBhvr>
                                      <p:to>
                                        <p:strVal val="visible"/>
                                      </p:to>
                                    </p:set>
                                    <p:animEffect transition="in" filter="dissolve">
                                      <p:cBhvr>
                                        <p:cTn id="7" dur="500"/>
                                        <p:tgtEl>
                                          <p:spTgt spid="37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61"/>
                                        </p:tgtEl>
                                        <p:attrNameLst>
                                          <p:attrName>style.visibility</p:attrName>
                                        </p:attrNameLst>
                                      </p:cBhvr>
                                      <p:to>
                                        <p:strVal val="visible"/>
                                      </p:to>
                                    </p:set>
                                    <p:animEffect transition="in" filter="dissolve">
                                      <p:cBhvr>
                                        <p:cTn id="10" dur="500"/>
                                        <p:tgtEl>
                                          <p:spTgt spid="361"/>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65"/>
                                        </p:tgtEl>
                                        <p:attrNameLst>
                                          <p:attrName>style.visibility</p:attrName>
                                        </p:attrNameLst>
                                      </p:cBhvr>
                                      <p:to>
                                        <p:strVal val="visible"/>
                                      </p:to>
                                    </p:set>
                                    <p:animEffect transition="in" filter="dissolve">
                                      <p:cBhvr>
                                        <p:cTn id="13" dur="500"/>
                                        <p:tgtEl>
                                          <p:spTgt spid="3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66"/>
                                        </p:tgtEl>
                                        <p:attrNameLst>
                                          <p:attrName>style.visibility</p:attrName>
                                        </p:attrNameLst>
                                      </p:cBhvr>
                                      <p:to>
                                        <p:strVal val="visible"/>
                                      </p:to>
                                    </p:set>
                                    <p:animEffect transition="in" filter="dissolve">
                                      <p:cBhvr>
                                        <p:cTn id="18" dur="500"/>
                                        <p:tgtEl>
                                          <p:spTgt spid="36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79"/>
                                        </p:tgtEl>
                                        <p:attrNameLst>
                                          <p:attrName>style.visibility</p:attrName>
                                        </p:attrNameLst>
                                      </p:cBhvr>
                                      <p:to>
                                        <p:strVal val="visible"/>
                                      </p:to>
                                    </p:set>
                                    <p:animEffect transition="in" filter="dissolve">
                                      <p:cBhvr>
                                        <p:cTn id="21" dur="500"/>
                                        <p:tgtEl>
                                          <p:spTgt spid="379"/>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9"/>
                                        </p:tgtEl>
                                        <p:attrNameLst>
                                          <p:attrName>style.visibility</p:attrName>
                                        </p:attrNameLst>
                                      </p:cBhvr>
                                      <p:to>
                                        <p:strVal val="visible"/>
                                      </p:to>
                                    </p:set>
                                    <p:animEffect transition="in" filter="dissolve">
                                      <p:cBhvr>
                                        <p:cTn id="26" dur="500"/>
                                        <p:tgtEl>
                                          <p:spTgt spid="7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62"/>
                                        </p:tgtEl>
                                        <p:attrNameLst>
                                          <p:attrName>style.visibility</p:attrName>
                                        </p:attrNameLst>
                                      </p:cBhvr>
                                      <p:to>
                                        <p:strVal val="visible"/>
                                      </p:to>
                                    </p:set>
                                    <p:animEffect transition="in" filter="dissolve">
                                      <p:cBhvr>
                                        <p:cTn id="29" dur="500"/>
                                        <p:tgtEl>
                                          <p:spTgt spid="36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367"/>
                                        </p:tgtEl>
                                        <p:attrNameLst>
                                          <p:attrName>style.visibility</p:attrName>
                                        </p:attrNameLst>
                                      </p:cBhvr>
                                      <p:to>
                                        <p:strVal val="visible"/>
                                      </p:to>
                                    </p:set>
                                    <p:animEffect transition="in" filter="dissolve">
                                      <p:cBhvr>
                                        <p:cTn id="32" dur="500"/>
                                        <p:tgtEl>
                                          <p:spTgt spid="36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68"/>
                                        </p:tgtEl>
                                        <p:attrNameLst>
                                          <p:attrName>style.visibility</p:attrName>
                                        </p:attrNameLst>
                                      </p:cBhvr>
                                      <p:to>
                                        <p:strVal val="visible"/>
                                      </p:to>
                                    </p:set>
                                    <p:animEffect transition="in" filter="dissolve">
                                      <p:cBhvr>
                                        <p:cTn id="37" dur="500"/>
                                        <p:tgtEl>
                                          <p:spTgt spid="368"/>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380"/>
                                        </p:tgtEl>
                                        <p:attrNameLst>
                                          <p:attrName>style.visibility</p:attrName>
                                        </p:attrNameLst>
                                      </p:cBhvr>
                                      <p:to>
                                        <p:strVal val="visible"/>
                                      </p:to>
                                    </p:set>
                                    <p:animEffect transition="in" filter="dissolve">
                                      <p:cBhvr>
                                        <p:cTn id="40" dur="500"/>
                                        <p:tgtEl>
                                          <p:spTgt spid="380"/>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381"/>
                                        </p:tgtEl>
                                        <p:attrNameLst>
                                          <p:attrName>style.visibility</p:attrName>
                                        </p:attrNameLst>
                                      </p:cBhvr>
                                      <p:to>
                                        <p:strVal val="visible"/>
                                      </p:to>
                                    </p:set>
                                    <p:animEffect transition="in" filter="dissolve">
                                      <p:cBhvr>
                                        <p:cTn id="45" dur="500"/>
                                        <p:tgtEl>
                                          <p:spTgt spid="381"/>
                                        </p:tgtEl>
                                      </p:cBhvr>
                                    </p:animEffect>
                                  </p:childTnLst>
                                </p:cTn>
                              </p:par>
                              <p:par>
                                <p:cTn id="46" presetID="9" presetClass="entr" presetSubtype="0" fill="hold" grpId="0" nodeType="withEffect">
                                  <p:stCondLst>
                                    <p:cond delay="0"/>
                                  </p:stCondLst>
                                  <p:childTnLst>
                                    <p:set>
                                      <p:cBhvr>
                                        <p:cTn id="47" dur="1" fill="hold">
                                          <p:stCondLst>
                                            <p:cond delay="0"/>
                                          </p:stCondLst>
                                        </p:cTn>
                                        <p:tgtEl>
                                          <p:spTgt spid="363"/>
                                        </p:tgtEl>
                                        <p:attrNameLst>
                                          <p:attrName>style.visibility</p:attrName>
                                        </p:attrNameLst>
                                      </p:cBhvr>
                                      <p:to>
                                        <p:strVal val="visible"/>
                                      </p:to>
                                    </p:set>
                                    <p:animEffect transition="in" filter="dissolve">
                                      <p:cBhvr>
                                        <p:cTn id="48" dur="500"/>
                                        <p:tgtEl>
                                          <p:spTgt spid="363"/>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369"/>
                                        </p:tgtEl>
                                        <p:attrNameLst>
                                          <p:attrName>style.visibility</p:attrName>
                                        </p:attrNameLst>
                                      </p:cBhvr>
                                      <p:to>
                                        <p:strVal val="visible"/>
                                      </p:to>
                                    </p:set>
                                    <p:animEffect transition="in" filter="dissolve">
                                      <p:cBhvr>
                                        <p:cTn id="51" dur="500"/>
                                        <p:tgtEl>
                                          <p:spTgt spid="3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361" grpId="0" animBg="1"/>
      <p:bldP spid="362" grpId="0" animBg="1"/>
      <p:bldP spid="363" grpId="0" animBg="1"/>
      <p:bldP spid="365" grpId="0" animBg="1"/>
      <p:bldP spid="366" grpId="0" animBg="1"/>
      <p:bldP spid="367" grpId="0" animBg="1"/>
      <p:bldP spid="368" grpId="0" animBg="1"/>
      <p:bldP spid="369" grpId="0" animBg="1"/>
      <p:bldP spid="378" grpId="0"/>
      <p:bldP spid="379" grpId="0"/>
      <p:bldP spid="380" grpId="0"/>
      <p:bldP spid="381"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Sample SMTP interaction</a:t>
            </a:r>
            <a:endParaRPr lang="en-US" sz="4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33" name="Rectangle 3"/>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b="1" dirty="0">
                <a:latin typeface="Courier New" panose="02070309020205020404" pitchFamily="49" charset="0"/>
              </a:rPr>
              <a:t>     </a:t>
            </a:r>
            <a:r>
              <a:rPr lang="en-US" altLang="en-US" sz="2200" b="1" dirty="0">
                <a:latin typeface="Courier New" panose="02070309020205020404" pitchFamily="49" charset="0"/>
              </a:rPr>
              <a:t>S: 220 </a:t>
            </a:r>
            <a:r>
              <a:rPr lang="en-US" altLang="en-US" sz="2200" b="1" dirty="0" err="1">
                <a:latin typeface="Courier New" panose="02070309020205020404" pitchFamily="49" charset="0"/>
              </a:rPr>
              <a:t>hamburger.edu</a:t>
            </a:r>
            <a:r>
              <a:rPr lang="en-US" altLang="en-US" sz="2200" b="1" dirty="0">
                <a:latin typeface="Courier New" panose="02070309020205020404" pitchFamily="49" charset="0"/>
              </a:rPr>
              <a:t>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C: HELO </a:t>
            </a:r>
            <a:r>
              <a:rPr lang="en-US" altLang="en-US" sz="2200" b="1" dirty="0" err="1">
                <a:latin typeface="Courier New" panose="02070309020205020404" pitchFamily="49" charset="0"/>
              </a:rPr>
              <a:t>crepes.fr</a:t>
            </a:r>
            <a:r>
              <a:rPr lang="en-US" altLang="en-US" sz="2200" b="1" dirty="0">
                <a:latin typeface="Courier New" panose="02070309020205020404" pitchFamily="49" charset="0"/>
              </a:rPr>
              <a:t>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S: 250  Hello </a:t>
            </a:r>
            <a:r>
              <a:rPr lang="en-US" altLang="en-US" sz="2200" b="1" dirty="0" err="1">
                <a:latin typeface="Courier New" panose="02070309020205020404" pitchFamily="49" charset="0"/>
              </a:rPr>
              <a:t>crepes.fr</a:t>
            </a:r>
            <a:r>
              <a:rPr lang="en-US" altLang="en-US" sz="2200" b="1" dirty="0">
                <a:latin typeface="Courier New" panose="02070309020205020404" pitchFamily="49" charset="0"/>
              </a:rPr>
              <a:t>, pleased to meet you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C: MAIL FROM: &lt;</a:t>
            </a:r>
            <a:r>
              <a:rPr lang="en-US" altLang="en-US" sz="2200" b="1" dirty="0" err="1">
                <a:latin typeface="Courier New" panose="02070309020205020404" pitchFamily="49" charset="0"/>
              </a:rPr>
              <a:t>alice@crepes.fr</a:t>
            </a:r>
            <a:r>
              <a:rPr lang="en-US" altLang="en-US" sz="2200" b="1" dirty="0">
                <a:latin typeface="Courier New" panose="02070309020205020404" pitchFamily="49" charset="0"/>
              </a:rPr>
              <a:t>&gt;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S: 250 </a:t>
            </a:r>
            <a:r>
              <a:rPr lang="en-US" altLang="en-US" sz="2200" b="1" dirty="0" err="1">
                <a:latin typeface="Courier New" panose="02070309020205020404" pitchFamily="49" charset="0"/>
              </a:rPr>
              <a:t>alice@crepes.fr</a:t>
            </a:r>
            <a:r>
              <a:rPr lang="en-US" altLang="en-US" sz="2200" b="1" dirty="0">
                <a:latin typeface="Courier New" panose="02070309020205020404" pitchFamily="49" charset="0"/>
              </a:rPr>
              <a:t>... Sender ok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C: RCPT TO: &lt;</a:t>
            </a:r>
            <a:r>
              <a:rPr lang="en-US" altLang="en-US" sz="2200" b="1" dirty="0" err="1">
                <a:latin typeface="Courier New" panose="02070309020205020404" pitchFamily="49" charset="0"/>
              </a:rPr>
              <a:t>bob@hamburger.edu</a:t>
            </a:r>
            <a:r>
              <a:rPr lang="en-US" altLang="en-US" sz="2200" b="1" dirty="0">
                <a:latin typeface="Courier New" panose="02070309020205020404" pitchFamily="49" charset="0"/>
              </a:rPr>
              <a:t>&gt;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S: 250 </a:t>
            </a:r>
            <a:r>
              <a:rPr lang="en-US" altLang="en-US" sz="2200" b="1" dirty="0" err="1">
                <a:latin typeface="Courier New" panose="02070309020205020404" pitchFamily="49" charset="0"/>
              </a:rPr>
              <a:t>bob@hamburger.edu</a:t>
            </a:r>
            <a:r>
              <a:rPr lang="en-US" altLang="en-US" sz="2200" b="1" dirty="0">
                <a:latin typeface="Courier New" panose="02070309020205020404" pitchFamily="49" charset="0"/>
              </a:rPr>
              <a:t> ... Recipient ok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C: DATA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S: 354 Enter mail, end with "." on a line by itself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C: Do you like ketchup?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C: How about pickles?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C: .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S: 250 Message accepted for delivery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C: QUIT </a:t>
            </a:r>
            <a:endParaRPr lang="en-US" altLang="en-US" sz="2200" b="1" dirty="0">
              <a:latin typeface="Courier New" panose="02070309020205020404" pitchFamily="49" charset="0"/>
            </a:endParaRPr>
          </a:p>
          <a:p>
            <a:pPr>
              <a:spcBef>
                <a:spcPct val="0"/>
              </a:spcBef>
              <a:buClrTx/>
              <a:buSzTx/>
              <a:buFontTx/>
              <a:buNone/>
            </a:pPr>
            <a:r>
              <a:rPr lang="en-US" altLang="en-US" sz="2200" b="1" dirty="0">
                <a:latin typeface="Courier New" panose="02070309020205020404" pitchFamily="49" charset="0"/>
              </a:rPr>
              <a:t>     S: 221 </a:t>
            </a:r>
            <a:r>
              <a:rPr lang="en-US" altLang="en-US" sz="2200" b="1" dirty="0" err="1">
                <a:latin typeface="Courier New" panose="02070309020205020404" pitchFamily="49" charset="0"/>
              </a:rPr>
              <a:t>hamburger.edu</a:t>
            </a:r>
            <a:r>
              <a:rPr lang="en-US" altLang="en-US" sz="2200" b="1" dirty="0">
                <a:latin typeface="Courier New" panose="02070309020205020404" pitchFamily="49" charset="0"/>
              </a:rPr>
              <a:t> closing connection</a:t>
            </a:r>
            <a:endParaRPr lang="en-US" altLang="en-US" sz="2200" dirty="0">
              <a:latin typeface="Times New Roman" panose="02020603050405020304" pitchFamily="18" charset="0"/>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Try SMTP interaction for yourself:</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5" name="Rectangle 3"/>
          <p:cNvSpPr txBox="1">
            <a:spLocks noChangeArrowheads="1"/>
          </p:cNvSpPr>
          <p:nvPr/>
        </p:nvSpPr>
        <p:spPr>
          <a:xfrm>
            <a:off x="798691" y="1303792"/>
            <a:ext cx="1015659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altLang="en-US" dirty="0">
                <a:solidFill>
                  <a:srgbClr val="C00000"/>
                </a:solidFill>
                <a:ea typeface="MS PGothic" panose="020B0600070205080204" pitchFamily="34" charset="-128"/>
              </a:rPr>
              <a:t>telnet &lt;</a:t>
            </a:r>
            <a:r>
              <a:rPr lang="en-US" altLang="en-US" dirty="0" err="1">
                <a:solidFill>
                  <a:srgbClr val="C00000"/>
                </a:solidFill>
                <a:ea typeface="MS PGothic" panose="020B0600070205080204" pitchFamily="34" charset="-128"/>
              </a:rPr>
              <a:t>servername</a:t>
            </a:r>
            <a:r>
              <a:rPr lang="en-US" altLang="en-US" dirty="0">
                <a:solidFill>
                  <a:srgbClr val="C00000"/>
                </a:solidFill>
                <a:ea typeface="MS PGothic" panose="020B0600070205080204" pitchFamily="34" charset="-128"/>
              </a:rPr>
              <a:t>&gt; 25</a:t>
            </a:r>
            <a:endParaRPr lang="en-US" altLang="en-US" dirty="0">
              <a:solidFill>
                <a:srgbClr val="C00000"/>
              </a:solidFill>
              <a:ea typeface="MS PGothic" panose="020B0600070205080204" pitchFamily="34" charset="-128"/>
            </a:endParaRPr>
          </a:p>
          <a:p>
            <a:pPr marL="519430" indent="-288925"/>
            <a:r>
              <a:rPr lang="en-US" altLang="en-US" dirty="0">
                <a:ea typeface="MS PGothic" panose="020B0600070205080204" pitchFamily="34" charset="-128"/>
              </a:rPr>
              <a:t>see 220 reply from server</a:t>
            </a:r>
            <a:endParaRPr lang="en-US" altLang="en-US" dirty="0">
              <a:ea typeface="MS PGothic" panose="020B0600070205080204" pitchFamily="34" charset="-128"/>
            </a:endParaRPr>
          </a:p>
          <a:p>
            <a:pPr marL="519430" indent="-288925"/>
            <a:r>
              <a:rPr lang="en-US" altLang="en-US" dirty="0">
                <a:ea typeface="MS PGothic" panose="020B0600070205080204" pitchFamily="34" charset="-128"/>
              </a:rPr>
              <a:t>enter HELO, MAIL FROM:, RCPT TO:, DATA, QUIT commands </a:t>
            </a:r>
            <a:endParaRPr lang="en-US" altLang="en-US" dirty="0">
              <a:ea typeface="MS PGothic" panose="020B0600070205080204" pitchFamily="34" charset="-128"/>
            </a:endParaRPr>
          </a:p>
          <a:p>
            <a:pPr>
              <a:buFont typeface="Wingdings" panose="05000000000000000000" pitchFamily="2" charset="2"/>
              <a:buNone/>
            </a:pPr>
            <a:r>
              <a:rPr lang="en-US" altLang="en-US" dirty="0">
                <a:ea typeface="MS PGothic" panose="020B0600070205080204" pitchFamily="34" charset="-128"/>
              </a:rPr>
              <a:t>above lets you send email without using e-mail client (reader)</a:t>
            </a:r>
            <a:endParaRPr lang="en-US" altLang="en-US" dirty="0">
              <a:ea typeface="MS PGothic" panose="020B0600070205080204" pitchFamily="34" charset="-128"/>
            </a:endParaRPr>
          </a:p>
          <a:p>
            <a:pPr>
              <a:buFont typeface="Wingdings" panose="05000000000000000000" pitchFamily="2" charset="2"/>
              <a:buNone/>
            </a:pPr>
            <a:endParaRPr lang="en-US" altLang="en-US" dirty="0">
              <a:ea typeface="MS PGothic" panose="020B0600070205080204" pitchFamily="34" charset="-128"/>
            </a:endParaRPr>
          </a:p>
          <a:p>
            <a:pPr>
              <a:buFont typeface="Wingdings" panose="05000000000000000000" pitchFamily="2" charset="2"/>
              <a:buNone/>
            </a:pPr>
            <a:r>
              <a:rPr lang="en-US" altLang="en-US" sz="2000" i="1" dirty="0">
                <a:ea typeface="MS PGothic" panose="020B0600070205080204" pitchFamily="34" charset="-128"/>
              </a:rPr>
              <a:t>Note: this will only work if &lt;</a:t>
            </a:r>
            <a:r>
              <a:rPr lang="en-US" altLang="en-US" sz="2000" i="1" dirty="0" err="1">
                <a:ea typeface="MS PGothic" panose="020B0600070205080204" pitchFamily="34" charset="-128"/>
              </a:rPr>
              <a:t>servername</a:t>
            </a:r>
            <a:r>
              <a:rPr lang="en-US" altLang="en-US" sz="2000" i="1" dirty="0">
                <a:ea typeface="MS PGothic" panose="020B0600070205080204" pitchFamily="34" charset="-128"/>
              </a:rPr>
              <a:t>&gt; allows telnet connections to port 25 (this is becoming increasingly rare because of security concerns)</a:t>
            </a:r>
            <a:endParaRPr lang="en-US" altLang="en-US" sz="2000" i="1" dirty="0">
              <a:ea typeface="MS PGothic" panose="020B0600070205080204" pitchFamily="34" charset="-128"/>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SMTP: closing observations</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8" name="Rectangle 3"/>
          <p:cNvSpPr txBox="1">
            <a:spLocks noChangeArrowheads="1"/>
          </p:cNvSpPr>
          <p:nvPr/>
        </p:nvSpPr>
        <p:spPr>
          <a:xfrm>
            <a:off x="7119664" y="1518446"/>
            <a:ext cx="419462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ea typeface="MS PGothic" panose="020B0600070205080204" pitchFamily="34" charset="-128"/>
              </a:rPr>
              <a:t>SMTP uses persistent connections</a:t>
            </a:r>
            <a:endParaRPr lang="en-US" altLang="en-US" dirty="0">
              <a:ea typeface="MS PGothic" panose="020B0600070205080204" pitchFamily="34" charset="-128"/>
            </a:endParaRPr>
          </a:p>
          <a:p>
            <a:r>
              <a:rPr lang="en-US" altLang="en-US" dirty="0">
                <a:ea typeface="MS PGothic" panose="020B0600070205080204" pitchFamily="34" charset="-128"/>
              </a:rPr>
              <a:t>SMTP requires message (header &amp; body) to be in 7-bit ASCII</a:t>
            </a:r>
            <a:endParaRPr lang="en-US" altLang="en-US" dirty="0">
              <a:ea typeface="MS PGothic" panose="020B0600070205080204" pitchFamily="34" charset="-128"/>
            </a:endParaRPr>
          </a:p>
          <a:p>
            <a:r>
              <a:rPr lang="en-US" altLang="en-US" dirty="0">
                <a:ea typeface="MS PGothic" panose="020B0600070205080204" pitchFamily="34" charset="-128"/>
              </a:rPr>
              <a:t>SMTP server uses CRLF.CRLF to determine end of message</a:t>
            </a:r>
            <a:endParaRPr lang="en-US" altLang="en-US" dirty="0">
              <a:ea typeface="MS PGothic" panose="020B0600070205080204" pitchFamily="34" charset="-128"/>
            </a:endParaRPr>
          </a:p>
        </p:txBody>
      </p:sp>
      <p:sp>
        <p:nvSpPr>
          <p:cNvPr id="10" name="Rectangle 4"/>
          <p:cNvSpPr txBox="1">
            <a:spLocks noChangeArrowheads="1"/>
          </p:cNvSpPr>
          <p:nvPr/>
        </p:nvSpPr>
        <p:spPr>
          <a:xfrm>
            <a:off x="651330" y="1460390"/>
            <a:ext cx="618308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i="1" dirty="0">
                <a:solidFill>
                  <a:srgbClr val="CC0000"/>
                </a:solidFill>
                <a:ea typeface="MS PGothic" panose="020B0600070205080204" pitchFamily="34" charset="-128"/>
              </a:rPr>
              <a:t>comparison with HTTP:</a:t>
            </a:r>
            <a:endParaRPr lang="en-US" altLang="en-US" sz="3200" i="1" dirty="0">
              <a:solidFill>
                <a:srgbClr val="CC0000"/>
              </a:solidFill>
              <a:ea typeface="MS PGothic" panose="020B0600070205080204" pitchFamily="34" charset="-128"/>
            </a:endParaRPr>
          </a:p>
          <a:p>
            <a:pPr marL="576580" indent="-317500">
              <a:spcBef>
                <a:spcPct val="50000"/>
              </a:spcBef>
            </a:pPr>
            <a:r>
              <a:rPr lang="en-US" altLang="en-US" dirty="0">
                <a:ea typeface="MS PGothic" panose="020B0600070205080204" pitchFamily="34" charset="-128"/>
              </a:rPr>
              <a:t>HTTP: pull</a:t>
            </a:r>
            <a:endParaRPr lang="en-US" altLang="en-US" dirty="0">
              <a:ea typeface="MS PGothic" panose="020B0600070205080204" pitchFamily="34" charset="-128"/>
            </a:endParaRPr>
          </a:p>
          <a:p>
            <a:pPr marL="576580" indent="-317500">
              <a:spcAft>
                <a:spcPct val="50000"/>
              </a:spcAft>
            </a:pPr>
            <a:r>
              <a:rPr lang="en-US" altLang="en-US" dirty="0">
                <a:ea typeface="MS PGothic" panose="020B0600070205080204" pitchFamily="34" charset="-128"/>
              </a:rPr>
              <a:t>SMTP: push</a:t>
            </a:r>
            <a:endParaRPr lang="en-US" altLang="en-US" dirty="0">
              <a:ea typeface="MS PGothic" panose="020B0600070205080204" pitchFamily="34" charset="-128"/>
            </a:endParaRPr>
          </a:p>
          <a:p>
            <a:pPr marL="576580" indent="-317500">
              <a:spcAft>
                <a:spcPct val="50000"/>
              </a:spcAft>
            </a:pPr>
            <a:r>
              <a:rPr lang="en-US" altLang="en-US" dirty="0">
                <a:ea typeface="MS PGothic" panose="020B0600070205080204" pitchFamily="34" charset="-128"/>
              </a:rPr>
              <a:t>both have ASCII command/response interaction, status codes</a:t>
            </a:r>
            <a:endParaRPr lang="en-US" altLang="en-US" dirty="0">
              <a:ea typeface="MS PGothic" panose="020B0600070205080204" pitchFamily="34" charset="-128"/>
            </a:endParaRPr>
          </a:p>
          <a:p>
            <a:pPr marL="576580" indent="-317500"/>
            <a:r>
              <a:rPr lang="en-US" altLang="en-US" dirty="0">
                <a:ea typeface="MS PGothic" panose="020B0600070205080204" pitchFamily="34" charset="-128"/>
              </a:rPr>
              <a:t>HTTP: each object encapsulated in its own response message</a:t>
            </a:r>
            <a:endParaRPr lang="en-US" altLang="en-US" dirty="0">
              <a:ea typeface="MS PGothic" panose="020B0600070205080204" pitchFamily="34" charset="-128"/>
            </a:endParaRPr>
          </a:p>
          <a:p>
            <a:pPr marL="576580" indent="-317500"/>
            <a:r>
              <a:rPr lang="en-US" altLang="en-US" dirty="0">
                <a:ea typeface="MS PGothic" panose="020B0600070205080204" pitchFamily="34" charset="-128"/>
              </a:rPr>
              <a:t>SMTP: multiple objects sent in multipart message</a:t>
            </a:r>
            <a:endParaRPr lang="en-US" altLang="en-US" dirty="0">
              <a:ea typeface="MS PGothic" panose="020B0600070205080204" pitchFamily="34" charset="-128"/>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Mail message format</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6" name="Rectangle 3"/>
          <p:cNvSpPr txBox="1">
            <a:spLocks noChangeArrowheads="1"/>
          </p:cNvSpPr>
          <p:nvPr/>
        </p:nvSpPr>
        <p:spPr>
          <a:xfrm>
            <a:off x="819955" y="1518446"/>
            <a:ext cx="6379126"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605" indent="0">
              <a:buFont typeface="Wingdings" panose="05000000000000000000" pitchFamily="2" charset="2"/>
              <a:buNone/>
            </a:pPr>
            <a:r>
              <a:rPr lang="en-US" altLang="en-US" dirty="0">
                <a:ea typeface="MS PGothic" panose="020B0600070205080204" pitchFamily="34" charset="-128"/>
              </a:rPr>
              <a:t>SMTP: protocol for exchanging e-mail messages, defined in RFC 531 (like HTTP)</a:t>
            </a:r>
            <a:endParaRPr lang="en-US" altLang="en-US" dirty="0">
              <a:ea typeface="MS PGothic" panose="020B0600070205080204" pitchFamily="34" charset="-128"/>
            </a:endParaRPr>
          </a:p>
          <a:p>
            <a:pPr marL="14605" indent="0">
              <a:buFont typeface="Wingdings" panose="05000000000000000000" pitchFamily="2" charset="2"/>
              <a:buNone/>
            </a:pPr>
            <a:r>
              <a:rPr lang="en-US" altLang="en-US" dirty="0">
                <a:ea typeface="MS PGothic" panose="020B0600070205080204" pitchFamily="34" charset="-128"/>
              </a:rPr>
              <a:t>RFC 822 defines </a:t>
            </a:r>
            <a:r>
              <a:rPr lang="en-US" altLang="en-US" i="1" dirty="0">
                <a:ea typeface="MS PGothic" panose="020B0600070205080204" pitchFamily="34" charset="-128"/>
              </a:rPr>
              <a:t>syntax</a:t>
            </a:r>
            <a:r>
              <a:rPr lang="en-US" altLang="en-US" dirty="0">
                <a:ea typeface="MS PGothic" panose="020B0600070205080204" pitchFamily="34" charset="-128"/>
              </a:rPr>
              <a:t> for e-mail message itself (like HTML)</a:t>
            </a:r>
            <a:endParaRPr lang="en-US" altLang="en-US" dirty="0">
              <a:ea typeface="MS PGothic" panose="020B0600070205080204" pitchFamily="34" charset="-128"/>
            </a:endParaRPr>
          </a:p>
          <a:p>
            <a:pPr marL="346075" indent="-217805"/>
            <a:r>
              <a:rPr lang="en-US" altLang="en-US" sz="2400" dirty="0">
                <a:ea typeface="MS PGothic" panose="020B0600070205080204" pitchFamily="34" charset="-128"/>
              </a:rPr>
              <a:t>header lines, e.g.,</a:t>
            </a:r>
            <a:endParaRPr lang="en-US" altLang="en-US" sz="2400" dirty="0">
              <a:ea typeface="MS PGothic" panose="020B0600070205080204" pitchFamily="34" charset="-128"/>
            </a:endParaRPr>
          </a:p>
          <a:p>
            <a:pPr marL="635000" lvl="1" indent="-288925"/>
            <a:r>
              <a:rPr lang="en-US" altLang="en-US" sz="2000" dirty="0">
                <a:ea typeface="MS PGothic" panose="020B0600070205080204" pitchFamily="34" charset="-128"/>
              </a:rPr>
              <a:t>To:</a:t>
            </a:r>
            <a:endParaRPr lang="en-US" altLang="en-US" sz="2000" dirty="0">
              <a:ea typeface="MS PGothic" panose="020B0600070205080204" pitchFamily="34" charset="-128"/>
            </a:endParaRPr>
          </a:p>
          <a:p>
            <a:pPr marL="635000" lvl="1" indent="-288925"/>
            <a:r>
              <a:rPr lang="en-US" altLang="en-US" sz="2000" dirty="0">
                <a:ea typeface="MS PGothic" panose="020B0600070205080204" pitchFamily="34" charset="-128"/>
              </a:rPr>
              <a:t>From:</a:t>
            </a:r>
            <a:endParaRPr lang="en-US" altLang="en-US" sz="2000" dirty="0">
              <a:ea typeface="MS PGothic" panose="020B0600070205080204" pitchFamily="34" charset="-128"/>
            </a:endParaRPr>
          </a:p>
          <a:p>
            <a:pPr marL="635000" lvl="1" indent="-288925"/>
            <a:r>
              <a:rPr lang="en-US" altLang="en-US" sz="2000" dirty="0">
                <a:ea typeface="MS PGothic" panose="020B0600070205080204" pitchFamily="34" charset="-128"/>
              </a:rPr>
              <a:t>Subject:</a:t>
            </a:r>
            <a:endParaRPr lang="en-US" altLang="en-US" sz="2000" dirty="0">
              <a:ea typeface="MS PGothic" panose="020B0600070205080204" pitchFamily="34" charset="-128"/>
            </a:endParaRPr>
          </a:p>
          <a:p>
            <a:pPr marL="403225" lvl="1" indent="0">
              <a:buFont typeface="Wingdings" panose="05000000000000000000" pitchFamily="2" charset="2"/>
              <a:buNone/>
            </a:pPr>
            <a:r>
              <a:rPr lang="en-US" altLang="en-US" dirty="0">
                <a:ea typeface="MS PGothic" panose="020B0600070205080204" pitchFamily="34" charset="-128"/>
              </a:rPr>
              <a:t>these lines, within the body of the email message area different from </a:t>
            </a:r>
            <a:r>
              <a:rPr lang="en-US" altLang="en-US" sz="2200" dirty="0">
                <a:ea typeface="MS PGothic" panose="020B0600070205080204" pitchFamily="34" charset="-128"/>
              </a:rPr>
              <a:t>SMTP MAIL FROM:, RCPT TO:</a:t>
            </a:r>
            <a:r>
              <a:rPr lang="en-US" altLang="en-US" dirty="0">
                <a:ea typeface="MS PGothic" panose="020B0600070205080204" pitchFamily="34" charset="-128"/>
              </a:rPr>
              <a:t> commands!</a:t>
            </a:r>
            <a:endParaRPr lang="en-US" altLang="en-US" dirty="0">
              <a:ea typeface="MS PGothic" panose="020B0600070205080204" pitchFamily="34" charset="-128"/>
            </a:endParaRPr>
          </a:p>
          <a:p>
            <a:r>
              <a:rPr lang="en-US" altLang="en-US" sz="2400" dirty="0">
                <a:ea typeface="MS PGothic" panose="020B0600070205080204" pitchFamily="34" charset="-128"/>
              </a:rPr>
              <a:t>Body: the “</a:t>
            </a:r>
            <a:r>
              <a:rPr lang="en-US" altLang="ja-JP" sz="2400" dirty="0">
                <a:ea typeface="MS PGothic" panose="020B0600070205080204" pitchFamily="34" charset="-128"/>
              </a:rPr>
              <a:t>message” , </a:t>
            </a:r>
            <a:r>
              <a:rPr lang="en-US" altLang="en-US" sz="2400" dirty="0">
                <a:ea typeface="MS PGothic" panose="020B0600070205080204" pitchFamily="34" charset="-128"/>
              </a:rPr>
              <a:t>ASCII characters only</a:t>
            </a:r>
            <a:endParaRPr lang="en-US" altLang="en-US" sz="2000" dirty="0">
              <a:ea typeface="MS PGothic" panose="020B0600070205080204" pitchFamily="34" charset="-128"/>
            </a:endParaRPr>
          </a:p>
        </p:txBody>
      </p:sp>
      <p:sp>
        <p:nvSpPr>
          <p:cNvPr id="17" name="Rectangle 5"/>
          <p:cNvSpPr>
            <a:spLocks noChangeArrowheads="1"/>
          </p:cNvSpPr>
          <p:nvPr/>
        </p:nvSpPr>
        <p:spPr bwMode="auto">
          <a:xfrm>
            <a:off x="8111539" y="3317071"/>
            <a:ext cx="2832100" cy="431800"/>
          </a:xfrm>
          <a:prstGeom prst="rect">
            <a:avLst/>
          </a:prstGeom>
          <a:solidFill>
            <a:srgbClr val="00CC9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400" b="0" i="0" u="none" strike="noStrike" kern="0" cap="none" spc="0" normalizeH="0" baseline="0" noProof="0">
                <a:ln>
                  <a:noFill/>
                </a:ln>
                <a:solidFill>
                  <a:srgbClr val="FFFFFF"/>
                </a:solidFill>
                <a:effectLst/>
                <a:uLnTx/>
                <a:uFillTx/>
                <a:latin typeface="Arial" panose="020B0604020202020204" pitchFamily="34" charset="0"/>
                <a:ea typeface="MS PGothic" panose="020B0600070205080204" pitchFamily="34" charset="-128"/>
              </a:rPr>
              <a:t>header</a:t>
            </a:r>
            <a:endParaRPr kumimoji="0" lang="en-US" altLang="en-US" sz="2400" b="0" i="0" u="none" strike="noStrike" kern="0" cap="none" spc="0" normalizeH="0" baseline="0" noProof="0">
              <a:ln>
                <a:noFill/>
              </a:ln>
              <a:solidFill>
                <a:srgbClr val="FFFFFF"/>
              </a:solidFill>
              <a:effectLst/>
              <a:uLnTx/>
              <a:uFillTx/>
              <a:latin typeface="Arial" panose="020B0604020202020204" pitchFamily="34" charset="0"/>
              <a:ea typeface="MS PGothic" panose="020B0600070205080204" pitchFamily="34" charset="-128"/>
            </a:endParaRPr>
          </a:p>
        </p:txBody>
      </p:sp>
      <p:sp>
        <p:nvSpPr>
          <p:cNvPr id="18" name="Rectangle 7"/>
          <p:cNvSpPr>
            <a:spLocks noChangeArrowheads="1"/>
          </p:cNvSpPr>
          <p:nvPr/>
        </p:nvSpPr>
        <p:spPr bwMode="auto">
          <a:xfrm>
            <a:off x="8111539" y="4129871"/>
            <a:ext cx="2832100" cy="1739900"/>
          </a:xfrm>
          <a:prstGeom prst="rect">
            <a:avLst/>
          </a:prstGeom>
          <a:solidFill>
            <a:srgbClr val="3333CC"/>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400" b="0" i="0" u="none" strike="noStrike" kern="0" cap="none" spc="0" normalizeH="0" baseline="0" noProof="0">
                <a:ln>
                  <a:noFill/>
                </a:ln>
                <a:solidFill>
                  <a:srgbClr val="FFFFFF"/>
                </a:solidFill>
                <a:effectLst/>
                <a:uLnTx/>
                <a:uFillTx/>
                <a:latin typeface="Arial" panose="020B0604020202020204" pitchFamily="34" charset="0"/>
                <a:ea typeface="MS PGothic" panose="020B0600070205080204" pitchFamily="34" charset="-128"/>
              </a:rPr>
              <a:t>body</a:t>
            </a:r>
            <a:endParaRPr kumimoji="0" lang="en-US" altLang="en-US" sz="2400" b="0" i="0" u="none" strike="noStrike" kern="0" cap="none" spc="0" normalizeH="0" baseline="0" noProof="0">
              <a:ln>
                <a:noFill/>
              </a:ln>
              <a:solidFill>
                <a:srgbClr val="FFFFFF"/>
              </a:solidFill>
              <a:effectLst/>
              <a:uLnTx/>
              <a:uFillTx/>
              <a:latin typeface="Arial" panose="020B0604020202020204" pitchFamily="34" charset="0"/>
              <a:ea typeface="MS PGothic" panose="020B0600070205080204" pitchFamily="34" charset="-128"/>
            </a:endParaRPr>
          </a:p>
        </p:txBody>
      </p:sp>
      <p:sp>
        <p:nvSpPr>
          <p:cNvPr id="19" name="Rectangle 9"/>
          <p:cNvSpPr>
            <a:spLocks noChangeArrowheads="1"/>
          </p:cNvSpPr>
          <p:nvPr/>
        </p:nvSpPr>
        <p:spPr bwMode="auto">
          <a:xfrm>
            <a:off x="7908339" y="3202771"/>
            <a:ext cx="3238500" cy="3073400"/>
          </a:xfrm>
          <a:prstGeom prst="rect">
            <a:avLst/>
          </a:prstGeom>
          <a:noFill/>
          <a:ln w="12700">
            <a:solidFill>
              <a:srgbClr val="00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 name="Line 11"/>
          <p:cNvSpPr>
            <a:spLocks noChangeShapeType="1"/>
          </p:cNvSpPr>
          <p:nvPr/>
        </p:nvSpPr>
        <p:spPr bwMode="auto">
          <a:xfrm flipV="1">
            <a:off x="1567314" y="5094521"/>
            <a:ext cx="6544225" cy="812792"/>
          </a:xfrm>
          <a:prstGeom prst="line">
            <a:avLst/>
          </a:prstGeom>
          <a:noFill/>
          <a:ln w="19050">
            <a:solidFill>
              <a:srgbClr val="FF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r>
              <a:rPr lang="en-US" sz="2000" dirty="0">
                <a:solidFill>
                  <a:srgbClr val="000000"/>
                </a:solidFill>
                <a:latin typeface="Arial" panose="020B0604020202020204" pitchFamily="34" charset="0"/>
                <a:ea typeface="MS PGothic" panose="020B0600070205080204" pitchFamily="34" charset="-128"/>
              </a:rPr>
              <a:t> </a:t>
            </a:r>
            <a:endParaRPr lang="en-US" sz="2000" dirty="0">
              <a:solidFill>
                <a:srgbClr val="000000"/>
              </a:solidFill>
              <a:latin typeface="Arial" panose="020B0604020202020204" pitchFamily="34" charset="0"/>
              <a:ea typeface="MS PGothic" panose="020B0600070205080204" pitchFamily="34" charset="-128"/>
            </a:endParaRPr>
          </a:p>
        </p:txBody>
      </p:sp>
      <p:sp>
        <p:nvSpPr>
          <p:cNvPr id="22" name="Text Box 13"/>
          <p:cNvSpPr txBox="1">
            <a:spLocks noChangeArrowheads="1"/>
          </p:cNvSpPr>
          <p:nvPr/>
        </p:nvSpPr>
        <p:spPr bwMode="auto">
          <a:xfrm>
            <a:off x="11272252" y="3537734"/>
            <a:ext cx="792162"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blank</a:t>
            </a: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line</a:t>
            </a: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 name="Line 14"/>
          <p:cNvSpPr>
            <a:spLocks noChangeShapeType="1"/>
          </p:cNvSpPr>
          <p:nvPr/>
        </p:nvSpPr>
        <p:spPr bwMode="auto">
          <a:xfrm flipH="1">
            <a:off x="10384839" y="3977471"/>
            <a:ext cx="965200" cy="0"/>
          </a:xfrm>
          <a:prstGeom prst="line">
            <a:avLst/>
          </a:prstGeom>
          <a:noFill/>
          <a:ln w="19050">
            <a:solidFill>
              <a:srgbClr val="FF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cxnSp>
        <p:nvCxnSpPr>
          <p:cNvPr id="4" name="Straight Arrow Connector 3"/>
          <p:cNvCxnSpPr/>
          <p:nvPr/>
        </p:nvCxnSpPr>
        <p:spPr>
          <a:xfrm>
            <a:off x="3614057" y="3531161"/>
            <a:ext cx="4424912" cy="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Mail access protocols</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grpSp>
        <p:nvGrpSpPr>
          <p:cNvPr id="261" name="Group 260"/>
          <p:cNvGrpSpPr/>
          <p:nvPr/>
        </p:nvGrpSpPr>
        <p:grpSpPr>
          <a:xfrm>
            <a:off x="1933753" y="1424214"/>
            <a:ext cx="8245475" cy="1826169"/>
            <a:chOff x="444500" y="1308100"/>
            <a:chExt cx="8245475" cy="1826169"/>
          </a:xfrm>
        </p:grpSpPr>
        <p:grpSp>
          <p:nvGrpSpPr>
            <p:cNvPr id="262" name="Group 133"/>
            <p:cNvGrpSpPr/>
            <p:nvPr/>
          </p:nvGrpSpPr>
          <p:grpSpPr bwMode="auto">
            <a:xfrm>
              <a:off x="2962275" y="1577975"/>
              <a:ext cx="511175" cy="693738"/>
              <a:chOff x="4140" y="429"/>
              <a:chExt cx="1425" cy="2396"/>
            </a:xfrm>
          </p:grpSpPr>
          <p:sp>
            <p:nvSpPr>
              <p:cNvPr id="351" name="Freeform 134"/>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2" name="Rectangle 135"/>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3" name="Freeform 136"/>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4" name="Freeform 137"/>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5" name="Rectangle 138"/>
              <p:cNvSpPr>
                <a:spLocks noChangeArrowheads="1"/>
              </p:cNvSpPr>
              <p:nvPr/>
            </p:nvSpPr>
            <p:spPr bwMode="auto">
              <a:xfrm>
                <a:off x="4211" y="692"/>
                <a:ext cx="597" cy="49"/>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56" name="Group 139"/>
              <p:cNvGrpSpPr/>
              <p:nvPr/>
            </p:nvGrpSpPr>
            <p:grpSpPr bwMode="auto">
              <a:xfrm>
                <a:off x="4749" y="668"/>
                <a:ext cx="581" cy="145"/>
                <a:chOff x="614" y="2568"/>
                <a:chExt cx="725" cy="139"/>
              </a:xfrm>
            </p:grpSpPr>
            <p:sp>
              <p:nvSpPr>
                <p:cNvPr id="381" name="AutoShape 140"/>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2" name="AutoShape 141"/>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57" name="Rectangle 142"/>
              <p:cNvSpPr>
                <a:spLocks noChangeArrowheads="1"/>
              </p:cNvSpPr>
              <p:nvPr/>
            </p:nvSpPr>
            <p:spPr bwMode="auto">
              <a:xfrm>
                <a:off x="4224" y="1021"/>
                <a:ext cx="597"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58" name="Group 143"/>
              <p:cNvGrpSpPr/>
              <p:nvPr/>
            </p:nvGrpSpPr>
            <p:grpSpPr bwMode="auto">
              <a:xfrm>
                <a:off x="4747" y="994"/>
                <a:ext cx="581" cy="134"/>
                <a:chOff x="614" y="2568"/>
                <a:chExt cx="725" cy="139"/>
              </a:xfrm>
            </p:grpSpPr>
            <p:sp>
              <p:nvSpPr>
                <p:cNvPr id="379" name="AutoShape 144"/>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80" name="AutoShape 145"/>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59" name="Rectangle 146"/>
              <p:cNvSpPr>
                <a:spLocks noChangeArrowheads="1"/>
              </p:cNvSpPr>
              <p:nvPr/>
            </p:nvSpPr>
            <p:spPr bwMode="auto">
              <a:xfrm>
                <a:off x="4215" y="1356"/>
                <a:ext cx="597" cy="49"/>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0" name="Rectangle 147"/>
              <p:cNvSpPr>
                <a:spLocks noChangeArrowheads="1"/>
              </p:cNvSpPr>
              <p:nvPr/>
            </p:nvSpPr>
            <p:spPr bwMode="auto">
              <a:xfrm>
                <a:off x="4229" y="1657"/>
                <a:ext cx="597"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61" name="Group 148"/>
              <p:cNvGrpSpPr/>
              <p:nvPr/>
            </p:nvGrpSpPr>
            <p:grpSpPr bwMode="auto">
              <a:xfrm>
                <a:off x="4735" y="1627"/>
                <a:ext cx="582" cy="151"/>
                <a:chOff x="614" y="2568"/>
                <a:chExt cx="725" cy="139"/>
              </a:xfrm>
            </p:grpSpPr>
            <p:sp>
              <p:nvSpPr>
                <p:cNvPr id="377" name="AutoShape 149"/>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8" name="AutoShape 150"/>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62" name="Freeform 151"/>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63" name="Group 152"/>
              <p:cNvGrpSpPr/>
              <p:nvPr/>
            </p:nvGrpSpPr>
            <p:grpSpPr bwMode="auto">
              <a:xfrm>
                <a:off x="4739" y="1327"/>
                <a:ext cx="582" cy="139"/>
                <a:chOff x="614" y="2568"/>
                <a:chExt cx="725" cy="139"/>
              </a:xfrm>
            </p:grpSpPr>
            <p:sp>
              <p:nvSpPr>
                <p:cNvPr id="375" name="AutoShape 153"/>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6" name="AutoShape 154"/>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64" name="Rectangle 155"/>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5" name="Freeform 156"/>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6" name="Freeform 157"/>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7" name="Oval 158"/>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8" name="Freeform 159"/>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69" name="AutoShape 160"/>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0" name="AutoShape 161"/>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1" name="Oval 162"/>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2" name="Oval 163"/>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3" name="Oval 164"/>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74" name="Rectangle 165"/>
              <p:cNvSpPr>
                <a:spLocks noChangeArrowheads="1"/>
              </p:cNvSpPr>
              <p:nvPr/>
            </p:nvSpPr>
            <p:spPr bwMode="auto">
              <a:xfrm>
                <a:off x="5060" y="1833"/>
                <a:ext cx="89" cy="762"/>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63" name="Group 100"/>
            <p:cNvGrpSpPr/>
            <p:nvPr/>
          </p:nvGrpSpPr>
          <p:grpSpPr bwMode="auto">
            <a:xfrm>
              <a:off x="4648200" y="1587500"/>
              <a:ext cx="511175" cy="693738"/>
              <a:chOff x="4140" y="429"/>
              <a:chExt cx="1425" cy="2396"/>
            </a:xfrm>
          </p:grpSpPr>
          <p:sp>
            <p:nvSpPr>
              <p:cNvPr id="319" name="Freeform 101"/>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0" name="Rectangle 102"/>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1" name="Freeform 103"/>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2" name="Freeform 104"/>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3" name="Rectangle 105"/>
              <p:cNvSpPr>
                <a:spLocks noChangeArrowheads="1"/>
              </p:cNvSpPr>
              <p:nvPr/>
            </p:nvSpPr>
            <p:spPr bwMode="auto">
              <a:xfrm>
                <a:off x="4211" y="692"/>
                <a:ext cx="597" cy="49"/>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24" name="Group 106"/>
              <p:cNvGrpSpPr/>
              <p:nvPr/>
            </p:nvGrpSpPr>
            <p:grpSpPr bwMode="auto">
              <a:xfrm>
                <a:off x="4749" y="668"/>
                <a:ext cx="581" cy="145"/>
                <a:chOff x="614" y="2568"/>
                <a:chExt cx="725" cy="139"/>
              </a:xfrm>
            </p:grpSpPr>
            <p:sp>
              <p:nvSpPr>
                <p:cNvPr id="349" name="AutoShape 107"/>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50" name="AutoShape 108"/>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25" name="Rectangle 109"/>
              <p:cNvSpPr>
                <a:spLocks noChangeArrowheads="1"/>
              </p:cNvSpPr>
              <p:nvPr/>
            </p:nvSpPr>
            <p:spPr bwMode="auto">
              <a:xfrm>
                <a:off x="4224" y="1021"/>
                <a:ext cx="597"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26" name="Group 110"/>
              <p:cNvGrpSpPr/>
              <p:nvPr/>
            </p:nvGrpSpPr>
            <p:grpSpPr bwMode="auto">
              <a:xfrm>
                <a:off x="4747" y="994"/>
                <a:ext cx="581" cy="134"/>
                <a:chOff x="614" y="2568"/>
                <a:chExt cx="725" cy="139"/>
              </a:xfrm>
            </p:grpSpPr>
            <p:sp>
              <p:nvSpPr>
                <p:cNvPr id="347" name="AutoShape 111"/>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8" name="AutoShape 112"/>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27" name="Rectangle 113"/>
              <p:cNvSpPr>
                <a:spLocks noChangeArrowheads="1"/>
              </p:cNvSpPr>
              <p:nvPr/>
            </p:nvSpPr>
            <p:spPr bwMode="auto">
              <a:xfrm>
                <a:off x="4215" y="1356"/>
                <a:ext cx="597" cy="49"/>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8" name="Rectangle 114"/>
              <p:cNvSpPr>
                <a:spLocks noChangeArrowheads="1"/>
              </p:cNvSpPr>
              <p:nvPr/>
            </p:nvSpPr>
            <p:spPr bwMode="auto">
              <a:xfrm>
                <a:off x="4229" y="1657"/>
                <a:ext cx="597"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29" name="Group 115"/>
              <p:cNvGrpSpPr/>
              <p:nvPr/>
            </p:nvGrpSpPr>
            <p:grpSpPr bwMode="auto">
              <a:xfrm>
                <a:off x="4735" y="1627"/>
                <a:ext cx="582" cy="151"/>
                <a:chOff x="614" y="2568"/>
                <a:chExt cx="725" cy="139"/>
              </a:xfrm>
            </p:grpSpPr>
            <p:sp>
              <p:nvSpPr>
                <p:cNvPr id="345" name="AutoShape 116"/>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6" name="AutoShape 117"/>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30" name="Freeform 118"/>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31" name="Group 119"/>
              <p:cNvGrpSpPr/>
              <p:nvPr/>
            </p:nvGrpSpPr>
            <p:grpSpPr bwMode="auto">
              <a:xfrm>
                <a:off x="4739" y="1327"/>
                <a:ext cx="582" cy="139"/>
                <a:chOff x="614" y="2568"/>
                <a:chExt cx="725" cy="139"/>
              </a:xfrm>
            </p:grpSpPr>
            <p:sp>
              <p:nvSpPr>
                <p:cNvPr id="343" name="AutoShape 120"/>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4" name="AutoShape 121"/>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32" name="Rectangle 122"/>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3" name="Freeform 123"/>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4" name="Freeform 124"/>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5" name="Oval 125"/>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6" name="Freeform 126"/>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7" name="AutoShape 127"/>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8" name="AutoShape 128"/>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9" name="Oval 129"/>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0" name="Oval 130"/>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Oval 131"/>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42" name="Rectangle 132"/>
              <p:cNvSpPr>
                <a:spLocks noChangeArrowheads="1"/>
              </p:cNvSpPr>
              <p:nvPr/>
            </p:nvSpPr>
            <p:spPr bwMode="auto">
              <a:xfrm>
                <a:off x="5060" y="1833"/>
                <a:ext cx="89" cy="762"/>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64" name="Group 158"/>
            <p:cNvGrpSpPr/>
            <p:nvPr/>
          </p:nvGrpSpPr>
          <p:grpSpPr bwMode="auto">
            <a:xfrm>
              <a:off x="2670176" y="1987551"/>
              <a:ext cx="1689101" cy="1133476"/>
              <a:chOff x="1716" y="1206"/>
              <a:chExt cx="1064" cy="714"/>
            </a:xfrm>
          </p:grpSpPr>
          <p:sp>
            <p:nvSpPr>
              <p:cNvPr id="303" name="Text Box 95"/>
              <p:cNvSpPr txBox="1">
                <a:spLocks noChangeArrowheads="1"/>
              </p:cNvSpPr>
              <p:nvPr/>
            </p:nvSpPr>
            <p:spPr bwMode="auto">
              <a:xfrm>
                <a:off x="1716" y="1583"/>
                <a:ext cx="1064"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sender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s e-mail </a:t>
                </a:r>
                <a:endPar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9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4" name="Group 157"/>
              <p:cNvGrpSpPr/>
              <p:nvPr/>
            </p:nvGrpSpPr>
            <p:grpSpPr bwMode="auto">
              <a:xfrm>
                <a:off x="1992" y="1206"/>
                <a:ext cx="510" cy="354"/>
                <a:chOff x="2070" y="2004"/>
                <a:chExt cx="510" cy="354"/>
              </a:xfrm>
            </p:grpSpPr>
            <p:sp>
              <p:nvSpPr>
                <p:cNvPr id="305" name="Rectangle 94"/>
                <p:cNvSpPr>
                  <a:spLocks noChangeArrowheads="1"/>
                </p:cNvSpPr>
                <p:nvPr/>
              </p:nvSpPr>
              <p:spPr bwMode="auto">
                <a:xfrm>
                  <a:off x="2070" y="2004"/>
                  <a:ext cx="510" cy="354"/>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306" name="Rectangle 96"/>
                <p:cNvSpPr>
                  <a:spLocks noChangeArrowheads="1"/>
                </p:cNvSpPr>
                <p:nvPr/>
              </p:nvSpPr>
              <p:spPr bwMode="auto">
                <a:xfrm>
                  <a:off x="2094" y="2076"/>
                  <a:ext cx="450" cy="120"/>
                </a:xfrm>
                <a:prstGeom prst="rect">
                  <a:avLst/>
                </a:prstGeom>
                <a:solidFill>
                  <a:srgbClr val="00FF00"/>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307" name="Line 97"/>
                <p:cNvSpPr>
                  <a:spLocks noChangeShapeType="1"/>
                </p:cNvSpPr>
                <p:nvPr/>
              </p:nvSpPr>
              <p:spPr bwMode="auto">
                <a:xfrm>
                  <a:off x="2143" y="210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8" name="Line 98"/>
                <p:cNvSpPr>
                  <a:spLocks noChangeShapeType="1"/>
                </p:cNvSpPr>
                <p:nvPr/>
              </p:nvSpPr>
              <p:spPr bwMode="auto">
                <a:xfrm>
                  <a:off x="2252" y="210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9" name="Line 99"/>
                <p:cNvSpPr>
                  <a:spLocks noChangeShapeType="1"/>
                </p:cNvSpPr>
                <p:nvPr/>
              </p:nvSpPr>
              <p:spPr bwMode="auto">
                <a:xfrm>
                  <a:off x="2307" y="2105"/>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0" name="Line 100"/>
                <p:cNvSpPr>
                  <a:spLocks noChangeShapeType="1"/>
                </p:cNvSpPr>
                <p:nvPr/>
              </p:nvSpPr>
              <p:spPr bwMode="auto">
                <a:xfrm>
                  <a:off x="2364" y="210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1" name="Line 101"/>
                <p:cNvSpPr>
                  <a:spLocks noChangeShapeType="1"/>
                </p:cNvSpPr>
                <p:nvPr/>
              </p:nvSpPr>
              <p:spPr bwMode="auto">
                <a:xfrm>
                  <a:off x="2425" y="210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2" name="Line 102"/>
                <p:cNvSpPr>
                  <a:spLocks noChangeShapeType="1"/>
                </p:cNvSpPr>
                <p:nvPr/>
              </p:nvSpPr>
              <p:spPr bwMode="auto">
                <a:xfrm>
                  <a:off x="2481" y="210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3" name="Line 103"/>
                <p:cNvSpPr>
                  <a:spLocks noChangeShapeType="1"/>
                </p:cNvSpPr>
                <p:nvPr/>
              </p:nvSpPr>
              <p:spPr bwMode="auto">
                <a:xfrm>
                  <a:off x="2196" y="210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4" name="Rectangle 104"/>
                <p:cNvSpPr>
                  <a:spLocks noChangeArrowheads="1"/>
                </p:cNvSpPr>
                <p:nvPr/>
              </p:nvSpPr>
              <p:spPr bwMode="auto">
                <a:xfrm>
                  <a:off x="2102" y="224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315" name="Rectangle 105"/>
                <p:cNvSpPr>
                  <a:spLocks noChangeArrowheads="1"/>
                </p:cNvSpPr>
                <p:nvPr/>
              </p:nvSpPr>
              <p:spPr bwMode="auto">
                <a:xfrm>
                  <a:off x="2188" y="224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316" name="Rectangle 106"/>
                <p:cNvSpPr>
                  <a:spLocks noChangeArrowheads="1"/>
                </p:cNvSpPr>
                <p:nvPr/>
              </p:nvSpPr>
              <p:spPr bwMode="auto">
                <a:xfrm>
                  <a:off x="2274" y="2242"/>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317" name="Rectangle 107"/>
                <p:cNvSpPr>
                  <a:spLocks noChangeArrowheads="1"/>
                </p:cNvSpPr>
                <p:nvPr/>
              </p:nvSpPr>
              <p:spPr bwMode="auto">
                <a:xfrm>
                  <a:off x="2371" y="224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318" name="Rectangle 108"/>
                <p:cNvSpPr>
                  <a:spLocks noChangeArrowheads="1"/>
                </p:cNvSpPr>
                <p:nvPr/>
              </p:nvSpPr>
              <p:spPr bwMode="auto">
                <a:xfrm>
                  <a:off x="2467" y="224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grpSp>
        </p:grpSp>
        <p:sp>
          <p:nvSpPr>
            <p:cNvPr id="265" name="Text Box 121"/>
            <p:cNvSpPr txBox="1">
              <a:spLocks noChangeArrowheads="1"/>
            </p:cNvSpPr>
            <p:nvPr/>
          </p:nvSpPr>
          <p:spPr bwMode="auto">
            <a:xfrm>
              <a:off x="2020888" y="1466850"/>
              <a:ext cx="8905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0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SMTP</a:t>
              </a:r>
              <a:endParaRPr kumimoji="0" lang="en-US" altLang="en-US" sz="20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266" name="Rectangle 153"/>
            <p:cNvSpPr>
              <a:spLocks noChangeArrowheads="1"/>
            </p:cNvSpPr>
            <p:nvPr/>
          </p:nvSpPr>
          <p:spPr bwMode="auto">
            <a:xfrm>
              <a:off x="3781425" y="1457325"/>
              <a:ext cx="857250" cy="304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267" name="Text Box 154"/>
            <p:cNvSpPr txBox="1">
              <a:spLocks noChangeArrowheads="1"/>
            </p:cNvSpPr>
            <p:nvPr/>
          </p:nvSpPr>
          <p:spPr bwMode="auto">
            <a:xfrm>
              <a:off x="3622675" y="1477963"/>
              <a:ext cx="8905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20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SMTP</a:t>
              </a:r>
              <a:endParaRPr kumimoji="0" lang="en-US" altLang="en-US" sz="20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268" name="Text Box 156"/>
            <p:cNvSpPr txBox="1">
              <a:spLocks noChangeArrowheads="1"/>
            </p:cNvSpPr>
            <p:nvPr/>
          </p:nvSpPr>
          <p:spPr bwMode="auto">
            <a:xfrm>
              <a:off x="5209999" y="1308100"/>
              <a:ext cx="178611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85000"/>
                </a:lnSpc>
                <a:spcBef>
                  <a:spcPct val="0"/>
                </a:spcBef>
                <a:spcAft>
                  <a:spcPct val="0"/>
                </a:spcAft>
                <a:buClrTx/>
                <a:buSzTx/>
                <a:buFontTx/>
                <a:buNone/>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rPr>
                <a:t>e-mail access</a:t>
              </a:r>
              <a:endPar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85000"/>
                </a:lnSpc>
                <a:spcBef>
                  <a:spcPct val="0"/>
                </a:spcBef>
                <a:spcAft>
                  <a:spcPct val="0"/>
                </a:spcAft>
                <a:buClrTx/>
                <a:buSzTx/>
                <a:buFontTx/>
                <a:buNone/>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rPr>
                <a:t>protocol</a:t>
              </a:r>
              <a:endPar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269" name="Text Box 160"/>
            <p:cNvSpPr txBox="1">
              <a:spLocks noChangeArrowheads="1"/>
            </p:cNvSpPr>
            <p:nvPr/>
          </p:nvSpPr>
          <p:spPr bwMode="auto">
            <a:xfrm>
              <a:off x="4244880" y="2598738"/>
              <a:ext cx="179247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9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receiver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s e-mail </a:t>
              </a:r>
              <a:endPar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9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70" name="Group 161"/>
            <p:cNvGrpSpPr/>
            <p:nvPr/>
          </p:nvGrpSpPr>
          <p:grpSpPr bwMode="auto">
            <a:xfrm>
              <a:off x="4800600" y="2000250"/>
              <a:ext cx="809625" cy="561975"/>
              <a:chOff x="2070" y="2004"/>
              <a:chExt cx="510" cy="354"/>
            </a:xfrm>
          </p:grpSpPr>
          <p:sp>
            <p:nvSpPr>
              <p:cNvPr id="289" name="Rectangle 162"/>
              <p:cNvSpPr>
                <a:spLocks noChangeArrowheads="1"/>
              </p:cNvSpPr>
              <p:nvPr/>
            </p:nvSpPr>
            <p:spPr bwMode="auto">
              <a:xfrm>
                <a:off x="2070" y="2004"/>
                <a:ext cx="510" cy="354"/>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290" name="Rectangle 163"/>
              <p:cNvSpPr>
                <a:spLocks noChangeArrowheads="1"/>
              </p:cNvSpPr>
              <p:nvPr/>
            </p:nvSpPr>
            <p:spPr bwMode="auto">
              <a:xfrm>
                <a:off x="2094" y="2076"/>
                <a:ext cx="450" cy="120"/>
              </a:xfrm>
              <a:prstGeom prst="rect">
                <a:avLst/>
              </a:prstGeom>
              <a:solidFill>
                <a:srgbClr val="00FF00"/>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291" name="Line 164"/>
              <p:cNvSpPr>
                <a:spLocks noChangeShapeType="1"/>
              </p:cNvSpPr>
              <p:nvPr/>
            </p:nvSpPr>
            <p:spPr bwMode="auto">
              <a:xfrm>
                <a:off x="2143" y="210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2" name="Line 165"/>
              <p:cNvSpPr>
                <a:spLocks noChangeShapeType="1"/>
              </p:cNvSpPr>
              <p:nvPr/>
            </p:nvSpPr>
            <p:spPr bwMode="auto">
              <a:xfrm>
                <a:off x="2252" y="210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3" name="Line 166"/>
              <p:cNvSpPr>
                <a:spLocks noChangeShapeType="1"/>
              </p:cNvSpPr>
              <p:nvPr/>
            </p:nvSpPr>
            <p:spPr bwMode="auto">
              <a:xfrm>
                <a:off x="2307" y="2105"/>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4" name="Line 167"/>
              <p:cNvSpPr>
                <a:spLocks noChangeShapeType="1"/>
              </p:cNvSpPr>
              <p:nvPr/>
            </p:nvSpPr>
            <p:spPr bwMode="auto">
              <a:xfrm>
                <a:off x="2364" y="210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5" name="Line 168"/>
              <p:cNvSpPr>
                <a:spLocks noChangeShapeType="1"/>
              </p:cNvSpPr>
              <p:nvPr/>
            </p:nvSpPr>
            <p:spPr bwMode="auto">
              <a:xfrm>
                <a:off x="2425" y="210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6" name="Line 169"/>
              <p:cNvSpPr>
                <a:spLocks noChangeShapeType="1"/>
              </p:cNvSpPr>
              <p:nvPr/>
            </p:nvSpPr>
            <p:spPr bwMode="auto">
              <a:xfrm>
                <a:off x="2481" y="2103"/>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7" name="Line 170"/>
              <p:cNvSpPr>
                <a:spLocks noChangeShapeType="1"/>
              </p:cNvSpPr>
              <p:nvPr/>
            </p:nvSpPr>
            <p:spPr bwMode="auto">
              <a:xfrm>
                <a:off x="2196" y="2104"/>
                <a:ext cx="0" cy="72"/>
              </a:xfrm>
              <a:prstGeom prst="line">
                <a:avLst/>
              </a:prstGeom>
              <a:noFill/>
              <a:ln w="19050">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8" name="Rectangle 171"/>
              <p:cNvSpPr>
                <a:spLocks noChangeArrowheads="1"/>
              </p:cNvSpPr>
              <p:nvPr/>
            </p:nvSpPr>
            <p:spPr bwMode="auto">
              <a:xfrm>
                <a:off x="2102" y="224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299" name="Rectangle 172"/>
              <p:cNvSpPr>
                <a:spLocks noChangeArrowheads="1"/>
              </p:cNvSpPr>
              <p:nvPr/>
            </p:nvSpPr>
            <p:spPr bwMode="auto">
              <a:xfrm>
                <a:off x="2188" y="2243"/>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300" name="Rectangle 173"/>
              <p:cNvSpPr>
                <a:spLocks noChangeArrowheads="1"/>
              </p:cNvSpPr>
              <p:nvPr/>
            </p:nvSpPr>
            <p:spPr bwMode="auto">
              <a:xfrm>
                <a:off x="2274" y="2242"/>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301" name="Rectangle 174"/>
              <p:cNvSpPr>
                <a:spLocks noChangeArrowheads="1"/>
              </p:cNvSpPr>
              <p:nvPr/>
            </p:nvSpPr>
            <p:spPr bwMode="auto">
              <a:xfrm>
                <a:off x="2371" y="224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sp>
            <p:nvSpPr>
              <p:cNvPr id="302" name="Rectangle 175"/>
              <p:cNvSpPr>
                <a:spLocks noChangeArrowheads="1"/>
              </p:cNvSpPr>
              <p:nvPr/>
            </p:nvSpPr>
            <p:spPr bwMode="auto">
              <a:xfrm>
                <a:off x="2467" y="2240"/>
                <a:ext cx="64" cy="93"/>
              </a:xfrm>
              <a:prstGeom prst="rect">
                <a:avLst/>
              </a:prstGeom>
              <a:solidFill>
                <a:srgbClr val="FFFF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Comic Sans MS" panose="030F0702030302020204" pitchFamily="66" charset="0"/>
                  <a:ea typeface="MS PGothic" panose="020B0600070205080204" pitchFamily="34" charset="-128"/>
                </a:endParaRPr>
              </a:p>
            </p:txBody>
          </p:sp>
        </p:grpSp>
        <p:pic>
          <p:nvPicPr>
            <p:cNvPr id="271" name="Picture 176" descr="Alice"/>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444500" y="1557338"/>
              <a:ext cx="561975" cy="693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2" name="Picture 179" descr="Bob"/>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13700" y="1571625"/>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3" name="Line 94"/>
            <p:cNvSpPr>
              <a:spLocks noChangeShapeType="1"/>
            </p:cNvSpPr>
            <p:nvPr/>
          </p:nvSpPr>
          <p:spPr bwMode="auto">
            <a:xfrm>
              <a:off x="2003425" y="1905000"/>
              <a:ext cx="903288" cy="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4" name="Line 95"/>
            <p:cNvSpPr>
              <a:spLocks noChangeShapeType="1"/>
            </p:cNvSpPr>
            <p:nvPr/>
          </p:nvSpPr>
          <p:spPr bwMode="auto">
            <a:xfrm>
              <a:off x="3633788" y="1901825"/>
              <a:ext cx="903287" cy="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5" name="Line 96"/>
            <p:cNvSpPr>
              <a:spLocks noChangeShapeType="1"/>
            </p:cNvSpPr>
            <p:nvPr/>
          </p:nvSpPr>
          <p:spPr bwMode="auto">
            <a:xfrm>
              <a:off x="5253038" y="1898650"/>
              <a:ext cx="1697037" cy="1588"/>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6" name="Text Box 156"/>
            <p:cNvSpPr txBox="1">
              <a:spLocks noChangeArrowheads="1"/>
            </p:cNvSpPr>
            <p:nvPr/>
          </p:nvSpPr>
          <p:spPr bwMode="auto">
            <a:xfrm>
              <a:off x="5575478" y="1927225"/>
              <a:ext cx="1450797" cy="563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85000"/>
                </a:lnSpc>
                <a:spcBef>
                  <a:spcPct val="0"/>
                </a:spcBef>
                <a:spcAft>
                  <a:spcPct val="0"/>
                </a:spcAft>
                <a:buClrTx/>
                <a:buSzTx/>
                <a:buFontTx/>
                <a:buNone/>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rPr>
                <a:t>(e.g.,</a:t>
              </a: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rPr>
                <a:t> IMAP, HTTP</a:t>
              </a: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rPr>
                <a:t>)</a:t>
              </a:r>
              <a:endPar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endParaRPr>
            </a:p>
          </p:txBody>
        </p:sp>
        <p:grpSp>
          <p:nvGrpSpPr>
            <p:cNvPr id="277" name="Group 166"/>
            <p:cNvGrpSpPr/>
            <p:nvPr/>
          </p:nvGrpSpPr>
          <p:grpSpPr bwMode="auto">
            <a:xfrm>
              <a:off x="1066800" y="1419225"/>
              <a:ext cx="912813" cy="1054100"/>
              <a:chOff x="3574" y="550"/>
              <a:chExt cx="575" cy="664"/>
            </a:xfrm>
          </p:grpSpPr>
          <p:grpSp>
            <p:nvGrpSpPr>
              <p:cNvPr id="284" name="Group 167"/>
              <p:cNvGrpSpPr/>
              <p:nvPr/>
            </p:nvGrpSpPr>
            <p:grpSpPr bwMode="auto">
              <a:xfrm>
                <a:off x="3588" y="692"/>
                <a:ext cx="561" cy="522"/>
                <a:chOff x="-44" y="1473"/>
                <a:chExt cx="981" cy="1105"/>
              </a:xfrm>
            </p:grpSpPr>
            <p:pic>
              <p:nvPicPr>
                <p:cNvPr id="287" name="Picture 168"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Freeform 16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85"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6" name="Text Box 116"/>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user</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agent</a:t>
                </a: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78" name="Group 172"/>
            <p:cNvGrpSpPr/>
            <p:nvPr/>
          </p:nvGrpSpPr>
          <p:grpSpPr bwMode="auto">
            <a:xfrm>
              <a:off x="6967538" y="1422400"/>
              <a:ext cx="912812" cy="1054100"/>
              <a:chOff x="3574" y="550"/>
              <a:chExt cx="575" cy="664"/>
            </a:xfrm>
          </p:grpSpPr>
          <p:grpSp>
            <p:nvGrpSpPr>
              <p:cNvPr id="279" name="Group 173"/>
              <p:cNvGrpSpPr/>
              <p:nvPr/>
            </p:nvGrpSpPr>
            <p:grpSpPr bwMode="auto">
              <a:xfrm>
                <a:off x="3588" y="692"/>
                <a:ext cx="561" cy="522"/>
                <a:chOff x="-44" y="1473"/>
                <a:chExt cx="981" cy="1105"/>
              </a:xfrm>
            </p:grpSpPr>
            <p:pic>
              <p:nvPicPr>
                <p:cNvPr id="282" name="Picture 174"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7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80" name="Rectangle 115"/>
              <p:cNvSpPr>
                <a:spLocks noChangeArrowheads="1"/>
              </p:cNvSpPr>
              <p:nvPr/>
            </p:nvSpPr>
            <p:spPr bwMode="auto">
              <a:xfrm>
                <a:off x="3611" y="576"/>
                <a:ext cx="381" cy="330"/>
              </a:xfrm>
              <a:prstGeom prst="rect">
                <a:avLst/>
              </a:prstGeom>
              <a:solidFill>
                <a:srgbClr val="CCCCFF"/>
              </a:solidFill>
              <a:ln w="19050">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1" name="Text Box 116"/>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user</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agent</a:t>
                </a: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sp>
        <p:nvSpPr>
          <p:cNvPr id="384" name="Rectangle 3"/>
          <p:cNvSpPr txBox="1">
            <a:spLocks noChangeArrowheads="1"/>
          </p:cNvSpPr>
          <p:nvPr/>
        </p:nvSpPr>
        <p:spPr>
          <a:xfrm>
            <a:off x="478971" y="3418624"/>
            <a:ext cx="11248571" cy="31500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pPr>
            <a:r>
              <a:rPr lang="en-US" altLang="en-US" dirty="0">
                <a:solidFill>
                  <a:srgbClr val="CC0000"/>
                </a:solidFill>
                <a:ea typeface="MS PGothic" panose="020B0600070205080204" pitchFamily="34" charset="-128"/>
              </a:rPr>
              <a:t>SMTP:</a:t>
            </a:r>
            <a:r>
              <a:rPr lang="en-US" altLang="en-US" dirty="0">
                <a:ea typeface="MS PGothic" panose="020B0600070205080204" pitchFamily="34" charset="-128"/>
              </a:rPr>
              <a:t> delivery/storage of e-mail messages to receiver’</a:t>
            </a:r>
            <a:r>
              <a:rPr lang="en-US" altLang="ja-JP" dirty="0">
                <a:ea typeface="MS PGothic" panose="020B0600070205080204" pitchFamily="34" charset="-128"/>
              </a:rPr>
              <a:t>s server</a:t>
            </a:r>
            <a:endParaRPr lang="en-US" altLang="ja-JP" dirty="0">
              <a:ea typeface="MS PGothic" panose="020B0600070205080204" pitchFamily="34" charset="-128"/>
            </a:endParaRPr>
          </a:p>
          <a:p>
            <a:pPr>
              <a:lnSpc>
                <a:spcPct val="100000"/>
              </a:lnSpc>
            </a:pPr>
            <a:r>
              <a:rPr lang="en-US" altLang="en-US" dirty="0">
                <a:ea typeface="MS PGothic" panose="020B0600070205080204" pitchFamily="34" charset="-128"/>
              </a:rPr>
              <a:t>mail access protocol: retrieval from server</a:t>
            </a:r>
            <a:endParaRPr lang="en-US" altLang="en-US" dirty="0">
              <a:ea typeface="MS PGothic" panose="020B0600070205080204" pitchFamily="34" charset="-128"/>
            </a:endParaRPr>
          </a:p>
          <a:p>
            <a:pPr lvl="1">
              <a:lnSpc>
                <a:spcPct val="100000"/>
              </a:lnSpc>
            </a:pPr>
            <a:r>
              <a:rPr lang="en-US" altLang="en-US" dirty="0">
                <a:solidFill>
                  <a:srgbClr val="CC0000"/>
                </a:solidFill>
                <a:ea typeface="MS PGothic" panose="020B0600070205080204" pitchFamily="34" charset="-128"/>
              </a:rPr>
              <a:t>IMAP:</a:t>
            </a:r>
            <a:r>
              <a:rPr lang="en-US" altLang="en-US" dirty="0">
                <a:ea typeface="MS PGothic" panose="020B0600070205080204" pitchFamily="34" charset="-128"/>
              </a:rPr>
              <a:t> Internet Mail Access Protocol [RFC 3501]: messages stored on server, IMAP provides retrieval, deletion, folders of stored messages on server</a:t>
            </a:r>
            <a:endParaRPr lang="en-US" altLang="en-US" dirty="0">
              <a:ea typeface="MS PGothic" panose="020B0600070205080204" pitchFamily="34" charset="-128"/>
            </a:endParaRPr>
          </a:p>
          <a:p>
            <a:pPr marL="346075" indent="-288925">
              <a:lnSpc>
                <a:spcPct val="100000"/>
              </a:lnSpc>
            </a:pPr>
            <a:r>
              <a:rPr lang="en-US" altLang="en-US" dirty="0">
                <a:solidFill>
                  <a:srgbClr val="CC0000"/>
                </a:solidFill>
                <a:ea typeface="MS PGothic" panose="020B0600070205080204" pitchFamily="34" charset="-128"/>
              </a:rPr>
              <a:t>HTTP:</a:t>
            </a:r>
            <a:r>
              <a:rPr lang="en-US" altLang="en-US" dirty="0">
                <a:ea typeface="MS PGothic" panose="020B0600070205080204" pitchFamily="34" charset="-128"/>
              </a:rPr>
              <a:t> </a:t>
            </a:r>
            <a:r>
              <a:rPr lang="en-US" altLang="en-US" dirty="0" err="1">
                <a:ea typeface="MS PGothic" panose="020B0600070205080204" pitchFamily="34" charset="-128"/>
              </a:rPr>
              <a:t>gmail</a:t>
            </a:r>
            <a:r>
              <a:rPr lang="en-US" altLang="en-US" dirty="0">
                <a:ea typeface="MS PGothic" panose="020B0600070205080204" pitchFamily="34" charset="-128"/>
              </a:rPr>
              <a:t>, Hotmail, </a:t>
            </a:r>
            <a:r>
              <a:rPr lang="en-US" altLang="en-US" dirty="0" err="1">
                <a:ea typeface="MS PGothic" panose="020B0600070205080204" pitchFamily="34" charset="-128"/>
              </a:rPr>
              <a:t>Yahoo!Mail</a:t>
            </a:r>
            <a:r>
              <a:rPr lang="en-US" altLang="en-US" dirty="0">
                <a:ea typeface="MS PGothic" panose="020B0600070205080204" pitchFamily="34" charset="-128"/>
              </a:rPr>
              <a:t>, etc. provides web-based interface on top of STMP (to send), IMAP (or POP) to retrieve e-mail messages</a:t>
            </a:r>
            <a:endParaRPr lang="en-US" altLang="en-US" dirty="0">
              <a:ea typeface="MS PGothic" panose="020B0600070205080204" pitchFamily="34" charset="-128"/>
            </a:endParaRPr>
          </a:p>
          <a:p>
            <a:pPr lvl="1"/>
            <a:endParaRPr lang="en-US" altLang="en-US" sz="2200" dirty="0">
              <a:ea typeface="MS PGothic" panose="020B0600070205080204" pitchFamily="34" charset="-128"/>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p:cNvSpPr txBox="1"/>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rgbClr val="0000A8"/>
              </a:buClr>
              <a:defRPr/>
            </a:pPr>
            <a:r>
              <a:rPr lang="en-US" sz="3200" dirty="0">
                <a:latin typeface="Calibri" panose="020F0502020204030204" pitchFamily="34" charset="0"/>
                <a:cs typeface="Calibri" panose="020F0502020204030204" pitchFamily="34" charset="0"/>
              </a:rPr>
              <a:t>The Domain Name System DNS</a:t>
            </a:r>
            <a:endParaRPr lang="en-US" sz="3200" dirty="0">
              <a:latin typeface="Calibri" panose="020F0502020204030204" pitchFamily="34" charset="0"/>
              <a:cs typeface="Calibri" panose="020F0502020204030204" pitchFamily="34" charset="0"/>
            </a:endParaRPr>
          </a:p>
          <a:p>
            <a:endParaRPr lang="en-US" dirty="0"/>
          </a:p>
        </p:txBody>
      </p:sp>
      <p:sp>
        <p:nvSpPr>
          <p:cNvPr id="11" name="Rectangle 4"/>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P2P applications</a:t>
            </a:r>
            <a:endParaRPr lang="en-US" altLang="en-US" sz="3200" dirty="0">
              <a:solidFill>
                <a:schemeClr val="bg1">
                  <a:lumMod val="75000"/>
                </a:schemeClr>
              </a:solidFill>
              <a:ea typeface="MS PGothic" panose="020B0600070205080204" pitchFamily="34" charset="-128"/>
            </a:endParaRPr>
          </a:p>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video streaming and content distribution networks</a:t>
            </a:r>
            <a:endParaRPr lang="en-US" altLang="en-US" sz="3200" dirty="0">
              <a:solidFill>
                <a:schemeClr val="bg1">
                  <a:lumMod val="75000"/>
                </a:schemeClr>
              </a:solidFill>
              <a:ea typeface="MS PGothic" panose="020B0600070205080204" pitchFamily="34" charset="-128"/>
            </a:endParaRPr>
          </a:p>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socket programming with UDP and TCP</a:t>
            </a:r>
            <a:endParaRPr lang="en-US" altLang="en-US" sz="3200" dirty="0">
              <a:solidFill>
                <a:schemeClr val="bg1">
                  <a:lumMod val="75000"/>
                </a:schemeClr>
              </a:solidFill>
              <a:ea typeface="MS PGothic" panose="020B0600070205080204" pitchFamily="34" charset="-128"/>
            </a:endParaRPr>
          </a:p>
          <a:p>
            <a:pPr>
              <a:buFont typeface="Wingdings" panose="05000000000000000000" pitchFamily="2" charset="2"/>
              <a:buNone/>
            </a:pPr>
            <a:endParaRPr lang="en-US" altLang="en-US" sz="2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pic>
        <p:nvPicPr>
          <p:cNvPr id="7" name="Picture 6" descr="Kurose&amp;Ross 8th edition photo"/>
          <p:cNvPicPr>
            <a:picLocks noChangeAspect="1"/>
          </p:cNvPicPr>
          <p:nvPr/>
        </p:nvPicPr>
        <p:blipFill>
          <a:blip r:embed="rId1"/>
          <a:stretch>
            <a:fillRect/>
          </a:stretch>
        </p:blipFill>
        <p:spPr>
          <a:xfrm>
            <a:off x="6957391" y="4125913"/>
            <a:ext cx="3087757" cy="2315818"/>
          </a:xfrm>
          <a:prstGeom prst="rect">
            <a:avLst/>
          </a:prstGeom>
        </p:spPr>
      </p:pic>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Title 1"/>
          <p:cNvSpPr>
            <a:spLocks noGrp="1"/>
          </p:cNvSpPr>
          <p:nvPr>
            <p:ph type="title"/>
          </p:nvPr>
        </p:nvSpPr>
        <p:spPr/>
        <p:txBody>
          <a:bodyPr/>
          <a:p>
            <a:r>
              <a:rPr lang="en-IN" altLang="en-US"/>
              <a:t>POP3</a:t>
            </a:r>
            <a:endParaRPr lang="en-IN" altLang="en-US"/>
          </a:p>
        </p:txBody>
      </p:sp>
      <p:sp>
        <p:nvSpPr>
          <p:cNvPr id="3" name="Slide Number Placeholder 2"/>
          <p:cNvSpPr>
            <a:spLocks noGrp="1"/>
          </p:cNvSpPr>
          <p:nvPr>
            <p:ph type="sldNum" sz="quarter" idx="4"/>
          </p:nvPr>
        </p:nvSpPr>
        <p:spPr/>
        <p:txBody>
          <a:bodyPr/>
          <a:p>
            <a:r>
              <a:rPr lang="en-US" dirty="0"/>
              <a:t>Application Layer: 2-</a:t>
            </a:r>
            <a:fld id="{C4204591-24BD-A542-B9D5-F8D8A88D2FEE}" type="slidenum">
              <a:rPr lang="en-US" smtClean="0"/>
            </a:fld>
            <a:endParaRPr lang="en-US" dirty="0"/>
          </a:p>
        </p:txBody>
      </p:sp>
      <p:sp>
        <p:nvSpPr>
          <p:cNvPr id="4099" name="Text Placeholder 4098"/>
          <p:cNvSpPr>
            <a:spLocks noGrp="1"/>
          </p:cNvSpPr>
          <p:nvPr>
            <p:ph type="body" idx="1"/>
          </p:nvPr>
        </p:nvSpPr>
        <p:spPr>
          <a:xfrm>
            <a:off x="457200" y="1132840"/>
            <a:ext cx="10899775" cy="5320665"/>
          </a:xfrm>
        </p:spPr>
        <p:txBody>
          <a:bodyPr/>
          <a:p>
            <a:r>
              <a:rPr sz="3000">
                <a:latin typeface="Times New Roman" panose="02020603050405020304" pitchFamily="18" charset="0"/>
              </a:rPr>
              <a:t>Short for </a:t>
            </a:r>
            <a:r>
              <a:rPr sz="3000" b="1" i="1">
                <a:latin typeface="Times New Roman" panose="02020603050405020304" pitchFamily="18" charset="0"/>
              </a:rPr>
              <a:t>P</a:t>
            </a:r>
            <a:r>
              <a:rPr sz="3000" i="1">
                <a:latin typeface="Times New Roman" panose="02020603050405020304" pitchFamily="18" charset="0"/>
              </a:rPr>
              <a:t>ost </a:t>
            </a:r>
            <a:r>
              <a:rPr sz="3000" b="1" i="1">
                <a:latin typeface="Times New Roman" panose="02020603050405020304" pitchFamily="18" charset="0"/>
              </a:rPr>
              <a:t>O</a:t>
            </a:r>
            <a:r>
              <a:rPr sz="3000" i="1">
                <a:latin typeface="Times New Roman" panose="02020603050405020304" pitchFamily="18" charset="0"/>
              </a:rPr>
              <a:t>ffice </a:t>
            </a:r>
            <a:r>
              <a:rPr sz="3000" b="1" i="1">
                <a:latin typeface="Times New Roman" panose="02020603050405020304" pitchFamily="18" charset="0"/>
              </a:rPr>
              <a:t>P</a:t>
            </a:r>
            <a:r>
              <a:rPr sz="3000" i="1">
                <a:latin typeface="Times New Roman" panose="02020603050405020304" pitchFamily="18" charset="0"/>
              </a:rPr>
              <a:t>rotocol,</a:t>
            </a:r>
            <a:r>
              <a:rPr sz="3000">
                <a:latin typeface="Times New Roman" panose="02020603050405020304" pitchFamily="18" charset="0"/>
              </a:rPr>
              <a:t> a </a:t>
            </a:r>
            <a:r>
              <a:rPr sz="3000">
                <a:latin typeface="Times New Roman" panose="02020603050405020304" pitchFamily="18" charset="0"/>
                <a:hlinkClick r:id="rId1"/>
              </a:rPr>
              <a:t>protocol</a:t>
            </a:r>
            <a:r>
              <a:rPr sz="3000">
                <a:latin typeface="Times New Roman" panose="02020603050405020304" pitchFamily="18" charset="0"/>
              </a:rPr>
              <a:t> used to retrieve </a:t>
            </a:r>
            <a:r>
              <a:rPr sz="3000">
                <a:latin typeface="Times New Roman" panose="02020603050405020304" pitchFamily="18" charset="0"/>
                <a:hlinkClick r:id="rId2"/>
              </a:rPr>
              <a:t>e-mail</a:t>
            </a:r>
            <a:r>
              <a:rPr sz="3000">
                <a:latin typeface="Times New Roman" panose="02020603050405020304" pitchFamily="18" charset="0"/>
              </a:rPr>
              <a:t> from a mail </a:t>
            </a:r>
            <a:r>
              <a:rPr sz="3000">
                <a:latin typeface="Times New Roman" panose="02020603050405020304" pitchFamily="18" charset="0"/>
                <a:hlinkClick r:id="rId3"/>
              </a:rPr>
              <a:t>server</a:t>
            </a:r>
            <a:r>
              <a:rPr sz="3000">
                <a:latin typeface="Times New Roman" panose="02020603050405020304" pitchFamily="18" charset="0"/>
              </a:rPr>
              <a:t>. Most e-mail applications (sometimes called an </a:t>
            </a:r>
            <a:r>
              <a:rPr sz="3000" i="1">
                <a:latin typeface="Times New Roman" panose="02020603050405020304" pitchFamily="18" charset="0"/>
                <a:hlinkClick r:id="rId4"/>
              </a:rPr>
              <a:t>e-mail client</a:t>
            </a:r>
            <a:r>
              <a:rPr sz="3000">
                <a:latin typeface="Times New Roman" panose="02020603050405020304" pitchFamily="18" charset="0"/>
              </a:rPr>
              <a:t>) use the POP protocol, although some can use the newer </a:t>
            </a:r>
            <a:r>
              <a:rPr sz="3000">
                <a:latin typeface="Times New Roman" panose="02020603050405020304" pitchFamily="18" charset="0"/>
                <a:hlinkClick r:id="rId5"/>
              </a:rPr>
              <a:t>IMAP (Internet Message Access Protocol)</a:t>
            </a:r>
            <a:r>
              <a:rPr sz="3000">
                <a:latin typeface="Times New Roman" panose="02020603050405020304" pitchFamily="18" charset="0"/>
              </a:rPr>
              <a:t>. </a:t>
            </a:r>
            <a:endParaRPr sz="3000">
              <a:latin typeface="Times New Roman" panose="02020603050405020304" pitchFamily="18" charset="0"/>
            </a:endParaRPr>
          </a:p>
          <a:p>
            <a:r>
              <a:rPr sz="3000">
                <a:latin typeface="Times New Roman" panose="02020603050405020304" pitchFamily="18" charset="0"/>
              </a:rPr>
              <a:t>There are two versions of POP. The first, called </a:t>
            </a:r>
            <a:r>
              <a:rPr sz="3000" i="1">
                <a:latin typeface="Times New Roman" panose="02020603050405020304" pitchFamily="18" charset="0"/>
              </a:rPr>
              <a:t>POP2,</a:t>
            </a:r>
            <a:r>
              <a:rPr sz="3000">
                <a:latin typeface="Times New Roman" panose="02020603050405020304" pitchFamily="18" charset="0"/>
              </a:rPr>
              <a:t> became a </a:t>
            </a:r>
            <a:r>
              <a:rPr sz="3000">
                <a:latin typeface="Times New Roman" panose="02020603050405020304" pitchFamily="18" charset="0"/>
                <a:hlinkClick r:id="rId6"/>
              </a:rPr>
              <a:t>standard</a:t>
            </a:r>
            <a:r>
              <a:rPr sz="3000">
                <a:latin typeface="Times New Roman" panose="02020603050405020304" pitchFamily="18" charset="0"/>
              </a:rPr>
              <a:t> in the mid-80's and requires SMTP to send messages. The newer version, POP3, can be used with or without </a:t>
            </a:r>
            <a:r>
              <a:rPr sz="3000">
                <a:latin typeface="Times New Roman" panose="02020603050405020304" pitchFamily="18" charset="0"/>
                <a:hlinkClick r:id="rId7"/>
              </a:rPr>
              <a:t>SMTP</a:t>
            </a:r>
            <a:r>
              <a:rPr sz="3000">
                <a:latin typeface="Times New Roman" panose="02020603050405020304" pitchFamily="18" charset="0"/>
              </a:rPr>
              <a:t>. POP3 uses TCP/IP port 110.</a:t>
            </a:r>
            <a:endParaRPr sz="3000">
              <a:latin typeface="Times New Roman" panose="02020603050405020304" pitchFamily="18"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Title 1"/>
          <p:cNvSpPr>
            <a:spLocks noGrp="1"/>
          </p:cNvSpPr>
          <p:nvPr>
            <p:ph type="title"/>
          </p:nvPr>
        </p:nvSpPr>
        <p:spPr/>
        <p:txBody>
          <a:bodyPr/>
          <a:p>
            <a:r>
              <a:rPr lang="en-IN" altLang="en-US"/>
              <a:t>IMAP4</a:t>
            </a:r>
            <a:endParaRPr lang="en-IN" altLang="en-US"/>
          </a:p>
        </p:txBody>
      </p:sp>
      <p:sp>
        <p:nvSpPr>
          <p:cNvPr id="3" name="Slide Number Placeholder 2"/>
          <p:cNvSpPr>
            <a:spLocks noGrp="1"/>
          </p:cNvSpPr>
          <p:nvPr>
            <p:ph type="sldNum" sz="quarter" idx="4"/>
          </p:nvPr>
        </p:nvSpPr>
        <p:spPr/>
        <p:txBody>
          <a:bodyPr/>
          <a:p>
            <a:r>
              <a:rPr lang="en-US" dirty="0"/>
              <a:t>Application Layer: 2-</a:t>
            </a:r>
            <a:fld id="{C4204591-24BD-A542-B9D5-F8D8A88D2FEE}" type="slidenum">
              <a:rPr lang="en-US" smtClean="0"/>
            </a:fld>
            <a:endParaRPr lang="en-US" dirty="0"/>
          </a:p>
        </p:txBody>
      </p:sp>
      <p:sp>
        <p:nvSpPr>
          <p:cNvPr id="3075" name="Text Placeholder 3074"/>
          <p:cNvSpPr>
            <a:spLocks noGrp="1"/>
          </p:cNvSpPr>
          <p:nvPr>
            <p:ph type="body" idx="1"/>
          </p:nvPr>
        </p:nvSpPr>
        <p:spPr>
          <a:xfrm>
            <a:off x="539750" y="1384935"/>
            <a:ext cx="10814050" cy="4996815"/>
          </a:xfrm>
        </p:spPr>
        <p:txBody>
          <a:bodyPr/>
          <a:p>
            <a:pPr>
              <a:lnSpc>
                <a:spcPct val="90000"/>
              </a:lnSpc>
              <a:buNone/>
            </a:pPr>
            <a:r>
              <a:rPr sz="3000">
                <a:latin typeface="Times New Roman" panose="02020603050405020304" pitchFamily="18" charset="0"/>
              </a:rPr>
              <a:t>IMAP is an </a:t>
            </a:r>
            <a:r>
              <a:rPr sz="3000" b="1" u="sng">
                <a:solidFill>
                  <a:schemeClr val="hlink"/>
                </a:solidFill>
                <a:latin typeface="Times New Roman" panose="02020603050405020304" pitchFamily="18" charset="0"/>
              </a:rPr>
              <a:t>Internet Message Access Protocol</a:t>
            </a:r>
            <a:r>
              <a:rPr sz="3000">
                <a:latin typeface="Times New Roman" panose="02020603050405020304" pitchFamily="18" charset="0"/>
              </a:rPr>
              <a:t>. It is a method of accessing electronic mail messages that are kept on a possibly shared mail server. In other words, it permits a "client" email program to access remote message stores as if they were local. For example, email stored on an IMAP server can be manipulated from a desktop computer at home, a workstation at the office, and a notebook computer while travelling, without the need to transfer messages or files back and forth between these computers. IMAP uses TCP/IP port 143.</a:t>
            </a:r>
            <a:endParaRPr sz="3000">
              <a:latin typeface="Times New Roman" panose="02020603050405020304" pitchFamily="18" charset="0"/>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Title 1"/>
          <p:cNvSpPr>
            <a:spLocks noGrp="1"/>
          </p:cNvSpPr>
          <p:nvPr>
            <p:ph type="title"/>
          </p:nvPr>
        </p:nvSpPr>
        <p:spPr/>
        <p:txBody>
          <a:bodyPr/>
          <a:p>
            <a:r>
              <a:rPr lang="en-IN" altLang="en-US"/>
              <a:t>POP3 vs IMAP</a:t>
            </a:r>
            <a:endParaRPr lang="en-IN" altLang="en-US"/>
          </a:p>
        </p:txBody>
      </p:sp>
      <p:sp>
        <p:nvSpPr>
          <p:cNvPr id="3" name="Slide Number Placeholder 2"/>
          <p:cNvSpPr>
            <a:spLocks noGrp="1"/>
          </p:cNvSpPr>
          <p:nvPr>
            <p:ph type="sldNum" sz="quarter" idx="4"/>
          </p:nvPr>
        </p:nvSpPr>
        <p:spPr/>
        <p:txBody>
          <a:bodyPr/>
          <a:p>
            <a:r>
              <a:rPr lang="en-US" dirty="0"/>
              <a:t>Application Layer: 2-</a:t>
            </a:r>
            <a:fld id="{C4204591-24BD-A542-B9D5-F8D8A88D2FEE}" type="slidenum">
              <a:rPr lang="en-US" smtClean="0"/>
            </a:fld>
            <a:endParaRPr lang="en-US" dirty="0"/>
          </a:p>
        </p:txBody>
      </p:sp>
      <p:sp>
        <p:nvSpPr>
          <p:cNvPr id="11267" name="Text Placeholder 11266"/>
          <p:cNvSpPr>
            <a:spLocks noGrp="1"/>
          </p:cNvSpPr>
          <p:nvPr>
            <p:ph type="body" idx="1"/>
          </p:nvPr>
        </p:nvSpPr>
        <p:spPr>
          <a:xfrm>
            <a:off x="457200" y="1926590"/>
            <a:ext cx="10868025" cy="4526915"/>
          </a:xfrm>
        </p:spPr>
        <p:txBody>
          <a:bodyPr/>
          <a:p>
            <a:pPr>
              <a:lnSpc>
                <a:spcPct val="80000"/>
              </a:lnSpc>
            </a:pPr>
            <a:r>
              <a:rPr lang="en-US" altLang="x-none" sz="2400" dirty="0"/>
              <a:t>With IMAP, all your mail stays on the server in multiple folders, some of which you have created. This enables you to connect to any computer and see all your mail and mail folders. In general, IMAP is great if you have a dedicated connection to the Internet or you like to check your mail from various locations.</a:t>
            </a:r>
            <a:endParaRPr lang="en-US" altLang="x-none" sz="2400" dirty="0"/>
          </a:p>
          <a:p>
            <a:pPr>
              <a:lnSpc>
                <a:spcPct val="80000"/>
              </a:lnSpc>
            </a:pPr>
            <a:r>
              <a:rPr lang="en-US" altLang="x-none" sz="2400" dirty="0"/>
              <a:t>With POP3 you only have one folder, the Inbox folder. When you open your mailbox, new mail is moved from the host server and saved on your computer. If you want to be able to see your old mail messages, you have to go back to the computer where you last opened your mail.</a:t>
            </a:r>
            <a:r>
              <a:rPr sz="2400"/>
              <a:t> </a:t>
            </a:r>
            <a:endParaRPr lang="en-US" altLang="x-none" sz="2400" dirty="0"/>
          </a:p>
          <a:p>
            <a:pPr>
              <a:lnSpc>
                <a:spcPct val="80000"/>
              </a:lnSpc>
            </a:pPr>
            <a:r>
              <a:rPr lang="en-US" altLang="x-none" sz="2400" dirty="0"/>
              <a:t>With POP3 "leave mail on server" only your email messages are on the server, but with IMAP your email folders are also on the server.</a:t>
            </a:r>
            <a:endParaRPr sz="2400"/>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Title 1"/>
          <p:cNvSpPr>
            <a:spLocks noGrp="1"/>
          </p:cNvSpPr>
          <p:nvPr>
            <p:ph type="title"/>
          </p:nvPr>
        </p:nvSpPr>
        <p:spPr/>
        <p:txBody>
          <a:bodyPr/>
          <a:p>
            <a:r>
              <a:rPr lang="en-IN" altLang="en-US"/>
              <a:t>POP3 VS IMAP4</a:t>
            </a:r>
            <a:endParaRPr lang="en-IN" altLang="en-US"/>
          </a:p>
        </p:txBody>
      </p:sp>
      <p:sp>
        <p:nvSpPr>
          <p:cNvPr id="3" name="Slide Number Placeholder 2"/>
          <p:cNvSpPr>
            <a:spLocks noGrp="1"/>
          </p:cNvSpPr>
          <p:nvPr>
            <p:ph type="sldNum" sz="quarter" idx="4"/>
          </p:nvPr>
        </p:nvSpPr>
        <p:spPr/>
        <p:txBody>
          <a:bodyPr/>
          <a:p>
            <a:r>
              <a:rPr lang="en-US" dirty="0"/>
              <a:t>Application Layer: 2-</a:t>
            </a:r>
            <a:fld id="{C4204591-24BD-A542-B9D5-F8D8A88D2FEE}" type="slidenum">
              <a:rPr lang="en-US" smtClean="0"/>
            </a:fld>
            <a:endParaRPr lang="en-US" dirty="0"/>
          </a:p>
        </p:txBody>
      </p:sp>
      <p:sp>
        <p:nvSpPr>
          <p:cNvPr id="4" name="Text Box 3"/>
          <p:cNvSpPr txBox="1"/>
          <p:nvPr/>
        </p:nvSpPr>
        <p:spPr>
          <a:xfrm>
            <a:off x="361315" y="1316355"/>
            <a:ext cx="11574780" cy="4933950"/>
          </a:xfrm>
          <a:prstGeom prst="rect">
            <a:avLst/>
          </a:prstGeom>
        </p:spPr>
        <p:txBody>
          <a:bodyPr>
            <a:noAutofit/>
          </a:bodyPr>
          <a:p>
            <a:pPr marL="0" indent="0">
              <a:spcBef>
                <a:spcPct val="0"/>
              </a:spcBef>
              <a:spcAft>
                <a:spcPct val="0"/>
              </a:spcAft>
              <a:buFont typeface="Arial" panose="020B0604020202020204"/>
              <a:buNone/>
            </a:pPr>
            <a:r>
              <a:rPr sz="1600" b="0" i="0">
                <a:solidFill>
                  <a:srgbClr val="161616"/>
                </a:solidFill>
                <a:latin typeface="Calibri" panose="020F0502020204030204" pitchFamily="34" charset="0"/>
                <a:ea typeface="Segoe UI" panose="020B0502040204020203"/>
                <a:cs typeface="Calibri" panose="020F0502020204030204" pitchFamily="34" charset="0"/>
              </a:rPr>
              <a:t>POP3</a:t>
            </a:r>
            <a:endParaRPr sz="1600" b="0" i="0">
              <a:solidFill>
                <a:srgbClr val="161616"/>
              </a:solidFill>
              <a:latin typeface="Calibri" panose="020F0502020204030204" pitchFamily="34" charset="0"/>
              <a:ea typeface="Segoe UI" panose="020B0502040204020203"/>
              <a:cs typeface="Calibri" panose="020F0502020204030204" pitchFamily="34" charset="0"/>
            </a:endParaRPr>
          </a:p>
          <a:p>
            <a:pPr marL="1257300" lvl="2" indent="-342900">
              <a:spcBef>
                <a:spcPct val="0"/>
              </a:spcBef>
              <a:spcAft>
                <a:spcPct val="0"/>
              </a:spcAft>
              <a:buFont typeface="Arial" panose="020B0604020202020204"/>
              <a:buAutoNum type="arabicPeriod"/>
            </a:pPr>
            <a:r>
              <a:rPr sz="1600" b="0" i="0">
                <a:solidFill>
                  <a:srgbClr val="161616"/>
                </a:solidFill>
                <a:latin typeface="Calibri" panose="020F0502020204030204" pitchFamily="34" charset="0"/>
                <a:ea typeface="Segoe UI" panose="020B0502040204020203"/>
                <a:cs typeface="Calibri" panose="020F0502020204030204" pitchFamily="34" charset="0"/>
              </a:rPr>
              <a:t>Designed for offline message processing.</a:t>
            </a:r>
            <a:endParaRPr sz="1600" b="0" i="0">
              <a:solidFill>
                <a:srgbClr val="161616"/>
              </a:solidFill>
              <a:latin typeface="Calibri" panose="020F0502020204030204" pitchFamily="34" charset="0"/>
              <a:ea typeface="Segoe UI" panose="020B0502040204020203"/>
              <a:cs typeface="Calibri" panose="020F0502020204030204" pitchFamily="34" charset="0"/>
            </a:endParaRPr>
          </a:p>
          <a:p>
            <a:pPr marL="1257300" lvl="2" indent="-342900">
              <a:spcBef>
                <a:spcPct val="0"/>
              </a:spcBef>
              <a:spcAft>
                <a:spcPct val="0"/>
              </a:spcAft>
              <a:buFont typeface="Arial" panose="020B0604020202020204"/>
              <a:buAutoNum type="arabicPeriod"/>
            </a:pPr>
            <a:r>
              <a:rPr sz="1600" b="0" i="0">
                <a:solidFill>
                  <a:srgbClr val="161616"/>
                </a:solidFill>
                <a:latin typeface="Calibri" panose="020F0502020204030204" pitchFamily="34" charset="0"/>
                <a:ea typeface="Segoe UI" panose="020B0502040204020203"/>
                <a:cs typeface="Calibri" panose="020F0502020204030204" pitchFamily="34" charset="0"/>
              </a:rPr>
              <a:t>Can only download messages from a single folder (usually the Inbox) in the mailbox to a single folder in the POP3 application on the client computer or device.</a:t>
            </a:r>
            <a:endParaRPr sz="1600" b="0" i="0">
              <a:solidFill>
                <a:srgbClr val="161616"/>
              </a:solidFill>
              <a:latin typeface="Calibri" panose="020F0502020204030204" pitchFamily="34" charset="0"/>
              <a:ea typeface="Segoe UI" panose="020B0502040204020203"/>
              <a:cs typeface="Calibri" panose="020F0502020204030204" pitchFamily="34" charset="0"/>
            </a:endParaRPr>
          </a:p>
          <a:p>
            <a:pPr marL="1257300" lvl="2" indent="-342900">
              <a:spcBef>
                <a:spcPct val="0"/>
              </a:spcBef>
              <a:spcAft>
                <a:spcPct val="0"/>
              </a:spcAft>
              <a:buFont typeface="Arial" panose="020B0604020202020204"/>
              <a:buAutoNum type="arabicPeriod"/>
            </a:pPr>
            <a:r>
              <a:rPr sz="1600" b="0" i="0">
                <a:solidFill>
                  <a:srgbClr val="161616"/>
                </a:solidFill>
                <a:latin typeface="Calibri" panose="020F0502020204030204" pitchFamily="34" charset="0"/>
                <a:ea typeface="Segoe UI" panose="020B0502040204020203"/>
                <a:cs typeface="Calibri" panose="020F0502020204030204" pitchFamily="34" charset="0"/>
              </a:rPr>
              <a:t>By default, downloaded messages are removed from the email server, and are stored only on the local computer or device. Therefore, users can't access the same email messages from multiple computers or devices (although many POP3 applications can be configured to keep copies of downloaded messages in the mailbox on the email server).</a:t>
            </a:r>
            <a:endParaRPr sz="1600" b="0" i="0">
              <a:solidFill>
                <a:srgbClr val="161616"/>
              </a:solidFill>
              <a:latin typeface="Calibri" panose="020F0502020204030204" pitchFamily="34" charset="0"/>
              <a:ea typeface="Segoe UI" panose="020B0502040204020203"/>
              <a:cs typeface="Calibri" panose="020F0502020204030204" pitchFamily="34" charset="0"/>
            </a:endParaRPr>
          </a:p>
          <a:p>
            <a:pPr marL="1257300" lvl="2" indent="-342900">
              <a:spcBef>
                <a:spcPct val="0"/>
              </a:spcBef>
              <a:spcAft>
                <a:spcPct val="0"/>
              </a:spcAft>
              <a:buFont typeface="Arial" panose="020B0604020202020204"/>
              <a:buAutoNum type="arabicPeriod"/>
            </a:pPr>
            <a:r>
              <a:rPr sz="1600" b="0" i="0">
                <a:solidFill>
                  <a:srgbClr val="161616"/>
                </a:solidFill>
                <a:latin typeface="Calibri" panose="020F0502020204030204" pitchFamily="34" charset="0"/>
                <a:ea typeface="Segoe UI" panose="020B0502040204020203"/>
                <a:cs typeface="Calibri" panose="020F0502020204030204" pitchFamily="34" charset="0"/>
              </a:rPr>
              <a:t>Doesn't offer advanced collaboration features such as calendaring, contacts, and tasks.</a:t>
            </a:r>
            <a:endParaRPr sz="1600" b="0" i="0">
              <a:solidFill>
                <a:srgbClr val="161616"/>
              </a:solidFill>
              <a:latin typeface="Calibri" panose="020F0502020204030204" pitchFamily="34" charset="0"/>
              <a:ea typeface="Segoe UI" panose="020B0502040204020203"/>
              <a:cs typeface="Calibri" panose="020F0502020204030204" pitchFamily="34" charset="0"/>
            </a:endParaRPr>
          </a:p>
          <a:p>
            <a:pPr marL="0" indent="0">
              <a:spcBef>
                <a:spcPct val="0"/>
              </a:spcBef>
              <a:spcAft>
                <a:spcPct val="0"/>
              </a:spcAft>
              <a:buFont typeface="Arial" panose="020B0604020202020204"/>
              <a:buNone/>
            </a:pPr>
            <a:r>
              <a:rPr sz="1600" b="0" i="0">
                <a:solidFill>
                  <a:srgbClr val="161616"/>
                </a:solidFill>
                <a:latin typeface="Calibri" panose="020F0502020204030204" pitchFamily="34" charset="0"/>
                <a:ea typeface="Segoe UI" panose="020B0502040204020203"/>
                <a:cs typeface="Calibri" panose="020F0502020204030204" pitchFamily="34" charset="0"/>
              </a:rPr>
              <a:t>IMAP4</a:t>
            </a:r>
            <a:endParaRPr sz="1600" b="0" i="0">
              <a:solidFill>
                <a:srgbClr val="161616"/>
              </a:solidFill>
              <a:latin typeface="Calibri" panose="020F0502020204030204" pitchFamily="34" charset="0"/>
              <a:ea typeface="Segoe UI" panose="020B0502040204020203"/>
              <a:cs typeface="Calibri" panose="020F0502020204030204" pitchFamily="34" charset="0"/>
            </a:endParaRPr>
          </a:p>
          <a:p>
            <a:pPr marL="800100" lvl="2" indent="-342900">
              <a:spcBef>
                <a:spcPct val="0"/>
              </a:spcBef>
              <a:spcAft>
                <a:spcPct val="0"/>
              </a:spcAft>
              <a:buAutoNum type="arabicPeriod"/>
            </a:pPr>
            <a:r>
              <a:rPr sz="1600" b="0" i="0">
                <a:solidFill>
                  <a:srgbClr val="161616"/>
                </a:solidFill>
                <a:latin typeface="Calibri" panose="020F0502020204030204" pitchFamily="34" charset="0"/>
                <a:ea typeface="Segoe UI" panose="020B0502040204020203"/>
                <a:cs typeface="Calibri" panose="020F0502020204030204" pitchFamily="34" charset="0"/>
              </a:rPr>
              <a:t>Offers offline and online message processing.</a:t>
            </a:r>
            <a:endParaRPr sz="1600" b="0" i="0">
              <a:solidFill>
                <a:srgbClr val="161616"/>
              </a:solidFill>
              <a:latin typeface="Calibri" panose="020F0502020204030204" pitchFamily="34" charset="0"/>
              <a:ea typeface="Segoe UI" panose="020B0502040204020203"/>
              <a:cs typeface="Calibri" panose="020F0502020204030204" pitchFamily="34" charset="0"/>
            </a:endParaRPr>
          </a:p>
          <a:p>
            <a:pPr marL="800100" lvl="2" indent="-342900">
              <a:spcBef>
                <a:spcPct val="0"/>
              </a:spcBef>
              <a:spcAft>
                <a:spcPct val="0"/>
              </a:spcAft>
              <a:buAutoNum type="arabicPeriod"/>
            </a:pPr>
            <a:r>
              <a:rPr sz="1600" b="0" i="0">
                <a:solidFill>
                  <a:srgbClr val="161616"/>
                </a:solidFill>
                <a:latin typeface="Calibri" panose="020F0502020204030204" pitchFamily="34" charset="0"/>
                <a:ea typeface="Segoe UI" panose="020B0502040204020203"/>
                <a:cs typeface="Calibri" panose="020F0502020204030204" pitchFamily="34" charset="0"/>
              </a:rPr>
              <a:t>Can synchronize messages from multiple folders in the mailbox with the client computer or device. For example, most IMAP4 applications can be configured to keep a copy of sent messages in the mailbox on the email server.</a:t>
            </a:r>
            <a:endParaRPr sz="1600" b="0" i="0">
              <a:solidFill>
                <a:srgbClr val="161616"/>
              </a:solidFill>
              <a:latin typeface="Calibri" panose="020F0502020204030204" pitchFamily="34" charset="0"/>
              <a:ea typeface="Segoe UI" panose="020B0502040204020203"/>
              <a:cs typeface="Calibri" panose="020F0502020204030204" pitchFamily="34" charset="0"/>
            </a:endParaRPr>
          </a:p>
          <a:p>
            <a:pPr marL="800100" lvl="2" indent="-342900">
              <a:spcBef>
                <a:spcPct val="0"/>
              </a:spcBef>
              <a:spcAft>
                <a:spcPct val="0"/>
              </a:spcAft>
              <a:buAutoNum type="arabicPeriod"/>
            </a:pPr>
            <a:r>
              <a:rPr sz="1600" b="0" i="0">
                <a:solidFill>
                  <a:srgbClr val="161616"/>
                </a:solidFill>
                <a:latin typeface="Calibri" panose="020F0502020204030204" pitchFamily="34" charset="0"/>
                <a:ea typeface="Segoe UI" panose="020B0502040204020203"/>
                <a:cs typeface="Calibri" panose="020F0502020204030204" pitchFamily="34" charset="0"/>
              </a:rPr>
              <a:t>By default, copies of downloaded messages remain on the email server. Therefore, users can access the same messages from multiple computers.</a:t>
            </a:r>
            <a:endParaRPr sz="1600" b="0" i="0">
              <a:solidFill>
                <a:srgbClr val="161616"/>
              </a:solidFill>
              <a:latin typeface="Calibri" panose="020F0502020204030204" pitchFamily="34" charset="0"/>
              <a:ea typeface="Segoe UI" panose="020B0502040204020203"/>
              <a:cs typeface="Calibri" panose="020F0502020204030204" pitchFamily="34" charset="0"/>
            </a:endParaRPr>
          </a:p>
          <a:p>
            <a:pPr marL="800100" lvl="2" indent="-342900">
              <a:spcBef>
                <a:spcPct val="0"/>
              </a:spcBef>
              <a:spcAft>
                <a:spcPct val="0"/>
              </a:spcAft>
              <a:buAutoNum type="arabicPeriod"/>
            </a:pPr>
            <a:r>
              <a:rPr sz="1600" b="0" i="0">
                <a:solidFill>
                  <a:srgbClr val="161616"/>
                </a:solidFill>
                <a:latin typeface="Calibri" panose="020F0502020204030204" pitchFamily="34" charset="0"/>
                <a:ea typeface="Segoe UI" panose="020B0502040204020203"/>
                <a:cs typeface="Calibri" panose="020F0502020204030204" pitchFamily="34" charset="0"/>
              </a:rPr>
              <a:t>Supports additional features. For example, you can download the message headers (the message's sender and subject) before you decide to download the complete message.</a:t>
            </a:r>
            <a:endParaRPr sz="1600" b="0" i="0">
              <a:solidFill>
                <a:srgbClr val="161616"/>
              </a:solidFill>
              <a:latin typeface="Calibri" panose="020F0502020204030204" pitchFamily="34" charset="0"/>
              <a:ea typeface="Segoe UI" panose="020B0502040204020203"/>
              <a:cs typeface="Calibri" panose="020F0502020204030204" pitchFamily="34" charset="0"/>
            </a:endParaRPr>
          </a:p>
          <a:p>
            <a:pPr marL="800100" lvl="2" indent="-342900">
              <a:spcBef>
                <a:spcPct val="0"/>
              </a:spcBef>
              <a:spcAft>
                <a:spcPct val="0"/>
              </a:spcAft>
              <a:buAutoNum type="arabicPeriod"/>
            </a:pPr>
            <a:r>
              <a:rPr sz="1600" b="0" i="0">
                <a:solidFill>
                  <a:srgbClr val="161616"/>
                </a:solidFill>
                <a:latin typeface="Calibri" panose="020F0502020204030204" pitchFamily="34" charset="0"/>
                <a:ea typeface="Segoe UI" panose="020B0502040204020203"/>
                <a:cs typeface="Calibri" panose="020F0502020204030204" pitchFamily="34" charset="0"/>
              </a:rPr>
              <a:t>Doesn't offer advanced collaboration features such as calendaring, contacts, and tasks.</a:t>
            </a:r>
            <a:endParaRPr sz="1600" b="0" i="0">
              <a:solidFill>
                <a:srgbClr val="161616"/>
              </a:solidFill>
              <a:latin typeface="Calibri" panose="020F0502020204030204" pitchFamily="34" charset="0"/>
              <a:ea typeface="Segoe UI" panose="020B0502040204020203"/>
              <a:cs typeface="Calibri" panose="020F0502020204030204" pitchFamily="34" charset="0"/>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Title 1"/>
          <p:cNvSpPr>
            <a:spLocks noGrp="1"/>
          </p:cNvSpPr>
          <p:nvPr>
            <p:ph type="title"/>
          </p:nvPr>
        </p:nvSpPr>
        <p:spPr>
          <a:xfrm>
            <a:off x="838200" y="452120"/>
            <a:ext cx="10424795" cy="610235"/>
          </a:xfrm>
        </p:spPr>
        <p:txBody>
          <a:bodyPr>
            <a:normAutofit fontScale="90000"/>
          </a:bodyPr>
          <a:p>
            <a:r>
              <a:rPr lang="en-IN" altLang="en-US"/>
              <a:t>MIME</a:t>
            </a:r>
            <a:endParaRPr lang="en-IN" altLang="en-US"/>
          </a:p>
        </p:txBody>
      </p:sp>
      <p:sp>
        <p:nvSpPr>
          <p:cNvPr id="3" name="Slide Number Placeholder 2"/>
          <p:cNvSpPr>
            <a:spLocks noGrp="1"/>
          </p:cNvSpPr>
          <p:nvPr>
            <p:ph type="sldNum" sz="quarter" idx="4"/>
          </p:nvPr>
        </p:nvSpPr>
        <p:spPr/>
        <p:txBody>
          <a:bodyPr/>
          <a:p>
            <a:r>
              <a:rPr lang="en-US" dirty="0"/>
              <a:t>Application Layer: 2-</a:t>
            </a:r>
            <a:fld id="{C4204591-24BD-A542-B9D5-F8D8A88D2FEE}" type="slidenum">
              <a:rPr lang="en-US" smtClean="0"/>
            </a:fld>
            <a:endParaRPr lang="en-US" dirty="0"/>
          </a:p>
        </p:txBody>
      </p:sp>
      <p:sp>
        <p:nvSpPr>
          <p:cNvPr id="4" name="Text Box 3"/>
          <p:cNvSpPr txBox="1"/>
          <p:nvPr/>
        </p:nvSpPr>
        <p:spPr>
          <a:xfrm>
            <a:off x="443865" y="1581785"/>
            <a:ext cx="11324590" cy="2877820"/>
          </a:xfrm>
          <a:prstGeom prst="rect">
            <a:avLst/>
          </a:prstGeom>
        </p:spPr>
        <p:txBody>
          <a:bodyPr>
            <a:noAutofit/>
          </a:bodyPr>
          <a:p>
            <a:pPr marL="0" indent="0"/>
            <a:endParaRPr sz="1600" b="0" i="0">
              <a:solidFill>
                <a:srgbClr val="191919"/>
              </a:solidFill>
              <a:latin typeface="Roboto Slab"/>
              <a:ea typeface="Roboto Slab"/>
            </a:endParaRPr>
          </a:p>
        </p:txBody>
      </p:sp>
      <p:sp>
        <p:nvSpPr>
          <p:cNvPr id="5" name="Text Box 4"/>
          <p:cNvSpPr txBox="1"/>
          <p:nvPr/>
        </p:nvSpPr>
        <p:spPr>
          <a:xfrm>
            <a:off x="443230" y="1064260"/>
            <a:ext cx="11273790" cy="5377180"/>
          </a:xfrm>
          <a:prstGeom prst="rect">
            <a:avLst/>
          </a:prstGeom>
          <a:noFill/>
        </p:spPr>
        <p:txBody>
          <a:bodyPr wrap="square" rtlCol="0">
            <a:noAutofit/>
          </a:bodyPr>
          <a:p>
            <a:r>
              <a:rPr sz="1600">
                <a:solidFill>
                  <a:srgbClr val="191919"/>
                </a:solidFill>
                <a:latin typeface="+mn-ea"/>
                <a:ea typeface="Roboto Slab"/>
                <a:cs typeface="+mn-ea"/>
                <a:sym typeface="+mn-ea"/>
              </a:rPr>
              <a:t>MIME in computer networks stands for Multipurpose Internet Mail Extensions. MIME is an extension of its parent protocol i.e. SMTP (Simple Mail Transfer Protocol). MIME protocol is not restricted to textual data only. With the help of the MIME protocol, we can send various types of data through the internet such as text, images, audio, videos, etc.</a:t>
            </a:r>
            <a:endParaRPr sz="1600">
              <a:solidFill>
                <a:srgbClr val="191919"/>
              </a:solidFill>
              <a:latin typeface="+mn-ea"/>
              <a:ea typeface="Roboto Slab"/>
              <a:cs typeface="+mn-ea"/>
              <a:sym typeface="+mn-ea"/>
            </a:endParaRPr>
          </a:p>
          <a:p>
            <a:endParaRPr sz="1600">
              <a:solidFill>
                <a:srgbClr val="191919"/>
              </a:solidFill>
              <a:latin typeface="+mn-ea"/>
              <a:ea typeface="Roboto Slab"/>
              <a:cs typeface="+mn-ea"/>
            </a:endParaRPr>
          </a:p>
          <a:p>
            <a:r>
              <a:rPr lang="en-US" altLang="en-US" sz="1600">
                <a:solidFill>
                  <a:srgbClr val="191919"/>
                </a:solidFill>
                <a:latin typeface="+mn-ea"/>
                <a:ea typeface="Roboto Slab"/>
                <a:cs typeface="+mn-ea"/>
              </a:rPr>
              <a:t>At the sender’s end, the ASCII and non-ASCII data is converted into a 7-bit NVT ASCII data and then delivered the data to the respective client over the internet.</a:t>
            </a:r>
            <a:endParaRPr lang="en-US" altLang="en-US" sz="1600">
              <a:solidFill>
                <a:srgbClr val="191919"/>
              </a:solidFill>
              <a:latin typeface="+mn-ea"/>
              <a:ea typeface="Roboto Slab"/>
              <a:cs typeface="+mn-ea"/>
            </a:endParaRPr>
          </a:p>
          <a:p>
            <a:endParaRPr lang="en-US" altLang="en-US" sz="1600">
              <a:solidFill>
                <a:srgbClr val="191919"/>
              </a:solidFill>
              <a:latin typeface="+mn-ea"/>
              <a:ea typeface="Roboto Slab"/>
              <a:cs typeface="+mn-ea"/>
            </a:endParaRPr>
          </a:p>
          <a:p>
            <a:r>
              <a:rPr lang="en-US" altLang="en-US" sz="1600">
                <a:solidFill>
                  <a:srgbClr val="191919"/>
                </a:solidFill>
                <a:latin typeface="+mn-ea"/>
                <a:ea typeface="Roboto Slab"/>
                <a:cs typeface="+mn-ea"/>
              </a:rPr>
              <a:t>The MIME header can be divided into 5 types of header or subparts, i.e. MIME-Version, Content-Type, Content-Transfer-Encoding, Content-Id, and Content-Description.</a:t>
            </a:r>
            <a:endParaRPr lang="en-US" altLang="en-US" sz="1600">
              <a:solidFill>
                <a:srgbClr val="191919"/>
              </a:solidFill>
              <a:latin typeface="+mn-ea"/>
              <a:ea typeface="Roboto Slab"/>
              <a:cs typeface="+mn-ea"/>
            </a:endParaRPr>
          </a:p>
          <a:p>
            <a:endParaRPr lang="en-US" altLang="en-US" sz="1600">
              <a:solidFill>
                <a:srgbClr val="191919"/>
              </a:solidFill>
              <a:latin typeface="+mn-ea"/>
              <a:ea typeface="Roboto Slab"/>
              <a:cs typeface="+mn-ea"/>
            </a:endParaRPr>
          </a:p>
          <a:p>
            <a:endParaRPr lang="en-US" altLang="en-US" sz="1600">
              <a:solidFill>
                <a:srgbClr val="191919"/>
              </a:solidFill>
              <a:latin typeface="+mn-ea"/>
              <a:ea typeface="Roboto Slab"/>
              <a:cs typeface="+mn-ea"/>
            </a:endParaRPr>
          </a:p>
        </p:txBody>
      </p:sp>
      <p:pic>
        <p:nvPicPr>
          <p:cNvPr id="7" name="Picture 6"/>
          <p:cNvPicPr>
            <a:picLocks noChangeAspect="1"/>
          </p:cNvPicPr>
          <p:nvPr/>
        </p:nvPicPr>
        <p:blipFill>
          <a:blip r:embed="rId1"/>
          <a:stretch>
            <a:fillRect/>
          </a:stretch>
        </p:blipFill>
        <p:spPr>
          <a:xfrm>
            <a:off x="508635" y="3778885"/>
            <a:ext cx="6245225" cy="2664460"/>
          </a:xfrm>
          <a:prstGeom prst="rect">
            <a:avLst/>
          </a:prstGeom>
        </p:spPr>
      </p:pic>
      <p:pic>
        <p:nvPicPr>
          <p:cNvPr id="8" name="Picture 7"/>
          <p:cNvPicPr>
            <a:picLocks noChangeAspect="1"/>
          </p:cNvPicPr>
          <p:nvPr/>
        </p:nvPicPr>
        <p:blipFill>
          <a:blip r:embed="rId2"/>
          <a:stretch>
            <a:fillRect/>
          </a:stretch>
        </p:blipFill>
        <p:spPr>
          <a:xfrm>
            <a:off x="6913880" y="3637915"/>
            <a:ext cx="5278120" cy="2945765"/>
          </a:xfrm>
          <a:prstGeom prst="rect">
            <a:avLst/>
          </a:prstGeom>
        </p:spPr>
      </p:pic>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Title 1"/>
          <p:cNvSpPr>
            <a:spLocks noGrp="1"/>
          </p:cNvSpPr>
          <p:nvPr>
            <p:ph type="title"/>
          </p:nvPr>
        </p:nvSpPr>
        <p:spPr/>
        <p:txBody>
          <a:bodyPr/>
          <a:p>
            <a:r>
              <a:rPr lang="en-IN" altLang="en-US"/>
              <a:t>MIME</a:t>
            </a:r>
            <a:endParaRPr lang="en-IN" altLang="en-US"/>
          </a:p>
        </p:txBody>
      </p:sp>
      <p:sp>
        <p:nvSpPr>
          <p:cNvPr id="3" name="Slide Number Placeholder 2"/>
          <p:cNvSpPr>
            <a:spLocks noGrp="1"/>
          </p:cNvSpPr>
          <p:nvPr>
            <p:ph type="sldNum" sz="quarter" idx="4"/>
          </p:nvPr>
        </p:nvSpPr>
        <p:spPr/>
        <p:txBody>
          <a:bodyPr/>
          <a:p>
            <a:r>
              <a:rPr lang="en-US" dirty="0"/>
              <a:t>Application Layer: 2-</a:t>
            </a:r>
            <a:fld id="{C4204591-24BD-A542-B9D5-F8D8A88D2FEE}" type="slidenum">
              <a:rPr lang="en-US" smtClean="0"/>
            </a:fld>
            <a:endParaRPr lang="en-US" dirty="0"/>
          </a:p>
        </p:txBody>
      </p:sp>
      <p:sp>
        <p:nvSpPr>
          <p:cNvPr id="4" name="Text Box 3"/>
          <p:cNvSpPr txBox="1"/>
          <p:nvPr/>
        </p:nvSpPr>
        <p:spPr>
          <a:xfrm>
            <a:off x="545465" y="1374775"/>
            <a:ext cx="10770235" cy="3890645"/>
          </a:xfrm>
          <a:prstGeom prst="rect">
            <a:avLst/>
          </a:prstGeom>
        </p:spPr>
        <p:txBody>
          <a:bodyPr>
            <a:noAutofit/>
          </a:bodyPr>
          <a:p>
            <a:pPr marL="0" indent="0">
              <a:spcBef>
                <a:spcPct val="0"/>
              </a:spcBef>
              <a:spcAft>
                <a:spcPct val="0"/>
              </a:spcAft>
              <a:buFont typeface="Arial" panose="020B0604020202020204"/>
              <a:buChar char="•"/>
            </a:pPr>
            <a:r>
              <a:rPr sz="2000" b="0" i="0">
                <a:solidFill>
                  <a:srgbClr val="191919"/>
                </a:solidFill>
                <a:latin typeface="+mn-ea"/>
                <a:ea typeface="Roboto Slab"/>
                <a:cs typeface="+mn-ea"/>
              </a:rPr>
              <a:t>The MIME protocol can work with interactive multimedia that is developed using HTML, CSS, etc.</a:t>
            </a:r>
            <a:endParaRPr sz="2000" b="0" i="0">
              <a:solidFill>
                <a:srgbClr val="191919"/>
              </a:solidFill>
              <a:latin typeface="+mn-ea"/>
              <a:ea typeface="Roboto Slab"/>
              <a:cs typeface="+mn-ea"/>
            </a:endParaRPr>
          </a:p>
          <a:p>
            <a:pPr marL="0" indent="0">
              <a:spcBef>
                <a:spcPct val="0"/>
              </a:spcBef>
              <a:spcAft>
                <a:spcPct val="0"/>
              </a:spcAft>
              <a:buFont typeface="Arial" panose="020B0604020202020204"/>
              <a:buChar char="•"/>
            </a:pPr>
            <a:r>
              <a:rPr sz="2000" b="0" i="0">
                <a:solidFill>
                  <a:srgbClr val="191919"/>
                </a:solidFill>
                <a:latin typeface="+mn-ea"/>
                <a:ea typeface="Roboto Slab"/>
                <a:cs typeface="+mn-ea"/>
              </a:rPr>
              <a:t>MIME protocol supports the transferring of multiple attachments.</a:t>
            </a:r>
            <a:endParaRPr sz="2000" b="0" i="0">
              <a:solidFill>
                <a:srgbClr val="191919"/>
              </a:solidFill>
              <a:latin typeface="+mn-ea"/>
              <a:ea typeface="Roboto Slab"/>
              <a:cs typeface="+mn-ea"/>
            </a:endParaRPr>
          </a:p>
          <a:p>
            <a:pPr marL="0" indent="0">
              <a:spcBef>
                <a:spcPct val="0"/>
              </a:spcBef>
              <a:spcAft>
                <a:spcPct val="0"/>
              </a:spcAft>
              <a:buFont typeface="Arial" panose="020B0604020202020204"/>
              <a:buChar char="•"/>
            </a:pPr>
            <a:r>
              <a:rPr sz="2000" b="0" i="0">
                <a:solidFill>
                  <a:srgbClr val="191919"/>
                </a:solidFill>
                <a:latin typeface="+mn-ea"/>
                <a:ea typeface="Roboto Slab"/>
                <a:cs typeface="+mn-ea"/>
              </a:rPr>
              <a:t>MIME protocol can send text having various fonts and colors.</a:t>
            </a:r>
            <a:endParaRPr sz="2000" b="0" i="0">
              <a:solidFill>
                <a:srgbClr val="191919"/>
              </a:solidFill>
              <a:latin typeface="+mn-ea"/>
              <a:ea typeface="Roboto Slab"/>
              <a:cs typeface="+mn-ea"/>
            </a:endParaRPr>
          </a:p>
          <a:p>
            <a:pPr marL="0" indent="0">
              <a:spcBef>
                <a:spcPct val="0"/>
              </a:spcBef>
              <a:spcAft>
                <a:spcPct val="0"/>
              </a:spcAft>
              <a:buFont typeface="Arial" panose="020B0604020202020204"/>
              <a:buChar char="•"/>
            </a:pPr>
            <a:r>
              <a:rPr sz="2000" b="0" i="0">
                <a:solidFill>
                  <a:srgbClr val="191919"/>
                </a:solidFill>
                <a:latin typeface="+mn-ea"/>
                <a:ea typeface="Roboto Slab"/>
                <a:cs typeface="+mn-ea"/>
              </a:rPr>
              <a:t>The MIME protocol also supports various types of multiple attachments.</a:t>
            </a:r>
            <a:endParaRPr sz="2000" b="0" i="0">
              <a:solidFill>
                <a:srgbClr val="191919"/>
              </a:solidFill>
              <a:latin typeface="+mn-ea"/>
              <a:ea typeface="Roboto Slab"/>
              <a:cs typeface="+mn-ea"/>
            </a:endParaRPr>
          </a:p>
          <a:p>
            <a:pPr marL="0" indent="0">
              <a:spcBef>
                <a:spcPct val="0"/>
              </a:spcBef>
              <a:spcAft>
                <a:spcPct val="0"/>
              </a:spcAft>
              <a:buFont typeface="Arial" panose="020B0604020202020204"/>
              <a:buChar char="•"/>
            </a:pPr>
            <a:r>
              <a:rPr sz="2000" b="0" i="0">
                <a:solidFill>
                  <a:srgbClr val="191919"/>
                </a:solidFill>
                <a:latin typeface="+mn-ea"/>
                <a:ea typeface="Roboto Slab"/>
                <a:cs typeface="+mn-ea"/>
              </a:rPr>
              <a:t>MIME protocol supports numerous languages.</a:t>
            </a:r>
            <a:endParaRPr sz="2000" b="0" i="0">
              <a:solidFill>
                <a:srgbClr val="191919"/>
              </a:solidFill>
              <a:latin typeface="+mn-ea"/>
              <a:ea typeface="Roboto Slab"/>
              <a:cs typeface="+mn-ea"/>
            </a:endParaRPr>
          </a:p>
          <a:p>
            <a:pPr marL="0" indent="0">
              <a:spcBef>
                <a:spcPct val="0"/>
              </a:spcBef>
              <a:spcAft>
                <a:spcPct val="0"/>
              </a:spcAft>
              <a:buFont typeface="Arial" panose="020B0604020202020204"/>
              <a:buChar char="•"/>
            </a:pPr>
            <a:r>
              <a:rPr sz="2000" b="0" i="0">
                <a:solidFill>
                  <a:srgbClr val="191919"/>
                </a:solidFill>
                <a:latin typeface="+mn-ea"/>
                <a:ea typeface="Roboto Slab"/>
                <a:cs typeface="+mn-ea"/>
              </a:rPr>
              <a:t>MIME protocol assigns a unique identifier or ID to all the emails for easy identification.</a:t>
            </a:r>
            <a:endParaRPr sz="2000" b="0" i="0">
              <a:solidFill>
                <a:srgbClr val="191919"/>
              </a:solidFill>
              <a:latin typeface="+mn-ea"/>
              <a:ea typeface="Roboto Slab"/>
              <a:cs typeface="+mn-ea"/>
            </a:endParaRPr>
          </a:p>
          <a:p>
            <a:pPr marL="0" indent="0">
              <a:spcBef>
                <a:spcPct val="0"/>
              </a:spcBef>
              <a:spcAft>
                <a:spcPct val="0"/>
              </a:spcAft>
              <a:buFont typeface="Arial" panose="020B0604020202020204"/>
              <a:buChar char="•"/>
            </a:pPr>
            <a:r>
              <a:rPr sz="2000" b="0" i="0">
                <a:solidFill>
                  <a:srgbClr val="191919"/>
                </a:solidFill>
                <a:latin typeface="+mn-ea"/>
                <a:ea typeface="Roboto Slab"/>
                <a:cs typeface="+mn-ea"/>
              </a:rPr>
              <a:t>The MIME protocol has no length boundary, unlike the SMTP protocol.</a:t>
            </a:r>
            <a:endParaRPr sz="2000" b="0" i="0">
              <a:solidFill>
                <a:srgbClr val="191919"/>
              </a:solidFill>
              <a:latin typeface="+mn-ea"/>
              <a:ea typeface="Roboto Slab"/>
              <a:cs typeface="+mn-ea"/>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DNS: Domain Name System</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27" name="Rectangle 3"/>
          <p:cNvSpPr txBox="1">
            <a:spLocks noChangeArrowheads="1"/>
          </p:cNvSpPr>
          <p:nvPr/>
        </p:nvSpPr>
        <p:spPr>
          <a:xfrm>
            <a:off x="753721" y="1340962"/>
            <a:ext cx="490197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i="1" dirty="0">
                <a:solidFill>
                  <a:srgbClr val="000099"/>
                </a:solidFill>
                <a:ea typeface="MS PGothic" panose="020B0600070205080204" pitchFamily="34" charset="-128"/>
              </a:rPr>
              <a:t>people:</a:t>
            </a:r>
            <a:r>
              <a:rPr lang="en-US" altLang="en-US" dirty="0">
                <a:ea typeface="MS PGothic" panose="020B0600070205080204" pitchFamily="34" charset="-128"/>
              </a:rPr>
              <a:t> many identifiers:</a:t>
            </a:r>
            <a:endParaRPr lang="en-US" altLang="en-US" dirty="0">
              <a:ea typeface="MS PGothic" panose="020B0600070205080204" pitchFamily="34" charset="-128"/>
            </a:endParaRPr>
          </a:p>
          <a:p>
            <a:pPr lvl="1"/>
            <a:r>
              <a:rPr lang="en-US" altLang="en-US" sz="2800" dirty="0">
                <a:ea typeface="MS PGothic" panose="020B0600070205080204" pitchFamily="34" charset="-128"/>
              </a:rPr>
              <a:t>SSN, name, passport #</a:t>
            </a:r>
            <a:endParaRPr lang="en-US" altLang="en-US" sz="2800" dirty="0">
              <a:ea typeface="MS PGothic" panose="020B0600070205080204" pitchFamily="34" charset="-128"/>
            </a:endParaRPr>
          </a:p>
          <a:p>
            <a:pPr>
              <a:buFont typeface="Wingdings" panose="05000000000000000000" pitchFamily="2" charset="2"/>
              <a:buNone/>
            </a:pPr>
            <a:r>
              <a:rPr lang="en-US" altLang="en-US" i="1" dirty="0">
                <a:solidFill>
                  <a:srgbClr val="000099"/>
                </a:solidFill>
                <a:ea typeface="MS PGothic" panose="020B0600070205080204" pitchFamily="34" charset="-128"/>
              </a:rPr>
              <a:t>Internet hosts, routers:</a:t>
            </a:r>
            <a:endParaRPr lang="en-US" altLang="en-US" i="1" dirty="0">
              <a:solidFill>
                <a:srgbClr val="000099"/>
              </a:solidFill>
              <a:ea typeface="MS PGothic" panose="020B0600070205080204" pitchFamily="34" charset="-128"/>
            </a:endParaRPr>
          </a:p>
          <a:p>
            <a:pPr lvl="1"/>
            <a:r>
              <a:rPr lang="en-US" altLang="en-US" dirty="0">
                <a:ea typeface="MS PGothic" panose="020B0600070205080204" pitchFamily="34" charset="-128"/>
              </a:rPr>
              <a:t>IP address (32 bit) - used for addressing datagrams</a:t>
            </a:r>
            <a:endParaRPr lang="en-US" altLang="en-US" dirty="0">
              <a:ea typeface="MS PGothic" panose="020B0600070205080204" pitchFamily="34" charset="-128"/>
            </a:endParaRPr>
          </a:p>
          <a:p>
            <a:pPr lvl="1"/>
            <a:r>
              <a:rPr lang="en-US" altLang="ja-JP" dirty="0">
                <a:ea typeface="MS PGothic" panose="020B0600070205080204" pitchFamily="34" charset="-128"/>
              </a:rPr>
              <a:t>“name”, e.g., </a:t>
            </a:r>
            <a:r>
              <a:rPr lang="en-US" altLang="ja-JP" dirty="0" err="1">
                <a:ea typeface="MS PGothic" panose="020B0600070205080204" pitchFamily="34" charset="-128"/>
              </a:rPr>
              <a:t>cs.umass.edu</a:t>
            </a:r>
            <a:r>
              <a:rPr lang="en-US" altLang="ja-JP" dirty="0">
                <a:ea typeface="MS PGothic" panose="020B0600070205080204" pitchFamily="34" charset="-128"/>
              </a:rPr>
              <a:t> - used by humans</a:t>
            </a:r>
            <a:endParaRPr lang="en-US" altLang="ja-JP" dirty="0">
              <a:ea typeface="MS PGothic" panose="020B0600070205080204" pitchFamily="34" charset="-128"/>
            </a:endParaRPr>
          </a:p>
          <a:p>
            <a:pPr>
              <a:buFont typeface="Wingdings" panose="05000000000000000000" pitchFamily="2" charset="2"/>
              <a:buNone/>
            </a:pPr>
            <a:r>
              <a:rPr lang="en-US" altLang="en-US" i="1" u="sng" dirty="0">
                <a:solidFill>
                  <a:srgbClr val="CC0000"/>
                </a:solidFill>
                <a:ea typeface="MS PGothic" panose="020B0600070205080204" pitchFamily="34" charset="-128"/>
              </a:rPr>
              <a:t>Q:</a:t>
            </a:r>
            <a:r>
              <a:rPr lang="en-US" altLang="en-US" dirty="0">
                <a:ea typeface="MS PGothic" panose="020B0600070205080204" pitchFamily="34" charset="-128"/>
              </a:rPr>
              <a:t> how to map between IP address and name, and vice versa ?</a:t>
            </a:r>
            <a:endParaRPr lang="en-US" altLang="en-US" dirty="0">
              <a:ea typeface="MS PGothic" panose="020B0600070205080204" pitchFamily="34" charset="-128"/>
            </a:endParaRPr>
          </a:p>
        </p:txBody>
      </p:sp>
      <p:sp>
        <p:nvSpPr>
          <p:cNvPr id="128" name="Rectangle 4"/>
          <p:cNvSpPr txBox="1">
            <a:spLocks noChangeArrowheads="1"/>
          </p:cNvSpPr>
          <p:nvPr/>
        </p:nvSpPr>
        <p:spPr>
          <a:xfrm>
            <a:off x="5592033" y="1281002"/>
            <a:ext cx="6088112" cy="50069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i="1" dirty="0">
                <a:solidFill>
                  <a:srgbClr val="CC0000"/>
                </a:solidFill>
                <a:ea typeface="MS PGothic" panose="020B0600070205080204" pitchFamily="34" charset="-128"/>
              </a:rPr>
              <a:t>Domain Name System:</a:t>
            </a:r>
            <a:endParaRPr lang="en-US" altLang="en-US" sz="3200" i="1" dirty="0">
              <a:solidFill>
                <a:srgbClr val="CC0000"/>
              </a:solidFill>
              <a:ea typeface="MS PGothic" panose="020B0600070205080204" pitchFamily="34" charset="-128"/>
            </a:endParaRPr>
          </a:p>
          <a:p>
            <a:r>
              <a:rPr lang="en-US" altLang="en-US" i="1" dirty="0">
                <a:solidFill>
                  <a:srgbClr val="000099"/>
                </a:solidFill>
                <a:ea typeface="MS PGothic" panose="020B0600070205080204" pitchFamily="34" charset="-128"/>
              </a:rPr>
              <a:t>distributed database</a:t>
            </a:r>
            <a:r>
              <a:rPr lang="en-US" altLang="en-US" dirty="0">
                <a:ea typeface="MS PGothic" panose="020B0600070205080204" pitchFamily="34" charset="-128"/>
              </a:rPr>
              <a:t> implemented in hierarchy of many </a:t>
            </a:r>
            <a:r>
              <a:rPr lang="en-US" altLang="en-US" i="1" dirty="0">
                <a:solidFill>
                  <a:srgbClr val="000099"/>
                </a:solidFill>
                <a:ea typeface="MS PGothic" panose="020B0600070205080204" pitchFamily="34" charset="-128"/>
              </a:rPr>
              <a:t>name servers</a:t>
            </a:r>
            <a:endParaRPr lang="en-US" altLang="en-US" dirty="0">
              <a:solidFill>
                <a:srgbClr val="000099"/>
              </a:solidFill>
              <a:ea typeface="MS PGothic" panose="020B0600070205080204" pitchFamily="34" charset="-128"/>
            </a:endParaRPr>
          </a:p>
          <a:p>
            <a:r>
              <a:rPr lang="en-US" altLang="en-US" i="1" dirty="0">
                <a:solidFill>
                  <a:srgbClr val="000099"/>
                </a:solidFill>
                <a:ea typeface="MS PGothic" panose="020B0600070205080204" pitchFamily="34" charset="-128"/>
              </a:rPr>
              <a:t>application-layer protocol:</a:t>
            </a:r>
            <a:r>
              <a:rPr lang="en-US" altLang="en-US" dirty="0">
                <a:ea typeface="MS PGothic" panose="020B0600070205080204" pitchFamily="34" charset="-128"/>
              </a:rPr>
              <a:t> hosts, name servers communicate to </a:t>
            </a:r>
            <a:r>
              <a:rPr lang="en-US" altLang="en-US" i="1" dirty="0">
                <a:solidFill>
                  <a:srgbClr val="000099"/>
                </a:solidFill>
                <a:ea typeface="MS PGothic" panose="020B0600070205080204" pitchFamily="34" charset="-128"/>
              </a:rPr>
              <a:t>resolve</a:t>
            </a:r>
            <a:r>
              <a:rPr lang="en-US" altLang="en-US" dirty="0">
                <a:solidFill>
                  <a:srgbClr val="FF0000"/>
                </a:solidFill>
                <a:ea typeface="MS PGothic" panose="020B0600070205080204" pitchFamily="34" charset="-128"/>
              </a:rPr>
              <a:t> </a:t>
            </a:r>
            <a:r>
              <a:rPr lang="en-US" altLang="en-US" dirty="0">
                <a:ea typeface="MS PGothic" panose="020B0600070205080204" pitchFamily="34" charset="-128"/>
              </a:rPr>
              <a:t>names (address/name translation)</a:t>
            </a:r>
            <a:endParaRPr lang="en-US" altLang="en-US" dirty="0">
              <a:ea typeface="MS PGothic" panose="020B0600070205080204" pitchFamily="34" charset="-128"/>
            </a:endParaRPr>
          </a:p>
          <a:p>
            <a:pPr lvl="1">
              <a:spcBef>
                <a:spcPts val="1000"/>
              </a:spcBef>
            </a:pPr>
            <a:r>
              <a:rPr lang="en-US" altLang="en-US" sz="2800" dirty="0">
                <a:ea typeface="MS PGothic" panose="020B0600070205080204" pitchFamily="34" charset="-128"/>
              </a:rPr>
              <a:t>note: core Internet function, </a:t>
            </a:r>
            <a:r>
              <a:rPr lang="en-US" altLang="en-US" sz="2800" i="1" dirty="0">
                <a:solidFill>
                  <a:srgbClr val="C00000"/>
                </a:solidFill>
                <a:ea typeface="MS PGothic" panose="020B0600070205080204" pitchFamily="34" charset="-128"/>
              </a:rPr>
              <a:t>implemented as application-layer protocol</a:t>
            </a:r>
            <a:endParaRPr lang="en-US" altLang="en-US" sz="2800" i="1" dirty="0">
              <a:solidFill>
                <a:srgbClr val="C00000"/>
              </a:solidFill>
              <a:ea typeface="MS PGothic" panose="020B0600070205080204" pitchFamily="34" charset="-128"/>
            </a:endParaRPr>
          </a:p>
          <a:p>
            <a:pPr lvl="1">
              <a:spcBef>
                <a:spcPts val="1000"/>
              </a:spcBef>
            </a:pPr>
            <a:r>
              <a:rPr lang="en-US" altLang="en-US" sz="2800" dirty="0">
                <a:ea typeface="MS PGothic" panose="020B0600070205080204" pitchFamily="34" charset="-128"/>
              </a:rPr>
              <a:t>complexity at network’</a:t>
            </a:r>
            <a:r>
              <a:rPr lang="en-US" altLang="ja-JP" sz="2800" dirty="0">
                <a:ea typeface="MS PGothic" panose="020B0600070205080204" pitchFamily="34" charset="-128"/>
              </a:rPr>
              <a:t>s “edge”</a:t>
            </a:r>
            <a:endParaRPr lang="en-US" altLang="en-US" sz="2800" dirty="0">
              <a:ea typeface="MS PGothic" panose="020B0600070205080204" pitchFamily="34" charset="-128"/>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8"/>
                                        </p:tgtEl>
                                        <p:attrNameLst>
                                          <p:attrName>style.visibility</p:attrName>
                                        </p:attrNameLst>
                                      </p:cBhvr>
                                      <p:to>
                                        <p:strVal val="visible"/>
                                      </p:to>
                                    </p:set>
                                    <p:animEffect transition="in" filter="dissolve">
                                      <p:cBhvr>
                                        <p:cTn id="7"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Title 1"/>
          <p:cNvSpPr>
            <a:spLocks noGrp="1"/>
          </p:cNvSpPr>
          <p:nvPr>
            <p:ph type="title"/>
          </p:nvPr>
        </p:nvSpPr>
        <p:spPr/>
        <p:txBody>
          <a:bodyPr/>
          <a:p>
            <a:r>
              <a:rPr lang="en-IN" altLang="en-US"/>
              <a:t>DNS</a:t>
            </a:r>
            <a:endParaRPr lang="en-IN" altLang="en-US"/>
          </a:p>
        </p:txBody>
      </p:sp>
      <p:sp>
        <p:nvSpPr>
          <p:cNvPr id="3" name="Slide Number Placeholder 2"/>
          <p:cNvSpPr>
            <a:spLocks noGrp="1"/>
          </p:cNvSpPr>
          <p:nvPr>
            <p:ph type="sldNum" sz="quarter" idx="4"/>
          </p:nvPr>
        </p:nvSpPr>
        <p:spPr/>
        <p:txBody>
          <a:bodyPr/>
          <a:p>
            <a:r>
              <a:rPr lang="en-US" dirty="0"/>
              <a:t>Application Layer: 2-</a:t>
            </a:r>
            <a:fld id="{C4204591-24BD-A542-B9D5-F8D8A88D2FEE}" type="slidenum">
              <a:rPr lang="en-US" smtClean="0"/>
            </a:fld>
            <a:endParaRPr lang="en-US" dirty="0"/>
          </a:p>
        </p:txBody>
      </p:sp>
      <p:sp>
        <p:nvSpPr>
          <p:cNvPr id="4" name="Text Box 3"/>
          <p:cNvSpPr txBox="1"/>
          <p:nvPr/>
        </p:nvSpPr>
        <p:spPr>
          <a:xfrm>
            <a:off x="838200" y="1714500"/>
            <a:ext cx="11159490" cy="3530600"/>
          </a:xfrm>
          <a:prstGeom prst="rect">
            <a:avLst/>
          </a:prstGeom>
        </p:spPr>
        <p:txBody>
          <a:bodyPr>
            <a:noAutofit/>
          </a:bodyPr>
          <a:p>
            <a:pPr marL="0" indent="0"/>
            <a:r>
              <a:rPr sz="2000" b="0" i="0">
                <a:solidFill>
                  <a:srgbClr val="001D35"/>
                </a:solidFill>
                <a:latin typeface="+mn-ea"/>
                <a:ea typeface="Google Sans"/>
                <a:cs typeface="+mn-ea"/>
              </a:rPr>
              <a:t>A </a:t>
            </a:r>
            <a:r>
              <a:rPr lang="en-IN" sz="2000" b="0" i="0">
                <a:solidFill>
                  <a:srgbClr val="001D35"/>
                </a:solidFill>
                <a:latin typeface="+mn-ea"/>
                <a:ea typeface="Google Sans"/>
                <a:cs typeface="+mn-ea"/>
              </a:rPr>
              <a:t>F</a:t>
            </a:r>
            <a:r>
              <a:rPr sz="2000" b="0" i="0">
                <a:solidFill>
                  <a:srgbClr val="001D35"/>
                </a:solidFill>
                <a:latin typeface="+mn-ea"/>
                <a:ea typeface="Google Sans"/>
                <a:cs typeface="+mn-ea"/>
              </a:rPr>
              <a:t>ully </a:t>
            </a:r>
            <a:r>
              <a:rPr lang="en-IN" sz="2000" b="0" i="0">
                <a:solidFill>
                  <a:srgbClr val="001D35"/>
                </a:solidFill>
                <a:latin typeface="+mn-ea"/>
                <a:ea typeface="Google Sans"/>
                <a:cs typeface="+mn-ea"/>
              </a:rPr>
              <a:t>Q</a:t>
            </a:r>
            <a:r>
              <a:rPr sz="2000" b="0" i="0">
                <a:solidFill>
                  <a:srgbClr val="001D35"/>
                </a:solidFill>
                <a:latin typeface="+mn-ea"/>
                <a:ea typeface="Google Sans"/>
                <a:cs typeface="+mn-ea"/>
              </a:rPr>
              <a:t>ualified </a:t>
            </a:r>
            <a:r>
              <a:rPr lang="en-IN" sz="2000" b="0" i="0">
                <a:solidFill>
                  <a:srgbClr val="001D35"/>
                </a:solidFill>
                <a:latin typeface="+mn-ea"/>
                <a:ea typeface="Google Sans"/>
                <a:cs typeface="+mn-ea"/>
              </a:rPr>
              <a:t>D</a:t>
            </a:r>
            <a:r>
              <a:rPr sz="2000" b="0" i="0">
                <a:solidFill>
                  <a:srgbClr val="001D35"/>
                </a:solidFill>
                <a:latin typeface="+mn-ea"/>
                <a:ea typeface="Google Sans"/>
                <a:cs typeface="+mn-ea"/>
              </a:rPr>
              <a:t>omain </a:t>
            </a:r>
            <a:r>
              <a:rPr lang="en-IN" sz="2000" b="0" i="0">
                <a:solidFill>
                  <a:srgbClr val="001D35"/>
                </a:solidFill>
                <a:latin typeface="+mn-ea"/>
                <a:ea typeface="Google Sans"/>
                <a:cs typeface="+mn-ea"/>
              </a:rPr>
              <a:t>N</a:t>
            </a:r>
            <a:r>
              <a:rPr sz="2000" b="0" i="0">
                <a:solidFill>
                  <a:srgbClr val="001D35"/>
                </a:solidFill>
                <a:latin typeface="+mn-ea"/>
                <a:ea typeface="Google Sans"/>
                <a:cs typeface="+mn-ea"/>
              </a:rPr>
              <a:t>ame (FQDN) is the complete and unambiguous address of a device or service on the internet. It includes the hostname, domain name, and top-level domain (TLD). For example, </a:t>
            </a:r>
            <a:r>
              <a:rPr sz="2000" b="0" i="0">
                <a:solidFill>
                  <a:srgbClr val="001D35"/>
                </a:solidFill>
                <a:latin typeface="+mn-ea"/>
                <a:ea typeface="monospace"/>
                <a:cs typeface="+mn-ea"/>
              </a:rPr>
              <a:t>www.example.com</a:t>
            </a:r>
            <a:r>
              <a:rPr sz="2000" b="0" i="0">
                <a:solidFill>
                  <a:srgbClr val="001D35"/>
                </a:solidFill>
                <a:latin typeface="+mn-ea"/>
                <a:ea typeface="Google Sans"/>
                <a:cs typeface="+mn-ea"/>
              </a:rPr>
              <a:t> is an FQDN, where "www" is the hostname, "example" is the domain name, and ".com" is the TLD. </a:t>
            </a:r>
            <a:endParaRPr sz="2000" b="0" i="0">
              <a:solidFill>
                <a:srgbClr val="001D35"/>
              </a:solidFill>
              <a:latin typeface="+mn-ea"/>
              <a:ea typeface="Google Sans"/>
              <a:cs typeface="+mn-ea"/>
            </a:endParaRPr>
          </a:p>
          <a:p>
            <a:pPr marL="0" indent="0"/>
            <a:endParaRPr sz="2000" b="0" i="0">
              <a:solidFill>
                <a:srgbClr val="001D35"/>
              </a:solidFill>
              <a:latin typeface="+mn-ea"/>
              <a:ea typeface="Google Sans"/>
              <a:cs typeface="+mn-ea"/>
            </a:endParaRPr>
          </a:p>
          <a:p>
            <a:pPr marL="0" indent="0"/>
            <a:endParaRPr sz="2000" b="0" i="0">
              <a:solidFill>
                <a:srgbClr val="001D35"/>
              </a:solidFill>
              <a:latin typeface="+mn-ea"/>
              <a:ea typeface="Google Sans"/>
              <a:cs typeface="+mn-ea"/>
            </a:endParaRPr>
          </a:p>
          <a:p>
            <a:pPr marL="0" indent="0"/>
            <a:r>
              <a:rPr lang="en-US" altLang="en-US" sz="2000" b="0" i="0">
                <a:solidFill>
                  <a:srgbClr val="001D35"/>
                </a:solidFill>
                <a:latin typeface="+mn-ea"/>
                <a:ea typeface="Google Sans"/>
                <a:cs typeface="+mn-ea"/>
              </a:rPr>
              <a:t>A Partially Qualified Domain Name (PQDN) is a domain name that lacks the full hierarchy needed to be a Fully Qualified Domain Name (FQDN). It represents a portion of a complete domain name, often omitting the hostname, top-level domain (TLD), or other subdomain components. Essentially, a PQDN is a shortened or incomplete version of an FQDN</a:t>
            </a:r>
            <a:endParaRPr lang="en-US" altLang="en-US" sz="2000" b="0" i="0">
              <a:solidFill>
                <a:srgbClr val="001D35"/>
              </a:solidFill>
              <a:latin typeface="+mn-ea"/>
              <a:ea typeface="Google Sans"/>
              <a:cs typeface="+mn-ea"/>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DNS: services, structure</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6" name="Rectangle 4"/>
          <p:cNvSpPr txBox="1">
            <a:spLocks noChangeArrowheads="1"/>
          </p:cNvSpPr>
          <p:nvPr/>
        </p:nvSpPr>
        <p:spPr>
          <a:xfrm>
            <a:off x="6618515" y="1271135"/>
            <a:ext cx="4978400" cy="2263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i="1" dirty="0">
                <a:solidFill>
                  <a:srgbClr val="CC0000"/>
                </a:solidFill>
                <a:latin typeface="Calibri" panose="020F0502020204030204" pitchFamily="34" charset="0"/>
                <a:ea typeface="MS PGothic" panose="020B0600070205080204" pitchFamily="34" charset="-128"/>
                <a:cs typeface="Calibri" panose="020F0502020204030204" pitchFamily="34" charset="0"/>
              </a:rPr>
              <a:t>Q: Why not centralize DNS?</a:t>
            </a:r>
            <a:endParaRPr lang="en-US" altLang="en-US" sz="3200" i="1" dirty="0">
              <a:solidFill>
                <a:srgbClr val="CC0000"/>
              </a:solidFill>
              <a:latin typeface="Calibri" panose="020F0502020204030204" pitchFamily="34" charset="0"/>
              <a:ea typeface="MS PGothic" panose="020B0600070205080204" pitchFamily="34" charset="-128"/>
              <a:cs typeface="Calibri" panose="020F0502020204030204" pitchFamily="34" charset="0"/>
            </a:endParaRPr>
          </a:p>
          <a:p>
            <a:pPr marL="582930" indent="-233680">
              <a:spcBef>
                <a:spcPts val="400"/>
              </a:spcBef>
            </a:pPr>
            <a:r>
              <a:rPr lang="en-US" altLang="en-US" dirty="0">
                <a:latin typeface="Calibri" panose="020F0502020204030204" pitchFamily="34" charset="0"/>
                <a:ea typeface="MS PGothic" panose="020B0600070205080204" pitchFamily="34" charset="-128"/>
                <a:cs typeface="Calibri" panose="020F0502020204030204" pitchFamily="34" charset="0"/>
              </a:rPr>
              <a:t>single point of failure</a:t>
            </a:r>
            <a:endParaRPr lang="en-US" altLang="en-US" dirty="0">
              <a:latin typeface="Calibri" panose="020F0502020204030204" pitchFamily="34" charset="0"/>
              <a:ea typeface="MS PGothic" panose="020B0600070205080204" pitchFamily="34" charset="-128"/>
              <a:cs typeface="Calibri" panose="020F0502020204030204" pitchFamily="34" charset="0"/>
            </a:endParaRPr>
          </a:p>
          <a:p>
            <a:pPr marL="582930" indent="-233680">
              <a:spcBef>
                <a:spcPts val="400"/>
              </a:spcBef>
            </a:pPr>
            <a:r>
              <a:rPr lang="en-US" altLang="en-US" dirty="0">
                <a:latin typeface="Calibri" panose="020F0502020204030204" pitchFamily="34" charset="0"/>
                <a:ea typeface="MS PGothic" panose="020B0600070205080204" pitchFamily="34" charset="-128"/>
                <a:cs typeface="Calibri" panose="020F0502020204030204" pitchFamily="34" charset="0"/>
              </a:rPr>
              <a:t>traffic volume</a:t>
            </a:r>
            <a:endParaRPr lang="en-US" altLang="en-US" dirty="0">
              <a:latin typeface="Calibri" panose="020F0502020204030204" pitchFamily="34" charset="0"/>
              <a:ea typeface="MS PGothic" panose="020B0600070205080204" pitchFamily="34" charset="-128"/>
              <a:cs typeface="Calibri" panose="020F0502020204030204" pitchFamily="34" charset="0"/>
            </a:endParaRPr>
          </a:p>
          <a:p>
            <a:pPr marL="582930" indent="-233680">
              <a:spcBef>
                <a:spcPts val="400"/>
              </a:spcBef>
            </a:pPr>
            <a:r>
              <a:rPr lang="en-US" altLang="en-US" dirty="0">
                <a:latin typeface="Calibri" panose="020F0502020204030204" pitchFamily="34" charset="0"/>
                <a:ea typeface="MS PGothic" panose="020B0600070205080204" pitchFamily="34" charset="-128"/>
                <a:cs typeface="Calibri" panose="020F0502020204030204" pitchFamily="34" charset="0"/>
              </a:rPr>
              <a:t>distant centralized database</a:t>
            </a:r>
            <a:endParaRPr lang="en-US" altLang="en-US" dirty="0">
              <a:latin typeface="Calibri" panose="020F0502020204030204" pitchFamily="34" charset="0"/>
              <a:ea typeface="MS PGothic" panose="020B0600070205080204" pitchFamily="34" charset="-128"/>
              <a:cs typeface="Calibri" panose="020F0502020204030204" pitchFamily="34" charset="0"/>
            </a:endParaRPr>
          </a:p>
          <a:p>
            <a:pPr marL="582930" indent="-233680">
              <a:spcBef>
                <a:spcPts val="400"/>
              </a:spcBef>
            </a:pPr>
            <a:r>
              <a:rPr lang="en-US" altLang="en-US" dirty="0">
                <a:latin typeface="Calibri" panose="020F0502020204030204" pitchFamily="34" charset="0"/>
                <a:ea typeface="MS PGothic" panose="020B0600070205080204" pitchFamily="34" charset="-128"/>
                <a:cs typeface="Calibri" panose="020F0502020204030204" pitchFamily="34" charset="0"/>
              </a:rPr>
              <a:t>maintenance</a:t>
            </a:r>
            <a:endParaRPr lang="en-US" altLang="en-US" dirty="0">
              <a:latin typeface="Calibri" panose="020F0502020204030204" pitchFamily="34" charset="0"/>
              <a:ea typeface="MS PGothic" panose="020B0600070205080204" pitchFamily="34" charset="-128"/>
              <a:cs typeface="Calibri" panose="020F0502020204030204" pitchFamily="34" charset="0"/>
            </a:endParaRPr>
          </a:p>
          <a:p>
            <a:pPr>
              <a:buFont typeface="Wingdings" panose="05000000000000000000" pitchFamily="2" charset="2"/>
              <a:buNone/>
            </a:pPr>
            <a:endParaRPr lang="en-US" altLang="en-US" dirty="0">
              <a:latin typeface="Calibri" panose="020F0502020204030204" pitchFamily="34" charset="0"/>
              <a:ea typeface="MS PGothic" panose="020B0600070205080204" pitchFamily="34" charset="-128"/>
              <a:cs typeface="Calibri" panose="020F0502020204030204" pitchFamily="34" charset="0"/>
            </a:endParaRPr>
          </a:p>
        </p:txBody>
      </p:sp>
      <p:sp>
        <p:nvSpPr>
          <p:cNvPr id="7" name="Rectangle 5"/>
          <p:cNvSpPr txBox="1">
            <a:spLocks noChangeArrowheads="1"/>
          </p:cNvSpPr>
          <p:nvPr/>
        </p:nvSpPr>
        <p:spPr>
          <a:xfrm>
            <a:off x="731837" y="1300163"/>
            <a:ext cx="571359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dirty="0">
                <a:solidFill>
                  <a:srgbClr val="CC0000"/>
                </a:solidFill>
                <a:ea typeface="MS PGothic" panose="020B0600070205080204" pitchFamily="34" charset="-128"/>
              </a:rPr>
              <a:t>DNS services</a:t>
            </a:r>
            <a:endParaRPr lang="en-US" altLang="en-US" sz="3200" dirty="0">
              <a:solidFill>
                <a:srgbClr val="CC0000"/>
              </a:solidFill>
              <a:ea typeface="MS PGothic" panose="020B0600070205080204" pitchFamily="34" charset="-128"/>
            </a:endParaRPr>
          </a:p>
          <a:p>
            <a:pPr marL="460375" indent="-215900"/>
            <a:r>
              <a:rPr lang="en-US" altLang="en-US" dirty="0">
                <a:ea typeface="MS PGothic" panose="020B0600070205080204" pitchFamily="34" charset="-128"/>
              </a:rPr>
              <a:t>hostname to IP address translation</a:t>
            </a:r>
            <a:endParaRPr lang="en-US" altLang="en-US" dirty="0">
              <a:ea typeface="MS PGothic" panose="020B0600070205080204" pitchFamily="34" charset="-128"/>
            </a:endParaRPr>
          </a:p>
          <a:p>
            <a:pPr marL="460375" indent="-215900"/>
            <a:r>
              <a:rPr lang="en-US" altLang="en-US" dirty="0">
                <a:ea typeface="MS PGothic" panose="020B0600070205080204" pitchFamily="34" charset="-128"/>
              </a:rPr>
              <a:t>host aliasing</a:t>
            </a:r>
            <a:endParaRPr lang="en-US" altLang="en-US" dirty="0">
              <a:ea typeface="MS PGothic" panose="020B0600070205080204" pitchFamily="34" charset="-128"/>
            </a:endParaRPr>
          </a:p>
          <a:p>
            <a:pPr lvl="1"/>
            <a:r>
              <a:rPr lang="en-US" altLang="en-US" sz="2800" dirty="0">
                <a:ea typeface="MS PGothic" panose="020B0600070205080204" pitchFamily="34" charset="-128"/>
              </a:rPr>
              <a:t>canonical, alias names</a:t>
            </a:r>
            <a:endParaRPr lang="en-US" altLang="en-US" sz="2800" dirty="0">
              <a:ea typeface="MS PGothic" panose="020B0600070205080204" pitchFamily="34" charset="-128"/>
            </a:endParaRPr>
          </a:p>
          <a:p>
            <a:pPr marL="460375" indent="-287655"/>
            <a:r>
              <a:rPr lang="en-US" altLang="en-US" dirty="0">
                <a:ea typeface="MS PGothic" panose="020B0600070205080204" pitchFamily="34" charset="-128"/>
              </a:rPr>
              <a:t>mail server aliasing</a:t>
            </a:r>
            <a:endParaRPr lang="en-US" altLang="en-US" dirty="0">
              <a:ea typeface="MS PGothic" panose="020B0600070205080204" pitchFamily="34" charset="-128"/>
            </a:endParaRPr>
          </a:p>
          <a:p>
            <a:pPr marL="460375" indent="-287655"/>
            <a:r>
              <a:rPr lang="en-US" altLang="en-US" dirty="0">
                <a:ea typeface="MS PGothic" panose="020B0600070205080204" pitchFamily="34" charset="-128"/>
              </a:rPr>
              <a:t>load distribution</a:t>
            </a:r>
            <a:endParaRPr lang="en-US" altLang="en-US" dirty="0">
              <a:ea typeface="MS PGothic" panose="020B0600070205080204" pitchFamily="34" charset="-128"/>
            </a:endParaRPr>
          </a:p>
          <a:p>
            <a:pPr lvl="1"/>
            <a:r>
              <a:rPr lang="en-US" altLang="en-US" sz="2800" dirty="0">
                <a:ea typeface="MS PGothic" panose="020B0600070205080204" pitchFamily="34" charset="-128"/>
              </a:rPr>
              <a:t>replicated Web servers: many IP addresses correspond to one name</a:t>
            </a:r>
            <a:endParaRPr lang="en-US" altLang="en-US" sz="2800" dirty="0">
              <a:ea typeface="MS PGothic" panose="020B0600070205080204" pitchFamily="34" charset="-128"/>
            </a:endParaRPr>
          </a:p>
          <a:p>
            <a:endParaRPr lang="en-US" altLang="en-US" sz="2400" dirty="0">
              <a:latin typeface="Gill Sans MT" panose="020B0502020104020203" pitchFamily="34" charset="77"/>
              <a:ea typeface="MS PGothic" panose="020B0600070205080204" pitchFamily="34" charset="-128"/>
            </a:endParaRPr>
          </a:p>
        </p:txBody>
      </p:sp>
      <p:sp>
        <p:nvSpPr>
          <p:cNvPr id="8" name="Text Box 11"/>
          <p:cNvSpPr txBox="1">
            <a:spLocks noChangeArrowheads="1"/>
          </p:cNvSpPr>
          <p:nvPr/>
        </p:nvSpPr>
        <p:spPr bwMode="auto">
          <a:xfrm>
            <a:off x="6777863" y="3709428"/>
            <a:ext cx="4491458" cy="1877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346075" indent="-332105"/>
            <a:r>
              <a:rPr lang="en-US" altLang="en-US" sz="3200" i="1" dirty="0">
                <a:solidFill>
                  <a:srgbClr val="C00000"/>
                </a:solidFill>
                <a:latin typeface="Calibri" panose="020F0502020204030204" pitchFamily="34" charset="0"/>
                <a:cs typeface="Calibri" panose="020F0502020204030204" pitchFamily="34" charset="0"/>
              </a:rPr>
              <a:t>A: </a:t>
            </a:r>
            <a:r>
              <a:rPr lang="en-US" altLang="en-US" sz="3200" i="1" dirty="0">
                <a:solidFill>
                  <a:srgbClr val="CC0000"/>
                </a:solidFill>
                <a:latin typeface="Calibri" panose="020F0502020204030204" pitchFamily="34" charset="0"/>
                <a:cs typeface="Calibri" panose="020F0502020204030204" pitchFamily="34" charset="0"/>
              </a:rPr>
              <a:t>doesn‘t</a:t>
            </a:r>
            <a:r>
              <a:rPr lang="en-US" altLang="ja-JP" sz="3200" i="1" dirty="0">
                <a:solidFill>
                  <a:srgbClr val="CC0000"/>
                </a:solidFill>
                <a:latin typeface="Calibri" panose="020F0502020204030204" pitchFamily="34" charset="0"/>
                <a:cs typeface="Calibri" panose="020F0502020204030204" pitchFamily="34" charset="0"/>
              </a:rPr>
              <a:t> scale!</a:t>
            </a:r>
            <a:endParaRPr lang="en-US" altLang="ja-JP" sz="3200" i="1" dirty="0">
              <a:solidFill>
                <a:srgbClr val="CC0000"/>
              </a:solidFill>
              <a:latin typeface="Calibri" panose="020F0502020204030204" pitchFamily="34" charset="0"/>
              <a:cs typeface="Calibri" panose="020F0502020204030204" pitchFamily="34" charset="0"/>
            </a:endParaRPr>
          </a:p>
          <a:p>
            <a:pPr marL="466725" indent="-292100">
              <a:buClr>
                <a:srgbClr val="0000A3"/>
              </a:buClr>
              <a:buFont typeface="Wingdings" panose="05000000000000000000" pitchFamily="2" charset="2"/>
              <a:buChar char="§"/>
            </a:pPr>
            <a:r>
              <a:rPr lang="en-US" altLang="en-US" sz="2800" dirty="0">
                <a:latin typeface="Calibri" panose="020F0502020204030204" pitchFamily="34" charset="0"/>
                <a:cs typeface="Calibri" panose="020F0502020204030204" pitchFamily="34" charset="0"/>
              </a:rPr>
              <a:t>Comcast DNS servers alone: 600B DNS queries per day</a:t>
            </a:r>
            <a:endParaRPr lang="en-US" altLang="en-US" sz="2800" dirty="0">
              <a:latin typeface="Calibri" panose="020F0502020204030204" pitchFamily="34" charset="0"/>
              <a:cs typeface="Calibri" panose="020F050202020403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DNS: a distributed, hierarchical </a:t>
            </a:r>
            <a:r>
              <a:rPr lang="en-US" altLang="en-US" dirty="0">
                <a:ea typeface="MS PGothic" panose="020B0600070205080204" pitchFamily="34" charset="-128"/>
                <a:cs typeface="Calibri" panose="020F0502020204030204" pitchFamily="34" charset="0"/>
              </a:rPr>
              <a:t>d</a:t>
            </a:r>
            <a:r>
              <a:rPr lang="en-US" altLang="en-US" sz="4400" dirty="0">
                <a:ea typeface="MS PGothic" panose="020B0600070205080204" pitchFamily="34" charset="-128"/>
                <a:cs typeface="Calibri" panose="020F0502020204030204" pitchFamily="34" charset="0"/>
              </a:rPr>
              <a:t>atabase</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grpSp>
        <p:nvGrpSpPr>
          <p:cNvPr id="10" name="Group 23"/>
          <p:cNvGrpSpPr/>
          <p:nvPr/>
        </p:nvGrpSpPr>
        <p:grpSpPr bwMode="auto">
          <a:xfrm>
            <a:off x="877709" y="1432519"/>
            <a:ext cx="8414514" cy="2387703"/>
            <a:chOff x="230" y="577"/>
            <a:chExt cx="5644" cy="1716"/>
          </a:xfrm>
        </p:grpSpPr>
        <p:sp>
          <p:nvSpPr>
            <p:cNvPr id="11" name="Text Box 2"/>
            <p:cNvSpPr txBox="1">
              <a:spLocks noChangeArrowheads="1"/>
            </p:cNvSpPr>
            <p:nvPr/>
          </p:nvSpPr>
          <p:spPr bwMode="auto">
            <a:xfrm>
              <a:off x="2240" y="577"/>
              <a:ext cx="1385"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r>
                <a:rPr lang="en-US" altLang="en-US" sz="1800" dirty="0"/>
                <a:t>Root DNS Servers</a:t>
              </a:r>
              <a:endParaRPr lang="en-US" altLang="en-US" sz="1800" dirty="0"/>
            </a:p>
          </p:txBody>
        </p:sp>
        <p:sp>
          <p:nvSpPr>
            <p:cNvPr id="12" name="Text Box 4"/>
            <p:cNvSpPr txBox="1">
              <a:spLocks noChangeArrowheads="1"/>
            </p:cNvSpPr>
            <p:nvPr/>
          </p:nvSpPr>
          <p:spPr bwMode="auto">
            <a:xfrm>
              <a:off x="528" y="1295"/>
              <a:ext cx="1380"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dirty="0"/>
                <a:t>.com DNS servers</a:t>
              </a:r>
              <a:endParaRPr lang="en-US" altLang="en-US" sz="1800" dirty="0"/>
            </a:p>
          </p:txBody>
        </p:sp>
        <p:sp>
          <p:nvSpPr>
            <p:cNvPr id="13" name="Text Box 5"/>
            <p:cNvSpPr txBox="1">
              <a:spLocks noChangeArrowheads="1"/>
            </p:cNvSpPr>
            <p:nvPr/>
          </p:nvSpPr>
          <p:spPr bwMode="auto">
            <a:xfrm>
              <a:off x="2304" y="1296"/>
              <a:ext cx="1311"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dirty="0"/>
                <a:t>.org DNS servers</a:t>
              </a:r>
              <a:endParaRPr lang="en-US" altLang="en-US" sz="1800" dirty="0"/>
            </a:p>
          </p:txBody>
        </p:sp>
        <p:sp>
          <p:nvSpPr>
            <p:cNvPr id="14" name="Text Box 6"/>
            <p:cNvSpPr txBox="1">
              <a:spLocks noChangeArrowheads="1"/>
            </p:cNvSpPr>
            <p:nvPr/>
          </p:nvSpPr>
          <p:spPr bwMode="auto">
            <a:xfrm>
              <a:off x="4032" y="1296"/>
              <a:ext cx="134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dirty="0"/>
                <a:t>.</a:t>
              </a:r>
              <a:r>
                <a:rPr lang="en-US" altLang="en-US" sz="1800" dirty="0" err="1"/>
                <a:t>edu</a:t>
              </a:r>
              <a:r>
                <a:rPr lang="en-US" altLang="en-US" sz="1800" dirty="0"/>
                <a:t> DNS servers</a:t>
              </a:r>
              <a:endParaRPr lang="en-US" altLang="en-US" sz="1800" dirty="0"/>
            </a:p>
          </p:txBody>
        </p:sp>
        <p:sp>
          <p:nvSpPr>
            <p:cNvPr id="15" name="Line 7"/>
            <p:cNvSpPr>
              <a:spLocks noChangeShapeType="1"/>
            </p:cNvSpPr>
            <p:nvPr/>
          </p:nvSpPr>
          <p:spPr bwMode="auto">
            <a:xfrm flipH="1">
              <a:off x="1344" y="864"/>
              <a:ext cx="1392" cy="432"/>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16" name="Line 8"/>
            <p:cNvSpPr>
              <a:spLocks noChangeShapeType="1"/>
            </p:cNvSpPr>
            <p:nvPr/>
          </p:nvSpPr>
          <p:spPr bwMode="auto">
            <a:xfrm>
              <a:off x="2929" y="852"/>
              <a:ext cx="0" cy="44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17" name="Line 9"/>
            <p:cNvSpPr>
              <a:spLocks noChangeShapeType="1"/>
            </p:cNvSpPr>
            <p:nvPr/>
          </p:nvSpPr>
          <p:spPr bwMode="auto">
            <a:xfrm>
              <a:off x="3168" y="864"/>
              <a:ext cx="1440" cy="43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18" name="Text Box 10"/>
            <p:cNvSpPr txBox="1">
              <a:spLocks noChangeArrowheads="1"/>
            </p:cNvSpPr>
            <p:nvPr/>
          </p:nvSpPr>
          <p:spPr bwMode="auto">
            <a:xfrm>
              <a:off x="3828" y="1812"/>
              <a:ext cx="992" cy="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dirty="0" err="1"/>
                <a:t>nyu.edu</a:t>
              </a:r>
              <a:endParaRPr lang="en-US" altLang="en-US" sz="1800" dirty="0"/>
            </a:p>
            <a:p>
              <a:pPr eaLnBrk="1" hangingPunct="1">
                <a:spcBef>
                  <a:spcPct val="0"/>
                </a:spcBef>
                <a:buClrTx/>
                <a:buSzTx/>
                <a:buFontTx/>
                <a:buNone/>
              </a:pPr>
              <a:r>
                <a:rPr lang="en-US" altLang="en-US" sz="1800" dirty="0"/>
                <a:t>DNS servers</a:t>
              </a:r>
              <a:endParaRPr lang="en-US" altLang="en-US" sz="1800" dirty="0"/>
            </a:p>
          </p:txBody>
        </p:sp>
        <p:sp>
          <p:nvSpPr>
            <p:cNvPr id="19" name="Text Box 11"/>
            <p:cNvSpPr txBox="1">
              <a:spLocks noChangeArrowheads="1"/>
            </p:cNvSpPr>
            <p:nvPr/>
          </p:nvSpPr>
          <p:spPr bwMode="auto">
            <a:xfrm>
              <a:off x="4882" y="1812"/>
              <a:ext cx="992" cy="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a:t>umass.edu</a:t>
              </a:r>
              <a:endParaRPr lang="en-US" altLang="en-US" sz="1800"/>
            </a:p>
            <a:p>
              <a:pPr eaLnBrk="1" hangingPunct="1">
                <a:spcBef>
                  <a:spcPct val="0"/>
                </a:spcBef>
                <a:buClrTx/>
                <a:buSzTx/>
                <a:buFontTx/>
                <a:buNone/>
              </a:pPr>
              <a:r>
                <a:rPr lang="en-US" altLang="en-US" sz="1800"/>
                <a:t>DNS servers</a:t>
              </a:r>
              <a:endParaRPr lang="en-US" altLang="en-US" sz="1800"/>
            </a:p>
          </p:txBody>
        </p:sp>
        <p:sp>
          <p:nvSpPr>
            <p:cNvPr id="20" name="Line 12"/>
            <p:cNvSpPr>
              <a:spLocks noChangeShapeType="1"/>
            </p:cNvSpPr>
            <p:nvPr/>
          </p:nvSpPr>
          <p:spPr bwMode="auto">
            <a:xfrm flipH="1">
              <a:off x="4185" y="1536"/>
              <a:ext cx="375" cy="30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 name="Line 13"/>
            <p:cNvSpPr>
              <a:spLocks noChangeShapeType="1"/>
            </p:cNvSpPr>
            <p:nvPr/>
          </p:nvSpPr>
          <p:spPr bwMode="auto">
            <a:xfrm>
              <a:off x="4848" y="1536"/>
              <a:ext cx="336" cy="30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2" name="Text Box 14"/>
            <p:cNvSpPr txBox="1">
              <a:spLocks noChangeArrowheads="1"/>
            </p:cNvSpPr>
            <p:nvPr/>
          </p:nvSpPr>
          <p:spPr bwMode="auto">
            <a:xfrm>
              <a:off x="230" y="1828"/>
              <a:ext cx="1010"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dirty="0" err="1"/>
                <a:t>yahoo.com</a:t>
              </a:r>
              <a:endParaRPr lang="en-US" altLang="en-US" sz="1800" dirty="0"/>
            </a:p>
            <a:p>
              <a:pPr eaLnBrk="1" hangingPunct="1">
                <a:spcBef>
                  <a:spcPct val="0"/>
                </a:spcBef>
                <a:buClrTx/>
                <a:buSzTx/>
                <a:buFontTx/>
                <a:buNone/>
              </a:pPr>
              <a:r>
                <a:rPr lang="en-US" altLang="en-US" sz="1800" dirty="0"/>
                <a:t>DNS servers</a:t>
              </a:r>
              <a:endParaRPr lang="en-US" altLang="en-US" sz="1800" dirty="0"/>
            </a:p>
          </p:txBody>
        </p:sp>
        <p:sp>
          <p:nvSpPr>
            <p:cNvPr id="23" name="Text Box 15"/>
            <p:cNvSpPr txBox="1">
              <a:spLocks noChangeArrowheads="1"/>
            </p:cNvSpPr>
            <p:nvPr/>
          </p:nvSpPr>
          <p:spPr bwMode="auto">
            <a:xfrm>
              <a:off x="1308" y="1812"/>
              <a:ext cx="1001" cy="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dirty="0" err="1"/>
                <a:t>amazon.com</a:t>
              </a:r>
              <a:endParaRPr lang="en-US" altLang="en-US" sz="1800" dirty="0"/>
            </a:p>
            <a:p>
              <a:pPr eaLnBrk="1" hangingPunct="1">
                <a:spcBef>
                  <a:spcPct val="0"/>
                </a:spcBef>
                <a:buClrTx/>
                <a:buSzTx/>
                <a:buFontTx/>
                <a:buNone/>
              </a:pPr>
              <a:r>
                <a:rPr lang="en-US" altLang="en-US" sz="1800" dirty="0"/>
                <a:t>DNS servers</a:t>
              </a:r>
              <a:endParaRPr lang="en-US" altLang="en-US" sz="1800" dirty="0"/>
            </a:p>
          </p:txBody>
        </p:sp>
        <p:sp>
          <p:nvSpPr>
            <p:cNvPr id="24" name="Line 16"/>
            <p:cNvSpPr>
              <a:spLocks noChangeShapeType="1"/>
            </p:cNvSpPr>
            <p:nvPr/>
          </p:nvSpPr>
          <p:spPr bwMode="auto">
            <a:xfrm flipH="1">
              <a:off x="759" y="1541"/>
              <a:ext cx="248" cy="29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5" name="Line 17"/>
            <p:cNvSpPr>
              <a:spLocks noChangeShapeType="1"/>
            </p:cNvSpPr>
            <p:nvPr/>
          </p:nvSpPr>
          <p:spPr bwMode="auto">
            <a:xfrm>
              <a:off x="1344" y="1541"/>
              <a:ext cx="288" cy="306"/>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6" name="Text Box 18"/>
            <p:cNvSpPr txBox="1">
              <a:spLocks noChangeArrowheads="1"/>
            </p:cNvSpPr>
            <p:nvPr/>
          </p:nvSpPr>
          <p:spPr bwMode="auto">
            <a:xfrm>
              <a:off x="2534" y="1799"/>
              <a:ext cx="993" cy="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a:t>pbs.org</a:t>
              </a:r>
              <a:endParaRPr lang="en-US" altLang="en-US" sz="1800"/>
            </a:p>
            <a:p>
              <a:pPr eaLnBrk="1" hangingPunct="1">
                <a:spcBef>
                  <a:spcPct val="0"/>
                </a:spcBef>
                <a:buClrTx/>
                <a:buSzTx/>
                <a:buFontTx/>
                <a:buNone/>
              </a:pPr>
              <a:r>
                <a:rPr lang="en-US" altLang="en-US" sz="1800"/>
                <a:t>DNS servers</a:t>
              </a:r>
              <a:endParaRPr lang="en-US" altLang="en-US" sz="1800"/>
            </a:p>
          </p:txBody>
        </p:sp>
        <p:sp>
          <p:nvSpPr>
            <p:cNvPr id="27" name="Line 19"/>
            <p:cNvSpPr>
              <a:spLocks noChangeShapeType="1"/>
            </p:cNvSpPr>
            <p:nvPr/>
          </p:nvSpPr>
          <p:spPr bwMode="auto">
            <a:xfrm>
              <a:off x="2931" y="1536"/>
              <a:ext cx="0" cy="3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sp>
        <p:nvSpPr>
          <p:cNvPr id="28" name="Text Box 29"/>
          <p:cNvSpPr txBox="1">
            <a:spLocks noChangeArrowheads="1"/>
          </p:cNvSpPr>
          <p:nvPr/>
        </p:nvSpPr>
        <p:spPr bwMode="auto">
          <a:xfrm>
            <a:off x="4066204" y="193485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dirty="0"/>
              <a:t>…</a:t>
            </a:r>
            <a:endParaRPr lang="en-US" altLang="en-US" dirty="0"/>
          </a:p>
        </p:txBody>
      </p:sp>
      <p:sp>
        <p:nvSpPr>
          <p:cNvPr id="29" name="Text Box 30"/>
          <p:cNvSpPr txBox="1">
            <a:spLocks noChangeArrowheads="1"/>
          </p:cNvSpPr>
          <p:nvPr/>
        </p:nvSpPr>
        <p:spPr bwMode="auto">
          <a:xfrm>
            <a:off x="5225966" y="1923399"/>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dirty="0"/>
              <a:t>…</a:t>
            </a:r>
            <a:endParaRPr lang="en-US" altLang="en-US" dirty="0"/>
          </a:p>
        </p:txBody>
      </p:sp>
      <p:sp>
        <p:nvSpPr>
          <p:cNvPr id="30" name="Rectangle 22"/>
          <p:cNvSpPr txBox="1">
            <a:spLocks noChangeArrowheads="1"/>
          </p:cNvSpPr>
          <p:nvPr/>
        </p:nvSpPr>
        <p:spPr>
          <a:xfrm>
            <a:off x="478971" y="4398565"/>
            <a:ext cx="11713029" cy="2133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indent="0">
              <a:buFont typeface="Wingdings" panose="05000000000000000000" pitchFamily="2" charset="2"/>
              <a:buNone/>
            </a:pPr>
            <a:r>
              <a:rPr lang="en-US" altLang="en-US" dirty="0">
                <a:solidFill>
                  <a:srgbClr val="000099"/>
                </a:solidFill>
                <a:ea typeface="MS PGothic" panose="020B0600070205080204" pitchFamily="34" charset="-128"/>
              </a:rPr>
              <a:t>Client wants IP address for </a:t>
            </a:r>
            <a:r>
              <a:rPr lang="en-US" altLang="en-US" sz="2400" dirty="0" err="1">
                <a:solidFill>
                  <a:srgbClr val="000099"/>
                </a:solidFill>
                <a:ea typeface="MS PGothic" panose="020B0600070205080204" pitchFamily="34" charset="-128"/>
              </a:rPr>
              <a:t>www.amazon.com</a:t>
            </a:r>
            <a:r>
              <a:rPr lang="en-US" altLang="en-US" dirty="0">
                <a:solidFill>
                  <a:srgbClr val="000099"/>
                </a:solidFill>
                <a:ea typeface="MS PGothic" panose="020B0600070205080204" pitchFamily="34" charset="-128"/>
              </a:rPr>
              <a:t>; 1</a:t>
            </a:r>
            <a:r>
              <a:rPr lang="en-US" altLang="en-US" baseline="30000" dirty="0">
                <a:solidFill>
                  <a:srgbClr val="000099"/>
                </a:solidFill>
                <a:ea typeface="MS PGothic" panose="020B0600070205080204" pitchFamily="34" charset="-128"/>
              </a:rPr>
              <a:t>st</a:t>
            </a:r>
            <a:r>
              <a:rPr lang="en-US" altLang="en-US" dirty="0">
                <a:solidFill>
                  <a:srgbClr val="000099"/>
                </a:solidFill>
                <a:ea typeface="MS PGothic" panose="020B0600070205080204" pitchFamily="34" charset="-128"/>
              </a:rPr>
              <a:t> approximation:</a:t>
            </a:r>
            <a:endParaRPr lang="en-US" altLang="en-US" dirty="0">
              <a:solidFill>
                <a:srgbClr val="000099"/>
              </a:solidFill>
              <a:ea typeface="MS PGothic" panose="020B0600070205080204" pitchFamily="34" charset="-128"/>
            </a:endParaRPr>
          </a:p>
          <a:p>
            <a:pPr marL="460375" indent="-215900"/>
            <a:r>
              <a:rPr lang="en-US" altLang="en-US" dirty="0">
                <a:ea typeface="MS PGothic" panose="020B0600070205080204" pitchFamily="34" charset="-128"/>
              </a:rPr>
              <a:t>client queries root server to find .com DNS server</a:t>
            </a:r>
            <a:endParaRPr lang="en-US" altLang="en-US" dirty="0">
              <a:ea typeface="MS PGothic" panose="020B0600070205080204" pitchFamily="34" charset="-128"/>
            </a:endParaRPr>
          </a:p>
          <a:p>
            <a:pPr marL="460375" indent="-215900"/>
            <a:r>
              <a:rPr lang="en-US" altLang="en-US" dirty="0">
                <a:ea typeface="MS PGothic" panose="020B0600070205080204" pitchFamily="34" charset="-128"/>
              </a:rPr>
              <a:t>client queries .com DNS server to get </a:t>
            </a:r>
            <a:r>
              <a:rPr lang="en-US" altLang="en-US" sz="2400" dirty="0" err="1">
                <a:ea typeface="MS PGothic" panose="020B0600070205080204" pitchFamily="34" charset="-128"/>
              </a:rPr>
              <a:t>amazon.com</a:t>
            </a:r>
            <a:r>
              <a:rPr lang="en-US" altLang="en-US" sz="2400" dirty="0">
                <a:ea typeface="MS PGothic" panose="020B0600070205080204" pitchFamily="34" charset="-128"/>
              </a:rPr>
              <a:t> </a:t>
            </a:r>
            <a:r>
              <a:rPr lang="en-US" altLang="en-US" dirty="0">
                <a:ea typeface="MS PGothic" panose="020B0600070205080204" pitchFamily="34" charset="-128"/>
              </a:rPr>
              <a:t>DNS server</a:t>
            </a:r>
            <a:endParaRPr lang="en-US" altLang="en-US" dirty="0">
              <a:ea typeface="MS PGothic" panose="020B0600070205080204" pitchFamily="34" charset="-128"/>
            </a:endParaRPr>
          </a:p>
          <a:p>
            <a:pPr marL="460375" indent="-215900"/>
            <a:r>
              <a:rPr lang="en-US" altLang="en-US" dirty="0">
                <a:ea typeface="MS PGothic" panose="020B0600070205080204" pitchFamily="34" charset="-128"/>
              </a:rPr>
              <a:t>client queries </a:t>
            </a:r>
            <a:r>
              <a:rPr lang="en-US" altLang="en-US" sz="2400" dirty="0" err="1">
                <a:ea typeface="MS PGothic" panose="020B0600070205080204" pitchFamily="34" charset="-128"/>
              </a:rPr>
              <a:t>amazon.com</a:t>
            </a:r>
            <a:r>
              <a:rPr lang="en-US" altLang="en-US" sz="2400" dirty="0">
                <a:ea typeface="MS PGothic" panose="020B0600070205080204" pitchFamily="34" charset="-128"/>
              </a:rPr>
              <a:t> </a:t>
            </a:r>
            <a:r>
              <a:rPr lang="en-US" altLang="en-US" dirty="0">
                <a:ea typeface="MS PGothic" panose="020B0600070205080204" pitchFamily="34" charset="-128"/>
              </a:rPr>
              <a:t>DNS server to get  IP address for </a:t>
            </a:r>
            <a:r>
              <a:rPr lang="en-US" altLang="en-US" sz="2400" dirty="0" err="1">
                <a:ea typeface="MS PGothic" panose="020B0600070205080204" pitchFamily="34" charset="-128"/>
              </a:rPr>
              <a:t>www.amazon.com</a:t>
            </a:r>
            <a:endParaRPr lang="en-US" altLang="en-US" dirty="0">
              <a:ea typeface="MS PGothic" panose="020B0600070205080204" pitchFamily="34" charset="-128"/>
            </a:endParaRPr>
          </a:p>
        </p:txBody>
      </p:sp>
      <p:sp>
        <p:nvSpPr>
          <p:cNvPr id="2" name="TextBox 1"/>
          <p:cNvSpPr txBox="1"/>
          <p:nvPr/>
        </p:nvSpPr>
        <p:spPr>
          <a:xfrm>
            <a:off x="9724296" y="2400190"/>
            <a:ext cx="2388987" cy="461665"/>
          </a:xfrm>
          <a:prstGeom prst="rect">
            <a:avLst/>
          </a:prstGeom>
          <a:noFill/>
        </p:spPr>
        <p:txBody>
          <a:bodyPr wrap="none" rtlCol="0">
            <a:spAutoFit/>
          </a:bodyPr>
          <a:lstStyle/>
          <a:p>
            <a:r>
              <a:rPr lang="en-US" sz="2400" i="1" dirty="0">
                <a:solidFill>
                  <a:srgbClr val="C00000"/>
                </a:solidFill>
              </a:rPr>
              <a:t>Top Level Domain</a:t>
            </a:r>
            <a:endParaRPr lang="en-US" sz="2400" i="1" dirty="0">
              <a:solidFill>
                <a:srgbClr val="C00000"/>
              </a:solidFill>
            </a:endParaRPr>
          </a:p>
        </p:txBody>
      </p:sp>
      <p:sp>
        <p:nvSpPr>
          <p:cNvPr id="31" name="TextBox 30"/>
          <p:cNvSpPr txBox="1"/>
          <p:nvPr/>
        </p:nvSpPr>
        <p:spPr>
          <a:xfrm>
            <a:off x="10397760" y="1407648"/>
            <a:ext cx="771493" cy="461665"/>
          </a:xfrm>
          <a:prstGeom prst="rect">
            <a:avLst/>
          </a:prstGeom>
          <a:noFill/>
        </p:spPr>
        <p:txBody>
          <a:bodyPr wrap="none" rtlCol="0">
            <a:spAutoFit/>
          </a:bodyPr>
          <a:lstStyle/>
          <a:p>
            <a:r>
              <a:rPr lang="en-US" sz="2400" i="1" dirty="0">
                <a:solidFill>
                  <a:srgbClr val="C00000"/>
                </a:solidFill>
              </a:rPr>
              <a:t>Root</a:t>
            </a:r>
            <a:endParaRPr lang="en-US" sz="2400" i="1" dirty="0">
              <a:solidFill>
                <a:srgbClr val="C00000"/>
              </a:solidFill>
            </a:endParaRPr>
          </a:p>
        </p:txBody>
      </p:sp>
      <p:sp>
        <p:nvSpPr>
          <p:cNvPr id="32" name="TextBox 31"/>
          <p:cNvSpPr txBox="1"/>
          <p:nvPr/>
        </p:nvSpPr>
        <p:spPr>
          <a:xfrm>
            <a:off x="9919925" y="3273362"/>
            <a:ext cx="1835695" cy="461665"/>
          </a:xfrm>
          <a:prstGeom prst="rect">
            <a:avLst/>
          </a:prstGeom>
          <a:noFill/>
        </p:spPr>
        <p:txBody>
          <a:bodyPr wrap="none" rtlCol="0">
            <a:spAutoFit/>
          </a:bodyPr>
          <a:lstStyle/>
          <a:p>
            <a:r>
              <a:rPr lang="en-US" sz="2400" i="1" dirty="0">
                <a:solidFill>
                  <a:srgbClr val="C00000"/>
                </a:solidFill>
              </a:rPr>
              <a:t>Authoritative</a:t>
            </a:r>
            <a:endParaRPr lang="en-US" sz="2400" i="1" dirty="0">
              <a:solidFill>
                <a:srgbClr val="C00000"/>
              </a:solidFill>
            </a:endParaRPr>
          </a:p>
        </p:txBody>
      </p:sp>
      <p:sp>
        <p:nvSpPr>
          <p:cNvPr id="33" name="Text Box 30"/>
          <p:cNvSpPr txBox="1">
            <a:spLocks noChangeArrowheads="1"/>
          </p:cNvSpPr>
          <p:nvPr/>
        </p:nvSpPr>
        <p:spPr bwMode="auto">
          <a:xfrm>
            <a:off x="7292568" y="2785396"/>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dirty="0"/>
              <a:t>…</a:t>
            </a:r>
            <a:endParaRPr lang="en-US" altLang="en-US" dirty="0"/>
          </a:p>
        </p:txBody>
      </p:sp>
      <p:sp>
        <p:nvSpPr>
          <p:cNvPr id="34" name="Text Box 30"/>
          <p:cNvSpPr txBox="1">
            <a:spLocks noChangeArrowheads="1"/>
          </p:cNvSpPr>
          <p:nvPr/>
        </p:nvSpPr>
        <p:spPr bwMode="auto">
          <a:xfrm>
            <a:off x="2030793" y="2776330"/>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dirty="0"/>
              <a:t>…</a:t>
            </a:r>
            <a:endParaRPr lang="en-US" altLang="en-US" dirty="0"/>
          </a:p>
        </p:txBody>
      </p:sp>
      <p:sp>
        <p:nvSpPr>
          <p:cNvPr id="35" name="Text Box 30"/>
          <p:cNvSpPr txBox="1">
            <a:spLocks noChangeArrowheads="1"/>
          </p:cNvSpPr>
          <p:nvPr/>
        </p:nvSpPr>
        <p:spPr bwMode="auto">
          <a:xfrm>
            <a:off x="4390346" y="276874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dirty="0"/>
              <a:t>…</a:t>
            </a:r>
            <a:endParaRPr lang="en-US" altLang="en-US" dirty="0"/>
          </a:p>
        </p:txBody>
      </p:sp>
      <p:sp>
        <p:nvSpPr>
          <p:cNvPr id="36" name="Text Box 30"/>
          <p:cNvSpPr txBox="1">
            <a:spLocks noChangeArrowheads="1"/>
          </p:cNvSpPr>
          <p:nvPr/>
        </p:nvSpPr>
        <p:spPr bwMode="auto">
          <a:xfrm>
            <a:off x="4877758" y="2777057"/>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dirty="0"/>
              <a:t>…</a:t>
            </a:r>
            <a:endParaRPr lang="en-US" altLang="en-US" dirty="0"/>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DNS: root </a:t>
            </a:r>
            <a:r>
              <a:rPr lang="en-US" altLang="en-US" dirty="0">
                <a:ea typeface="MS PGothic" panose="020B0600070205080204" pitchFamily="34" charset="-128"/>
                <a:cs typeface="Calibri" panose="020F0502020204030204" pitchFamily="34" charset="0"/>
              </a:rPr>
              <a:t>n</a:t>
            </a:r>
            <a:r>
              <a:rPr lang="en-US" altLang="en-US" sz="4400" dirty="0">
                <a:ea typeface="MS PGothic" panose="020B0600070205080204" pitchFamily="34" charset="-128"/>
                <a:cs typeface="Calibri" panose="020F0502020204030204" pitchFamily="34" charset="0"/>
              </a:rPr>
              <a:t>ame </a:t>
            </a:r>
            <a:r>
              <a:rPr lang="en-US" altLang="en-US" dirty="0">
                <a:ea typeface="MS PGothic" panose="020B0600070205080204" pitchFamily="34" charset="-128"/>
                <a:cs typeface="Calibri" panose="020F0502020204030204" pitchFamily="34" charset="0"/>
              </a:rPr>
              <a:t>s</a:t>
            </a:r>
            <a:r>
              <a:rPr lang="en-US" altLang="en-US" sz="4400" dirty="0">
                <a:ea typeface="MS PGothic"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pic>
        <p:nvPicPr>
          <p:cNvPr id="2" name="Picture 1"/>
          <p:cNvPicPr>
            <a:picLocks noChangeAspect="1"/>
          </p:cNvPicPr>
          <p:nvPr/>
        </p:nvPicPr>
        <p:blipFill>
          <a:blip r:embed="rId1"/>
          <a:stretch>
            <a:fillRect/>
          </a:stretch>
        </p:blipFill>
        <p:spPr>
          <a:xfrm>
            <a:off x="5930900" y="2856025"/>
            <a:ext cx="6261100" cy="3200400"/>
          </a:xfrm>
          <a:prstGeom prst="rect">
            <a:avLst/>
          </a:prstGeom>
        </p:spPr>
      </p:pic>
      <p:sp>
        <p:nvSpPr>
          <p:cNvPr id="31" name="Rectangle 3"/>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indent="-288925"/>
            <a:r>
              <a:rPr lang="en-US" altLang="en-US" dirty="0">
                <a:ea typeface="MS PGothic" panose="020B0600070205080204" pitchFamily="34" charset="-128"/>
              </a:rPr>
              <a:t>official, contact-of-last-resort by name servers that can not resolve name</a:t>
            </a:r>
            <a:endParaRPr lang="en-US" altLang="en-US" dirty="0">
              <a:ea typeface="MS PGothic" panose="020B0600070205080204" pitchFamily="34" charset="-128"/>
            </a:endParaRPr>
          </a:p>
          <a:p>
            <a:pPr marL="403225" indent="-288925"/>
            <a:r>
              <a:rPr lang="en-US" altLang="en-US" i="1" dirty="0">
                <a:solidFill>
                  <a:srgbClr val="C00000"/>
                </a:solidFill>
                <a:ea typeface="MS PGothic" panose="020B0600070205080204" pitchFamily="34" charset="-128"/>
              </a:rPr>
              <a:t>incredibly important </a:t>
            </a:r>
            <a:r>
              <a:rPr lang="en-US" altLang="en-US" dirty="0">
                <a:ea typeface="MS PGothic" panose="020B0600070205080204" pitchFamily="34" charset="-128"/>
              </a:rPr>
              <a:t>Internet function</a:t>
            </a:r>
            <a:endParaRPr lang="en-US" altLang="en-US" dirty="0">
              <a:ea typeface="MS PGothic" panose="020B0600070205080204" pitchFamily="34" charset="-128"/>
            </a:endParaRPr>
          </a:p>
          <a:p>
            <a:pPr marL="635000" lvl="1" indent="-317500"/>
            <a:r>
              <a:rPr lang="en-US" altLang="en-US" dirty="0">
                <a:ea typeface="MS PGothic" panose="020B0600070205080204" pitchFamily="34" charset="-128"/>
              </a:rPr>
              <a:t>Internet couldn’t function without it!</a:t>
            </a:r>
            <a:endParaRPr lang="en-US" altLang="en-US" dirty="0">
              <a:ea typeface="MS PGothic" panose="020B0600070205080204" pitchFamily="34" charset="-128"/>
            </a:endParaRPr>
          </a:p>
          <a:p>
            <a:pPr marL="635000" lvl="1" indent="-317500"/>
            <a:r>
              <a:rPr lang="en-US" altLang="en-US" dirty="0">
                <a:ea typeface="MS PGothic" panose="020B0600070205080204" pitchFamily="34" charset="-128"/>
              </a:rPr>
              <a:t>DNSSEC – provides security (authentication and message integrity)</a:t>
            </a:r>
            <a:endParaRPr lang="en-US" altLang="en-US" dirty="0">
              <a:ea typeface="MS PGothic" panose="020B0600070205080204" pitchFamily="34" charset="-128"/>
            </a:endParaRPr>
          </a:p>
          <a:p>
            <a:pPr marL="403225" indent="-288925"/>
            <a:r>
              <a:rPr lang="en-US" dirty="0"/>
              <a:t>ICANN </a:t>
            </a:r>
            <a:r>
              <a:rPr lang="en-US" sz="2400" dirty="0"/>
              <a:t>(Internet Corporation for Assigned Names and Numbers)</a:t>
            </a:r>
            <a:r>
              <a:rPr lang="en-US" sz="2400" dirty="0">
                <a:ea typeface="MS PGothic" panose="020B0600070205080204" pitchFamily="34" charset="-128"/>
              </a:rPr>
              <a:t> </a:t>
            </a:r>
            <a:r>
              <a:rPr lang="en-US" dirty="0">
                <a:ea typeface="MS PGothic" panose="020B0600070205080204" pitchFamily="34" charset="-128"/>
              </a:rPr>
              <a:t>manages root DNS domain</a:t>
            </a:r>
            <a:endParaRPr lang="en-US" dirty="0"/>
          </a:p>
        </p:txBody>
      </p:sp>
      <p:sp>
        <p:nvSpPr>
          <p:cNvPr id="32" name="Rectangle 20"/>
          <p:cNvSpPr>
            <a:spLocks noChangeArrowheads="1"/>
          </p:cNvSpPr>
          <p:nvPr/>
        </p:nvSpPr>
        <p:spPr bwMode="auto">
          <a:xfrm>
            <a:off x="6423186" y="1752600"/>
            <a:ext cx="5142916" cy="1198735"/>
          </a:xfrm>
          <a:prstGeom prst="rect">
            <a:avLst/>
          </a:prstGeom>
          <a:noFill/>
          <a:ln>
            <a:noFill/>
          </a:ln>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lnSpc>
                <a:spcPct val="90000"/>
              </a:lnSpc>
            </a:pPr>
            <a:r>
              <a:rPr lang="en-US" altLang="en-US" sz="2400" dirty="0">
                <a:solidFill>
                  <a:srgbClr val="0000A3"/>
                </a:solidFill>
                <a:latin typeface="+mn-lt"/>
              </a:rPr>
              <a:t>13 logical root name “</a:t>
            </a:r>
            <a:r>
              <a:rPr lang="en-US" altLang="ja-JP" sz="2400" dirty="0">
                <a:solidFill>
                  <a:srgbClr val="0000A3"/>
                </a:solidFill>
                <a:latin typeface="+mn-lt"/>
              </a:rPr>
              <a:t>servers” worldwide each “server” replicated many times (~200 servers in US)</a:t>
            </a:r>
            <a:endParaRPr lang="en-US" altLang="ja-JP" dirty="0">
              <a:solidFill>
                <a:srgbClr val="0000A3"/>
              </a:solidFill>
              <a:latin typeface="+mn-lt"/>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TLD: </a:t>
            </a:r>
            <a:r>
              <a:rPr lang="en-US" altLang="en-US" dirty="0">
                <a:ea typeface="MS PGothic" panose="020B0600070205080204" pitchFamily="34" charset="-128"/>
                <a:cs typeface="Calibri" panose="020F0502020204030204" pitchFamily="34" charset="0"/>
              </a:rPr>
              <a:t>a</a:t>
            </a:r>
            <a:r>
              <a:rPr lang="en-US" altLang="en-US" sz="4400" dirty="0">
                <a:ea typeface="MS PGothic" panose="020B0600070205080204" pitchFamily="34" charset="-128"/>
                <a:cs typeface="Calibri" panose="020F0502020204030204" pitchFamily="34" charset="0"/>
              </a:rPr>
              <a:t>uthoritative </a:t>
            </a:r>
            <a:r>
              <a:rPr lang="en-US" altLang="en-US" dirty="0">
                <a:ea typeface="MS PGothic" panose="020B0600070205080204" pitchFamily="34" charset="-128"/>
                <a:cs typeface="Calibri" panose="020F0502020204030204" pitchFamily="34" charset="0"/>
              </a:rPr>
              <a:t>s</a:t>
            </a:r>
            <a:r>
              <a:rPr lang="en-US" altLang="en-US" sz="4400" dirty="0">
                <a:ea typeface="MS PGothic"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7" name="Rectangle 3"/>
          <p:cNvSpPr txBox="1">
            <a:spLocks noChangeArrowheads="1"/>
          </p:cNvSpPr>
          <p:nvPr/>
        </p:nvSpPr>
        <p:spPr>
          <a:xfrm>
            <a:off x="798692" y="1489418"/>
            <a:ext cx="1051560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605" indent="0">
              <a:buFont typeface="Wingdings" panose="05000000000000000000" pitchFamily="2" charset="2"/>
              <a:buNone/>
            </a:pPr>
            <a:r>
              <a:rPr lang="en-US" altLang="en-US" sz="3200" dirty="0">
                <a:solidFill>
                  <a:srgbClr val="C00000"/>
                </a:solidFill>
                <a:ea typeface="MS PGothic" panose="020B0600070205080204" pitchFamily="34" charset="-128"/>
              </a:rPr>
              <a:t>Top-Level Domain (TLD) servers:</a:t>
            </a:r>
            <a:endParaRPr lang="en-US" altLang="en-US" sz="3200" dirty="0">
              <a:solidFill>
                <a:srgbClr val="C00000"/>
              </a:solidFill>
              <a:ea typeface="MS PGothic" panose="020B0600070205080204" pitchFamily="34" charset="-128"/>
            </a:endParaRPr>
          </a:p>
          <a:p>
            <a:pPr marL="460375" lvl="1" indent="-287655">
              <a:buFont typeface="Wingdings" panose="05000000000000000000" pitchFamily="2" charset="2"/>
              <a:buChar char="§"/>
            </a:pPr>
            <a:r>
              <a:rPr lang="en-US" altLang="en-US" sz="2800" dirty="0">
                <a:ea typeface="MS PGothic" panose="020B0600070205080204" pitchFamily="34" charset="-128"/>
              </a:rPr>
              <a:t>responsible for .com, .org, </a:t>
            </a:r>
            <a:r>
              <a:rPr lang="en-US" altLang="en-US" sz="2800" dirty="0" err="1">
                <a:ea typeface="MS PGothic" panose="020B0600070205080204" pitchFamily="34" charset="-128"/>
              </a:rPr>
              <a:t>.net</a:t>
            </a:r>
            <a:r>
              <a:rPr lang="en-US" altLang="en-US" sz="2800" dirty="0">
                <a:ea typeface="MS PGothic" panose="020B0600070205080204" pitchFamily="34" charset="-128"/>
              </a:rPr>
              <a:t>, .</a:t>
            </a:r>
            <a:r>
              <a:rPr lang="en-US" altLang="en-US" sz="2800" dirty="0" err="1">
                <a:ea typeface="MS PGothic" panose="020B0600070205080204" pitchFamily="34" charset="-128"/>
              </a:rPr>
              <a:t>edu</a:t>
            </a:r>
            <a:r>
              <a:rPr lang="en-US" altLang="en-US" sz="2800" dirty="0">
                <a:ea typeface="MS PGothic" panose="020B0600070205080204" pitchFamily="34" charset="-128"/>
              </a:rPr>
              <a:t>, .aero, .jobs, .museums, and all top-level country domains, e.g.: .</a:t>
            </a:r>
            <a:r>
              <a:rPr lang="en-US" altLang="en-US" sz="2800" dirty="0" err="1">
                <a:ea typeface="MS PGothic" panose="020B0600070205080204" pitchFamily="34" charset="-128"/>
              </a:rPr>
              <a:t>cn</a:t>
            </a:r>
            <a:r>
              <a:rPr lang="en-US" altLang="en-US" sz="2800" dirty="0">
                <a:ea typeface="MS PGothic" panose="020B0600070205080204" pitchFamily="34" charset="-128"/>
              </a:rPr>
              <a:t>, .</a:t>
            </a:r>
            <a:r>
              <a:rPr lang="en-US" altLang="en-US" sz="2800" dirty="0" err="1">
                <a:ea typeface="MS PGothic" panose="020B0600070205080204" pitchFamily="34" charset="-128"/>
              </a:rPr>
              <a:t>uk</a:t>
            </a:r>
            <a:r>
              <a:rPr lang="en-US" altLang="en-US" sz="2800" dirty="0">
                <a:ea typeface="MS PGothic" panose="020B0600070205080204" pitchFamily="34" charset="-128"/>
              </a:rPr>
              <a:t>, .</a:t>
            </a:r>
            <a:r>
              <a:rPr lang="en-US" altLang="en-US" sz="2800" dirty="0" err="1">
                <a:ea typeface="MS PGothic" panose="020B0600070205080204" pitchFamily="34" charset="-128"/>
              </a:rPr>
              <a:t>fr</a:t>
            </a:r>
            <a:r>
              <a:rPr lang="en-US" altLang="en-US" sz="2800" dirty="0">
                <a:ea typeface="MS PGothic" panose="020B0600070205080204" pitchFamily="34" charset="-128"/>
              </a:rPr>
              <a:t>, .ca, .</a:t>
            </a:r>
            <a:r>
              <a:rPr lang="en-US" altLang="en-US" sz="2800" dirty="0" err="1">
                <a:ea typeface="MS PGothic" panose="020B0600070205080204" pitchFamily="34" charset="-128"/>
              </a:rPr>
              <a:t>jp</a:t>
            </a:r>
            <a:endParaRPr lang="en-US" altLang="en-US" sz="2800" dirty="0">
              <a:ea typeface="MS PGothic" panose="020B0600070205080204" pitchFamily="34" charset="-128"/>
            </a:endParaRPr>
          </a:p>
          <a:p>
            <a:pPr marL="460375" lvl="1" indent="-287655">
              <a:buFont typeface="Wingdings" panose="05000000000000000000" pitchFamily="2" charset="2"/>
              <a:buChar char="§"/>
            </a:pPr>
            <a:r>
              <a:rPr lang="en-US" altLang="en-US" sz="2800" dirty="0">
                <a:ea typeface="MS PGothic" panose="020B0600070205080204" pitchFamily="34" charset="-128"/>
              </a:rPr>
              <a:t>Network Solutions: authoritative registry for .com, </a:t>
            </a:r>
            <a:r>
              <a:rPr lang="en-US" altLang="en-US" sz="2800" dirty="0" err="1">
                <a:ea typeface="MS PGothic" panose="020B0600070205080204" pitchFamily="34" charset="-128"/>
              </a:rPr>
              <a:t>.net</a:t>
            </a:r>
            <a:r>
              <a:rPr lang="en-US" altLang="en-US" sz="2800" dirty="0">
                <a:ea typeface="MS PGothic" panose="020B0600070205080204" pitchFamily="34" charset="-128"/>
              </a:rPr>
              <a:t> TLD</a:t>
            </a:r>
            <a:endParaRPr lang="en-US" altLang="en-US" sz="2800" dirty="0">
              <a:ea typeface="MS PGothic" panose="020B0600070205080204" pitchFamily="34" charset="-128"/>
            </a:endParaRPr>
          </a:p>
          <a:p>
            <a:pPr marL="460375" lvl="1" indent="-287655">
              <a:buFont typeface="Wingdings" panose="05000000000000000000" pitchFamily="2" charset="2"/>
              <a:buChar char="§"/>
            </a:pPr>
            <a:r>
              <a:rPr lang="en-US" altLang="en-US" sz="2800" dirty="0">
                <a:ea typeface="MS PGothic" panose="020B0600070205080204" pitchFamily="34" charset="-128"/>
              </a:rPr>
              <a:t>Educause: .</a:t>
            </a:r>
            <a:r>
              <a:rPr lang="en-US" altLang="en-US" sz="2800" dirty="0" err="1">
                <a:ea typeface="MS PGothic" panose="020B0600070205080204" pitchFamily="34" charset="-128"/>
              </a:rPr>
              <a:t>edu</a:t>
            </a:r>
            <a:r>
              <a:rPr lang="en-US" altLang="en-US" sz="2800" dirty="0">
                <a:ea typeface="MS PGothic" panose="020B0600070205080204" pitchFamily="34" charset="-128"/>
              </a:rPr>
              <a:t> TLD</a:t>
            </a:r>
            <a:endParaRPr lang="en-US" altLang="en-US" sz="2800" dirty="0">
              <a:ea typeface="MS PGothic" panose="020B0600070205080204" pitchFamily="34" charset="-128"/>
            </a:endParaRPr>
          </a:p>
          <a:p>
            <a:pPr>
              <a:spcBef>
                <a:spcPts val="2200"/>
              </a:spcBef>
              <a:buFont typeface="Wingdings" panose="05000000000000000000" pitchFamily="2" charset="2"/>
              <a:buNone/>
            </a:pPr>
            <a:r>
              <a:rPr lang="en-US" altLang="en-US" sz="3200" dirty="0">
                <a:solidFill>
                  <a:srgbClr val="C00000"/>
                </a:solidFill>
                <a:ea typeface="MS PGothic" panose="020B0600070205080204" pitchFamily="34" charset="-128"/>
              </a:rPr>
              <a:t>Authoritative DNS servers: </a:t>
            </a:r>
            <a:endParaRPr lang="en-US" altLang="en-US" sz="3200" dirty="0">
              <a:solidFill>
                <a:srgbClr val="C00000"/>
              </a:solidFill>
              <a:ea typeface="MS PGothic" panose="020B0600070205080204" pitchFamily="34" charset="-128"/>
            </a:endParaRPr>
          </a:p>
          <a:p>
            <a:pPr marL="460375" lvl="1" indent="-287655">
              <a:buFont typeface="Wingdings" panose="05000000000000000000" pitchFamily="2" charset="2"/>
              <a:buChar char="§"/>
            </a:pPr>
            <a:r>
              <a:rPr lang="en-US" altLang="en-US" sz="2800" dirty="0">
                <a:latin typeface="Calibri" panose="020F0502020204030204" pitchFamily="34" charset="0"/>
                <a:ea typeface="MS PGothic" panose="020B0600070205080204" pitchFamily="34" charset="-128"/>
                <a:cs typeface="Calibri" panose="020F0502020204030204" pitchFamily="34" charset="0"/>
              </a:rPr>
              <a:t>organization’</a:t>
            </a:r>
            <a:r>
              <a:rPr lang="en-US" altLang="ja-JP" sz="2800" dirty="0">
                <a:latin typeface="Calibri" panose="020F0502020204030204" pitchFamily="34" charset="0"/>
                <a:ea typeface="MS PGothic" panose="020B0600070205080204" pitchFamily="34" charset="-128"/>
                <a:cs typeface="Calibri" panose="020F0502020204030204" pitchFamily="34" charset="0"/>
              </a:rPr>
              <a:t>s own DNS server(s), providing authoritative hostname to IP mappings for organization’s named hosts </a:t>
            </a:r>
            <a:endParaRPr lang="en-US" altLang="ja-JP" sz="2800" dirty="0">
              <a:latin typeface="Calibri" panose="020F0502020204030204" pitchFamily="34" charset="0"/>
              <a:ea typeface="MS PGothic" panose="020B0600070205080204" pitchFamily="34" charset="-128"/>
              <a:cs typeface="Calibri" panose="020F0502020204030204" pitchFamily="34" charset="0"/>
            </a:endParaRPr>
          </a:p>
          <a:p>
            <a:pPr marL="460375" lvl="1" indent="-287655">
              <a:buFont typeface="Wingdings" panose="05000000000000000000" pitchFamily="2" charset="2"/>
              <a:buChar char="§"/>
            </a:pPr>
            <a:r>
              <a:rPr lang="en-US" altLang="en-US" sz="2800" dirty="0">
                <a:latin typeface="Calibri" panose="020F0502020204030204" pitchFamily="34" charset="0"/>
                <a:ea typeface="MS PGothic" panose="020B0600070205080204" pitchFamily="34" charset="-128"/>
                <a:cs typeface="Calibri" panose="020F0502020204030204" pitchFamily="34" charset="0"/>
              </a:rPr>
              <a:t>can be maintained by organization or service provider</a:t>
            </a:r>
            <a:endParaRPr lang="en-US" altLang="en-US" sz="2800" dirty="0">
              <a:latin typeface="Calibri" panose="020F0502020204030204" pitchFamily="34" charset="0"/>
              <a:ea typeface="MS PGothic" panose="020B0600070205080204" pitchFamily="34" charset="-128"/>
              <a:cs typeface="Calibri" panose="020F0502020204030204" pitchFamily="34" charset="0"/>
            </a:endParaRPr>
          </a:p>
          <a:p>
            <a:pPr lvl="1"/>
            <a:endParaRPr lang="en-US" altLang="en-US" dirty="0">
              <a:ea typeface="MS PGothic" panose="020B0600070205080204" pitchFamily="34" charset="-128"/>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Local DNS name </a:t>
            </a:r>
            <a:r>
              <a:rPr lang="en-US" altLang="en-US" dirty="0">
                <a:ea typeface="MS PGothic" panose="020B0600070205080204" pitchFamily="34" charset="-128"/>
                <a:cs typeface="Calibri" panose="020F0502020204030204" pitchFamily="34" charset="0"/>
              </a:rPr>
              <a:t>s</a:t>
            </a:r>
            <a:r>
              <a:rPr lang="en-US" altLang="en-US" sz="4400" dirty="0">
                <a:ea typeface="MS PGothic"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5" name="Rectangle 3"/>
          <p:cNvSpPr txBox="1">
            <a:spLocks noChangeArrowheads="1"/>
          </p:cNvSpPr>
          <p:nvPr/>
        </p:nvSpPr>
        <p:spPr>
          <a:xfrm>
            <a:off x="798691" y="1489418"/>
            <a:ext cx="109835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94005"/>
            <a:r>
              <a:rPr lang="en-US" altLang="en-US" sz="3200" dirty="0">
                <a:ea typeface="MS PGothic" panose="020B0600070205080204" pitchFamily="34" charset="-128"/>
              </a:rPr>
              <a:t>does not strictly belong to hierarchy</a:t>
            </a:r>
            <a:endParaRPr lang="en-US" altLang="en-US" sz="3200" dirty="0">
              <a:ea typeface="MS PGothic" panose="020B0600070205080204" pitchFamily="34" charset="-128"/>
            </a:endParaRPr>
          </a:p>
          <a:p>
            <a:pPr indent="-294005"/>
            <a:r>
              <a:rPr lang="en-US" altLang="en-US" sz="3200" dirty="0">
                <a:ea typeface="MS PGothic" panose="020B0600070205080204" pitchFamily="34" charset="-128"/>
              </a:rPr>
              <a:t>each ISP (residential ISP, company, university) has one</a:t>
            </a:r>
            <a:endParaRPr lang="en-US" altLang="en-US" sz="3200" dirty="0">
              <a:ea typeface="MS PGothic" panose="020B0600070205080204" pitchFamily="34" charset="-128"/>
            </a:endParaRPr>
          </a:p>
          <a:p>
            <a:pPr lvl="1"/>
            <a:r>
              <a:rPr lang="en-US" altLang="en-US" sz="2800" dirty="0">
                <a:ea typeface="MS PGothic" panose="020B0600070205080204" pitchFamily="34" charset="-128"/>
              </a:rPr>
              <a:t>also called “</a:t>
            </a:r>
            <a:r>
              <a:rPr lang="en-US" altLang="ja-JP" sz="2800" dirty="0">
                <a:ea typeface="MS PGothic" panose="020B0600070205080204" pitchFamily="34" charset="-128"/>
              </a:rPr>
              <a:t>default name server”</a:t>
            </a:r>
            <a:endParaRPr lang="en-US" altLang="ja-JP" sz="2800" dirty="0">
              <a:ea typeface="MS PGothic" panose="020B0600070205080204" pitchFamily="34" charset="-128"/>
            </a:endParaRPr>
          </a:p>
          <a:p>
            <a:pPr indent="-294005"/>
            <a:r>
              <a:rPr lang="en-US" altLang="en-US" sz="3200" dirty="0">
                <a:ea typeface="MS PGothic" panose="020B0600070205080204" pitchFamily="34" charset="-128"/>
              </a:rPr>
              <a:t>when host makes DNS query, query is sent to its local DNS server</a:t>
            </a:r>
            <a:endParaRPr lang="en-US" altLang="en-US" sz="3200" dirty="0">
              <a:ea typeface="MS PGothic" panose="020B0600070205080204" pitchFamily="34" charset="-128"/>
            </a:endParaRPr>
          </a:p>
          <a:p>
            <a:pPr lvl="1"/>
            <a:r>
              <a:rPr lang="en-US" altLang="en-US" sz="2800" dirty="0">
                <a:ea typeface="MS PGothic" panose="020B0600070205080204" pitchFamily="34" charset="-128"/>
              </a:rPr>
              <a:t>has local cache of recent name-to-address translation pairs (but may be out of date!)</a:t>
            </a:r>
            <a:endParaRPr lang="en-US" altLang="en-US" sz="2800" dirty="0">
              <a:ea typeface="MS PGothic" panose="020B0600070205080204" pitchFamily="34" charset="-128"/>
            </a:endParaRPr>
          </a:p>
          <a:p>
            <a:pPr lvl="1"/>
            <a:r>
              <a:rPr lang="en-US" altLang="en-US" sz="2800" dirty="0">
                <a:ea typeface="MS PGothic" panose="020B0600070205080204" pitchFamily="34" charset="-128"/>
              </a:rPr>
              <a:t>acts as proxy, forwards query into hierarchy</a:t>
            </a:r>
            <a:endParaRPr lang="en-US" altLang="en-US" sz="2800" dirty="0">
              <a:ea typeface="MS PGothic" panose="020B0600070205080204" pitchFamily="34" charset="-128"/>
            </a:endParaRPr>
          </a:p>
          <a:p>
            <a:pPr lvl="1"/>
            <a:endParaRPr lang="en-US" altLang="en-US" dirty="0">
              <a:latin typeface="Gill Sans MT" panose="020B0502020104020203" pitchFamily="34" charset="77"/>
              <a:ea typeface="MS PGothic" panose="020B0600070205080204" pitchFamily="34" charset="-128"/>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DNS name resolution: iterated query</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5" name="Rectangle 67"/>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altLang="en-US" dirty="0">
                <a:solidFill>
                  <a:srgbClr val="0000A3"/>
                </a:solidFill>
                <a:ea typeface="MS PGothic" panose="020B0600070205080204" pitchFamily="34" charset="-128"/>
              </a:rPr>
              <a:t>Example: </a:t>
            </a:r>
            <a:r>
              <a:rPr lang="en-US" altLang="en-US" dirty="0">
                <a:ea typeface="MS PGothic" panose="020B0600070205080204" pitchFamily="34" charset="-128"/>
              </a:rPr>
              <a:t>host at </a:t>
            </a:r>
            <a:r>
              <a:rPr lang="en-US" altLang="en-US" sz="2400" dirty="0" err="1">
                <a:ea typeface="MS PGothic" panose="020B0600070205080204" pitchFamily="34" charset="-128"/>
              </a:rPr>
              <a:t>engineering.nyu.edu</a:t>
            </a:r>
            <a:r>
              <a:rPr lang="en-US" altLang="en-US" sz="2400" dirty="0">
                <a:ea typeface="MS PGothic" panose="020B0600070205080204" pitchFamily="34" charset="-128"/>
              </a:rPr>
              <a:t> </a:t>
            </a:r>
            <a:r>
              <a:rPr lang="en-US" altLang="en-US" dirty="0">
                <a:ea typeface="MS PGothic" panose="020B0600070205080204" pitchFamily="34" charset="-128"/>
              </a:rPr>
              <a:t>wants IP address for </a:t>
            </a:r>
            <a:r>
              <a:rPr lang="en-US" altLang="en-US" sz="2400" dirty="0" err="1">
                <a:ea typeface="MS PGothic" panose="020B0600070205080204" pitchFamily="34" charset="-128"/>
              </a:rPr>
              <a:t>gaia.cs.umass.edu</a:t>
            </a:r>
            <a:endParaRPr lang="en-US" altLang="en-US" dirty="0">
              <a:ea typeface="MS PGothic" panose="020B0600070205080204" pitchFamily="34" charset="-128"/>
            </a:endParaRPr>
          </a:p>
        </p:txBody>
      </p:sp>
      <p:sp>
        <p:nvSpPr>
          <p:cNvPr id="6" name="Rectangle 69"/>
          <p:cNvSpPr>
            <a:spLocks noChangeArrowheads="1"/>
          </p:cNvSpPr>
          <p:nvPr/>
        </p:nvSpPr>
        <p:spPr bwMode="auto">
          <a:xfrm>
            <a:off x="858433" y="2824122"/>
            <a:ext cx="4093780" cy="2617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3200" dirty="0">
                <a:solidFill>
                  <a:srgbClr val="CC0000"/>
                </a:solidFill>
                <a:latin typeface="+mn-lt"/>
              </a:rPr>
              <a:t>Iterated query:</a:t>
            </a:r>
            <a:endParaRPr lang="en-US" altLang="en-US" sz="3200" dirty="0">
              <a:solidFill>
                <a:srgbClr val="CC0000"/>
              </a:solidFill>
              <a:latin typeface="+mn-lt"/>
            </a:endParaRPr>
          </a:p>
          <a:p>
            <a:pPr indent="-285750">
              <a:lnSpc>
                <a:spcPct val="85000"/>
              </a:lnSpc>
              <a:buClr>
                <a:srgbClr val="000099"/>
              </a:buClr>
              <a:buSzPct val="100000"/>
              <a:buFont typeface="Wingdings" panose="05000000000000000000" pitchFamily="2" charset="2"/>
              <a:buChar char="§"/>
            </a:pPr>
            <a:r>
              <a:rPr lang="en-US" altLang="en-US" sz="2800" dirty="0">
                <a:latin typeface="+mn-lt"/>
              </a:rPr>
              <a:t>contacted server replies with name of server to contact</a:t>
            </a:r>
            <a:endParaRPr lang="en-US" altLang="en-US" sz="2800" dirty="0">
              <a:latin typeface="+mn-lt"/>
            </a:endParaRPr>
          </a:p>
          <a:p>
            <a:pPr indent="-285750">
              <a:lnSpc>
                <a:spcPct val="85000"/>
              </a:lnSpc>
              <a:buClr>
                <a:srgbClr val="000099"/>
              </a:buClr>
              <a:buSzPct val="100000"/>
              <a:buFont typeface="Wingdings" panose="05000000000000000000" pitchFamily="2" charset="2"/>
              <a:buChar char="§"/>
            </a:pPr>
            <a:r>
              <a:rPr lang="en-US" altLang="ja-JP" sz="2800" dirty="0">
                <a:latin typeface="+mn-lt"/>
              </a:rPr>
              <a:t>“I don’t know this name, but ask this server”</a:t>
            </a:r>
            <a:endParaRPr lang="en-US" altLang="en-US" sz="2800" dirty="0">
              <a:latin typeface="+mn-lt"/>
            </a:endParaRPr>
          </a:p>
        </p:txBody>
      </p:sp>
      <p:sp>
        <p:nvSpPr>
          <p:cNvPr id="171" name="Text Box 5"/>
          <p:cNvSpPr txBox="1">
            <a:spLocks noChangeArrowheads="1"/>
          </p:cNvSpPr>
          <p:nvPr/>
        </p:nvSpPr>
        <p:spPr bwMode="auto">
          <a:xfrm>
            <a:off x="4953226" y="3848735"/>
            <a:ext cx="185499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requesting host at</a:t>
            </a:r>
            <a:endParaRPr kumimoji="0" lang="en-US" altLang="en-US"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lang="en-US" altLang="en-US" sz="1400" i="1" kern="0" dirty="0" err="1">
                <a:solidFill>
                  <a:srgbClr val="000099"/>
                </a:solidFill>
              </a:rPr>
              <a:t>engineering.nyu</a:t>
            </a: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rPr>
              <a:t>.</a:t>
            </a:r>
            <a:r>
              <a:rPr kumimoji="0" lang="en-US" altLang="en-US" sz="1400" b="0" i="1" u="none" strike="noStrike" kern="0" cap="none" spc="0" normalizeH="0" baseline="0" noProof="0" dirty="0" err="1">
                <a:ln>
                  <a:noFill/>
                </a:ln>
                <a:solidFill>
                  <a:srgbClr val="000099"/>
                </a:solidFill>
                <a:effectLst/>
                <a:uLnTx/>
                <a:uFillTx/>
                <a:latin typeface="Arial" panose="020B0604020202020204" pitchFamily="34" charset="0"/>
                <a:ea typeface="MS PGothic" panose="020B0600070205080204" pitchFamily="34" charset="-128"/>
              </a:rPr>
              <a:t>edu</a:t>
            </a:r>
            <a:endPar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endParaRPr>
          </a:p>
        </p:txBody>
      </p:sp>
      <p:sp>
        <p:nvSpPr>
          <p:cNvPr id="172" name="Text Box 6"/>
          <p:cNvSpPr txBox="1">
            <a:spLocks noChangeArrowheads="1"/>
          </p:cNvSpPr>
          <p:nvPr/>
        </p:nvSpPr>
        <p:spPr bwMode="auto">
          <a:xfrm>
            <a:off x="10182058" y="4237785"/>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1" u="none" strike="noStrike" kern="0" cap="none" spc="0" normalizeH="0" baseline="0" noProof="0" dirty="0" err="1">
                <a:ln>
                  <a:noFill/>
                </a:ln>
                <a:solidFill>
                  <a:srgbClr val="000000"/>
                </a:solidFill>
                <a:effectLst/>
                <a:uLnTx/>
                <a:uFillTx/>
                <a:latin typeface="Arial" panose="020B0604020202020204" pitchFamily="34" charset="0"/>
                <a:ea typeface="MS PGothic" panose="020B0600070205080204" pitchFamily="34" charset="-128"/>
              </a:rPr>
              <a:t>gaia.cs.umass.edu</a:t>
            </a:r>
            <a:endPar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73" name="Text Box 17"/>
          <p:cNvSpPr txBox="1">
            <a:spLocks noChangeArrowheads="1"/>
          </p:cNvSpPr>
          <p:nvPr/>
        </p:nvSpPr>
        <p:spPr bwMode="auto">
          <a:xfrm>
            <a:off x="8172896"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74" name="Line 18"/>
          <p:cNvSpPr>
            <a:spLocks noChangeShapeType="1"/>
          </p:cNvSpPr>
          <p:nvPr/>
        </p:nvSpPr>
        <p:spPr bwMode="auto">
          <a:xfrm flipV="1">
            <a:off x="6489235" y="3275781"/>
            <a:ext cx="1196994" cy="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75" name="Line 19"/>
          <p:cNvSpPr>
            <a:spLocks noChangeShapeType="1"/>
          </p:cNvSpPr>
          <p:nvPr/>
        </p:nvSpPr>
        <p:spPr bwMode="auto">
          <a:xfrm flipV="1">
            <a:off x="7968785" y="2005693"/>
            <a:ext cx="914400" cy="97155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76" name="Line 20"/>
          <p:cNvSpPr>
            <a:spLocks noChangeShapeType="1"/>
          </p:cNvSpPr>
          <p:nvPr/>
        </p:nvSpPr>
        <p:spPr bwMode="auto">
          <a:xfrm flipV="1">
            <a:off x="8254535" y="3167743"/>
            <a:ext cx="1485900" cy="9525"/>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77" name="Line 21"/>
          <p:cNvSpPr>
            <a:spLocks noChangeShapeType="1"/>
          </p:cNvSpPr>
          <p:nvPr/>
        </p:nvSpPr>
        <p:spPr bwMode="auto">
          <a:xfrm flipH="1" flipV="1">
            <a:off x="8254535" y="3339193"/>
            <a:ext cx="1419225" cy="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78" name="Line 22"/>
          <p:cNvSpPr>
            <a:spLocks noChangeShapeType="1"/>
          </p:cNvSpPr>
          <p:nvPr/>
        </p:nvSpPr>
        <p:spPr bwMode="auto">
          <a:xfrm flipH="1">
            <a:off x="8178335" y="2234293"/>
            <a:ext cx="733425" cy="76200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79" name="Line 23"/>
          <p:cNvSpPr>
            <a:spLocks noChangeShapeType="1"/>
          </p:cNvSpPr>
          <p:nvPr/>
        </p:nvSpPr>
        <p:spPr bwMode="auto">
          <a:xfrm flipH="1">
            <a:off x="6381511" y="3439703"/>
            <a:ext cx="1319232" cy="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grpSp>
        <p:nvGrpSpPr>
          <p:cNvPr id="180" name="Group 24"/>
          <p:cNvGrpSpPr/>
          <p:nvPr/>
        </p:nvGrpSpPr>
        <p:grpSpPr bwMode="auto">
          <a:xfrm>
            <a:off x="6759111" y="3847199"/>
            <a:ext cx="1876425" cy="554038"/>
            <a:chOff x="2838" y="2132"/>
            <a:chExt cx="1182" cy="349"/>
          </a:xfrm>
        </p:grpSpPr>
        <p:sp>
          <p:nvSpPr>
            <p:cNvPr id="181" name="Rectangle 25"/>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82" name="Text Box 26"/>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local DNS server</a:t>
              </a:r>
              <a:endParaRPr kumimoji="0" lang="en-US" altLang="en-US"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400" b="0" i="1" u="none" strike="noStrike" kern="0" cap="none" spc="0" normalizeH="0" baseline="0" noProof="0" dirty="0" err="1">
                  <a:ln>
                    <a:noFill/>
                  </a:ln>
                  <a:solidFill>
                    <a:srgbClr val="000099"/>
                  </a:solidFill>
                  <a:effectLst/>
                  <a:uLnTx/>
                  <a:uFillTx/>
                  <a:latin typeface="Arial" panose="020B0604020202020204" pitchFamily="34" charset="0"/>
                  <a:ea typeface="MS PGothic" panose="020B0600070205080204" pitchFamily="34" charset="-128"/>
                </a:rPr>
                <a:t>dns.nyu.edu</a:t>
              </a:r>
              <a:endPar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endParaRPr>
            </a:p>
          </p:txBody>
        </p:sp>
      </p:grpSp>
      <p:sp>
        <p:nvSpPr>
          <p:cNvPr id="183" name="Text Box 27"/>
          <p:cNvSpPr txBox="1">
            <a:spLocks noChangeArrowheads="1"/>
          </p:cNvSpPr>
          <p:nvPr/>
        </p:nvSpPr>
        <p:spPr bwMode="auto">
          <a:xfrm>
            <a:off x="6939499"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1</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84" name="Text Box 28"/>
          <p:cNvSpPr txBox="1">
            <a:spLocks noChangeArrowheads="1"/>
          </p:cNvSpPr>
          <p:nvPr/>
        </p:nvSpPr>
        <p:spPr bwMode="auto">
          <a:xfrm>
            <a:off x="8108485"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2</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85" name="Text Box 29"/>
          <p:cNvSpPr txBox="1">
            <a:spLocks noChangeArrowheads="1"/>
          </p:cNvSpPr>
          <p:nvPr/>
        </p:nvSpPr>
        <p:spPr bwMode="auto">
          <a:xfrm>
            <a:off x="8546635" y="24613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3</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86" name="Text Box 30"/>
          <p:cNvSpPr txBox="1">
            <a:spLocks noChangeArrowheads="1"/>
          </p:cNvSpPr>
          <p:nvPr/>
        </p:nvSpPr>
        <p:spPr bwMode="auto">
          <a:xfrm>
            <a:off x="8860960" y="28708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4</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87" name="Text Box 31"/>
          <p:cNvSpPr txBox="1">
            <a:spLocks noChangeArrowheads="1"/>
          </p:cNvSpPr>
          <p:nvPr/>
        </p:nvSpPr>
        <p:spPr bwMode="auto">
          <a:xfrm>
            <a:off x="8891123" y="3358243"/>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5</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88" name="Text Box 32"/>
          <p:cNvSpPr txBox="1">
            <a:spLocks noChangeArrowheads="1"/>
          </p:cNvSpPr>
          <p:nvPr/>
        </p:nvSpPr>
        <p:spPr bwMode="auto">
          <a:xfrm>
            <a:off x="9488023" y="439805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6</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89" name="Text Box 60"/>
          <p:cNvSpPr txBox="1">
            <a:spLocks noChangeArrowheads="1"/>
          </p:cNvSpPr>
          <p:nvPr/>
        </p:nvSpPr>
        <p:spPr bwMode="auto">
          <a:xfrm>
            <a:off x="8921285"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1" i="0" u="none" strike="noStrike" kern="0" cap="none" spc="0" normalizeH="0" baseline="0" noProof="0" dirty="0" err="1">
                <a:ln>
                  <a:noFill/>
                </a:ln>
                <a:solidFill>
                  <a:srgbClr val="000000"/>
                </a:solidFill>
                <a:effectLst/>
                <a:uLnTx/>
                <a:uFillTx/>
                <a:latin typeface="Arial" panose="020B0604020202020204" pitchFamily="34" charset="0"/>
                <a:ea typeface="MS PGothic" panose="020B0600070205080204" pitchFamily="34" charset="-128"/>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90" name="Text Box 61"/>
          <p:cNvSpPr txBox="1">
            <a:spLocks noChangeArrowheads="1"/>
          </p:cNvSpPr>
          <p:nvPr/>
        </p:nvSpPr>
        <p:spPr bwMode="auto">
          <a:xfrm>
            <a:off x="8860960" y="4428218"/>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7</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91" name="Text Box 62"/>
          <p:cNvSpPr txBox="1">
            <a:spLocks noChangeArrowheads="1"/>
          </p:cNvSpPr>
          <p:nvPr/>
        </p:nvSpPr>
        <p:spPr bwMode="auto">
          <a:xfrm>
            <a:off x="6940022"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92" name="Line 63"/>
          <p:cNvSpPr>
            <a:spLocks noChangeShapeType="1"/>
          </p:cNvSpPr>
          <p:nvPr/>
        </p:nvSpPr>
        <p:spPr bwMode="auto">
          <a:xfrm>
            <a:off x="8187860" y="3499530"/>
            <a:ext cx="1493838" cy="1314450"/>
          </a:xfrm>
          <a:prstGeom prst="line">
            <a:avLst/>
          </a:prstGeom>
          <a:noFill/>
          <a:ln w="25400">
            <a:solidFill>
              <a:srgbClr val="CC0000"/>
            </a:solidFill>
            <a:rou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93" name="Line 64"/>
          <p:cNvSpPr>
            <a:spLocks noChangeShapeType="1"/>
          </p:cNvSpPr>
          <p:nvPr/>
        </p:nvSpPr>
        <p:spPr bwMode="auto">
          <a:xfrm flipH="1" flipV="1">
            <a:off x="8148173" y="3624943"/>
            <a:ext cx="1493837" cy="1301750"/>
          </a:xfrm>
          <a:prstGeom prst="line">
            <a:avLst/>
          </a:prstGeom>
          <a:noFill/>
          <a:ln w="25400">
            <a:solidFill>
              <a:srgbClr val="CC0000"/>
            </a:solidFill>
            <a:rou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94" name="Text Box 65"/>
          <p:cNvSpPr txBox="1">
            <a:spLocks noChangeArrowheads="1"/>
          </p:cNvSpPr>
          <p:nvPr/>
        </p:nvSpPr>
        <p:spPr bwMode="auto">
          <a:xfrm>
            <a:off x="8974583" y="2608490"/>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195" name="Group 86"/>
          <p:cNvGrpSpPr/>
          <p:nvPr/>
        </p:nvGrpSpPr>
        <p:grpSpPr bwMode="auto">
          <a:xfrm flipH="1">
            <a:off x="10659797" y="4619665"/>
            <a:ext cx="787391" cy="614055"/>
            <a:chOff x="-44" y="1473"/>
            <a:chExt cx="981" cy="1105"/>
          </a:xfrm>
        </p:grpSpPr>
        <p:pic>
          <p:nvPicPr>
            <p:cNvPr id="196" name="Picture 87"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198" name="Group 89"/>
          <p:cNvGrpSpPr/>
          <p:nvPr/>
        </p:nvGrpSpPr>
        <p:grpSpPr bwMode="auto">
          <a:xfrm>
            <a:off x="5483417" y="3053085"/>
            <a:ext cx="883580" cy="766310"/>
            <a:chOff x="-44" y="1473"/>
            <a:chExt cx="981" cy="1105"/>
          </a:xfrm>
        </p:grpSpPr>
        <p:pic>
          <p:nvPicPr>
            <p:cNvPr id="199" name="Picture 90"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01" name="Group 125"/>
          <p:cNvGrpSpPr/>
          <p:nvPr/>
        </p:nvGrpSpPr>
        <p:grpSpPr bwMode="auto">
          <a:xfrm>
            <a:off x="9794410" y="4528230"/>
            <a:ext cx="390525" cy="641350"/>
            <a:chOff x="4140" y="429"/>
            <a:chExt cx="1425" cy="2396"/>
          </a:xfrm>
        </p:grpSpPr>
        <p:sp>
          <p:nvSpPr>
            <p:cNvPr id="202" name="Freeform 126"/>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3" name="Rectangle 127"/>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4" name="Freeform 128"/>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5" name="Freeform 129"/>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6" name="Rectangle 130"/>
            <p:cNvSpPr>
              <a:spLocks noChangeArrowheads="1"/>
            </p:cNvSpPr>
            <p:nvPr/>
          </p:nvSpPr>
          <p:spPr bwMode="auto">
            <a:xfrm>
              <a:off x="4210" y="696"/>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07" name="Group 131"/>
            <p:cNvGrpSpPr/>
            <p:nvPr/>
          </p:nvGrpSpPr>
          <p:grpSpPr bwMode="auto">
            <a:xfrm>
              <a:off x="4749" y="668"/>
              <a:ext cx="581" cy="145"/>
              <a:chOff x="614" y="2568"/>
              <a:chExt cx="725" cy="139"/>
            </a:xfrm>
          </p:grpSpPr>
          <p:sp>
            <p:nvSpPr>
              <p:cNvPr id="232" name="AutoShape 132"/>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3" name="AutoShape 133"/>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08" name="Rectangle 134"/>
            <p:cNvSpPr>
              <a:spLocks noChangeArrowheads="1"/>
            </p:cNvSpPr>
            <p:nvPr/>
          </p:nvSpPr>
          <p:spPr bwMode="auto">
            <a:xfrm>
              <a:off x="4227" y="1016"/>
              <a:ext cx="591"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09" name="Group 135"/>
            <p:cNvGrpSpPr/>
            <p:nvPr/>
          </p:nvGrpSpPr>
          <p:grpSpPr bwMode="auto">
            <a:xfrm>
              <a:off x="4747" y="994"/>
              <a:ext cx="581" cy="134"/>
              <a:chOff x="614" y="2568"/>
              <a:chExt cx="725" cy="139"/>
            </a:xfrm>
          </p:grpSpPr>
          <p:sp>
            <p:nvSpPr>
              <p:cNvPr id="230" name="AutoShape 136"/>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1" name="AutoShape 137"/>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10" name="Rectangle 138"/>
            <p:cNvSpPr>
              <a:spLocks noChangeArrowheads="1"/>
            </p:cNvSpPr>
            <p:nvPr/>
          </p:nvSpPr>
          <p:spPr bwMode="auto">
            <a:xfrm>
              <a:off x="4215" y="1360"/>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1" name="Rectangle 139"/>
            <p:cNvSpPr>
              <a:spLocks noChangeArrowheads="1"/>
            </p:cNvSpPr>
            <p:nvPr/>
          </p:nvSpPr>
          <p:spPr bwMode="auto">
            <a:xfrm>
              <a:off x="4227" y="1657"/>
              <a:ext cx="597"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12" name="Group 140"/>
            <p:cNvGrpSpPr/>
            <p:nvPr/>
          </p:nvGrpSpPr>
          <p:grpSpPr bwMode="auto">
            <a:xfrm>
              <a:off x="4735" y="1627"/>
              <a:ext cx="582" cy="151"/>
              <a:chOff x="614" y="2568"/>
              <a:chExt cx="725" cy="139"/>
            </a:xfrm>
          </p:grpSpPr>
          <p:sp>
            <p:nvSpPr>
              <p:cNvPr id="228" name="AutoShape 141"/>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9" name="AutoShape 142"/>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13" name="Freeform 143"/>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14" name="Group 144"/>
            <p:cNvGrpSpPr/>
            <p:nvPr/>
          </p:nvGrpSpPr>
          <p:grpSpPr bwMode="auto">
            <a:xfrm>
              <a:off x="4739" y="1327"/>
              <a:ext cx="582" cy="139"/>
              <a:chOff x="614" y="2568"/>
              <a:chExt cx="725" cy="139"/>
            </a:xfrm>
          </p:grpSpPr>
          <p:sp>
            <p:nvSpPr>
              <p:cNvPr id="226" name="AutoShape 145"/>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7" name="AutoShape 146"/>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15" name="Rectangle 147"/>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6" name="Freeform 148"/>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7" name="Freeform 149"/>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8" name="Oval 150"/>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9" name="Freeform 151"/>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0" name="AutoShape 152"/>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1" name="AutoShape 153"/>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2" name="Oval 154"/>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3" name="Oval 155"/>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Oval 156"/>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5" name="Rectangle 157"/>
            <p:cNvSpPr>
              <a:spLocks noChangeArrowheads="1"/>
            </p:cNvSpPr>
            <p:nvPr/>
          </p:nvSpPr>
          <p:spPr bwMode="auto">
            <a:xfrm>
              <a:off x="5061" y="1835"/>
              <a:ext cx="87"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34" name="Group 158"/>
          <p:cNvGrpSpPr/>
          <p:nvPr/>
        </p:nvGrpSpPr>
        <p:grpSpPr bwMode="auto">
          <a:xfrm>
            <a:off x="7790985" y="3015343"/>
            <a:ext cx="390525" cy="641350"/>
            <a:chOff x="4140" y="429"/>
            <a:chExt cx="1425" cy="2396"/>
          </a:xfrm>
        </p:grpSpPr>
        <p:sp>
          <p:nvSpPr>
            <p:cNvPr id="235" name="Freeform 159"/>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6" name="Rectangle 160"/>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7" name="Freeform 161"/>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8" name="Freeform 162"/>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9" name="Rectangle 163"/>
            <p:cNvSpPr>
              <a:spLocks noChangeArrowheads="1"/>
            </p:cNvSpPr>
            <p:nvPr/>
          </p:nvSpPr>
          <p:spPr bwMode="auto">
            <a:xfrm>
              <a:off x="4210" y="696"/>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40" name="Group 164"/>
            <p:cNvGrpSpPr/>
            <p:nvPr/>
          </p:nvGrpSpPr>
          <p:grpSpPr bwMode="auto">
            <a:xfrm>
              <a:off x="4749" y="668"/>
              <a:ext cx="581" cy="145"/>
              <a:chOff x="614" y="2568"/>
              <a:chExt cx="725" cy="139"/>
            </a:xfrm>
          </p:grpSpPr>
          <p:sp>
            <p:nvSpPr>
              <p:cNvPr id="265" name="AutoShape 165"/>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6" name="AutoShape 166"/>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41" name="Rectangle 167"/>
            <p:cNvSpPr>
              <a:spLocks noChangeArrowheads="1"/>
            </p:cNvSpPr>
            <p:nvPr/>
          </p:nvSpPr>
          <p:spPr bwMode="auto">
            <a:xfrm>
              <a:off x="4227" y="1016"/>
              <a:ext cx="591"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42" name="Group 168"/>
            <p:cNvGrpSpPr/>
            <p:nvPr/>
          </p:nvGrpSpPr>
          <p:grpSpPr bwMode="auto">
            <a:xfrm>
              <a:off x="4747" y="994"/>
              <a:ext cx="581" cy="134"/>
              <a:chOff x="614" y="2568"/>
              <a:chExt cx="725" cy="139"/>
            </a:xfrm>
          </p:grpSpPr>
          <p:sp>
            <p:nvSpPr>
              <p:cNvPr id="263" name="AutoShape 169"/>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4" name="AutoShape 170"/>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43" name="Rectangle 171"/>
            <p:cNvSpPr>
              <a:spLocks noChangeArrowheads="1"/>
            </p:cNvSpPr>
            <p:nvPr/>
          </p:nvSpPr>
          <p:spPr bwMode="auto">
            <a:xfrm>
              <a:off x="4215" y="1360"/>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44" name="Rectangle 172"/>
            <p:cNvSpPr>
              <a:spLocks noChangeArrowheads="1"/>
            </p:cNvSpPr>
            <p:nvPr/>
          </p:nvSpPr>
          <p:spPr bwMode="auto">
            <a:xfrm>
              <a:off x="4227" y="1657"/>
              <a:ext cx="597"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45" name="Group 173"/>
            <p:cNvGrpSpPr/>
            <p:nvPr/>
          </p:nvGrpSpPr>
          <p:grpSpPr bwMode="auto">
            <a:xfrm>
              <a:off x="4735" y="1627"/>
              <a:ext cx="582" cy="151"/>
              <a:chOff x="614" y="2568"/>
              <a:chExt cx="725" cy="139"/>
            </a:xfrm>
          </p:grpSpPr>
          <p:sp>
            <p:nvSpPr>
              <p:cNvPr id="261" name="AutoShape 174"/>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2" name="AutoShape 175"/>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46" name="Freeform 176"/>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47" name="Group 177"/>
            <p:cNvGrpSpPr/>
            <p:nvPr/>
          </p:nvGrpSpPr>
          <p:grpSpPr bwMode="auto">
            <a:xfrm>
              <a:off x="4739" y="1327"/>
              <a:ext cx="582" cy="139"/>
              <a:chOff x="614" y="2568"/>
              <a:chExt cx="725" cy="139"/>
            </a:xfrm>
          </p:grpSpPr>
          <p:sp>
            <p:nvSpPr>
              <p:cNvPr id="259" name="AutoShape 178"/>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0" name="AutoShape 179"/>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48" name="Rectangle 180"/>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49" name="Freeform 181"/>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0" name="Freeform 182"/>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1" name="Oval 183"/>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2" name="Freeform 184"/>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3" name="AutoShape 185"/>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4" name="AutoShape 186"/>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5" name="Oval 187"/>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6" name="Oval 188"/>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7" name="Oval 189"/>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8" name="Rectangle 190"/>
            <p:cNvSpPr>
              <a:spLocks noChangeArrowheads="1"/>
            </p:cNvSpPr>
            <p:nvPr/>
          </p:nvSpPr>
          <p:spPr bwMode="auto">
            <a:xfrm>
              <a:off x="5061" y="1835"/>
              <a:ext cx="87"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67" name="Group 224"/>
          <p:cNvGrpSpPr/>
          <p:nvPr/>
        </p:nvGrpSpPr>
        <p:grpSpPr bwMode="auto">
          <a:xfrm>
            <a:off x="8945098" y="1753280"/>
            <a:ext cx="390525" cy="641350"/>
            <a:chOff x="4140" y="429"/>
            <a:chExt cx="1425" cy="2396"/>
          </a:xfrm>
        </p:grpSpPr>
        <p:sp>
          <p:nvSpPr>
            <p:cNvPr id="268" name="Freeform 225"/>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9" name="Rectangle 226"/>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0" name="Freeform 227"/>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1" name="Freeform 228"/>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2" name="Rectangle 229"/>
            <p:cNvSpPr>
              <a:spLocks noChangeArrowheads="1"/>
            </p:cNvSpPr>
            <p:nvPr/>
          </p:nvSpPr>
          <p:spPr bwMode="auto">
            <a:xfrm>
              <a:off x="4210" y="696"/>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73" name="Group 230"/>
            <p:cNvGrpSpPr/>
            <p:nvPr/>
          </p:nvGrpSpPr>
          <p:grpSpPr bwMode="auto">
            <a:xfrm>
              <a:off x="4749" y="668"/>
              <a:ext cx="581" cy="145"/>
              <a:chOff x="614" y="2568"/>
              <a:chExt cx="725" cy="139"/>
            </a:xfrm>
          </p:grpSpPr>
          <p:sp>
            <p:nvSpPr>
              <p:cNvPr id="298" name="AutoShape 231"/>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9" name="AutoShape 232"/>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74" name="Rectangle 233"/>
            <p:cNvSpPr>
              <a:spLocks noChangeArrowheads="1"/>
            </p:cNvSpPr>
            <p:nvPr/>
          </p:nvSpPr>
          <p:spPr bwMode="auto">
            <a:xfrm>
              <a:off x="4227" y="1016"/>
              <a:ext cx="591"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75" name="Group 234"/>
            <p:cNvGrpSpPr/>
            <p:nvPr/>
          </p:nvGrpSpPr>
          <p:grpSpPr bwMode="auto">
            <a:xfrm>
              <a:off x="4747" y="994"/>
              <a:ext cx="581" cy="134"/>
              <a:chOff x="614" y="2568"/>
              <a:chExt cx="725" cy="139"/>
            </a:xfrm>
          </p:grpSpPr>
          <p:sp>
            <p:nvSpPr>
              <p:cNvPr id="296" name="AutoShape 235"/>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7" name="AutoShape 236"/>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76" name="Rectangle 237"/>
            <p:cNvSpPr>
              <a:spLocks noChangeArrowheads="1"/>
            </p:cNvSpPr>
            <p:nvPr/>
          </p:nvSpPr>
          <p:spPr bwMode="auto">
            <a:xfrm>
              <a:off x="4215" y="1360"/>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7" name="Rectangle 238"/>
            <p:cNvSpPr>
              <a:spLocks noChangeArrowheads="1"/>
            </p:cNvSpPr>
            <p:nvPr/>
          </p:nvSpPr>
          <p:spPr bwMode="auto">
            <a:xfrm>
              <a:off x="4227" y="1657"/>
              <a:ext cx="597"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78" name="Group 239"/>
            <p:cNvGrpSpPr/>
            <p:nvPr/>
          </p:nvGrpSpPr>
          <p:grpSpPr bwMode="auto">
            <a:xfrm>
              <a:off x="4735" y="1627"/>
              <a:ext cx="582" cy="151"/>
              <a:chOff x="614" y="2568"/>
              <a:chExt cx="725" cy="139"/>
            </a:xfrm>
          </p:grpSpPr>
          <p:sp>
            <p:nvSpPr>
              <p:cNvPr id="294" name="AutoShape 240"/>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5" name="AutoShape 241"/>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79" name="Freeform 242"/>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80" name="Group 243"/>
            <p:cNvGrpSpPr/>
            <p:nvPr/>
          </p:nvGrpSpPr>
          <p:grpSpPr bwMode="auto">
            <a:xfrm>
              <a:off x="4739" y="1327"/>
              <a:ext cx="582" cy="139"/>
              <a:chOff x="614" y="2568"/>
              <a:chExt cx="725" cy="139"/>
            </a:xfrm>
          </p:grpSpPr>
          <p:sp>
            <p:nvSpPr>
              <p:cNvPr id="292" name="AutoShape 244"/>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3" name="AutoShape 245"/>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81" name="Rectangle 246"/>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2" name="Freeform 247"/>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3" name="Freeform 248"/>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4" name="Oval 249"/>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5" name="Freeform 250"/>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6" name="AutoShape 251"/>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7" name="AutoShape 252"/>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8" name="Oval 253"/>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9" name="Oval 254"/>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Oval 255"/>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1" name="Rectangle 256"/>
            <p:cNvSpPr>
              <a:spLocks noChangeArrowheads="1"/>
            </p:cNvSpPr>
            <p:nvPr/>
          </p:nvSpPr>
          <p:spPr bwMode="auto">
            <a:xfrm>
              <a:off x="5061" y="1835"/>
              <a:ext cx="87"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00" name="Group 257"/>
          <p:cNvGrpSpPr/>
          <p:nvPr/>
        </p:nvGrpSpPr>
        <p:grpSpPr bwMode="auto">
          <a:xfrm>
            <a:off x="9761073" y="3005818"/>
            <a:ext cx="390525" cy="641350"/>
            <a:chOff x="4140" y="429"/>
            <a:chExt cx="1425" cy="2396"/>
          </a:xfrm>
        </p:grpSpPr>
        <p:sp>
          <p:nvSpPr>
            <p:cNvPr id="301" name="Freeform 258"/>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2" name="Rectangle 259"/>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3" name="Freeform 260"/>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4" name="Freeform 261"/>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5" name="Rectangle 262"/>
            <p:cNvSpPr>
              <a:spLocks noChangeArrowheads="1"/>
            </p:cNvSpPr>
            <p:nvPr/>
          </p:nvSpPr>
          <p:spPr bwMode="auto">
            <a:xfrm>
              <a:off x="4210" y="696"/>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6" name="Group 263"/>
            <p:cNvGrpSpPr/>
            <p:nvPr/>
          </p:nvGrpSpPr>
          <p:grpSpPr bwMode="auto">
            <a:xfrm>
              <a:off x="4749" y="668"/>
              <a:ext cx="581" cy="145"/>
              <a:chOff x="614" y="2568"/>
              <a:chExt cx="725" cy="139"/>
            </a:xfrm>
          </p:grpSpPr>
          <p:sp>
            <p:nvSpPr>
              <p:cNvPr id="331" name="AutoShape 264"/>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2" name="AutoShape 265"/>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7" name="Rectangle 266"/>
            <p:cNvSpPr>
              <a:spLocks noChangeArrowheads="1"/>
            </p:cNvSpPr>
            <p:nvPr/>
          </p:nvSpPr>
          <p:spPr bwMode="auto">
            <a:xfrm>
              <a:off x="4227" y="1016"/>
              <a:ext cx="591"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8" name="Group 267"/>
            <p:cNvGrpSpPr/>
            <p:nvPr/>
          </p:nvGrpSpPr>
          <p:grpSpPr bwMode="auto">
            <a:xfrm>
              <a:off x="4747" y="994"/>
              <a:ext cx="581" cy="134"/>
              <a:chOff x="614" y="2568"/>
              <a:chExt cx="725" cy="139"/>
            </a:xfrm>
          </p:grpSpPr>
          <p:sp>
            <p:nvSpPr>
              <p:cNvPr id="329" name="AutoShape 268"/>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0" name="AutoShape 269"/>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9" name="Rectangle 270"/>
            <p:cNvSpPr>
              <a:spLocks noChangeArrowheads="1"/>
            </p:cNvSpPr>
            <p:nvPr/>
          </p:nvSpPr>
          <p:spPr bwMode="auto">
            <a:xfrm>
              <a:off x="4215" y="1360"/>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0" name="Rectangle 271"/>
            <p:cNvSpPr>
              <a:spLocks noChangeArrowheads="1"/>
            </p:cNvSpPr>
            <p:nvPr/>
          </p:nvSpPr>
          <p:spPr bwMode="auto">
            <a:xfrm>
              <a:off x="4227" y="1657"/>
              <a:ext cx="597"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11" name="Group 272"/>
            <p:cNvGrpSpPr/>
            <p:nvPr/>
          </p:nvGrpSpPr>
          <p:grpSpPr bwMode="auto">
            <a:xfrm>
              <a:off x="4735" y="1627"/>
              <a:ext cx="582" cy="151"/>
              <a:chOff x="614" y="2568"/>
              <a:chExt cx="725" cy="139"/>
            </a:xfrm>
          </p:grpSpPr>
          <p:sp>
            <p:nvSpPr>
              <p:cNvPr id="327" name="AutoShape 273"/>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8" name="AutoShape 274"/>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12" name="Freeform 275"/>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13" name="Group 276"/>
            <p:cNvGrpSpPr/>
            <p:nvPr/>
          </p:nvGrpSpPr>
          <p:grpSpPr bwMode="auto">
            <a:xfrm>
              <a:off x="4739" y="1327"/>
              <a:ext cx="582" cy="139"/>
              <a:chOff x="614" y="2568"/>
              <a:chExt cx="725" cy="139"/>
            </a:xfrm>
          </p:grpSpPr>
          <p:sp>
            <p:nvSpPr>
              <p:cNvPr id="325" name="AutoShape 277"/>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6" name="AutoShape 278"/>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14" name="Rectangle 279"/>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5" name="Freeform 280"/>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6" name="Freeform 281"/>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7" name="Oval 282"/>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8" name="Freeform 283"/>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9" name="AutoShape 284"/>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0" name="AutoShape 285"/>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1" name="Oval 286"/>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2" name="Oval 287"/>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3" name="Oval 288"/>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4" name="Rectangle 289"/>
            <p:cNvSpPr>
              <a:spLocks noChangeArrowheads="1"/>
            </p:cNvSpPr>
            <p:nvPr/>
          </p:nvSpPr>
          <p:spPr bwMode="auto">
            <a:xfrm>
              <a:off x="5061" y="1835"/>
              <a:ext cx="87"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7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8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7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8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7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8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7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86"/>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77"/>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8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9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88"/>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9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9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17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p:bldP spid="184" grpId="0"/>
      <p:bldP spid="185" grpId="0"/>
      <p:bldP spid="186" grpId="0"/>
      <p:bldP spid="187" grpId="0"/>
      <p:bldP spid="188" grpId="0"/>
      <p:bldP spid="190" grpId="0"/>
      <p:bldP spid="191"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DNS name resolution: recursive query</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71" name="Text Box 5"/>
          <p:cNvSpPr txBox="1">
            <a:spLocks noChangeArrowheads="1"/>
          </p:cNvSpPr>
          <p:nvPr/>
        </p:nvSpPr>
        <p:spPr bwMode="auto">
          <a:xfrm>
            <a:off x="4588154" y="3848735"/>
            <a:ext cx="181652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requesting host at</a:t>
            </a:r>
            <a:endParaRPr kumimoji="0" lang="en-US" altLang="en-US"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400" b="0" i="1" u="none" strike="noStrike" kern="0" cap="none" spc="0" normalizeH="0" baseline="0" noProof="0" dirty="0" err="1">
                <a:ln>
                  <a:noFill/>
                </a:ln>
                <a:solidFill>
                  <a:srgbClr val="000099"/>
                </a:solidFill>
                <a:effectLst/>
                <a:uLnTx/>
                <a:uFillTx/>
                <a:latin typeface="Arial" panose="020B0604020202020204" pitchFamily="34" charset="0"/>
                <a:ea typeface="MS PGothic" panose="020B0600070205080204" pitchFamily="34" charset="-128"/>
              </a:rPr>
              <a:t>engineering.nyu.edu</a:t>
            </a:r>
            <a:endPar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endParaRPr>
          </a:p>
        </p:txBody>
      </p:sp>
      <p:sp>
        <p:nvSpPr>
          <p:cNvPr id="172" name="Text Box 6"/>
          <p:cNvSpPr txBox="1">
            <a:spLocks noChangeArrowheads="1"/>
          </p:cNvSpPr>
          <p:nvPr/>
        </p:nvSpPr>
        <p:spPr bwMode="auto">
          <a:xfrm>
            <a:off x="10049161" y="4208147"/>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1" u="none" strike="noStrike" kern="0" cap="none" spc="0" normalizeH="0" baseline="0" noProof="0" dirty="0" err="1">
                <a:ln>
                  <a:noFill/>
                </a:ln>
                <a:solidFill>
                  <a:srgbClr val="000000"/>
                </a:solidFill>
                <a:effectLst/>
                <a:uLnTx/>
                <a:uFillTx/>
                <a:latin typeface="Arial" panose="020B0604020202020204" pitchFamily="34" charset="0"/>
                <a:ea typeface="MS PGothic" panose="020B0600070205080204" pitchFamily="34" charset="-128"/>
              </a:rPr>
              <a:t>gaia.cs.umass.edu</a:t>
            </a:r>
            <a:endPar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73" name="Text Box 17"/>
          <p:cNvSpPr txBox="1">
            <a:spLocks noChangeArrowheads="1"/>
          </p:cNvSpPr>
          <p:nvPr/>
        </p:nvSpPr>
        <p:spPr bwMode="auto">
          <a:xfrm>
            <a:off x="7788588"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74" name="Line 18"/>
          <p:cNvSpPr>
            <a:spLocks noChangeShapeType="1"/>
          </p:cNvSpPr>
          <p:nvPr/>
        </p:nvSpPr>
        <p:spPr bwMode="auto">
          <a:xfrm flipV="1">
            <a:off x="6104927" y="3275781"/>
            <a:ext cx="1196994" cy="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75" name="Line 19"/>
          <p:cNvSpPr>
            <a:spLocks noChangeShapeType="1"/>
          </p:cNvSpPr>
          <p:nvPr/>
        </p:nvSpPr>
        <p:spPr bwMode="auto">
          <a:xfrm flipV="1">
            <a:off x="7584477" y="2005693"/>
            <a:ext cx="914400" cy="97155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76" name="Line 20"/>
          <p:cNvSpPr>
            <a:spLocks noChangeShapeType="1"/>
          </p:cNvSpPr>
          <p:nvPr/>
        </p:nvSpPr>
        <p:spPr bwMode="auto">
          <a:xfrm>
            <a:off x="9672062" y="3760198"/>
            <a:ext cx="2427" cy="702311"/>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77" name="Line 21"/>
          <p:cNvSpPr>
            <a:spLocks noChangeShapeType="1"/>
          </p:cNvSpPr>
          <p:nvPr/>
        </p:nvSpPr>
        <p:spPr bwMode="auto">
          <a:xfrm flipH="1" flipV="1">
            <a:off x="9491701" y="3747010"/>
            <a:ext cx="2427" cy="734919"/>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78" name="Line 22"/>
          <p:cNvSpPr>
            <a:spLocks noChangeShapeType="1"/>
          </p:cNvSpPr>
          <p:nvPr/>
        </p:nvSpPr>
        <p:spPr bwMode="auto">
          <a:xfrm>
            <a:off x="9038381" y="2075731"/>
            <a:ext cx="405154" cy="841218"/>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79" name="Line 23"/>
          <p:cNvSpPr>
            <a:spLocks noChangeShapeType="1"/>
          </p:cNvSpPr>
          <p:nvPr/>
        </p:nvSpPr>
        <p:spPr bwMode="auto">
          <a:xfrm flipH="1">
            <a:off x="5997203" y="3439703"/>
            <a:ext cx="1319232" cy="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grpSp>
        <p:nvGrpSpPr>
          <p:cNvPr id="180" name="Group 24"/>
          <p:cNvGrpSpPr/>
          <p:nvPr/>
        </p:nvGrpSpPr>
        <p:grpSpPr bwMode="auto">
          <a:xfrm>
            <a:off x="6374803" y="3847199"/>
            <a:ext cx="1876425" cy="554038"/>
            <a:chOff x="2838" y="2132"/>
            <a:chExt cx="1182" cy="349"/>
          </a:xfrm>
        </p:grpSpPr>
        <p:sp>
          <p:nvSpPr>
            <p:cNvPr id="181" name="Rectangle 25"/>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82" name="Text Box 26"/>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local DNS server</a:t>
              </a:r>
              <a:endParaRPr kumimoji="0" lang="en-US" altLang="en-US"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400" b="0" i="1" u="none" strike="noStrike" kern="0" cap="none" spc="0" normalizeH="0" baseline="0" noProof="0" dirty="0" err="1">
                  <a:ln>
                    <a:noFill/>
                  </a:ln>
                  <a:solidFill>
                    <a:srgbClr val="000099"/>
                  </a:solidFill>
                  <a:effectLst/>
                  <a:uLnTx/>
                  <a:uFillTx/>
                  <a:latin typeface="Arial" panose="020B0604020202020204" pitchFamily="34" charset="0"/>
                  <a:ea typeface="MS PGothic" panose="020B0600070205080204" pitchFamily="34" charset="-128"/>
                </a:rPr>
                <a:t>dns</a:t>
              </a: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rPr>
                <a:t>.</a:t>
              </a:r>
              <a:r>
                <a:rPr lang="en-US" altLang="en-US" sz="1400" i="1" kern="0" dirty="0" err="1">
                  <a:solidFill>
                    <a:srgbClr val="000099"/>
                  </a:solidFill>
                </a:rPr>
                <a:t>nyu</a:t>
              </a: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rPr>
                <a:t>.</a:t>
              </a:r>
              <a:r>
                <a:rPr kumimoji="0" lang="en-US" altLang="en-US" sz="1400" b="0" i="1" u="none" strike="noStrike" kern="0" cap="none" spc="0" normalizeH="0" baseline="0" noProof="0" dirty="0" err="1">
                  <a:ln>
                    <a:noFill/>
                  </a:ln>
                  <a:solidFill>
                    <a:srgbClr val="000099"/>
                  </a:solidFill>
                  <a:effectLst/>
                  <a:uLnTx/>
                  <a:uFillTx/>
                  <a:latin typeface="Arial" panose="020B0604020202020204" pitchFamily="34" charset="0"/>
                  <a:ea typeface="MS PGothic" panose="020B0600070205080204" pitchFamily="34" charset="-128"/>
                </a:rPr>
                <a:t>edu</a:t>
              </a:r>
              <a:endPar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endParaRPr>
            </a:p>
          </p:txBody>
        </p:sp>
      </p:grpSp>
      <p:sp>
        <p:nvSpPr>
          <p:cNvPr id="183" name="Text Box 27"/>
          <p:cNvSpPr txBox="1">
            <a:spLocks noChangeArrowheads="1"/>
          </p:cNvSpPr>
          <p:nvPr/>
        </p:nvSpPr>
        <p:spPr bwMode="auto">
          <a:xfrm>
            <a:off x="6555191"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1</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84" name="Text Box 28"/>
          <p:cNvSpPr txBox="1">
            <a:spLocks noChangeArrowheads="1"/>
          </p:cNvSpPr>
          <p:nvPr/>
        </p:nvSpPr>
        <p:spPr bwMode="auto">
          <a:xfrm>
            <a:off x="7724177"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2</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85" name="Text Box 29"/>
          <p:cNvSpPr txBox="1">
            <a:spLocks noChangeArrowheads="1"/>
          </p:cNvSpPr>
          <p:nvPr/>
        </p:nvSpPr>
        <p:spPr bwMode="auto">
          <a:xfrm>
            <a:off x="8785965" y="2130702"/>
            <a:ext cx="1196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3</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86" name="Text Box 30"/>
          <p:cNvSpPr txBox="1">
            <a:spLocks noChangeArrowheads="1"/>
          </p:cNvSpPr>
          <p:nvPr/>
        </p:nvSpPr>
        <p:spPr bwMode="auto">
          <a:xfrm>
            <a:off x="9681511" y="3917024"/>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87" name="Text Box 31"/>
          <p:cNvSpPr txBox="1">
            <a:spLocks noChangeArrowheads="1"/>
          </p:cNvSpPr>
          <p:nvPr/>
        </p:nvSpPr>
        <p:spPr bwMode="auto">
          <a:xfrm>
            <a:off x="9130827" y="3968637"/>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5</a:t>
            </a:r>
            <a:endParaRPr kumimoji="0" lang="en-US" altLang="en-US" sz="24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88" name="Text Box 32"/>
          <p:cNvSpPr txBox="1">
            <a:spLocks noChangeArrowheads="1"/>
          </p:cNvSpPr>
          <p:nvPr/>
        </p:nvSpPr>
        <p:spPr bwMode="auto">
          <a:xfrm>
            <a:off x="8914934" y="268526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89" name="Text Box 60"/>
          <p:cNvSpPr txBox="1">
            <a:spLocks noChangeArrowheads="1"/>
          </p:cNvSpPr>
          <p:nvPr/>
        </p:nvSpPr>
        <p:spPr bwMode="auto">
          <a:xfrm>
            <a:off x="8536977"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1" i="0" u="none" strike="noStrike" kern="0" cap="none" spc="0" normalizeH="0" baseline="0" noProof="0" dirty="0" err="1">
                <a:ln>
                  <a:noFill/>
                </a:ln>
                <a:solidFill>
                  <a:srgbClr val="000000"/>
                </a:solidFill>
                <a:effectLst/>
                <a:uLnTx/>
                <a:uFillTx/>
                <a:latin typeface="Arial" panose="020B0604020202020204" pitchFamily="34" charset="0"/>
                <a:ea typeface="MS PGothic" panose="020B0600070205080204" pitchFamily="34" charset="-128"/>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90" name="Text Box 61"/>
          <p:cNvSpPr txBox="1">
            <a:spLocks noChangeArrowheads="1"/>
          </p:cNvSpPr>
          <p:nvPr/>
        </p:nvSpPr>
        <p:spPr bwMode="auto">
          <a:xfrm>
            <a:off x="8122727" y="2626662"/>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91" name="Text Box 62"/>
          <p:cNvSpPr txBox="1">
            <a:spLocks noChangeArrowheads="1"/>
          </p:cNvSpPr>
          <p:nvPr/>
        </p:nvSpPr>
        <p:spPr bwMode="auto">
          <a:xfrm>
            <a:off x="6555714"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92" name="Line 63"/>
          <p:cNvSpPr>
            <a:spLocks noChangeShapeType="1"/>
          </p:cNvSpPr>
          <p:nvPr/>
        </p:nvSpPr>
        <p:spPr bwMode="auto">
          <a:xfrm flipH="1" flipV="1">
            <a:off x="8981775" y="2427554"/>
            <a:ext cx="344289" cy="645450"/>
          </a:xfrm>
          <a:prstGeom prst="line">
            <a:avLst/>
          </a:prstGeom>
          <a:noFill/>
          <a:ln w="25400">
            <a:solidFill>
              <a:srgbClr val="CC0000"/>
            </a:solidFill>
            <a:rou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93" name="Line 64"/>
          <p:cNvSpPr>
            <a:spLocks noChangeShapeType="1"/>
          </p:cNvSpPr>
          <p:nvPr/>
        </p:nvSpPr>
        <p:spPr bwMode="auto">
          <a:xfrm flipH="1">
            <a:off x="7792268" y="2275514"/>
            <a:ext cx="710991" cy="774754"/>
          </a:xfrm>
          <a:prstGeom prst="line">
            <a:avLst/>
          </a:prstGeom>
          <a:noFill/>
          <a:ln w="25400">
            <a:solidFill>
              <a:srgbClr val="CC0000"/>
            </a:solidFill>
            <a:rou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94" name="Text Box 65"/>
          <p:cNvSpPr txBox="1">
            <a:spLocks noChangeArrowheads="1"/>
          </p:cNvSpPr>
          <p:nvPr/>
        </p:nvSpPr>
        <p:spPr bwMode="auto">
          <a:xfrm>
            <a:off x="9662504" y="2971557"/>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195" name="Group 86"/>
          <p:cNvGrpSpPr/>
          <p:nvPr/>
        </p:nvGrpSpPr>
        <p:grpSpPr bwMode="auto">
          <a:xfrm flipH="1">
            <a:off x="10526900" y="4590027"/>
            <a:ext cx="787391" cy="614055"/>
            <a:chOff x="-44" y="1473"/>
            <a:chExt cx="981" cy="1105"/>
          </a:xfrm>
        </p:grpSpPr>
        <p:pic>
          <p:nvPicPr>
            <p:cNvPr id="196" name="Picture 87"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198" name="Group 89"/>
          <p:cNvGrpSpPr/>
          <p:nvPr/>
        </p:nvGrpSpPr>
        <p:grpSpPr bwMode="auto">
          <a:xfrm>
            <a:off x="5099109" y="3053085"/>
            <a:ext cx="883580" cy="766310"/>
            <a:chOff x="-44" y="1473"/>
            <a:chExt cx="981" cy="1105"/>
          </a:xfrm>
        </p:grpSpPr>
        <p:pic>
          <p:nvPicPr>
            <p:cNvPr id="199" name="Picture 90"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01" name="Group 125"/>
          <p:cNvGrpSpPr/>
          <p:nvPr/>
        </p:nvGrpSpPr>
        <p:grpSpPr bwMode="auto">
          <a:xfrm>
            <a:off x="9410102" y="4528230"/>
            <a:ext cx="390525" cy="641350"/>
            <a:chOff x="4140" y="429"/>
            <a:chExt cx="1425" cy="2396"/>
          </a:xfrm>
        </p:grpSpPr>
        <p:sp>
          <p:nvSpPr>
            <p:cNvPr id="202" name="Freeform 126"/>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3" name="Rectangle 127"/>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4" name="Freeform 128"/>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5" name="Freeform 129"/>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6" name="Rectangle 130"/>
            <p:cNvSpPr>
              <a:spLocks noChangeArrowheads="1"/>
            </p:cNvSpPr>
            <p:nvPr/>
          </p:nvSpPr>
          <p:spPr bwMode="auto">
            <a:xfrm>
              <a:off x="4210" y="696"/>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07" name="Group 131"/>
            <p:cNvGrpSpPr/>
            <p:nvPr/>
          </p:nvGrpSpPr>
          <p:grpSpPr bwMode="auto">
            <a:xfrm>
              <a:off x="4749" y="668"/>
              <a:ext cx="581" cy="145"/>
              <a:chOff x="614" y="2568"/>
              <a:chExt cx="725" cy="139"/>
            </a:xfrm>
          </p:grpSpPr>
          <p:sp>
            <p:nvSpPr>
              <p:cNvPr id="232" name="AutoShape 132"/>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3" name="AutoShape 133"/>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08" name="Rectangle 134"/>
            <p:cNvSpPr>
              <a:spLocks noChangeArrowheads="1"/>
            </p:cNvSpPr>
            <p:nvPr/>
          </p:nvSpPr>
          <p:spPr bwMode="auto">
            <a:xfrm>
              <a:off x="4227" y="1016"/>
              <a:ext cx="591"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09" name="Group 135"/>
            <p:cNvGrpSpPr/>
            <p:nvPr/>
          </p:nvGrpSpPr>
          <p:grpSpPr bwMode="auto">
            <a:xfrm>
              <a:off x="4747" y="994"/>
              <a:ext cx="581" cy="134"/>
              <a:chOff x="614" y="2568"/>
              <a:chExt cx="725" cy="139"/>
            </a:xfrm>
          </p:grpSpPr>
          <p:sp>
            <p:nvSpPr>
              <p:cNvPr id="230" name="AutoShape 136"/>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1" name="AutoShape 137"/>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10" name="Rectangle 138"/>
            <p:cNvSpPr>
              <a:spLocks noChangeArrowheads="1"/>
            </p:cNvSpPr>
            <p:nvPr/>
          </p:nvSpPr>
          <p:spPr bwMode="auto">
            <a:xfrm>
              <a:off x="4215" y="1360"/>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1" name="Rectangle 139"/>
            <p:cNvSpPr>
              <a:spLocks noChangeArrowheads="1"/>
            </p:cNvSpPr>
            <p:nvPr/>
          </p:nvSpPr>
          <p:spPr bwMode="auto">
            <a:xfrm>
              <a:off x="4227" y="1657"/>
              <a:ext cx="597"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12" name="Group 140"/>
            <p:cNvGrpSpPr/>
            <p:nvPr/>
          </p:nvGrpSpPr>
          <p:grpSpPr bwMode="auto">
            <a:xfrm>
              <a:off x="4735" y="1627"/>
              <a:ext cx="582" cy="151"/>
              <a:chOff x="614" y="2568"/>
              <a:chExt cx="725" cy="139"/>
            </a:xfrm>
          </p:grpSpPr>
          <p:sp>
            <p:nvSpPr>
              <p:cNvPr id="228" name="AutoShape 141"/>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9" name="AutoShape 142"/>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13" name="Freeform 143"/>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14" name="Group 144"/>
            <p:cNvGrpSpPr/>
            <p:nvPr/>
          </p:nvGrpSpPr>
          <p:grpSpPr bwMode="auto">
            <a:xfrm>
              <a:off x="4739" y="1327"/>
              <a:ext cx="582" cy="139"/>
              <a:chOff x="614" y="2568"/>
              <a:chExt cx="725" cy="139"/>
            </a:xfrm>
          </p:grpSpPr>
          <p:sp>
            <p:nvSpPr>
              <p:cNvPr id="226" name="AutoShape 145"/>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7" name="AutoShape 146"/>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15" name="Rectangle 147"/>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6" name="Freeform 148"/>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7" name="Freeform 149"/>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8" name="Oval 150"/>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9" name="Freeform 151"/>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0" name="AutoShape 152"/>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1" name="AutoShape 153"/>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2" name="Oval 154"/>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3" name="Oval 155"/>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Oval 156"/>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5" name="Rectangle 157"/>
            <p:cNvSpPr>
              <a:spLocks noChangeArrowheads="1"/>
            </p:cNvSpPr>
            <p:nvPr/>
          </p:nvSpPr>
          <p:spPr bwMode="auto">
            <a:xfrm>
              <a:off x="5061" y="1835"/>
              <a:ext cx="87"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34" name="Group 158"/>
          <p:cNvGrpSpPr/>
          <p:nvPr/>
        </p:nvGrpSpPr>
        <p:grpSpPr bwMode="auto">
          <a:xfrm>
            <a:off x="7406677" y="3015343"/>
            <a:ext cx="390525" cy="641350"/>
            <a:chOff x="4140" y="429"/>
            <a:chExt cx="1425" cy="2396"/>
          </a:xfrm>
        </p:grpSpPr>
        <p:sp>
          <p:nvSpPr>
            <p:cNvPr id="235" name="Freeform 159"/>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6" name="Rectangle 160"/>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7" name="Freeform 161"/>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8" name="Freeform 162"/>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39" name="Rectangle 163"/>
            <p:cNvSpPr>
              <a:spLocks noChangeArrowheads="1"/>
            </p:cNvSpPr>
            <p:nvPr/>
          </p:nvSpPr>
          <p:spPr bwMode="auto">
            <a:xfrm>
              <a:off x="4210" y="696"/>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40" name="Group 164"/>
            <p:cNvGrpSpPr/>
            <p:nvPr/>
          </p:nvGrpSpPr>
          <p:grpSpPr bwMode="auto">
            <a:xfrm>
              <a:off x="4749" y="668"/>
              <a:ext cx="581" cy="145"/>
              <a:chOff x="614" y="2568"/>
              <a:chExt cx="725" cy="139"/>
            </a:xfrm>
          </p:grpSpPr>
          <p:sp>
            <p:nvSpPr>
              <p:cNvPr id="265" name="AutoShape 165"/>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6" name="AutoShape 166"/>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41" name="Rectangle 167"/>
            <p:cNvSpPr>
              <a:spLocks noChangeArrowheads="1"/>
            </p:cNvSpPr>
            <p:nvPr/>
          </p:nvSpPr>
          <p:spPr bwMode="auto">
            <a:xfrm>
              <a:off x="4227" y="1016"/>
              <a:ext cx="591"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42" name="Group 168"/>
            <p:cNvGrpSpPr/>
            <p:nvPr/>
          </p:nvGrpSpPr>
          <p:grpSpPr bwMode="auto">
            <a:xfrm>
              <a:off x="4747" y="994"/>
              <a:ext cx="581" cy="134"/>
              <a:chOff x="614" y="2568"/>
              <a:chExt cx="725" cy="139"/>
            </a:xfrm>
          </p:grpSpPr>
          <p:sp>
            <p:nvSpPr>
              <p:cNvPr id="263" name="AutoShape 169"/>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4" name="AutoShape 170"/>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43" name="Rectangle 171"/>
            <p:cNvSpPr>
              <a:spLocks noChangeArrowheads="1"/>
            </p:cNvSpPr>
            <p:nvPr/>
          </p:nvSpPr>
          <p:spPr bwMode="auto">
            <a:xfrm>
              <a:off x="4215" y="1360"/>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44" name="Rectangle 172"/>
            <p:cNvSpPr>
              <a:spLocks noChangeArrowheads="1"/>
            </p:cNvSpPr>
            <p:nvPr/>
          </p:nvSpPr>
          <p:spPr bwMode="auto">
            <a:xfrm>
              <a:off x="4227" y="1657"/>
              <a:ext cx="597"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45" name="Group 173"/>
            <p:cNvGrpSpPr/>
            <p:nvPr/>
          </p:nvGrpSpPr>
          <p:grpSpPr bwMode="auto">
            <a:xfrm>
              <a:off x="4735" y="1627"/>
              <a:ext cx="582" cy="151"/>
              <a:chOff x="614" y="2568"/>
              <a:chExt cx="725" cy="139"/>
            </a:xfrm>
          </p:grpSpPr>
          <p:sp>
            <p:nvSpPr>
              <p:cNvPr id="261" name="AutoShape 174"/>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2" name="AutoShape 175"/>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46" name="Freeform 176"/>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47" name="Group 177"/>
            <p:cNvGrpSpPr/>
            <p:nvPr/>
          </p:nvGrpSpPr>
          <p:grpSpPr bwMode="auto">
            <a:xfrm>
              <a:off x="4739" y="1327"/>
              <a:ext cx="582" cy="139"/>
              <a:chOff x="614" y="2568"/>
              <a:chExt cx="725" cy="139"/>
            </a:xfrm>
          </p:grpSpPr>
          <p:sp>
            <p:nvSpPr>
              <p:cNvPr id="259" name="AutoShape 178"/>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0" name="AutoShape 179"/>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48" name="Rectangle 180"/>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49" name="Freeform 181"/>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0" name="Freeform 182"/>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1" name="Oval 183"/>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2" name="Freeform 184"/>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3" name="AutoShape 185"/>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4" name="AutoShape 186"/>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5" name="Oval 187"/>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6" name="Oval 188"/>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7" name="Oval 189"/>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58" name="Rectangle 190"/>
            <p:cNvSpPr>
              <a:spLocks noChangeArrowheads="1"/>
            </p:cNvSpPr>
            <p:nvPr/>
          </p:nvSpPr>
          <p:spPr bwMode="auto">
            <a:xfrm>
              <a:off x="5061" y="1835"/>
              <a:ext cx="87"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67" name="Group 224"/>
          <p:cNvGrpSpPr/>
          <p:nvPr/>
        </p:nvGrpSpPr>
        <p:grpSpPr bwMode="auto">
          <a:xfrm>
            <a:off x="8560790" y="1753280"/>
            <a:ext cx="390525" cy="641350"/>
            <a:chOff x="4140" y="429"/>
            <a:chExt cx="1425" cy="2396"/>
          </a:xfrm>
        </p:grpSpPr>
        <p:sp>
          <p:nvSpPr>
            <p:cNvPr id="268" name="Freeform 225"/>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69" name="Rectangle 226"/>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0" name="Freeform 227"/>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1" name="Freeform 228"/>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2" name="Rectangle 229"/>
            <p:cNvSpPr>
              <a:spLocks noChangeArrowheads="1"/>
            </p:cNvSpPr>
            <p:nvPr/>
          </p:nvSpPr>
          <p:spPr bwMode="auto">
            <a:xfrm>
              <a:off x="4210" y="696"/>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73" name="Group 230"/>
            <p:cNvGrpSpPr/>
            <p:nvPr/>
          </p:nvGrpSpPr>
          <p:grpSpPr bwMode="auto">
            <a:xfrm>
              <a:off x="4749" y="668"/>
              <a:ext cx="581" cy="145"/>
              <a:chOff x="614" y="2568"/>
              <a:chExt cx="725" cy="139"/>
            </a:xfrm>
          </p:grpSpPr>
          <p:sp>
            <p:nvSpPr>
              <p:cNvPr id="298" name="AutoShape 231"/>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9" name="AutoShape 232"/>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74" name="Rectangle 233"/>
            <p:cNvSpPr>
              <a:spLocks noChangeArrowheads="1"/>
            </p:cNvSpPr>
            <p:nvPr/>
          </p:nvSpPr>
          <p:spPr bwMode="auto">
            <a:xfrm>
              <a:off x="4227" y="1016"/>
              <a:ext cx="591"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75" name="Group 234"/>
            <p:cNvGrpSpPr/>
            <p:nvPr/>
          </p:nvGrpSpPr>
          <p:grpSpPr bwMode="auto">
            <a:xfrm>
              <a:off x="4747" y="994"/>
              <a:ext cx="581" cy="134"/>
              <a:chOff x="614" y="2568"/>
              <a:chExt cx="725" cy="139"/>
            </a:xfrm>
          </p:grpSpPr>
          <p:sp>
            <p:nvSpPr>
              <p:cNvPr id="296" name="AutoShape 235"/>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7" name="AutoShape 236"/>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76" name="Rectangle 237"/>
            <p:cNvSpPr>
              <a:spLocks noChangeArrowheads="1"/>
            </p:cNvSpPr>
            <p:nvPr/>
          </p:nvSpPr>
          <p:spPr bwMode="auto">
            <a:xfrm>
              <a:off x="4215" y="1360"/>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77" name="Rectangle 238"/>
            <p:cNvSpPr>
              <a:spLocks noChangeArrowheads="1"/>
            </p:cNvSpPr>
            <p:nvPr/>
          </p:nvSpPr>
          <p:spPr bwMode="auto">
            <a:xfrm>
              <a:off x="4227" y="1657"/>
              <a:ext cx="597"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78" name="Group 239"/>
            <p:cNvGrpSpPr/>
            <p:nvPr/>
          </p:nvGrpSpPr>
          <p:grpSpPr bwMode="auto">
            <a:xfrm>
              <a:off x="4735" y="1627"/>
              <a:ext cx="582" cy="151"/>
              <a:chOff x="614" y="2568"/>
              <a:chExt cx="725" cy="139"/>
            </a:xfrm>
          </p:grpSpPr>
          <p:sp>
            <p:nvSpPr>
              <p:cNvPr id="294" name="AutoShape 240"/>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5" name="AutoShape 241"/>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79" name="Freeform 242"/>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80" name="Group 243"/>
            <p:cNvGrpSpPr/>
            <p:nvPr/>
          </p:nvGrpSpPr>
          <p:grpSpPr bwMode="auto">
            <a:xfrm>
              <a:off x="4739" y="1327"/>
              <a:ext cx="582" cy="139"/>
              <a:chOff x="614" y="2568"/>
              <a:chExt cx="725" cy="139"/>
            </a:xfrm>
          </p:grpSpPr>
          <p:sp>
            <p:nvSpPr>
              <p:cNvPr id="292" name="AutoShape 244"/>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3" name="AutoShape 245"/>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81" name="Rectangle 246"/>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2" name="Freeform 247"/>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3" name="Freeform 248"/>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4" name="Oval 249"/>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5" name="Freeform 250"/>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6" name="AutoShape 251"/>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7" name="AutoShape 252"/>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8" name="Oval 253"/>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89" name="Oval 254"/>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Oval 255"/>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91" name="Rectangle 256"/>
            <p:cNvSpPr>
              <a:spLocks noChangeArrowheads="1"/>
            </p:cNvSpPr>
            <p:nvPr/>
          </p:nvSpPr>
          <p:spPr bwMode="auto">
            <a:xfrm>
              <a:off x="5061" y="1835"/>
              <a:ext cx="87"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300" name="Group 257"/>
          <p:cNvGrpSpPr/>
          <p:nvPr/>
        </p:nvGrpSpPr>
        <p:grpSpPr bwMode="auto">
          <a:xfrm>
            <a:off x="9376765" y="3005818"/>
            <a:ext cx="390525" cy="641350"/>
            <a:chOff x="4140" y="429"/>
            <a:chExt cx="1425" cy="2396"/>
          </a:xfrm>
        </p:grpSpPr>
        <p:sp>
          <p:nvSpPr>
            <p:cNvPr id="301" name="Freeform 258"/>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2" name="Rectangle 259"/>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3" name="Freeform 260"/>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4" name="Freeform 261"/>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05" name="Rectangle 262"/>
            <p:cNvSpPr>
              <a:spLocks noChangeArrowheads="1"/>
            </p:cNvSpPr>
            <p:nvPr/>
          </p:nvSpPr>
          <p:spPr bwMode="auto">
            <a:xfrm>
              <a:off x="4210" y="696"/>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6" name="Group 263"/>
            <p:cNvGrpSpPr/>
            <p:nvPr/>
          </p:nvGrpSpPr>
          <p:grpSpPr bwMode="auto">
            <a:xfrm>
              <a:off x="4749" y="668"/>
              <a:ext cx="581" cy="145"/>
              <a:chOff x="614" y="2568"/>
              <a:chExt cx="725" cy="139"/>
            </a:xfrm>
          </p:grpSpPr>
          <p:sp>
            <p:nvSpPr>
              <p:cNvPr id="331" name="AutoShape 264"/>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2" name="AutoShape 265"/>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7" name="Rectangle 266"/>
            <p:cNvSpPr>
              <a:spLocks noChangeArrowheads="1"/>
            </p:cNvSpPr>
            <p:nvPr/>
          </p:nvSpPr>
          <p:spPr bwMode="auto">
            <a:xfrm>
              <a:off x="4227" y="1016"/>
              <a:ext cx="591"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08" name="Group 267"/>
            <p:cNvGrpSpPr/>
            <p:nvPr/>
          </p:nvGrpSpPr>
          <p:grpSpPr bwMode="auto">
            <a:xfrm>
              <a:off x="4747" y="994"/>
              <a:ext cx="581" cy="134"/>
              <a:chOff x="614" y="2568"/>
              <a:chExt cx="725" cy="139"/>
            </a:xfrm>
          </p:grpSpPr>
          <p:sp>
            <p:nvSpPr>
              <p:cNvPr id="329" name="AutoShape 268"/>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30" name="AutoShape 269"/>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09" name="Rectangle 270"/>
            <p:cNvSpPr>
              <a:spLocks noChangeArrowheads="1"/>
            </p:cNvSpPr>
            <p:nvPr/>
          </p:nvSpPr>
          <p:spPr bwMode="auto">
            <a:xfrm>
              <a:off x="4215" y="1360"/>
              <a:ext cx="597" cy="42"/>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0" name="Rectangle 271"/>
            <p:cNvSpPr>
              <a:spLocks noChangeArrowheads="1"/>
            </p:cNvSpPr>
            <p:nvPr/>
          </p:nvSpPr>
          <p:spPr bwMode="auto">
            <a:xfrm>
              <a:off x="4227" y="1657"/>
              <a:ext cx="597"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11" name="Group 272"/>
            <p:cNvGrpSpPr/>
            <p:nvPr/>
          </p:nvGrpSpPr>
          <p:grpSpPr bwMode="auto">
            <a:xfrm>
              <a:off x="4735" y="1627"/>
              <a:ext cx="582" cy="151"/>
              <a:chOff x="614" y="2568"/>
              <a:chExt cx="725" cy="139"/>
            </a:xfrm>
          </p:grpSpPr>
          <p:sp>
            <p:nvSpPr>
              <p:cNvPr id="327" name="AutoShape 273"/>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8" name="AutoShape 274"/>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12" name="Freeform 275"/>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313" name="Group 276"/>
            <p:cNvGrpSpPr/>
            <p:nvPr/>
          </p:nvGrpSpPr>
          <p:grpSpPr bwMode="auto">
            <a:xfrm>
              <a:off x="4739" y="1327"/>
              <a:ext cx="582" cy="139"/>
              <a:chOff x="614" y="2568"/>
              <a:chExt cx="725" cy="139"/>
            </a:xfrm>
          </p:grpSpPr>
          <p:sp>
            <p:nvSpPr>
              <p:cNvPr id="325" name="AutoShape 277"/>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6" name="AutoShape 278"/>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314" name="Rectangle 279"/>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5" name="Freeform 280"/>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6" name="Freeform 281"/>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7" name="Oval 282"/>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8" name="Freeform 283"/>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19" name="AutoShape 284"/>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0" name="AutoShape 285"/>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1" name="Oval 286"/>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2" name="Oval 287"/>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3" name="Oval 288"/>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324" name="Rectangle 289"/>
            <p:cNvSpPr>
              <a:spLocks noChangeArrowheads="1"/>
            </p:cNvSpPr>
            <p:nvPr/>
          </p:nvSpPr>
          <p:spPr bwMode="auto">
            <a:xfrm>
              <a:off x="5061" y="1835"/>
              <a:ext cx="87" cy="759"/>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168" name="Rectangle 67"/>
          <p:cNvSpPr>
            <a:spLocks noChangeArrowheads="1"/>
          </p:cNvSpPr>
          <p:nvPr/>
        </p:nvSpPr>
        <p:spPr bwMode="auto">
          <a:xfrm>
            <a:off x="810552" y="2790656"/>
            <a:ext cx="3704869" cy="2316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3200" dirty="0">
                <a:solidFill>
                  <a:srgbClr val="CC0000"/>
                </a:solidFill>
                <a:latin typeface="+mn-lt"/>
              </a:rPr>
              <a:t>Recursive query:</a:t>
            </a:r>
            <a:endParaRPr lang="en-US" altLang="en-US" sz="3200" dirty="0">
              <a:solidFill>
                <a:srgbClr val="CC0000"/>
              </a:solidFill>
              <a:latin typeface="+mn-lt"/>
            </a:endParaRPr>
          </a:p>
          <a:p>
            <a:pPr marL="403225" indent="-288925">
              <a:buClr>
                <a:srgbClr val="000099"/>
              </a:buClr>
              <a:buSzPct val="100000"/>
              <a:buFont typeface="Wingdings" panose="05000000000000000000" pitchFamily="2" charset="2"/>
              <a:buChar char="§"/>
            </a:pPr>
            <a:r>
              <a:rPr lang="en-US" altLang="en-US" sz="2800" dirty="0">
                <a:latin typeface="+mn-lt"/>
              </a:rPr>
              <a:t>puts burden of name resolution on contacted name server</a:t>
            </a:r>
            <a:endParaRPr lang="en-US" altLang="en-US" sz="2800" dirty="0">
              <a:latin typeface="+mn-lt"/>
            </a:endParaRPr>
          </a:p>
          <a:p>
            <a:pPr marL="403225" indent="-288925">
              <a:buClr>
                <a:srgbClr val="000099"/>
              </a:buClr>
              <a:buSzPct val="100000"/>
              <a:buFont typeface="Wingdings" panose="05000000000000000000" pitchFamily="2" charset="2"/>
              <a:buChar char="§"/>
            </a:pPr>
            <a:r>
              <a:rPr lang="en-US" altLang="en-US" sz="2800" dirty="0">
                <a:latin typeface="+mn-lt"/>
              </a:rPr>
              <a:t>heavy load at upper levels of hierarchy</a:t>
            </a:r>
            <a:r>
              <a:rPr lang="en-US" altLang="en-US" sz="2400" dirty="0">
                <a:latin typeface="+mn-lt"/>
              </a:rPr>
              <a:t>?</a:t>
            </a:r>
            <a:endParaRPr lang="en-US" altLang="en-US" sz="2400" dirty="0">
              <a:latin typeface="+mn-lt"/>
            </a:endParaRPr>
          </a:p>
        </p:txBody>
      </p:sp>
      <p:sp>
        <p:nvSpPr>
          <p:cNvPr id="167" name="Rectangle 67"/>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altLang="en-US" dirty="0">
                <a:solidFill>
                  <a:srgbClr val="0000A3"/>
                </a:solidFill>
                <a:ea typeface="MS PGothic" panose="020B0600070205080204" pitchFamily="34" charset="-128"/>
              </a:rPr>
              <a:t>Example: </a:t>
            </a:r>
            <a:r>
              <a:rPr lang="en-US" altLang="en-US" dirty="0">
                <a:ea typeface="MS PGothic" panose="020B0600070205080204" pitchFamily="34" charset="-128"/>
              </a:rPr>
              <a:t>host at </a:t>
            </a:r>
            <a:r>
              <a:rPr lang="en-US" altLang="en-US" sz="2400" dirty="0" err="1">
                <a:ea typeface="MS PGothic" panose="020B0600070205080204" pitchFamily="34" charset="-128"/>
              </a:rPr>
              <a:t>engineering.nyu.edu</a:t>
            </a:r>
            <a:r>
              <a:rPr lang="en-US" altLang="en-US" sz="2400" dirty="0">
                <a:ea typeface="MS PGothic" panose="020B0600070205080204" pitchFamily="34" charset="-128"/>
              </a:rPr>
              <a:t> </a:t>
            </a:r>
            <a:r>
              <a:rPr lang="en-US" altLang="en-US" dirty="0">
                <a:ea typeface="MS PGothic" panose="020B0600070205080204" pitchFamily="34" charset="-128"/>
              </a:rPr>
              <a:t>wants IP address for </a:t>
            </a:r>
            <a:r>
              <a:rPr lang="en-US" altLang="en-US" sz="2400" dirty="0" err="1">
                <a:ea typeface="MS PGothic" panose="020B0600070205080204" pitchFamily="34" charset="-128"/>
              </a:rPr>
              <a:t>gaia.cs.umass.edu</a:t>
            </a:r>
            <a:endParaRPr lang="en-US" altLang="en-US" dirty="0">
              <a:ea typeface="MS PGothic" panose="020B0600070205080204" pitchFamily="34" charset="-128"/>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7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8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7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8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7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8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7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86"/>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77"/>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8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9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88"/>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9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9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17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p:bldP spid="184" grpId="0"/>
      <p:bldP spid="185" grpId="0"/>
      <p:bldP spid="186" grpId="0"/>
      <p:bldP spid="187" grpId="0"/>
      <p:bldP spid="188" grpId="0"/>
      <p:bldP spid="190" grpId="0"/>
      <p:bldP spid="191"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Caching, Updating DNS Records</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67" name="Rectangle 3"/>
          <p:cNvSpPr txBox="1">
            <a:spLocks noChangeArrowheads="1"/>
          </p:cNvSpPr>
          <p:nvPr/>
        </p:nvSpPr>
        <p:spPr>
          <a:xfrm>
            <a:off x="952952" y="1446555"/>
            <a:ext cx="10515600" cy="47339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95275"/>
            <a:r>
              <a:rPr lang="en-US" altLang="en-US" sz="3200" dirty="0">
                <a:ea typeface="MS PGothic" panose="020B0600070205080204" pitchFamily="34" charset="-128"/>
              </a:rPr>
              <a:t>once (any) name server learns mapping, it </a:t>
            </a:r>
            <a:r>
              <a:rPr lang="en-US" altLang="en-US" sz="3200" i="1" dirty="0">
                <a:solidFill>
                  <a:srgbClr val="000099"/>
                </a:solidFill>
                <a:ea typeface="MS PGothic" panose="020B0600070205080204" pitchFamily="34" charset="-128"/>
              </a:rPr>
              <a:t>caches</a:t>
            </a:r>
            <a:r>
              <a:rPr lang="en-US" altLang="en-US" sz="3200" dirty="0">
                <a:ea typeface="MS PGothic" panose="020B0600070205080204" pitchFamily="34" charset="-128"/>
              </a:rPr>
              <a:t> mapping</a:t>
            </a:r>
            <a:endParaRPr lang="en-US" altLang="en-US" sz="3200" dirty="0">
              <a:ea typeface="MS PGothic" panose="020B0600070205080204" pitchFamily="34" charset="-128"/>
            </a:endParaRPr>
          </a:p>
          <a:p>
            <a:pPr lvl="1"/>
            <a:r>
              <a:rPr lang="en-US" altLang="en-US" sz="2800" dirty="0">
                <a:ea typeface="MS PGothic" panose="020B0600070205080204" pitchFamily="34" charset="-128"/>
              </a:rPr>
              <a:t>cache entries timeout (disappear) after some time (TTL)</a:t>
            </a:r>
            <a:endParaRPr lang="en-US" altLang="en-US" sz="2800" dirty="0">
              <a:ea typeface="MS PGothic" panose="020B0600070205080204" pitchFamily="34" charset="-128"/>
            </a:endParaRPr>
          </a:p>
          <a:p>
            <a:pPr lvl="1"/>
            <a:r>
              <a:rPr lang="en-US" altLang="en-US" sz="2800" dirty="0">
                <a:ea typeface="MS PGothic" panose="020B0600070205080204" pitchFamily="34" charset="-128"/>
              </a:rPr>
              <a:t>TLD servers typically cached in local name servers</a:t>
            </a:r>
            <a:endParaRPr lang="en-US" altLang="en-US" sz="2800" dirty="0">
              <a:ea typeface="MS PGothic" panose="020B0600070205080204" pitchFamily="34" charset="-128"/>
            </a:endParaRPr>
          </a:p>
          <a:p>
            <a:pPr lvl="2"/>
            <a:r>
              <a:rPr lang="en-US" altLang="en-US" sz="2400" dirty="0">
                <a:ea typeface="MS PGothic" panose="020B0600070205080204" pitchFamily="34" charset="-128"/>
              </a:rPr>
              <a:t>thus root name servers not often visited</a:t>
            </a:r>
            <a:endParaRPr lang="en-US" altLang="en-US" sz="2400" dirty="0">
              <a:ea typeface="MS PGothic" panose="020B0600070205080204" pitchFamily="34" charset="-128"/>
            </a:endParaRPr>
          </a:p>
          <a:p>
            <a:pPr indent="-295275"/>
            <a:r>
              <a:rPr lang="en-US" altLang="en-US" sz="3200" dirty="0">
                <a:ea typeface="MS PGothic" panose="020B0600070205080204" pitchFamily="34" charset="-128"/>
              </a:rPr>
              <a:t>cached entries may be </a:t>
            </a:r>
            <a:r>
              <a:rPr lang="en-US" altLang="en-US" sz="3200" i="1" dirty="0">
                <a:solidFill>
                  <a:srgbClr val="CC0000"/>
                </a:solidFill>
                <a:ea typeface="MS PGothic" panose="020B0600070205080204" pitchFamily="34" charset="-128"/>
              </a:rPr>
              <a:t>out-of-date</a:t>
            </a:r>
            <a:r>
              <a:rPr lang="en-US" altLang="en-US" sz="3200" dirty="0">
                <a:ea typeface="MS PGothic" panose="020B0600070205080204" pitchFamily="34" charset="-128"/>
              </a:rPr>
              <a:t> (</a:t>
            </a:r>
            <a:r>
              <a:rPr lang="en-US" altLang="en-US" sz="3200" dirty="0">
                <a:solidFill>
                  <a:srgbClr val="0000A3"/>
                </a:solidFill>
                <a:ea typeface="MS PGothic" panose="020B0600070205080204" pitchFamily="34" charset="-128"/>
              </a:rPr>
              <a:t>best-effort name-to-address translation!</a:t>
            </a:r>
            <a:r>
              <a:rPr lang="en-US" altLang="en-US" sz="3200" dirty="0">
                <a:ea typeface="MS PGothic" panose="020B0600070205080204" pitchFamily="34" charset="-128"/>
              </a:rPr>
              <a:t>)</a:t>
            </a:r>
            <a:endParaRPr lang="en-US" altLang="en-US" sz="3200" dirty="0">
              <a:ea typeface="MS PGothic" panose="020B0600070205080204" pitchFamily="34" charset="-128"/>
            </a:endParaRPr>
          </a:p>
          <a:p>
            <a:pPr lvl="1"/>
            <a:r>
              <a:rPr lang="en-US" altLang="en-US" sz="2800" dirty="0">
                <a:ea typeface="MS PGothic" panose="020B0600070205080204" pitchFamily="34" charset="-128"/>
              </a:rPr>
              <a:t>if name host changes IP address, may not be known Internet-wide until all TTLs expire!</a:t>
            </a:r>
            <a:endParaRPr lang="en-US" altLang="en-US" sz="2800" dirty="0">
              <a:ea typeface="MS PGothic" panose="020B0600070205080204" pitchFamily="34" charset="-128"/>
            </a:endParaRPr>
          </a:p>
          <a:p>
            <a:pPr indent="-295275"/>
            <a:r>
              <a:rPr lang="en-US" altLang="en-US" sz="3200" dirty="0">
                <a:ea typeface="MS PGothic" panose="020B0600070205080204" pitchFamily="34" charset="-128"/>
              </a:rPr>
              <a:t>update/notify mechanisms proposed IETF standard</a:t>
            </a:r>
            <a:endParaRPr lang="en-US" altLang="en-US" sz="3200" dirty="0">
              <a:ea typeface="MS PGothic" panose="020B0600070205080204" pitchFamily="34" charset="-128"/>
            </a:endParaRPr>
          </a:p>
          <a:p>
            <a:pPr lvl="1"/>
            <a:r>
              <a:rPr lang="en-US" altLang="en-US" sz="2800" dirty="0">
                <a:ea typeface="MS PGothic" panose="020B0600070205080204" pitchFamily="34" charset="-128"/>
              </a:rPr>
              <a:t>RFC 2136</a:t>
            </a:r>
            <a:endParaRPr lang="en-US" altLang="en-US" sz="2800" dirty="0">
              <a:ea typeface="MS PGothic" panose="020B0600070205080204" pitchFamily="34" charset="-128"/>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838200" y="362678"/>
            <a:ext cx="10515600" cy="894622"/>
          </a:xfrm>
        </p:spPr>
        <p:txBody>
          <a:bodyPr>
            <a:normAutofit/>
          </a:bodyPr>
          <a:lstStyle/>
          <a:p>
            <a:r>
              <a:rPr lang="en-US" altLang="en-US" sz="4400" dirty="0">
                <a:ea typeface="MS PGothic" panose="020B0600070205080204" pitchFamily="34" charset="-128"/>
                <a:cs typeface="Calibri" panose="020F0502020204030204" pitchFamily="34" charset="0"/>
              </a:rPr>
              <a:t>DNS records</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3" name="Rectangle 3"/>
          <p:cNvSpPr txBox="1">
            <a:spLocks noChangeArrowheads="1"/>
          </p:cNvSpPr>
          <p:nvPr/>
        </p:nvSpPr>
        <p:spPr>
          <a:xfrm>
            <a:off x="738187" y="1270000"/>
            <a:ext cx="1016204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dirty="0">
                <a:solidFill>
                  <a:srgbClr val="CC0000"/>
                </a:solidFill>
                <a:ea typeface="MS PGothic" panose="020B0600070205080204" pitchFamily="34" charset="-128"/>
              </a:rPr>
              <a:t>DNS:</a:t>
            </a:r>
            <a:r>
              <a:rPr lang="en-US" altLang="en-US" dirty="0">
                <a:ea typeface="MS PGothic" panose="020B0600070205080204" pitchFamily="34" charset="-128"/>
              </a:rPr>
              <a:t> distributed database storing resource records </a:t>
            </a:r>
            <a:r>
              <a:rPr lang="en-US" altLang="en-US" sz="3200" dirty="0">
                <a:solidFill>
                  <a:srgbClr val="CC0000"/>
                </a:solidFill>
                <a:ea typeface="MS PGothic" panose="020B0600070205080204" pitchFamily="34" charset="-128"/>
              </a:rPr>
              <a:t>(RR)</a:t>
            </a:r>
            <a:endParaRPr lang="en-US" altLang="en-US" sz="3200" dirty="0">
              <a:solidFill>
                <a:srgbClr val="CC0000"/>
              </a:solidFill>
              <a:ea typeface="MS PGothic" panose="020B0600070205080204" pitchFamily="34" charset="-128"/>
            </a:endParaRPr>
          </a:p>
        </p:txBody>
      </p:sp>
      <p:sp>
        <p:nvSpPr>
          <p:cNvPr id="14" name="Rectangle 4"/>
          <p:cNvSpPr txBox="1">
            <a:spLocks noChangeArrowheads="1"/>
          </p:cNvSpPr>
          <p:nvPr/>
        </p:nvSpPr>
        <p:spPr>
          <a:xfrm>
            <a:off x="1080534" y="4146777"/>
            <a:ext cx="4547961"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605" indent="0">
              <a:buFont typeface="Wingdings" panose="05000000000000000000" pitchFamily="2" charset="2"/>
              <a:buNone/>
            </a:pPr>
            <a:r>
              <a:rPr lang="en-US" altLang="en-US" sz="3200" dirty="0">
                <a:solidFill>
                  <a:srgbClr val="CC0000"/>
                </a:solidFill>
                <a:ea typeface="MS PGothic" panose="020B0600070205080204" pitchFamily="34" charset="-128"/>
              </a:rPr>
              <a:t>type=NS</a:t>
            </a:r>
            <a:endParaRPr lang="en-US" altLang="en-US" sz="3200" dirty="0">
              <a:solidFill>
                <a:srgbClr val="CC0000"/>
              </a:solidFill>
              <a:ea typeface="MS PGothic" panose="020B0600070205080204" pitchFamily="34" charset="-128"/>
            </a:endParaRPr>
          </a:p>
          <a:p>
            <a:pPr marL="346075" lvl="1" indent="-288925">
              <a:buFont typeface="Wingdings" panose="05000000000000000000" pitchFamily="2" charset="2"/>
              <a:buChar char="§"/>
            </a:pPr>
            <a:r>
              <a:rPr lang="en-US" altLang="en-US" dirty="0">
                <a:latin typeface="Courier" pitchFamily="2" charset="0"/>
                <a:ea typeface="MS PGothic" panose="020B0600070205080204" pitchFamily="34" charset="-128"/>
              </a:rPr>
              <a:t>name</a:t>
            </a:r>
            <a:r>
              <a:rPr lang="en-US" altLang="en-US" dirty="0">
                <a:ea typeface="MS PGothic" panose="020B0600070205080204" pitchFamily="34" charset="-128"/>
              </a:rPr>
              <a:t> is domain (e.g., </a:t>
            </a:r>
            <a:r>
              <a:rPr lang="en-US" altLang="en-US" dirty="0" err="1">
                <a:ea typeface="MS PGothic" panose="020B0600070205080204" pitchFamily="34" charset="-128"/>
              </a:rPr>
              <a:t>foo.com</a:t>
            </a:r>
            <a:r>
              <a:rPr lang="en-US" altLang="en-US" dirty="0">
                <a:ea typeface="MS PGothic" panose="020B0600070205080204" pitchFamily="34" charset="-128"/>
              </a:rPr>
              <a:t>)</a:t>
            </a:r>
            <a:endParaRPr lang="en-US" altLang="en-US" dirty="0">
              <a:ea typeface="MS PGothic" panose="020B0600070205080204" pitchFamily="34" charset="-128"/>
            </a:endParaRPr>
          </a:p>
          <a:p>
            <a:pPr marL="346075" lvl="1" indent="-288925">
              <a:buFont typeface="Wingdings" panose="05000000000000000000" pitchFamily="2" charset="2"/>
              <a:buChar char="§"/>
            </a:pPr>
            <a:r>
              <a:rPr lang="en-US" altLang="en-US" dirty="0">
                <a:latin typeface="Courier" pitchFamily="2" charset="0"/>
                <a:ea typeface="MS PGothic" panose="020B0600070205080204" pitchFamily="34" charset="-128"/>
              </a:rPr>
              <a:t>value </a:t>
            </a:r>
            <a:r>
              <a:rPr lang="en-US" altLang="en-US" dirty="0">
                <a:ea typeface="MS PGothic" panose="020B0600070205080204" pitchFamily="34" charset="-128"/>
              </a:rPr>
              <a:t>is hostname of authoritative name server for this domain</a:t>
            </a:r>
            <a:endParaRPr lang="en-US" altLang="en-US" dirty="0">
              <a:ea typeface="MS PGothic" panose="020B0600070205080204" pitchFamily="34" charset="-128"/>
            </a:endParaRPr>
          </a:p>
          <a:p>
            <a:endParaRPr lang="en-US" altLang="en-US" dirty="0">
              <a:ea typeface="MS PGothic" panose="020B0600070205080204" pitchFamily="34" charset="-128"/>
            </a:endParaRPr>
          </a:p>
        </p:txBody>
      </p:sp>
      <p:sp>
        <p:nvSpPr>
          <p:cNvPr id="15" name="Text Box 6"/>
          <p:cNvSpPr txBox="1">
            <a:spLocks noChangeArrowheads="1"/>
          </p:cNvSpPr>
          <p:nvPr/>
        </p:nvSpPr>
        <p:spPr bwMode="auto">
          <a:xfrm>
            <a:off x="1693864" y="1727751"/>
            <a:ext cx="633253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3200" dirty="0">
                <a:latin typeface="+mn-lt"/>
              </a:rPr>
              <a:t>RR format: </a:t>
            </a:r>
            <a:r>
              <a:rPr lang="en-US" altLang="en-US" sz="2400" dirty="0">
                <a:latin typeface="+mn-lt"/>
              </a:rPr>
              <a:t>(</a:t>
            </a:r>
            <a:r>
              <a:rPr lang="en-US" altLang="en-US" sz="2400" dirty="0">
                <a:latin typeface="Courier" pitchFamily="2" charset="0"/>
              </a:rPr>
              <a:t>name, value, type, </a:t>
            </a:r>
            <a:r>
              <a:rPr lang="en-US" altLang="en-US" sz="2400" dirty="0" err="1">
                <a:latin typeface="Courier" pitchFamily="2" charset="0"/>
              </a:rPr>
              <a:t>ttl</a:t>
            </a:r>
            <a:r>
              <a:rPr lang="en-US" altLang="en-US" sz="2400" dirty="0">
                <a:latin typeface="+mn-lt"/>
              </a:rPr>
              <a:t>)</a:t>
            </a:r>
            <a:endParaRPr lang="en-US" altLang="en-US" sz="3200" dirty="0">
              <a:latin typeface="+mn-lt"/>
            </a:endParaRPr>
          </a:p>
        </p:txBody>
      </p:sp>
      <p:sp>
        <p:nvSpPr>
          <p:cNvPr id="17" name="Rectangle 8"/>
          <p:cNvSpPr>
            <a:spLocks noChangeArrowheads="1"/>
          </p:cNvSpPr>
          <p:nvPr/>
        </p:nvSpPr>
        <p:spPr bwMode="auto">
          <a:xfrm>
            <a:off x="1067384" y="2533650"/>
            <a:ext cx="3810000"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buClr>
                <a:srgbClr val="000099"/>
              </a:buClr>
              <a:buSzPct val="75000"/>
              <a:buFont typeface="Wingdings" panose="05000000000000000000" pitchFamily="2" charset="2"/>
              <a:buNone/>
            </a:pPr>
            <a:r>
              <a:rPr lang="en-US" altLang="en-US" sz="3200" dirty="0">
                <a:solidFill>
                  <a:srgbClr val="CC0000"/>
                </a:solidFill>
                <a:latin typeface="+mn-lt"/>
              </a:rPr>
              <a:t>type=A</a:t>
            </a:r>
            <a:endParaRPr lang="en-US" altLang="en-US" sz="3200" dirty="0">
              <a:solidFill>
                <a:srgbClr val="CC0000"/>
              </a:solidFill>
              <a:latin typeface="+mn-lt"/>
            </a:endParaRPr>
          </a:p>
          <a:p>
            <a:pPr marL="403225" lvl="1" indent="-317500">
              <a:buClr>
                <a:srgbClr val="000099"/>
              </a:buClr>
              <a:buSzTx/>
              <a:buFont typeface="Wingdings" panose="05000000000000000000" pitchFamily="2" charset="2"/>
              <a:buChar char="§"/>
            </a:pPr>
            <a:r>
              <a:rPr lang="en-US" altLang="en-US" sz="2400" dirty="0">
                <a:latin typeface="Courier" pitchFamily="2" charset="0"/>
              </a:rPr>
              <a:t>name</a:t>
            </a:r>
            <a:r>
              <a:rPr lang="en-US" altLang="en-US" sz="2400" dirty="0">
                <a:latin typeface="+mn-lt"/>
              </a:rPr>
              <a:t> is hostname</a:t>
            </a:r>
            <a:endParaRPr lang="en-US" altLang="en-US" sz="2400" dirty="0">
              <a:latin typeface="+mn-lt"/>
            </a:endParaRPr>
          </a:p>
          <a:p>
            <a:pPr marL="403225" lvl="1" indent="-317500">
              <a:buClr>
                <a:srgbClr val="000099"/>
              </a:buClr>
              <a:buSzTx/>
              <a:buFont typeface="Wingdings" panose="05000000000000000000" pitchFamily="2" charset="2"/>
              <a:buChar char="§"/>
            </a:pPr>
            <a:r>
              <a:rPr lang="en-US" altLang="en-US" sz="2400" dirty="0">
                <a:latin typeface="Courier" pitchFamily="2" charset="0"/>
              </a:rPr>
              <a:t>value</a:t>
            </a:r>
            <a:r>
              <a:rPr lang="en-US" altLang="en-US" sz="2400" dirty="0">
                <a:latin typeface="+mn-lt"/>
              </a:rPr>
              <a:t> is IP address</a:t>
            </a:r>
            <a:endParaRPr lang="en-US" altLang="en-US" sz="2400" dirty="0">
              <a:latin typeface="+mn-lt"/>
            </a:endParaRPr>
          </a:p>
          <a:p>
            <a:pPr>
              <a:buFont typeface="ZapfDingbats" pitchFamily="82" charset="2"/>
              <a:buChar char="r"/>
            </a:pPr>
            <a:endParaRPr lang="en-US" altLang="en-US" sz="2800" dirty="0">
              <a:latin typeface="+mn-lt"/>
            </a:endParaRPr>
          </a:p>
        </p:txBody>
      </p:sp>
      <p:sp>
        <p:nvSpPr>
          <p:cNvPr id="18" name="Rectangle 9"/>
          <p:cNvSpPr>
            <a:spLocks noChangeArrowheads="1"/>
          </p:cNvSpPr>
          <p:nvPr/>
        </p:nvSpPr>
        <p:spPr bwMode="auto">
          <a:xfrm>
            <a:off x="6015718" y="2555875"/>
            <a:ext cx="6176282"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3200" dirty="0">
                <a:solidFill>
                  <a:srgbClr val="CC0000"/>
                </a:solidFill>
                <a:latin typeface="+mn-lt"/>
              </a:rPr>
              <a:t>type=CNAME</a:t>
            </a:r>
            <a:endParaRPr lang="en-US" altLang="en-US" sz="3200" dirty="0">
              <a:solidFill>
                <a:srgbClr val="CC0000"/>
              </a:solidFill>
              <a:latin typeface="+mn-lt"/>
            </a:endParaRPr>
          </a:p>
          <a:p>
            <a:pPr marL="403225" lvl="1" indent="-317500">
              <a:buClr>
                <a:srgbClr val="000099"/>
              </a:buClr>
              <a:buSzTx/>
              <a:buFont typeface="Wingdings" panose="05000000000000000000" pitchFamily="2" charset="2"/>
              <a:buChar char="§"/>
            </a:pPr>
            <a:r>
              <a:rPr lang="en-US" altLang="en-US" sz="2400" dirty="0">
                <a:latin typeface="Courier" pitchFamily="2" charset="0"/>
              </a:rPr>
              <a:t>name </a:t>
            </a:r>
            <a:r>
              <a:rPr lang="en-US" altLang="en-US" sz="2400" dirty="0">
                <a:latin typeface="+mn-lt"/>
              </a:rPr>
              <a:t>is alias name for some “</a:t>
            </a:r>
            <a:r>
              <a:rPr lang="en-US" altLang="ja-JP" sz="2400" dirty="0">
                <a:latin typeface="+mn-lt"/>
              </a:rPr>
              <a:t>canonical” (the real) name</a:t>
            </a:r>
            <a:endParaRPr lang="en-US" altLang="ja-JP" sz="2400" dirty="0">
              <a:latin typeface="+mn-lt"/>
            </a:endParaRPr>
          </a:p>
          <a:p>
            <a:pPr marL="403225" lvl="1" indent="-317500">
              <a:buClr>
                <a:srgbClr val="000099"/>
              </a:buClr>
              <a:buSzPct val="120000"/>
              <a:buFont typeface="Wingdings" panose="05000000000000000000" pitchFamily="2" charset="2"/>
              <a:buChar char="§"/>
            </a:pPr>
            <a:r>
              <a:rPr lang="en-US" altLang="en-US" dirty="0" err="1">
                <a:latin typeface="+mn-lt"/>
              </a:rPr>
              <a:t>www.ibm.com</a:t>
            </a:r>
            <a:r>
              <a:rPr lang="en-US" altLang="en-US" dirty="0">
                <a:latin typeface="+mn-lt"/>
              </a:rPr>
              <a:t> </a:t>
            </a:r>
            <a:r>
              <a:rPr lang="en-US" altLang="en-US" sz="2400" dirty="0">
                <a:latin typeface="+mn-lt"/>
              </a:rPr>
              <a:t>is really </a:t>
            </a:r>
            <a:r>
              <a:rPr lang="en-US" altLang="en-US" dirty="0">
                <a:latin typeface="+mn-lt"/>
              </a:rPr>
              <a:t>servereast.backup2.ibm.com</a:t>
            </a:r>
            <a:endParaRPr lang="en-US" altLang="en-US" dirty="0">
              <a:latin typeface="+mn-lt"/>
            </a:endParaRPr>
          </a:p>
          <a:p>
            <a:pPr marL="403225" lvl="1" indent="-317500">
              <a:buClr>
                <a:srgbClr val="000099"/>
              </a:buClr>
              <a:buSzTx/>
              <a:buFont typeface="Wingdings" panose="05000000000000000000" pitchFamily="2" charset="2"/>
              <a:buChar char="§"/>
            </a:pPr>
            <a:r>
              <a:rPr lang="en-US" altLang="en-US" sz="2400" dirty="0">
                <a:latin typeface="Courier" pitchFamily="2" charset="0"/>
              </a:rPr>
              <a:t>value </a:t>
            </a:r>
            <a:r>
              <a:rPr lang="en-US" altLang="en-US" sz="2400" dirty="0">
                <a:latin typeface="+mn-lt"/>
              </a:rPr>
              <a:t>is canonical name</a:t>
            </a:r>
            <a:endParaRPr lang="en-US" altLang="en-US" sz="2400" dirty="0">
              <a:latin typeface="+mn-lt"/>
            </a:endParaRPr>
          </a:p>
          <a:p>
            <a:pPr>
              <a:buFont typeface="ZapfDingbats" pitchFamily="82" charset="2"/>
              <a:buChar char="r"/>
            </a:pPr>
            <a:endParaRPr lang="en-US" altLang="en-US" sz="2800" dirty="0">
              <a:latin typeface="+mn-lt"/>
            </a:endParaRPr>
          </a:p>
        </p:txBody>
      </p:sp>
      <p:sp>
        <p:nvSpPr>
          <p:cNvPr id="19" name="Rectangle 10"/>
          <p:cNvSpPr>
            <a:spLocks noChangeArrowheads="1"/>
          </p:cNvSpPr>
          <p:nvPr/>
        </p:nvSpPr>
        <p:spPr bwMode="auto">
          <a:xfrm>
            <a:off x="6015718" y="4727575"/>
            <a:ext cx="5287866" cy="1309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3200" dirty="0">
                <a:solidFill>
                  <a:srgbClr val="CC0000"/>
                </a:solidFill>
                <a:latin typeface="+mn-lt"/>
              </a:rPr>
              <a:t>type=MX</a:t>
            </a:r>
            <a:endParaRPr lang="en-US" altLang="en-US" sz="3200" dirty="0">
              <a:solidFill>
                <a:srgbClr val="CC0000"/>
              </a:solidFill>
              <a:latin typeface="+mn-lt"/>
            </a:endParaRPr>
          </a:p>
          <a:p>
            <a:pPr lvl="1">
              <a:buClr>
                <a:srgbClr val="000099"/>
              </a:buClr>
              <a:buSzTx/>
              <a:buFont typeface="Wingdings" panose="05000000000000000000" pitchFamily="2" charset="2"/>
              <a:buChar char="§"/>
            </a:pPr>
            <a:r>
              <a:rPr lang="en-US" altLang="en-US" sz="2400" dirty="0">
                <a:latin typeface="Courier" pitchFamily="2" charset="0"/>
              </a:rPr>
              <a:t>value</a:t>
            </a:r>
            <a:r>
              <a:rPr lang="en-US" altLang="en-US" sz="2400" dirty="0">
                <a:latin typeface="+mn-lt"/>
              </a:rPr>
              <a:t> is name of </a:t>
            </a:r>
            <a:r>
              <a:rPr lang="en-US" altLang="en-US" sz="2400" dirty="0" err="1">
                <a:latin typeface="+mn-lt"/>
              </a:rPr>
              <a:t>mailserver</a:t>
            </a:r>
            <a:r>
              <a:rPr lang="en-US" altLang="en-US" sz="2400" dirty="0">
                <a:latin typeface="+mn-lt"/>
              </a:rPr>
              <a:t> associated with </a:t>
            </a:r>
            <a:r>
              <a:rPr lang="en-US" altLang="en-US" sz="2400" dirty="0">
                <a:latin typeface="Courier" pitchFamily="2" charset="0"/>
              </a:rPr>
              <a:t>name</a:t>
            </a:r>
            <a:endParaRPr lang="en-US" altLang="en-US" sz="2400" dirty="0">
              <a:latin typeface="Courier" pitchFamily="2" charset="0"/>
            </a:endParaRPr>
          </a:p>
          <a:p>
            <a:pPr>
              <a:buFont typeface="ZapfDingbats" pitchFamily="82" charset="2"/>
              <a:buChar char="r"/>
            </a:pPr>
            <a:endParaRPr lang="en-US" altLang="en-US" sz="2800" dirty="0">
              <a:latin typeface="+mn-lt"/>
            </a:endParaRP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838200" y="362678"/>
            <a:ext cx="10515600" cy="894622"/>
          </a:xfrm>
        </p:spPr>
        <p:txBody>
          <a:bodyPr>
            <a:normAutofit/>
          </a:bodyPr>
          <a:lstStyle/>
          <a:p>
            <a:r>
              <a:rPr lang="en-US" altLang="en-US" sz="4400" dirty="0">
                <a:ea typeface="MS PGothic" panose="020B0600070205080204" pitchFamily="34" charset="-128"/>
              </a:rPr>
              <a:t>DNS protocol messages</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0" name="Rectangle 3"/>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altLang="en-US" sz="3200" dirty="0">
                <a:ea typeface="MS PGothic" panose="020B0600070205080204" pitchFamily="34" charset="-128"/>
              </a:rPr>
              <a:t>DNS</a:t>
            </a:r>
            <a:r>
              <a:rPr lang="en-US" altLang="en-US" sz="3200" i="1" dirty="0">
                <a:ea typeface="MS PGothic" panose="020B0600070205080204" pitchFamily="34" charset="-128"/>
              </a:rPr>
              <a:t> </a:t>
            </a:r>
            <a:r>
              <a:rPr lang="en-US" altLang="en-US" sz="3200" i="1" dirty="0">
                <a:solidFill>
                  <a:srgbClr val="CC0000"/>
                </a:solidFill>
                <a:ea typeface="MS PGothic" panose="020B0600070205080204" pitchFamily="34" charset="-128"/>
              </a:rPr>
              <a:t>query</a:t>
            </a:r>
            <a:r>
              <a:rPr lang="en-US" altLang="en-US" sz="3200" dirty="0">
                <a:solidFill>
                  <a:srgbClr val="FF0000"/>
                </a:solidFill>
                <a:ea typeface="MS PGothic" panose="020B0600070205080204" pitchFamily="34" charset="-128"/>
              </a:rPr>
              <a:t> </a:t>
            </a:r>
            <a:r>
              <a:rPr lang="en-US" altLang="en-US" sz="3200" dirty="0">
                <a:ea typeface="MS PGothic" panose="020B0600070205080204" pitchFamily="34" charset="-128"/>
              </a:rPr>
              <a:t>and </a:t>
            </a:r>
            <a:r>
              <a:rPr lang="en-US" altLang="en-US" sz="3200" i="1" dirty="0">
                <a:solidFill>
                  <a:srgbClr val="CC0000"/>
                </a:solidFill>
                <a:ea typeface="MS PGothic" panose="020B0600070205080204" pitchFamily="34" charset="-128"/>
              </a:rPr>
              <a:t>reply</a:t>
            </a:r>
            <a:r>
              <a:rPr lang="en-US" altLang="en-US" sz="3200" dirty="0">
                <a:ea typeface="MS PGothic" panose="020B0600070205080204" pitchFamily="34" charset="-128"/>
              </a:rPr>
              <a:t> messages, both have same  </a:t>
            </a:r>
            <a:r>
              <a:rPr lang="en-US" altLang="en-US" sz="3200" i="1" dirty="0">
                <a:solidFill>
                  <a:srgbClr val="CC0000"/>
                </a:solidFill>
                <a:ea typeface="MS PGothic" panose="020B0600070205080204" pitchFamily="34" charset="-128"/>
              </a:rPr>
              <a:t>format:</a:t>
            </a:r>
            <a:endParaRPr lang="en-US" altLang="en-US" sz="3200" dirty="0">
              <a:solidFill>
                <a:srgbClr val="CC0000"/>
              </a:solidFill>
              <a:ea typeface="MS PGothic" panose="020B0600070205080204" pitchFamily="34" charset="-128"/>
            </a:endParaRPr>
          </a:p>
        </p:txBody>
      </p:sp>
      <p:sp>
        <p:nvSpPr>
          <p:cNvPr id="11" name="Rectangle 4"/>
          <p:cNvSpPr>
            <a:spLocks noChangeArrowheads="1"/>
          </p:cNvSpPr>
          <p:nvPr/>
        </p:nvSpPr>
        <p:spPr bwMode="auto">
          <a:xfrm>
            <a:off x="1407887" y="2394964"/>
            <a:ext cx="4688114" cy="3838575"/>
          </a:xfrm>
          <a:prstGeom prst="rect">
            <a:avLst/>
          </a:prstGeom>
          <a:noFill/>
          <a:ln>
            <a:noFill/>
          </a:ln>
        </p:spPr>
        <p:txBody>
          <a:bodyPr/>
          <a:lstStyle/>
          <a:p>
            <a:pPr marL="342900" indent="-342900">
              <a:buFont typeface="ZapfDingbats" charset="0"/>
              <a:buNone/>
              <a:defRPr/>
            </a:pPr>
            <a:r>
              <a:rPr lang="en-US" sz="2800" dirty="0">
                <a:ea typeface="MS PGothic" panose="020B0600070205080204" pitchFamily="34" charset="-128"/>
                <a:cs typeface="MS PGothic" panose="020B0600070205080204" pitchFamily="34" charset="-128"/>
              </a:rPr>
              <a:t>message header:</a:t>
            </a:r>
            <a:endParaRPr lang="en-US" sz="2800" dirty="0">
              <a:ea typeface="MS PGothic" panose="020B0600070205080204" pitchFamily="34" charset="-128"/>
              <a:cs typeface="MS PGothic" panose="020B0600070205080204" pitchFamily="34" charset="-128"/>
            </a:endParaRPr>
          </a:p>
          <a:p>
            <a:pPr marL="227330" indent="-227330">
              <a:buClr>
                <a:srgbClr val="000099"/>
              </a:buClr>
              <a:buSzPct val="100000"/>
              <a:buFont typeface="Wingdings" panose="05000000000000000000" pitchFamily="2" charset="2"/>
              <a:buChar char="§"/>
              <a:defRPr/>
            </a:pPr>
            <a:r>
              <a:rPr lang="en-US" sz="2400" dirty="0">
                <a:solidFill>
                  <a:srgbClr val="000099"/>
                </a:solidFill>
                <a:ea typeface="MS PGothic" panose="020B0600070205080204" pitchFamily="34" charset="-128"/>
                <a:cs typeface="MS PGothic" panose="020B0600070205080204" pitchFamily="34" charset="-128"/>
              </a:rPr>
              <a:t>identification:</a:t>
            </a:r>
            <a:r>
              <a:rPr lang="en-US" sz="2400" dirty="0">
                <a:ea typeface="MS PGothic" panose="020B0600070205080204" pitchFamily="34" charset="-128"/>
                <a:cs typeface="MS PGothic" panose="020B0600070205080204" pitchFamily="34" charset="-128"/>
              </a:rPr>
              <a:t> 16 bit # for query, reply to query uses same #</a:t>
            </a:r>
            <a:endParaRPr lang="en-US" sz="2400" dirty="0">
              <a:ea typeface="MS PGothic" panose="020B0600070205080204" pitchFamily="34" charset="-128"/>
              <a:cs typeface="MS PGothic" panose="020B0600070205080204" pitchFamily="34" charset="-128"/>
            </a:endParaRPr>
          </a:p>
          <a:p>
            <a:pPr marL="227330" indent="-227330">
              <a:buClr>
                <a:srgbClr val="000099"/>
              </a:buClr>
              <a:buSzPct val="100000"/>
              <a:buFont typeface="Wingdings" panose="05000000000000000000" pitchFamily="2" charset="2"/>
              <a:buChar char="§"/>
              <a:defRPr/>
            </a:pPr>
            <a:r>
              <a:rPr lang="en-US" sz="2400" dirty="0">
                <a:solidFill>
                  <a:srgbClr val="000099"/>
                </a:solidFill>
                <a:ea typeface="MS PGothic" panose="020B0600070205080204" pitchFamily="34" charset="-128"/>
                <a:cs typeface="MS PGothic" panose="020B0600070205080204" pitchFamily="34" charset="-128"/>
              </a:rPr>
              <a:t>flags:</a:t>
            </a:r>
            <a:endParaRPr lang="en-US" sz="2400" dirty="0">
              <a:solidFill>
                <a:srgbClr val="000099"/>
              </a:solidFill>
              <a:ea typeface="MS PGothic" panose="020B0600070205080204" pitchFamily="34" charset="-128"/>
              <a:cs typeface="MS PGothic" panose="020B0600070205080204" pitchFamily="34" charset="-128"/>
            </a:endParaRPr>
          </a:p>
          <a:p>
            <a:pPr marL="460375" lvl="1" indent="-230505">
              <a:buClr>
                <a:srgbClr val="000099"/>
              </a:buClr>
              <a:buSzTx/>
              <a:buFont typeface="Arial" panose="020B0604020202020204" pitchFamily="34" charset="0"/>
              <a:buChar char="•"/>
              <a:defRPr/>
            </a:pPr>
            <a:r>
              <a:rPr lang="en-US" sz="2400" dirty="0">
                <a:ea typeface="MS PGothic" panose="020B0600070205080204" pitchFamily="34" charset="-128"/>
                <a:cs typeface="MS PGothic" panose="020B0600070205080204" pitchFamily="34" charset="-128"/>
              </a:rPr>
              <a:t>query or reply</a:t>
            </a:r>
            <a:endParaRPr lang="en-US" sz="2400" dirty="0">
              <a:ea typeface="MS PGothic" panose="020B0600070205080204" pitchFamily="34" charset="-128"/>
              <a:cs typeface="MS PGothic" panose="020B0600070205080204" pitchFamily="34" charset="-128"/>
            </a:endParaRPr>
          </a:p>
          <a:p>
            <a:pPr marL="460375" lvl="1" indent="-230505">
              <a:buClr>
                <a:srgbClr val="000099"/>
              </a:buClr>
              <a:buSzTx/>
              <a:buFont typeface="Arial" panose="020B0604020202020204" pitchFamily="34" charset="0"/>
              <a:buChar char="•"/>
              <a:defRPr/>
            </a:pPr>
            <a:r>
              <a:rPr lang="en-US" sz="2400" dirty="0">
                <a:ea typeface="MS PGothic" panose="020B0600070205080204" pitchFamily="34" charset="-128"/>
                <a:cs typeface="MS PGothic" panose="020B0600070205080204" pitchFamily="34" charset="-128"/>
              </a:rPr>
              <a:t>recursion desired </a:t>
            </a:r>
            <a:endParaRPr lang="en-US" sz="2400" dirty="0">
              <a:ea typeface="MS PGothic" panose="020B0600070205080204" pitchFamily="34" charset="-128"/>
              <a:cs typeface="MS PGothic" panose="020B0600070205080204" pitchFamily="34" charset="-128"/>
            </a:endParaRPr>
          </a:p>
          <a:p>
            <a:pPr marL="460375" lvl="1" indent="-230505">
              <a:buClr>
                <a:srgbClr val="000099"/>
              </a:buClr>
              <a:buSzTx/>
              <a:buFont typeface="Arial" panose="020B0604020202020204" pitchFamily="34" charset="0"/>
              <a:buChar char="•"/>
              <a:defRPr/>
            </a:pPr>
            <a:r>
              <a:rPr lang="en-US" sz="2400" dirty="0">
                <a:ea typeface="MS PGothic" panose="020B0600070205080204" pitchFamily="34" charset="-128"/>
                <a:cs typeface="MS PGothic" panose="020B0600070205080204" pitchFamily="34" charset="-128"/>
              </a:rPr>
              <a:t>recursion available</a:t>
            </a:r>
            <a:endParaRPr lang="en-US" sz="2400" dirty="0">
              <a:ea typeface="MS PGothic" panose="020B0600070205080204" pitchFamily="34" charset="-128"/>
              <a:cs typeface="MS PGothic" panose="020B0600070205080204" pitchFamily="34" charset="-128"/>
            </a:endParaRPr>
          </a:p>
          <a:p>
            <a:pPr marL="460375" lvl="1" indent="-230505">
              <a:buClr>
                <a:srgbClr val="000099"/>
              </a:buClr>
              <a:buSzTx/>
              <a:buFont typeface="Arial" panose="020B0604020202020204" pitchFamily="34" charset="0"/>
              <a:buChar char="•"/>
              <a:defRPr/>
            </a:pPr>
            <a:r>
              <a:rPr lang="en-US" sz="2400" dirty="0">
                <a:ea typeface="MS PGothic" panose="020B0600070205080204" pitchFamily="34" charset="-128"/>
                <a:cs typeface="MS PGothic" panose="020B0600070205080204" pitchFamily="34" charset="-128"/>
              </a:rPr>
              <a:t>reply is authoritative</a:t>
            </a:r>
            <a:endParaRPr lang="en-US" sz="2400" dirty="0">
              <a:ea typeface="MS PGothic" panose="020B0600070205080204" pitchFamily="34" charset="-128"/>
              <a:cs typeface="MS PGothic" panose="020B0600070205080204" pitchFamily="34" charset="-128"/>
            </a:endParaRPr>
          </a:p>
        </p:txBody>
      </p:sp>
      <p:grpSp>
        <p:nvGrpSpPr>
          <p:cNvPr id="12" name="Group 36"/>
          <p:cNvGrpSpPr/>
          <p:nvPr/>
        </p:nvGrpSpPr>
        <p:grpSpPr bwMode="auto">
          <a:xfrm>
            <a:off x="6272212" y="2258439"/>
            <a:ext cx="3725863" cy="4184650"/>
            <a:chOff x="2672" y="1396"/>
            <a:chExt cx="2347" cy="2636"/>
          </a:xfrm>
        </p:grpSpPr>
        <p:sp>
          <p:nvSpPr>
            <p:cNvPr id="16" name="Rectangle 33"/>
            <p:cNvSpPr>
              <a:spLocks noChangeArrowheads="1"/>
            </p:cNvSpPr>
            <p:nvPr/>
          </p:nvSpPr>
          <p:spPr bwMode="auto">
            <a:xfrm>
              <a:off x="2742" y="1396"/>
              <a:ext cx="2277" cy="2585"/>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20" name="Rectangle 12"/>
            <p:cNvSpPr>
              <a:spLocks noChangeArrowheads="1"/>
            </p:cNvSpPr>
            <p:nvPr/>
          </p:nvSpPr>
          <p:spPr bwMode="auto">
            <a:xfrm>
              <a:off x="2688" y="1447"/>
              <a:ext cx="2277" cy="2585"/>
            </a:xfrm>
            <a:prstGeom prst="rect">
              <a:avLst/>
            </a:prstGeom>
            <a:solidFill>
              <a:schemeClr val="bg1"/>
            </a:solidFill>
            <a:ln w="19050">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21" name="Line 13"/>
            <p:cNvSpPr>
              <a:spLocks noChangeShapeType="1"/>
            </p:cNvSpPr>
            <p:nvPr/>
          </p:nvSpPr>
          <p:spPr bwMode="auto">
            <a:xfrm>
              <a:off x="2681" y="3606"/>
              <a:ext cx="229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2" name="Line 14"/>
            <p:cNvSpPr>
              <a:spLocks noChangeShapeType="1"/>
            </p:cNvSpPr>
            <p:nvPr/>
          </p:nvSpPr>
          <p:spPr bwMode="auto">
            <a:xfrm>
              <a:off x="2688" y="3174"/>
              <a:ext cx="229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3" name="Line 15"/>
            <p:cNvSpPr>
              <a:spLocks noChangeShapeType="1"/>
            </p:cNvSpPr>
            <p:nvPr/>
          </p:nvSpPr>
          <p:spPr bwMode="auto">
            <a:xfrm>
              <a:off x="2681" y="2742"/>
              <a:ext cx="229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4" name="Line 16"/>
            <p:cNvSpPr>
              <a:spLocks noChangeShapeType="1"/>
            </p:cNvSpPr>
            <p:nvPr/>
          </p:nvSpPr>
          <p:spPr bwMode="auto">
            <a:xfrm>
              <a:off x="2681" y="2317"/>
              <a:ext cx="229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5" name="Line 17"/>
            <p:cNvSpPr>
              <a:spLocks noChangeShapeType="1"/>
            </p:cNvSpPr>
            <p:nvPr/>
          </p:nvSpPr>
          <p:spPr bwMode="auto">
            <a:xfrm>
              <a:off x="2680" y="2029"/>
              <a:ext cx="229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6" name="Line 18"/>
            <p:cNvSpPr>
              <a:spLocks noChangeShapeType="1"/>
            </p:cNvSpPr>
            <p:nvPr/>
          </p:nvSpPr>
          <p:spPr bwMode="auto">
            <a:xfrm>
              <a:off x="2672" y="1745"/>
              <a:ext cx="229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7" name="Line 19"/>
            <p:cNvSpPr>
              <a:spLocks noChangeShapeType="1"/>
            </p:cNvSpPr>
            <p:nvPr/>
          </p:nvSpPr>
          <p:spPr bwMode="auto">
            <a:xfrm>
              <a:off x="3826" y="1454"/>
              <a:ext cx="2" cy="85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8" name="Text Box 20"/>
            <p:cNvSpPr txBox="1">
              <a:spLocks noChangeArrowheads="1"/>
            </p:cNvSpPr>
            <p:nvPr/>
          </p:nvSpPr>
          <p:spPr bwMode="auto">
            <a:xfrm>
              <a:off x="2842" y="1492"/>
              <a:ext cx="82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identification</a:t>
              </a:r>
              <a:endParaRPr lang="en-US" altLang="en-US" sz="1600"/>
            </a:p>
          </p:txBody>
        </p:sp>
        <p:sp>
          <p:nvSpPr>
            <p:cNvPr id="29" name="Text Box 21"/>
            <p:cNvSpPr txBox="1">
              <a:spLocks noChangeArrowheads="1"/>
            </p:cNvSpPr>
            <p:nvPr/>
          </p:nvSpPr>
          <p:spPr bwMode="auto">
            <a:xfrm>
              <a:off x="4180" y="1492"/>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flags</a:t>
              </a:r>
              <a:endParaRPr lang="en-US" altLang="en-US" sz="1600"/>
            </a:p>
          </p:txBody>
        </p:sp>
        <p:sp>
          <p:nvSpPr>
            <p:cNvPr id="30" name="Text Box 22"/>
            <p:cNvSpPr txBox="1">
              <a:spLocks noChangeArrowheads="1"/>
            </p:cNvSpPr>
            <p:nvPr/>
          </p:nvSpPr>
          <p:spPr bwMode="auto">
            <a:xfrm>
              <a:off x="2862" y="1780"/>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 questions</a:t>
              </a:r>
              <a:endParaRPr lang="en-US" altLang="en-US" sz="1600"/>
            </a:p>
          </p:txBody>
        </p:sp>
        <p:sp>
          <p:nvSpPr>
            <p:cNvPr id="31" name="Text Box 23"/>
            <p:cNvSpPr txBox="1">
              <a:spLocks noChangeArrowheads="1"/>
            </p:cNvSpPr>
            <p:nvPr/>
          </p:nvSpPr>
          <p:spPr bwMode="auto">
            <a:xfrm>
              <a:off x="2789" y="2417"/>
              <a:ext cx="206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questions (variable # of questions)</a:t>
              </a:r>
              <a:endParaRPr lang="en-US" altLang="en-US" sz="1600"/>
            </a:p>
          </p:txBody>
        </p:sp>
        <p:sp>
          <p:nvSpPr>
            <p:cNvPr id="32" name="Text Box 26"/>
            <p:cNvSpPr txBox="1">
              <a:spLocks noChangeArrowheads="1"/>
            </p:cNvSpPr>
            <p:nvPr/>
          </p:nvSpPr>
          <p:spPr bwMode="auto">
            <a:xfrm>
              <a:off x="3866" y="2067"/>
              <a:ext cx="1053"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 additional RRs</a:t>
              </a:r>
              <a:endParaRPr lang="en-US" altLang="en-US" sz="1600"/>
            </a:p>
          </p:txBody>
        </p:sp>
        <p:sp>
          <p:nvSpPr>
            <p:cNvPr id="33" name="Text Box 27"/>
            <p:cNvSpPr txBox="1">
              <a:spLocks noChangeArrowheads="1"/>
            </p:cNvSpPr>
            <p:nvPr/>
          </p:nvSpPr>
          <p:spPr bwMode="auto">
            <a:xfrm>
              <a:off x="2762" y="2068"/>
              <a:ext cx="99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 authority RRs</a:t>
              </a:r>
              <a:endParaRPr lang="en-US" altLang="en-US" sz="1600"/>
            </a:p>
          </p:txBody>
        </p:sp>
        <p:sp>
          <p:nvSpPr>
            <p:cNvPr id="34" name="Text Box 28"/>
            <p:cNvSpPr txBox="1">
              <a:spLocks noChangeArrowheads="1"/>
            </p:cNvSpPr>
            <p:nvPr/>
          </p:nvSpPr>
          <p:spPr bwMode="auto">
            <a:xfrm>
              <a:off x="3928" y="1786"/>
              <a:ext cx="91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 answer RRs</a:t>
              </a:r>
              <a:endParaRPr lang="en-US" altLang="en-US" sz="1600"/>
            </a:p>
          </p:txBody>
        </p:sp>
        <p:sp>
          <p:nvSpPr>
            <p:cNvPr id="35" name="Text Box 30"/>
            <p:cNvSpPr txBox="1">
              <a:spLocks noChangeArrowheads="1"/>
            </p:cNvSpPr>
            <p:nvPr/>
          </p:nvSpPr>
          <p:spPr bwMode="auto">
            <a:xfrm>
              <a:off x="2983" y="2848"/>
              <a:ext cx="169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answers (variable # of RRs)</a:t>
              </a:r>
              <a:endParaRPr lang="en-US" altLang="en-US" sz="1600"/>
            </a:p>
          </p:txBody>
        </p:sp>
        <p:sp>
          <p:nvSpPr>
            <p:cNvPr id="36" name="Text Box 31"/>
            <p:cNvSpPr txBox="1">
              <a:spLocks noChangeArrowheads="1"/>
            </p:cNvSpPr>
            <p:nvPr/>
          </p:nvSpPr>
          <p:spPr bwMode="auto">
            <a:xfrm>
              <a:off x="3002" y="3280"/>
              <a:ext cx="171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authority (variable # of RRs)</a:t>
              </a:r>
              <a:endParaRPr lang="en-US" altLang="en-US" sz="1600"/>
            </a:p>
          </p:txBody>
        </p:sp>
        <p:sp>
          <p:nvSpPr>
            <p:cNvPr id="37" name="Text Box 32"/>
            <p:cNvSpPr txBox="1">
              <a:spLocks noChangeArrowheads="1"/>
            </p:cNvSpPr>
            <p:nvPr/>
          </p:nvSpPr>
          <p:spPr bwMode="auto">
            <a:xfrm>
              <a:off x="2811" y="3700"/>
              <a:ext cx="2007"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additional info (variable # of RRs)</a:t>
              </a:r>
              <a:endParaRPr lang="en-US" altLang="en-US" sz="1600"/>
            </a:p>
          </p:txBody>
        </p:sp>
      </p:grpSp>
      <p:sp>
        <p:nvSpPr>
          <p:cNvPr id="38" name="Line 34"/>
          <p:cNvSpPr>
            <a:spLocks noChangeShapeType="1"/>
          </p:cNvSpPr>
          <p:nvPr/>
        </p:nvSpPr>
        <p:spPr bwMode="auto">
          <a:xfrm flipV="1">
            <a:off x="3710672" y="2610864"/>
            <a:ext cx="2902854" cy="295274"/>
          </a:xfrm>
          <a:prstGeom prst="line">
            <a:avLst/>
          </a:prstGeom>
          <a:noFill/>
          <a:ln w="12700">
            <a:solidFill>
              <a:srgbClr val="CC0000"/>
            </a:solidFill>
            <a:round/>
          </a:ln>
          <a:extLst>
            <a:ext uri="{909E8E84-426E-40DD-AFC4-6F175D3DCCD1}">
              <a14:hiddenFill xmlns:a14="http://schemas.microsoft.com/office/drawing/2010/main">
                <a:noFill/>
              </a14:hiddenFill>
            </a:ext>
          </a:extLst>
        </p:spPr>
        <p:txBody>
          <a:bodyPr/>
          <a:lstStyle/>
          <a:p>
            <a:endParaRPr lang="en-US"/>
          </a:p>
        </p:txBody>
      </p:sp>
      <p:sp>
        <p:nvSpPr>
          <p:cNvPr id="39" name="Line 35"/>
          <p:cNvSpPr>
            <a:spLocks noChangeShapeType="1"/>
          </p:cNvSpPr>
          <p:nvPr/>
        </p:nvSpPr>
        <p:spPr bwMode="auto">
          <a:xfrm flipV="1">
            <a:off x="2352675" y="2590227"/>
            <a:ext cx="6383337" cy="1208088"/>
          </a:xfrm>
          <a:prstGeom prst="line">
            <a:avLst/>
          </a:prstGeom>
          <a:noFill/>
          <a:ln w="12700">
            <a:solidFill>
              <a:srgbClr val="CC0000"/>
            </a:solidFill>
            <a:round/>
          </a:ln>
          <a:extLst>
            <a:ext uri="{909E8E84-426E-40DD-AFC4-6F175D3DCCD1}">
              <a14:hiddenFill xmlns:a14="http://schemas.microsoft.com/office/drawing/2010/main">
                <a:noFill/>
              </a14:hiddenFill>
            </a:ext>
          </a:extLst>
        </p:spPr>
        <p:txBody>
          <a:bodyPr/>
          <a:lstStyle/>
          <a:p>
            <a:endParaRPr lang="en-US"/>
          </a:p>
        </p:txBody>
      </p:sp>
      <p:grpSp>
        <p:nvGrpSpPr>
          <p:cNvPr id="40" name="Group 60"/>
          <p:cNvGrpSpPr/>
          <p:nvPr/>
        </p:nvGrpSpPr>
        <p:grpSpPr bwMode="auto">
          <a:xfrm>
            <a:off x="6302375" y="1937764"/>
            <a:ext cx="1747837" cy="274638"/>
            <a:chOff x="2691" y="1194"/>
            <a:chExt cx="1101" cy="173"/>
          </a:xfrm>
        </p:grpSpPr>
        <p:sp>
          <p:nvSpPr>
            <p:cNvPr id="41" name="Text Box 57"/>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200"/>
                <a:t>2 bytes</a:t>
              </a:r>
              <a:endParaRPr lang="en-US" altLang="en-US" sz="1200"/>
            </a:p>
          </p:txBody>
        </p:sp>
        <p:sp>
          <p:nvSpPr>
            <p:cNvPr id="42" name="Line 58"/>
            <p:cNvSpPr>
              <a:spLocks noChangeShapeType="1"/>
            </p:cNvSpPr>
            <p:nvPr/>
          </p:nvSpPr>
          <p:spPr bwMode="auto">
            <a:xfrm>
              <a:off x="3465" y="1284"/>
              <a:ext cx="327"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3" name="Line 59"/>
            <p:cNvSpPr>
              <a:spLocks noChangeShapeType="1"/>
            </p:cNvSpPr>
            <p:nvPr/>
          </p:nvSpPr>
          <p:spPr bwMode="auto">
            <a:xfrm flipH="1" flipV="1">
              <a:off x="2691" y="1284"/>
              <a:ext cx="327"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grpSp>
      <p:grpSp>
        <p:nvGrpSpPr>
          <p:cNvPr id="44" name="Group 61"/>
          <p:cNvGrpSpPr/>
          <p:nvPr/>
        </p:nvGrpSpPr>
        <p:grpSpPr bwMode="auto">
          <a:xfrm>
            <a:off x="8077200" y="1937764"/>
            <a:ext cx="1747837" cy="274638"/>
            <a:chOff x="2691" y="1194"/>
            <a:chExt cx="1101" cy="173"/>
          </a:xfrm>
        </p:grpSpPr>
        <p:sp>
          <p:nvSpPr>
            <p:cNvPr id="45" name="Text Box 62"/>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200"/>
                <a:t>2 bytes</a:t>
              </a:r>
              <a:endParaRPr lang="en-US" altLang="en-US" sz="1200"/>
            </a:p>
          </p:txBody>
        </p:sp>
        <p:sp>
          <p:nvSpPr>
            <p:cNvPr id="46" name="Line 63"/>
            <p:cNvSpPr>
              <a:spLocks noChangeShapeType="1"/>
            </p:cNvSpPr>
            <p:nvPr/>
          </p:nvSpPr>
          <p:spPr bwMode="auto">
            <a:xfrm>
              <a:off x="3465" y="1284"/>
              <a:ext cx="327"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7" name="Line 64"/>
            <p:cNvSpPr>
              <a:spLocks noChangeShapeType="1"/>
            </p:cNvSpPr>
            <p:nvPr/>
          </p:nvSpPr>
          <p:spPr bwMode="auto">
            <a:xfrm flipH="1" flipV="1">
              <a:off x="2691" y="1284"/>
              <a:ext cx="327"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0" name="Rectangle 3"/>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altLang="en-US" sz="3200" dirty="0">
                <a:ea typeface="MS PGothic" panose="020B0600070205080204" pitchFamily="34" charset="-128"/>
              </a:rPr>
              <a:t>DNS</a:t>
            </a:r>
            <a:r>
              <a:rPr lang="en-US" altLang="en-US" sz="3200" i="1" dirty="0">
                <a:ea typeface="MS PGothic" panose="020B0600070205080204" pitchFamily="34" charset="-128"/>
              </a:rPr>
              <a:t> </a:t>
            </a:r>
            <a:r>
              <a:rPr lang="en-US" altLang="en-US" sz="3200" i="1" dirty="0">
                <a:solidFill>
                  <a:srgbClr val="CC0000"/>
                </a:solidFill>
                <a:ea typeface="MS PGothic" panose="020B0600070205080204" pitchFamily="34" charset="-128"/>
              </a:rPr>
              <a:t>query</a:t>
            </a:r>
            <a:r>
              <a:rPr lang="en-US" altLang="en-US" sz="3200" dirty="0">
                <a:solidFill>
                  <a:srgbClr val="FF0000"/>
                </a:solidFill>
                <a:ea typeface="MS PGothic" panose="020B0600070205080204" pitchFamily="34" charset="-128"/>
              </a:rPr>
              <a:t> </a:t>
            </a:r>
            <a:r>
              <a:rPr lang="en-US" altLang="en-US" sz="3200" dirty="0">
                <a:ea typeface="MS PGothic" panose="020B0600070205080204" pitchFamily="34" charset="-128"/>
              </a:rPr>
              <a:t>and </a:t>
            </a:r>
            <a:r>
              <a:rPr lang="en-US" altLang="en-US" sz="3200" i="1" dirty="0">
                <a:solidFill>
                  <a:srgbClr val="CC0000"/>
                </a:solidFill>
                <a:ea typeface="MS PGothic" panose="020B0600070205080204" pitchFamily="34" charset="-128"/>
              </a:rPr>
              <a:t>reply</a:t>
            </a:r>
            <a:r>
              <a:rPr lang="en-US" altLang="en-US" sz="3200" dirty="0">
                <a:ea typeface="MS PGothic" panose="020B0600070205080204" pitchFamily="34" charset="-128"/>
              </a:rPr>
              <a:t> messages, both have same  </a:t>
            </a:r>
            <a:r>
              <a:rPr lang="en-US" altLang="en-US" sz="3200" i="1" dirty="0">
                <a:solidFill>
                  <a:srgbClr val="CC0000"/>
                </a:solidFill>
                <a:ea typeface="MS PGothic" panose="020B0600070205080204" pitchFamily="34" charset="-128"/>
              </a:rPr>
              <a:t>format:</a:t>
            </a:r>
            <a:endParaRPr lang="en-US" altLang="en-US" sz="3200" dirty="0">
              <a:solidFill>
                <a:srgbClr val="CC0000"/>
              </a:solidFill>
              <a:ea typeface="MS PGothic" panose="020B0600070205080204" pitchFamily="34" charset="-128"/>
            </a:endParaRPr>
          </a:p>
        </p:txBody>
      </p:sp>
      <p:grpSp>
        <p:nvGrpSpPr>
          <p:cNvPr id="12" name="Group 36"/>
          <p:cNvGrpSpPr/>
          <p:nvPr/>
        </p:nvGrpSpPr>
        <p:grpSpPr bwMode="auto">
          <a:xfrm>
            <a:off x="6272212" y="2258439"/>
            <a:ext cx="3725863" cy="4184650"/>
            <a:chOff x="2672" y="1396"/>
            <a:chExt cx="2347" cy="2636"/>
          </a:xfrm>
        </p:grpSpPr>
        <p:sp>
          <p:nvSpPr>
            <p:cNvPr id="16" name="Rectangle 33"/>
            <p:cNvSpPr>
              <a:spLocks noChangeArrowheads="1"/>
            </p:cNvSpPr>
            <p:nvPr/>
          </p:nvSpPr>
          <p:spPr bwMode="auto">
            <a:xfrm>
              <a:off x="2742" y="1396"/>
              <a:ext cx="2277" cy="2585"/>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20" name="Rectangle 12"/>
            <p:cNvSpPr>
              <a:spLocks noChangeArrowheads="1"/>
            </p:cNvSpPr>
            <p:nvPr/>
          </p:nvSpPr>
          <p:spPr bwMode="auto">
            <a:xfrm>
              <a:off x="2688" y="1447"/>
              <a:ext cx="2277" cy="2585"/>
            </a:xfrm>
            <a:prstGeom prst="rect">
              <a:avLst/>
            </a:prstGeom>
            <a:solidFill>
              <a:schemeClr val="bg1"/>
            </a:solidFill>
            <a:ln w="19050">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21" name="Line 13"/>
            <p:cNvSpPr>
              <a:spLocks noChangeShapeType="1"/>
            </p:cNvSpPr>
            <p:nvPr/>
          </p:nvSpPr>
          <p:spPr bwMode="auto">
            <a:xfrm>
              <a:off x="2681" y="3606"/>
              <a:ext cx="229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2" name="Line 14"/>
            <p:cNvSpPr>
              <a:spLocks noChangeShapeType="1"/>
            </p:cNvSpPr>
            <p:nvPr/>
          </p:nvSpPr>
          <p:spPr bwMode="auto">
            <a:xfrm>
              <a:off x="2688" y="3174"/>
              <a:ext cx="229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3" name="Line 15"/>
            <p:cNvSpPr>
              <a:spLocks noChangeShapeType="1"/>
            </p:cNvSpPr>
            <p:nvPr/>
          </p:nvSpPr>
          <p:spPr bwMode="auto">
            <a:xfrm>
              <a:off x="2681" y="2742"/>
              <a:ext cx="229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4" name="Line 16"/>
            <p:cNvSpPr>
              <a:spLocks noChangeShapeType="1"/>
            </p:cNvSpPr>
            <p:nvPr/>
          </p:nvSpPr>
          <p:spPr bwMode="auto">
            <a:xfrm>
              <a:off x="2681" y="2317"/>
              <a:ext cx="229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5" name="Line 17"/>
            <p:cNvSpPr>
              <a:spLocks noChangeShapeType="1"/>
            </p:cNvSpPr>
            <p:nvPr/>
          </p:nvSpPr>
          <p:spPr bwMode="auto">
            <a:xfrm>
              <a:off x="2680" y="2029"/>
              <a:ext cx="229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6" name="Line 18"/>
            <p:cNvSpPr>
              <a:spLocks noChangeShapeType="1"/>
            </p:cNvSpPr>
            <p:nvPr/>
          </p:nvSpPr>
          <p:spPr bwMode="auto">
            <a:xfrm>
              <a:off x="2672" y="1745"/>
              <a:ext cx="229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7" name="Line 19"/>
            <p:cNvSpPr>
              <a:spLocks noChangeShapeType="1"/>
            </p:cNvSpPr>
            <p:nvPr/>
          </p:nvSpPr>
          <p:spPr bwMode="auto">
            <a:xfrm>
              <a:off x="3826" y="1454"/>
              <a:ext cx="2" cy="85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8" name="Text Box 20"/>
            <p:cNvSpPr txBox="1">
              <a:spLocks noChangeArrowheads="1"/>
            </p:cNvSpPr>
            <p:nvPr/>
          </p:nvSpPr>
          <p:spPr bwMode="auto">
            <a:xfrm>
              <a:off x="2842" y="1492"/>
              <a:ext cx="82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identification</a:t>
              </a:r>
              <a:endParaRPr lang="en-US" altLang="en-US" sz="1600"/>
            </a:p>
          </p:txBody>
        </p:sp>
        <p:sp>
          <p:nvSpPr>
            <p:cNvPr id="29" name="Text Box 21"/>
            <p:cNvSpPr txBox="1">
              <a:spLocks noChangeArrowheads="1"/>
            </p:cNvSpPr>
            <p:nvPr/>
          </p:nvSpPr>
          <p:spPr bwMode="auto">
            <a:xfrm>
              <a:off x="4180" y="1492"/>
              <a:ext cx="38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flags</a:t>
              </a:r>
              <a:endParaRPr lang="en-US" altLang="en-US" sz="1600"/>
            </a:p>
          </p:txBody>
        </p:sp>
        <p:sp>
          <p:nvSpPr>
            <p:cNvPr id="30" name="Text Box 22"/>
            <p:cNvSpPr txBox="1">
              <a:spLocks noChangeArrowheads="1"/>
            </p:cNvSpPr>
            <p:nvPr/>
          </p:nvSpPr>
          <p:spPr bwMode="auto">
            <a:xfrm>
              <a:off x="2862" y="1780"/>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 questions</a:t>
              </a:r>
              <a:endParaRPr lang="en-US" altLang="en-US" sz="1600"/>
            </a:p>
          </p:txBody>
        </p:sp>
        <p:sp>
          <p:nvSpPr>
            <p:cNvPr id="31" name="Text Box 23"/>
            <p:cNvSpPr txBox="1">
              <a:spLocks noChangeArrowheads="1"/>
            </p:cNvSpPr>
            <p:nvPr/>
          </p:nvSpPr>
          <p:spPr bwMode="auto">
            <a:xfrm>
              <a:off x="2789" y="2417"/>
              <a:ext cx="206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questions (variable # of questions)</a:t>
              </a:r>
              <a:endParaRPr lang="en-US" altLang="en-US" sz="1600"/>
            </a:p>
          </p:txBody>
        </p:sp>
        <p:sp>
          <p:nvSpPr>
            <p:cNvPr id="32" name="Text Box 26"/>
            <p:cNvSpPr txBox="1">
              <a:spLocks noChangeArrowheads="1"/>
            </p:cNvSpPr>
            <p:nvPr/>
          </p:nvSpPr>
          <p:spPr bwMode="auto">
            <a:xfrm>
              <a:off x="3866" y="2067"/>
              <a:ext cx="1053"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 additional RRs</a:t>
              </a:r>
              <a:endParaRPr lang="en-US" altLang="en-US" sz="1600"/>
            </a:p>
          </p:txBody>
        </p:sp>
        <p:sp>
          <p:nvSpPr>
            <p:cNvPr id="33" name="Text Box 27"/>
            <p:cNvSpPr txBox="1">
              <a:spLocks noChangeArrowheads="1"/>
            </p:cNvSpPr>
            <p:nvPr/>
          </p:nvSpPr>
          <p:spPr bwMode="auto">
            <a:xfrm>
              <a:off x="2762" y="2068"/>
              <a:ext cx="99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 authority RRs</a:t>
              </a:r>
              <a:endParaRPr lang="en-US" altLang="en-US" sz="1600"/>
            </a:p>
          </p:txBody>
        </p:sp>
        <p:sp>
          <p:nvSpPr>
            <p:cNvPr id="34" name="Text Box 28"/>
            <p:cNvSpPr txBox="1">
              <a:spLocks noChangeArrowheads="1"/>
            </p:cNvSpPr>
            <p:nvPr/>
          </p:nvSpPr>
          <p:spPr bwMode="auto">
            <a:xfrm>
              <a:off x="3928" y="1786"/>
              <a:ext cx="91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 answer RRs</a:t>
              </a:r>
              <a:endParaRPr lang="en-US" altLang="en-US" sz="1600"/>
            </a:p>
          </p:txBody>
        </p:sp>
        <p:sp>
          <p:nvSpPr>
            <p:cNvPr id="35" name="Text Box 30"/>
            <p:cNvSpPr txBox="1">
              <a:spLocks noChangeArrowheads="1"/>
            </p:cNvSpPr>
            <p:nvPr/>
          </p:nvSpPr>
          <p:spPr bwMode="auto">
            <a:xfrm>
              <a:off x="2983" y="2848"/>
              <a:ext cx="169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answers (variable # of RRs)</a:t>
              </a:r>
              <a:endParaRPr lang="en-US" altLang="en-US" sz="1600"/>
            </a:p>
          </p:txBody>
        </p:sp>
        <p:sp>
          <p:nvSpPr>
            <p:cNvPr id="36" name="Text Box 31"/>
            <p:cNvSpPr txBox="1">
              <a:spLocks noChangeArrowheads="1"/>
            </p:cNvSpPr>
            <p:nvPr/>
          </p:nvSpPr>
          <p:spPr bwMode="auto">
            <a:xfrm>
              <a:off x="3002" y="3280"/>
              <a:ext cx="171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authority (variable # of RRs)</a:t>
              </a:r>
              <a:endParaRPr lang="en-US" altLang="en-US" sz="1600"/>
            </a:p>
          </p:txBody>
        </p:sp>
        <p:sp>
          <p:nvSpPr>
            <p:cNvPr id="37" name="Text Box 32"/>
            <p:cNvSpPr txBox="1">
              <a:spLocks noChangeArrowheads="1"/>
            </p:cNvSpPr>
            <p:nvPr/>
          </p:nvSpPr>
          <p:spPr bwMode="auto">
            <a:xfrm>
              <a:off x="2811" y="3700"/>
              <a:ext cx="2007"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t>additional info (variable # of RRs)</a:t>
              </a:r>
              <a:endParaRPr lang="en-US" altLang="en-US" sz="1600"/>
            </a:p>
          </p:txBody>
        </p:sp>
      </p:grpSp>
      <p:grpSp>
        <p:nvGrpSpPr>
          <p:cNvPr id="40" name="Group 60"/>
          <p:cNvGrpSpPr/>
          <p:nvPr/>
        </p:nvGrpSpPr>
        <p:grpSpPr bwMode="auto">
          <a:xfrm>
            <a:off x="6302375" y="1937764"/>
            <a:ext cx="1747837" cy="274638"/>
            <a:chOff x="2691" y="1194"/>
            <a:chExt cx="1101" cy="173"/>
          </a:xfrm>
        </p:grpSpPr>
        <p:sp>
          <p:nvSpPr>
            <p:cNvPr id="41" name="Text Box 57"/>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200"/>
                <a:t>2 bytes</a:t>
              </a:r>
              <a:endParaRPr lang="en-US" altLang="en-US" sz="1200"/>
            </a:p>
          </p:txBody>
        </p:sp>
        <p:sp>
          <p:nvSpPr>
            <p:cNvPr id="42" name="Line 58"/>
            <p:cNvSpPr>
              <a:spLocks noChangeShapeType="1"/>
            </p:cNvSpPr>
            <p:nvPr/>
          </p:nvSpPr>
          <p:spPr bwMode="auto">
            <a:xfrm>
              <a:off x="3465" y="1284"/>
              <a:ext cx="327"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3" name="Line 59"/>
            <p:cNvSpPr>
              <a:spLocks noChangeShapeType="1"/>
            </p:cNvSpPr>
            <p:nvPr/>
          </p:nvSpPr>
          <p:spPr bwMode="auto">
            <a:xfrm flipH="1" flipV="1">
              <a:off x="2691" y="1284"/>
              <a:ext cx="327"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grpSp>
      <p:grpSp>
        <p:nvGrpSpPr>
          <p:cNvPr id="44" name="Group 61"/>
          <p:cNvGrpSpPr/>
          <p:nvPr/>
        </p:nvGrpSpPr>
        <p:grpSpPr bwMode="auto">
          <a:xfrm>
            <a:off x="8077200" y="1937764"/>
            <a:ext cx="1747837" cy="274638"/>
            <a:chOff x="2691" y="1194"/>
            <a:chExt cx="1101" cy="173"/>
          </a:xfrm>
        </p:grpSpPr>
        <p:sp>
          <p:nvSpPr>
            <p:cNvPr id="45" name="Text Box 62"/>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200"/>
                <a:t>2 bytes</a:t>
              </a:r>
              <a:endParaRPr lang="en-US" altLang="en-US" sz="1200"/>
            </a:p>
          </p:txBody>
        </p:sp>
        <p:sp>
          <p:nvSpPr>
            <p:cNvPr id="46" name="Line 63"/>
            <p:cNvSpPr>
              <a:spLocks noChangeShapeType="1"/>
            </p:cNvSpPr>
            <p:nvPr/>
          </p:nvSpPr>
          <p:spPr bwMode="auto">
            <a:xfrm>
              <a:off x="3465" y="1284"/>
              <a:ext cx="327"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7" name="Line 64"/>
            <p:cNvSpPr>
              <a:spLocks noChangeShapeType="1"/>
            </p:cNvSpPr>
            <p:nvPr/>
          </p:nvSpPr>
          <p:spPr bwMode="auto">
            <a:xfrm flipH="1" flipV="1">
              <a:off x="2691" y="1284"/>
              <a:ext cx="327"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a:p>
          </p:txBody>
        </p:sp>
      </p:grpSp>
      <p:sp>
        <p:nvSpPr>
          <p:cNvPr id="48" name="Text Box 4"/>
          <p:cNvSpPr txBox="1">
            <a:spLocks noChangeArrowheads="1"/>
          </p:cNvSpPr>
          <p:nvPr/>
        </p:nvSpPr>
        <p:spPr bwMode="auto">
          <a:xfrm>
            <a:off x="1027795" y="3882482"/>
            <a:ext cx="3970338"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r">
              <a:lnSpc>
                <a:spcPct val="85000"/>
              </a:lnSpc>
              <a:spcBef>
                <a:spcPct val="0"/>
              </a:spcBef>
              <a:buClrTx/>
              <a:buSzTx/>
              <a:buFontTx/>
              <a:buNone/>
            </a:pPr>
            <a:r>
              <a:rPr lang="en-US" altLang="en-US" sz="2400" dirty="0">
                <a:latin typeface="+mn-lt"/>
              </a:rPr>
              <a:t>name, type fields for a query</a:t>
            </a:r>
            <a:endParaRPr lang="en-US" altLang="en-US" sz="2800" dirty="0">
              <a:latin typeface="+mn-lt"/>
            </a:endParaRPr>
          </a:p>
        </p:txBody>
      </p:sp>
      <p:sp>
        <p:nvSpPr>
          <p:cNvPr id="49" name="Text Box 5"/>
          <p:cNvSpPr txBox="1">
            <a:spLocks noChangeArrowheads="1"/>
          </p:cNvSpPr>
          <p:nvPr/>
        </p:nvSpPr>
        <p:spPr bwMode="auto">
          <a:xfrm>
            <a:off x="998138" y="4604794"/>
            <a:ext cx="400317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r">
              <a:lnSpc>
                <a:spcPct val="85000"/>
              </a:lnSpc>
              <a:spcBef>
                <a:spcPct val="0"/>
              </a:spcBef>
              <a:buClrTx/>
              <a:buSzTx/>
              <a:buFontTx/>
              <a:buNone/>
            </a:pPr>
            <a:r>
              <a:rPr lang="en-US" altLang="en-US" sz="2400" dirty="0">
                <a:latin typeface="+mn-lt"/>
              </a:rPr>
              <a:t>RRs in response to query</a:t>
            </a:r>
            <a:endParaRPr lang="en-US" altLang="en-US" sz="2800" dirty="0">
              <a:latin typeface="+mn-lt"/>
            </a:endParaRPr>
          </a:p>
        </p:txBody>
      </p:sp>
      <p:sp>
        <p:nvSpPr>
          <p:cNvPr id="50" name="Text Box 6"/>
          <p:cNvSpPr txBox="1">
            <a:spLocks noChangeArrowheads="1"/>
          </p:cNvSpPr>
          <p:nvPr/>
        </p:nvSpPr>
        <p:spPr bwMode="auto">
          <a:xfrm>
            <a:off x="217715" y="5271771"/>
            <a:ext cx="4801281"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r">
              <a:lnSpc>
                <a:spcPct val="85000"/>
              </a:lnSpc>
              <a:spcBef>
                <a:spcPct val="0"/>
              </a:spcBef>
              <a:buClrTx/>
              <a:buSzTx/>
              <a:buFontTx/>
              <a:buNone/>
            </a:pPr>
            <a:r>
              <a:rPr lang="en-US" altLang="en-US" sz="2400" dirty="0">
                <a:latin typeface="+mn-lt"/>
              </a:rPr>
              <a:t>records for authoritative servers</a:t>
            </a:r>
            <a:endParaRPr lang="en-US" altLang="en-US" sz="2800" dirty="0">
              <a:latin typeface="+mn-lt"/>
            </a:endParaRPr>
          </a:p>
        </p:txBody>
      </p:sp>
      <p:sp>
        <p:nvSpPr>
          <p:cNvPr id="51" name="Text Box 7"/>
          <p:cNvSpPr txBox="1">
            <a:spLocks noChangeArrowheads="1"/>
          </p:cNvSpPr>
          <p:nvPr/>
        </p:nvSpPr>
        <p:spPr bwMode="auto">
          <a:xfrm>
            <a:off x="399371" y="5790401"/>
            <a:ext cx="461440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r">
              <a:lnSpc>
                <a:spcPct val="85000"/>
              </a:lnSpc>
              <a:spcBef>
                <a:spcPct val="0"/>
              </a:spcBef>
              <a:buClrTx/>
              <a:buSzTx/>
              <a:buFontTx/>
              <a:buNone/>
            </a:pPr>
            <a:r>
              <a:rPr lang="en-US" altLang="en-US" sz="2400" dirty="0">
                <a:latin typeface="+mn-lt"/>
              </a:rPr>
              <a:t>additional “ </a:t>
            </a:r>
            <a:r>
              <a:rPr lang="en-US" altLang="ja-JP" sz="2400" dirty="0">
                <a:latin typeface="+mn-lt"/>
              </a:rPr>
              <a:t>helpful” </a:t>
            </a:r>
            <a:r>
              <a:rPr lang="en-US" altLang="en-US" sz="2400" dirty="0">
                <a:latin typeface="+mn-lt"/>
              </a:rPr>
              <a:t>info that may be used</a:t>
            </a:r>
            <a:endParaRPr lang="en-US" altLang="en-US" sz="2800" dirty="0">
              <a:latin typeface="+mn-lt"/>
            </a:endParaRPr>
          </a:p>
        </p:txBody>
      </p:sp>
      <p:sp>
        <p:nvSpPr>
          <p:cNvPr id="52" name="Line 37"/>
          <p:cNvSpPr>
            <a:spLocks noChangeShapeType="1"/>
          </p:cNvSpPr>
          <p:nvPr/>
        </p:nvSpPr>
        <p:spPr bwMode="auto">
          <a:xfrm flipH="1">
            <a:off x="5070475" y="6126704"/>
            <a:ext cx="1371600" cy="0"/>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endParaRPr lang="en-US" sz="2000"/>
          </a:p>
        </p:txBody>
      </p:sp>
      <p:sp>
        <p:nvSpPr>
          <p:cNvPr id="53" name="Line 38"/>
          <p:cNvSpPr>
            <a:spLocks noChangeShapeType="1"/>
          </p:cNvSpPr>
          <p:nvPr/>
        </p:nvSpPr>
        <p:spPr bwMode="auto">
          <a:xfrm flipH="1">
            <a:off x="5078413" y="5467891"/>
            <a:ext cx="1371600" cy="0"/>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endParaRPr lang="en-US" sz="2000"/>
          </a:p>
        </p:txBody>
      </p:sp>
      <p:sp>
        <p:nvSpPr>
          <p:cNvPr id="54" name="Line 39"/>
          <p:cNvSpPr>
            <a:spLocks noChangeShapeType="1"/>
          </p:cNvSpPr>
          <p:nvPr/>
        </p:nvSpPr>
        <p:spPr bwMode="auto">
          <a:xfrm flipH="1">
            <a:off x="5086350" y="4809079"/>
            <a:ext cx="1371600" cy="0"/>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endParaRPr lang="en-US" sz="2000"/>
          </a:p>
        </p:txBody>
      </p:sp>
      <p:sp>
        <p:nvSpPr>
          <p:cNvPr id="55" name="Line 40"/>
          <p:cNvSpPr>
            <a:spLocks noChangeShapeType="1"/>
          </p:cNvSpPr>
          <p:nvPr/>
        </p:nvSpPr>
        <p:spPr bwMode="auto">
          <a:xfrm flipH="1">
            <a:off x="5072063" y="4083591"/>
            <a:ext cx="1371600" cy="0"/>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endParaRPr lang="en-US" sz="2000"/>
          </a:p>
        </p:txBody>
      </p:sp>
      <p:sp>
        <p:nvSpPr>
          <p:cNvPr id="56" name="Title 1"/>
          <p:cNvSpPr>
            <a:spLocks noGrp="1"/>
          </p:cNvSpPr>
          <p:nvPr>
            <p:ph type="title"/>
          </p:nvPr>
        </p:nvSpPr>
        <p:spPr/>
        <p:txBody>
          <a:bodyPr>
            <a:normAutofit/>
          </a:bodyPr>
          <a:lstStyle/>
          <a:p>
            <a:r>
              <a:rPr lang="en-US" altLang="en-US" sz="4400" dirty="0">
                <a:ea typeface="MS PGothic" panose="020B0600070205080204" pitchFamily="34" charset="-128"/>
              </a:rPr>
              <a:t>DNS protocol messages</a:t>
            </a:r>
            <a:endParaRPr lang="en-US" sz="4400" dirty="0">
              <a:cs typeface="Calibri" panose="020F0502020204030204" pitchFamily="34" charset="0"/>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838200" y="362678"/>
            <a:ext cx="10515600" cy="894622"/>
          </a:xfrm>
        </p:spPr>
        <p:txBody>
          <a:bodyPr>
            <a:normAutofit/>
          </a:bodyPr>
          <a:lstStyle/>
          <a:p>
            <a:r>
              <a:rPr lang="en-US" altLang="en-US" sz="4400" dirty="0">
                <a:ea typeface="MS PGothic" panose="020B0600070205080204" pitchFamily="34" charset="-128"/>
              </a:rPr>
              <a:t>Inserting records into DNS</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56" name="Rectangle 4"/>
          <p:cNvSpPr txBox="1">
            <a:spLocks noChangeArrowheads="1"/>
          </p:cNvSpPr>
          <p:nvPr/>
        </p:nvSpPr>
        <p:spPr>
          <a:xfrm>
            <a:off x="838200" y="1404537"/>
            <a:ext cx="1025334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605" indent="0">
              <a:buNone/>
            </a:pPr>
            <a:r>
              <a:rPr lang="en-US" altLang="en-US" dirty="0">
                <a:ea typeface="MS PGothic" panose="020B0600070205080204" pitchFamily="34" charset="-128"/>
              </a:rPr>
              <a:t>Example: new startup “</a:t>
            </a:r>
            <a:r>
              <a:rPr lang="en-US" altLang="ja-JP" dirty="0">
                <a:ea typeface="MS PGothic" panose="020B0600070205080204" pitchFamily="34" charset="-128"/>
              </a:rPr>
              <a:t>Network Utopia”</a:t>
            </a:r>
            <a:endParaRPr lang="en-US" altLang="ja-JP" dirty="0">
              <a:ea typeface="MS PGothic" panose="020B0600070205080204" pitchFamily="34" charset="-128"/>
            </a:endParaRPr>
          </a:p>
          <a:p>
            <a:pPr indent="-295275"/>
            <a:r>
              <a:rPr lang="en-US" altLang="en-US" dirty="0">
                <a:ea typeface="MS PGothic" panose="020B0600070205080204" pitchFamily="34" charset="-128"/>
              </a:rPr>
              <a:t>register name </a:t>
            </a:r>
            <a:r>
              <a:rPr lang="en-US" altLang="en-US" dirty="0" err="1">
                <a:ea typeface="MS PGothic" panose="020B0600070205080204" pitchFamily="34" charset="-128"/>
              </a:rPr>
              <a:t>networkuptopia.com</a:t>
            </a:r>
            <a:r>
              <a:rPr lang="en-US" altLang="en-US" dirty="0">
                <a:ea typeface="MS PGothic" panose="020B0600070205080204" pitchFamily="34" charset="-128"/>
              </a:rPr>
              <a:t> at </a:t>
            </a:r>
            <a:r>
              <a:rPr lang="en-US" altLang="en-US" i="1" dirty="0">
                <a:solidFill>
                  <a:srgbClr val="CC0000"/>
                </a:solidFill>
                <a:ea typeface="MS PGothic" panose="020B0600070205080204" pitchFamily="34" charset="-128"/>
              </a:rPr>
              <a:t>DNS registrar</a:t>
            </a:r>
            <a:r>
              <a:rPr lang="en-US" altLang="en-US" dirty="0">
                <a:ea typeface="MS PGothic" panose="020B0600070205080204" pitchFamily="34" charset="-128"/>
              </a:rPr>
              <a:t> (e.g., Network Solutions)</a:t>
            </a:r>
            <a:endParaRPr lang="en-US" altLang="en-US" dirty="0">
              <a:ea typeface="MS PGothic" panose="020B0600070205080204" pitchFamily="34" charset="-128"/>
            </a:endParaRPr>
          </a:p>
          <a:p>
            <a:pPr lvl="1"/>
            <a:r>
              <a:rPr lang="en-US" altLang="en-US" dirty="0">
                <a:ea typeface="MS PGothic" panose="020B0600070205080204" pitchFamily="34" charset="-128"/>
              </a:rPr>
              <a:t>provide names, IP addresses of authoritative name server (primary and secondary)</a:t>
            </a:r>
            <a:endParaRPr lang="en-US" altLang="en-US" dirty="0">
              <a:ea typeface="MS PGothic" panose="020B0600070205080204" pitchFamily="34" charset="-128"/>
            </a:endParaRPr>
          </a:p>
          <a:p>
            <a:pPr lvl="1"/>
            <a:r>
              <a:rPr lang="en-US" altLang="en-US" dirty="0">
                <a:ea typeface="MS PGothic" panose="020B0600070205080204" pitchFamily="34" charset="-128"/>
              </a:rPr>
              <a:t>registrar inserts NS, A RRs into .com TLD server:</a:t>
            </a:r>
            <a:endParaRPr lang="en-US" altLang="en-US" sz="2800" dirty="0">
              <a:ea typeface="MS PGothic" panose="020B0600070205080204" pitchFamily="34" charset="-128"/>
            </a:endParaRPr>
          </a:p>
          <a:p>
            <a:pPr marL="463550" lvl="1" indent="0">
              <a:buNone/>
            </a:pPr>
            <a:r>
              <a:rPr lang="en-US" altLang="en-US" sz="2200" dirty="0">
                <a:latin typeface="Courier" pitchFamily="2" charset="0"/>
                <a:ea typeface="MS PGothic" panose="020B0600070205080204" pitchFamily="34" charset="-128"/>
              </a:rPr>
              <a:t> (</a:t>
            </a:r>
            <a:r>
              <a:rPr lang="en-US" altLang="en-US" sz="2200" dirty="0" err="1">
                <a:latin typeface="Courier" pitchFamily="2" charset="0"/>
                <a:ea typeface="MS PGothic" panose="020B0600070205080204" pitchFamily="34" charset="-128"/>
              </a:rPr>
              <a:t>networkutopia.com</a:t>
            </a:r>
            <a:r>
              <a:rPr lang="en-US" altLang="en-US" sz="2200" dirty="0">
                <a:latin typeface="Courier" pitchFamily="2" charset="0"/>
                <a:ea typeface="MS PGothic" panose="020B0600070205080204" pitchFamily="34" charset="-128"/>
              </a:rPr>
              <a:t>, dns1.networkutopia.com, NS)</a:t>
            </a:r>
            <a:endParaRPr lang="en-US" altLang="en-US" sz="2200" dirty="0">
              <a:latin typeface="Courier" pitchFamily="2" charset="0"/>
              <a:ea typeface="MS PGothic" panose="020B0600070205080204" pitchFamily="34" charset="-128"/>
            </a:endParaRPr>
          </a:p>
          <a:p>
            <a:pPr lvl="1">
              <a:buFont typeface="Wingdings" panose="05000000000000000000" pitchFamily="2" charset="2"/>
              <a:buNone/>
            </a:pPr>
            <a:r>
              <a:rPr lang="en-US" altLang="en-US" sz="2200" dirty="0">
                <a:latin typeface="Courier" pitchFamily="2" charset="0"/>
                <a:ea typeface="MS PGothic" panose="020B0600070205080204" pitchFamily="34" charset="-128"/>
              </a:rPr>
              <a:t> (dns1.networkutopia.com, 212.212.212.1, A)</a:t>
            </a:r>
            <a:endParaRPr lang="en-US" altLang="en-US" sz="2200" dirty="0">
              <a:solidFill>
                <a:schemeClr val="accent2"/>
              </a:solidFill>
              <a:latin typeface="Courier" pitchFamily="2" charset="0"/>
              <a:ea typeface="MS PGothic" panose="020B0600070205080204" pitchFamily="34" charset="-128"/>
            </a:endParaRPr>
          </a:p>
          <a:p>
            <a:pPr indent="-295275"/>
            <a:r>
              <a:rPr lang="en-US" altLang="en-US" dirty="0">
                <a:ea typeface="MS PGothic" panose="020B0600070205080204" pitchFamily="34" charset="-128"/>
              </a:rPr>
              <a:t>create authoritative server locally with IP address </a:t>
            </a:r>
            <a:r>
              <a:rPr lang="en-US" altLang="en-US" sz="2000" dirty="0">
                <a:latin typeface="Courier" pitchFamily="2" charset="0"/>
                <a:ea typeface="MS PGothic" panose="020B0600070205080204" pitchFamily="34" charset="-128"/>
              </a:rPr>
              <a:t>212.212.212.1</a:t>
            </a:r>
            <a:endParaRPr lang="en-US" altLang="en-US" sz="2000" dirty="0">
              <a:ea typeface="MS PGothic" panose="020B0600070205080204" pitchFamily="34" charset="-128"/>
            </a:endParaRPr>
          </a:p>
          <a:p>
            <a:pPr lvl="1" indent="-295275"/>
            <a:r>
              <a:rPr lang="en-US" altLang="en-US" dirty="0">
                <a:ea typeface="MS PGothic" panose="020B0600070205080204" pitchFamily="34" charset="-128"/>
              </a:rPr>
              <a:t>type A record for www.networkuptopia.com</a:t>
            </a:r>
            <a:endParaRPr lang="en-US" altLang="en-US" dirty="0">
              <a:ea typeface="MS PGothic" panose="020B0600070205080204" pitchFamily="34" charset="-128"/>
            </a:endParaRPr>
          </a:p>
          <a:p>
            <a:pPr lvl="1" indent="-295275"/>
            <a:r>
              <a:rPr lang="en-US" altLang="en-US" dirty="0">
                <a:ea typeface="MS PGothic" panose="020B0600070205080204" pitchFamily="34" charset="-128"/>
              </a:rPr>
              <a:t>type MX record for </a:t>
            </a:r>
            <a:r>
              <a:rPr lang="en-US" altLang="en-US" dirty="0" err="1">
                <a:ea typeface="MS PGothic" panose="020B0600070205080204" pitchFamily="34" charset="-128"/>
              </a:rPr>
              <a:t>networkutopia.com</a:t>
            </a:r>
            <a:endParaRPr lang="en-US" altLang="en-US" dirty="0">
              <a:ea typeface="MS PGothic" panose="020B0600070205080204" pitchFamily="34" charset="-128"/>
            </a:endParaRPr>
          </a:p>
          <a:p>
            <a:pPr>
              <a:lnSpc>
                <a:spcPct val="80000"/>
              </a:lnSpc>
              <a:buFont typeface="Wingdings" panose="05000000000000000000" pitchFamily="2" charset="2"/>
              <a:buNone/>
            </a:pPr>
            <a:endParaRPr lang="en-US" altLang="en-US" dirty="0">
              <a:ea typeface="MS PGothic" panose="020B0600070205080204" pitchFamily="34" charset="-128"/>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838200" y="362678"/>
            <a:ext cx="10515600" cy="894622"/>
          </a:xfrm>
        </p:spPr>
        <p:txBody>
          <a:bodyPr>
            <a:normAutofit/>
          </a:bodyPr>
          <a:lstStyle/>
          <a:p>
            <a:r>
              <a:rPr lang="en-US" altLang="en-US" sz="4400" dirty="0">
                <a:ea typeface="MS PGothic" panose="020B0600070205080204" pitchFamily="34" charset="-128"/>
              </a:rPr>
              <a:t>DNS security</a:t>
            </a:r>
            <a:endParaRPr lang="en-US" sz="4400" dirty="0">
              <a:cs typeface="Calibri" panose="020F0502020204030204" pitchFamily="34" charset="0"/>
            </a:endParaRPr>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5" name="Content Placeholder 5"/>
          <p:cNvSpPr txBox="1"/>
          <p:nvPr/>
        </p:nvSpPr>
        <p:spPr>
          <a:xfrm>
            <a:off x="838200" y="1526094"/>
            <a:ext cx="502557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605" indent="0">
              <a:buFont typeface="Wingdings" panose="05000000000000000000" pitchFamily="2" charset="2"/>
              <a:buNone/>
            </a:pPr>
            <a:r>
              <a:rPr lang="en-US" altLang="en-US" sz="3200" dirty="0">
                <a:solidFill>
                  <a:srgbClr val="22228B"/>
                </a:solidFill>
                <a:ea typeface="MS PGothic" panose="020B0600070205080204" pitchFamily="34" charset="-128"/>
              </a:rPr>
              <a:t>DDoS attacks</a:t>
            </a:r>
            <a:endParaRPr lang="en-US" altLang="en-US" sz="3200" dirty="0">
              <a:solidFill>
                <a:srgbClr val="22228B"/>
              </a:solidFill>
              <a:ea typeface="MS PGothic" panose="020B0600070205080204" pitchFamily="34" charset="-128"/>
            </a:endParaRPr>
          </a:p>
          <a:p>
            <a:r>
              <a:rPr lang="en-US" altLang="en-US" dirty="0">
                <a:ea typeface="MS PGothic" panose="020B0600070205080204" pitchFamily="34" charset="-128"/>
              </a:rPr>
              <a:t>bombard root servers with traffic</a:t>
            </a:r>
            <a:endParaRPr lang="en-US" altLang="en-US" dirty="0">
              <a:ea typeface="MS PGothic" panose="020B0600070205080204" pitchFamily="34" charset="-128"/>
            </a:endParaRPr>
          </a:p>
          <a:p>
            <a:pPr marL="574675" lvl="1" indent="-227330"/>
            <a:r>
              <a:rPr lang="en-US" altLang="en-US" dirty="0">
                <a:ea typeface="MS PGothic" panose="020B0600070205080204" pitchFamily="34" charset="-128"/>
              </a:rPr>
              <a:t>not successful to date</a:t>
            </a:r>
            <a:endParaRPr lang="en-US" altLang="en-US" dirty="0">
              <a:ea typeface="MS PGothic" panose="020B0600070205080204" pitchFamily="34" charset="-128"/>
            </a:endParaRPr>
          </a:p>
          <a:p>
            <a:pPr marL="574675" lvl="1" indent="-227330"/>
            <a:r>
              <a:rPr lang="en-US" altLang="en-US" dirty="0">
                <a:ea typeface="MS PGothic" panose="020B0600070205080204" pitchFamily="34" charset="-128"/>
              </a:rPr>
              <a:t>traffic filtering</a:t>
            </a:r>
            <a:endParaRPr lang="en-US" altLang="en-US" dirty="0">
              <a:ea typeface="MS PGothic" panose="020B0600070205080204" pitchFamily="34" charset="-128"/>
            </a:endParaRPr>
          </a:p>
          <a:p>
            <a:pPr marL="574675" lvl="1" indent="-227330"/>
            <a:r>
              <a:rPr lang="en-US" altLang="en-US" dirty="0">
                <a:ea typeface="MS PGothic" panose="020B0600070205080204" pitchFamily="34" charset="-128"/>
              </a:rPr>
              <a:t>local DNS servers cache IPs of TLD servers, allowing root server bypass</a:t>
            </a:r>
            <a:endParaRPr lang="en-US" altLang="en-US" dirty="0">
              <a:ea typeface="MS PGothic" panose="020B0600070205080204" pitchFamily="34" charset="-128"/>
            </a:endParaRPr>
          </a:p>
          <a:p>
            <a:r>
              <a:rPr lang="en-US" altLang="en-US" dirty="0">
                <a:ea typeface="MS PGothic" panose="020B0600070205080204" pitchFamily="34" charset="-128"/>
              </a:rPr>
              <a:t>bombard TLD servers</a:t>
            </a:r>
            <a:endParaRPr lang="en-US" altLang="en-US" dirty="0">
              <a:ea typeface="MS PGothic" panose="020B0600070205080204" pitchFamily="34" charset="-128"/>
            </a:endParaRPr>
          </a:p>
          <a:p>
            <a:pPr marL="574675" lvl="1" indent="-227330"/>
            <a:r>
              <a:rPr lang="en-US" altLang="en-US" dirty="0">
                <a:ea typeface="MS PGothic" panose="020B0600070205080204" pitchFamily="34" charset="-128"/>
              </a:rPr>
              <a:t>potentially more dangerous</a:t>
            </a:r>
            <a:endParaRPr lang="en-US" altLang="en-US" dirty="0">
              <a:ea typeface="MS PGothic" panose="020B0600070205080204" pitchFamily="34" charset="-128"/>
            </a:endParaRPr>
          </a:p>
          <a:p>
            <a:pPr>
              <a:buFont typeface="Comic Sans MS" panose="030F0702030302020204" pitchFamily="66" charset="0"/>
              <a:buAutoNum type="arabicPeriod"/>
            </a:pPr>
            <a:endParaRPr lang="en-US" altLang="en-US" dirty="0">
              <a:latin typeface="Gill Sans MT" panose="020B0502020104020203" pitchFamily="34" charset="77"/>
              <a:ea typeface="MS PGothic" panose="020B0600070205080204" pitchFamily="34" charset="-128"/>
            </a:endParaRPr>
          </a:p>
        </p:txBody>
      </p:sp>
      <p:sp>
        <p:nvSpPr>
          <p:cNvPr id="7" name="Content Placeholder 6"/>
          <p:cNvSpPr txBox="1"/>
          <p:nvPr/>
        </p:nvSpPr>
        <p:spPr bwMode="auto">
          <a:xfrm>
            <a:off x="6096000" y="1526094"/>
            <a:ext cx="4760686"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MS PGothic" panose="020B0600070205080204" pitchFamily="34" charset="-128"/>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anose="020B0502020104020203" pitchFamily="34" charset="0"/>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sz="1800">
                <a:solidFill>
                  <a:schemeClr val="tx1"/>
                </a:solidFill>
                <a:latin typeface="Times New Roman" panose="02020603050405020304" pitchFamily="18" charset="0"/>
                <a:ea typeface="MS PGothic" panose="020B0600070205080204" pitchFamily="34" charset="-128"/>
              </a:defRPr>
            </a:lvl4pPr>
            <a:lvl5pPr marL="2057400" indent="-228600" algn="l" rtl="0" eaLnBrk="0" fontAlgn="base" hangingPunct="0">
              <a:spcBef>
                <a:spcPct val="20000"/>
              </a:spcBef>
              <a:spcAft>
                <a:spcPct val="0"/>
              </a:spcAft>
              <a:buChar char="»"/>
              <a:defRPr sz="1800">
                <a:solidFill>
                  <a:schemeClr val="tx1"/>
                </a:solidFill>
                <a:latin typeface="Times New Roman" panose="02020603050405020304" pitchFamily="18" charset="0"/>
                <a:ea typeface="MS PGothic" panose="020B0600070205080204" pitchFamily="34" charset="-128"/>
              </a:defRPr>
            </a:lvl5pPr>
            <a:lvl6pPr marL="25146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9pPr>
          </a:lstStyle>
          <a:p>
            <a:pPr marL="14605" marR="0" lvl="0" indent="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None/>
              <a:defRPr/>
            </a:pPr>
            <a:r>
              <a:rPr lang="en-US" sz="3200" kern="0" dirty="0">
                <a:solidFill>
                  <a:srgbClr val="2D2DB9">
                    <a:lumMod val="75000"/>
                  </a:srgbClr>
                </a:solidFill>
                <a:latin typeface="+mn-lt"/>
              </a:rPr>
              <a:t>R</a:t>
            </a:r>
            <a:r>
              <a:rPr kumimoji="0" lang="en-US" sz="3200" b="0" i="0" u="none" strike="noStrike" kern="0" cap="none" spc="0" normalizeH="0" baseline="0" noProof="0" dirty="0" err="1">
                <a:ln>
                  <a:noFill/>
                </a:ln>
                <a:solidFill>
                  <a:srgbClr val="2D2DB9">
                    <a:lumMod val="75000"/>
                  </a:srgbClr>
                </a:solidFill>
                <a:effectLst/>
                <a:uLnTx/>
                <a:uFillTx/>
                <a:latin typeface="+mn-lt"/>
                <a:ea typeface="MS PGothic" panose="020B0600070205080204" pitchFamily="34" charset="-128"/>
              </a:rPr>
              <a:t>edirect</a:t>
            </a:r>
            <a:r>
              <a:rPr kumimoji="0" lang="en-US" sz="3200" b="0" i="0" u="none" strike="noStrike" kern="0" cap="none" spc="0" normalizeH="0" baseline="0" noProof="0" dirty="0">
                <a:ln>
                  <a:noFill/>
                </a:ln>
                <a:solidFill>
                  <a:srgbClr val="2D2DB9">
                    <a:lumMod val="75000"/>
                  </a:srgbClr>
                </a:solidFill>
                <a:effectLst/>
                <a:uLnTx/>
                <a:uFillTx/>
                <a:latin typeface="+mn-lt"/>
                <a:ea typeface="MS PGothic" panose="020B0600070205080204" pitchFamily="34" charset="-128"/>
              </a:rPr>
              <a:t> attacks</a:t>
            </a:r>
            <a:endParaRPr kumimoji="0" lang="en-US" sz="3200" b="0" i="0" u="none" strike="noStrike" kern="0" cap="none" spc="0" normalizeH="0" baseline="0" noProof="0" dirty="0">
              <a:ln>
                <a:noFill/>
              </a:ln>
              <a:solidFill>
                <a:srgbClr val="2D2DB9">
                  <a:lumMod val="75000"/>
                </a:srgbClr>
              </a:solidFill>
              <a:effectLst/>
              <a:uLnTx/>
              <a:uFillTx/>
              <a:latin typeface="+mn-lt"/>
              <a:ea typeface="MS PGothic" panose="020B0600070205080204" pitchFamily="34" charset="-128"/>
            </a:endParaRPr>
          </a:p>
          <a:p>
            <a:pPr marR="0" lvl="0" indent="-28575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dirty="0">
                <a:ln>
                  <a:noFill/>
                </a:ln>
                <a:solidFill>
                  <a:srgbClr val="000000"/>
                </a:solidFill>
                <a:effectLst/>
                <a:uLnTx/>
                <a:uFillTx/>
                <a:latin typeface="+mn-lt"/>
                <a:ea typeface="MS PGothic" panose="020B0600070205080204" pitchFamily="34" charset="-128"/>
              </a:rPr>
              <a:t>man-in-middle</a:t>
            </a:r>
            <a:endParaRPr kumimoji="0" lang="en-US" sz="2800" b="0" i="0" u="none" strike="noStrike" kern="0" cap="none" spc="0" normalizeH="0" baseline="0" noProof="0" dirty="0">
              <a:ln>
                <a:noFill/>
              </a:ln>
              <a:solidFill>
                <a:srgbClr val="000000"/>
              </a:solidFill>
              <a:effectLst/>
              <a:uLnTx/>
              <a:uFillTx/>
              <a:latin typeface="+mn-lt"/>
              <a:ea typeface="MS PGothic" panose="020B0600070205080204" pitchFamily="34" charset="-128"/>
            </a:endParaRPr>
          </a:p>
          <a:p>
            <a:pPr marL="692150" marR="0" lvl="1" indent="-234950" algn="l" defTabSz="914400" rtl="0" eaLnBrk="0" fontAlgn="base" latinLnBrk="0" hangingPunct="0">
              <a:lnSpc>
                <a:spcPct val="85000"/>
              </a:lnSpc>
              <a:spcBef>
                <a:spcPct val="20000"/>
              </a:spcBef>
              <a:spcAft>
                <a:spcPct val="0"/>
              </a:spcAft>
              <a:buClr>
                <a:srgbClr val="000099"/>
              </a:buClr>
              <a:buSzTx/>
              <a:buFont typeface="Arial" panose="020B0604020202020204"/>
              <a:buChar char="•"/>
              <a:defRPr/>
            </a:pPr>
            <a:r>
              <a:rPr lang="en-US" kern="0" dirty="0" err="1">
                <a:solidFill>
                  <a:srgbClr val="000000"/>
                </a:solidFill>
                <a:latin typeface="+mn-lt"/>
              </a:rPr>
              <a:t>i</a:t>
            </a:r>
            <a:r>
              <a:rPr kumimoji="0" lang="en-US" sz="2400" b="0" i="0" u="none" strike="noStrike" kern="0" cap="none" spc="0" normalizeH="0" baseline="0" noProof="0" dirty="0" err="1">
                <a:ln>
                  <a:noFill/>
                </a:ln>
                <a:solidFill>
                  <a:srgbClr val="000000"/>
                </a:solidFill>
                <a:effectLst/>
                <a:uLnTx/>
                <a:uFillTx/>
                <a:latin typeface="+mn-lt"/>
                <a:ea typeface="MS PGothic" panose="020B0600070205080204" pitchFamily="34" charset="-128"/>
              </a:rPr>
              <a:t>ntercept</a:t>
            </a:r>
            <a:r>
              <a:rPr kumimoji="0" lang="en-US" sz="2400" b="0" i="0" u="none" strike="noStrike" kern="0" cap="none" spc="0" normalizeH="0" baseline="0" noProof="0" dirty="0">
                <a:ln>
                  <a:noFill/>
                </a:ln>
                <a:solidFill>
                  <a:srgbClr val="000000"/>
                </a:solidFill>
                <a:effectLst/>
                <a:uLnTx/>
                <a:uFillTx/>
                <a:latin typeface="+mn-lt"/>
                <a:ea typeface="MS PGothic" panose="020B0600070205080204" pitchFamily="34" charset="-128"/>
              </a:rPr>
              <a:t> DNS queries</a:t>
            </a:r>
            <a:endParaRPr kumimoji="0" lang="en-US" sz="2400" b="0" i="0" u="none" strike="noStrike" kern="0" cap="none" spc="0" normalizeH="0" baseline="0" noProof="0" dirty="0">
              <a:ln>
                <a:noFill/>
              </a:ln>
              <a:solidFill>
                <a:srgbClr val="000000"/>
              </a:solidFill>
              <a:effectLst/>
              <a:uLnTx/>
              <a:uFillTx/>
              <a:latin typeface="+mn-lt"/>
              <a:ea typeface="MS PGothic" panose="020B0600070205080204" pitchFamily="34" charset="-128"/>
            </a:endParaRPr>
          </a:p>
          <a:p>
            <a:pPr marR="0" lvl="0" indent="-28575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dirty="0">
                <a:ln>
                  <a:noFill/>
                </a:ln>
                <a:solidFill>
                  <a:srgbClr val="000000"/>
                </a:solidFill>
                <a:effectLst/>
                <a:uLnTx/>
                <a:uFillTx/>
                <a:latin typeface="+mn-lt"/>
                <a:ea typeface="MS PGothic" panose="020B0600070205080204" pitchFamily="34" charset="-128"/>
              </a:rPr>
              <a:t>DNS poisoning</a:t>
            </a:r>
            <a:endParaRPr kumimoji="0" lang="en-US" sz="2800" b="0" i="0" u="none" strike="noStrike" kern="0" cap="none" spc="0" normalizeH="0" baseline="0" noProof="0" dirty="0">
              <a:ln>
                <a:noFill/>
              </a:ln>
              <a:solidFill>
                <a:srgbClr val="000000"/>
              </a:solidFill>
              <a:effectLst/>
              <a:uLnTx/>
              <a:uFillTx/>
              <a:latin typeface="+mn-lt"/>
              <a:ea typeface="MS PGothic" panose="020B0600070205080204" pitchFamily="34" charset="-128"/>
            </a:endParaRPr>
          </a:p>
          <a:p>
            <a:pPr marL="692150" marR="0" lvl="1" indent="-234950" algn="l" defTabSz="914400" rtl="0" eaLnBrk="0" fontAlgn="base" latinLnBrk="0" hangingPunct="0">
              <a:lnSpc>
                <a:spcPct val="85000"/>
              </a:lnSpc>
              <a:spcBef>
                <a:spcPct val="20000"/>
              </a:spcBef>
              <a:spcAft>
                <a:spcPct val="0"/>
              </a:spcAft>
              <a:buClr>
                <a:srgbClr val="000099"/>
              </a:buClr>
              <a:buSzTx/>
              <a:defRPr/>
            </a:pPr>
            <a:r>
              <a:rPr lang="en-US" kern="0" dirty="0">
                <a:solidFill>
                  <a:srgbClr val="000000"/>
                </a:solidFill>
                <a:latin typeface="+mn-lt"/>
              </a:rPr>
              <a:t>s</a:t>
            </a:r>
            <a:r>
              <a:rPr kumimoji="0" lang="en-US" sz="2400" b="0" i="0" u="none" strike="noStrike" kern="0" cap="none" spc="0" normalizeH="0" baseline="0" noProof="0" dirty="0">
                <a:ln>
                  <a:noFill/>
                </a:ln>
                <a:solidFill>
                  <a:srgbClr val="000000"/>
                </a:solidFill>
                <a:effectLst/>
                <a:uLnTx/>
                <a:uFillTx/>
                <a:latin typeface="+mn-lt"/>
                <a:ea typeface="MS PGothic" panose="020B0600070205080204" pitchFamily="34" charset="-128"/>
              </a:rPr>
              <a:t>end bogus relies to DNS server, which caches</a:t>
            </a:r>
            <a:endParaRPr kumimoji="0" lang="en-US" sz="2400" b="0" i="0" u="none" strike="noStrike" kern="0" cap="none" spc="0" normalizeH="0" baseline="0" noProof="0" dirty="0">
              <a:ln>
                <a:noFill/>
              </a:ln>
              <a:solidFill>
                <a:srgbClr val="000000"/>
              </a:solidFill>
              <a:effectLst/>
              <a:uLnTx/>
              <a:uFillTx/>
              <a:latin typeface="+mn-lt"/>
              <a:ea typeface="MS PGothic" panose="020B0600070205080204" pitchFamily="34" charset="-128"/>
            </a:endParaRPr>
          </a:p>
          <a:p>
            <a:pPr marL="14605" marR="0" lvl="0" indent="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None/>
              <a:defRPr/>
            </a:pPr>
            <a:r>
              <a:rPr lang="en-US" sz="3200" kern="0" dirty="0">
                <a:solidFill>
                  <a:srgbClr val="2D2DB9">
                    <a:lumMod val="75000"/>
                  </a:srgbClr>
                </a:solidFill>
                <a:latin typeface="+mn-lt"/>
              </a:rPr>
              <a:t>E</a:t>
            </a:r>
            <a:r>
              <a:rPr kumimoji="0" lang="en-US" sz="3200" b="0" i="0" u="none" strike="noStrike" kern="0" cap="none" spc="0" normalizeH="0" baseline="0" noProof="0" dirty="0" err="1">
                <a:ln>
                  <a:noFill/>
                </a:ln>
                <a:solidFill>
                  <a:srgbClr val="2D2DB9">
                    <a:lumMod val="75000"/>
                  </a:srgbClr>
                </a:solidFill>
                <a:effectLst/>
                <a:uLnTx/>
                <a:uFillTx/>
                <a:latin typeface="+mn-lt"/>
                <a:ea typeface="MS PGothic" panose="020B0600070205080204" pitchFamily="34" charset="-128"/>
              </a:rPr>
              <a:t>xploit</a:t>
            </a:r>
            <a:r>
              <a:rPr kumimoji="0" lang="en-US" sz="3200" b="0" i="0" u="none" strike="noStrike" kern="0" cap="none" spc="0" normalizeH="0" baseline="0" noProof="0" dirty="0">
                <a:ln>
                  <a:noFill/>
                </a:ln>
                <a:solidFill>
                  <a:srgbClr val="2D2DB9">
                    <a:lumMod val="75000"/>
                  </a:srgbClr>
                </a:solidFill>
                <a:effectLst/>
                <a:uLnTx/>
                <a:uFillTx/>
                <a:latin typeface="+mn-lt"/>
                <a:ea typeface="MS PGothic" panose="020B0600070205080204" pitchFamily="34" charset="-128"/>
              </a:rPr>
              <a:t> DNS for DDoS</a:t>
            </a:r>
            <a:endParaRPr kumimoji="0" lang="en-US" sz="3200" b="0" i="0" u="none" strike="noStrike" kern="0" cap="none" spc="0" normalizeH="0" baseline="0" noProof="0" dirty="0">
              <a:ln>
                <a:noFill/>
              </a:ln>
              <a:solidFill>
                <a:srgbClr val="2D2DB9">
                  <a:lumMod val="75000"/>
                </a:srgbClr>
              </a:solidFill>
              <a:effectLst/>
              <a:uLnTx/>
              <a:uFillTx/>
              <a:latin typeface="+mn-lt"/>
              <a:ea typeface="MS PGothic" panose="020B0600070205080204" pitchFamily="34" charset="-128"/>
            </a:endParaRPr>
          </a:p>
          <a:p>
            <a:pPr marR="0" lvl="0" indent="-28575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dirty="0">
                <a:ln>
                  <a:noFill/>
                </a:ln>
                <a:solidFill>
                  <a:srgbClr val="000000"/>
                </a:solidFill>
                <a:effectLst/>
                <a:uLnTx/>
                <a:uFillTx/>
                <a:latin typeface="+mn-lt"/>
                <a:ea typeface="MS PGothic" panose="020B0600070205080204" pitchFamily="34" charset="-128"/>
              </a:rPr>
              <a:t>send queries with spoofed source address: target IP</a:t>
            </a:r>
            <a:endParaRPr kumimoji="0" lang="en-US" sz="2800" b="0" i="0" u="none" strike="noStrike" kern="0" cap="none" spc="0" normalizeH="0" baseline="0" noProof="0" dirty="0">
              <a:ln>
                <a:noFill/>
              </a:ln>
              <a:solidFill>
                <a:srgbClr val="000000"/>
              </a:solidFill>
              <a:effectLst/>
              <a:uLnTx/>
              <a:uFillTx/>
              <a:latin typeface="+mn-lt"/>
              <a:ea typeface="MS PGothic" panose="020B0600070205080204" pitchFamily="34" charset="-128"/>
            </a:endParaRPr>
          </a:p>
          <a:p>
            <a:pPr marR="0" lvl="0" indent="-28575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dirty="0">
                <a:ln>
                  <a:noFill/>
                </a:ln>
                <a:solidFill>
                  <a:srgbClr val="000000"/>
                </a:solidFill>
                <a:effectLst/>
                <a:uLnTx/>
                <a:uFillTx/>
                <a:latin typeface="+mn-lt"/>
                <a:ea typeface="MS PGothic" panose="020B0600070205080204" pitchFamily="34" charset="-128"/>
              </a:rPr>
              <a:t>requires amplification</a:t>
            </a:r>
            <a:endParaRPr kumimoji="0" lang="en-US" sz="2800" b="0"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grpSp>
        <p:nvGrpSpPr>
          <p:cNvPr id="8" name="Group 7"/>
          <p:cNvGrpSpPr/>
          <p:nvPr/>
        </p:nvGrpSpPr>
        <p:grpSpPr>
          <a:xfrm>
            <a:off x="10363200" y="1741717"/>
            <a:ext cx="1570587" cy="3933371"/>
            <a:chOff x="10363200" y="1886857"/>
            <a:chExt cx="1570587" cy="3933371"/>
          </a:xfrm>
        </p:grpSpPr>
        <p:sp>
          <p:nvSpPr>
            <p:cNvPr id="2" name="Right Brace 1"/>
            <p:cNvSpPr/>
            <p:nvPr/>
          </p:nvSpPr>
          <p:spPr>
            <a:xfrm>
              <a:off x="10363200" y="1886857"/>
              <a:ext cx="257045" cy="3933371"/>
            </a:xfrm>
            <a:prstGeom prst="rightBrace">
              <a:avLst/>
            </a:prstGeom>
            <a:ln w="22225">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 name="TextBox 3"/>
            <p:cNvSpPr txBox="1"/>
            <p:nvPr/>
          </p:nvSpPr>
          <p:spPr>
            <a:xfrm flipH="1">
              <a:off x="10591216" y="3480862"/>
              <a:ext cx="1342571" cy="738664"/>
            </a:xfrm>
            <a:prstGeom prst="rect">
              <a:avLst/>
            </a:prstGeom>
            <a:noFill/>
          </p:spPr>
          <p:txBody>
            <a:bodyPr wrap="square" rtlCol="0">
              <a:spAutoFit/>
            </a:bodyPr>
            <a:lstStyle/>
            <a:p>
              <a:pPr algn="ctr"/>
              <a:r>
                <a:rPr lang="en-US" sz="2400" dirty="0"/>
                <a:t>DNSSEC</a:t>
              </a:r>
              <a:endParaRPr lang="en-US" sz="2400" dirty="0"/>
            </a:p>
            <a:p>
              <a:pPr algn="ctr"/>
              <a:r>
                <a:rPr lang="en-US" dirty="0"/>
                <a:t>[RFC 4033]</a:t>
              </a:r>
              <a:endParaRPr 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p:cNvSpPr txBox="1"/>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endParaRPr lang="en-US" sz="3200" dirty="0">
              <a:solidFill>
                <a:schemeClr val="bg1">
                  <a:lumMod val="75000"/>
                </a:schemeClr>
              </a:solidFill>
              <a:latin typeface="Calibri" panose="020F0502020204030204" pitchFamily="34" charset="0"/>
              <a:cs typeface="Calibri" panose="020F0502020204030204" pitchFamily="34" charset="0"/>
            </a:endParaRPr>
          </a:p>
          <a:p>
            <a:endParaRPr lang="en-US" dirty="0"/>
          </a:p>
        </p:txBody>
      </p:sp>
      <p:sp>
        <p:nvSpPr>
          <p:cNvPr id="11" name="Rectangle 4"/>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rgbClr val="0000A8"/>
              </a:buClr>
            </a:pPr>
            <a:r>
              <a:rPr lang="en-US" altLang="en-US" sz="3200" dirty="0">
                <a:ea typeface="MS PGothic" panose="020B0600070205080204" pitchFamily="34" charset="-128"/>
              </a:rPr>
              <a:t>P2P applications</a:t>
            </a:r>
            <a:endParaRPr lang="en-US" altLang="en-US" sz="3200" dirty="0">
              <a:ea typeface="MS PGothic" panose="020B0600070205080204" pitchFamily="34" charset="-128"/>
            </a:endParaRPr>
          </a:p>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video streaming and content distribution networks</a:t>
            </a:r>
            <a:endParaRPr lang="en-US" altLang="en-US" sz="3200" dirty="0">
              <a:solidFill>
                <a:schemeClr val="bg1">
                  <a:lumMod val="75000"/>
                </a:schemeClr>
              </a:solidFill>
              <a:ea typeface="MS PGothic" panose="020B0600070205080204" pitchFamily="34" charset="-128"/>
            </a:endParaRPr>
          </a:p>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socket programming with UDP and TCP</a:t>
            </a:r>
            <a:endParaRPr lang="en-US" altLang="en-US" sz="3200" dirty="0">
              <a:solidFill>
                <a:schemeClr val="bg1">
                  <a:lumMod val="75000"/>
                </a:schemeClr>
              </a:solidFill>
              <a:ea typeface="MS PGothic" panose="020B0600070205080204" pitchFamily="34" charset="-128"/>
            </a:endParaRPr>
          </a:p>
          <a:p>
            <a:pPr>
              <a:buFont typeface="Wingdings" panose="05000000000000000000" pitchFamily="2" charset="2"/>
              <a:buNone/>
            </a:pPr>
            <a:endParaRPr lang="en-US" altLang="en-US" sz="2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pic>
        <p:nvPicPr>
          <p:cNvPr id="7" name="Picture 6" descr="Kurose&amp;Ross 8th edition photo"/>
          <p:cNvPicPr>
            <a:picLocks noChangeAspect="1"/>
          </p:cNvPicPr>
          <p:nvPr/>
        </p:nvPicPr>
        <p:blipFill>
          <a:blip r:embed="rId1"/>
          <a:stretch>
            <a:fillRect/>
          </a:stretch>
        </p:blipFill>
        <p:spPr>
          <a:xfrm>
            <a:off x="6957391" y="4125913"/>
            <a:ext cx="3087757" cy="2315818"/>
          </a:xfrm>
          <a:prstGeom prst="rect">
            <a:avLst/>
          </a:prstGeom>
        </p:spPr>
      </p:pic>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1" fmla="*/ 434989 w 1537226"/>
              <a:gd name="connsiteY0-2" fmla="*/ 253346 h 1763594"/>
              <a:gd name="connsiteX1-3" fmla="*/ 488 w 1537226"/>
              <a:gd name="connsiteY1-4" fmla="*/ 921706 h 1763594"/>
              <a:gd name="connsiteX2-5" fmla="*/ 368142 w 1537226"/>
              <a:gd name="connsiteY2-6" fmla="*/ 1489812 h 1763594"/>
              <a:gd name="connsiteX3-7" fmla="*/ 1187008 w 1537226"/>
              <a:gd name="connsiteY3-8" fmla="*/ 1757156 h 1763594"/>
              <a:gd name="connsiteX4-9" fmla="*/ 1521239 w 1537226"/>
              <a:gd name="connsiteY4-10" fmla="*/ 1239177 h 1763594"/>
              <a:gd name="connsiteX5-11" fmla="*/ 1468998 w 1537226"/>
              <a:gd name="connsiteY5-12" fmla="*/ 654362 h 1763594"/>
              <a:gd name="connsiteX6-13" fmla="*/ 1337412 w 1537226"/>
              <a:gd name="connsiteY6-14" fmla="*/ 136383 h 1763594"/>
              <a:gd name="connsiteX7-15" fmla="*/ 1086739 w 1537226"/>
              <a:gd name="connsiteY7-16" fmla="*/ 2711 h 1763594"/>
              <a:gd name="connsiteX8-17" fmla="*/ 434989 w 1537226"/>
              <a:gd name="connsiteY8-18" fmla="*/ 253346 h 1763594"/>
              <a:gd name="connsiteX0-19" fmla="*/ 434989 w 1537226"/>
              <a:gd name="connsiteY0-20" fmla="*/ 253346 h 1763594"/>
              <a:gd name="connsiteX1-21" fmla="*/ 488 w 1537226"/>
              <a:gd name="connsiteY1-22" fmla="*/ 921706 h 1763594"/>
              <a:gd name="connsiteX2-23" fmla="*/ 368142 w 1537226"/>
              <a:gd name="connsiteY2-24" fmla="*/ 1489812 h 1763594"/>
              <a:gd name="connsiteX3-25" fmla="*/ 1187008 w 1537226"/>
              <a:gd name="connsiteY3-26" fmla="*/ 1757156 h 1763594"/>
              <a:gd name="connsiteX4-27" fmla="*/ 1521239 w 1537226"/>
              <a:gd name="connsiteY4-28" fmla="*/ 1239177 h 1763594"/>
              <a:gd name="connsiteX5-29" fmla="*/ 1468998 w 1537226"/>
              <a:gd name="connsiteY5-30" fmla="*/ 654362 h 1763594"/>
              <a:gd name="connsiteX6-31" fmla="*/ 1337412 w 1537226"/>
              <a:gd name="connsiteY6-32" fmla="*/ 136383 h 1763594"/>
              <a:gd name="connsiteX7-33" fmla="*/ 839572 w 1537226"/>
              <a:gd name="connsiteY7-34" fmla="*/ 2711 h 1763594"/>
              <a:gd name="connsiteX8-35" fmla="*/ 434989 w 1537226"/>
              <a:gd name="connsiteY8-36" fmla="*/ 253346 h 1763594"/>
              <a:gd name="connsiteX0-37" fmla="*/ 360357 w 1536743"/>
              <a:gd name="connsiteY0-38" fmla="*/ 534641 h 1782088"/>
              <a:gd name="connsiteX1-39" fmla="*/ 5 w 1536743"/>
              <a:gd name="connsiteY1-40" fmla="*/ 940200 h 1782088"/>
              <a:gd name="connsiteX2-41" fmla="*/ 367659 w 1536743"/>
              <a:gd name="connsiteY2-42" fmla="*/ 1508306 h 1782088"/>
              <a:gd name="connsiteX3-43" fmla="*/ 1186525 w 1536743"/>
              <a:gd name="connsiteY3-44" fmla="*/ 1775650 h 1782088"/>
              <a:gd name="connsiteX4-45" fmla="*/ 1520756 w 1536743"/>
              <a:gd name="connsiteY4-46" fmla="*/ 1257671 h 1782088"/>
              <a:gd name="connsiteX5-47" fmla="*/ 1468515 w 1536743"/>
              <a:gd name="connsiteY5-48" fmla="*/ 672856 h 1782088"/>
              <a:gd name="connsiteX6-49" fmla="*/ 1336929 w 1536743"/>
              <a:gd name="connsiteY6-50" fmla="*/ 154877 h 1782088"/>
              <a:gd name="connsiteX7-51" fmla="*/ 839089 w 1536743"/>
              <a:gd name="connsiteY7-52" fmla="*/ 21205 h 1782088"/>
              <a:gd name="connsiteX8-53" fmla="*/ 360357 w 1536743"/>
              <a:gd name="connsiteY8-54" fmla="*/ 534641 h 1782088"/>
              <a:gd name="connsiteX0-55" fmla="*/ 360355 w 1536741"/>
              <a:gd name="connsiteY0-56" fmla="*/ 534641 h 1782088"/>
              <a:gd name="connsiteX1-57" fmla="*/ 3 w 1536741"/>
              <a:gd name="connsiteY1-58" fmla="*/ 940200 h 1782088"/>
              <a:gd name="connsiteX2-59" fmla="*/ 367657 w 1536741"/>
              <a:gd name="connsiteY2-60" fmla="*/ 1508306 h 1782088"/>
              <a:gd name="connsiteX3-61" fmla="*/ 1186523 w 1536741"/>
              <a:gd name="connsiteY3-62" fmla="*/ 1775650 h 1782088"/>
              <a:gd name="connsiteX4-63" fmla="*/ 1520754 w 1536741"/>
              <a:gd name="connsiteY4-64" fmla="*/ 1257671 h 1782088"/>
              <a:gd name="connsiteX5-65" fmla="*/ 1468513 w 1536741"/>
              <a:gd name="connsiteY5-66" fmla="*/ 672856 h 1782088"/>
              <a:gd name="connsiteX6-67" fmla="*/ 1336927 w 1536741"/>
              <a:gd name="connsiteY6-68" fmla="*/ 154877 h 1782088"/>
              <a:gd name="connsiteX7-69" fmla="*/ 839087 w 1536741"/>
              <a:gd name="connsiteY7-70" fmla="*/ 21205 h 1782088"/>
              <a:gd name="connsiteX8-71" fmla="*/ 360355 w 1536741"/>
              <a:gd name="connsiteY8-72" fmla="*/ 534641 h 1782088"/>
              <a:gd name="connsiteX0-73" fmla="*/ 382604 w 1558990"/>
              <a:gd name="connsiteY0-74" fmla="*/ 534641 h 1810599"/>
              <a:gd name="connsiteX1-75" fmla="*/ 22252 w 1558990"/>
              <a:gd name="connsiteY1-76" fmla="*/ 940200 h 1810599"/>
              <a:gd name="connsiteX2-77" fmla="*/ 167457 w 1558990"/>
              <a:gd name="connsiteY2-78" fmla="*/ 1672556 h 1810599"/>
              <a:gd name="connsiteX3-79" fmla="*/ 1208772 w 1558990"/>
              <a:gd name="connsiteY3-80" fmla="*/ 1775650 h 1810599"/>
              <a:gd name="connsiteX4-81" fmla="*/ 1543003 w 1558990"/>
              <a:gd name="connsiteY4-82" fmla="*/ 1257671 h 1810599"/>
              <a:gd name="connsiteX5-83" fmla="*/ 1490762 w 1558990"/>
              <a:gd name="connsiteY5-84" fmla="*/ 672856 h 1810599"/>
              <a:gd name="connsiteX6-85" fmla="*/ 1359176 w 1558990"/>
              <a:gd name="connsiteY6-86" fmla="*/ 154877 h 1810599"/>
              <a:gd name="connsiteX7-87" fmla="*/ 861336 w 1558990"/>
              <a:gd name="connsiteY7-88" fmla="*/ 21205 h 1810599"/>
              <a:gd name="connsiteX8-89" fmla="*/ 382604 w 1558990"/>
              <a:gd name="connsiteY8-90" fmla="*/ 534641 h 1810599"/>
              <a:gd name="connsiteX0-91" fmla="*/ 393458 w 1593840"/>
              <a:gd name="connsiteY0-92" fmla="*/ 534641 h 1793264"/>
              <a:gd name="connsiteX1-93" fmla="*/ 33106 w 1593840"/>
              <a:gd name="connsiteY1-94" fmla="*/ 940200 h 1793264"/>
              <a:gd name="connsiteX2-95" fmla="*/ 178311 w 1593840"/>
              <a:gd name="connsiteY2-96" fmla="*/ 1672556 h 1793264"/>
              <a:gd name="connsiteX3-97" fmla="*/ 1464139 w 1593840"/>
              <a:gd name="connsiteY3-98" fmla="*/ 1752440 h 1793264"/>
              <a:gd name="connsiteX4-99" fmla="*/ 1553857 w 1593840"/>
              <a:gd name="connsiteY4-100" fmla="*/ 1257671 h 1793264"/>
              <a:gd name="connsiteX5-101" fmla="*/ 1501616 w 1593840"/>
              <a:gd name="connsiteY5-102" fmla="*/ 672856 h 1793264"/>
              <a:gd name="connsiteX6-103" fmla="*/ 1370030 w 1593840"/>
              <a:gd name="connsiteY6-104" fmla="*/ 154877 h 1793264"/>
              <a:gd name="connsiteX7-105" fmla="*/ 872190 w 1593840"/>
              <a:gd name="connsiteY7-106" fmla="*/ 21205 h 1793264"/>
              <a:gd name="connsiteX8-107" fmla="*/ 393458 w 1593840"/>
              <a:gd name="connsiteY8-108" fmla="*/ 534641 h 1793264"/>
              <a:gd name="connsiteX0-109" fmla="*/ 393458 w 1566550"/>
              <a:gd name="connsiteY0-110" fmla="*/ 534641 h 1840341"/>
              <a:gd name="connsiteX1-111" fmla="*/ 33106 w 1566550"/>
              <a:gd name="connsiteY1-112" fmla="*/ 940200 h 1840341"/>
              <a:gd name="connsiteX2-113" fmla="*/ 178311 w 1566550"/>
              <a:gd name="connsiteY2-114" fmla="*/ 1672556 h 1840341"/>
              <a:gd name="connsiteX3-115" fmla="*/ 1464139 w 1566550"/>
              <a:gd name="connsiteY3-116" fmla="*/ 1752440 h 1840341"/>
              <a:gd name="connsiteX4-117" fmla="*/ 1553857 w 1566550"/>
              <a:gd name="connsiteY4-118" fmla="*/ 1257671 h 1840341"/>
              <a:gd name="connsiteX5-119" fmla="*/ 1501616 w 1566550"/>
              <a:gd name="connsiteY5-120" fmla="*/ 672856 h 1840341"/>
              <a:gd name="connsiteX6-121" fmla="*/ 1370030 w 1566550"/>
              <a:gd name="connsiteY6-122" fmla="*/ 154877 h 1840341"/>
              <a:gd name="connsiteX7-123" fmla="*/ 872190 w 1566550"/>
              <a:gd name="connsiteY7-124" fmla="*/ 21205 h 1840341"/>
              <a:gd name="connsiteX8-125" fmla="*/ 393458 w 1566550"/>
              <a:gd name="connsiteY8-126" fmla="*/ 534641 h 1840341"/>
              <a:gd name="connsiteX0-127" fmla="*/ 393458 w 1555557"/>
              <a:gd name="connsiteY0-128" fmla="*/ 534641 h 1787187"/>
              <a:gd name="connsiteX1-129" fmla="*/ 33106 w 1555557"/>
              <a:gd name="connsiteY1-130" fmla="*/ 940200 h 1787187"/>
              <a:gd name="connsiteX2-131" fmla="*/ 178311 w 1555557"/>
              <a:gd name="connsiteY2-132" fmla="*/ 1672556 h 1787187"/>
              <a:gd name="connsiteX3-133" fmla="*/ 1464139 w 1555557"/>
              <a:gd name="connsiteY3-134" fmla="*/ 1752440 h 1787187"/>
              <a:gd name="connsiteX4-135" fmla="*/ 1553857 w 1555557"/>
              <a:gd name="connsiteY4-136" fmla="*/ 1257671 h 1787187"/>
              <a:gd name="connsiteX5-137" fmla="*/ 1501616 w 1555557"/>
              <a:gd name="connsiteY5-138" fmla="*/ 672856 h 1787187"/>
              <a:gd name="connsiteX6-139" fmla="*/ 1370030 w 1555557"/>
              <a:gd name="connsiteY6-140" fmla="*/ 154877 h 1787187"/>
              <a:gd name="connsiteX7-141" fmla="*/ 872190 w 1555557"/>
              <a:gd name="connsiteY7-142" fmla="*/ 21205 h 1787187"/>
              <a:gd name="connsiteX8-143" fmla="*/ 393458 w 1555557"/>
              <a:gd name="connsiteY8-144" fmla="*/ 534641 h 1787187"/>
              <a:gd name="connsiteX0-145" fmla="*/ 401126 w 1664928"/>
              <a:gd name="connsiteY0-146" fmla="*/ 534641 h 1783934"/>
              <a:gd name="connsiteX1-147" fmla="*/ 40774 w 1664928"/>
              <a:gd name="connsiteY1-148" fmla="*/ 940200 h 1783934"/>
              <a:gd name="connsiteX2-149" fmla="*/ 185979 w 1664928"/>
              <a:gd name="connsiteY2-150" fmla="*/ 1672556 h 1783934"/>
              <a:gd name="connsiteX3-151" fmla="*/ 1618513 w 1664928"/>
              <a:gd name="connsiteY3-152" fmla="*/ 1747798 h 1783934"/>
              <a:gd name="connsiteX4-153" fmla="*/ 1561525 w 1664928"/>
              <a:gd name="connsiteY4-154" fmla="*/ 1257671 h 1783934"/>
              <a:gd name="connsiteX5-155" fmla="*/ 1509284 w 1664928"/>
              <a:gd name="connsiteY5-156" fmla="*/ 672856 h 1783934"/>
              <a:gd name="connsiteX6-157" fmla="*/ 1377698 w 1664928"/>
              <a:gd name="connsiteY6-158" fmla="*/ 154877 h 1783934"/>
              <a:gd name="connsiteX7-159" fmla="*/ 879858 w 1664928"/>
              <a:gd name="connsiteY7-160" fmla="*/ 21205 h 1783934"/>
              <a:gd name="connsiteX8-161" fmla="*/ 401126 w 1664928"/>
              <a:gd name="connsiteY8-162" fmla="*/ 534641 h 1783934"/>
              <a:gd name="connsiteX0-163" fmla="*/ 408119 w 1718774"/>
              <a:gd name="connsiteY0-164" fmla="*/ 534641 h 1826522"/>
              <a:gd name="connsiteX1-165" fmla="*/ 47767 w 1718774"/>
              <a:gd name="connsiteY1-166" fmla="*/ 940200 h 1826522"/>
              <a:gd name="connsiteX2-167" fmla="*/ 179001 w 1718774"/>
              <a:gd name="connsiteY2-168" fmla="*/ 1742186 h 1826522"/>
              <a:gd name="connsiteX3-169" fmla="*/ 1625506 w 1718774"/>
              <a:gd name="connsiteY3-170" fmla="*/ 1747798 h 1826522"/>
              <a:gd name="connsiteX4-171" fmla="*/ 1568518 w 1718774"/>
              <a:gd name="connsiteY4-172" fmla="*/ 1257671 h 1826522"/>
              <a:gd name="connsiteX5-173" fmla="*/ 1516277 w 1718774"/>
              <a:gd name="connsiteY5-174" fmla="*/ 672856 h 1826522"/>
              <a:gd name="connsiteX6-175" fmla="*/ 1384691 w 1718774"/>
              <a:gd name="connsiteY6-176" fmla="*/ 154877 h 1826522"/>
              <a:gd name="connsiteX7-177" fmla="*/ 886851 w 1718774"/>
              <a:gd name="connsiteY7-178" fmla="*/ 21205 h 1826522"/>
              <a:gd name="connsiteX8-179" fmla="*/ 408119 w 1718774"/>
              <a:gd name="connsiteY8-180" fmla="*/ 534641 h 1826522"/>
              <a:gd name="connsiteX0-181" fmla="*/ 477759 w 1796623"/>
              <a:gd name="connsiteY0-182" fmla="*/ 534641 h 1818043"/>
              <a:gd name="connsiteX1-183" fmla="*/ 117407 w 1796623"/>
              <a:gd name="connsiteY1-184" fmla="*/ 940200 h 1818043"/>
              <a:gd name="connsiteX2-185" fmla="*/ 136864 w 1796623"/>
              <a:gd name="connsiteY2-186" fmla="*/ 1728260 h 1818043"/>
              <a:gd name="connsiteX3-187" fmla="*/ 1695146 w 1796623"/>
              <a:gd name="connsiteY3-188" fmla="*/ 1747798 h 1818043"/>
              <a:gd name="connsiteX4-189" fmla="*/ 1638158 w 1796623"/>
              <a:gd name="connsiteY4-190" fmla="*/ 1257671 h 1818043"/>
              <a:gd name="connsiteX5-191" fmla="*/ 1585917 w 1796623"/>
              <a:gd name="connsiteY5-192" fmla="*/ 672856 h 1818043"/>
              <a:gd name="connsiteX6-193" fmla="*/ 1454331 w 1796623"/>
              <a:gd name="connsiteY6-194" fmla="*/ 154877 h 1818043"/>
              <a:gd name="connsiteX7-195" fmla="*/ 956491 w 1796623"/>
              <a:gd name="connsiteY7-196" fmla="*/ 21205 h 1818043"/>
              <a:gd name="connsiteX8-197" fmla="*/ 477759 w 1796623"/>
              <a:gd name="connsiteY8-198" fmla="*/ 534641 h 1818043"/>
              <a:gd name="connsiteX0-199" fmla="*/ 396783 w 1688820"/>
              <a:gd name="connsiteY0-200" fmla="*/ 534641 h 1815615"/>
              <a:gd name="connsiteX1-201" fmla="*/ 36431 w 1688820"/>
              <a:gd name="connsiteY1-202" fmla="*/ 940200 h 1815615"/>
              <a:gd name="connsiteX2-203" fmla="*/ 55888 w 1688820"/>
              <a:gd name="connsiteY2-204" fmla="*/ 1728260 h 1815615"/>
              <a:gd name="connsiteX3-205" fmla="*/ 421834 w 1688820"/>
              <a:gd name="connsiteY3-206" fmla="*/ 1798118 h 1815615"/>
              <a:gd name="connsiteX4-207" fmla="*/ 1614170 w 1688820"/>
              <a:gd name="connsiteY4-208" fmla="*/ 1747798 h 1815615"/>
              <a:gd name="connsiteX5-209" fmla="*/ 1557182 w 1688820"/>
              <a:gd name="connsiteY5-210" fmla="*/ 1257671 h 1815615"/>
              <a:gd name="connsiteX6-211" fmla="*/ 1504941 w 1688820"/>
              <a:gd name="connsiteY6-212" fmla="*/ 672856 h 1815615"/>
              <a:gd name="connsiteX7-213" fmla="*/ 1373355 w 1688820"/>
              <a:gd name="connsiteY7-214" fmla="*/ 154877 h 1815615"/>
              <a:gd name="connsiteX8-215" fmla="*/ 875515 w 1688820"/>
              <a:gd name="connsiteY8-216" fmla="*/ 21205 h 1815615"/>
              <a:gd name="connsiteX9" fmla="*/ 396783 w 1688820"/>
              <a:gd name="connsiteY9" fmla="*/ 534641 h 1815615"/>
              <a:gd name="connsiteX0-217" fmla="*/ 394951 w 1689541"/>
              <a:gd name="connsiteY0-218" fmla="*/ 534641 h 1877271"/>
              <a:gd name="connsiteX1-219" fmla="*/ 34599 w 1689541"/>
              <a:gd name="connsiteY1-220" fmla="*/ 940200 h 1877271"/>
              <a:gd name="connsiteX2-221" fmla="*/ 54056 w 1689541"/>
              <a:gd name="connsiteY2-222" fmla="*/ 1728260 h 1877271"/>
              <a:gd name="connsiteX3-223" fmla="*/ 385071 w 1689541"/>
              <a:gd name="connsiteY3-224" fmla="*/ 1877032 h 1877271"/>
              <a:gd name="connsiteX4-225" fmla="*/ 1612338 w 1689541"/>
              <a:gd name="connsiteY4-226" fmla="*/ 1747798 h 1877271"/>
              <a:gd name="connsiteX5-227" fmla="*/ 1555350 w 1689541"/>
              <a:gd name="connsiteY5-228" fmla="*/ 1257671 h 1877271"/>
              <a:gd name="connsiteX6-229" fmla="*/ 1503109 w 1689541"/>
              <a:gd name="connsiteY6-230" fmla="*/ 672856 h 1877271"/>
              <a:gd name="connsiteX7-231" fmla="*/ 1371523 w 1689541"/>
              <a:gd name="connsiteY7-232" fmla="*/ 154877 h 1877271"/>
              <a:gd name="connsiteX8-233" fmla="*/ 873683 w 1689541"/>
              <a:gd name="connsiteY8-234" fmla="*/ 21205 h 1877271"/>
              <a:gd name="connsiteX9-235" fmla="*/ 394951 w 1689541"/>
              <a:gd name="connsiteY9-236" fmla="*/ 534641 h 1877271"/>
              <a:gd name="connsiteX0-237" fmla="*/ 394949 w 1689541"/>
              <a:gd name="connsiteY0-238" fmla="*/ 534641 h 1877032"/>
              <a:gd name="connsiteX1-239" fmla="*/ 34597 w 1689541"/>
              <a:gd name="connsiteY1-240" fmla="*/ 940200 h 1877032"/>
              <a:gd name="connsiteX2-241" fmla="*/ 54054 w 1689541"/>
              <a:gd name="connsiteY2-242" fmla="*/ 1728260 h 1877032"/>
              <a:gd name="connsiteX3-243" fmla="*/ 385069 w 1689541"/>
              <a:gd name="connsiteY3-244" fmla="*/ 1877032 h 1877032"/>
              <a:gd name="connsiteX4-245" fmla="*/ 1612336 w 1689541"/>
              <a:gd name="connsiteY4-246" fmla="*/ 1747798 h 1877032"/>
              <a:gd name="connsiteX5-247" fmla="*/ 1555348 w 1689541"/>
              <a:gd name="connsiteY5-248" fmla="*/ 1257671 h 1877032"/>
              <a:gd name="connsiteX6-249" fmla="*/ 1503107 w 1689541"/>
              <a:gd name="connsiteY6-250" fmla="*/ 672856 h 1877032"/>
              <a:gd name="connsiteX7-251" fmla="*/ 1371521 w 1689541"/>
              <a:gd name="connsiteY7-252" fmla="*/ 154877 h 1877032"/>
              <a:gd name="connsiteX8-253" fmla="*/ 873681 w 1689541"/>
              <a:gd name="connsiteY8-254" fmla="*/ 21205 h 1877032"/>
              <a:gd name="connsiteX9-255" fmla="*/ 394949 w 1689541"/>
              <a:gd name="connsiteY9-256" fmla="*/ 534641 h 1877032"/>
              <a:gd name="connsiteX0-257" fmla="*/ 394949 w 1683795"/>
              <a:gd name="connsiteY0-258" fmla="*/ 534641 h 1877032"/>
              <a:gd name="connsiteX1-259" fmla="*/ 34597 w 1683795"/>
              <a:gd name="connsiteY1-260" fmla="*/ 940200 h 1877032"/>
              <a:gd name="connsiteX2-261" fmla="*/ 54054 w 1683795"/>
              <a:gd name="connsiteY2-262" fmla="*/ 1728260 h 1877032"/>
              <a:gd name="connsiteX3-263" fmla="*/ 385069 w 1683795"/>
              <a:gd name="connsiteY3-264" fmla="*/ 1877032 h 1877032"/>
              <a:gd name="connsiteX4-265" fmla="*/ 1605349 w 1683795"/>
              <a:gd name="connsiteY4-266" fmla="*/ 1798860 h 1877032"/>
              <a:gd name="connsiteX5-267" fmla="*/ 1555348 w 1683795"/>
              <a:gd name="connsiteY5-268" fmla="*/ 1257671 h 1877032"/>
              <a:gd name="connsiteX6-269" fmla="*/ 1503107 w 1683795"/>
              <a:gd name="connsiteY6-270" fmla="*/ 672856 h 1877032"/>
              <a:gd name="connsiteX7-271" fmla="*/ 1371521 w 1683795"/>
              <a:gd name="connsiteY7-272" fmla="*/ 154877 h 1877032"/>
              <a:gd name="connsiteX8-273" fmla="*/ 873681 w 1683795"/>
              <a:gd name="connsiteY8-274" fmla="*/ 21205 h 1877032"/>
              <a:gd name="connsiteX9-275" fmla="*/ 394949 w 1683795"/>
              <a:gd name="connsiteY9-276" fmla="*/ 534641 h 1877032"/>
              <a:gd name="connsiteX0-277" fmla="*/ 394949 w 1720794"/>
              <a:gd name="connsiteY0-278" fmla="*/ 534641 h 1877032"/>
              <a:gd name="connsiteX1-279" fmla="*/ 34597 w 1720794"/>
              <a:gd name="connsiteY1-280" fmla="*/ 940200 h 1877032"/>
              <a:gd name="connsiteX2-281" fmla="*/ 54054 w 1720794"/>
              <a:gd name="connsiteY2-282" fmla="*/ 1728260 h 1877032"/>
              <a:gd name="connsiteX3-283" fmla="*/ 385069 w 1720794"/>
              <a:gd name="connsiteY3-284" fmla="*/ 1877032 h 1877032"/>
              <a:gd name="connsiteX4-285" fmla="*/ 1605349 w 1720794"/>
              <a:gd name="connsiteY4-286" fmla="*/ 1798860 h 1877032"/>
              <a:gd name="connsiteX5-287" fmla="*/ 1555348 w 1720794"/>
              <a:gd name="connsiteY5-288" fmla="*/ 1257671 h 1877032"/>
              <a:gd name="connsiteX6-289" fmla="*/ 1503107 w 1720794"/>
              <a:gd name="connsiteY6-290" fmla="*/ 672856 h 1877032"/>
              <a:gd name="connsiteX7-291" fmla="*/ 1371521 w 1720794"/>
              <a:gd name="connsiteY7-292" fmla="*/ 154877 h 1877032"/>
              <a:gd name="connsiteX8-293" fmla="*/ 873681 w 1720794"/>
              <a:gd name="connsiteY8-294" fmla="*/ 21205 h 1877032"/>
              <a:gd name="connsiteX9-295" fmla="*/ 394949 w 1720794"/>
              <a:gd name="connsiteY9-296" fmla="*/ 534641 h 1877032"/>
              <a:gd name="connsiteX0-297" fmla="*/ 394949 w 1720794"/>
              <a:gd name="connsiteY0-298" fmla="*/ 534641 h 1877032"/>
              <a:gd name="connsiteX1-299" fmla="*/ 34597 w 1720794"/>
              <a:gd name="connsiteY1-300" fmla="*/ 940200 h 1877032"/>
              <a:gd name="connsiteX2-301" fmla="*/ 54054 w 1720794"/>
              <a:gd name="connsiteY2-302" fmla="*/ 1728260 h 1877032"/>
              <a:gd name="connsiteX3-303" fmla="*/ 385069 w 1720794"/>
              <a:gd name="connsiteY3-304" fmla="*/ 1877032 h 1877032"/>
              <a:gd name="connsiteX4-305" fmla="*/ 1605349 w 1720794"/>
              <a:gd name="connsiteY4-306" fmla="*/ 1798860 h 1877032"/>
              <a:gd name="connsiteX5-307" fmla="*/ 1555348 w 1720794"/>
              <a:gd name="connsiteY5-308" fmla="*/ 1257671 h 1877032"/>
              <a:gd name="connsiteX6-309" fmla="*/ 1503107 w 1720794"/>
              <a:gd name="connsiteY6-310" fmla="*/ 672856 h 1877032"/>
              <a:gd name="connsiteX7-311" fmla="*/ 1371521 w 1720794"/>
              <a:gd name="connsiteY7-312" fmla="*/ 154877 h 1877032"/>
              <a:gd name="connsiteX8-313" fmla="*/ 873681 w 1720794"/>
              <a:gd name="connsiteY8-314" fmla="*/ 21205 h 1877032"/>
              <a:gd name="connsiteX9-315" fmla="*/ 394949 w 1720794"/>
              <a:gd name="connsiteY9-316" fmla="*/ 534641 h 1877032"/>
              <a:gd name="connsiteX0-317" fmla="*/ 394949 w 1671512"/>
              <a:gd name="connsiteY0-318" fmla="*/ 534641 h 1877032"/>
              <a:gd name="connsiteX1-319" fmla="*/ 34597 w 1671512"/>
              <a:gd name="connsiteY1-320" fmla="*/ 940200 h 1877032"/>
              <a:gd name="connsiteX2-321" fmla="*/ 54054 w 1671512"/>
              <a:gd name="connsiteY2-322" fmla="*/ 1728260 h 1877032"/>
              <a:gd name="connsiteX3-323" fmla="*/ 385069 w 1671512"/>
              <a:gd name="connsiteY3-324" fmla="*/ 1877032 h 1877032"/>
              <a:gd name="connsiteX4-325" fmla="*/ 1605349 w 1671512"/>
              <a:gd name="connsiteY4-326" fmla="*/ 1798860 h 1877032"/>
              <a:gd name="connsiteX5-327" fmla="*/ 1555348 w 1671512"/>
              <a:gd name="connsiteY5-328" fmla="*/ 1257671 h 1877032"/>
              <a:gd name="connsiteX6-329" fmla="*/ 1503107 w 1671512"/>
              <a:gd name="connsiteY6-330" fmla="*/ 672856 h 1877032"/>
              <a:gd name="connsiteX7-331" fmla="*/ 1371521 w 1671512"/>
              <a:gd name="connsiteY7-332" fmla="*/ 154877 h 1877032"/>
              <a:gd name="connsiteX8-333" fmla="*/ 873681 w 1671512"/>
              <a:gd name="connsiteY8-334" fmla="*/ 21205 h 1877032"/>
              <a:gd name="connsiteX9-335" fmla="*/ 394949 w 1671512"/>
              <a:gd name="connsiteY9-336" fmla="*/ 534641 h 1877032"/>
              <a:gd name="connsiteX0-337" fmla="*/ 394949 w 1677296"/>
              <a:gd name="connsiteY0-338" fmla="*/ 534641 h 1877032"/>
              <a:gd name="connsiteX1-339" fmla="*/ 34597 w 1677296"/>
              <a:gd name="connsiteY1-340" fmla="*/ 940200 h 1877032"/>
              <a:gd name="connsiteX2-341" fmla="*/ 54054 w 1677296"/>
              <a:gd name="connsiteY2-342" fmla="*/ 1728260 h 1877032"/>
              <a:gd name="connsiteX3-343" fmla="*/ 385069 w 1677296"/>
              <a:gd name="connsiteY3-344" fmla="*/ 1877032 h 1877032"/>
              <a:gd name="connsiteX4-345" fmla="*/ 1612334 w 1677296"/>
              <a:gd name="connsiteY4-346" fmla="*/ 1840637 h 1877032"/>
              <a:gd name="connsiteX5-347" fmla="*/ 1555348 w 1677296"/>
              <a:gd name="connsiteY5-348" fmla="*/ 1257671 h 1877032"/>
              <a:gd name="connsiteX6-349" fmla="*/ 1503107 w 1677296"/>
              <a:gd name="connsiteY6-350" fmla="*/ 672856 h 1877032"/>
              <a:gd name="connsiteX7-351" fmla="*/ 1371521 w 1677296"/>
              <a:gd name="connsiteY7-352" fmla="*/ 154877 h 1877032"/>
              <a:gd name="connsiteX8-353" fmla="*/ 873681 w 1677296"/>
              <a:gd name="connsiteY8-354" fmla="*/ 21205 h 1877032"/>
              <a:gd name="connsiteX9-355" fmla="*/ 394949 w 1677296"/>
              <a:gd name="connsiteY9-356" fmla="*/ 534641 h 1877032"/>
              <a:gd name="connsiteX0-357" fmla="*/ 394949 w 1677298"/>
              <a:gd name="connsiteY0-358" fmla="*/ 534641 h 1877032"/>
              <a:gd name="connsiteX1-359" fmla="*/ 34597 w 1677298"/>
              <a:gd name="connsiteY1-360" fmla="*/ 940200 h 1877032"/>
              <a:gd name="connsiteX2-361" fmla="*/ 54054 w 1677298"/>
              <a:gd name="connsiteY2-362" fmla="*/ 1728260 h 1877032"/>
              <a:gd name="connsiteX3-363" fmla="*/ 385069 w 1677298"/>
              <a:gd name="connsiteY3-364" fmla="*/ 1877032 h 1877032"/>
              <a:gd name="connsiteX4-365" fmla="*/ 1612334 w 1677298"/>
              <a:gd name="connsiteY4-366" fmla="*/ 1840637 h 1877032"/>
              <a:gd name="connsiteX5-367" fmla="*/ 1555348 w 1677298"/>
              <a:gd name="connsiteY5-368" fmla="*/ 1257671 h 1877032"/>
              <a:gd name="connsiteX6-369" fmla="*/ 1503107 w 1677298"/>
              <a:gd name="connsiteY6-370" fmla="*/ 672856 h 1877032"/>
              <a:gd name="connsiteX7-371" fmla="*/ 1371521 w 1677298"/>
              <a:gd name="connsiteY7-372" fmla="*/ 154877 h 1877032"/>
              <a:gd name="connsiteX8-373" fmla="*/ 873681 w 1677298"/>
              <a:gd name="connsiteY8-374" fmla="*/ 21205 h 1877032"/>
              <a:gd name="connsiteX9-375" fmla="*/ 394949 w 1677298"/>
              <a:gd name="connsiteY9-376" fmla="*/ 534641 h 1877032"/>
              <a:gd name="connsiteX0-377" fmla="*/ 394949 w 1677296"/>
              <a:gd name="connsiteY0-378" fmla="*/ 534641 h 1904936"/>
              <a:gd name="connsiteX1-379" fmla="*/ 34597 w 1677296"/>
              <a:gd name="connsiteY1-380" fmla="*/ 940200 h 1904936"/>
              <a:gd name="connsiteX2-381" fmla="*/ 54054 w 1677296"/>
              <a:gd name="connsiteY2-382" fmla="*/ 1728260 h 1904936"/>
              <a:gd name="connsiteX3-383" fmla="*/ 385069 w 1677296"/>
              <a:gd name="connsiteY3-384" fmla="*/ 1877032 h 1904936"/>
              <a:gd name="connsiteX4-385" fmla="*/ 1612334 w 1677296"/>
              <a:gd name="connsiteY4-386" fmla="*/ 1840637 h 1904936"/>
              <a:gd name="connsiteX5-387" fmla="*/ 1555348 w 1677296"/>
              <a:gd name="connsiteY5-388" fmla="*/ 1257671 h 1904936"/>
              <a:gd name="connsiteX6-389" fmla="*/ 1503107 w 1677296"/>
              <a:gd name="connsiteY6-390" fmla="*/ 672856 h 1904936"/>
              <a:gd name="connsiteX7-391" fmla="*/ 1371521 w 1677296"/>
              <a:gd name="connsiteY7-392" fmla="*/ 154877 h 1904936"/>
              <a:gd name="connsiteX8-393" fmla="*/ 873681 w 1677296"/>
              <a:gd name="connsiteY8-394" fmla="*/ 21205 h 1904936"/>
              <a:gd name="connsiteX9-395" fmla="*/ 394949 w 1677296"/>
              <a:gd name="connsiteY9-396" fmla="*/ 534641 h 1904936"/>
              <a:gd name="connsiteX0-397" fmla="*/ 461539 w 1743887"/>
              <a:gd name="connsiteY0-398" fmla="*/ 534641 h 1904936"/>
              <a:gd name="connsiteX1-399" fmla="*/ 101187 w 1743887"/>
              <a:gd name="connsiteY1-400" fmla="*/ 940200 h 1904936"/>
              <a:gd name="connsiteX2-401" fmla="*/ 22840 w 1743887"/>
              <a:gd name="connsiteY2-402" fmla="*/ 1737812 h 1904936"/>
              <a:gd name="connsiteX3-403" fmla="*/ 451659 w 1743887"/>
              <a:gd name="connsiteY3-404" fmla="*/ 1877032 h 1904936"/>
              <a:gd name="connsiteX4-405" fmla="*/ 1678924 w 1743887"/>
              <a:gd name="connsiteY4-406" fmla="*/ 1840637 h 1904936"/>
              <a:gd name="connsiteX5-407" fmla="*/ 1621938 w 1743887"/>
              <a:gd name="connsiteY5-408" fmla="*/ 1257671 h 1904936"/>
              <a:gd name="connsiteX6-409" fmla="*/ 1569697 w 1743887"/>
              <a:gd name="connsiteY6-410" fmla="*/ 672856 h 1904936"/>
              <a:gd name="connsiteX7-411" fmla="*/ 1438111 w 1743887"/>
              <a:gd name="connsiteY7-412" fmla="*/ 154877 h 1904936"/>
              <a:gd name="connsiteX8-413" fmla="*/ 940271 w 1743887"/>
              <a:gd name="connsiteY8-414" fmla="*/ 21205 h 1904936"/>
              <a:gd name="connsiteX9-415" fmla="*/ 461539 w 1743887"/>
              <a:gd name="connsiteY9-416" fmla="*/ 534641 h 1904936"/>
              <a:gd name="connsiteX0-417" fmla="*/ 452050 w 1756359"/>
              <a:gd name="connsiteY0-418" fmla="*/ 534641 h 1891359"/>
              <a:gd name="connsiteX1-419" fmla="*/ 91698 w 1756359"/>
              <a:gd name="connsiteY1-420" fmla="*/ 940200 h 1891359"/>
              <a:gd name="connsiteX2-421" fmla="*/ 13351 w 1756359"/>
              <a:gd name="connsiteY2-422" fmla="*/ 1737812 h 1891359"/>
              <a:gd name="connsiteX3-423" fmla="*/ 309435 w 1756359"/>
              <a:gd name="connsiteY3-424" fmla="*/ 1891359 h 1891359"/>
              <a:gd name="connsiteX4-425" fmla="*/ 1669435 w 1756359"/>
              <a:gd name="connsiteY4-426" fmla="*/ 1840637 h 1891359"/>
              <a:gd name="connsiteX5-427" fmla="*/ 1612449 w 1756359"/>
              <a:gd name="connsiteY5-428" fmla="*/ 1257671 h 1891359"/>
              <a:gd name="connsiteX6-429" fmla="*/ 1560208 w 1756359"/>
              <a:gd name="connsiteY6-430" fmla="*/ 672856 h 1891359"/>
              <a:gd name="connsiteX7-431" fmla="*/ 1428622 w 1756359"/>
              <a:gd name="connsiteY7-432" fmla="*/ 154877 h 1891359"/>
              <a:gd name="connsiteX8-433" fmla="*/ 930782 w 1756359"/>
              <a:gd name="connsiteY8-434" fmla="*/ 21205 h 1891359"/>
              <a:gd name="connsiteX9-435" fmla="*/ 452050 w 1756359"/>
              <a:gd name="connsiteY9-436" fmla="*/ 534641 h 1891359"/>
              <a:gd name="connsiteX0-437" fmla="*/ 452050 w 1756257"/>
              <a:gd name="connsiteY0-438" fmla="*/ 534641 h 1891359"/>
              <a:gd name="connsiteX1-439" fmla="*/ 91698 w 1756257"/>
              <a:gd name="connsiteY1-440" fmla="*/ 940200 h 1891359"/>
              <a:gd name="connsiteX2-441" fmla="*/ 13351 w 1756257"/>
              <a:gd name="connsiteY2-442" fmla="*/ 1737812 h 1891359"/>
              <a:gd name="connsiteX3-443" fmla="*/ 309435 w 1756257"/>
              <a:gd name="connsiteY3-444" fmla="*/ 1891359 h 1891359"/>
              <a:gd name="connsiteX4-445" fmla="*/ 1669435 w 1756257"/>
              <a:gd name="connsiteY4-446" fmla="*/ 1840637 h 1891359"/>
              <a:gd name="connsiteX5-447" fmla="*/ 1612449 w 1756257"/>
              <a:gd name="connsiteY5-448" fmla="*/ 1257671 h 1891359"/>
              <a:gd name="connsiteX6-449" fmla="*/ 1563496 w 1756257"/>
              <a:gd name="connsiteY6-450" fmla="*/ 959631 h 1891359"/>
              <a:gd name="connsiteX7-451" fmla="*/ 1560208 w 1756257"/>
              <a:gd name="connsiteY7-452" fmla="*/ 672856 h 1891359"/>
              <a:gd name="connsiteX8-453" fmla="*/ 1428622 w 1756257"/>
              <a:gd name="connsiteY8-454" fmla="*/ 154877 h 1891359"/>
              <a:gd name="connsiteX9-455" fmla="*/ 930782 w 1756257"/>
              <a:gd name="connsiteY9-456" fmla="*/ 21205 h 1891359"/>
              <a:gd name="connsiteX10" fmla="*/ 452050 w 1756257"/>
              <a:gd name="connsiteY10" fmla="*/ 534641 h 1891359"/>
              <a:gd name="connsiteX0-457" fmla="*/ 452050 w 1764590"/>
              <a:gd name="connsiteY0-458" fmla="*/ 534641 h 1891359"/>
              <a:gd name="connsiteX1-459" fmla="*/ 91698 w 1764590"/>
              <a:gd name="connsiteY1-460" fmla="*/ 940200 h 1891359"/>
              <a:gd name="connsiteX2-461" fmla="*/ 13351 w 1764590"/>
              <a:gd name="connsiteY2-462" fmla="*/ 1737812 h 1891359"/>
              <a:gd name="connsiteX3-463" fmla="*/ 309435 w 1764590"/>
              <a:gd name="connsiteY3-464" fmla="*/ 1891359 h 1891359"/>
              <a:gd name="connsiteX4-465" fmla="*/ 1669435 w 1764590"/>
              <a:gd name="connsiteY4-466" fmla="*/ 1840637 h 1891359"/>
              <a:gd name="connsiteX5-467" fmla="*/ 1612449 w 1764590"/>
              <a:gd name="connsiteY5-468" fmla="*/ 1257671 h 1891359"/>
              <a:gd name="connsiteX6-469" fmla="*/ 1309780 w 1764590"/>
              <a:gd name="connsiteY6-470" fmla="*/ 1046341 h 1891359"/>
              <a:gd name="connsiteX7-471" fmla="*/ 1560208 w 1764590"/>
              <a:gd name="connsiteY7-472" fmla="*/ 672856 h 1891359"/>
              <a:gd name="connsiteX8-473" fmla="*/ 1428622 w 1764590"/>
              <a:gd name="connsiteY8-474" fmla="*/ 154877 h 1891359"/>
              <a:gd name="connsiteX9-475" fmla="*/ 930782 w 1764590"/>
              <a:gd name="connsiteY9-476" fmla="*/ 21205 h 1891359"/>
              <a:gd name="connsiteX10-477" fmla="*/ 452050 w 1764590"/>
              <a:gd name="connsiteY10-478" fmla="*/ 534641 h 1891359"/>
              <a:gd name="connsiteX0-479" fmla="*/ 452050 w 1764592"/>
              <a:gd name="connsiteY0-480" fmla="*/ 534641 h 1891359"/>
              <a:gd name="connsiteX1-481" fmla="*/ 91698 w 1764592"/>
              <a:gd name="connsiteY1-482" fmla="*/ 940200 h 1891359"/>
              <a:gd name="connsiteX2-483" fmla="*/ 13351 w 1764592"/>
              <a:gd name="connsiteY2-484" fmla="*/ 1737812 h 1891359"/>
              <a:gd name="connsiteX3-485" fmla="*/ 309435 w 1764592"/>
              <a:gd name="connsiteY3-486" fmla="*/ 1891359 h 1891359"/>
              <a:gd name="connsiteX4-487" fmla="*/ 1669435 w 1764592"/>
              <a:gd name="connsiteY4-488" fmla="*/ 1840637 h 1891359"/>
              <a:gd name="connsiteX5-489" fmla="*/ 1612449 w 1764592"/>
              <a:gd name="connsiteY5-490" fmla="*/ 1257671 h 1891359"/>
              <a:gd name="connsiteX6-491" fmla="*/ 1309780 w 1764592"/>
              <a:gd name="connsiteY6-492" fmla="*/ 1046341 h 1891359"/>
              <a:gd name="connsiteX7-493" fmla="*/ 1560208 w 1764592"/>
              <a:gd name="connsiteY7-494" fmla="*/ 672856 h 1891359"/>
              <a:gd name="connsiteX8-495" fmla="*/ 1428622 w 1764592"/>
              <a:gd name="connsiteY8-496" fmla="*/ 154877 h 1891359"/>
              <a:gd name="connsiteX9-497" fmla="*/ 930782 w 1764592"/>
              <a:gd name="connsiteY9-498" fmla="*/ 21205 h 1891359"/>
              <a:gd name="connsiteX10-499" fmla="*/ 452050 w 1764592"/>
              <a:gd name="connsiteY10-500" fmla="*/ 534641 h 1891359"/>
              <a:gd name="connsiteX0-501" fmla="*/ 452050 w 1764590"/>
              <a:gd name="connsiteY0-502" fmla="*/ 534641 h 1891359"/>
              <a:gd name="connsiteX1-503" fmla="*/ 91698 w 1764590"/>
              <a:gd name="connsiteY1-504" fmla="*/ 940200 h 1891359"/>
              <a:gd name="connsiteX2-505" fmla="*/ 13351 w 1764590"/>
              <a:gd name="connsiteY2-506" fmla="*/ 1737812 h 1891359"/>
              <a:gd name="connsiteX3-507" fmla="*/ 309435 w 1764590"/>
              <a:gd name="connsiteY3-508" fmla="*/ 1891359 h 1891359"/>
              <a:gd name="connsiteX4-509" fmla="*/ 1669435 w 1764590"/>
              <a:gd name="connsiteY4-510" fmla="*/ 1840637 h 1891359"/>
              <a:gd name="connsiteX5-511" fmla="*/ 1612449 w 1764590"/>
              <a:gd name="connsiteY5-512" fmla="*/ 1257671 h 1891359"/>
              <a:gd name="connsiteX6-513" fmla="*/ 1309780 w 1764590"/>
              <a:gd name="connsiteY6-514" fmla="*/ 1046341 h 1891359"/>
              <a:gd name="connsiteX7-515" fmla="*/ 1560208 w 1764590"/>
              <a:gd name="connsiteY7-516" fmla="*/ 672856 h 1891359"/>
              <a:gd name="connsiteX8-517" fmla="*/ 1428622 w 1764590"/>
              <a:gd name="connsiteY8-518" fmla="*/ 154877 h 1891359"/>
              <a:gd name="connsiteX9-519" fmla="*/ 930782 w 1764590"/>
              <a:gd name="connsiteY9-520" fmla="*/ 21205 h 1891359"/>
              <a:gd name="connsiteX10-521" fmla="*/ 452050 w 1764590"/>
              <a:gd name="connsiteY10-522" fmla="*/ 534641 h 1891359"/>
              <a:gd name="connsiteX0-523" fmla="*/ 452050 w 1792731"/>
              <a:gd name="connsiteY0-524" fmla="*/ 534641 h 1891359"/>
              <a:gd name="connsiteX1-525" fmla="*/ 91698 w 1792731"/>
              <a:gd name="connsiteY1-526" fmla="*/ 940200 h 1891359"/>
              <a:gd name="connsiteX2-527" fmla="*/ 13351 w 1792731"/>
              <a:gd name="connsiteY2-528" fmla="*/ 1737812 h 1891359"/>
              <a:gd name="connsiteX3-529" fmla="*/ 309435 w 1792731"/>
              <a:gd name="connsiteY3-530" fmla="*/ 1891359 h 1891359"/>
              <a:gd name="connsiteX4-531" fmla="*/ 1669435 w 1792731"/>
              <a:gd name="connsiteY4-532" fmla="*/ 1840637 h 1891359"/>
              <a:gd name="connsiteX5-533" fmla="*/ 1688563 w 1792731"/>
              <a:gd name="connsiteY5-534" fmla="*/ 1292355 h 1891359"/>
              <a:gd name="connsiteX6-535" fmla="*/ 1309780 w 1792731"/>
              <a:gd name="connsiteY6-536" fmla="*/ 1046341 h 1891359"/>
              <a:gd name="connsiteX7-537" fmla="*/ 1560208 w 1792731"/>
              <a:gd name="connsiteY7-538" fmla="*/ 672856 h 1891359"/>
              <a:gd name="connsiteX8-539" fmla="*/ 1428622 w 1792731"/>
              <a:gd name="connsiteY8-540" fmla="*/ 154877 h 1891359"/>
              <a:gd name="connsiteX9-541" fmla="*/ 930782 w 1792731"/>
              <a:gd name="connsiteY9-542" fmla="*/ 21205 h 1891359"/>
              <a:gd name="connsiteX10-543" fmla="*/ 452050 w 1792731"/>
              <a:gd name="connsiteY10-544" fmla="*/ 534641 h 1891359"/>
              <a:gd name="connsiteX0-545" fmla="*/ 452050 w 1814809"/>
              <a:gd name="connsiteY0-546" fmla="*/ 534641 h 1891359"/>
              <a:gd name="connsiteX1-547" fmla="*/ 91698 w 1814809"/>
              <a:gd name="connsiteY1-548" fmla="*/ 940200 h 1891359"/>
              <a:gd name="connsiteX2-549" fmla="*/ 13351 w 1814809"/>
              <a:gd name="connsiteY2-550" fmla="*/ 1737812 h 1891359"/>
              <a:gd name="connsiteX3-551" fmla="*/ 309435 w 1814809"/>
              <a:gd name="connsiteY3-552" fmla="*/ 1891359 h 1891359"/>
              <a:gd name="connsiteX4-553" fmla="*/ 1669435 w 1814809"/>
              <a:gd name="connsiteY4-554" fmla="*/ 1840637 h 1891359"/>
              <a:gd name="connsiteX5-555" fmla="*/ 1688563 w 1814809"/>
              <a:gd name="connsiteY5-556" fmla="*/ 1292355 h 1891359"/>
              <a:gd name="connsiteX6-557" fmla="*/ 1309780 w 1814809"/>
              <a:gd name="connsiteY6-558" fmla="*/ 1046341 h 1891359"/>
              <a:gd name="connsiteX7-559" fmla="*/ 1560208 w 1814809"/>
              <a:gd name="connsiteY7-560" fmla="*/ 672856 h 1891359"/>
              <a:gd name="connsiteX8-561" fmla="*/ 1428622 w 1814809"/>
              <a:gd name="connsiteY8-562" fmla="*/ 154877 h 1891359"/>
              <a:gd name="connsiteX9-563" fmla="*/ 930782 w 1814809"/>
              <a:gd name="connsiteY9-564" fmla="*/ 21205 h 1891359"/>
              <a:gd name="connsiteX10-565" fmla="*/ 452050 w 1814809"/>
              <a:gd name="connsiteY10-566" fmla="*/ 534641 h 1891359"/>
              <a:gd name="connsiteX0-567" fmla="*/ 452050 w 1814809"/>
              <a:gd name="connsiteY0-568" fmla="*/ 534641 h 1891359"/>
              <a:gd name="connsiteX1-569" fmla="*/ 91698 w 1814809"/>
              <a:gd name="connsiteY1-570" fmla="*/ 940200 h 1891359"/>
              <a:gd name="connsiteX2-571" fmla="*/ 13351 w 1814809"/>
              <a:gd name="connsiteY2-572" fmla="*/ 1737812 h 1891359"/>
              <a:gd name="connsiteX3-573" fmla="*/ 309435 w 1814809"/>
              <a:gd name="connsiteY3-574" fmla="*/ 1891359 h 1891359"/>
              <a:gd name="connsiteX4-575" fmla="*/ 1669435 w 1814809"/>
              <a:gd name="connsiteY4-576" fmla="*/ 1840637 h 1891359"/>
              <a:gd name="connsiteX5-577" fmla="*/ 1688563 w 1814809"/>
              <a:gd name="connsiteY5-578" fmla="*/ 1292355 h 1891359"/>
              <a:gd name="connsiteX6-579" fmla="*/ 1309780 w 1814809"/>
              <a:gd name="connsiteY6-580" fmla="*/ 1046341 h 1891359"/>
              <a:gd name="connsiteX7-581" fmla="*/ 1619996 w 1814809"/>
              <a:gd name="connsiteY7-582" fmla="*/ 526399 h 1891359"/>
              <a:gd name="connsiteX8-583" fmla="*/ 1428622 w 1814809"/>
              <a:gd name="connsiteY8-584" fmla="*/ 154877 h 1891359"/>
              <a:gd name="connsiteX9-585" fmla="*/ 930782 w 1814809"/>
              <a:gd name="connsiteY9-586" fmla="*/ 21205 h 1891359"/>
              <a:gd name="connsiteX10-587" fmla="*/ 452050 w 1814809"/>
              <a:gd name="connsiteY10-588" fmla="*/ 534641 h 1891359"/>
              <a:gd name="connsiteX0-589" fmla="*/ 452050 w 1814809"/>
              <a:gd name="connsiteY0-590" fmla="*/ 542872 h 1899590"/>
              <a:gd name="connsiteX1-591" fmla="*/ 91698 w 1814809"/>
              <a:gd name="connsiteY1-592" fmla="*/ 948431 h 1899590"/>
              <a:gd name="connsiteX2-593" fmla="*/ 13351 w 1814809"/>
              <a:gd name="connsiteY2-594" fmla="*/ 1746043 h 1899590"/>
              <a:gd name="connsiteX3-595" fmla="*/ 309435 w 1814809"/>
              <a:gd name="connsiteY3-596" fmla="*/ 1899590 h 1899590"/>
              <a:gd name="connsiteX4-597" fmla="*/ 1669435 w 1814809"/>
              <a:gd name="connsiteY4-598" fmla="*/ 1848868 h 1899590"/>
              <a:gd name="connsiteX5-599" fmla="*/ 1688563 w 1814809"/>
              <a:gd name="connsiteY5-600" fmla="*/ 1300586 h 1899590"/>
              <a:gd name="connsiteX6-601" fmla="*/ 1309780 w 1814809"/>
              <a:gd name="connsiteY6-602" fmla="*/ 1054572 h 1899590"/>
              <a:gd name="connsiteX7-603" fmla="*/ 1619996 w 1814809"/>
              <a:gd name="connsiteY7-604" fmla="*/ 534630 h 1899590"/>
              <a:gd name="connsiteX8-605" fmla="*/ 1488411 w 1814809"/>
              <a:gd name="connsiteY8-606" fmla="*/ 129049 h 1899590"/>
              <a:gd name="connsiteX9-607" fmla="*/ 930782 w 1814809"/>
              <a:gd name="connsiteY9-608" fmla="*/ 29436 h 1899590"/>
              <a:gd name="connsiteX10-609" fmla="*/ 452050 w 1814809"/>
              <a:gd name="connsiteY10-610" fmla="*/ 542872 h 1899590"/>
              <a:gd name="connsiteX0-611" fmla="*/ 452050 w 1814809"/>
              <a:gd name="connsiteY0-612" fmla="*/ 540513 h 1897231"/>
              <a:gd name="connsiteX1-613" fmla="*/ 91698 w 1814809"/>
              <a:gd name="connsiteY1-614" fmla="*/ 946072 h 1897231"/>
              <a:gd name="connsiteX2-615" fmla="*/ 13351 w 1814809"/>
              <a:gd name="connsiteY2-616" fmla="*/ 1743684 h 1897231"/>
              <a:gd name="connsiteX3-617" fmla="*/ 309435 w 1814809"/>
              <a:gd name="connsiteY3-618" fmla="*/ 1897231 h 1897231"/>
              <a:gd name="connsiteX4-619" fmla="*/ 1669435 w 1814809"/>
              <a:gd name="connsiteY4-620" fmla="*/ 1846509 h 1897231"/>
              <a:gd name="connsiteX5-621" fmla="*/ 1688563 w 1814809"/>
              <a:gd name="connsiteY5-622" fmla="*/ 1298227 h 1897231"/>
              <a:gd name="connsiteX6-623" fmla="*/ 1309780 w 1814809"/>
              <a:gd name="connsiteY6-624" fmla="*/ 1052213 h 1897231"/>
              <a:gd name="connsiteX7-625" fmla="*/ 1619996 w 1814809"/>
              <a:gd name="connsiteY7-626" fmla="*/ 532271 h 1897231"/>
              <a:gd name="connsiteX8-627" fmla="*/ 1488411 w 1814809"/>
              <a:gd name="connsiteY8-628" fmla="*/ 126690 h 1897231"/>
              <a:gd name="connsiteX9-629" fmla="*/ 930782 w 1814809"/>
              <a:gd name="connsiteY9-630" fmla="*/ 27077 h 1897231"/>
              <a:gd name="connsiteX10-631" fmla="*/ 452050 w 1814809"/>
              <a:gd name="connsiteY10-632" fmla="*/ 540513 h 1897231"/>
              <a:gd name="connsiteX0-633" fmla="*/ 452050 w 1814809"/>
              <a:gd name="connsiteY0-634" fmla="*/ 540513 h 1897231"/>
              <a:gd name="connsiteX1-635" fmla="*/ 91698 w 1814809"/>
              <a:gd name="connsiteY1-636" fmla="*/ 946072 h 1897231"/>
              <a:gd name="connsiteX2-637" fmla="*/ 13351 w 1814809"/>
              <a:gd name="connsiteY2-638" fmla="*/ 1743684 h 1897231"/>
              <a:gd name="connsiteX3-639" fmla="*/ 309435 w 1814809"/>
              <a:gd name="connsiteY3-640" fmla="*/ 1897231 h 1897231"/>
              <a:gd name="connsiteX4-641" fmla="*/ 1669435 w 1814809"/>
              <a:gd name="connsiteY4-642" fmla="*/ 1846509 h 1897231"/>
              <a:gd name="connsiteX5-643" fmla="*/ 1688563 w 1814809"/>
              <a:gd name="connsiteY5-644" fmla="*/ 1298227 h 1897231"/>
              <a:gd name="connsiteX6-645" fmla="*/ 1309780 w 1814809"/>
              <a:gd name="connsiteY6-646" fmla="*/ 1052213 h 1897231"/>
              <a:gd name="connsiteX7-647" fmla="*/ 1619996 w 1814809"/>
              <a:gd name="connsiteY7-648" fmla="*/ 532271 h 1897231"/>
              <a:gd name="connsiteX8-649" fmla="*/ 1488411 w 1814809"/>
              <a:gd name="connsiteY8-650" fmla="*/ 126690 h 1897231"/>
              <a:gd name="connsiteX9-651" fmla="*/ 930782 w 1814809"/>
              <a:gd name="connsiteY9-652" fmla="*/ 27077 h 1897231"/>
              <a:gd name="connsiteX10-653" fmla="*/ 452050 w 1814809"/>
              <a:gd name="connsiteY10-654" fmla="*/ 540513 h 1897231"/>
              <a:gd name="connsiteX0-655" fmla="*/ 288567 w 1811701"/>
              <a:gd name="connsiteY0-656" fmla="*/ 555674 h 1898251"/>
              <a:gd name="connsiteX1-657" fmla="*/ 88590 w 1811701"/>
              <a:gd name="connsiteY1-658" fmla="*/ 947092 h 1898251"/>
              <a:gd name="connsiteX2-659" fmla="*/ 10243 w 1811701"/>
              <a:gd name="connsiteY2-660" fmla="*/ 1744704 h 1898251"/>
              <a:gd name="connsiteX3-661" fmla="*/ 306327 w 1811701"/>
              <a:gd name="connsiteY3-662" fmla="*/ 1898251 h 1898251"/>
              <a:gd name="connsiteX4-663" fmla="*/ 1666327 w 1811701"/>
              <a:gd name="connsiteY4-664" fmla="*/ 1847529 h 1898251"/>
              <a:gd name="connsiteX5-665" fmla="*/ 1685455 w 1811701"/>
              <a:gd name="connsiteY5-666" fmla="*/ 1299247 h 1898251"/>
              <a:gd name="connsiteX6-667" fmla="*/ 1306672 w 1811701"/>
              <a:gd name="connsiteY6-668" fmla="*/ 1053233 h 1898251"/>
              <a:gd name="connsiteX7-669" fmla="*/ 1616888 w 1811701"/>
              <a:gd name="connsiteY7-670" fmla="*/ 533291 h 1898251"/>
              <a:gd name="connsiteX8-671" fmla="*/ 1485303 w 1811701"/>
              <a:gd name="connsiteY8-672" fmla="*/ 127710 h 1898251"/>
              <a:gd name="connsiteX9-673" fmla="*/ 927674 w 1811701"/>
              <a:gd name="connsiteY9-674" fmla="*/ 28097 h 1898251"/>
              <a:gd name="connsiteX10-675" fmla="*/ 288567 w 1811701"/>
              <a:gd name="connsiteY10-676" fmla="*/ 555674 h 1898251"/>
              <a:gd name="connsiteX0-677" fmla="*/ 288567 w 1811701"/>
              <a:gd name="connsiteY0-678" fmla="*/ 479828 h 1822405"/>
              <a:gd name="connsiteX1-679" fmla="*/ 88590 w 1811701"/>
              <a:gd name="connsiteY1-680" fmla="*/ 871246 h 1822405"/>
              <a:gd name="connsiteX2-681" fmla="*/ 10243 w 1811701"/>
              <a:gd name="connsiteY2-682" fmla="*/ 1668858 h 1822405"/>
              <a:gd name="connsiteX3-683" fmla="*/ 306327 w 1811701"/>
              <a:gd name="connsiteY3-684" fmla="*/ 1822405 h 1822405"/>
              <a:gd name="connsiteX4-685" fmla="*/ 1666327 w 1811701"/>
              <a:gd name="connsiteY4-686" fmla="*/ 1771683 h 1822405"/>
              <a:gd name="connsiteX5-687" fmla="*/ 1685455 w 1811701"/>
              <a:gd name="connsiteY5-688" fmla="*/ 1223401 h 1822405"/>
              <a:gd name="connsiteX6-689" fmla="*/ 1306672 w 1811701"/>
              <a:gd name="connsiteY6-690" fmla="*/ 977387 h 1822405"/>
              <a:gd name="connsiteX7-691" fmla="*/ 1616888 w 1811701"/>
              <a:gd name="connsiteY7-692" fmla="*/ 457445 h 1822405"/>
              <a:gd name="connsiteX8-693" fmla="*/ 1485303 w 1811701"/>
              <a:gd name="connsiteY8-694" fmla="*/ 51864 h 1822405"/>
              <a:gd name="connsiteX9-695" fmla="*/ 895599 w 1811701"/>
              <a:gd name="connsiteY9-696" fmla="*/ 79530 h 1822405"/>
              <a:gd name="connsiteX10-697" fmla="*/ 288567 w 1811701"/>
              <a:gd name="connsiteY10-698" fmla="*/ 479828 h 1822405"/>
              <a:gd name="connsiteX0-699" fmla="*/ 288567 w 1811701"/>
              <a:gd name="connsiteY0-700" fmla="*/ 419258 h 1761835"/>
              <a:gd name="connsiteX1-701" fmla="*/ 88590 w 1811701"/>
              <a:gd name="connsiteY1-702" fmla="*/ 810676 h 1761835"/>
              <a:gd name="connsiteX2-703" fmla="*/ 10243 w 1811701"/>
              <a:gd name="connsiteY2-704" fmla="*/ 1608288 h 1761835"/>
              <a:gd name="connsiteX3-705" fmla="*/ 306327 w 1811701"/>
              <a:gd name="connsiteY3-706" fmla="*/ 1761835 h 1761835"/>
              <a:gd name="connsiteX4-707" fmla="*/ 1666327 w 1811701"/>
              <a:gd name="connsiteY4-708" fmla="*/ 1711113 h 1761835"/>
              <a:gd name="connsiteX5-709" fmla="*/ 1685455 w 1811701"/>
              <a:gd name="connsiteY5-710" fmla="*/ 1162831 h 1761835"/>
              <a:gd name="connsiteX6-711" fmla="*/ 1306672 w 1811701"/>
              <a:gd name="connsiteY6-712" fmla="*/ 916817 h 1761835"/>
              <a:gd name="connsiteX7-713" fmla="*/ 1616888 w 1811701"/>
              <a:gd name="connsiteY7-714" fmla="*/ 396875 h 1761835"/>
              <a:gd name="connsiteX8-715" fmla="*/ 1373040 w 1811701"/>
              <a:gd name="connsiteY8-716" fmla="*/ 118574 h 1761835"/>
              <a:gd name="connsiteX9-717" fmla="*/ 895599 w 1811701"/>
              <a:gd name="connsiteY9-718" fmla="*/ 18960 h 1761835"/>
              <a:gd name="connsiteX10-719" fmla="*/ 288567 w 1811701"/>
              <a:gd name="connsiteY10-720" fmla="*/ 419258 h 1761835"/>
              <a:gd name="connsiteX0-721" fmla="*/ 288567 w 1811701"/>
              <a:gd name="connsiteY0-722" fmla="*/ 419258 h 1761835"/>
              <a:gd name="connsiteX1-723" fmla="*/ 88590 w 1811701"/>
              <a:gd name="connsiteY1-724" fmla="*/ 810676 h 1761835"/>
              <a:gd name="connsiteX2-725" fmla="*/ 10243 w 1811701"/>
              <a:gd name="connsiteY2-726" fmla="*/ 1608288 h 1761835"/>
              <a:gd name="connsiteX3-727" fmla="*/ 306327 w 1811701"/>
              <a:gd name="connsiteY3-728" fmla="*/ 1761835 h 1761835"/>
              <a:gd name="connsiteX4-729" fmla="*/ 1666327 w 1811701"/>
              <a:gd name="connsiteY4-730" fmla="*/ 1711113 h 1761835"/>
              <a:gd name="connsiteX5-731" fmla="*/ 1685455 w 1811701"/>
              <a:gd name="connsiteY5-732" fmla="*/ 1162831 h 1761835"/>
              <a:gd name="connsiteX6-733" fmla="*/ 1306672 w 1811701"/>
              <a:gd name="connsiteY6-734" fmla="*/ 916817 h 1761835"/>
              <a:gd name="connsiteX7-735" fmla="*/ 1584814 w 1811701"/>
              <a:gd name="connsiteY7-736" fmla="*/ 510012 h 1761835"/>
              <a:gd name="connsiteX8-737" fmla="*/ 1373040 w 1811701"/>
              <a:gd name="connsiteY8-738" fmla="*/ 118574 h 1761835"/>
              <a:gd name="connsiteX9-739" fmla="*/ 895599 w 1811701"/>
              <a:gd name="connsiteY9-740" fmla="*/ 18960 h 1761835"/>
              <a:gd name="connsiteX10-741" fmla="*/ 288567 w 1811701"/>
              <a:gd name="connsiteY10-742" fmla="*/ 419258 h 1761835"/>
              <a:gd name="connsiteX0-743" fmla="*/ 288567 w 1770444"/>
              <a:gd name="connsiteY0-744" fmla="*/ 419258 h 1761835"/>
              <a:gd name="connsiteX1-745" fmla="*/ 88590 w 1770444"/>
              <a:gd name="connsiteY1-746" fmla="*/ 810676 h 1761835"/>
              <a:gd name="connsiteX2-747" fmla="*/ 10243 w 1770444"/>
              <a:gd name="connsiteY2-748" fmla="*/ 1608288 h 1761835"/>
              <a:gd name="connsiteX3-749" fmla="*/ 306327 w 1770444"/>
              <a:gd name="connsiteY3-750" fmla="*/ 1761835 h 1761835"/>
              <a:gd name="connsiteX4-751" fmla="*/ 1666327 w 1770444"/>
              <a:gd name="connsiteY4-752" fmla="*/ 1711113 h 1761835"/>
              <a:gd name="connsiteX5-753" fmla="*/ 1589229 w 1770444"/>
              <a:gd name="connsiteY5-754" fmla="*/ 1176973 h 1761835"/>
              <a:gd name="connsiteX6-755" fmla="*/ 1306672 w 1770444"/>
              <a:gd name="connsiteY6-756" fmla="*/ 916817 h 1761835"/>
              <a:gd name="connsiteX7-757" fmla="*/ 1584814 w 1770444"/>
              <a:gd name="connsiteY7-758" fmla="*/ 510012 h 1761835"/>
              <a:gd name="connsiteX8-759" fmla="*/ 1373040 w 1770444"/>
              <a:gd name="connsiteY8-760" fmla="*/ 118574 h 1761835"/>
              <a:gd name="connsiteX9-761" fmla="*/ 895599 w 1770444"/>
              <a:gd name="connsiteY9-762" fmla="*/ 18960 h 1761835"/>
              <a:gd name="connsiteX10-763" fmla="*/ 288567 w 1770444"/>
              <a:gd name="connsiteY10-764" fmla="*/ 419258 h 1761835"/>
              <a:gd name="connsiteX0-765" fmla="*/ 288567 w 1592514"/>
              <a:gd name="connsiteY0-766" fmla="*/ 419258 h 1863058"/>
              <a:gd name="connsiteX1-767" fmla="*/ 88590 w 1592514"/>
              <a:gd name="connsiteY1-768" fmla="*/ 810676 h 1863058"/>
              <a:gd name="connsiteX2-769" fmla="*/ 10243 w 1592514"/>
              <a:gd name="connsiteY2-770" fmla="*/ 1608288 h 1863058"/>
              <a:gd name="connsiteX3-771" fmla="*/ 306327 w 1592514"/>
              <a:gd name="connsiteY3-772" fmla="*/ 1761835 h 1863058"/>
              <a:gd name="connsiteX4-773" fmla="*/ 1377650 w 1592514"/>
              <a:gd name="connsiteY4-774" fmla="*/ 1838393 h 1863058"/>
              <a:gd name="connsiteX5-775" fmla="*/ 1589229 w 1592514"/>
              <a:gd name="connsiteY5-776" fmla="*/ 1176973 h 1863058"/>
              <a:gd name="connsiteX6-777" fmla="*/ 1306672 w 1592514"/>
              <a:gd name="connsiteY6-778" fmla="*/ 916817 h 1863058"/>
              <a:gd name="connsiteX7-779" fmla="*/ 1584814 w 1592514"/>
              <a:gd name="connsiteY7-780" fmla="*/ 510012 h 1863058"/>
              <a:gd name="connsiteX8-781" fmla="*/ 1373040 w 1592514"/>
              <a:gd name="connsiteY8-782" fmla="*/ 118574 h 1863058"/>
              <a:gd name="connsiteX9-783" fmla="*/ 895599 w 1592514"/>
              <a:gd name="connsiteY9-784" fmla="*/ 18960 h 1863058"/>
              <a:gd name="connsiteX10-785" fmla="*/ 288567 w 1592514"/>
              <a:gd name="connsiteY10-786" fmla="*/ 419258 h 1863058"/>
              <a:gd name="connsiteX0-787" fmla="*/ 421322 w 1594935"/>
              <a:gd name="connsiteY0-788" fmla="*/ 616342 h 1876292"/>
              <a:gd name="connsiteX1-789" fmla="*/ 91011 w 1594935"/>
              <a:gd name="connsiteY1-790" fmla="*/ 823910 h 1876292"/>
              <a:gd name="connsiteX2-791" fmla="*/ 12664 w 1594935"/>
              <a:gd name="connsiteY2-792" fmla="*/ 1621522 h 1876292"/>
              <a:gd name="connsiteX3-793" fmla="*/ 308748 w 1594935"/>
              <a:gd name="connsiteY3-794" fmla="*/ 1775069 h 1876292"/>
              <a:gd name="connsiteX4-795" fmla="*/ 1380071 w 1594935"/>
              <a:gd name="connsiteY4-796" fmla="*/ 1851627 h 1876292"/>
              <a:gd name="connsiteX5-797" fmla="*/ 1591650 w 1594935"/>
              <a:gd name="connsiteY5-798" fmla="*/ 1190207 h 1876292"/>
              <a:gd name="connsiteX6-799" fmla="*/ 1309093 w 1594935"/>
              <a:gd name="connsiteY6-800" fmla="*/ 930051 h 1876292"/>
              <a:gd name="connsiteX7-801" fmla="*/ 1587235 w 1594935"/>
              <a:gd name="connsiteY7-802" fmla="*/ 523246 h 1876292"/>
              <a:gd name="connsiteX8-803" fmla="*/ 1375461 w 1594935"/>
              <a:gd name="connsiteY8-804" fmla="*/ 131808 h 1876292"/>
              <a:gd name="connsiteX9-805" fmla="*/ 898020 w 1594935"/>
              <a:gd name="connsiteY9-806" fmla="*/ 32194 h 1876292"/>
              <a:gd name="connsiteX10-807" fmla="*/ 421322 w 1594935"/>
              <a:gd name="connsiteY10-808" fmla="*/ 616342 h 1876292"/>
              <a:gd name="connsiteX0-809" fmla="*/ 413257 w 1586870"/>
              <a:gd name="connsiteY0-810" fmla="*/ 616342 h 1876292"/>
              <a:gd name="connsiteX1-811" fmla="*/ 140873 w 1586870"/>
              <a:gd name="connsiteY1-812" fmla="*/ 993617 h 1876292"/>
              <a:gd name="connsiteX2-813" fmla="*/ 4599 w 1586870"/>
              <a:gd name="connsiteY2-814" fmla="*/ 1621522 h 1876292"/>
              <a:gd name="connsiteX3-815" fmla="*/ 300683 w 1586870"/>
              <a:gd name="connsiteY3-816" fmla="*/ 1775069 h 1876292"/>
              <a:gd name="connsiteX4-817" fmla="*/ 1372006 w 1586870"/>
              <a:gd name="connsiteY4-818" fmla="*/ 1851627 h 1876292"/>
              <a:gd name="connsiteX5-819" fmla="*/ 1583585 w 1586870"/>
              <a:gd name="connsiteY5-820" fmla="*/ 1190207 h 1876292"/>
              <a:gd name="connsiteX6-821" fmla="*/ 1301028 w 1586870"/>
              <a:gd name="connsiteY6-822" fmla="*/ 930051 h 1876292"/>
              <a:gd name="connsiteX7-823" fmla="*/ 1579170 w 1586870"/>
              <a:gd name="connsiteY7-824" fmla="*/ 523246 h 1876292"/>
              <a:gd name="connsiteX8-825" fmla="*/ 1367396 w 1586870"/>
              <a:gd name="connsiteY8-826" fmla="*/ 131808 h 1876292"/>
              <a:gd name="connsiteX9-827" fmla="*/ 889955 w 1586870"/>
              <a:gd name="connsiteY9-828" fmla="*/ 32194 h 1876292"/>
              <a:gd name="connsiteX10-829" fmla="*/ 413257 w 1586870"/>
              <a:gd name="connsiteY10-830" fmla="*/ 616342 h 1876292"/>
              <a:gd name="connsiteX0-831" fmla="*/ 284962 w 1458575"/>
              <a:gd name="connsiteY0-832" fmla="*/ 616342 h 1908017"/>
              <a:gd name="connsiteX1-833" fmla="*/ 12578 w 1458575"/>
              <a:gd name="connsiteY1-834" fmla="*/ 993617 h 1908017"/>
              <a:gd name="connsiteX2-835" fmla="*/ 172388 w 1458575"/>
              <a:gd name="connsiteY2-836" fmla="*/ 1775069 h 1908017"/>
              <a:gd name="connsiteX3-837" fmla="*/ 1243711 w 1458575"/>
              <a:gd name="connsiteY3-838" fmla="*/ 1851627 h 1908017"/>
              <a:gd name="connsiteX4-839" fmla="*/ 1455290 w 1458575"/>
              <a:gd name="connsiteY4-840" fmla="*/ 1190207 h 1908017"/>
              <a:gd name="connsiteX5-841" fmla="*/ 1172733 w 1458575"/>
              <a:gd name="connsiteY5-842" fmla="*/ 930051 h 1908017"/>
              <a:gd name="connsiteX6-843" fmla="*/ 1450875 w 1458575"/>
              <a:gd name="connsiteY6-844" fmla="*/ 523246 h 1908017"/>
              <a:gd name="connsiteX7-845" fmla="*/ 1239101 w 1458575"/>
              <a:gd name="connsiteY7-846" fmla="*/ 131808 h 1908017"/>
              <a:gd name="connsiteX8-847" fmla="*/ 761660 w 1458575"/>
              <a:gd name="connsiteY8-848" fmla="*/ 32194 h 1908017"/>
              <a:gd name="connsiteX9-849" fmla="*/ 284962 w 1458575"/>
              <a:gd name="connsiteY9-850" fmla="*/ 616342 h 1908017"/>
              <a:gd name="connsiteX0-851" fmla="*/ 343858 w 1519131"/>
              <a:gd name="connsiteY0-852" fmla="*/ 616342 h 1885036"/>
              <a:gd name="connsiteX1-853" fmla="*/ 71474 w 1519131"/>
              <a:gd name="connsiteY1-854" fmla="*/ 993617 h 1885036"/>
              <a:gd name="connsiteX2-855" fmla="*/ 115432 w 1519131"/>
              <a:gd name="connsiteY2-856" fmla="*/ 1704358 h 1885036"/>
              <a:gd name="connsiteX3-857" fmla="*/ 1302607 w 1519131"/>
              <a:gd name="connsiteY3-858" fmla="*/ 1851627 h 1885036"/>
              <a:gd name="connsiteX4-859" fmla="*/ 1514186 w 1519131"/>
              <a:gd name="connsiteY4-860" fmla="*/ 1190207 h 1885036"/>
              <a:gd name="connsiteX5-861" fmla="*/ 1231629 w 1519131"/>
              <a:gd name="connsiteY5-862" fmla="*/ 930051 h 1885036"/>
              <a:gd name="connsiteX6-863" fmla="*/ 1509771 w 1519131"/>
              <a:gd name="connsiteY6-864" fmla="*/ 523246 h 1885036"/>
              <a:gd name="connsiteX7-865" fmla="*/ 1297997 w 1519131"/>
              <a:gd name="connsiteY7-866" fmla="*/ 131808 h 1885036"/>
              <a:gd name="connsiteX8-867" fmla="*/ 820556 w 1519131"/>
              <a:gd name="connsiteY8-868" fmla="*/ 32194 h 1885036"/>
              <a:gd name="connsiteX9-869" fmla="*/ 343858 w 1519131"/>
              <a:gd name="connsiteY9-870" fmla="*/ 616342 h 1885036"/>
              <a:gd name="connsiteX0-871" fmla="*/ 343858 w 1549812"/>
              <a:gd name="connsiteY0-872" fmla="*/ 616342 h 1800235"/>
              <a:gd name="connsiteX1-873" fmla="*/ 71474 w 1549812"/>
              <a:gd name="connsiteY1-874" fmla="*/ 993617 h 1800235"/>
              <a:gd name="connsiteX2-875" fmla="*/ 115432 w 1549812"/>
              <a:gd name="connsiteY2-876" fmla="*/ 1704358 h 1800235"/>
              <a:gd name="connsiteX3-877" fmla="*/ 1389496 w 1549812"/>
              <a:gd name="connsiteY3-878" fmla="*/ 1724347 h 1800235"/>
              <a:gd name="connsiteX4-879" fmla="*/ 1514186 w 1549812"/>
              <a:gd name="connsiteY4-880" fmla="*/ 1190207 h 1800235"/>
              <a:gd name="connsiteX5-881" fmla="*/ 1231629 w 1549812"/>
              <a:gd name="connsiteY5-882" fmla="*/ 930051 h 1800235"/>
              <a:gd name="connsiteX6-883" fmla="*/ 1509771 w 1549812"/>
              <a:gd name="connsiteY6-884" fmla="*/ 523246 h 1800235"/>
              <a:gd name="connsiteX7-885" fmla="*/ 1297997 w 1549812"/>
              <a:gd name="connsiteY7-886" fmla="*/ 131808 h 1800235"/>
              <a:gd name="connsiteX8-887" fmla="*/ 820556 w 1549812"/>
              <a:gd name="connsiteY8-888" fmla="*/ 32194 h 1800235"/>
              <a:gd name="connsiteX9-889" fmla="*/ 343858 w 1549812"/>
              <a:gd name="connsiteY9-890" fmla="*/ 616342 h 180023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235" y="connsiteY9-236"/>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13" name="Freeform 417"/>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a:p>
        </p:txBody>
      </p:sp>
      <p:sp>
        <p:nvSpPr>
          <p:cNvPr id="369" name="Rectangle 419"/>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370" name="AutoShape 420"/>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a:solidFill>
                <a:srgbClr val="00CCFF"/>
              </a:solidFill>
              <a:latin typeface="Arial" panose="020B0604020202020204" pitchFamily="34" charset="0"/>
            </a:endParaRPr>
          </a:p>
        </p:txBody>
      </p:sp>
      <p:sp>
        <p:nvSpPr>
          <p:cNvPr id="21" name="Freeform 427"/>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a:p>
        </p:txBody>
      </p:sp>
      <p:sp>
        <p:nvSpPr>
          <p:cNvPr id="66" name="Text Box 580"/>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endParaRPr lang="en-US" altLang="en-US" sz="1400" dirty="0">
              <a:latin typeface="+mn-lt"/>
            </a:endParaRPr>
          </a:p>
        </p:txBody>
      </p:sp>
      <p:sp>
        <p:nvSpPr>
          <p:cNvPr id="69" name="Text Box 580"/>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endParaRPr lang="en-US" altLang="en-US" sz="1400" dirty="0">
              <a:latin typeface="+mn-lt"/>
            </a:endParaRPr>
          </a:p>
        </p:txBody>
      </p:sp>
      <p:sp>
        <p:nvSpPr>
          <p:cNvPr id="70" name="Text Box 580"/>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endParaRPr lang="en-US" altLang="en-US" sz="1400" dirty="0">
              <a:latin typeface="+mn-lt"/>
            </a:endParaRPr>
          </a:p>
          <a:p>
            <a:pPr>
              <a:lnSpc>
                <a:spcPct val="80000"/>
              </a:lnSpc>
              <a:spcBef>
                <a:spcPct val="0"/>
              </a:spcBef>
              <a:buClrTx/>
              <a:buSzTx/>
              <a:buFontTx/>
              <a:buNone/>
            </a:pPr>
            <a:r>
              <a:rPr lang="en-US" altLang="en-US" sz="1400" dirty="0">
                <a:latin typeface="+mn-lt"/>
              </a:rPr>
              <a:t>          network</a:t>
            </a:r>
            <a:endParaRPr lang="en-US" altLang="en-US" sz="1400" dirty="0">
              <a:latin typeface="+mn-lt"/>
            </a:endParaRPr>
          </a:p>
        </p:txBody>
      </p:sp>
      <p:sp>
        <p:nvSpPr>
          <p:cNvPr id="372" name="Freeform 371"/>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1" fmla="*/ 434989 w 1537226"/>
              <a:gd name="connsiteY0-2" fmla="*/ 253346 h 1763594"/>
              <a:gd name="connsiteX1-3" fmla="*/ 488 w 1537226"/>
              <a:gd name="connsiteY1-4" fmla="*/ 921706 h 1763594"/>
              <a:gd name="connsiteX2-5" fmla="*/ 368142 w 1537226"/>
              <a:gd name="connsiteY2-6" fmla="*/ 1489812 h 1763594"/>
              <a:gd name="connsiteX3-7" fmla="*/ 1187008 w 1537226"/>
              <a:gd name="connsiteY3-8" fmla="*/ 1757156 h 1763594"/>
              <a:gd name="connsiteX4-9" fmla="*/ 1521239 w 1537226"/>
              <a:gd name="connsiteY4-10" fmla="*/ 1239177 h 1763594"/>
              <a:gd name="connsiteX5-11" fmla="*/ 1468998 w 1537226"/>
              <a:gd name="connsiteY5-12" fmla="*/ 654362 h 1763594"/>
              <a:gd name="connsiteX6-13" fmla="*/ 1337412 w 1537226"/>
              <a:gd name="connsiteY6-14" fmla="*/ 136383 h 1763594"/>
              <a:gd name="connsiteX7-15" fmla="*/ 1086739 w 1537226"/>
              <a:gd name="connsiteY7-16" fmla="*/ 2711 h 1763594"/>
              <a:gd name="connsiteX8-17" fmla="*/ 434989 w 1537226"/>
              <a:gd name="connsiteY8-18" fmla="*/ 253346 h 1763594"/>
              <a:gd name="connsiteX0-19" fmla="*/ 434989 w 1537226"/>
              <a:gd name="connsiteY0-20" fmla="*/ 253346 h 1763594"/>
              <a:gd name="connsiteX1-21" fmla="*/ 488 w 1537226"/>
              <a:gd name="connsiteY1-22" fmla="*/ 921706 h 1763594"/>
              <a:gd name="connsiteX2-23" fmla="*/ 368142 w 1537226"/>
              <a:gd name="connsiteY2-24" fmla="*/ 1489812 h 1763594"/>
              <a:gd name="connsiteX3-25" fmla="*/ 1187008 w 1537226"/>
              <a:gd name="connsiteY3-26" fmla="*/ 1757156 h 1763594"/>
              <a:gd name="connsiteX4-27" fmla="*/ 1521239 w 1537226"/>
              <a:gd name="connsiteY4-28" fmla="*/ 1239177 h 1763594"/>
              <a:gd name="connsiteX5-29" fmla="*/ 1468998 w 1537226"/>
              <a:gd name="connsiteY5-30" fmla="*/ 654362 h 1763594"/>
              <a:gd name="connsiteX6-31" fmla="*/ 1337412 w 1537226"/>
              <a:gd name="connsiteY6-32" fmla="*/ 136383 h 1763594"/>
              <a:gd name="connsiteX7-33" fmla="*/ 839572 w 1537226"/>
              <a:gd name="connsiteY7-34" fmla="*/ 2711 h 1763594"/>
              <a:gd name="connsiteX8-35" fmla="*/ 434989 w 1537226"/>
              <a:gd name="connsiteY8-36" fmla="*/ 253346 h 1763594"/>
              <a:gd name="connsiteX0-37" fmla="*/ 360357 w 1536743"/>
              <a:gd name="connsiteY0-38" fmla="*/ 534641 h 1782088"/>
              <a:gd name="connsiteX1-39" fmla="*/ 5 w 1536743"/>
              <a:gd name="connsiteY1-40" fmla="*/ 940200 h 1782088"/>
              <a:gd name="connsiteX2-41" fmla="*/ 367659 w 1536743"/>
              <a:gd name="connsiteY2-42" fmla="*/ 1508306 h 1782088"/>
              <a:gd name="connsiteX3-43" fmla="*/ 1186525 w 1536743"/>
              <a:gd name="connsiteY3-44" fmla="*/ 1775650 h 1782088"/>
              <a:gd name="connsiteX4-45" fmla="*/ 1520756 w 1536743"/>
              <a:gd name="connsiteY4-46" fmla="*/ 1257671 h 1782088"/>
              <a:gd name="connsiteX5-47" fmla="*/ 1468515 w 1536743"/>
              <a:gd name="connsiteY5-48" fmla="*/ 672856 h 1782088"/>
              <a:gd name="connsiteX6-49" fmla="*/ 1336929 w 1536743"/>
              <a:gd name="connsiteY6-50" fmla="*/ 154877 h 1782088"/>
              <a:gd name="connsiteX7-51" fmla="*/ 839089 w 1536743"/>
              <a:gd name="connsiteY7-52" fmla="*/ 21205 h 1782088"/>
              <a:gd name="connsiteX8-53" fmla="*/ 360357 w 1536743"/>
              <a:gd name="connsiteY8-54" fmla="*/ 534641 h 1782088"/>
              <a:gd name="connsiteX0-55" fmla="*/ 360355 w 1536741"/>
              <a:gd name="connsiteY0-56" fmla="*/ 534641 h 1782088"/>
              <a:gd name="connsiteX1-57" fmla="*/ 3 w 1536741"/>
              <a:gd name="connsiteY1-58" fmla="*/ 940200 h 1782088"/>
              <a:gd name="connsiteX2-59" fmla="*/ 367657 w 1536741"/>
              <a:gd name="connsiteY2-60" fmla="*/ 1508306 h 1782088"/>
              <a:gd name="connsiteX3-61" fmla="*/ 1186523 w 1536741"/>
              <a:gd name="connsiteY3-62" fmla="*/ 1775650 h 1782088"/>
              <a:gd name="connsiteX4-63" fmla="*/ 1520754 w 1536741"/>
              <a:gd name="connsiteY4-64" fmla="*/ 1257671 h 1782088"/>
              <a:gd name="connsiteX5-65" fmla="*/ 1468513 w 1536741"/>
              <a:gd name="connsiteY5-66" fmla="*/ 672856 h 1782088"/>
              <a:gd name="connsiteX6-67" fmla="*/ 1336927 w 1536741"/>
              <a:gd name="connsiteY6-68" fmla="*/ 154877 h 1782088"/>
              <a:gd name="connsiteX7-69" fmla="*/ 839087 w 1536741"/>
              <a:gd name="connsiteY7-70" fmla="*/ 21205 h 1782088"/>
              <a:gd name="connsiteX8-71" fmla="*/ 360355 w 1536741"/>
              <a:gd name="connsiteY8-72" fmla="*/ 534641 h 1782088"/>
              <a:gd name="connsiteX0-73" fmla="*/ 360355 w 1534770"/>
              <a:gd name="connsiteY0-74" fmla="*/ 553225 h 1800672"/>
              <a:gd name="connsiteX1-75" fmla="*/ 3 w 1534770"/>
              <a:gd name="connsiteY1-76" fmla="*/ 958784 h 1800672"/>
              <a:gd name="connsiteX2-77" fmla="*/ 367657 w 1534770"/>
              <a:gd name="connsiteY2-78" fmla="*/ 1526890 h 1800672"/>
              <a:gd name="connsiteX3-79" fmla="*/ 1186523 w 1534770"/>
              <a:gd name="connsiteY3-80" fmla="*/ 1794234 h 1800672"/>
              <a:gd name="connsiteX4-81" fmla="*/ 1520754 w 1534770"/>
              <a:gd name="connsiteY4-82" fmla="*/ 1276255 h 1800672"/>
              <a:gd name="connsiteX5-83" fmla="*/ 1468513 w 1534770"/>
              <a:gd name="connsiteY5-84" fmla="*/ 691440 h 1800672"/>
              <a:gd name="connsiteX6-85" fmla="*/ 1435794 w 1534770"/>
              <a:gd name="connsiteY6-86" fmla="*/ 107761 h 1800672"/>
              <a:gd name="connsiteX7-87" fmla="*/ 839087 w 1534770"/>
              <a:gd name="connsiteY7-88" fmla="*/ 39789 h 1800672"/>
              <a:gd name="connsiteX8-89" fmla="*/ 360355 w 1534770"/>
              <a:gd name="connsiteY8-90" fmla="*/ 553225 h 1800672"/>
              <a:gd name="connsiteX0-91" fmla="*/ 360355 w 1580585"/>
              <a:gd name="connsiteY0-92" fmla="*/ 553225 h 1880420"/>
              <a:gd name="connsiteX1-93" fmla="*/ 3 w 1580585"/>
              <a:gd name="connsiteY1-94" fmla="*/ 958784 h 1880420"/>
              <a:gd name="connsiteX2-95" fmla="*/ 367657 w 1580585"/>
              <a:gd name="connsiteY2-96" fmla="*/ 1526890 h 1880420"/>
              <a:gd name="connsiteX3-97" fmla="*/ 1186523 w 1580585"/>
              <a:gd name="connsiteY3-98" fmla="*/ 1794234 h 1880420"/>
              <a:gd name="connsiteX4-99" fmla="*/ 1570188 w 1580585"/>
              <a:gd name="connsiteY4-100" fmla="*/ 1785433 h 1880420"/>
              <a:gd name="connsiteX5-101" fmla="*/ 1468513 w 1580585"/>
              <a:gd name="connsiteY5-102" fmla="*/ 691440 h 1880420"/>
              <a:gd name="connsiteX6-103" fmla="*/ 1435794 w 1580585"/>
              <a:gd name="connsiteY6-104" fmla="*/ 107761 h 1880420"/>
              <a:gd name="connsiteX7-105" fmla="*/ 839087 w 1580585"/>
              <a:gd name="connsiteY7-106" fmla="*/ 39789 h 1880420"/>
              <a:gd name="connsiteX8-107" fmla="*/ 360355 w 1580585"/>
              <a:gd name="connsiteY8-108" fmla="*/ 553225 h 1880420"/>
              <a:gd name="connsiteX0-109" fmla="*/ 316588 w 1580732"/>
              <a:gd name="connsiteY0-110" fmla="*/ 359285 h 1867156"/>
              <a:gd name="connsiteX1-111" fmla="*/ 150 w 1580732"/>
              <a:gd name="connsiteY1-112" fmla="*/ 945520 h 1867156"/>
              <a:gd name="connsiteX2-113" fmla="*/ 367804 w 1580732"/>
              <a:gd name="connsiteY2-114" fmla="*/ 1513626 h 1867156"/>
              <a:gd name="connsiteX3-115" fmla="*/ 1186670 w 1580732"/>
              <a:gd name="connsiteY3-116" fmla="*/ 1780970 h 1867156"/>
              <a:gd name="connsiteX4-117" fmla="*/ 1570335 w 1580732"/>
              <a:gd name="connsiteY4-118" fmla="*/ 1772169 h 1867156"/>
              <a:gd name="connsiteX5-119" fmla="*/ 1468660 w 1580732"/>
              <a:gd name="connsiteY5-120" fmla="*/ 678176 h 1867156"/>
              <a:gd name="connsiteX6-121" fmla="*/ 1435941 w 1580732"/>
              <a:gd name="connsiteY6-122" fmla="*/ 94497 h 1867156"/>
              <a:gd name="connsiteX7-123" fmla="*/ 839234 w 1580732"/>
              <a:gd name="connsiteY7-124" fmla="*/ 26525 h 1867156"/>
              <a:gd name="connsiteX8-125" fmla="*/ 316588 w 1580732"/>
              <a:gd name="connsiteY8-126" fmla="*/ 359285 h 1867156"/>
              <a:gd name="connsiteX0-127" fmla="*/ 163575 w 1427719"/>
              <a:gd name="connsiteY0-128" fmla="*/ 359285 h 1867156"/>
              <a:gd name="connsiteX1-129" fmla="*/ 836 w 1427719"/>
              <a:gd name="connsiteY1-130" fmla="*/ 1076921 h 1867156"/>
              <a:gd name="connsiteX2-131" fmla="*/ 214791 w 1427719"/>
              <a:gd name="connsiteY2-132" fmla="*/ 1513626 h 1867156"/>
              <a:gd name="connsiteX3-133" fmla="*/ 1033657 w 1427719"/>
              <a:gd name="connsiteY3-134" fmla="*/ 1780970 h 1867156"/>
              <a:gd name="connsiteX4-135" fmla="*/ 1417322 w 1427719"/>
              <a:gd name="connsiteY4-136" fmla="*/ 1772169 h 1867156"/>
              <a:gd name="connsiteX5-137" fmla="*/ 1315647 w 1427719"/>
              <a:gd name="connsiteY5-138" fmla="*/ 678176 h 1867156"/>
              <a:gd name="connsiteX6-139" fmla="*/ 1282928 w 1427719"/>
              <a:gd name="connsiteY6-140" fmla="*/ 94497 h 1867156"/>
              <a:gd name="connsiteX7-141" fmla="*/ 686221 w 1427719"/>
              <a:gd name="connsiteY7-142" fmla="*/ 26525 h 1867156"/>
              <a:gd name="connsiteX8-143" fmla="*/ 163575 w 1427719"/>
              <a:gd name="connsiteY8-144" fmla="*/ 359285 h 1867156"/>
              <a:gd name="connsiteX0-145" fmla="*/ 163575 w 1426632"/>
              <a:gd name="connsiteY0-146" fmla="*/ 394322 h 1902193"/>
              <a:gd name="connsiteX1-147" fmla="*/ 836 w 1426632"/>
              <a:gd name="connsiteY1-148" fmla="*/ 1111958 h 1902193"/>
              <a:gd name="connsiteX2-149" fmla="*/ 214791 w 1426632"/>
              <a:gd name="connsiteY2-150" fmla="*/ 1548663 h 1902193"/>
              <a:gd name="connsiteX3-151" fmla="*/ 1033657 w 1426632"/>
              <a:gd name="connsiteY3-152" fmla="*/ 1816007 h 1902193"/>
              <a:gd name="connsiteX4-153" fmla="*/ 1417322 w 1426632"/>
              <a:gd name="connsiteY4-154" fmla="*/ 1807206 h 1902193"/>
              <a:gd name="connsiteX5-155" fmla="*/ 1315647 w 1426632"/>
              <a:gd name="connsiteY5-156" fmla="*/ 713213 h 1902193"/>
              <a:gd name="connsiteX6-157" fmla="*/ 1401843 w 1426632"/>
              <a:gd name="connsiteY6-158" fmla="*/ 63834 h 1902193"/>
              <a:gd name="connsiteX7-159" fmla="*/ 686221 w 1426632"/>
              <a:gd name="connsiteY7-160" fmla="*/ 61562 h 1902193"/>
              <a:gd name="connsiteX8-161" fmla="*/ 163575 w 1426632"/>
              <a:gd name="connsiteY8-162" fmla="*/ 394322 h 1902193"/>
              <a:gd name="connsiteX0-163" fmla="*/ 163575 w 1435249"/>
              <a:gd name="connsiteY0-164" fmla="*/ 394322 h 1885560"/>
              <a:gd name="connsiteX1-165" fmla="*/ 836 w 1435249"/>
              <a:gd name="connsiteY1-166" fmla="*/ 1111958 h 1885560"/>
              <a:gd name="connsiteX2-167" fmla="*/ 214791 w 1435249"/>
              <a:gd name="connsiteY2-168" fmla="*/ 1548663 h 1885560"/>
              <a:gd name="connsiteX3-169" fmla="*/ 1033657 w 1435249"/>
              <a:gd name="connsiteY3-170" fmla="*/ 1816007 h 1885560"/>
              <a:gd name="connsiteX4-171" fmla="*/ 1417322 w 1435249"/>
              <a:gd name="connsiteY4-172" fmla="*/ 1807206 h 1885560"/>
              <a:gd name="connsiteX5-173" fmla="*/ 1375103 w 1435249"/>
              <a:gd name="connsiteY5-174" fmla="*/ 943164 h 1885560"/>
              <a:gd name="connsiteX6-175" fmla="*/ 1401843 w 1435249"/>
              <a:gd name="connsiteY6-176" fmla="*/ 63834 h 1885560"/>
              <a:gd name="connsiteX7-177" fmla="*/ 686221 w 1435249"/>
              <a:gd name="connsiteY7-178" fmla="*/ 61562 h 1885560"/>
              <a:gd name="connsiteX8-179" fmla="*/ 163575 w 1435249"/>
              <a:gd name="connsiteY8-180" fmla="*/ 394322 h 1885560"/>
              <a:gd name="connsiteX0-181" fmla="*/ 128947 w 1438213"/>
              <a:gd name="connsiteY0-182" fmla="*/ 345176 h 1883146"/>
              <a:gd name="connsiteX1-183" fmla="*/ 3802 w 1438213"/>
              <a:gd name="connsiteY1-184" fmla="*/ 1109544 h 1883146"/>
              <a:gd name="connsiteX2-185" fmla="*/ 217757 w 1438213"/>
              <a:gd name="connsiteY2-186" fmla="*/ 1546249 h 1883146"/>
              <a:gd name="connsiteX3-187" fmla="*/ 1036623 w 1438213"/>
              <a:gd name="connsiteY3-188" fmla="*/ 1813593 h 1883146"/>
              <a:gd name="connsiteX4-189" fmla="*/ 1420288 w 1438213"/>
              <a:gd name="connsiteY4-190" fmla="*/ 1804792 h 1883146"/>
              <a:gd name="connsiteX5-191" fmla="*/ 1378069 w 1438213"/>
              <a:gd name="connsiteY5-192" fmla="*/ 940750 h 1883146"/>
              <a:gd name="connsiteX6-193" fmla="*/ 1404809 w 1438213"/>
              <a:gd name="connsiteY6-194" fmla="*/ 61420 h 1883146"/>
              <a:gd name="connsiteX7-195" fmla="*/ 689187 w 1438213"/>
              <a:gd name="connsiteY7-196" fmla="*/ 59148 h 1883146"/>
              <a:gd name="connsiteX8-197" fmla="*/ 128947 w 1438213"/>
              <a:gd name="connsiteY8-198" fmla="*/ 345176 h 1883146"/>
              <a:gd name="connsiteX0-199" fmla="*/ 126587 w 1435854"/>
              <a:gd name="connsiteY0-200" fmla="*/ 353278 h 1891248"/>
              <a:gd name="connsiteX1-201" fmla="*/ 1442 w 1435854"/>
              <a:gd name="connsiteY1-202" fmla="*/ 1117646 h 1891248"/>
              <a:gd name="connsiteX2-203" fmla="*/ 215397 w 1435854"/>
              <a:gd name="connsiteY2-204" fmla="*/ 1554351 h 1891248"/>
              <a:gd name="connsiteX3-205" fmla="*/ 1034263 w 1435854"/>
              <a:gd name="connsiteY3-206" fmla="*/ 1821695 h 1891248"/>
              <a:gd name="connsiteX4-207" fmla="*/ 1417928 w 1435854"/>
              <a:gd name="connsiteY4-208" fmla="*/ 1812894 h 1891248"/>
              <a:gd name="connsiteX5-209" fmla="*/ 1375709 w 1435854"/>
              <a:gd name="connsiteY5-210" fmla="*/ 948852 h 1891248"/>
              <a:gd name="connsiteX6-211" fmla="*/ 1402449 w 1435854"/>
              <a:gd name="connsiteY6-212" fmla="*/ 69522 h 1891248"/>
              <a:gd name="connsiteX7-213" fmla="*/ 221605 w 1435854"/>
              <a:gd name="connsiteY7-214" fmla="*/ 47778 h 1891248"/>
              <a:gd name="connsiteX8-215" fmla="*/ 126587 w 1435854"/>
              <a:gd name="connsiteY8-216" fmla="*/ 353278 h 1891248"/>
              <a:gd name="connsiteX0-217" fmla="*/ 35803 w 1453152"/>
              <a:gd name="connsiteY0-218" fmla="*/ 439993 h 1896181"/>
              <a:gd name="connsiteX1-219" fmla="*/ 18740 w 1453152"/>
              <a:gd name="connsiteY1-220" fmla="*/ 1122579 h 1896181"/>
              <a:gd name="connsiteX2-221" fmla="*/ 232695 w 1453152"/>
              <a:gd name="connsiteY2-222" fmla="*/ 1559284 h 1896181"/>
              <a:gd name="connsiteX3-223" fmla="*/ 1051561 w 1453152"/>
              <a:gd name="connsiteY3-224" fmla="*/ 1826628 h 1896181"/>
              <a:gd name="connsiteX4-225" fmla="*/ 1435226 w 1453152"/>
              <a:gd name="connsiteY4-226" fmla="*/ 1817827 h 1896181"/>
              <a:gd name="connsiteX5-227" fmla="*/ 1393007 w 1453152"/>
              <a:gd name="connsiteY5-228" fmla="*/ 953785 h 1896181"/>
              <a:gd name="connsiteX6-229" fmla="*/ 1419747 w 1453152"/>
              <a:gd name="connsiteY6-230" fmla="*/ 74455 h 1896181"/>
              <a:gd name="connsiteX7-231" fmla="*/ 238903 w 1453152"/>
              <a:gd name="connsiteY7-232" fmla="*/ 52711 h 1896181"/>
              <a:gd name="connsiteX8-233" fmla="*/ 35803 w 1453152"/>
              <a:gd name="connsiteY8-234" fmla="*/ 439993 h 1896181"/>
              <a:gd name="connsiteX0-235" fmla="*/ 35803 w 1447873"/>
              <a:gd name="connsiteY0-236" fmla="*/ 439993 h 1952840"/>
              <a:gd name="connsiteX1-237" fmla="*/ 18740 w 1447873"/>
              <a:gd name="connsiteY1-238" fmla="*/ 1122579 h 1952840"/>
              <a:gd name="connsiteX2-239" fmla="*/ 232695 w 1447873"/>
              <a:gd name="connsiteY2-240" fmla="*/ 1559284 h 1952840"/>
              <a:gd name="connsiteX3-241" fmla="*/ 1130848 w 1447873"/>
              <a:gd name="connsiteY3-242" fmla="*/ 1925181 h 1952840"/>
              <a:gd name="connsiteX4-243" fmla="*/ 1435226 w 1447873"/>
              <a:gd name="connsiteY4-244" fmla="*/ 1817827 h 1952840"/>
              <a:gd name="connsiteX5-245" fmla="*/ 1393007 w 1447873"/>
              <a:gd name="connsiteY5-246" fmla="*/ 953785 h 1952840"/>
              <a:gd name="connsiteX6-247" fmla="*/ 1419747 w 1447873"/>
              <a:gd name="connsiteY6-248" fmla="*/ 74455 h 1952840"/>
              <a:gd name="connsiteX7-249" fmla="*/ 238903 w 1447873"/>
              <a:gd name="connsiteY7-250" fmla="*/ 52711 h 1952840"/>
              <a:gd name="connsiteX8-251" fmla="*/ 35803 w 1447873"/>
              <a:gd name="connsiteY8-252" fmla="*/ 439993 h 195284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grpSp>
        <p:nvGrpSpPr>
          <p:cNvPr id="374" name="Group 373"/>
          <p:cNvGrpSpPr/>
          <p:nvPr/>
        </p:nvGrpSpPr>
        <p:grpSpPr>
          <a:xfrm>
            <a:off x="10837700" y="3928050"/>
            <a:ext cx="687393" cy="721548"/>
            <a:chOff x="5203089" y="1751190"/>
            <a:chExt cx="858331" cy="662414"/>
          </a:xfrm>
        </p:grpSpPr>
        <p:sp>
          <p:nvSpPr>
            <p:cNvPr id="382" name="Freeform 381"/>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1" fmla="*/ 3618 w 651290"/>
                <a:gd name="connsiteY0-2" fmla="*/ 593378 h 593378"/>
                <a:gd name="connsiteX1-3" fmla="*/ 0 w 651290"/>
                <a:gd name="connsiteY1-4" fmla="*/ 242416 h 593378"/>
                <a:gd name="connsiteX2-5" fmla="*/ 423338 w 651290"/>
                <a:gd name="connsiteY2-6" fmla="*/ 101308 h 593378"/>
                <a:gd name="connsiteX3-7" fmla="*/ 647672 w 651290"/>
                <a:gd name="connsiteY3-8" fmla="*/ 0 h 593378"/>
                <a:gd name="connsiteX4-9" fmla="*/ 651290 w 651290"/>
                <a:gd name="connsiteY4-10" fmla="*/ 593378 h 593378"/>
                <a:gd name="connsiteX5-11" fmla="*/ 3618 w 651290"/>
                <a:gd name="connsiteY5-12" fmla="*/ 593378 h 593378"/>
                <a:gd name="connsiteX0-13" fmla="*/ 3618 w 651290"/>
                <a:gd name="connsiteY0-14" fmla="*/ 662124 h 662124"/>
                <a:gd name="connsiteX1-15" fmla="*/ 0 w 651290"/>
                <a:gd name="connsiteY1-16" fmla="*/ 311162 h 662124"/>
                <a:gd name="connsiteX2-17" fmla="*/ 376300 w 651290"/>
                <a:gd name="connsiteY2-18" fmla="*/ 0 h 662124"/>
                <a:gd name="connsiteX3-19" fmla="*/ 647672 w 651290"/>
                <a:gd name="connsiteY3-20" fmla="*/ 68746 h 662124"/>
                <a:gd name="connsiteX4-21" fmla="*/ 651290 w 651290"/>
                <a:gd name="connsiteY4-22" fmla="*/ 662124 h 662124"/>
                <a:gd name="connsiteX5-23" fmla="*/ 3618 w 651290"/>
                <a:gd name="connsiteY5-24" fmla="*/ 662124 h 662124"/>
                <a:gd name="connsiteX0-25" fmla="*/ 0 w 647672"/>
                <a:gd name="connsiteY0-26" fmla="*/ 662124 h 662124"/>
                <a:gd name="connsiteX1-27" fmla="*/ 123021 w 647672"/>
                <a:gd name="connsiteY1-28" fmla="*/ 83217 h 662124"/>
                <a:gd name="connsiteX2-29" fmla="*/ 372682 w 647672"/>
                <a:gd name="connsiteY2-30" fmla="*/ 0 h 662124"/>
                <a:gd name="connsiteX3-31" fmla="*/ 644054 w 647672"/>
                <a:gd name="connsiteY3-32" fmla="*/ 68746 h 662124"/>
                <a:gd name="connsiteX4-33" fmla="*/ 647672 w 647672"/>
                <a:gd name="connsiteY4-34" fmla="*/ 662124 h 662124"/>
                <a:gd name="connsiteX5-35" fmla="*/ 0 w 647672"/>
                <a:gd name="connsiteY5-36" fmla="*/ 662124 h 662124"/>
                <a:gd name="connsiteX0-37" fmla="*/ 7238 w 524651"/>
                <a:gd name="connsiteY0-38" fmla="*/ 669360 h 669360"/>
                <a:gd name="connsiteX1-39" fmla="*/ 0 w 524651"/>
                <a:gd name="connsiteY1-40" fmla="*/ 83217 h 669360"/>
                <a:gd name="connsiteX2-41" fmla="*/ 249661 w 524651"/>
                <a:gd name="connsiteY2-42" fmla="*/ 0 h 669360"/>
                <a:gd name="connsiteX3-43" fmla="*/ 521033 w 524651"/>
                <a:gd name="connsiteY3-44" fmla="*/ 68746 h 669360"/>
                <a:gd name="connsiteX4-45" fmla="*/ 524651 w 524651"/>
                <a:gd name="connsiteY4-46" fmla="*/ 662124 h 669360"/>
                <a:gd name="connsiteX5-47" fmla="*/ 7238 w 524651"/>
                <a:gd name="connsiteY5-48" fmla="*/ 669360 h 669360"/>
                <a:gd name="connsiteX0-49" fmla="*/ 438 w 528706"/>
                <a:gd name="connsiteY0-50" fmla="*/ 665742 h 665742"/>
                <a:gd name="connsiteX1-51" fmla="*/ 4055 w 528706"/>
                <a:gd name="connsiteY1-52" fmla="*/ 83217 h 665742"/>
                <a:gd name="connsiteX2-53" fmla="*/ 253716 w 528706"/>
                <a:gd name="connsiteY2-54" fmla="*/ 0 h 665742"/>
                <a:gd name="connsiteX3-55" fmla="*/ 525088 w 528706"/>
                <a:gd name="connsiteY3-56" fmla="*/ 68746 h 665742"/>
                <a:gd name="connsiteX4-57" fmla="*/ 528706 w 528706"/>
                <a:gd name="connsiteY4-58" fmla="*/ 662124 h 665742"/>
                <a:gd name="connsiteX5-59" fmla="*/ 438 w 528706"/>
                <a:gd name="connsiteY5-60" fmla="*/ 665742 h 665742"/>
                <a:gd name="connsiteX0-61" fmla="*/ 155 w 546514"/>
                <a:gd name="connsiteY0-62" fmla="*/ 662124 h 662124"/>
                <a:gd name="connsiteX1-63" fmla="*/ 21863 w 546514"/>
                <a:gd name="connsiteY1-64" fmla="*/ 83217 h 662124"/>
                <a:gd name="connsiteX2-65" fmla="*/ 271524 w 546514"/>
                <a:gd name="connsiteY2-66" fmla="*/ 0 h 662124"/>
                <a:gd name="connsiteX3-67" fmla="*/ 542896 w 546514"/>
                <a:gd name="connsiteY3-68" fmla="*/ 68746 h 662124"/>
                <a:gd name="connsiteX4-69" fmla="*/ 546514 w 546514"/>
                <a:gd name="connsiteY4-70" fmla="*/ 662124 h 662124"/>
                <a:gd name="connsiteX5-71" fmla="*/ 155 w 546514"/>
                <a:gd name="connsiteY5-72" fmla="*/ 662124 h 662124"/>
                <a:gd name="connsiteX0-73" fmla="*/ 10856 w 524651"/>
                <a:gd name="connsiteY0-74" fmla="*/ 658506 h 662124"/>
                <a:gd name="connsiteX1-75" fmla="*/ 0 w 524651"/>
                <a:gd name="connsiteY1-76" fmla="*/ 83217 h 662124"/>
                <a:gd name="connsiteX2-77" fmla="*/ 249661 w 524651"/>
                <a:gd name="connsiteY2-78" fmla="*/ 0 h 662124"/>
                <a:gd name="connsiteX3-79" fmla="*/ 521033 w 524651"/>
                <a:gd name="connsiteY3-80" fmla="*/ 68746 h 662124"/>
                <a:gd name="connsiteX4-81" fmla="*/ 524651 w 524651"/>
                <a:gd name="connsiteY4-82" fmla="*/ 662124 h 662124"/>
                <a:gd name="connsiteX5-83" fmla="*/ 10856 w 524651"/>
                <a:gd name="connsiteY5-84" fmla="*/ 658506 h 66212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383" name="Freeform 382"/>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cxnSp>
          <p:nvCxnSpPr>
            <p:cNvPr id="384" name="Straight Connector 383"/>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p:cNvGrpSpPr/>
          <p:nvPr/>
        </p:nvGrpSpPr>
        <p:grpSpPr>
          <a:xfrm>
            <a:off x="10771171" y="3194171"/>
            <a:ext cx="594613" cy="648336"/>
            <a:chOff x="5203089" y="1751190"/>
            <a:chExt cx="858331" cy="662414"/>
          </a:xfrm>
        </p:grpSpPr>
        <p:sp>
          <p:nvSpPr>
            <p:cNvPr id="399" name="Freeform 398"/>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1" fmla="*/ 3618 w 651290"/>
                <a:gd name="connsiteY0-2" fmla="*/ 593378 h 593378"/>
                <a:gd name="connsiteX1-3" fmla="*/ 0 w 651290"/>
                <a:gd name="connsiteY1-4" fmla="*/ 242416 h 593378"/>
                <a:gd name="connsiteX2-5" fmla="*/ 423338 w 651290"/>
                <a:gd name="connsiteY2-6" fmla="*/ 101308 h 593378"/>
                <a:gd name="connsiteX3-7" fmla="*/ 647672 w 651290"/>
                <a:gd name="connsiteY3-8" fmla="*/ 0 h 593378"/>
                <a:gd name="connsiteX4-9" fmla="*/ 651290 w 651290"/>
                <a:gd name="connsiteY4-10" fmla="*/ 593378 h 593378"/>
                <a:gd name="connsiteX5-11" fmla="*/ 3618 w 651290"/>
                <a:gd name="connsiteY5-12" fmla="*/ 593378 h 593378"/>
                <a:gd name="connsiteX0-13" fmla="*/ 3618 w 651290"/>
                <a:gd name="connsiteY0-14" fmla="*/ 662124 h 662124"/>
                <a:gd name="connsiteX1-15" fmla="*/ 0 w 651290"/>
                <a:gd name="connsiteY1-16" fmla="*/ 311162 h 662124"/>
                <a:gd name="connsiteX2-17" fmla="*/ 376300 w 651290"/>
                <a:gd name="connsiteY2-18" fmla="*/ 0 h 662124"/>
                <a:gd name="connsiteX3-19" fmla="*/ 647672 w 651290"/>
                <a:gd name="connsiteY3-20" fmla="*/ 68746 h 662124"/>
                <a:gd name="connsiteX4-21" fmla="*/ 651290 w 651290"/>
                <a:gd name="connsiteY4-22" fmla="*/ 662124 h 662124"/>
                <a:gd name="connsiteX5-23" fmla="*/ 3618 w 651290"/>
                <a:gd name="connsiteY5-24" fmla="*/ 662124 h 662124"/>
                <a:gd name="connsiteX0-25" fmla="*/ 0 w 647672"/>
                <a:gd name="connsiteY0-26" fmla="*/ 662124 h 662124"/>
                <a:gd name="connsiteX1-27" fmla="*/ 123021 w 647672"/>
                <a:gd name="connsiteY1-28" fmla="*/ 83217 h 662124"/>
                <a:gd name="connsiteX2-29" fmla="*/ 372682 w 647672"/>
                <a:gd name="connsiteY2-30" fmla="*/ 0 h 662124"/>
                <a:gd name="connsiteX3-31" fmla="*/ 644054 w 647672"/>
                <a:gd name="connsiteY3-32" fmla="*/ 68746 h 662124"/>
                <a:gd name="connsiteX4-33" fmla="*/ 647672 w 647672"/>
                <a:gd name="connsiteY4-34" fmla="*/ 662124 h 662124"/>
                <a:gd name="connsiteX5-35" fmla="*/ 0 w 647672"/>
                <a:gd name="connsiteY5-36" fmla="*/ 662124 h 662124"/>
                <a:gd name="connsiteX0-37" fmla="*/ 7238 w 524651"/>
                <a:gd name="connsiteY0-38" fmla="*/ 669360 h 669360"/>
                <a:gd name="connsiteX1-39" fmla="*/ 0 w 524651"/>
                <a:gd name="connsiteY1-40" fmla="*/ 83217 h 669360"/>
                <a:gd name="connsiteX2-41" fmla="*/ 249661 w 524651"/>
                <a:gd name="connsiteY2-42" fmla="*/ 0 h 669360"/>
                <a:gd name="connsiteX3-43" fmla="*/ 521033 w 524651"/>
                <a:gd name="connsiteY3-44" fmla="*/ 68746 h 669360"/>
                <a:gd name="connsiteX4-45" fmla="*/ 524651 w 524651"/>
                <a:gd name="connsiteY4-46" fmla="*/ 662124 h 669360"/>
                <a:gd name="connsiteX5-47" fmla="*/ 7238 w 524651"/>
                <a:gd name="connsiteY5-48" fmla="*/ 669360 h 669360"/>
                <a:gd name="connsiteX0-49" fmla="*/ 438 w 528706"/>
                <a:gd name="connsiteY0-50" fmla="*/ 665742 h 665742"/>
                <a:gd name="connsiteX1-51" fmla="*/ 4055 w 528706"/>
                <a:gd name="connsiteY1-52" fmla="*/ 83217 h 665742"/>
                <a:gd name="connsiteX2-53" fmla="*/ 253716 w 528706"/>
                <a:gd name="connsiteY2-54" fmla="*/ 0 h 665742"/>
                <a:gd name="connsiteX3-55" fmla="*/ 525088 w 528706"/>
                <a:gd name="connsiteY3-56" fmla="*/ 68746 h 665742"/>
                <a:gd name="connsiteX4-57" fmla="*/ 528706 w 528706"/>
                <a:gd name="connsiteY4-58" fmla="*/ 662124 h 665742"/>
                <a:gd name="connsiteX5-59" fmla="*/ 438 w 528706"/>
                <a:gd name="connsiteY5-60" fmla="*/ 665742 h 665742"/>
                <a:gd name="connsiteX0-61" fmla="*/ 155 w 546514"/>
                <a:gd name="connsiteY0-62" fmla="*/ 662124 h 662124"/>
                <a:gd name="connsiteX1-63" fmla="*/ 21863 w 546514"/>
                <a:gd name="connsiteY1-64" fmla="*/ 83217 h 662124"/>
                <a:gd name="connsiteX2-65" fmla="*/ 271524 w 546514"/>
                <a:gd name="connsiteY2-66" fmla="*/ 0 h 662124"/>
                <a:gd name="connsiteX3-67" fmla="*/ 542896 w 546514"/>
                <a:gd name="connsiteY3-68" fmla="*/ 68746 h 662124"/>
                <a:gd name="connsiteX4-69" fmla="*/ 546514 w 546514"/>
                <a:gd name="connsiteY4-70" fmla="*/ 662124 h 662124"/>
                <a:gd name="connsiteX5-71" fmla="*/ 155 w 546514"/>
                <a:gd name="connsiteY5-72" fmla="*/ 662124 h 662124"/>
                <a:gd name="connsiteX0-73" fmla="*/ 10856 w 524651"/>
                <a:gd name="connsiteY0-74" fmla="*/ 658506 h 662124"/>
                <a:gd name="connsiteX1-75" fmla="*/ 0 w 524651"/>
                <a:gd name="connsiteY1-76" fmla="*/ 83217 h 662124"/>
                <a:gd name="connsiteX2-77" fmla="*/ 249661 w 524651"/>
                <a:gd name="connsiteY2-78" fmla="*/ 0 h 662124"/>
                <a:gd name="connsiteX3-79" fmla="*/ 521033 w 524651"/>
                <a:gd name="connsiteY3-80" fmla="*/ 68746 h 662124"/>
                <a:gd name="connsiteX4-81" fmla="*/ 524651 w 524651"/>
                <a:gd name="connsiteY4-82" fmla="*/ 662124 h 662124"/>
                <a:gd name="connsiteX5-83" fmla="*/ 10856 w 524651"/>
                <a:gd name="connsiteY5-84" fmla="*/ 658506 h 66212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400" name="Freeform 399"/>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cxnSp>
          <p:nvCxnSpPr>
            <p:cNvPr id="401" name="Straight Connector 400"/>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1" fmla="*/ 434989 w 1537226"/>
              <a:gd name="connsiteY0-2" fmla="*/ 253346 h 1763594"/>
              <a:gd name="connsiteX1-3" fmla="*/ 488 w 1537226"/>
              <a:gd name="connsiteY1-4" fmla="*/ 921706 h 1763594"/>
              <a:gd name="connsiteX2-5" fmla="*/ 368142 w 1537226"/>
              <a:gd name="connsiteY2-6" fmla="*/ 1489812 h 1763594"/>
              <a:gd name="connsiteX3-7" fmla="*/ 1187008 w 1537226"/>
              <a:gd name="connsiteY3-8" fmla="*/ 1757156 h 1763594"/>
              <a:gd name="connsiteX4-9" fmla="*/ 1521239 w 1537226"/>
              <a:gd name="connsiteY4-10" fmla="*/ 1239177 h 1763594"/>
              <a:gd name="connsiteX5-11" fmla="*/ 1468998 w 1537226"/>
              <a:gd name="connsiteY5-12" fmla="*/ 654362 h 1763594"/>
              <a:gd name="connsiteX6-13" fmla="*/ 1337412 w 1537226"/>
              <a:gd name="connsiteY6-14" fmla="*/ 136383 h 1763594"/>
              <a:gd name="connsiteX7-15" fmla="*/ 1086739 w 1537226"/>
              <a:gd name="connsiteY7-16" fmla="*/ 2711 h 1763594"/>
              <a:gd name="connsiteX8-17" fmla="*/ 434989 w 1537226"/>
              <a:gd name="connsiteY8-18" fmla="*/ 253346 h 1763594"/>
              <a:gd name="connsiteX0-19" fmla="*/ 434989 w 1537226"/>
              <a:gd name="connsiteY0-20" fmla="*/ 253346 h 1763594"/>
              <a:gd name="connsiteX1-21" fmla="*/ 488 w 1537226"/>
              <a:gd name="connsiteY1-22" fmla="*/ 921706 h 1763594"/>
              <a:gd name="connsiteX2-23" fmla="*/ 368142 w 1537226"/>
              <a:gd name="connsiteY2-24" fmla="*/ 1489812 h 1763594"/>
              <a:gd name="connsiteX3-25" fmla="*/ 1187008 w 1537226"/>
              <a:gd name="connsiteY3-26" fmla="*/ 1757156 h 1763594"/>
              <a:gd name="connsiteX4-27" fmla="*/ 1521239 w 1537226"/>
              <a:gd name="connsiteY4-28" fmla="*/ 1239177 h 1763594"/>
              <a:gd name="connsiteX5-29" fmla="*/ 1468998 w 1537226"/>
              <a:gd name="connsiteY5-30" fmla="*/ 654362 h 1763594"/>
              <a:gd name="connsiteX6-31" fmla="*/ 1337412 w 1537226"/>
              <a:gd name="connsiteY6-32" fmla="*/ 136383 h 1763594"/>
              <a:gd name="connsiteX7-33" fmla="*/ 839572 w 1537226"/>
              <a:gd name="connsiteY7-34" fmla="*/ 2711 h 1763594"/>
              <a:gd name="connsiteX8-35" fmla="*/ 434989 w 1537226"/>
              <a:gd name="connsiteY8-36" fmla="*/ 253346 h 1763594"/>
              <a:gd name="connsiteX0-37" fmla="*/ 360357 w 1536743"/>
              <a:gd name="connsiteY0-38" fmla="*/ 534641 h 1782088"/>
              <a:gd name="connsiteX1-39" fmla="*/ 5 w 1536743"/>
              <a:gd name="connsiteY1-40" fmla="*/ 940200 h 1782088"/>
              <a:gd name="connsiteX2-41" fmla="*/ 367659 w 1536743"/>
              <a:gd name="connsiteY2-42" fmla="*/ 1508306 h 1782088"/>
              <a:gd name="connsiteX3-43" fmla="*/ 1186525 w 1536743"/>
              <a:gd name="connsiteY3-44" fmla="*/ 1775650 h 1782088"/>
              <a:gd name="connsiteX4-45" fmla="*/ 1520756 w 1536743"/>
              <a:gd name="connsiteY4-46" fmla="*/ 1257671 h 1782088"/>
              <a:gd name="connsiteX5-47" fmla="*/ 1468515 w 1536743"/>
              <a:gd name="connsiteY5-48" fmla="*/ 672856 h 1782088"/>
              <a:gd name="connsiteX6-49" fmla="*/ 1336929 w 1536743"/>
              <a:gd name="connsiteY6-50" fmla="*/ 154877 h 1782088"/>
              <a:gd name="connsiteX7-51" fmla="*/ 839089 w 1536743"/>
              <a:gd name="connsiteY7-52" fmla="*/ 21205 h 1782088"/>
              <a:gd name="connsiteX8-53" fmla="*/ 360357 w 1536743"/>
              <a:gd name="connsiteY8-54" fmla="*/ 534641 h 1782088"/>
              <a:gd name="connsiteX0-55" fmla="*/ 360355 w 1536741"/>
              <a:gd name="connsiteY0-56" fmla="*/ 534641 h 1782088"/>
              <a:gd name="connsiteX1-57" fmla="*/ 3 w 1536741"/>
              <a:gd name="connsiteY1-58" fmla="*/ 940200 h 1782088"/>
              <a:gd name="connsiteX2-59" fmla="*/ 367657 w 1536741"/>
              <a:gd name="connsiteY2-60" fmla="*/ 1508306 h 1782088"/>
              <a:gd name="connsiteX3-61" fmla="*/ 1186523 w 1536741"/>
              <a:gd name="connsiteY3-62" fmla="*/ 1775650 h 1782088"/>
              <a:gd name="connsiteX4-63" fmla="*/ 1520754 w 1536741"/>
              <a:gd name="connsiteY4-64" fmla="*/ 1257671 h 1782088"/>
              <a:gd name="connsiteX5-65" fmla="*/ 1468513 w 1536741"/>
              <a:gd name="connsiteY5-66" fmla="*/ 672856 h 1782088"/>
              <a:gd name="connsiteX6-67" fmla="*/ 1336927 w 1536741"/>
              <a:gd name="connsiteY6-68" fmla="*/ 154877 h 1782088"/>
              <a:gd name="connsiteX7-69" fmla="*/ 839087 w 1536741"/>
              <a:gd name="connsiteY7-70" fmla="*/ 21205 h 1782088"/>
              <a:gd name="connsiteX8-71" fmla="*/ 360355 w 1536741"/>
              <a:gd name="connsiteY8-72" fmla="*/ 534641 h 1782088"/>
              <a:gd name="connsiteX0-73" fmla="*/ 360355 w 1494463"/>
              <a:gd name="connsiteY0-74" fmla="*/ 534641 h 1775651"/>
              <a:gd name="connsiteX1-75" fmla="*/ 3 w 1494463"/>
              <a:gd name="connsiteY1-76" fmla="*/ 940200 h 1775651"/>
              <a:gd name="connsiteX2-77" fmla="*/ 367657 w 1494463"/>
              <a:gd name="connsiteY2-78" fmla="*/ 1508306 h 1775651"/>
              <a:gd name="connsiteX3-79" fmla="*/ 1186523 w 1494463"/>
              <a:gd name="connsiteY3-80" fmla="*/ 1775650 h 1775651"/>
              <a:gd name="connsiteX4-81" fmla="*/ 1467465 w 1494463"/>
              <a:gd name="connsiteY4-82" fmla="*/ 1510813 h 1775651"/>
              <a:gd name="connsiteX5-83" fmla="*/ 1468513 w 1494463"/>
              <a:gd name="connsiteY5-84" fmla="*/ 672856 h 1775651"/>
              <a:gd name="connsiteX6-85" fmla="*/ 1336927 w 1494463"/>
              <a:gd name="connsiteY6-86" fmla="*/ 154877 h 1775651"/>
              <a:gd name="connsiteX7-87" fmla="*/ 839087 w 1494463"/>
              <a:gd name="connsiteY7-88" fmla="*/ 21205 h 1775651"/>
              <a:gd name="connsiteX8-89" fmla="*/ 360355 w 1494463"/>
              <a:gd name="connsiteY8-90" fmla="*/ 534641 h 1775651"/>
              <a:gd name="connsiteX0-91" fmla="*/ 360355 w 1491064"/>
              <a:gd name="connsiteY0-92" fmla="*/ 552327 h 1793337"/>
              <a:gd name="connsiteX1-93" fmla="*/ 3 w 1491064"/>
              <a:gd name="connsiteY1-94" fmla="*/ 957886 h 1793337"/>
              <a:gd name="connsiteX2-95" fmla="*/ 367657 w 1491064"/>
              <a:gd name="connsiteY2-96" fmla="*/ 1525992 h 1793337"/>
              <a:gd name="connsiteX3-97" fmla="*/ 1186523 w 1491064"/>
              <a:gd name="connsiteY3-98" fmla="*/ 1793336 h 1793337"/>
              <a:gd name="connsiteX4-99" fmla="*/ 1467465 w 1491064"/>
              <a:gd name="connsiteY4-100" fmla="*/ 1528499 h 1793337"/>
              <a:gd name="connsiteX5-101" fmla="*/ 1468513 w 1491064"/>
              <a:gd name="connsiteY5-102" fmla="*/ 690542 h 1793337"/>
              <a:gd name="connsiteX6-103" fmla="*/ 1407977 w 1491064"/>
              <a:gd name="connsiteY6-104" fmla="*/ 109278 h 1793337"/>
              <a:gd name="connsiteX7-105" fmla="*/ 839087 w 1491064"/>
              <a:gd name="connsiteY7-106" fmla="*/ 38891 h 1793337"/>
              <a:gd name="connsiteX8-107" fmla="*/ 360355 w 1491064"/>
              <a:gd name="connsiteY8-108" fmla="*/ 552327 h 1793337"/>
              <a:gd name="connsiteX0-109" fmla="*/ 360355 w 1502818"/>
              <a:gd name="connsiteY0-110" fmla="*/ 552327 h 1612281"/>
              <a:gd name="connsiteX1-111" fmla="*/ 3 w 1502818"/>
              <a:gd name="connsiteY1-112" fmla="*/ 957886 h 1612281"/>
              <a:gd name="connsiteX2-113" fmla="*/ 367657 w 1502818"/>
              <a:gd name="connsiteY2-114" fmla="*/ 1525992 h 1612281"/>
              <a:gd name="connsiteX3-115" fmla="*/ 1026659 w 1502818"/>
              <a:gd name="connsiteY3-116" fmla="*/ 1582385 h 1612281"/>
              <a:gd name="connsiteX4-117" fmla="*/ 1467465 w 1502818"/>
              <a:gd name="connsiteY4-118" fmla="*/ 1528499 h 1612281"/>
              <a:gd name="connsiteX5-119" fmla="*/ 1468513 w 1502818"/>
              <a:gd name="connsiteY5-120" fmla="*/ 690542 h 1612281"/>
              <a:gd name="connsiteX6-121" fmla="*/ 1407977 w 1502818"/>
              <a:gd name="connsiteY6-122" fmla="*/ 109278 h 1612281"/>
              <a:gd name="connsiteX7-123" fmla="*/ 839087 w 1502818"/>
              <a:gd name="connsiteY7-124" fmla="*/ 38891 h 1612281"/>
              <a:gd name="connsiteX8-125" fmla="*/ 360355 w 1502818"/>
              <a:gd name="connsiteY8-126" fmla="*/ 552327 h 1612281"/>
              <a:gd name="connsiteX0-127" fmla="*/ 360384 w 1502847"/>
              <a:gd name="connsiteY0-128" fmla="*/ 552327 h 1803602"/>
              <a:gd name="connsiteX1-129" fmla="*/ 32 w 1502847"/>
              <a:gd name="connsiteY1-130" fmla="*/ 957886 h 1803602"/>
              <a:gd name="connsiteX2-131" fmla="*/ 385448 w 1502847"/>
              <a:gd name="connsiteY2-132" fmla="*/ 1779134 h 1803602"/>
              <a:gd name="connsiteX3-133" fmla="*/ 1026688 w 1502847"/>
              <a:gd name="connsiteY3-134" fmla="*/ 1582385 h 1803602"/>
              <a:gd name="connsiteX4-135" fmla="*/ 1467494 w 1502847"/>
              <a:gd name="connsiteY4-136" fmla="*/ 1528499 h 1803602"/>
              <a:gd name="connsiteX5-137" fmla="*/ 1468542 w 1502847"/>
              <a:gd name="connsiteY5-138" fmla="*/ 690542 h 1803602"/>
              <a:gd name="connsiteX6-139" fmla="*/ 1408006 w 1502847"/>
              <a:gd name="connsiteY6-140" fmla="*/ 109278 h 1803602"/>
              <a:gd name="connsiteX7-141" fmla="*/ 839116 w 1502847"/>
              <a:gd name="connsiteY7-142" fmla="*/ 38891 h 1803602"/>
              <a:gd name="connsiteX8-143" fmla="*/ 360384 w 1502847"/>
              <a:gd name="connsiteY8-144" fmla="*/ 552327 h 1803602"/>
              <a:gd name="connsiteX0-145" fmla="*/ 360384 w 1502847"/>
              <a:gd name="connsiteY0-146" fmla="*/ 552327 h 1826319"/>
              <a:gd name="connsiteX1-147" fmla="*/ 32 w 1502847"/>
              <a:gd name="connsiteY1-148" fmla="*/ 957886 h 1826319"/>
              <a:gd name="connsiteX2-149" fmla="*/ 385448 w 1502847"/>
              <a:gd name="connsiteY2-150" fmla="*/ 1779134 h 1826319"/>
              <a:gd name="connsiteX3-151" fmla="*/ 1026688 w 1502847"/>
              <a:gd name="connsiteY3-152" fmla="*/ 1582385 h 1826319"/>
              <a:gd name="connsiteX4-153" fmla="*/ 1467494 w 1502847"/>
              <a:gd name="connsiteY4-154" fmla="*/ 1528499 h 1826319"/>
              <a:gd name="connsiteX5-155" fmla="*/ 1468542 w 1502847"/>
              <a:gd name="connsiteY5-156" fmla="*/ 690542 h 1826319"/>
              <a:gd name="connsiteX6-157" fmla="*/ 1408006 w 1502847"/>
              <a:gd name="connsiteY6-158" fmla="*/ 109278 h 1826319"/>
              <a:gd name="connsiteX7-159" fmla="*/ 839116 w 1502847"/>
              <a:gd name="connsiteY7-160" fmla="*/ 38891 h 1826319"/>
              <a:gd name="connsiteX8-161" fmla="*/ 360384 w 1502847"/>
              <a:gd name="connsiteY8-162" fmla="*/ 552327 h 1826319"/>
              <a:gd name="connsiteX0-163" fmla="*/ 289852 w 1503366"/>
              <a:gd name="connsiteY0-164" fmla="*/ 461730 h 1820101"/>
              <a:gd name="connsiteX1-165" fmla="*/ 551 w 1503366"/>
              <a:gd name="connsiteY1-166" fmla="*/ 951668 h 1820101"/>
              <a:gd name="connsiteX2-167" fmla="*/ 385967 w 1503366"/>
              <a:gd name="connsiteY2-168" fmla="*/ 1772916 h 1820101"/>
              <a:gd name="connsiteX3-169" fmla="*/ 1027207 w 1503366"/>
              <a:gd name="connsiteY3-170" fmla="*/ 1576167 h 1820101"/>
              <a:gd name="connsiteX4-171" fmla="*/ 1468013 w 1503366"/>
              <a:gd name="connsiteY4-172" fmla="*/ 1522281 h 1820101"/>
              <a:gd name="connsiteX5-173" fmla="*/ 1469061 w 1503366"/>
              <a:gd name="connsiteY5-174" fmla="*/ 684324 h 1820101"/>
              <a:gd name="connsiteX6-175" fmla="*/ 1408525 w 1503366"/>
              <a:gd name="connsiteY6-176" fmla="*/ 103060 h 1820101"/>
              <a:gd name="connsiteX7-177" fmla="*/ 839635 w 1503366"/>
              <a:gd name="connsiteY7-178" fmla="*/ 32673 h 1820101"/>
              <a:gd name="connsiteX8-179" fmla="*/ 289852 w 1503366"/>
              <a:gd name="connsiteY8-180" fmla="*/ 461730 h 1820101"/>
              <a:gd name="connsiteX0-181" fmla="*/ 293376 w 1506890"/>
              <a:gd name="connsiteY0-182" fmla="*/ 461730 h 1820101"/>
              <a:gd name="connsiteX1-183" fmla="*/ 4075 w 1506890"/>
              <a:gd name="connsiteY1-184" fmla="*/ 951668 h 1820101"/>
              <a:gd name="connsiteX2-185" fmla="*/ 389491 w 1506890"/>
              <a:gd name="connsiteY2-186" fmla="*/ 1772916 h 1820101"/>
              <a:gd name="connsiteX3-187" fmla="*/ 1030731 w 1506890"/>
              <a:gd name="connsiteY3-188" fmla="*/ 1576167 h 1820101"/>
              <a:gd name="connsiteX4-189" fmla="*/ 1471537 w 1506890"/>
              <a:gd name="connsiteY4-190" fmla="*/ 1522281 h 1820101"/>
              <a:gd name="connsiteX5-191" fmla="*/ 1472585 w 1506890"/>
              <a:gd name="connsiteY5-192" fmla="*/ 684324 h 1820101"/>
              <a:gd name="connsiteX6-193" fmla="*/ 1412049 w 1506890"/>
              <a:gd name="connsiteY6-194" fmla="*/ 103060 h 1820101"/>
              <a:gd name="connsiteX7-195" fmla="*/ 843159 w 1506890"/>
              <a:gd name="connsiteY7-196" fmla="*/ 32673 h 1820101"/>
              <a:gd name="connsiteX8-197" fmla="*/ 293376 w 1506890"/>
              <a:gd name="connsiteY8-198" fmla="*/ 461730 h 1820101"/>
              <a:gd name="connsiteX0-199" fmla="*/ 203955 w 1545103"/>
              <a:gd name="connsiteY0-200" fmla="*/ 206126 h 1802639"/>
              <a:gd name="connsiteX1-201" fmla="*/ 42288 w 1545103"/>
              <a:gd name="connsiteY1-202" fmla="*/ 934206 h 1802639"/>
              <a:gd name="connsiteX2-203" fmla="*/ 427704 w 1545103"/>
              <a:gd name="connsiteY2-204" fmla="*/ 1755454 h 1802639"/>
              <a:gd name="connsiteX3-205" fmla="*/ 1068944 w 1545103"/>
              <a:gd name="connsiteY3-206" fmla="*/ 1558705 h 1802639"/>
              <a:gd name="connsiteX4-207" fmla="*/ 1509750 w 1545103"/>
              <a:gd name="connsiteY4-208" fmla="*/ 1504819 h 1802639"/>
              <a:gd name="connsiteX5-209" fmla="*/ 1510798 w 1545103"/>
              <a:gd name="connsiteY5-210" fmla="*/ 666862 h 1802639"/>
              <a:gd name="connsiteX6-211" fmla="*/ 1450262 w 1545103"/>
              <a:gd name="connsiteY6-212" fmla="*/ 85598 h 1802639"/>
              <a:gd name="connsiteX7-213" fmla="*/ 881372 w 1545103"/>
              <a:gd name="connsiteY7-214" fmla="*/ 15211 h 1802639"/>
              <a:gd name="connsiteX8-215" fmla="*/ 203955 w 1545103"/>
              <a:gd name="connsiteY8-216" fmla="*/ 206126 h 1802639"/>
              <a:gd name="connsiteX0-217" fmla="*/ 147252 w 1634267"/>
              <a:gd name="connsiteY0-218" fmla="*/ 113266 h 1796376"/>
              <a:gd name="connsiteX1-219" fmla="*/ 131452 w 1634267"/>
              <a:gd name="connsiteY1-220" fmla="*/ 927943 h 1796376"/>
              <a:gd name="connsiteX2-221" fmla="*/ 516868 w 1634267"/>
              <a:gd name="connsiteY2-222" fmla="*/ 1749191 h 1796376"/>
              <a:gd name="connsiteX3-223" fmla="*/ 1158108 w 1634267"/>
              <a:gd name="connsiteY3-224" fmla="*/ 1552442 h 1796376"/>
              <a:gd name="connsiteX4-225" fmla="*/ 1598914 w 1634267"/>
              <a:gd name="connsiteY4-226" fmla="*/ 1498556 h 1796376"/>
              <a:gd name="connsiteX5-227" fmla="*/ 1599962 w 1634267"/>
              <a:gd name="connsiteY5-228" fmla="*/ 660599 h 1796376"/>
              <a:gd name="connsiteX6-229" fmla="*/ 1539426 w 1634267"/>
              <a:gd name="connsiteY6-230" fmla="*/ 79335 h 1796376"/>
              <a:gd name="connsiteX7-231" fmla="*/ 970536 w 1634267"/>
              <a:gd name="connsiteY7-232" fmla="*/ 8948 h 1796376"/>
              <a:gd name="connsiteX8-233" fmla="*/ 147252 w 1634267"/>
              <a:gd name="connsiteY8-234" fmla="*/ 113266 h 179637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a:p>
        </p:txBody>
      </p:sp>
      <p:sp>
        <p:nvSpPr>
          <p:cNvPr id="573" name="TextBox 572"/>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endParaRPr lang="en-US" sz="1400" dirty="0"/>
          </a:p>
        </p:txBody>
      </p:sp>
      <p:sp>
        <p:nvSpPr>
          <p:cNvPr id="655" name="Rectangle 654"/>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endParaRPr lang="en-US" sz="1400" dirty="0"/>
          </a:p>
        </p:txBody>
      </p:sp>
      <p:sp>
        <p:nvSpPr>
          <p:cNvPr id="657" name="TextBox 656"/>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endParaRPr lang="en-US" sz="1050" dirty="0"/>
          </a:p>
          <a:p>
            <a:pPr>
              <a:lnSpc>
                <a:spcPct val="90000"/>
              </a:lnSpc>
            </a:pPr>
            <a:r>
              <a:rPr lang="en-US" sz="1050" dirty="0"/>
              <a:t>network</a:t>
            </a:r>
            <a:endParaRPr lang="en-US" sz="1050" dirty="0"/>
          </a:p>
        </p:txBody>
      </p:sp>
      <p:sp>
        <p:nvSpPr>
          <p:cNvPr id="658" name="TextBox 657"/>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endParaRPr lang="en-US" sz="1400" dirty="0"/>
          </a:p>
          <a:p>
            <a:pPr>
              <a:lnSpc>
                <a:spcPct val="90000"/>
              </a:lnSpc>
            </a:pPr>
            <a:r>
              <a:rPr lang="en-US" sz="1400" dirty="0"/>
              <a:t>provider </a:t>
            </a:r>
            <a:endParaRPr lang="en-US" sz="1400" dirty="0"/>
          </a:p>
          <a:p>
            <a:pPr>
              <a:lnSpc>
                <a:spcPct val="90000"/>
              </a:lnSpc>
            </a:pPr>
            <a:r>
              <a:rPr lang="en-US" sz="1400" dirty="0"/>
              <a:t>network</a:t>
            </a:r>
            <a:endParaRPr lang="en-US" sz="1000" dirty="0"/>
          </a:p>
        </p:txBody>
      </p:sp>
      <p:cxnSp>
        <p:nvCxnSpPr>
          <p:cNvPr id="830" name="Straight Connector 829"/>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p:cNvGrpSpPr/>
          <p:nvPr/>
        </p:nvGrpSpPr>
        <p:grpSpPr>
          <a:xfrm>
            <a:off x="7562238" y="2127325"/>
            <a:ext cx="3578867" cy="3640283"/>
            <a:chOff x="7562238" y="2127325"/>
            <a:chExt cx="3578867" cy="3640283"/>
          </a:xfrm>
        </p:grpSpPr>
        <p:grpSp>
          <p:nvGrpSpPr>
            <p:cNvPr id="800" name="Group 799"/>
            <p:cNvGrpSpPr/>
            <p:nvPr/>
          </p:nvGrpSpPr>
          <p:grpSpPr>
            <a:xfrm>
              <a:off x="7857253" y="2127325"/>
              <a:ext cx="3283852" cy="3640283"/>
              <a:chOff x="7881336" y="2104198"/>
              <a:chExt cx="3283852" cy="3640283"/>
            </a:xfrm>
          </p:grpSpPr>
          <p:sp>
            <p:nvSpPr>
              <p:cNvPr id="22" name="Line 428"/>
              <p:cNvSpPr>
                <a:spLocks noChangeShapeType="1"/>
              </p:cNvSpPr>
              <p:nvPr/>
            </p:nvSpPr>
            <p:spPr bwMode="auto">
              <a:xfrm rot="16200000" flipV="1">
                <a:off x="9813692" y="5228612"/>
                <a:ext cx="388062" cy="75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24" name="Line 430"/>
              <p:cNvSpPr>
                <a:spLocks noChangeShapeType="1"/>
              </p:cNvSpPr>
              <p:nvPr/>
            </p:nvSpPr>
            <p:spPr bwMode="auto">
              <a:xfrm rot="16200000">
                <a:off x="10234009" y="5382159"/>
                <a:ext cx="0" cy="11430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25" name="Line 431"/>
              <p:cNvSpPr>
                <a:spLocks noChangeShapeType="1"/>
              </p:cNvSpPr>
              <p:nvPr/>
            </p:nvSpPr>
            <p:spPr bwMode="auto">
              <a:xfrm>
                <a:off x="9457042" y="4815390"/>
                <a:ext cx="524483" cy="26153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6" name="Line 432"/>
              <p:cNvSpPr>
                <a:spLocks noChangeShapeType="1"/>
              </p:cNvSpPr>
              <p:nvPr/>
            </p:nvSpPr>
            <p:spPr bwMode="auto">
              <a:xfrm flipV="1">
                <a:off x="8874149" y="4815390"/>
                <a:ext cx="569255" cy="24626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7" name="Line 433"/>
              <p:cNvSpPr>
                <a:spLocks noChangeShapeType="1"/>
              </p:cNvSpPr>
              <p:nvPr/>
            </p:nvSpPr>
            <p:spPr bwMode="auto">
              <a:xfrm flipV="1">
                <a:off x="8845827" y="5085749"/>
                <a:ext cx="1030502"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8" name="Line 435"/>
              <p:cNvSpPr>
                <a:spLocks noChangeShapeType="1"/>
              </p:cNvSpPr>
              <p:nvPr/>
            </p:nvSpPr>
            <p:spPr bwMode="auto">
              <a:xfrm>
                <a:off x="8234290" y="5094207"/>
                <a:ext cx="226800" cy="1270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dirty="0"/>
              </a:p>
            </p:txBody>
          </p:sp>
          <p:sp>
            <p:nvSpPr>
              <p:cNvPr id="29" name="Line 436"/>
              <p:cNvSpPr>
                <a:spLocks noChangeShapeType="1"/>
              </p:cNvSpPr>
              <p:nvPr/>
            </p:nvSpPr>
            <p:spPr bwMode="auto">
              <a:xfrm flipV="1">
                <a:off x="7972450" y="5267343"/>
                <a:ext cx="412750" cy="1270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0" name="Line 439"/>
              <p:cNvSpPr>
                <a:spLocks noChangeShapeType="1"/>
              </p:cNvSpPr>
              <p:nvPr/>
            </p:nvSpPr>
            <p:spPr bwMode="auto">
              <a:xfrm flipH="1">
                <a:off x="8397900" y="5259125"/>
                <a:ext cx="68080" cy="29396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1" name="Line 440"/>
              <p:cNvSpPr>
                <a:spLocks noChangeShapeType="1"/>
              </p:cNvSpPr>
              <p:nvPr/>
            </p:nvSpPr>
            <p:spPr bwMode="auto">
              <a:xfrm flipH="1" flipV="1">
                <a:off x="8512814" y="5284804"/>
                <a:ext cx="280374" cy="26987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2" name="Line 441"/>
              <p:cNvSpPr>
                <a:spLocks noChangeShapeType="1"/>
              </p:cNvSpPr>
              <p:nvPr/>
            </p:nvSpPr>
            <p:spPr bwMode="auto">
              <a:xfrm>
                <a:off x="8512814" y="5234921"/>
                <a:ext cx="914184" cy="46862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3" name="Line 443"/>
              <p:cNvSpPr>
                <a:spLocks noChangeShapeType="1"/>
              </p:cNvSpPr>
              <p:nvPr/>
            </p:nvSpPr>
            <p:spPr bwMode="auto">
              <a:xfrm>
                <a:off x="8271861" y="3806843"/>
                <a:ext cx="0" cy="13176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39" name="Line 449"/>
              <p:cNvSpPr>
                <a:spLocks noChangeShapeType="1"/>
              </p:cNvSpPr>
              <p:nvPr/>
            </p:nvSpPr>
            <p:spPr bwMode="auto">
              <a:xfrm flipV="1">
                <a:off x="7881336" y="4017980"/>
                <a:ext cx="168275"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528" name="Line 428"/>
              <p:cNvSpPr>
                <a:spLocks noChangeShapeType="1"/>
              </p:cNvSpPr>
              <p:nvPr/>
            </p:nvSpPr>
            <p:spPr bwMode="auto">
              <a:xfrm rot="16200000" flipV="1">
                <a:off x="9909628" y="5560344"/>
                <a:ext cx="366793" cy="1482"/>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a:p>
            </p:txBody>
          </p:sp>
          <p:sp>
            <p:nvSpPr>
              <p:cNvPr id="537" name="Line 440"/>
              <p:cNvSpPr>
                <a:spLocks noChangeShapeType="1"/>
              </p:cNvSpPr>
              <p:nvPr/>
            </p:nvSpPr>
            <p:spPr bwMode="auto">
              <a:xfrm flipV="1">
                <a:off x="8483508" y="5013435"/>
                <a:ext cx="404236" cy="20777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cxnSp>
            <p:nvCxnSpPr>
              <p:cNvPr id="564" name="Straight Connector 563"/>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p:cNvSpPr>
                <a:spLocks noChangeShapeType="1"/>
              </p:cNvSpPr>
              <p:nvPr/>
            </p:nvSpPr>
            <p:spPr bwMode="auto">
              <a:xfrm flipV="1">
                <a:off x="9402788" y="4090252"/>
                <a:ext cx="429324" cy="70560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19" name="Line 424"/>
              <p:cNvSpPr>
                <a:spLocks noChangeShapeType="1"/>
              </p:cNvSpPr>
              <p:nvPr/>
            </p:nvSpPr>
            <p:spPr bwMode="auto">
              <a:xfrm flipV="1">
                <a:off x="8268637" y="4024329"/>
                <a:ext cx="969051"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pic>
          <p:nvPicPr>
            <p:cNvPr id="262" name="Picture 778" descr="antenna_radiation_stylized"/>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p:cNvSpPr>
              <a:spLocks noChangeArrowheads="1"/>
            </p:cNvSpPr>
            <p:nvPr/>
          </p:nvSpPr>
          <p:spPr bwMode="auto">
            <a:xfrm>
              <a:off x="8174541" y="2292995"/>
              <a:ext cx="52388" cy="49485"/>
            </a:xfrm>
            <a:prstGeom prst="ellipse">
              <a:avLst/>
            </a:prstGeom>
            <a:solidFill>
              <a:schemeClr val="tx2"/>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39" name="Line 426"/>
          <p:cNvSpPr>
            <a:spLocks noChangeShapeType="1"/>
          </p:cNvSpPr>
          <p:nvPr/>
        </p:nvSpPr>
        <p:spPr bwMode="auto">
          <a:xfrm>
            <a:off x="8207860" y="2700359"/>
            <a:ext cx="227964" cy="17435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nvGrpSpPr>
          <p:cNvPr id="241" name="Group 783"/>
          <p:cNvGrpSpPr/>
          <p:nvPr/>
        </p:nvGrpSpPr>
        <p:grpSpPr bwMode="auto">
          <a:xfrm>
            <a:off x="8050698" y="2309376"/>
            <a:ext cx="298450" cy="464008"/>
            <a:chOff x="3130" y="3288"/>
            <a:chExt cx="410" cy="742"/>
          </a:xfrm>
        </p:grpSpPr>
        <p:sp>
          <p:nvSpPr>
            <p:cNvPr id="244" name="Line 270"/>
            <p:cNvSpPr>
              <a:spLocks noChangeShapeType="1"/>
            </p:cNvSpPr>
            <p:nvPr/>
          </p:nvSpPr>
          <p:spPr bwMode="auto">
            <a:xfrm flipH="1">
              <a:off x="3130" y="3288"/>
              <a:ext cx="205" cy="6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5" name="Line 271"/>
            <p:cNvSpPr>
              <a:spLocks noChangeShapeType="1"/>
            </p:cNvSpPr>
            <p:nvPr/>
          </p:nvSpPr>
          <p:spPr bwMode="auto">
            <a:xfrm>
              <a:off x="3335" y="3288"/>
              <a:ext cx="205" cy="669"/>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6" name="Line 272"/>
            <p:cNvSpPr>
              <a:spLocks noChangeShapeType="1"/>
            </p:cNvSpPr>
            <p:nvPr/>
          </p:nvSpPr>
          <p:spPr bwMode="auto">
            <a:xfrm>
              <a:off x="3130" y="3957"/>
              <a:ext cx="205" cy="73"/>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7" name="Line 273"/>
            <p:cNvSpPr>
              <a:spLocks noChangeShapeType="1"/>
            </p:cNvSpPr>
            <p:nvPr/>
          </p:nvSpPr>
          <p:spPr bwMode="auto">
            <a:xfrm flipH="1">
              <a:off x="3335" y="3957"/>
              <a:ext cx="205" cy="73"/>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8" name="Line 274"/>
            <p:cNvSpPr>
              <a:spLocks noChangeShapeType="1"/>
            </p:cNvSpPr>
            <p:nvPr/>
          </p:nvSpPr>
          <p:spPr bwMode="auto">
            <a:xfrm>
              <a:off x="3335" y="3303"/>
              <a:ext cx="0" cy="72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49" name="Line 275"/>
            <p:cNvSpPr>
              <a:spLocks noChangeShapeType="1"/>
            </p:cNvSpPr>
            <p:nvPr/>
          </p:nvSpPr>
          <p:spPr bwMode="auto">
            <a:xfrm flipV="1">
              <a:off x="3130" y="3888"/>
              <a:ext cx="205" cy="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0" name="Line 276"/>
            <p:cNvSpPr>
              <a:spLocks noChangeShapeType="1"/>
            </p:cNvSpPr>
            <p:nvPr/>
          </p:nvSpPr>
          <p:spPr bwMode="auto">
            <a:xfrm flipH="1" flipV="1">
              <a:off x="3335" y="3888"/>
              <a:ext cx="205" cy="69"/>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1" name="Line 277"/>
            <p:cNvSpPr>
              <a:spLocks noChangeShapeType="1"/>
            </p:cNvSpPr>
            <p:nvPr/>
          </p:nvSpPr>
          <p:spPr bwMode="auto">
            <a:xfrm>
              <a:off x="3217" y="3668"/>
              <a:ext cx="118" cy="5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2" name="Line 278"/>
            <p:cNvSpPr>
              <a:spLocks noChangeShapeType="1"/>
            </p:cNvSpPr>
            <p:nvPr/>
          </p:nvSpPr>
          <p:spPr bwMode="auto">
            <a:xfrm flipV="1">
              <a:off x="3335" y="3668"/>
              <a:ext cx="124" cy="5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3" name="Line 279"/>
            <p:cNvSpPr>
              <a:spLocks noChangeShapeType="1"/>
            </p:cNvSpPr>
            <p:nvPr/>
          </p:nvSpPr>
          <p:spPr bwMode="auto">
            <a:xfrm>
              <a:off x="3178" y="3766"/>
              <a:ext cx="152" cy="75"/>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4" name="Line 280"/>
            <p:cNvSpPr>
              <a:spLocks noChangeShapeType="1"/>
            </p:cNvSpPr>
            <p:nvPr/>
          </p:nvSpPr>
          <p:spPr bwMode="auto">
            <a:xfrm flipV="1">
              <a:off x="3335" y="3781"/>
              <a:ext cx="153" cy="6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5" name="Line 281"/>
            <p:cNvSpPr>
              <a:spLocks noChangeShapeType="1"/>
            </p:cNvSpPr>
            <p:nvPr/>
          </p:nvSpPr>
          <p:spPr bwMode="auto">
            <a:xfrm flipV="1">
              <a:off x="3335" y="3567"/>
              <a:ext cx="78" cy="2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6" name="Line 282"/>
            <p:cNvSpPr>
              <a:spLocks noChangeShapeType="1"/>
            </p:cNvSpPr>
            <p:nvPr/>
          </p:nvSpPr>
          <p:spPr bwMode="auto">
            <a:xfrm flipV="1">
              <a:off x="3335" y="3428"/>
              <a:ext cx="49" cy="21"/>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7" name="Line 283"/>
            <p:cNvSpPr>
              <a:spLocks noChangeShapeType="1"/>
            </p:cNvSpPr>
            <p:nvPr/>
          </p:nvSpPr>
          <p:spPr bwMode="auto">
            <a:xfrm>
              <a:off x="3247" y="3558"/>
              <a:ext cx="95" cy="3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sp>
          <p:nvSpPr>
            <p:cNvPr id="258" name="Line 284"/>
            <p:cNvSpPr>
              <a:spLocks noChangeShapeType="1"/>
            </p:cNvSpPr>
            <p:nvPr/>
          </p:nvSpPr>
          <p:spPr bwMode="auto">
            <a:xfrm>
              <a:off x="3289" y="3422"/>
              <a:ext cx="55" cy="36"/>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wrap="none"/>
            <a:lstStyle/>
            <a:p>
              <a:endParaRPr lang="en-US"/>
            </a:p>
          </p:txBody>
        </p:sp>
      </p:grpSp>
      <p:pic>
        <p:nvPicPr>
          <p:cNvPr id="261" name="Picture 777" descr="access_point_stylized_smal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p:cNvGrpSpPr/>
          <p:nvPr/>
        </p:nvGrpSpPr>
        <p:grpSpPr>
          <a:xfrm>
            <a:off x="9783558" y="4989983"/>
            <a:ext cx="393760" cy="218578"/>
            <a:chOff x="7493876" y="2774731"/>
            <a:chExt cx="1481958" cy="894622"/>
          </a:xfrm>
        </p:grpSpPr>
        <p:sp>
          <p:nvSpPr>
            <p:cNvPr id="472" name="Freeform 471"/>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73" name="Oval 472"/>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74" name="Group 473"/>
            <p:cNvGrpSpPr/>
            <p:nvPr/>
          </p:nvGrpSpPr>
          <p:grpSpPr>
            <a:xfrm>
              <a:off x="7713663" y="2848339"/>
              <a:ext cx="1042107" cy="425543"/>
              <a:chOff x="7786941" y="2884917"/>
              <a:chExt cx="897649" cy="353919"/>
            </a:xfrm>
          </p:grpSpPr>
          <p:sp>
            <p:nvSpPr>
              <p:cNvPr id="475" name="Freeform 474"/>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475"/>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Freeform 476"/>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Freeform 477"/>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0" name="Group 519"/>
          <p:cNvGrpSpPr/>
          <p:nvPr/>
        </p:nvGrpSpPr>
        <p:grpSpPr>
          <a:xfrm>
            <a:off x="9849365" y="5339037"/>
            <a:ext cx="309740" cy="190838"/>
            <a:chOff x="3668110" y="2448910"/>
            <a:chExt cx="3794234" cy="2165130"/>
          </a:xfrm>
        </p:grpSpPr>
        <p:sp>
          <p:nvSpPr>
            <p:cNvPr id="521" name="Rectangle 520"/>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Freeform 521"/>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3" name="Group 522"/>
            <p:cNvGrpSpPr/>
            <p:nvPr/>
          </p:nvGrpSpPr>
          <p:grpSpPr>
            <a:xfrm>
              <a:off x="3941378" y="2603243"/>
              <a:ext cx="3202061" cy="1066110"/>
              <a:chOff x="7939341" y="3037317"/>
              <a:chExt cx="897649" cy="353919"/>
            </a:xfrm>
          </p:grpSpPr>
          <p:sp>
            <p:nvSpPr>
              <p:cNvPr id="524" name="Freeform 523"/>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reeform 524"/>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Freeform 525"/>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Freeform 526"/>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9" name="Group 478"/>
          <p:cNvGrpSpPr/>
          <p:nvPr/>
        </p:nvGrpSpPr>
        <p:grpSpPr>
          <a:xfrm>
            <a:off x="8676619" y="4967420"/>
            <a:ext cx="393760" cy="218578"/>
            <a:chOff x="7493876" y="2774731"/>
            <a:chExt cx="1481958" cy="894622"/>
          </a:xfrm>
        </p:grpSpPr>
        <p:sp>
          <p:nvSpPr>
            <p:cNvPr id="480" name="Freeform 479"/>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81" name="Oval 480"/>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82" name="Group 481"/>
            <p:cNvGrpSpPr/>
            <p:nvPr/>
          </p:nvGrpSpPr>
          <p:grpSpPr>
            <a:xfrm>
              <a:off x="7713663" y="2848339"/>
              <a:ext cx="1042107" cy="425543"/>
              <a:chOff x="7786941" y="2884917"/>
              <a:chExt cx="897649" cy="353919"/>
            </a:xfrm>
          </p:grpSpPr>
          <p:sp>
            <p:nvSpPr>
              <p:cNvPr id="483" name="Freeform 482"/>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Freeform 484"/>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485"/>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29" name="Group 528"/>
          <p:cNvGrpSpPr/>
          <p:nvPr/>
        </p:nvGrpSpPr>
        <p:grpSpPr>
          <a:xfrm>
            <a:off x="8311520" y="5194433"/>
            <a:ext cx="309740" cy="190838"/>
            <a:chOff x="3668110" y="2448910"/>
            <a:chExt cx="3794234" cy="2165130"/>
          </a:xfrm>
        </p:grpSpPr>
        <p:sp>
          <p:nvSpPr>
            <p:cNvPr id="530" name="Rectangle 529"/>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2" name="Group 531"/>
            <p:cNvGrpSpPr/>
            <p:nvPr/>
          </p:nvGrpSpPr>
          <p:grpSpPr>
            <a:xfrm>
              <a:off x="3941378" y="2603243"/>
              <a:ext cx="3202061" cy="1066110"/>
              <a:chOff x="7939341" y="3037317"/>
              <a:chExt cx="897649" cy="353919"/>
            </a:xfrm>
          </p:grpSpPr>
          <p:sp>
            <p:nvSpPr>
              <p:cNvPr id="533" name="Freeform 532"/>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07" name="Group 406"/>
          <p:cNvGrpSpPr/>
          <p:nvPr/>
        </p:nvGrpSpPr>
        <p:grpSpPr>
          <a:xfrm>
            <a:off x="8439827" y="2812309"/>
            <a:ext cx="353678" cy="168275"/>
            <a:chOff x="7493876" y="2774731"/>
            <a:chExt cx="1481958" cy="894622"/>
          </a:xfrm>
        </p:grpSpPr>
        <p:sp>
          <p:nvSpPr>
            <p:cNvPr id="408" name="Freeform 407"/>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09" name="Oval 408"/>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10" name="Group 409"/>
            <p:cNvGrpSpPr/>
            <p:nvPr/>
          </p:nvGrpSpPr>
          <p:grpSpPr>
            <a:xfrm>
              <a:off x="7713663" y="2848339"/>
              <a:ext cx="1042107" cy="425543"/>
              <a:chOff x="7786941" y="2884917"/>
              <a:chExt cx="897649" cy="353919"/>
            </a:xfrm>
          </p:grpSpPr>
          <p:sp>
            <p:nvSpPr>
              <p:cNvPr id="411" name="Freeform 410"/>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Freeform 411"/>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15" name="Group 414"/>
          <p:cNvGrpSpPr/>
          <p:nvPr/>
        </p:nvGrpSpPr>
        <p:grpSpPr>
          <a:xfrm>
            <a:off x="8050070" y="3965994"/>
            <a:ext cx="354986" cy="175668"/>
            <a:chOff x="7493876" y="2774731"/>
            <a:chExt cx="1481958" cy="894622"/>
          </a:xfrm>
        </p:grpSpPr>
        <p:sp>
          <p:nvSpPr>
            <p:cNvPr id="416" name="Freeform 41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17" name="Oval 416"/>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18" name="Group 417"/>
            <p:cNvGrpSpPr/>
            <p:nvPr/>
          </p:nvGrpSpPr>
          <p:grpSpPr>
            <a:xfrm>
              <a:off x="7713663" y="2848339"/>
              <a:ext cx="1042107" cy="425543"/>
              <a:chOff x="7786941" y="2884917"/>
              <a:chExt cx="897649" cy="353919"/>
            </a:xfrm>
          </p:grpSpPr>
          <p:sp>
            <p:nvSpPr>
              <p:cNvPr id="419" name="Freeform 41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42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Freeform 42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55" name="Group 454"/>
          <p:cNvGrpSpPr/>
          <p:nvPr/>
        </p:nvGrpSpPr>
        <p:grpSpPr>
          <a:xfrm>
            <a:off x="10884085" y="3601365"/>
            <a:ext cx="170989" cy="97052"/>
            <a:chOff x="7493876" y="2774731"/>
            <a:chExt cx="1481958" cy="894622"/>
          </a:xfrm>
        </p:grpSpPr>
        <p:sp>
          <p:nvSpPr>
            <p:cNvPr id="456" name="Freeform 45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57" name="Oval 456"/>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58" name="Group 457"/>
            <p:cNvGrpSpPr/>
            <p:nvPr/>
          </p:nvGrpSpPr>
          <p:grpSpPr>
            <a:xfrm>
              <a:off x="7713663" y="2848339"/>
              <a:ext cx="1042107" cy="425543"/>
              <a:chOff x="7786941" y="2884917"/>
              <a:chExt cx="897649" cy="353919"/>
            </a:xfrm>
          </p:grpSpPr>
          <p:sp>
            <p:nvSpPr>
              <p:cNvPr id="459" name="Freeform 45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45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46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15" name="Group 614"/>
          <p:cNvGrpSpPr/>
          <p:nvPr/>
        </p:nvGrpSpPr>
        <p:grpSpPr>
          <a:xfrm>
            <a:off x="10410609" y="3496138"/>
            <a:ext cx="353678" cy="198344"/>
            <a:chOff x="7493876" y="2774731"/>
            <a:chExt cx="1481958" cy="894622"/>
          </a:xfrm>
        </p:grpSpPr>
        <p:sp>
          <p:nvSpPr>
            <p:cNvPr id="616" name="Freeform 61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617" name="Oval 616"/>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618" name="Group 617"/>
            <p:cNvGrpSpPr/>
            <p:nvPr/>
          </p:nvGrpSpPr>
          <p:grpSpPr>
            <a:xfrm>
              <a:off x="7713663" y="2848339"/>
              <a:ext cx="1042107" cy="425543"/>
              <a:chOff x="7786941" y="2884917"/>
              <a:chExt cx="897649" cy="353919"/>
            </a:xfrm>
          </p:grpSpPr>
          <p:sp>
            <p:nvSpPr>
              <p:cNvPr id="619" name="Freeform 61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Freeform 61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Freeform 62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Freeform 62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77" name="Group 576"/>
          <p:cNvGrpSpPr/>
          <p:nvPr/>
        </p:nvGrpSpPr>
        <p:grpSpPr>
          <a:xfrm>
            <a:off x="9948724" y="2202292"/>
            <a:ext cx="353678" cy="198344"/>
            <a:chOff x="7493876" y="2774731"/>
            <a:chExt cx="1481958" cy="894622"/>
          </a:xfrm>
        </p:grpSpPr>
        <p:sp>
          <p:nvSpPr>
            <p:cNvPr id="578" name="Freeform 577"/>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79" name="Oval 578"/>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80" name="Group 579"/>
            <p:cNvGrpSpPr/>
            <p:nvPr/>
          </p:nvGrpSpPr>
          <p:grpSpPr>
            <a:xfrm>
              <a:off x="7713663" y="2848339"/>
              <a:ext cx="1042107" cy="425543"/>
              <a:chOff x="7786941" y="2884917"/>
              <a:chExt cx="897649" cy="353919"/>
            </a:xfrm>
          </p:grpSpPr>
          <p:sp>
            <p:nvSpPr>
              <p:cNvPr id="581" name="Freeform 580"/>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Freeform 581"/>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3" name="Freeform 582"/>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93" name="Group 592"/>
          <p:cNvGrpSpPr/>
          <p:nvPr/>
        </p:nvGrpSpPr>
        <p:grpSpPr>
          <a:xfrm>
            <a:off x="10527214" y="2613367"/>
            <a:ext cx="353678" cy="198344"/>
            <a:chOff x="7493876" y="2774731"/>
            <a:chExt cx="1481958" cy="894622"/>
          </a:xfrm>
        </p:grpSpPr>
        <p:sp>
          <p:nvSpPr>
            <p:cNvPr id="594" name="Freeform 593"/>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95" name="Oval 594"/>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96" name="Group 595"/>
            <p:cNvGrpSpPr/>
            <p:nvPr/>
          </p:nvGrpSpPr>
          <p:grpSpPr>
            <a:xfrm>
              <a:off x="7713663" y="2848339"/>
              <a:ext cx="1042107" cy="425543"/>
              <a:chOff x="7786941" y="2884917"/>
              <a:chExt cx="897649" cy="353919"/>
            </a:xfrm>
          </p:grpSpPr>
          <p:sp>
            <p:nvSpPr>
              <p:cNvPr id="597" name="Freeform 596"/>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597"/>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598"/>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0" name="Freeform 599"/>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01" name="Group 600"/>
          <p:cNvGrpSpPr/>
          <p:nvPr/>
        </p:nvGrpSpPr>
        <p:grpSpPr>
          <a:xfrm>
            <a:off x="10643825" y="2107963"/>
            <a:ext cx="353678" cy="198344"/>
            <a:chOff x="7493876" y="2774731"/>
            <a:chExt cx="1481958" cy="894622"/>
          </a:xfrm>
        </p:grpSpPr>
        <p:sp>
          <p:nvSpPr>
            <p:cNvPr id="602" name="Freeform 601"/>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603" name="Oval 602"/>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604" name="Group 603"/>
            <p:cNvGrpSpPr/>
            <p:nvPr/>
          </p:nvGrpSpPr>
          <p:grpSpPr>
            <a:xfrm>
              <a:off x="7713663" y="2848339"/>
              <a:ext cx="1042107" cy="425543"/>
              <a:chOff x="7786941" y="2884917"/>
              <a:chExt cx="897649" cy="353919"/>
            </a:xfrm>
          </p:grpSpPr>
          <p:sp>
            <p:nvSpPr>
              <p:cNvPr id="605" name="Freeform 604"/>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Freeform 605"/>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Freeform 606"/>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reeform 607"/>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54" name="Group 553"/>
          <p:cNvGrpSpPr/>
          <p:nvPr/>
        </p:nvGrpSpPr>
        <p:grpSpPr>
          <a:xfrm>
            <a:off x="9098788" y="3956624"/>
            <a:ext cx="367224" cy="240304"/>
            <a:chOff x="7493876" y="2774731"/>
            <a:chExt cx="1481958" cy="894622"/>
          </a:xfrm>
        </p:grpSpPr>
        <p:sp>
          <p:nvSpPr>
            <p:cNvPr id="555" name="Freeform 554"/>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56" name="Oval 555"/>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57" name="Group 556"/>
            <p:cNvGrpSpPr/>
            <p:nvPr/>
          </p:nvGrpSpPr>
          <p:grpSpPr>
            <a:xfrm>
              <a:off x="7713663" y="2848339"/>
              <a:ext cx="1042107" cy="425543"/>
              <a:chOff x="7786941" y="2884917"/>
              <a:chExt cx="897649" cy="353919"/>
            </a:xfrm>
          </p:grpSpPr>
          <p:sp>
            <p:nvSpPr>
              <p:cNvPr id="558" name="Freeform 557"/>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558"/>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Freeform 559"/>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Freeform 560"/>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85" name="Group 584"/>
          <p:cNvGrpSpPr/>
          <p:nvPr/>
        </p:nvGrpSpPr>
        <p:grpSpPr>
          <a:xfrm>
            <a:off x="9980126" y="2661565"/>
            <a:ext cx="353678" cy="198344"/>
            <a:chOff x="7493876" y="2774731"/>
            <a:chExt cx="1481958" cy="894622"/>
          </a:xfrm>
        </p:grpSpPr>
        <p:sp>
          <p:nvSpPr>
            <p:cNvPr id="586" name="Freeform 585"/>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87" name="Oval 586"/>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88" name="Group 587"/>
            <p:cNvGrpSpPr/>
            <p:nvPr/>
          </p:nvGrpSpPr>
          <p:grpSpPr>
            <a:xfrm>
              <a:off x="7713663" y="2848339"/>
              <a:ext cx="1042107" cy="425543"/>
              <a:chOff x="7786941" y="2884917"/>
              <a:chExt cx="897649" cy="353919"/>
            </a:xfrm>
          </p:grpSpPr>
          <p:sp>
            <p:nvSpPr>
              <p:cNvPr id="589" name="Freeform 588"/>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Freeform 589"/>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Freeform 590"/>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Freeform 591"/>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8" name="Group 537"/>
          <p:cNvGrpSpPr/>
          <p:nvPr/>
        </p:nvGrpSpPr>
        <p:grpSpPr>
          <a:xfrm>
            <a:off x="9497138" y="3394032"/>
            <a:ext cx="367224" cy="240304"/>
            <a:chOff x="7493876" y="2774731"/>
            <a:chExt cx="1481958" cy="894622"/>
          </a:xfrm>
        </p:grpSpPr>
        <p:sp>
          <p:nvSpPr>
            <p:cNvPr id="539" name="Freeform 538"/>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40" name="Oval 539"/>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41" name="Group 540"/>
            <p:cNvGrpSpPr/>
            <p:nvPr/>
          </p:nvGrpSpPr>
          <p:grpSpPr>
            <a:xfrm>
              <a:off x="7713663" y="2848339"/>
              <a:ext cx="1042107" cy="425543"/>
              <a:chOff x="7786941" y="2884917"/>
              <a:chExt cx="897649" cy="353919"/>
            </a:xfrm>
          </p:grpSpPr>
          <p:sp>
            <p:nvSpPr>
              <p:cNvPr id="542" name="Freeform 541"/>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Freeform 542"/>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Freeform 543"/>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544"/>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6" name="Group 545"/>
          <p:cNvGrpSpPr/>
          <p:nvPr/>
        </p:nvGrpSpPr>
        <p:grpSpPr>
          <a:xfrm>
            <a:off x="9601554" y="3999763"/>
            <a:ext cx="367224" cy="240304"/>
            <a:chOff x="7493876" y="2774731"/>
            <a:chExt cx="1481958" cy="894622"/>
          </a:xfrm>
        </p:grpSpPr>
        <p:sp>
          <p:nvSpPr>
            <p:cNvPr id="547" name="Freeform 546"/>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548" name="Oval 547"/>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549" name="Group 548"/>
            <p:cNvGrpSpPr/>
            <p:nvPr/>
          </p:nvGrpSpPr>
          <p:grpSpPr>
            <a:xfrm>
              <a:off x="7713663" y="2848339"/>
              <a:ext cx="1042107" cy="425543"/>
              <a:chOff x="7786941" y="2884917"/>
              <a:chExt cx="897649" cy="353919"/>
            </a:xfrm>
          </p:grpSpPr>
          <p:sp>
            <p:nvSpPr>
              <p:cNvPr id="550" name="Freeform 549"/>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Freeform 550"/>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reeform 551"/>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Freeform 552"/>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23" name="Group 622"/>
          <p:cNvGrpSpPr/>
          <p:nvPr/>
        </p:nvGrpSpPr>
        <p:grpSpPr>
          <a:xfrm>
            <a:off x="10375259" y="3992325"/>
            <a:ext cx="353678" cy="198344"/>
            <a:chOff x="7493876" y="2774731"/>
            <a:chExt cx="1481958" cy="894622"/>
          </a:xfrm>
        </p:grpSpPr>
        <p:sp>
          <p:nvSpPr>
            <p:cNvPr id="624" name="Freeform 623"/>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625" name="Oval 624"/>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626" name="Group 625"/>
            <p:cNvGrpSpPr/>
            <p:nvPr/>
          </p:nvGrpSpPr>
          <p:grpSpPr>
            <a:xfrm>
              <a:off x="7713663" y="2848339"/>
              <a:ext cx="1042107" cy="425543"/>
              <a:chOff x="7786941" y="2884917"/>
              <a:chExt cx="897649" cy="353919"/>
            </a:xfrm>
          </p:grpSpPr>
          <p:sp>
            <p:nvSpPr>
              <p:cNvPr id="627" name="Freeform 626"/>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627"/>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Freeform 628"/>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629"/>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63" name="Group 462"/>
          <p:cNvGrpSpPr/>
          <p:nvPr/>
        </p:nvGrpSpPr>
        <p:grpSpPr>
          <a:xfrm>
            <a:off x="9247893" y="4775686"/>
            <a:ext cx="393760" cy="218578"/>
            <a:chOff x="7493876" y="2774731"/>
            <a:chExt cx="1481958" cy="894622"/>
          </a:xfrm>
        </p:grpSpPr>
        <p:sp>
          <p:nvSpPr>
            <p:cNvPr id="464" name="Freeform 463"/>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65" name="Oval 464"/>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66" name="Group 465"/>
            <p:cNvGrpSpPr/>
            <p:nvPr/>
          </p:nvGrpSpPr>
          <p:grpSpPr>
            <a:xfrm>
              <a:off x="7713663" y="2848339"/>
              <a:ext cx="1042107" cy="425543"/>
              <a:chOff x="7786941" y="2884917"/>
              <a:chExt cx="897649" cy="353919"/>
            </a:xfrm>
          </p:grpSpPr>
          <p:sp>
            <p:nvSpPr>
              <p:cNvPr id="467" name="Freeform 466"/>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467"/>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Freeform 468"/>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Freeform 469"/>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47" name="Group 446"/>
          <p:cNvGrpSpPr/>
          <p:nvPr/>
        </p:nvGrpSpPr>
        <p:grpSpPr>
          <a:xfrm>
            <a:off x="10925982" y="4369125"/>
            <a:ext cx="228295" cy="120400"/>
            <a:chOff x="7493876" y="2774731"/>
            <a:chExt cx="1481958" cy="894622"/>
          </a:xfrm>
        </p:grpSpPr>
        <p:sp>
          <p:nvSpPr>
            <p:cNvPr id="448" name="Freeform 447"/>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1" fmla="*/ 8187558 w 8187558"/>
                <a:gd name="connsiteY0-2" fmla="*/ 0 h 2617076"/>
                <a:gd name="connsiteX1-3" fmla="*/ 8187558 w 8187558"/>
                <a:gd name="connsiteY1-4" fmla="*/ 1271752 h 2617076"/>
                <a:gd name="connsiteX2-5" fmla="*/ 4025462 w 8187558"/>
                <a:gd name="connsiteY2-6" fmla="*/ 2617076 h 2617076"/>
                <a:gd name="connsiteX3-7" fmla="*/ 0 w 8187558"/>
                <a:gd name="connsiteY3-8" fmla="*/ 1229711 h 2617076"/>
                <a:gd name="connsiteX4-9" fmla="*/ 31531 w 8187558"/>
                <a:gd name="connsiteY4-10" fmla="*/ 147145 h 2617076"/>
                <a:gd name="connsiteX5-11" fmla="*/ 4046482 w 8187558"/>
                <a:gd name="connsiteY5-12" fmla="*/ 1576552 h 2617076"/>
                <a:gd name="connsiteX6-13" fmla="*/ 8187558 w 8187558"/>
                <a:gd name="connsiteY6-14" fmla="*/ 0 h 2617076"/>
                <a:gd name="connsiteX0-15" fmla="*/ 8187558 w 8187558"/>
                <a:gd name="connsiteY0-16" fmla="*/ 0 h 2617076"/>
                <a:gd name="connsiteX1-17" fmla="*/ 8187558 w 8187558"/>
                <a:gd name="connsiteY1-18" fmla="*/ 1271752 h 2617076"/>
                <a:gd name="connsiteX2-19" fmla="*/ 4025462 w 8187558"/>
                <a:gd name="connsiteY2-20" fmla="*/ 2617076 h 2617076"/>
                <a:gd name="connsiteX3-21" fmla="*/ 0 w 8187558"/>
                <a:gd name="connsiteY3-22" fmla="*/ 1229711 h 2617076"/>
                <a:gd name="connsiteX4-23" fmla="*/ 31531 w 8187558"/>
                <a:gd name="connsiteY4-24" fmla="*/ 147145 h 2617076"/>
                <a:gd name="connsiteX5-25" fmla="*/ 4046482 w 8187558"/>
                <a:gd name="connsiteY5-26" fmla="*/ 1576552 h 2617076"/>
                <a:gd name="connsiteX6-27" fmla="*/ 8187558 w 8187558"/>
                <a:gd name="connsiteY6-28" fmla="*/ 0 h 2617076"/>
                <a:gd name="connsiteX0-29" fmla="*/ 8187558 w 8187558"/>
                <a:gd name="connsiteY0-30" fmla="*/ 0 h 2617076"/>
                <a:gd name="connsiteX1-31" fmla="*/ 8187558 w 8187558"/>
                <a:gd name="connsiteY1-32" fmla="*/ 1271752 h 2617076"/>
                <a:gd name="connsiteX2-33" fmla="*/ 4025462 w 8187558"/>
                <a:gd name="connsiteY2-34" fmla="*/ 2617076 h 2617076"/>
                <a:gd name="connsiteX3-35" fmla="*/ 0 w 8187558"/>
                <a:gd name="connsiteY3-36" fmla="*/ 1229711 h 2617076"/>
                <a:gd name="connsiteX4-37" fmla="*/ 31531 w 8187558"/>
                <a:gd name="connsiteY4-38" fmla="*/ 147145 h 2617076"/>
                <a:gd name="connsiteX5-39" fmla="*/ 4046482 w 8187558"/>
                <a:gd name="connsiteY5-40" fmla="*/ 1576552 h 2617076"/>
                <a:gd name="connsiteX6-41" fmla="*/ 8187558 w 8187558"/>
                <a:gd name="connsiteY6-42" fmla="*/ 0 h 2617076"/>
                <a:gd name="connsiteX0-43" fmla="*/ 8187558 w 8187558"/>
                <a:gd name="connsiteY0-44" fmla="*/ 0 h 2617076"/>
                <a:gd name="connsiteX1-45" fmla="*/ 8187558 w 8187558"/>
                <a:gd name="connsiteY1-46" fmla="*/ 1271752 h 2617076"/>
                <a:gd name="connsiteX2-47" fmla="*/ 4025462 w 8187558"/>
                <a:gd name="connsiteY2-48" fmla="*/ 2617076 h 2617076"/>
                <a:gd name="connsiteX3-49" fmla="*/ 0 w 8187558"/>
                <a:gd name="connsiteY3-50" fmla="*/ 1229711 h 2617076"/>
                <a:gd name="connsiteX4-51" fmla="*/ 31531 w 8187558"/>
                <a:gd name="connsiteY4-52" fmla="*/ 147145 h 2617076"/>
                <a:gd name="connsiteX5-53" fmla="*/ 4046482 w 8187558"/>
                <a:gd name="connsiteY5-54" fmla="*/ 1576552 h 2617076"/>
                <a:gd name="connsiteX6-55" fmla="*/ 8187558 w 8187558"/>
                <a:gd name="connsiteY6-56" fmla="*/ 0 h 2617076"/>
                <a:gd name="connsiteX0-57" fmla="*/ 8187558 w 8187558"/>
                <a:gd name="connsiteY0-58" fmla="*/ 0 h 2617076"/>
                <a:gd name="connsiteX1-59" fmla="*/ 8187558 w 8187558"/>
                <a:gd name="connsiteY1-60" fmla="*/ 1271752 h 2617076"/>
                <a:gd name="connsiteX2-61" fmla="*/ 4025462 w 8187558"/>
                <a:gd name="connsiteY2-62" fmla="*/ 2617076 h 2617076"/>
                <a:gd name="connsiteX3-63" fmla="*/ 0 w 8187558"/>
                <a:gd name="connsiteY3-64" fmla="*/ 1229711 h 2617076"/>
                <a:gd name="connsiteX4-65" fmla="*/ 31531 w 8187558"/>
                <a:gd name="connsiteY4-66" fmla="*/ 147145 h 2617076"/>
                <a:gd name="connsiteX5-67" fmla="*/ 4046482 w 8187558"/>
                <a:gd name="connsiteY5-68" fmla="*/ 1576552 h 2617076"/>
                <a:gd name="connsiteX6-69" fmla="*/ 8187558 w 8187558"/>
                <a:gd name="connsiteY6-70" fmla="*/ 0 h 2617076"/>
                <a:gd name="connsiteX0-71" fmla="*/ 8187558 w 8187558"/>
                <a:gd name="connsiteY0-72" fmla="*/ 0 h 2617076"/>
                <a:gd name="connsiteX1-73" fmla="*/ 8187558 w 8187558"/>
                <a:gd name="connsiteY1-74" fmla="*/ 1271752 h 2617076"/>
                <a:gd name="connsiteX2-75" fmla="*/ 4025462 w 8187558"/>
                <a:gd name="connsiteY2-76" fmla="*/ 2617076 h 2617076"/>
                <a:gd name="connsiteX3-77" fmla="*/ 0 w 8187558"/>
                <a:gd name="connsiteY3-78" fmla="*/ 1229711 h 2617076"/>
                <a:gd name="connsiteX4-79" fmla="*/ 31531 w 8187558"/>
                <a:gd name="connsiteY4-80" fmla="*/ 147145 h 2617076"/>
                <a:gd name="connsiteX5-81" fmla="*/ 4046482 w 8187558"/>
                <a:gd name="connsiteY5-82" fmla="*/ 1576552 h 2617076"/>
                <a:gd name="connsiteX6-83" fmla="*/ 8187558 w 8187558"/>
                <a:gd name="connsiteY6-84" fmla="*/ 0 h 2617076"/>
                <a:gd name="connsiteX0-85" fmla="*/ 8187558 w 8187558"/>
                <a:gd name="connsiteY0-86" fmla="*/ 0 h 2638097"/>
                <a:gd name="connsiteX1-87" fmla="*/ 8187558 w 8187558"/>
                <a:gd name="connsiteY1-88" fmla="*/ 1271752 h 2638097"/>
                <a:gd name="connsiteX2-89" fmla="*/ 4099035 w 8187558"/>
                <a:gd name="connsiteY2-90" fmla="*/ 2638097 h 2638097"/>
                <a:gd name="connsiteX3-91" fmla="*/ 0 w 8187558"/>
                <a:gd name="connsiteY3-92" fmla="*/ 1229711 h 2638097"/>
                <a:gd name="connsiteX4-93" fmla="*/ 31531 w 8187558"/>
                <a:gd name="connsiteY4-94" fmla="*/ 147145 h 2638097"/>
                <a:gd name="connsiteX5-95" fmla="*/ 4046482 w 8187558"/>
                <a:gd name="connsiteY5-96" fmla="*/ 1576552 h 2638097"/>
                <a:gd name="connsiteX6-97" fmla="*/ 8187558 w 8187558"/>
                <a:gd name="connsiteY6-98" fmla="*/ 0 h 2638097"/>
                <a:gd name="connsiteX0-99" fmla="*/ 8187558 w 8187558"/>
                <a:gd name="connsiteY0-100" fmla="*/ 0 h 2638097"/>
                <a:gd name="connsiteX1-101" fmla="*/ 8187558 w 8187558"/>
                <a:gd name="connsiteY1-102" fmla="*/ 1271752 h 2638097"/>
                <a:gd name="connsiteX2-103" fmla="*/ 4099035 w 8187558"/>
                <a:gd name="connsiteY2-104" fmla="*/ 2638097 h 2638097"/>
                <a:gd name="connsiteX3-105" fmla="*/ 0 w 8187558"/>
                <a:gd name="connsiteY3-106" fmla="*/ 1229711 h 2638097"/>
                <a:gd name="connsiteX4-107" fmla="*/ 31531 w 8187558"/>
                <a:gd name="connsiteY4-108" fmla="*/ 147145 h 2638097"/>
                <a:gd name="connsiteX5-109" fmla="*/ 4046482 w 8187558"/>
                <a:gd name="connsiteY5-110" fmla="*/ 1576552 h 2638097"/>
                <a:gd name="connsiteX6-111" fmla="*/ 8187558 w 8187558"/>
                <a:gd name="connsiteY6-112" fmla="*/ 0 h 2638097"/>
                <a:gd name="connsiteX0-113" fmla="*/ 8187558 w 8187558"/>
                <a:gd name="connsiteY0-114" fmla="*/ 0 h 2638097"/>
                <a:gd name="connsiteX1-115" fmla="*/ 8187558 w 8187558"/>
                <a:gd name="connsiteY1-116" fmla="*/ 1271752 h 2638097"/>
                <a:gd name="connsiteX2-117" fmla="*/ 4099035 w 8187558"/>
                <a:gd name="connsiteY2-118" fmla="*/ 2638097 h 2638097"/>
                <a:gd name="connsiteX3-119" fmla="*/ 0 w 8187558"/>
                <a:gd name="connsiteY3-120" fmla="*/ 1229711 h 2638097"/>
                <a:gd name="connsiteX4-121" fmla="*/ 31531 w 8187558"/>
                <a:gd name="connsiteY4-122" fmla="*/ 147145 h 2638097"/>
                <a:gd name="connsiteX5-123" fmla="*/ 4046482 w 8187558"/>
                <a:gd name="connsiteY5-124" fmla="*/ 1576552 h 2638097"/>
                <a:gd name="connsiteX6-125" fmla="*/ 8187558 w 8187558"/>
                <a:gd name="connsiteY6-126" fmla="*/ 0 h 2638097"/>
                <a:gd name="connsiteX0-127" fmla="*/ 8187558 w 8187558"/>
                <a:gd name="connsiteY0-128" fmla="*/ 0 h 2638097"/>
                <a:gd name="connsiteX1-129" fmla="*/ 8187558 w 8187558"/>
                <a:gd name="connsiteY1-130" fmla="*/ 1271752 h 2638097"/>
                <a:gd name="connsiteX2-131" fmla="*/ 4099035 w 8187558"/>
                <a:gd name="connsiteY2-132" fmla="*/ 2638097 h 2638097"/>
                <a:gd name="connsiteX3-133" fmla="*/ 0 w 8187558"/>
                <a:gd name="connsiteY3-134" fmla="*/ 1229711 h 2638097"/>
                <a:gd name="connsiteX4-135" fmla="*/ 31531 w 8187558"/>
                <a:gd name="connsiteY4-136" fmla="*/ 147145 h 2638097"/>
                <a:gd name="connsiteX5-137" fmla="*/ 4046482 w 8187558"/>
                <a:gd name="connsiteY5-138" fmla="*/ 1576552 h 2638097"/>
                <a:gd name="connsiteX6-139" fmla="*/ 8187558 w 8187558"/>
                <a:gd name="connsiteY6-140" fmla="*/ 0 h 2638097"/>
                <a:gd name="connsiteX0-141" fmla="*/ 8187558 w 8187558"/>
                <a:gd name="connsiteY0-142" fmla="*/ 0 h 2638097"/>
                <a:gd name="connsiteX1-143" fmla="*/ 8187558 w 8187558"/>
                <a:gd name="connsiteY1-144" fmla="*/ 1271752 h 2638097"/>
                <a:gd name="connsiteX2-145" fmla="*/ 4099035 w 8187558"/>
                <a:gd name="connsiteY2-146" fmla="*/ 2638097 h 2638097"/>
                <a:gd name="connsiteX3-147" fmla="*/ 0 w 8187558"/>
                <a:gd name="connsiteY3-148" fmla="*/ 1229711 h 2638097"/>
                <a:gd name="connsiteX4-149" fmla="*/ 31531 w 8187558"/>
                <a:gd name="connsiteY4-150" fmla="*/ 147145 h 2638097"/>
                <a:gd name="connsiteX5-151" fmla="*/ 4088524 w 8187558"/>
                <a:gd name="connsiteY5-152" fmla="*/ 1597573 h 2638097"/>
                <a:gd name="connsiteX6-153" fmla="*/ 8187558 w 8187558"/>
                <a:gd name="connsiteY6-154" fmla="*/ 0 h 2638097"/>
                <a:gd name="connsiteX0-155" fmla="*/ 8187558 w 8187558"/>
                <a:gd name="connsiteY0-156" fmla="*/ 0 h 2638097"/>
                <a:gd name="connsiteX1-157" fmla="*/ 8187558 w 8187558"/>
                <a:gd name="connsiteY1-158" fmla="*/ 1271752 h 2638097"/>
                <a:gd name="connsiteX2-159" fmla="*/ 4099035 w 8187558"/>
                <a:gd name="connsiteY2-160" fmla="*/ 2638097 h 2638097"/>
                <a:gd name="connsiteX3-161" fmla="*/ 0 w 8187558"/>
                <a:gd name="connsiteY3-162" fmla="*/ 1229711 h 2638097"/>
                <a:gd name="connsiteX4-163" fmla="*/ 31531 w 8187558"/>
                <a:gd name="connsiteY4-164" fmla="*/ 147145 h 2638097"/>
                <a:gd name="connsiteX5-165" fmla="*/ 4088524 w 8187558"/>
                <a:gd name="connsiteY5-166" fmla="*/ 1597573 h 2638097"/>
                <a:gd name="connsiteX6-167" fmla="*/ 8187558 w 8187558"/>
                <a:gd name="connsiteY6-168" fmla="*/ 0 h 2638097"/>
                <a:gd name="connsiteX0-169" fmla="*/ 8187558 w 8187558"/>
                <a:gd name="connsiteY0-170" fmla="*/ 0 h 2638097"/>
                <a:gd name="connsiteX1-171" fmla="*/ 8187558 w 8187558"/>
                <a:gd name="connsiteY1-172" fmla="*/ 1271752 h 2638097"/>
                <a:gd name="connsiteX2-173" fmla="*/ 4099035 w 8187558"/>
                <a:gd name="connsiteY2-174" fmla="*/ 2638097 h 2638097"/>
                <a:gd name="connsiteX3-175" fmla="*/ 0 w 8187558"/>
                <a:gd name="connsiteY3-176" fmla="*/ 1229711 h 2638097"/>
                <a:gd name="connsiteX4-177" fmla="*/ 31531 w 8187558"/>
                <a:gd name="connsiteY4-178" fmla="*/ 147145 h 2638097"/>
                <a:gd name="connsiteX5-179" fmla="*/ 4099035 w 8187558"/>
                <a:gd name="connsiteY5-180" fmla="*/ 1566042 h 2638097"/>
                <a:gd name="connsiteX6-181" fmla="*/ 8187558 w 8187558"/>
                <a:gd name="connsiteY6-182" fmla="*/ 0 h 2638097"/>
                <a:gd name="connsiteX0-183" fmla="*/ 8187558 w 8187558"/>
                <a:gd name="connsiteY0-184" fmla="*/ 0 h 2638097"/>
                <a:gd name="connsiteX1-185" fmla="*/ 8187558 w 8187558"/>
                <a:gd name="connsiteY1-186" fmla="*/ 1271752 h 2638097"/>
                <a:gd name="connsiteX2-187" fmla="*/ 4099035 w 8187558"/>
                <a:gd name="connsiteY2-188" fmla="*/ 2638097 h 2638097"/>
                <a:gd name="connsiteX3-189" fmla="*/ 0 w 8187558"/>
                <a:gd name="connsiteY3-190" fmla="*/ 1229711 h 2638097"/>
                <a:gd name="connsiteX4-191" fmla="*/ 31531 w 8187558"/>
                <a:gd name="connsiteY4-192" fmla="*/ 147145 h 2638097"/>
                <a:gd name="connsiteX5-193" fmla="*/ 4099035 w 8187558"/>
                <a:gd name="connsiteY5-194" fmla="*/ 1566042 h 2638097"/>
                <a:gd name="connsiteX6-195" fmla="*/ 8187558 w 8187558"/>
                <a:gd name="connsiteY6-196" fmla="*/ 0 h 2638097"/>
                <a:gd name="connsiteX0-197" fmla="*/ 8187558 w 8187558"/>
                <a:gd name="connsiteY0-198" fmla="*/ 0 h 2638097"/>
                <a:gd name="connsiteX1-199" fmla="*/ 8187558 w 8187558"/>
                <a:gd name="connsiteY1-200" fmla="*/ 1271752 h 2638097"/>
                <a:gd name="connsiteX2-201" fmla="*/ 4099035 w 8187558"/>
                <a:gd name="connsiteY2-202" fmla="*/ 2638097 h 2638097"/>
                <a:gd name="connsiteX3-203" fmla="*/ 0 w 8187558"/>
                <a:gd name="connsiteY3-204" fmla="*/ 1229711 h 2638097"/>
                <a:gd name="connsiteX4-205" fmla="*/ 31531 w 8187558"/>
                <a:gd name="connsiteY4-206" fmla="*/ 147145 h 2638097"/>
                <a:gd name="connsiteX5-207" fmla="*/ 4099035 w 8187558"/>
                <a:gd name="connsiteY5-208" fmla="*/ 1566042 h 2638097"/>
                <a:gd name="connsiteX6-209" fmla="*/ 8187558 w 8187558"/>
                <a:gd name="connsiteY6-210" fmla="*/ 0 h 2638097"/>
                <a:gd name="connsiteX0-211" fmla="*/ 8187558 w 8187558"/>
                <a:gd name="connsiteY0-212" fmla="*/ 0 h 2638097"/>
                <a:gd name="connsiteX1-213" fmla="*/ 8187558 w 8187558"/>
                <a:gd name="connsiteY1-214" fmla="*/ 1271752 h 2638097"/>
                <a:gd name="connsiteX2-215" fmla="*/ 4099035 w 8187558"/>
                <a:gd name="connsiteY2-216" fmla="*/ 2638097 h 2638097"/>
                <a:gd name="connsiteX3-217" fmla="*/ 0 w 8187558"/>
                <a:gd name="connsiteY3-218" fmla="*/ 1229711 h 2638097"/>
                <a:gd name="connsiteX4-219" fmla="*/ 31531 w 8187558"/>
                <a:gd name="connsiteY4-220" fmla="*/ 147145 h 2638097"/>
                <a:gd name="connsiteX5-221" fmla="*/ 4099035 w 8187558"/>
                <a:gd name="connsiteY5-222" fmla="*/ 1566042 h 2638097"/>
                <a:gd name="connsiteX6-223" fmla="*/ 8187558 w 8187558"/>
                <a:gd name="connsiteY6-224" fmla="*/ 0 h 2638097"/>
                <a:gd name="connsiteX0-225" fmla="*/ 8187558 w 8187558"/>
                <a:gd name="connsiteY0-226" fmla="*/ 0 h 2638097"/>
                <a:gd name="connsiteX1-227" fmla="*/ 8187558 w 8187558"/>
                <a:gd name="connsiteY1-228" fmla="*/ 1271752 h 2638097"/>
                <a:gd name="connsiteX2-229" fmla="*/ 4099035 w 8187558"/>
                <a:gd name="connsiteY2-230" fmla="*/ 2638097 h 2638097"/>
                <a:gd name="connsiteX3-231" fmla="*/ 0 w 8187558"/>
                <a:gd name="connsiteY3-232" fmla="*/ 1229711 h 2638097"/>
                <a:gd name="connsiteX4-233" fmla="*/ 31531 w 8187558"/>
                <a:gd name="connsiteY4-234" fmla="*/ 147145 h 2638097"/>
                <a:gd name="connsiteX5-235" fmla="*/ 4099035 w 8187558"/>
                <a:gd name="connsiteY5-236" fmla="*/ 1566042 h 2638097"/>
                <a:gd name="connsiteX6-237" fmla="*/ 8187558 w 8187558"/>
                <a:gd name="connsiteY6-238" fmla="*/ 0 h 2638097"/>
                <a:gd name="connsiteX0-239" fmla="*/ 8187558 w 8187558"/>
                <a:gd name="connsiteY0-240" fmla="*/ 0 h 2638097"/>
                <a:gd name="connsiteX1-241" fmla="*/ 8187558 w 8187558"/>
                <a:gd name="connsiteY1-242" fmla="*/ 1271752 h 2638097"/>
                <a:gd name="connsiteX2-243" fmla="*/ 4099035 w 8187558"/>
                <a:gd name="connsiteY2-244" fmla="*/ 2638097 h 2638097"/>
                <a:gd name="connsiteX3-245" fmla="*/ 0 w 8187558"/>
                <a:gd name="connsiteY3-246" fmla="*/ 1229711 h 2638097"/>
                <a:gd name="connsiteX4-247" fmla="*/ 31531 w 8187558"/>
                <a:gd name="connsiteY4-248" fmla="*/ 147145 h 2638097"/>
                <a:gd name="connsiteX5-249" fmla="*/ 4099035 w 8187558"/>
                <a:gd name="connsiteY5-250" fmla="*/ 1566042 h 2638097"/>
                <a:gd name="connsiteX6-251" fmla="*/ 8187558 w 8187558"/>
                <a:gd name="connsiteY6-252" fmla="*/ 0 h 2638097"/>
                <a:gd name="connsiteX0-253" fmla="*/ 8187558 w 8187558"/>
                <a:gd name="connsiteY0-254" fmla="*/ 0 h 2638097"/>
                <a:gd name="connsiteX1-255" fmla="*/ 8187558 w 8187558"/>
                <a:gd name="connsiteY1-256" fmla="*/ 1271752 h 2638097"/>
                <a:gd name="connsiteX2-257" fmla="*/ 4099035 w 8187558"/>
                <a:gd name="connsiteY2-258" fmla="*/ 2638097 h 2638097"/>
                <a:gd name="connsiteX3-259" fmla="*/ 0 w 8187558"/>
                <a:gd name="connsiteY3-260" fmla="*/ 1229711 h 2638097"/>
                <a:gd name="connsiteX4-261" fmla="*/ 31531 w 8187558"/>
                <a:gd name="connsiteY4-262" fmla="*/ 147145 h 2638097"/>
                <a:gd name="connsiteX5-263" fmla="*/ 4099035 w 8187558"/>
                <a:gd name="connsiteY5-264" fmla="*/ 1566042 h 2638097"/>
                <a:gd name="connsiteX6-265" fmla="*/ 8187558 w 8187558"/>
                <a:gd name="connsiteY6-266" fmla="*/ 0 h 2638097"/>
                <a:gd name="connsiteX0-267" fmla="*/ 8187558 w 8187558"/>
                <a:gd name="connsiteY0-268" fmla="*/ 0 h 2638097"/>
                <a:gd name="connsiteX1-269" fmla="*/ 8187558 w 8187558"/>
                <a:gd name="connsiteY1-270" fmla="*/ 1271752 h 2638097"/>
                <a:gd name="connsiteX2-271" fmla="*/ 4099035 w 8187558"/>
                <a:gd name="connsiteY2-272" fmla="*/ 2638097 h 2638097"/>
                <a:gd name="connsiteX3-273" fmla="*/ 0 w 8187558"/>
                <a:gd name="connsiteY3-274" fmla="*/ 1229711 h 2638097"/>
                <a:gd name="connsiteX4-275" fmla="*/ 31531 w 8187558"/>
                <a:gd name="connsiteY4-276" fmla="*/ 147145 h 2638097"/>
                <a:gd name="connsiteX5-277" fmla="*/ 4099035 w 8187558"/>
                <a:gd name="connsiteY5-278" fmla="*/ 1566042 h 2638097"/>
                <a:gd name="connsiteX6-279" fmla="*/ 8187558 w 8187558"/>
                <a:gd name="connsiteY6-280" fmla="*/ 0 h 2638097"/>
                <a:gd name="connsiteX0-281" fmla="*/ 8187558 w 8187558"/>
                <a:gd name="connsiteY0-282" fmla="*/ 0 h 2638097"/>
                <a:gd name="connsiteX1-283" fmla="*/ 8187558 w 8187558"/>
                <a:gd name="connsiteY1-284" fmla="*/ 1271752 h 2638097"/>
                <a:gd name="connsiteX2-285" fmla="*/ 4099035 w 8187558"/>
                <a:gd name="connsiteY2-286" fmla="*/ 2638097 h 2638097"/>
                <a:gd name="connsiteX3-287" fmla="*/ 0 w 8187558"/>
                <a:gd name="connsiteY3-288" fmla="*/ 1229711 h 2638097"/>
                <a:gd name="connsiteX4-289" fmla="*/ 31531 w 8187558"/>
                <a:gd name="connsiteY4-290" fmla="*/ 147145 h 2638097"/>
                <a:gd name="connsiteX5-291" fmla="*/ 4099035 w 8187558"/>
                <a:gd name="connsiteY5-292" fmla="*/ 1566042 h 2638097"/>
                <a:gd name="connsiteX6-293" fmla="*/ 8187558 w 8187558"/>
                <a:gd name="connsiteY6-294" fmla="*/ 0 h 2638097"/>
                <a:gd name="connsiteX0-295" fmla="*/ 8176538 w 8176538"/>
                <a:gd name="connsiteY0-296" fmla="*/ 0 h 2638097"/>
                <a:gd name="connsiteX1-297" fmla="*/ 8176538 w 8176538"/>
                <a:gd name="connsiteY1-298" fmla="*/ 1271752 h 2638097"/>
                <a:gd name="connsiteX2-299" fmla="*/ 4088015 w 8176538"/>
                <a:gd name="connsiteY2-300" fmla="*/ 2638097 h 2638097"/>
                <a:gd name="connsiteX3-301" fmla="*/ 0 w 8176538"/>
                <a:gd name="connsiteY3-302" fmla="*/ 1269888 h 2638097"/>
                <a:gd name="connsiteX4-303" fmla="*/ 20511 w 8176538"/>
                <a:gd name="connsiteY4-304" fmla="*/ 147145 h 2638097"/>
                <a:gd name="connsiteX5-305" fmla="*/ 4088015 w 8176538"/>
                <a:gd name="connsiteY5-306" fmla="*/ 1566042 h 2638097"/>
                <a:gd name="connsiteX6-307" fmla="*/ 8176538 w 8176538"/>
                <a:gd name="connsiteY6-308" fmla="*/ 0 h 2638097"/>
                <a:gd name="connsiteX0-309" fmla="*/ 8176538 w 8176538"/>
                <a:gd name="connsiteY0-310" fmla="*/ 0 h 2772020"/>
                <a:gd name="connsiteX1-311" fmla="*/ 8176538 w 8176538"/>
                <a:gd name="connsiteY1-312" fmla="*/ 1271752 h 2772020"/>
                <a:gd name="connsiteX2-313" fmla="*/ 4099034 w 8176538"/>
                <a:gd name="connsiteY2-314" fmla="*/ 2772020 h 2772020"/>
                <a:gd name="connsiteX3-315" fmla="*/ 0 w 8176538"/>
                <a:gd name="connsiteY3-316" fmla="*/ 1269888 h 2772020"/>
                <a:gd name="connsiteX4-317" fmla="*/ 20511 w 8176538"/>
                <a:gd name="connsiteY4-318" fmla="*/ 147145 h 2772020"/>
                <a:gd name="connsiteX5-319" fmla="*/ 4088015 w 8176538"/>
                <a:gd name="connsiteY5-320" fmla="*/ 1566042 h 2772020"/>
                <a:gd name="connsiteX6-321" fmla="*/ 8176538 w 8176538"/>
                <a:gd name="connsiteY6-322" fmla="*/ 0 h 2772020"/>
                <a:gd name="connsiteX0-323" fmla="*/ 8176538 w 8176538"/>
                <a:gd name="connsiteY0-324" fmla="*/ 0 h 2772339"/>
                <a:gd name="connsiteX1-325" fmla="*/ 8176538 w 8176538"/>
                <a:gd name="connsiteY1-326" fmla="*/ 1378890 h 2772339"/>
                <a:gd name="connsiteX2-327" fmla="*/ 4099034 w 8176538"/>
                <a:gd name="connsiteY2-328" fmla="*/ 2772020 h 2772339"/>
                <a:gd name="connsiteX3-329" fmla="*/ 0 w 8176538"/>
                <a:gd name="connsiteY3-330" fmla="*/ 1269888 h 2772339"/>
                <a:gd name="connsiteX4-331" fmla="*/ 20511 w 8176538"/>
                <a:gd name="connsiteY4-332" fmla="*/ 147145 h 2772339"/>
                <a:gd name="connsiteX5-333" fmla="*/ 4088015 w 8176538"/>
                <a:gd name="connsiteY5-334" fmla="*/ 1566042 h 2772339"/>
                <a:gd name="connsiteX6-335" fmla="*/ 8176538 w 8176538"/>
                <a:gd name="connsiteY6-336" fmla="*/ 0 h 2772339"/>
                <a:gd name="connsiteX0-337" fmla="*/ 8176538 w 8176538"/>
                <a:gd name="connsiteY0-338" fmla="*/ 0 h 2825888"/>
                <a:gd name="connsiteX1-339" fmla="*/ 8176538 w 8176538"/>
                <a:gd name="connsiteY1-340" fmla="*/ 1378890 h 2825888"/>
                <a:gd name="connsiteX2-341" fmla="*/ 4099034 w 8176538"/>
                <a:gd name="connsiteY2-342" fmla="*/ 2825590 h 2825888"/>
                <a:gd name="connsiteX3-343" fmla="*/ 0 w 8176538"/>
                <a:gd name="connsiteY3-344" fmla="*/ 1269888 h 2825888"/>
                <a:gd name="connsiteX4-345" fmla="*/ 20511 w 8176538"/>
                <a:gd name="connsiteY4-346" fmla="*/ 147145 h 2825888"/>
                <a:gd name="connsiteX5-347" fmla="*/ 4088015 w 8176538"/>
                <a:gd name="connsiteY5-348" fmla="*/ 1566042 h 2825888"/>
                <a:gd name="connsiteX6-349" fmla="*/ 8176538 w 8176538"/>
                <a:gd name="connsiteY6-350" fmla="*/ 0 h 2825888"/>
                <a:gd name="connsiteX0-351" fmla="*/ 8165518 w 8165518"/>
                <a:gd name="connsiteY0-352" fmla="*/ 0 h 2825606"/>
                <a:gd name="connsiteX1-353" fmla="*/ 8165518 w 8165518"/>
                <a:gd name="connsiteY1-354" fmla="*/ 1378890 h 2825606"/>
                <a:gd name="connsiteX2-355" fmla="*/ 4088014 w 8165518"/>
                <a:gd name="connsiteY2-356" fmla="*/ 2825590 h 2825606"/>
                <a:gd name="connsiteX3-357" fmla="*/ 0 w 8165518"/>
                <a:gd name="connsiteY3-358" fmla="*/ 1403811 h 2825606"/>
                <a:gd name="connsiteX4-359" fmla="*/ 9491 w 8165518"/>
                <a:gd name="connsiteY4-360" fmla="*/ 147145 h 2825606"/>
                <a:gd name="connsiteX5-361" fmla="*/ 4076995 w 8165518"/>
                <a:gd name="connsiteY5-362" fmla="*/ 1566042 h 2825606"/>
                <a:gd name="connsiteX6-363" fmla="*/ 8165518 w 8165518"/>
                <a:gd name="connsiteY6-364" fmla="*/ 0 h 2825606"/>
                <a:gd name="connsiteX0-365" fmla="*/ 8165518 w 8165518"/>
                <a:gd name="connsiteY0-366" fmla="*/ 0 h 2879174"/>
                <a:gd name="connsiteX1-367" fmla="*/ 8165518 w 8165518"/>
                <a:gd name="connsiteY1-368" fmla="*/ 1378890 h 2879174"/>
                <a:gd name="connsiteX2-369" fmla="*/ 4132092 w 8165518"/>
                <a:gd name="connsiteY2-370" fmla="*/ 2879159 h 2879174"/>
                <a:gd name="connsiteX3-371" fmla="*/ 0 w 8165518"/>
                <a:gd name="connsiteY3-372" fmla="*/ 1403811 h 2879174"/>
                <a:gd name="connsiteX4-373" fmla="*/ 9491 w 8165518"/>
                <a:gd name="connsiteY4-374" fmla="*/ 147145 h 2879174"/>
                <a:gd name="connsiteX5-375" fmla="*/ 4076995 w 8165518"/>
                <a:gd name="connsiteY5-376" fmla="*/ 1566042 h 2879174"/>
                <a:gd name="connsiteX6-377" fmla="*/ 8165518 w 8165518"/>
                <a:gd name="connsiteY6-378" fmla="*/ 0 h 2879174"/>
                <a:gd name="connsiteX0-379" fmla="*/ 8165518 w 8176537"/>
                <a:gd name="connsiteY0-380" fmla="*/ 0 h 2879410"/>
                <a:gd name="connsiteX1-381" fmla="*/ 8176537 w 8176537"/>
                <a:gd name="connsiteY1-382" fmla="*/ 1499420 h 2879410"/>
                <a:gd name="connsiteX2-383" fmla="*/ 4132092 w 8176537"/>
                <a:gd name="connsiteY2-384" fmla="*/ 2879159 h 2879410"/>
                <a:gd name="connsiteX3-385" fmla="*/ 0 w 8176537"/>
                <a:gd name="connsiteY3-386" fmla="*/ 1403811 h 2879410"/>
                <a:gd name="connsiteX4-387" fmla="*/ 9491 w 8176537"/>
                <a:gd name="connsiteY4-388" fmla="*/ 147145 h 2879410"/>
                <a:gd name="connsiteX5-389" fmla="*/ 4076995 w 8176537"/>
                <a:gd name="connsiteY5-390" fmla="*/ 1566042 h 2879410"/>
                <a:gd name="connsiteX6-391" fmla="*/ 8165518 w 8176537"/>
                <a:gd name="connsiteY6-392" fmla="*/ 0 h 2879410"/>
                <a:gd name="connsiteX0-393" fmla="*/ 8165518 w 8176537"/>
                <a:gd name="connsiteY0-394" fmla="*/ 0 h 2879262"/>
                <a:gd name="connsiteX1-395" fmla="*/ 8176537 w 8176537"/>
                <a:gd name="connsiteY1-396" fmla="*/ 1499420 h 2879262"/>
                <a:gd name="connsiteX2-397" fmla="*/ 4132092 w 8176537"/>
                <a:gd name="connsiteY2-398" fmla="*/ 2879159 h 2879262"/>
                <a:gd name="connsiteX3-399" fmla="*/ 0 w 8176537"/>
                <a:gd name="connsiteY3-400" fmla="*/ 1403811 h 2879262"/>
                <a:gd name="connsiteX4-401" fmla="*/ 9491 w 8176537"/>
                <a:gd name="connsiteY4-402" fmla="*/ 147145 h 2879262"/>
                <a:gd name="connsiteX5-403" fmla="*/ 4076995 w 8176537"/>
                <a:gd name="connsiteY5-404" fmla="*/ 1566042 h 2879262"/>
                <a:gd name="connsiteX6-405" fmla="*/ 8165518 w 8176537"/>
                <a:gd name="connsiteY6-406" fmla="*/ 0 h 2879262"/>
                <a:gd name="connsiteX0-407" fmla="*/ 8165518 w 8176537"/>
                <a:gd name="connsiteY0-408" fmla="*/ 0 h 2879163"/>
                <a:gd name="connsiteX1-409" fmla="*/ 8176537 w 8176537"/>
                <a:gd name="connsiteY1-410" fmla="*/ 1499420 h 2879163"/>
                <a:gd name="connsiteX2-411" fmla="*/ 4132092 w 8176537"/>
                <a:gd name="connsiteY2-412" fmla="*/ 2879159 h 2879163"/>
                <a:gd name="connsiteX3-413" fmla="*/ 0 w 8176537"/>
                <a:gd name="connsiteY3-414" fmla="*/ 1510948 h 2879163"/>
                <a:gd name="connsiteX4-415" fmla="*/ 9491 w 8176537"/>
                <a:gd name="connsiteY4-416" fmla="*/ 147145 h 2879163"/>
                <a:gd name="connsiteX5-417" fmla="*/ 4076995 w 8176537"/>
                <a:gd name="connsiteY5-418" fmla="*/ 1566042 h 2879163"/>
                <a:gd name="connsiteX6-419" fmla="*/ 8165518 w 8176537"/>
                <a:gd name="connsiteY6-420" fmla="*/ 0 h 2879163"/>
                <a:gd name="connsiteX0-421" fmla="*/ 8165518 w 8198577"/>
                <a:gd name="connsiteY0-422" fmla="*/ 0 h 2879451"/>
                <a:gd name="connsiteX1-423" fmla="*/ 8198577 w 8198577"/>
                <a:gd name="connsiteY1-424" fmla="*/ 1606558 h 2879451"/>
                <a:gd name="connsiteX2-425" fmla="*/ 4132092 w 8198577"/>
                <a:gd name="connsiteY2-426" fmla="*/ 2879159 h 2879451"/>
                <a:gd name="connsiteX3-427" fmla="*/ 0 w 8198577"/>
                <a:gd name="connsiteY3-428" fmla="*/ 1510948 h 2879451"/>
                <a:gd name="connsiteX4-429" fmla="*/ 9491 w 8198577"/>
                <a:gd name="connsiteY4-430" fmla="*/ 147145 h 2879451"/>
                <a:gd name="connsiteX5-431" fmla="*/ 4076995 w 8198577"/>
                <a:gd name="connsiteY5-432" fmla="*/ 1566042 h 2879451"/>
                <a:gd name="connsiteX6-433" fmla="*/ 8165518 w 8198577"/>
                <a:gd name="connsiteY6-434" fmla="*/ 0 h 2879451"/>
                <a:gd name="connsiteX0-435" fmla="*/ 8165518 w 8165518"/>
                <a:gd name="connsiteY0-436" fmla="*/ 0 h 2880066"/>
                <a:gd name="connsiteX1-437" fmla="*/ 8165518 w 8165518"/>
                <a:gd name="connsiteY1-438" fmla="*/ 1673520 h 2880066"/>
                <a:gd name="connsiteX2-439" fmla="*/ 4132092 w 8165518"/>
                <a:gd name="connsiteY2-440" fmla="*/ 2879159 h 2880066"/>
                <a:gd name="connsiteX3-441" fmla="*/ 0 w 8165518"/>
                <a:gd name="connsiteY3-442" fmla="*/ 1510948 h 2880066"/>
                <a:gd name="connsiteX4-443" fmla="*/ 9491 w 8165518"/>
                <a:gd name="connsiteY4-444" fmla="*/ 147145 h 2880066"/>
                <a:gd name="connsiteX5-445" fmla="*/ 4076995 w 8165518"/>
                <a:gd name="connsiteY5-446" fmla="*/ 1566042 h 2880066"/>
                <a:gd name="connsiteX6-447" fmla="*/ 8165518 w 8165518"/>
                <a:gd name="connsiteY6-448" fmla="*/ 0 h 2880066"/>
                <a:gd name="connsiteX0-449" fmla="*/ 8156794 w 8156794"/>
                <a:gd name="connsiteY0-450" fmla="*/ 0 h 2879270"/>
                <a:gd name="connsiteX1-451" fmla="*/ 8156794 w 8156794"/>
                <a:gd name="connsiteY1-452" fmla="*/ 1673520 h 2879270"/>
                <a:gd name="connsiteX2-453" fmla="*/ 4123368 w 8156794"/>
                <a:gd name="connsiteY2-454" fmla="*/ 2879159 h 2879270"/>
                <a:gd name="connsiteX3-455" fmla="*/ 2295 w 8156794"/>
                <a:gd name="connsiteY3-456" fmla="*/ 1618086 h 2879270"/>
                <a:gd name="connsiteX4-457" fmla="*/ 767 w 8156794"/>
                <a:gd name="connsiteY4-458" fmla="*/ 147145 h 2879270"/>
                <a:gd name="connsiteX5-459" fmla="*/ 4068271 w 8156794"/>
                <a:gd name="connsiteY5-460" fmla="*/ 1566042 h 2879270"/>
                <a:gd name="connsiteX6-461" fmla="*/ 8156794 w 8156794"/>
                <a:gd name="connsiteY6-462" fmla="*/ 0 h 2879270"/>
                <a:gd name="connsiteX0-463" fmla="*/ 8156794 w 8156794"/>
                <a:gd name="connsiteY0-464" fmla="*/ 0 h 2973000"/>
                <a:gd name="connsiteX1-465" fmla="*/ 8156794 w 8156794"/>
                <a:gd name="connsiteY1-466" fmla="*/ 1673520 h 2973000"/>
                <a:gd name="connsiteX2-467" fmla="*/ 4134388 w 8156794"/>
                <a:gd name="connsiteY2-468" fmla="*/ 2972904 h 2973000"/>
                <a:gd name="connsiteX3-469" fmla="*/ 2295 w 8156794"/>
                <a:gd name="connsiteY3-470" fmla="*/ 1618086 h 2973000"/>
                <a:gd name="connsiteX4-471" fmla="*/ 767 w 8156794"/>
                <a:gd name="connsiteY4-472" fmla="*/ 147145 h 2973000"/>
                <a:gd name="connsiteX5-473" fmla="*/ 4068271 w 8156794"/>
                <a:gd name="connsiteY5-474" fmla="*/ 1566042 h 2973000"/>
                <a:gd name="connsiteX6-475" fmla="*/ 8156794 w 8156794"/>
                <a:gd name="connsiteY6-476" fmla="*/ 0 h 2973000"/>
                <a:gd name="connsiteX0-477" fmla="*/ 8156794 w 8156794"/>
                <a:gd name="connsiteY0-478" fmla="*/ 0 h 2973000"/>
                <a:gd name="connsiteX1-479" fmla="*/ 8156794 w 8156794"/>
                <a:gd name="connsiteY1-480" fmla="*/ 1673520 h 2973000"/>
                <a:gd name="connsiteX2-481" fmla="*/ 4134388 w 8156794"/>
                <a:gd name="connsiteY2-482" fmla="*/ 2972904 h 2973000"/>
                <a:gd name="connsiteX3-483" fmla="*/ 2295 w 8156794"/>
                <a:gd name="connsiteY3-484" fmla="*/ 1618086 h 2973000"/>
                <a:gd name="connsiteX4-485" fmla="*/ 767 w 8156794"/>
                <a:gd name="connsiteY4-486" fmla="*/ 147145 h 2973000"/>
                <a:gd name="connsiteX5-487" fmla="*/ 4068271 w 8156794"/>
                <a:gd name="connsiteY5-488" fmla="*/ 1566042 h 2973000"/>
                <a:gd name="connsiteX6-489" fmla="*/ 8156794 w 8156794"/>
                <a:gd name="connsiteY6-490" fmla="*/ 0 h 2973000"/>
                <a:gd name="connsiteX0-491" fmla="*/ 8156794 w 8156794"/>
                <a:gd name="connsiteY0-492" fmla="*/ 0 h 2973000"/>
                <a:gd name="connsiteX1-493" fmla="*/ 8156794 w 8156794"/>
                <a:gd name="connsiteY1-494" fmla="*/ 1673520 h 2973000"/>
                <a:gd name="connsiteX2-495" fmla="*/ 4134388 w 8156794"/>
                <a:gd name="connsiteY2-496" fmla="*/ 2972904 h 2973000"/>
                <a:gd name="connsiteX3-497" fmla="*/ 2295 w 8156794"/>
                <a:gd name="connsiteY3-498" fmla="*/ 1618086 h 2973000"/>
                <a:gd name="connsiteX4-499" fmla="*/ 767 w 8156794"/>
                <a:gd name="connsiteY4-500" fmla="*/ 147145 h 2973000"/>
                <a:gd name="connsiteX5-501" fmla="*/ 4068271 w 8156794"/>
                <a:gd name="connsiteY5-502" fmla="*/ 1566042 h 2973000"/>
                <a:gd name="connsiteX6-503" fmla="*/ 8156794 w 8156794"/>
                <a:gd name="connsiteY6-504" fmla="*/ 0 h 2973000"/>
                <a:gd name="connsiteX0-505" fmla="*/ 8156794 w 8156794"/>
                <a:gd name="connsiteY0-506" fmla="*/ 0 h 2973020"/>
                <a:gd name="connsiteX1-507" fmla="*/ 8156794 w 8156794"/>
                <a:gd name="connsiteY1-508" fmla="*/ 1673520 h 2973020"/>
                <a:gd name="connsiteX2-509" fmla="*/ 4134388 w 8156794"/>
                <a:gd name="connsiteY2-510" fmla="*/ 2972904 h 2973020"/>
                <a:gd name="connsiteX3-511" fmla="*/ 2295 w 8156794"/>
                <a:gd name="connsiteY3-512" fmla="*/ 1618086 h 2973020"/>
                <a:gd name="connsiteX4-513" fmla="*/ 767 w 8156794"/>
                <a:gd name="connsiteY4-514" fmla="*/ 147145 h 2973020"/>
                <a:gd name="connsiteX5-515" fmla="*/ 4068271 w 8156794"/>
                <a:gd name="connsiteY5-516" fmla="*/ 1566042 h 2973020"/>
                <a:gd name="connsiteX6-517" fmla="*/ 8156794 w 8156794"/>
                <a:gd name="connsiteY6-518" fmla="*/ 0 h 2973020"/>
                <a:gd name="connsiteX0-519" fmla="*/ 8156794 w 8156794"/>
                <a:gd name="connsiteY0-520" fmla="*/ 0 h 2973021"/>
                <a:gd name="connsiteX1-521" fmla="*/ 8156794 w 8156794"/>
                <a:gd name="connsiteY1-522" fmla="*/ 1673520 h 2973021"/>
                <a:gd name="connsiteX2-523" fmla="*/ 4134388 w 8156794"/>
                <a:gd name="connsiteY2-524" fmla="*/ 2972904 h 2973021"/>
                <a:gd name="connsiteX3-525" fmla="*/ 2295 w 8156794"/>
                <a:gd name="connsiteY3-526" fmla="*/ 1618086 h 2973021"/>
                <a:gd name="connsiteX4-527" fmla="*/ 767 w 8156794"/>
                <a:gd name="connsiteY4-528" fmla="*/ 147145 h 2973021"/>
                <a:gd name="connsiteX5-529" fmla="*/ 4068271 w 8156794"/>
                <a:gd name="connsiteY5-530" fmla="*/ 1566042 h 2973021"/>
                <a:gd name="connsiteX6-531" fmla="*/ 8156794 w 8156794"/>
                <a:gd name="connsiteY6-532" fmla="*/ 0 h 2973021"/>
                <a:gd name="connsiteX0-533" fmla="*/ 8156794 w 8156794"/>
                <a:gd name="connsiteY0-534" fmla="*/ 0 h 2973021"/>
                <a:gd name="connsiteX1-535" fmla="*/ 8156794 w 8156794"/>
                <a:gd name="connsiteY1-536" fmla="*/ 1673520 h 2973021"/>
                <a:gd name="connsiteX2-537" fmla="*/ 4134388 w 8156794"/>
                <a:gd name="connsiteY2-538" fmla="*/ 2972904 h 2973021"/>
                <a:gd name="connsiteX3-539" fmla="*/ 2295 w 8156794"/>
                <a:gd name="connsiteY3-540" fmla="*/ 1618086 h 2973021"/>
                <a:gd name="connsiteX4-541" fmla="*/ 767 w 8156794"/>
                <a:gd name="connsiteY4-542" fmla="*/ 147145 h 2973021"/>
                <a:gd name="connsiteX5-543" fmla="*/ 4068271 w 8156794"/>
                <a:gd name="connsiteY5-544" fmla="*/ 1566042 h 2973021"/>
                <a:gd name="connsiteX6-545" fmla="*/ 8156794 w 8156794"/>
                <a:gd name="connsiteY6-546" fmla="*/ 0 h 2973021"/>
                <a:gd name="connsiteX0-547" fmla="*/ 8156794 w 8156794"/>
                <a:gd name="connsiteY0-548" fmla="*/ 0 h 2973021"/>
                <a:gd name="connsiteX1-549" fmla="*/ 8156794 w 8156794"/>
                <a:gd name="connsiteY1-550" fmla="*/ 1673520 h 2973021"/>
                <a:gd name="connsiteX2-551" fmla="*/ 4134388 w 8156794"/>
                <a:gd name="connsiteY2-552" fmla="*/ 2972904 h 2973021"/>
                <a:gd name="connsiteX3-553" fmla="*/ 2295 w 8156794"/>
                <a:gd name="connsiteY3-554" fmla="*/ 1618086 h 2973021"/>
                <a:gd name="connsiteX4-555" fmla="*/ 767 w 8156794"/>
                <a:gd name="connsiteY4-556" fmla="*/ 147145 h 2973021"/>
                <a:gd name="connsiteX5-557" fmla="*/ 4068271 w 8156794"/>
                <a:gd name="connsiteY5-558" fmla="*/ 1566042 h 2973021"/>
                <a:gd name="connsiteX6-559" fmla="*/ 8156794 w 8156794"/>
                <a:gd name="connsiteY6-560" fmla="*/ 0 h 2973021"/>
                <a:gd name="connsiteX0-561" fmla="*/ 8156794 w 8156794"/>
                <a:gd name="connsiteY0-562" fmla="*/ 0 h 2973021"/>
                <a:gd name="connsiteX1-563" fmla="*/ 8156794 w 8156794"/>
                <a:gd name="connsiteY1-564" fmla="*/ 1673520 h 2973021"/>
                <a:gd name="connsiteX2-565" fmla="*/ 4134388 w 8156794"/>
                <a:gd name="connsiteY2-566" fmla="*/ 2972904 h 2973021"/>
                <a:gd name="connsiteX3-567" fmla="*/ 2295 w 8156794"/>
                <a:gd name="connsiteY3-568" fmla="*/ 1618086 h 2973021"/>
                <a:gd name="connsiteX4-569" fmla="*/ 767 w 8156794"/>
                <a:gd name="connsiteY4-570" fmla="*/ 147145 h 2973021"/>
                <a:gd name="connsiteX5-571" fmla="*/ 4068271 w 8156794"/>
                <a:gd name="connsiteY5-572" fmla="*/ 1566042 h 2973021"/>
                <a:gd name="connsiteX6-573" fmla="*/ 8156794 w 8156794"/>
                <a:gd name="connsiteY6-574" fmla="*/ 0 h 2973021"/>
                <a:gd name="connsiteX0-575" fmla="*/ 8156794 w 8156794"/>
                <a:gd name="connsiteY0-576" fmla="*/ 0 h 2973141"/>
                <a:gd name="connsiteX1-577" fmla="*/ 8156794 w 8156794"/>
                <a:gd name="connsiteY1-578" fmla="*/ 1673520 h 2973141"/>
                <a:gd name="connsiteX2-579" fmla="*/ 4134388 w 8156794"/>
                <a:gd name="connsiteY2-580" fmla="*/ 2972904 h 2973141"/>
                <a:gd name="connsiteX3-581" fmla="*/ 2295 w 8156794"/>
                <a:gd name="connsiteY3-582" fmla="*/ 1618086 h 2973141"/>
                <a:gd name="connsiteX4-583" fmla="*/ 767 w 8156794"/>
                <a:gd name="connsiteY4-584" fmla="*/ 147145 h 2973141"/>
                <a:gd name="connsiteX5-585" fmla="*/ 4068271 w 8156794"/>
                <a:gd name="connsiteY5-586" fmla="*/ 1566042 h 2973141"/>
                <a:gd name="connsiteX6-587" fmla="*/ 8156794 w 8156794"/>
                <a:gd name="connsiteY6-588" fmla="*/ 0 h 2973141"/>
                <a:gd name="connsiteX0-589" fmla="*/ 8156794 w 8156794"/>
                <a:gd name="connsiteY0-590" fmla="*/ 0 h 3066827"/>
                <a:gd name="connsiteX1-591" fmla="*/ 8156794 w 8156794"/>
                <a:gd name="connsiteY1-592" fmla="*/ 1673520 h 3066827"/>
                <a:gd name="connsiteX2-593" fmla="*/ 4123353 w 8156794"/>
                <a:gd name="connsiteY2-594" fmla="*/ 3066650 h 3066827"/>
                <a:gd name="connsiteX3-595" fmla="*/ 2295 w 8156794"/>
                <a:gd name="connsiteY3-596" fmla="*/ 1618086 h 3066827"/>
                <a:gd name="connsiteX4-597" fmla="*/ 767 w 8156794"/>
                <a:gd name="connsiteY4-598" fmla="*/ 147145 h 3066827"/>
                <a:gd name="connsiteX5-599" fmla="*/ 4068271 w 8156794"/>
                <a:gd name="connsiteY5-600" fmla="*/ 1566042 h 3066827"/>
                <a:gd name="connsiteX6-601" fmla="*/ 8156794 w 8156794"/>
                <a:gd name="connsiteY6-602" fmla="*/ 0 h 3066827"/>
                <a:gd name="connsiteX0-603" fmla="*/ 8123689 w 8156794"/>
                <a:gd name="connsiteY0-604" fmla="*/ 0 h 2999866"/>
                <a:gd name="connsiteX1-605" fmla="*/ 8156794 w 8156794"/>
                <a:gd name="connsiteY1-606" fmla="*/ 1606559 h 2999866"/>
                <a:gd name="connsiteX2-607" fmla="*/ 4123353 w 8156794"/>
                <a:gd name="connsiteY2-608" fmla="*/ 2999689 h 2999866"/>
                <a:gd name="connsiteX3-609" fmla="*/ 2295 w 8156794"/>
                <a:gd name="connsiteY3-610" fmla="*/ 1551125 h 2999866"/>
                <a:gd name="connsiteX4-611" fmla="*/ 767 w 8156794"/>
                <a:gd name="connsiteY4-612" fmla="*/ 80184 h 2999866"/>
                <a:gd name="connsiteX5-613" fmla="*/ 4068271 w 8156794"/>
                <a:gd name="connsiteY5-614" fmla="*/ 1499081 h 2999866"/>
                <a:gd name="connsiteX6-615" fmla="*/ 8123689 w 8156794"/>
                <a:gd name="connsiteY6-616" fmla="*/ 0 h 2999866"/>
                <a:gd name="connsiteX0-617" fmla="*/ 8167828 w 8167828"/>
                <a:gd name="connsiteY0-618" fmla="*/ 0 h 3026651"/>
                <a:gd name="connsiteX1-619" fmla="*/ 8156794 w 8167828"/>
                <a:gd name="connsiteY1-620" fmla="*/ 1633344 h 3026651"/>
                <a:gd name="connsiteX2-621" fmla="*/ 4123353 w 8167828"/>
                <a:gd name="connsiteY2-622" fmla="*/ 3026474 h 3026651"/>
                <a:gd name="connsiteX3-623" fmla="*/ 2295 w 8167828"/>
                <a:gd name="connsiteY3-624" fmla="*/ 1577910 h 3026651"/>
                <a:gd name="connsiteX4-625" fmla="*/ 767 w 8167828"/>
                <a:gd name="connsiteY4-626" fmla="*/ 106969 h 3026651"/>
                <a:gd name="connsiteX5-627" fmla="*/ 4068271 w 8167828"/>
                <a:gd name="connsiteY5-628" fmla="*/ 1525866 h 3026651"/>
                <a:gd name="connsiteX6-629" fmla="*/ 8167828 w 8167828"/>
                <a:gd name="connsiteY6-630" fmla="*/ 0 h 3026651"/>
                <a:gd name="connsiteX0-631" fmla="*/ 8167828 w 8167828"/>
                <a:gd name="connsiteY0-632" fmla="*/ 0 h 3027228"/>
                <a:gd name="connsiteX1-633" fmla="*/ 8145760 w 8167828"/>
                <a:gd name="connsiteY1-634" fmla="*/ 1686913 h 3027228"/>
                <a:gd name="connsiteX2-635" fmla="*/ 4123353 w 8167828"/>
                <a:gd name="connsiteY2-636" fmla="*/ 3026474 h 3027228"/>
                <a:gd name="connsiteX3-637" fmla="*/ 2295 w 8167828"/>
                <a:gd name="connsiteY3-638" fmla="*/ 1577910 h 3027228"/>
                <a:gd name="connsiteX4-639" fmla="*/ 767 w 8167828"/>
                <a:gd name="connsiteY4-640" fmla="*/ 106969 h 3027228"/>
                <a:gd name="connsiteX5-641" fmla="*/ 4068271 w 8167828"/>
                <a:gd name="connsiteY5-642" fmla="*/ 1525866 h 3027228"/>
                <a:gd name="connsiteX6-643" fmla="*/ 8167828 w 8167828"/>
                <a:gd name="connsiteY6-644" fmla="*/ 0 h 3027228"/>
                <a:gd name="connsiteX0-645" fmla="*/ 8156794 w 8156794"/>
                <a:gd name="connsiteY0-646" fmla="*/ 0 h 2933483"/>
                <a:gd name="connsiteX1-647" fmla="*/ 8145760 w 8156794"/>
                <a:gd name="connsiteY1-648" fmla="*/ 1593168 h 2933483"/>
                <a:gd name="connsiteX2-649" fmla="*/ 4123353 w 8156794"/>
                <a:gd name="connsiteY2-650" fmla="*/ 2932729 h 2933483"/>
                <a:gd name="connsiteX3-651" fmla="*/ 2295 w 8156794"/>
                <a:gd name="connsiteY3-652" fmla="*/ 1484165 h 2933483"/>
                <a:gd name="connsiteX4-653" fmla="*/ 767 w 8156794"/>
                <a:gd name="connsiteY4-654" fmla="*/ 13224 h 2933483"/>
                <a:gd name="connsiteX5-655" fmla="*/ 4068271 w 8156794"/>
                <a:gd name="connsiteY5-656" fmla="*/ 1432121 h 2933483"/>
                <a:gd name="connsiteX6-657" fmla="*/ 8156794 w 8156794"/>
                <a:gd name="connsiteY6-658" fmla="*/ 0 h 2933483"/>
                <a:gd name="connsiteX0-659" fmla="*/ 8156794 w 8156794"/>
                <a:gd name="connsiteY0-660" fmla="*/ 0 h 2933483"/>
                <a:gd name="connsiteX1-661" fmla="*/ 8145760 w 8156794"/>
                <a:gd name="connsiteY1-662" fmla="*/ 1593168 h 2933483"/>
                <a:gd name="connsiteX2-663" fmla="*/ 4123353 w 8156794"/>
                <a:gd name="connsiteY2-664" fmla="*/ 2932729 h 2933483"/>
                <a:gd name="connsiteX3-665" fmla="*/ 2295 w 8156794"/>
                <a:gd name="connsiteY3-666" fmla="*/ 1484165 h 2933483"/>
                <a:gd name="connsiteX4-667" fmla="*/ 767 w 8156794"/>
                <a:gd name="connsiteY4-668" fmla="*/ 13224 h 2933483"/>
                <a:gd name="connsiteX5-669" fmla="*/ 4068271 w 8156794"/>
                <a:gd name="connsiteY5-670" fmla="*/ 1432121 h 2933483"/>
                <a:gd name="connsiteX6-671" fmla="*/ 8156794 w 8156794"/>
                <a:gd name="connsiteY6-672" fmla="*/ 0 h 2933483"/>
                <a:gd name="connsiteX0-673" fmla="*/ 8123689 w 8145760"/>
                <a:gd name="connsiteY0-674" fmla="*/ 13560 h 2920259"/>
                <a:gd name="connsiteX1-675" fmla="*/ 8145760 w 8145760"/>
                <a:gd name="connsiteY1-676" fmla="*/ 1579944 h 2920259"/>
                <a:gd name="connsiteX2-677" fmla="*/ 4123353 w 8145760"/>
                <a:gd name="connsiteY2-678" fmla="*/ 2919505 h 2920259"/>
                <a:gd name="connsiteX3-679" fmla="*/ 2295 w 8145760"/>
                <a:gd name="connsiteY3-680" fmla="*/ 1470941 h 2920259"/>
                <a:gd name="connsiteX4-681" fmla="*/ 767 w 8145760"/>
                <a:gd name="connsiteY4-682" fmla="*/ 0 h 2920259"/>
                <a:gd name="connsiteX5-683" fmla="*/ 4068271 w 8145760"/>
                <a:gd name="connsiteY5-684" fmla="*/ 1418897 h 2920259"/>
                <a:gd name="connsiteX6-685" fmla="*/ 8123689 w 8145760"/>
                <a:gd name="connsiteY6-686" fmla="*/ 13560 h 2920259"/>
                <a:gd name="connsiteX0-687" fmla="*/ 8178863 w 8178863"/>
                <a:gd name="connsiteY0-688" fmla="*/ 26952 h 2920259"/>
                <a:gd name="connsiteX1-689" fmla="*/ 8145760 w 8178863"/>
                <a:gd name="connsiteY1-690" fmla="*/ 1579944 h 2920259"/>
                <a:gd name="connsiteX2-691" fmla="*/ 4123353 w 8178863"/>
                <a:gd name="connsiteY2-692" fmla="*/ 2919505 h 2920259"/>
                <a:gd name="connsiteX3-693" fmla="*/ 2295 w 8178863"/>
                <a:gd name="connsiteY3-694" fmla="*/ 1470941 h 2920259"/>
                <a:gd name="connsiteX4-695" fmla="*/ 767 w 8178863"/>
                <a:gd name="connsiteY4-696" fmla="*/ 0 h 2920259"/>
                <a:gd name="connsiteX5-697" fmla="*/ 4068271 w 8178863"/>
                <a:gd name="connsiteY5-698" fmla="*/ 1418897 h 2920259"/>
                <a:gd name="connsiteX6-699" fmla="*/ 8178863 w 8178863"/>
                <a:gd name="connsiteY6-700" fmla="*/ 26952 h 2920259"/>
                <a:gd name="connsiteX0-701" fmla="*/ 8167827 w 8167827"/>
                <a:gd name="connsiteY0-702" fmla="*/ 40343 h 2920259"/>
                <a:gd name="connsiteX1-703" fmla="*/ 8145760 w 8167827"/>
                <a:gd name="connsiteY1-704" fmla="*/ 1579944 h 2920259"/>
                <a:gd name="connsiteX2-705" fmla="*/ 4123353 w 8167827"/>
                <a:gd name="connsiteY2-706" fmla="*/ 2919505 h 2920259"/>
                <a:gd name="connsiteX3-707" fmla="*/ 2295 w 8167827"/>
                <a:gd name="connsiteY3-708" fmla="*/ 1470941 h 2920259"/>
                <a:gd name="connsiteX4-709" fmla="*/ 767 w 8167827"/>
                <a:gd name="connsiteY4-710" fmla="*/ 0 h 2920259"/>
                <a:gd name="connsiteX5-711" fmla="*/ 4068271 w 8167827"/>
                <a:gd name="connsiteY5-712" fmla="*/ 1418897 h 2920259"/>
                <a:gd name="connsiteX6-713" fmla="*/ 8167827 w 8167827"/>
                <a:gd name="connsiteY6-714" fmla="*/ 40343 h 2920259"/>
                <a:gd name="connsiteX0-715" fmla="*/ 8123687 w 8145760"/>
                <a:gd name="connsiteY0-716" fmla="*/ 53735 h 2920259"/>
                <a:gd name="connsiteX1-717" fmla="*/ 8145760 w 8145760"/>
                <a:gd name="connsiteY1-718" fmla="*/ 1579944 h 2920259"/>
                <a:gd name="connsiteX2-719" fmla="*/ 4123353 w 8145760"/>
                <a:gd name="connsiteY2-720" fmla="*/ 2919505 h 2920259"/>
                <a:gd name="connsiteX3-721" fmla="*/ 2295 w 8145760"/>
                <a:gd name="connsiteY3-722" fmla="*/ 1470941 h 2920259"/>
                <a:gd name="connsiteX4-723" fmla="*/ 767 w 8145760"/>
                <a:gd name="connsiteY4-724" fmla="*/ 0 h 2920259"/>
                <a:gd name="connsiteX5-725" fmla="*/ 4068271 w 8145760"/>
                <a:gd name="connsiteY5-726" fmla="*/ 1418897 h 2920259"/>
                <a:gd name="connsiteX6-727" fmla="*/ 8123687 w 8145760"/>
                <a:gd name="connsiteY6-728" fmla="*/ 53735 h 2920259"/>
                <a:gd name="connsiteX0-729" fmla="*/ 8161918 w 8161918"/>
                <a:gd name="connsiteY0-730" fmla="*/ 0 h 2943855"/>
                <a:gd name="connsiteX1-731" fmla="*/ 8145760 w 8161918"/>
                <a:gd name="connsiteY1-732" fmla="*/ 1603540 h 2943855"/>
                <a:gd name="connsiteX2-733" fmla="*/ 4123353 w 8161918"/>
                <a:gd name="connsiteY2-734" fmla="*/ 2943101 h 2943855"/>
                <a:gd name="connsiteX3-735" fmla="*/ 2295 w 8161918"/>
                <a:gd name="connsiteY3-736" fmla="*/ 1494537 h 2943855"/>
                <a:gd name="connsiteX4-737" fmla="*/ 767 w 8161918"/>
                <a:gd name="connsiteY4-738" fmla="*/ 23596 h 2943855"/>
                <a:gd name="connsiteX5-739" fmla="*/ 4068271 w 8161918"/>
                <a:gd name="connsiteY5-740" fmla="*/ 1442493 h 2943855"/>
                <a:gd name="connsiteX6-741" fmla="*/ 8161918 w 8161918"/>
                <a:gd name="connsiteY6-742" fmla="*/ 0 h 2943855"/>
                <a:gd name="connsiteX0-743" fmla="*/ 8144926 w 8145760"/>
                <a:gd name="connsiteY0-744" fmla="*/ 43424 h 2920259"/>
                <a:gd name="connsiteX1-745" fmla="*/ 8145760 w 8145760"/>
                <a:gd name="connsiteY1-746" fmla="*/ 1579944 h 2920259"/>
                <a:gd name="connsiteX2-747" fmla="*/ 4123353 w 8145760"/>
                <a:gd name="connsiteY2-748" fmla="*/ 2919505 h 2920259"/>
                <a:gd name="connsiteX3-749" fmla="*/ 2295 w 8145760"/>
                <a:gd name="connsiteY3-750" fmla="*/ 1470941 h 2920259"/>
                <a:gd name="connsiteX4-751" fmla="*/ 767 w 8145760"/>
                <a:gd name="connsiteY4-752" fmla="*/ 0 h 2920259"/>
                <a:gd name="connsiteX5-753" fmla="*/ 4068271 w 8145760"/>
                <a:gd name="connsiteY5-754" fmla="*/ 1418897 h 2920259"/>
                <a:gd name="connsiteX6-755" fmla="*/ 8144926 w 8145760"/>
                <a:gd name="connsiteY6-756" fmla="*/ 43424 h 2920259"/>
                <a:gd name="connsiteX0-757" fmla="*/ 8161918 w 8161918"/>
                <a:gd name="connsiteY0-758" fmla="*/ 0 h 2959321"/>
                <a:gd name="connsiteX1-759" fmla="*/ 8145760 w 8161918"/>
                <a:gd name="connsiteY1-760" fmla="*/ 1619006 h 2959321"/>
                <a:gd name="connsiteX2-761" fmla="*/ 4123353 w 8161918"/>
                <a:gd name="connsiteY2-762" fmla="*/ 2958567 h 2959321"/>
                <a:gd name="connsiteX3-763" fmla="*/ 2295 w 8161918"/>
                <a:gd name="connsiteY3-764" fmla="*/ 1510003 h 2959321"/>
                <a:gd name="connsiteX4-765" fmla="*/ 767 w 8161918"/>
                <a:gd name="connsiteY4-766" fmla="*/ 39062 h 2959321"/>
                <a:gd name="connsiteX5-767" fmla="*/ 4068271 w 8161918"/>
                <a:gd name="connsiteY5-768" fmla="*/ 1457959 h 2959321"/>
                <a:gd name="connsiteX6-769" fmla="*/ 8161918 w 8161918"/>
                <a:gd name="connsiteY6-770" fmla="*/ 0 h 2959321"/>
                <a:gd name="connsiteX0-771" fmla="*/ 8161918 w 8162752"/>
                <a:gd name="connsiteY0-772" fmla="*/ 0 h 2959488"/>
                <a:gd name="connsiteX1-773" fmla="*/ 8162752 w 8162752"/>
                <a:gd name="connsiteY1-774" fmla="*/ 1629317 h 2959488"/>
                <a:gd name="connsiteX2-775" fmla="*/ 4123353 w 8162752"/>
                <a:gd name="connsiteY2-776" fmla="*/ 2958567 h 2959488"/>
                <a:gd name="connsiteX3-777" fmla="*/ 2295 w 8162752"/>
                <a:gd name="connsiteY3-778" fmla="*/ 1510003 h 2959488"/>
                <a:gd name="connsiteX4-779" fmla="*/ 767 w 8162752"/>
                <a:gd name="connsiteY4-780" fmla="*/ 39062 h 2959488"/>
                <a:gd name="connsiteX5-781" fmla="*/ 4068271 w 8162752"/>
                <a:gd name="connsiteY5-782" fmla="*/ 1457959 h 2959488"/>
                <a:gd name="connsiteX6-783" fmla="*/ 8161918 w 8162752"/>
                <a:gd name="connsiteY6-784" fmla="*/ 0 h 2959488"/>
                <a:gd name="connsiteX0-785" fmla="*/ 8165930 w 8166764"/>
                <a:gd name="connsiteY0-786" fmla="*/ 7337 h 2966825"/>
                <a:gd name="connsiteX1-787" fmla="*/ 8166764 w 8166764"/>
                <a:gd name="connsiteY1-788" fmla="*/ 1636654 h 2966825"/>
                <a:gd name="connsiteX2-789" fmla="*/ 4127365 w 8166764"/>
                <a:gd name="connsiteY2-790" fmla="*/ 2965904 h 2966825"/>
                <a:gd name="connsiteX3-791" fmla="*/ 6307 w 8166764"/>
                <a:gd name="connsiteY3-792" fmla="*/ 1517340 h 2966825"/>
                <a:gd name="connsiteX4-793" fmla="*/ 532 w 8166764"/>
                <a:gd name="connsiteY4-794" fmla="*/ 0 h 2966825"/>
                <a:gd name="connsiteX5-795" fmla="*/ 4072283 w 8166764"/>
                <a:gd name="connsiteY5-796" fmla="*/ 1465296 h 2966825"/>
                <a:gd name="connsiteX6-797" fmla="*/ 8165930 w 8166764"/>
                <a:gd name="connsiteY6-798" fmla="*/ 7337 h 2966825"/>
                <a:gd name="connsiteX0-799" fmla="*/ 8168119 w 8168953"/>
                <a:gd name="connsiteY0-800" fmla="*/ 7337 h 2966682"/>
                <a:gd name="connsiteX1-801" fmla="*/ 8168953 w 8168953"/>
                <a:gd name="connsiteY1-802" fmla="*/ 1636654 h 2966682"/>
                <a:gd name="connsiteX2-803" fmla="*/ 4129554 w 8168953"/>
                <a:gd name="connsiteY2-804" fmla="*/ 2965904 h 2966682"/>
                <a:gd name="connsiteX3-805" fmla="*/ 0 w 8168953"/>
                <a:gd name="connsiteY3-806" fmla="*/ 1527651 h 2966682"/>
                <a:gd name="connsiteX4-807" fmla="*/ 2721 w 8168953"/>
                <a:gd name="connsiteY4-808" fmla="*/ 0 h 2966682"/>
                <a:gd name="connsiteX5-809" fmla="*/ 4074472 w 8168953"/>
                <a:gd name="connsiteY5-810" fmla="*/ 1465296 h 2966682"/>
                <a:gd name="connsiteX6-811" fmla="*/ 8168119 w 8168953"/>
                <a:gd name="connsiteY6-812" fmla="*/ 7337 h 2966682"/>
                <a:gd name="connsiteX0-813" fmla="*/ 8168119 w 8168953"/>
                <a:gd name="connsiteY0-814" fmla="*/ 7337 h 3100377"/>
                <a:gd name="connsiteX1-815" fmla="*/ 8168953 w 8168953"/>
                <a:gd name="connsiteY1-816" fmla="*/ 1636654 h 3100377"/>
                <a:gd name="connsiteX2-817" fmla="*/ 4118520 w 8168953"/>
                <a:gd name="connsiteY2-818" fmla="*/ 3099826 h 3100377"/>
                <a:gd name="connsiteX3-819" fmla="*/ 0 w 8168953"/>
                <a:gd name="connsiteY3-820" fmla="*/ 1527651 h 3100377"/>
                <a:gd name="connsiteX4-821" fmla="*/ 2721 w 8168953"/>
                <a:gd name="connsiteY4-822" fmla="*/ 0 h 3100377"/>
                <a:gd name="connsiteX5-823" fmla="*/ 4074472 w 8168953"/>
                <a:gd name="connsiteY5-824" fmla="*/ 1465296 h 3100377"/>
                <a:gd name="connsiteX6-825" fmla="*/ 8168119 w 8168953"/>
                <a:gd name="connsiteY6-826" fmla="*/ 7337 h 3100377"/>
                <a:gd name="connsiteX0-827" fmla="*/ 8168119 w 8168953"/>
                <a:gd name="connsiteY0-828" fmla="*/ 7337 h 3100429"/>
                <a:gd name="connsiteX1-829" fmla="*/ 8168953 w 8168953"/>
                <a:gd name="connsiteY1-830" fmla="*/ 1636654 h 3100429"/>
                <a:gd name="connsiteX2-831" fmla="*/ 4118520 w 8168953"/>
                <a:gd name="connsiteY2-832" fmla="*/ 3099826 h 3100429"/>
                <a:gd name="connsiteX3-833" fmla="*/ 0 w 8168953"/>
                <a:gd name="connsiteY3-834" fmla="*/ 1527651 h 3100429"/>
                <a:gd name="connsiteX4-835" fmla="*/ 2721 w 8168953"/>
                <a:gd name="connsiteY4-836" fmla="*/ 0 h 3100429"/>
                <a:gd name="connsiteX5-837" fmla="*/ 4074472 w 8168953"/>
                <a:gd name="connsiteY5-838" fmla="*/ 1465296 h 3100429"/>
                <a:gd name="connsiteX6-839" fmla="*/ 8168119 w 8168953"/>
                <a:gd name="connsiteY6-840" fmla="*/ 7337 h 3100429"/>
                <a:gd name="connsiteX0-841" fmla="*/ 8165849 w 8166683"/>
                <a:gd name="connsiteY0-842" fmla="*/ 7337 h 3099826"/>
                <a:gd name="connsiteX1-843" fmla="*/ 8166683 w 8166683"/>
                <a:gd name="connsiteY1-844" fmla="*/ 1636654 h 3099826"/>
                <a:gd name="connsiteX2-845" fmla="*/ 4116250 w 8166683"/>
                <a:gd name="connsiteY2-846" fmla="*/ 3099826 h 3099826"/>
                <a:gd name="connsiteX3-847" fmla="*/ 8764 w 8166683"/>
                <a:gd name="connsiteY3-848" fmla="*/ 1634789 h 3099826"/>
                <a:gd name="connsiteX4-849" fmla="*/ 451 w 8166683"/>
                <a:gd name="connsiteY4-850" fmla="*/ 0 h 3099826"/>
                <a:gd name="connsiteX5-851" fmla="*/ 4072202 w 8166683"/>
                <a:gd name="connsiteY5-852" fmla="*/ 1465296 h 3099826"/>
                <a:gd name="connsiteX6-853" fmla="*/ 8165849 w 8166683"/>
                <a:gd name="connsiteY6-854" fmla="*/ 7337 h 3099826"/>
                <a:gd name="connsiteX0-855" fmla="*/ 8165849 w 8166683"/>
                <a:gd name="connsiteY0-856" fmla="*/ 7337 h 3099826"/>
                <a:gd name="connsiteX1-857" fmla="*/ 8166683 w 8166683"/>
                <a:gd name="connsiteY1-858" fmla="*/ 1636654 h 3099826"/>
                <a:gd name="connsiteX2-859" fmla="*/ 4116250 w 8166683"/>
                <a:gd name="connsiteY2-860" fmla="*/ 3099826 h 3099826"/>
                <a:gd name="connsiteX3-861" fmla="*/ 8764 w 8166683"/>
                <a:gd name="connsiteY3-862" fmla="*/ 1634789 h 3099826"/>
                <a:gd name="connsiteX4-863" fmla="*/ 451 w 8166683"/>
                <a:gd name="connsiteY4-864" fmla="*/ 0 h 3099826"/>
                <a:gd name="connsiteX5-865" fmla="*/ 4072202 w 8166683"/>
                <a:gd name="connsiteY5-866" fmla="*/ 1465296 h 3099826"/>
                <a:gd name="connsiteX6-867" fmla="*/ 8165849 w 8166683"/>
                <a:gd name="connsiteY6-868" fmla="*/ 7337 h 3099826"/>
                <a:gd name="connsiteX0-869" fmla="*/ 8165849 w 8166683"/>
                <a:gd name="connsiteY0-870" fmla="*/ 7337 h 3099826"/>
                <a:gd name="connsiteX1-871" fmla="*/ 8166683 w 8166683"/>
                <a:gd name="connsiteY1-872" fmla="*/ 1636654 h 3099826"/>
                <a:gd name="connsiteX2-873" fmla="*/ 4116250 w 8166683"/>
                <a:gd name="connsiteY2-874" fmla="*/ 3099826 h 3099826"/>
                <a:gd name="connsiteX3-875" fmla="*/ 8764 w 8166683"/>
                <a:gd name="connsiteY3-876" fmla="*/ 1634789 h 3099826"/>
                <a:gd name="connsiteX4-877" fmla="*/ 451 w 8166683"/>
                <a:gd name="connsiteY4-878" fmla="*/ 0 h 3099826"/>
                <a:gd name="connsiteX5-879" fmla="*/ 4061168 w 8166683"/>
                <a:gd name="connsiteY5-880" fmla="*/ 1438511 h 3099826"/>
                <a:gd name="connsiteX6-881" fmla="*/ 8165849 w 8166683"/>
                <a:gd name="connsiteY6-882" fmla="*/ 7337 h 3099826"/>
                <a:gd name="connsiteX0-883" fmla="*/ 8165849 w 8166683"/>
                <a:gd name="connsiteY0-884" fmla="*/ 7337 h 3099826"/>
                <a:gd name="connsiteX1-885" fmla="*/ 8166683 w 8166683"/>
                <a:gd name="connsiteY1-886" fmla="*/ 1636654 h 3099826"/>
                <a:gd name="connsiteX2-887" fmla="*/ 4116250 w 8166683"/>
                <a:gd name="connsiteY2-888" fmla="*/ 3099826 h 3099826"/>
                <a:gd name="connsiteX3-889" fmla="*/ 8764 w 8166683"/>
                <a:gd name="connsiteY3-890" fmla="*/ 1634789 h 3099826"/>
                <a:gd name="connsiteX4-891" fmla="*/ 451 w 8166683"/>
                <a:gd name="connsiteY4-892" fmla="*/ 0 h 3099826"/>
                <a:gd name="connsiteX5-893" fmla="*/ 4061168 w 8166683"/>
                <a:gd name="connsiteY5-894" fmla="*/ 1438511 h 3099826"/>
                <a:gd name="connsiteX6-895" fmla="*/ 8165849 w 8166683"/>
                <a:gd name="connsiteY6-896" fmla="*/ 7337 h 309982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sp>
          <p:nvSpPr>
            <p:cNvPr id="449" name="Oval 448"/>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endParaRPr lang="en-US" dirty="0"/>
            </a:p>
          </p:txBody>
        </p:sp>
        <p:grpSp>
          <p:nvGrpSpPr>
            <p:cNvPr id="450" name="Group 449"/>
            <p:cNvGrpSpPr/>
            <p:nvPr/>
          </p:nvGrpSpPr>
          <p:grpSpPr>
            <a:xfrm>
              <a:off x="7713663" y="2848339"/>
              <a:ext cx="1042107" cy="425543"/>
              <a:chOff x="7786941" y="2884917"/>
              <a:chExt cx="897649" cy="353919"/>
            </a:xfrm>
          </p:grpSpPr>
          <p:sp>
            <p:nvSpPr>
              <p:cNvPr id="451" name="Freeform 450"/>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1" fmla="*/ 3725333 w 4641485"/>
                  <a:gd name="connsiteY0-2" fmla="*/ 0 h 1049866"/>
                  <a:gd name="connsiteX1-3" fmla="*/ 4641485 w 4641485"/>
                  <a:gd name="connsiteY1-4" fmla="*/ 239402 h 1049866"/>
                  <a:gd name="connsiteX2-5" fmla="*/ 3962400 w 4641485"/>
                  <a:gd name="connsiteY2-6" fmla="*/ 541866 h 1049866"/>
                  <a:gd name="connsiteX3-7" fmla="*/ 3742267 w 4641485"/>
                  <a:gd name="connsiteY3-8" fmla="*/ 457200 h 1049866"/>
                  <a:gd name="connsiteX4-9" fmla="*/ 2269067 w 4641485"/>
                  <a:gd name="connsiteY4-10" fmla="*/ 1049866 h 1049866"/>
                  <a:gd name="connsiteX5-11" fmla="*/ 880533 w 4641485"/>
                  <a:gd name="connsiteY5-12" fmla="*/ 457200 h 1049866"/>
                  <a:gd name="connsiteX6-13" fmla="*/ 592667 w 4641485"/>
                  <a:gd name="connsiteY6-14" fmla="*/ 541866 h 1049866"/>
                  <a:gd name="connsiteX7-15" fmla="*/ 0 w 4641485"/>
                  <a:gd name="connsiteY7-16" fmla="*/ 254000 h 1049866"/>
                  <a:gd name="connsiteX8-17" fmla="*/ 880533 w 4641485"/>
                  <a:gd name="connsiteY8-18" fmla="*/ 16933 h 1049866"/>
                  <a:gd name="connsiteX9-19" fmla="*/ 2302933 w 4641485"/>
                  <a:gd name="connsiteY9-20" fmla="*/ 626533 h 1049866"/>
                  <a:gd name="connsiteX10-21" fmla="*/ 3725333 w 4641485"/>
                  <a:gd name="connsiteY10-22" fmla="*/ 0 h 1049866"/>
                  <a:gd name="connsiteX0-23" fmla="*/ 3756864 w 4673016"/>
                  <a:gd name="connsiteY0-24" fmla="*/ 0 h 1049866"/>
                  <a:gd name="connsiteX1-25" fmla="*/ 4673016 w 4673016"/>
                  <a:gd name="connsiteY1-26" fmla="*/ 239402 h 1049866"/>
                  <a:gd name="connsiteX2-27" fmla="*/ 3993931 w 4673016"/>
                  <a:gd name="connsiteY2-28" fmla="*/ 541866 h 1049866"/>
                  <a:gd name="connsiteX3-29" fmla="*/ 3773798 w 4673016"/>
                  <a:gd name="connsiteY3-30" fmla="*/ 457200 h 1049866"/>
                  <a:gd name="connsiteX4-31" fmla="*/ 2300598 w 4673016"/>
                  <a:gd name="connsiteY4-32" fmla="*/ 1049866 h 1049866"/>
                  <a:gd name="connsiteX5-33" fmla="*/ 912064 w 4673016"/>
                  <a:gd name="connsiteY5-34" fmla="*/ 457200 h 1049866"/>
                  <a:gd name="connsiteX6-35" fmla="*/ 624198 w 4673016"/>
                  <a:gd name="connsiteY6-36" fmla="*/ 541866 h 1049866"/>
                  <a:gd name="connsiteX7-37" fmla="*/ 0 w 4673016"/>
                  <a:gd name="connsiteY7-38" fmla="*/ 232979 h 1049866"/>
                  <a:gd name="connsiteX8-39" fmla="*/ 912064 w 4673016"/>
                  <a:gd name="connsiteY8-40" fmla="*/ 16933 h 1049866"/>
                  <a:gd name="connsiteX9-41" fmla="*/ 2334464 w 4673016"/>
                  <a:gd name="connsiteY9-42" fmla="*/ 626533 h 1049866"/>
                  <a:gd name="connsiteX10-43" fmla="*/ 3756864 w 4673016"/>
                  <a:gd name="connsiteY10-44" fmla="*/ 0 h 1049866"/>
                  <a:gd name="connsiteX0-45" fmla="*/ 3756864 w 4673016"/>
                  <a:gd name="connsiteY0-46" fmla="*/ 0 h 1049866"/>
                  <a:gd name="connsiteX1-47" fmla="*/ 4673016 w 4673016"/>
                  <a:gd name="connsiteY1-48" fmla="*/ 239402 h 1049866"/>
                  <a:gd name="connsiteX2-49" fmla="*/ 3993931 w 4673016"/>
                  <a:gd name="connsiteY2-50" fmla="*/ 541866 h 1049866"/>
                  <a:gd name="connsiteX3-51" fmla="*/ 3784308 w 4673016"/>
                  <a:gd name="connsiteY3-52" fmla="*/ 404648 h 1049866"/>
                  <a:gd name="connsiteX4-53" fmla="*/ 2300598 w 4673016"/>
                  <a:gd name="connsiteY4-54" fmla="*/ 1049866 h 1049866"/>
                  <a:gd name="connsiteX5-55" fmla="*/ 912064 w 4673016"/>
                  <a:gd name="connsiteY5-56" fmla="*/ 457200 h 1049866"/>
                  <a:gd name="connsiteX6-57" fmla="*/ 624198 w 4673016"/>
                  <a:gd name="connsiteY6-58" fmla="*/ 541866 h 1049866"/>
                  <a:gd name="connsiteX7-59" fmla="*/ 0 w 4673016"/>
                  <a:gd name="connsiteY7-60" fmla="*/ 232979 h 1049866"/>
                  <a:gd name="connsiteX8-61" fmla="*/ 912064 w 4673016"/>
                  <a:gd name="connsiteY8-62" fmla="*/ 16933 h 1049866"/>
                  <a:gd name="connsiteX9-63" fmla="*/ 2334464 w 4673016"/>
                  <a:gd name="connsiteY9-64" fmla="*/ 626533 h 1049866"/>
                  <a:gd name="connsiteX10-65" fmla="*/ 3756864 w 4673016"/>
                  <a:gd name="connsiteY10-66" fmla="*/ 0 h 1049866"/>
                  <a:gd name="connsiteX0-67" fmla="*/ 3756864 w 4673016"/>
                  <a:gd name="connsiteY0-68" fmla="*/ 0 h 1049866"/>
                  <a:gd name="connsiteX1-69" fmla="*/ 4673016 w 4673016"/>
                  <a:gd name="connsiteY1-70" fmla="*/ 239402 h 1049866"/>
                  <a:gd name="connsiteX2-71" fmla="*/ 3993931 w 4673016"/>
                  <a:gd name="connsiteY2-72" fmla="*/ 541866 h 1049866"/>
                  <a:gd name="connsiteX3-73" fmla="*/ 3794818 w 4673016"/>
                  <a:gd name="connsiteY3-74" fmla="*/ 436179 h 1049866"/>
                  <a:gd name="connsiteX4-75" fmla="*/ 2300598 w 4673016"/>
                  <a:gd name="connsiteY4-76" fmla="*/ 1049866 h 1049866"/>
                  <a:gd name="connsiteX5-77" fmla="*/ 912064 w 4673016"/>
                  <a:gd name="connsiteY5-78" fmla="*/ 457200 h 1049866"/>
                  <a:gd name="connsiteX6-79" fmla="*/ 624198 w 4673016"/>
                  <a:gd name="connsiteY6-80" fmla="*/ 541866 h 1049866"/>
                  <a:gd name="connsiteX7-81" fmla="*/ 0 w 4673016"/>
                  <a:gd name="connsiteY7-82" fmla="*/ 232979 h 1049866"/>
                  <a:gd name="connsiteX8-83" fmla="*/ 912064 w 4673016"/>
                  <a:gd name="connsiteY8-84" fmla="*/ 16933 h 1049866"/>
                  <a:gd name="connsiteX9-85" fmla="*/ 2334464 w 4673016"/>
                  <a:gd name="connsiteY9-86" fmla="*/ 626533 h 1049866"/>
                  <a:gd name="connsiteX10-87" fmla="*/ 3756864 w 4673016"/>
                  <a:gd name="connsiteY10-88" fmla="*/ 0 h 1049866"/>
                  <a:gd name="connsiteX0-89" fmla="*/ 3756864 w 4673016"/>
                  <a:gd name="connsiteY0-90" fmla="*/ 0 h 1049866"/>
                  <a:gd name="connsiteX1-91" fmla="*/ 4673016 w 4673016"/>
                  <a:gd name="connsiteY1-92" fmla="*/ 239402 h 1049866"/>
                  <a:gd name="connsiteX2-93" fmla="*/ 3993931 w 4673016"/>
                  <a:gd name="connsiteY2-94" fmla="*/ 541866 h 1049866"/>
                  <a:gd name="connsiteX3-95" fmla="*/ 3794818 w 4673016"/>
                  <a:gd name="connsiteY3-96" fmla="*/ 436179 h 1049866"/>
                  <a:gd name="connsiteX4-97" fmla="*/ 2300598 w 4673016"/>
                  <a:gd name="connsiteY4-98" fmla="*/ 1049866 h 1049866"/>
                  <a:gd name="connsiteX5-99" fmla="*/ 912064 w 4673016"/>
                  <a:gd name="connsiteY5-100" fmla="*/ 457200 h 1049866"/>
                  <a:gd name="connsiteX6-101" fmla="*/ 624198 w 4673016"/>
                  <a:gd name="connsiteY6-102" fmla="*/ 541866 h 1049866"/>
                  <a:gd name="connsiteX7-103" fmla="*/ 0 w 4673016"/>
                  <a:gd name="connsiteY7-104" fmla="*/ 232979 h 1049866"/>
                  <a:gd name="connsiteX8-105" fmla="*/ 912064 w 4673016"/>
                  <a:gd name="connsiteY8-106" fmla="*/ 16933 h 1049866"/>
                  <a:gd name="connsiteX9-107" fmla="*/ 2323954 w 4673016"/>
                  <a:gd name="connsiteY9-108" fmla="*/ 616023 h 1049866"/>
                  <a:gd name="connsiteX10-109" fmla="*/ 3756864 w 4673016"/>
                  <a:gd name="connsiteY10-110" fmla="*/ 0 h 1049866"/>
                  <a:gd name="connsiteX0-111" fmla="*/ 3756864 w 4673016"/>
                  <a:gd name="connsiteY0-112" fmla="*/ 0 h 1049866"/>
                  <a:gd name="connsiteX1-113" fmla="*/ 4673016 w 4673016"/>
                  <a:gd name="connsiteY1-114" fmla="*/ 239402 h 1049866"/>
                  <a:gd name="connsiteX2-115" fmla="*/ 3993931 w 4673016"/>
                  <a:gd name="connsiteY2-116" fmla="*/ 541866 h 1049866"/>
                  <a:gd name="connsiteX3-117" fmla="*/ 3794818 w 4673016"/>
                  <a:gd name="connsiteY3-118" fmla="*/ 436179 h 1049866"/>
                  <a:gd name="connsiteX4-119" fmla="*/ 2300598 w 4673016"/>
                  <a:gd name="connsiteY4-120" fmla="*/ 1049866 h 1049866"/>
                  <a:gd name="connsiteX5-121" fmla="*/ 912064 w 4673016"/>
                  <a:gd name="connsiteY5-122" fmla="*/ 457200 h 1049866"/>
                  <a:gd name="connsiteX6-123" fmla="*/ 624198 w 4673016"/>
                  <a:gd name="connsiteY6-124" fmla="*/ 541866 h 1049866"/>
                  <a:gd name="connsiteX7-125" fmla="*/ 0 w 4673016"/>
                  <a:gd name="connsiteY7-126" fmla="*/ 275021 h 1049866"/>
                  <a:gd name="connsiteX8-127" fmla="*/ 912064 w 4673016"/>
                  <a:gd name="connsiteY8-128" fmla="*/ 16933 h 1049866"/>
                  <a:gd name="connsiteX9-129" fmla="*/ 2323954 w 4673016"/>
                  <a:gd name="connsiteY9-130" fmla="*/ 616023 h 1049866"/>
                  <a:gd name="connsiteX10-131" fmla="*/ 3756864 w 4673016"/>
                  <a:gd name="connsiteY10-132" fmla="*/ 0 h 1049866"/>
                  <a:gd name="connsiteX0-133" fmla="*/ 3756864 w 4673016"/>
                  <a:gd name="connsiteY0-134" fmla="*/ 0 h 1049866"/>
                  <a:gd name="connsiteX1-135" fmla="*/ 4673016 w 4673016"/>
                  <a:gd name="connsiteY1-136" fmla="*/ 239402 h 1049866"/>
                  <a:gd name="connsiteX2-137" fmla="*/ 3993931 w 4673016"/>
                  <a:gd name="connsiteY2-138" fmla="*/ 541866 h 1049866"/>
                  <a:gd name="connsiteX3-139" fmla="*/ 3815839 w 4673016"/>
                  <a:gd name="connsiteY3-140" fmla="*/ 467710 h 1049866"/>
                  <a:gd name="connsiteX4-141" fmla="*/ 2300598 w 4673016"/>
                  <a:gd name="connsiteY4-142" fmla="*/ 1049866 h 1049866"/>
                  <a:gd name="connsiteX5-143" fmla="*/ 912064 w 4673016"/>
                  <a:gd name="connsiteY5-144" fmla="*/ 457200 h 1049866"/>
                  <a:gd name="connsiteX6-145" fmla="*/ 624198 w 4673016"/>
                  <a:gd name="connsiteY6-146" fmla="*/ 541866 h 1049866"/>
                  <a:gd name="connsiteX7-147" fmla="*/ 0 w 4673016"/>
                  <a:gd name="connsiteY7-148" fmla="*/ 275021 h 1049866"/>
                  <a:gd name="connsiteX8-149" fmla="*/ 912064 w 4673016"/>
                  <a:gd name="connsiteY8-150" fmla="*/ 16933 h 1049866"/>
                  <a:gd name="connsiteX9-151" fmla="*/ 2323954 w 4673016"/>
                  <a:gd name="connsiteY9-152" fmla="*/ 616023 h 1049866"/>
                  <a:gd name="connsiteX10-153" fmla="*/ 3756864 w 4673016"/>
                  <a:gd name="connsiteY10-154" fmla="*/ 0 h 10498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451"/>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452"/>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453"/>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1" fmla="*/ 168165 w 3731172"/>
                  <a:gd name="connsiteY0-2" fmla="*/ 73572 h 1418896"/>
                  <a:gd name="connsiteX1-3" fmla="*/ 451945 w 3731172"/>
                  <a:gd name="connsiteY1-4" fmla="*/ 0 h 1418896"/>
                  <a:gd name="connsiteX2-5" fmla="*/ 1881352 w 3731172"/>
                  <a:gd name="connsiteY2-6" fmla="*/ 599089 h 1418896"/>
                  <a:gd name="connsiteX3-7" fmla="*/ 3363310 w 3731172"/>
                  <a:gd name="connsiteY3-8" fmla="*/ 0 h 1418896"/>
                  <a:gd name="connsiteX4-9" fmla="*/ 3584027 w 3731172"/>
                  <a:gd name="connsiteY4-10" fmla="*/ 73572 h 1418896"/>
                  <a:gd name="connsiteX5-11" fmla="*/ 2627586 w 3731172"/>
                  <a:gd name="connsiteY5-12" fmla="*/ 441434 h 1418896"/>
                  <a:gd name="connsiteX6-13" fmla="*/ 2596055 w 3731172"/>
                  <a:gd name="connsiteY6-14" fmla="*/ 914400 h 1418896"/>
                  <a:gd name="connsiteX7-15" fmla="*/ 3731172 w 3731172"/>
                  <a:gd name="connsiteY7-16" fmla="*/ 1345324 h 1418896"/>
                  <a:gd name="connsiteX8-17" fmla="*/ 3447393 w 3731172"/>
                  <a:gd name="connsiteY8-18" fmla="*/ 1408386 h 1418896"/>
                  <a:gd name="connsiteX9-19" fmla="*/ 1870841 w 3731172"/>
                  <a:gd name="connsiteY9-20" fmla="*/ 746234 h 1418896"/>
                  <a:gd name="connsiteX10-21" fmla="*/ 262758 w 3731172"/>
                  <a:gd name="connsiteY10-22" fmla="*/ 1418896 h 1418896"/>
                  <a:gd name="connsiteX11-23" fmla="*/ 0 w 3731172"/>
                  <a:gd name="connsiteY11-24" fmla="*/ 1324303 h 1418896"/>
                  <a:gd name="connsiteX12-25" fmla="*/ 1145627 w 3731172"/>
                  <a:gd name="connsiteY12-26" fmla="*/ 882869 h 1418896"/>
                  <a:gd name="connsiteX13-27" fmla="*/ 1114096 w 3731172"/>
                  <a:gd name="connsiteY13-28" fmla="*/ 409903 h 1418896"/>
                  <a:gd name="connsiteX14-29" fmla="*/ 441434 w 3731172"/>
                  <a:gd name="connsiteY14-30" fmla="*/ 10510 h 1418896"/>
                  <a:gd name="connsiteX15-31" fmla="*/ 441434 w 3731172"/>
                  <a:gd name="connsiteY15-32" fmla="*/ 10510 h 1418896"/>
                  <a:gd name="connsiteX0-33" fmla="*/ 168165 w 3731172"/>
                  <a:gd name="connsiteY0-34" fmla="*/ 73572 h 1418896"/>
                  <a:gd name="connsiteX1-35" fmla="*/ 451945 w 3731172"/>
                  <a:gd name="connsiteY1-36" fmla="*/ 0 h 1418896"/>
                  <a:gd name="connsiteX2-37" fmla="*/ 1881352 w 3731172"/>
                  <a:gd name="connsiteY2-38" fmla="*/ 599089 h 1418896"/>
                  <a:gd name="connsiteX3-39" fmla="*/ 3363310 w 3731172"/>
                  <a:gd name="connsiteY3-40" fmla="*/ 0 h 1418896"/>
                  <a:gd name="connsiteX4-41" fmla="*/ 3584027 w 3731172"/>
                  <a:gd name="connsiteY4-42" fmla="*/ 73572 h 1418896"/>
                  <a:gd name="connsiteX5-43" fmla="*/ 2627586 w 3731172"/>
                  <a:gd name="connsiteY5-44" fmla="*/ 441434 h 1418896"/>
                  <a:gd name="connsiteX6-45" fmla="*/ 2596055 w 3731172"/>
                  <a:gd name="connsiteY6-46" fmla="*/ 914400 h 1418896"/>
                  <a:gd name="connsiteX7-47" fmla="*/ 3731172 w 3731172"/>
                  <a:gd name="connsiteY7-48" fmla="*/ 1345324 h 1418896"/>
                  <a:gd name="connsiteX8-49" fmla="*/ 3447393 w 3731172"/>
                  <a:gd name="connsiteY8-50" fmla="*/ 1408386 h 1418896"/>
                  <a:gd name="connsiteX9-51" fmla="*/ 1870841 w 3731172"/>
                  <a:gd name="connsiteY9-52" fmla="*/ 746234 h 1418896"/>
                  <a:gd name="connsiteX10-53" fmla="*/ 262758 w 3731172"/>
                  <a:gd name="connsiteY10-54" fmla="*/ 1418896 h 1418896"/>
                  <a:gd name="connsiteX11-55" fmla="*/ 0 w 3731172"/>
                  <a:gd name="connsiteY11-56" fmla="*/ 1324303 h 1418896"/>
                  <a:gd name="connsiteX12-57" fmla="*/ 1145627 w 3731172"/>
                  <a:gd name="connsiteY12-58" fmla="*/ 882869 h 1418896"/>
                  <a:gd name="connsiteX13-59" fmla="*/ 1114096 w 3731172"/>
                  <a:gd name="connsiteY13-60" fmla="*/ 409903 h 1418896"/>
                  <a:gd name="connsiteX14-61" fmla="*/ 441434 w 3731172"/>
                  <a:gd name="connsiteY14-62" fmla="*/ 10510 h 1418896"/>
                  <a:gd name="connsiteX0-63" fmla="*/ 168165 w 3731172"/>
                  <a:gd name="connsiteY0-64" fmla="*/ 73572 h 1418896"/>
                  <a:gd name="connsiteX1-65" fmla="*/ 451945 w 3731172"/>
                  <a:gd name="connsiteY1-66" fmla="*/ 0 h 1418896"/>
                  <a:gd name="connsiteX2-67" fmla="*/ 1881352 w 3731172"/>
                  <a:gd name="connsiteY2-68" fmla="*/ 599089 h 1418896"/>
                  <a:gd name="connsiteX3-69" fmla="*/ 3363310 w 3731172"/>
                  <a:gd name="connsiteY3-70" fmla="*/ 0 h 1418896"/>
                  <a:gd name="connsiteX4-71" fmla="*/ 3584027 w 3731172"/>
                  <a:gd name="connsiteY4-72" fmla="*/ 73572 h 1418896"/>
                  <a:gd name="connsiteX5-73" fmla="*/ 2627586 w 3731172"/>
                  <a:gd name="connsiteY5-74" fmla="*/ 441434 h 1418896"/>
                  <a:gd name="connsiteX6-75" fmla="*/ 2596055 w 3731172"/>
                  <a:gd name="connsiteY6-76" fmla="*/ 914400 h 1418896"/>
                  <a:gd name="connsiteX7-77" fmla="*/ 3731172 w 3731172"/>
                  <a:gd name="connsiteY7-78" fmla="*/ 1345324 h 1418896"/>
                  <a:gd name="connsiteX8-79" fmla="*/ 3447393 w 3731172"/>
                  <a:gd name="connsiteY8-80" fmla="*/ 1408386 h 1418896"/>
                  <a:gd name="connsiteX9-81" fmla="*/ 1870841 w 3731172"/>
                  <a:gd name="connsiteY9-82" fmla="*/ 746234 h 1418896"/>
                  <a:gd name="connsiteX10-83" fmla="*/ 262758 w 3731172"/>
                  <a:gd name="connsiteY10-84" fmla="*/ 1418896 h 1418896"/>
                  <a:gd name="connsiteX11-85" fmla="*/ 0 w 3731172"/>
                  <a:gd name="connsiteY11-86" fmla="*/ 1324303 h 1418896"/>
                  <a:gd name="connsiteX12-87" fmla="*/ 1145627 w 3731172"/>
                  <a:gd name="connsiteY12-88" fmla="*/ 882869 h 1418896"/>
                  <a:gd name="connsiteX13-89" fmla="*/ 1114096 w 3731172"/>
                  <a:gd name="connsiteY13-90" fmla="*/ 409903 h 1418896"/>
                  <a:gd name="connsiteX14-91" fmla="*/ 357351 w 3731172"/>
                  <a:gd name="connsiteY14-92" fmla="*/ 115613 h 1418896"/>
                  <a:gd name="connsiteX0-93" fmla="*/ 168165 w 3731172"/>
                  <a:gd name="connsiteY0-94" fmla="*/ 73572 h 1418896"/>
                  <a:gd name="connsiteX1-95" fmla="*/ 451945 w 3731172"/>
                  <a:gd name="connsiteY1-96" fmla="*/ 0 h 1418896"/>
                  <a:gd name="connsiteX2-97" fmla="*/ 1881352 w 3731172"/>
                  <a:gd name="connsiteY2-98" fmla="*/ 599089 h 1418896"/>
                  <a:gd name="connsiteX3-99" fmla="*/ 3363310 w 3731172"/>
                  <a:gd name="connsiteY3-100" fmla="*/ 0 h 1418896"/>
                  <a:gd name="connsiteX4-101" fmla="*/ 3584027 w 3731172"/>
                  <a:gd name="connsiteY4-102" fmla="*/ 73572 h 1418896"/>
                  <a:gd name="connsiteX5-103" fmla="*/ 2627586 w 3731172"/>
                  <a:gd name="connsiteY5-104" fmla="*/ 441434 h 1418896"/>
                  <a:gd name="connsiteX6-105" fmla="*/ 2596055 w 3731172"/>
                  <a:gd name="connsiteY6-106" fmla="*/ 914400 h 1418896"/>
                  <a:gd name="connsiteX7-107" fmla="*/ 3731172 w 3731172"/>
                  <a:gd name="connsiteY7-108" fmla="*/ 1345324 h 1418896"/>
                  <a:gd name="connsiteX8-109" fmla="*/ 3447393 w 3731172"/>
                  <a:gd name="connsiteY8-110" fmla="*/ 1408386 h 1418896"/>
                  <a:gd name="connsiteX9-111" fmla="*/ 1870841 w 3731172"/>
                  <a:gd name="connsiteY9-112" fmla="*/ 746234 h 1418896"/>
                  <a:gd name="connsiteX10-113" fmla="*/ 262758 w 3731172"/>
                  <a:gd name="connsiteY10-114" fmla="*/ 1418896 h 1418896"/>
                  <a:gd name="connsiteX11-115" fmla="*/ 0 w 3731172"/>
                  <a:gd name="connsiteY11-116" fmla="*/ 1324303 h 1418896"/>
                  <a:gd name="connsiteX12-117" fmla="*/ 1145627 w 3731172"/>
                  <a:gd name="connsiteY12-118" fmla="*/ 882869 h 1418896"/>
                  <a:gd name="connsiteX13-119" fmla="*/ 1114096 w 3731172"/>
                  <a:gd name="connsiteY13-120" fmla="*/ 409903 h 1418896"/>
                  <a:gd name="connsiteX14-121" fmla="*/ 147144 w 3731172"/>
                  <a:gd name="connsiteY14-122" fmla="*/ 63061 h 1418896"/>
                  <a:gd name="connsiteX0-123" fmla="*/ 168165 w 3731172"/>
                  <a:gd name="connsiteY0-124" fmla="*/ 73572 h 1418896"/>
                  <a:gd name="connsiteX1-125" fmla="*/ 451945 w 3731172"/>
                  <a:gd name="connsiteY1-126" fmla="*/ 0 h 1418896"/>
                  <a:gd name="connsiteX2-127" fmla="*/ 1881352 w 3731172"/>
                  <a:gd name="connsiteY2-128" fmla="*/ 599089 h 1418896"/>
                  <a:gd name="connsiteX3-129" fmla="*/ 3363310 w 3731172"/>
                  <a:gd name="connsiteY3-130" fmla="*/ 0 h 1418896"/>
                  <a:gd name="connsiteX4-131" fmla="*/ 3584027 w 3731172"/>
                  <a:gd name="connsiteY4-132" fmla="*/ 73572 h 1418896"/>
                  <a:gd name="connsiteX5-133" fmla="*/ 2627586 w 3731172"/>
                  <a:gd name="connsiteY5-134" fmla="*/ 441434 h 1418896"/>
                  <a:gd name="connsiteX6-135" fmla="*/ 2596055 w 3731172"/>
                  <a:gd name="connsiteY6-136" fmla="*/ 914400 h 1418896"/>
                  <a:gd name="connsiteX7-137" fmla="*/ 3731172 w 3731172"/>
                  <a:gd name="connsiteY7-138" fmla="*/ 1345324 h 1418896"/>
                  <a:gd name="connsiteX8-139" fmla="*/ 3447393 w 3731172"/>
                  <a:gd name="connsiteY8-140" fmla="*/ 1408386 h 1418896"/>
                  <a:gd name="connsiteX9-141" fmla="*/ 1870841 w 3731172"/>
                  <a:gd name="connsiteY9-142" fmla="*/ 746234 h 1418896"/>
                  <a:gd name="connsiteX10-143" fmla="*/ 262758 w 3731172"/>
                  <a:gd name="connsiteY10-144" fmla="*/ 1418896 h 1418896"/>
                  <a:gd name="connsiteX11-145" fmla="*/ 0 w 3731172"/>
                  <a:gd name="connsiteY11-146" fmla="*/ 1324303 h 1418896"/>
                  <a:gd name="connsiteX12-147" fmla="*/ 1145627 w 3731172"/>
                  <a:gd name="connsiteY12-148" fmla="*/ 882869 h 1418896"/>
                  <a:gd name="connsiteX13-149" fmla="*/ 1114096 w 3731172"/>
                  <a:gd name="connsiteY13-150" fmla="*/ 420413 h 1418896"/>
                  <a:gd name="connsiteX14-151" fmla="*/ 147144 w 3731172"/>
                  <a:gd name="connsiteY14-152" fmla="*/ 63061 h 1418896"/>
                  <a:gd name="connsiteX0-153" fmla="*/ 168165 w 3731172"/>
                  <a:gd name="connsiteY0-154" fmla="*/ 73572 h 1418896"/>
                  <a:gd name="connsiteX1-155" fmla="*/ 451945 w 3731172"/>
                  <a:gd name="connsiteY1-156" fmla="*/ 0 h 1418896"/>
                  <a:gd name="connsiteX2-157" fmla="*/ 1881352 w 3731172"/>
                  <a:gd name="connsiteY2-158" fmla="*/ 599089 h 1418896"/>
                  <a:gd name="connsiteX3-159" fmla="*/ 3363310 w 3731172"/>
                  <a:gd name="connsiteY3-160" fmla="*/ 0 h 1418896"/>
                  <a:gd name="connsiteX4-161" fmla="*/ 3584027 w 3731172"/>
                  <a:gd name="connsiteY4-162" fmla="*/ 73572 h 1418896"/>
                  <a:gd name="connsiteX5-163" fmla="*/ 2627586 w 3731172"/>
                  <a:gd name="connsiteY5-164" fmla="*/ 441434 h 1418896"/>
                  <a:gd name="connsiteX6-165" fmla="*/ 2596055 w 3731172"/>
                  <a:gd name="connsiteY6-166" fmla="*/ 914400 h 1418896"/>
                  <a:gd name="connsiteX7-167" fmla="*/ 3731172 w 3731172"/>
                  <a:gd name="connsiteY7-168" fmla="*/ 1345324 h 1418896"/>
                  <a:gd name="connsiteX8-169" fmla="*/ 3447393 w 3731172"/>
                  <a:gd name="connsiteY8-170" fmla="*/ 1408386 h 1418896"/>
                  <a:gd name="connsiteX9-171" fmla="*/ 1870841 w 3731172"/>
                  <a:gd name="connsiteY9-172" fmla="*/ 746234 h 1418896"/>
                  <a:gd name="connsiteX10-173" fmla="*/ 262758 w 3731172"/>
                  <a:gd name="connsiteY10-174" fmla="*/ 1418896 h 1418896"/>
                  <a:gd name="connsiteX11-175" fmla="*/ 0 w 3731172"/>
                  <a:gd name="connsiteY11-176" fmla="*/ 1324303 h 1418896"/>
                  <a:gd name="connsiteX12-177" fmla="*/ 1145627 w 3731172"/>
                  <a:gd name="connsiteY12-178" fmla="*/ 882869 h 1418896"/>
                  <a:gd name="connsiteX13-179" fmla="*/ 1114096 w 3731172"/>
                  <a:gd name="connsiteY13-180" fmla="*/ 420413 h 1418896"/>
                  <a:gd name="connsiteX14-181" fmla="*/ 189185 w 3731172"/>
                  <a:gd name="connsiteY14-182" fmla="*/ 84081 h 1418896"/>
                  <a:gd name="connsiteX0-183" fmla="*/ 168165 w 3731172"/>
                  <a:gd name="connsiteY0-184" fmla="*/ 73572 h 1418896"/>
                  <a:gd name="connsiteX1-185" fmla="*/ 451945 w 3731172"/>
                  <a:gd name="connsiteY1-186" fmla="*/ 0 h 1418896"/>
                  <a:gd name="connsiteX2-187" fmla="*/ 1881352 w 3731172"/>
                  <a:gd name="connsiteY2-188" fmla="*/ 599089 h 1418896"/>
                  <a:gd name="connsiteX3-189" fmla="*/ 3363310 w 3731172"/>
                  <a:gd name="connsiteY3-190" fmla="*/ 0 h 1418896"/>
                  <a:gd name="connsiteX4-191" fmla="*/ 3584027 w 3731172"/>
                  <a:gd name="connsiteY4-192" fmla="*/ 73572 h 1418896"/>
                  <a:gd name="connsiteX5-193" fmla="*/ 2627586 w 3731172"/>
                  <a:gd name="connsiteY5-194" fmla="*/ 441434 h 1418896"/>
                  <a:gd name="connsiteX6-195" fmla="*/ 2596055 w 3731172"/>
                  <a:gd name="connsiteY6-196" fmla="*/ 914400 h 1418896"/>
                  <a:gd name="connsiteX7-197" fmla="*/ 3731172 w 3731172"/>
                  <a:gd name="connsiteY7-198" fmla="*/ 1345324 h 1418896"/>
                  <a:gd name="connsiteX8-199" fmla="*/ 3447393 w 3731172"/>
                  <a:gd name="connsiteY8-200" fmla="*/ 1408386 h 1418896"/>
                  <a:gd name="connsiteX9-201" fmla="*/ 1870841 w 3731172"/>
                  <a:gd name="connsiteY9-202" fmla="*/ 746234 h 1418896"/>
                  <a:gd name="connsiteX10-203" fmla="*/ 262758 w 3731172"/>
                  <a:gd name="connsiteY10-204" fmla="*/ 1418896 h 1418896"/>
                  <a:gd name="connsiteX11-205" fmla="*/ 0 w 3731172"/>
                  <a:gd name="connsiteY11-206" fmla="*/ 1324303 h 1418896"/>
                  <a:gd name="connsiteX12-207" fmla="*/ 1145627 w 3731172"/>
                  <a:gd name="connsiteY12-208" fmla="*/ 882869 h 1418896"/>
                  <a:gd name="connsiteX13-209" fmla="*/ 1114096 w 3731172"/>
                  <a:gd name="connsiteY13-210" fmla="*/ 420413 h 1418896"/>
                  <a:gd name="connsiteX14-211" fmla="*/ 189185 w 3731172"/>
                  <a:gd name="connsiteY14-212" fmla="*/ 84081 h 1418896"/>
                  <a:gd name="connsiteX15-213" fmla="*/ 168165 w 3731172"/>
                  <a:gd name="connsiteY15-214" fmla="*/ 73572 h 1418896"/>
                  <a:gd name="connsiteX0-215" fmla="*/ 168165 w 3731172"/>
                  <a:gd name="connsiteY0-216" fmla="*/ 73572 h 1418896"/>
                  <a:gd name="connsiteX1-217" fmla="*/ 451945 w 3731172"/>
                  <a:gd name="connsiteY1-218" fmla="*/ 0 h 1418896"/>
                  <a:gd name="connsiteX2-219" fmla="*/ 1881352 w 3731172"/>
                  <a:gd name="connsiteY2-220" fmla="*/ 599089 h 1418896"/>
                  <a:gd name="connsiteX3-221" fmla="*/ 3363310 w 3731172"/>
                  <a:gd name="connsiteY3-222" fmla="*/ 0 h 1418896"/>
                  <a:gd name="connsiteX4-223" fmla="*/ 3584027 w 3731172"/>
                  <a:gd name="connsiteY4-224" fmla="*/ 73572 h 1418896"/>
                  <a:gd name="connsiteX5-225" fmla="*/ 2627586 w 3731172"/>
                  <a:gd name="connsiteY5-226" fmla="*/ 441434 h 1418896"/>
                  <a:gd name="connsiteX6-227" fmla="*/ 2596055 w 3731172"/>
                  <a:gd name="connsiteY6-228" fmla="*/ 914400 h 1418896"/>
                  <a:gd name="connsiteX7-229" fmla="*/ 3731172 w 3731172"/>
                  <a:gd name="connsiteY7-230" fmla="*/ 1345324 h 1418896"/>
                  <a:gd name="connsiteX8-231" fmla="*/ 3447393 w 3731172"/>
                  <a:gd name="connsiteY8-232" fmla="*/ 1408386 h 1418896"/>
                  <a:gd name="connsiteX9-233" fmla="*/ 1870841 w 3731172"/>
                  <a:gd name="connsiteY9-234" fmla="*/ 746234 h 1418896"/>
                  <a:gd name="connsiteX10-235" fmla="*/ 262758 w 3731172"/>
                  <a:gd name="connsiteY10-236" fmla="*/ 1418896 h 1418896"/>
                  <a:gd name="connsiteX11-237" fmla="*/ 0 w 3731172"/>
                  <a:gd name="connsiteY11-238" fmla="*/ 1324303 h 1418896"/>
                  <a:gd name="connsiteX12-239" fmla="*/ 1145627 w 3731172"/>
                  <a:gd name="connsiteY12-240" fmla="*/ 882869 h 1418896"/>
                  <a:gd name="connsiteX13-241" fmla="*/ 1156137 w 3731172"/>
                  <a:gd name="connsiteY13-242" fmla="*/ 441434 h 1418896"/>
                  <a:gd name="connsiteX14-243" fmla="*/ 189185 w 3731172"/>
                  <a:gd name="connsiteY14-244" fmla="*/ 84081 h 1418896"/>
                  <a:gd name="connsiteX15-245" fmla="*/ 168165 w 3731172"/>
                  <a:gd name="connsiteY15-246" fmla="*/ 73572 h 1418896"/>
                  <a:gd name="connsiteX0-247" fmla="*/ 168165 w 3731172"/>
                  <a:gd name="connsiteY0-248" fmla="*/ 73572 h 1418896"/>
                  <a:gd name="connsiteX1-249" fmla="*/ 451945 w 3731172"/>
                  <a:gd name="connsiteY1-250" fmla="*/ 0 h 1418896"/>
                  <a:gd name="connsiteX2-251" fmla="*/ 1881352 w 3731172"/>
                  <a:gd name="connsiteY2-252" fmla="*/ 599089 h 1418896"/>
                  <a:gd name="connsiteX3-253" fmla="*/ 3363310 w 3731172"/>
                  <a:gd name="connsiteY3-254" fmla="*/ 0 h 1418896"/>
                  <a:gd name="connsiteX4-255" fmla="*/ 3584027 w 3731172"/>
                  <a:gd name="connsiteY4-256" fmla="*/ 73572 h 1418896"/>
                  <a:gd name="connsiteX5-257" fmla="*/ 2627586 w 3731172"/>
                  <a:gd name="connsiteY5-258" fmla="*/ 441434 h 1418896"/>
                  <a:gd name="connsiteX6-259" fmla="*/ 2596055 w 3731172"/>
                  <a:gd name="connsiteY6-260" fmla="*/ 914400 h 1418896"/>
                  <a:gd name="connsiteX7-261" fmla="*/ 3731172 w 3731172"/>
                  <a:gd name="connsiteY7-262" fmla="*/ 1345324 h 1418896"/>
                  <a:gd name="connsiteX8-263" fmla="*/ 3447393 w 3731172"/>
                  <a:gd name="connsiteY8-264" fmla="*/ 1408386 h 1418896"/>
                  <a:gd name="connsiteX9-265" fmla="*/ 1870841 w 3731172"/>
                  <a:gd name="connsiteY9-266" fmla="*/ 746234 h 1418896"/>
                  <a:gd name="connsiteX10-267" fmla="*/ 262758 w 3731172"/>
                  <a:gd name="connsiteY10-268" fmla="*/ 1418896 h 1418896"/>
                  <a:gd name="connsiteX11-269" fmla="*/ 0 w 3731172"/>
                  <a:gd name="connsiteY11-270" fmla="*/ 1324303 h 1418896"/>
                  <a:gd name="connsiteX12-271" fmla="*/ 1145627 w 3731172"/>
                  <a:gd name="connsiteY12-272" fmla="*/ 882869 h 1418896"/>
                  <a:gd name="connsiteX13-273" fmla="*/ 1145626 w 3731172"/>
                  <a:gd name="connsiteY13-274" fmla="*/ 451945 h 1418896"/>
                  <a:gd name="connsiteX14-275" fmla="*/ 189185 w 3731172"/>
                  <a:gd name="connsiteY14-276" fmla="*/ 84081 h 1418896"/>
                  <a:gd name="connsiteX15-277" fmla="*/ 168165 w 3731172"/>
                  <a:gd name="connsiteY15-278" fmla="*/ 73572 h 1418896"/>
                  <a:gd name="connsiteX0-279" fmla="*/ 168165 w 3731172"/>
                  <a:gd name="connsiteY0-280" fmla="*/ 73572 h 1418896"/>
                  <a:gd name="connsiteX1-281" fmla="*/ 451945 w 3731172"/>
                  <a:gd name="connsiteY1-282" fmla="*/ 0 h 1418896"/>
                  <a:gd name="connsiteX2-283" fmla="*/ 1881352 w 3731172"/>
                  <a:gd name="connsiteY2-284" fmla="*/ 599089 h 1418896"/>
                  <a:gd name="connsiteX3-285" fmla="*/ 3363310 w 3731172"/>
                  <a:gd name="connsiteY3-286" fmla="*/ 0 h 1418896"/>
                  <a:gd name="connsiteX4-287" fmla="*/ 3584027 w 3731172"/>
                  <a:gd name="connsiteY4-288" fmla="*/ 73572 h 1418896"/>
                  <a:gd name="connsiteX5-289" fmla="*/ 2627586 w 3731172"/>
                  <a:gd name="connsiteY5-290" fmla="*/ 441434 h 1418896"/>
                  <a:gd name="connsiteX6-291" fmla="*/ 2596055 w 3731172"/>
                  <a:gd name="connsiteY6-292" fmla="*/ 914400 h 1418896"/>
                  <a:gd name="connsiteX7-293" fmla="*/ 3731172 w 3731172"/>
                  <a:gd name="connsiteY7-294" fmla="*/ 1345324 h 1418896"/>
                  <a:gd name="connsiteX8-295" fmla="*/ 3447393 w 3731172"/>
                  <a:gd name="connsiteY8-296" fmla="*/ 1408386 h 1418896"/>
                  <a:gd name="connsiteX9-297" fmla="*/ 1870841 w 3731172"/>
                  <a:gd name="connsiteY9-298" fmla="*/ 746234 h 1418896"/>
                  <a:gd name="connsiteX10-299" fmla="*/ 262758 w 3731172"/>
                  <a:gd name="connsiteY10-300" fmla="*/ 1418896 h 1418896"/>
                  <a:gd name="connsiteX11-301" fmla="*/ 0 w 3731172"/>
                  <a:gd name="connsiteY11-302" fmla="*/ 1324303 h 1418896"/>
                  <a:gd name="connsiteX12-303" fmla="*/ 1145627 w 3731172"/>
                  <a:gd name="connsiteY12-304" fmla="*/ 903890 h 1418896"/>
                  <a:gd name="connsiteX13-305" fmla="*/ 1145626 w 3731172"/>
                  <a:gd name="connsiteY13-306" fmla="*/ 451945 h 1418896"/>
                  <a:gd name="connsiteX14-307" fmla="*/ 189185 w 3731172"/>
                  <a:gd name="connsiteY14-308" fmla="*/ 84081 h 1418896"/>
                  <a:gd name="connsiteX15-309" fmla="*/ 168165 w 3731172"/>
                  <a:gd name="connsiteY15-310" fmla="*/ 73572 h 1418896"/>
                  <a:gd name="connsiteX0-311" fmla="*/ 147144 w 3710151"/>
                  <a:gd name="connsiteY0-312" fmla="*/ 73572 h 1418896"/>
                  <a:gd name="connsiteX1-313" fmla="*/ 430924 w 3710151"/>
                  <a:gd name="connsiteY1-314" fmla="*/ 0 h 1418896"/>
                  <a:gd name="connsiteX2-315" fmla="*/ 1860331 w 3710151"/>
                  <a:gd name="connsiteY2-316" fmla="*/ 599089 h 1418896"/>
                  <a:gd name="connsiteX3-317" fmla="*/ 3342289 w 3710151"/>
                  <a:gd name="connsiteY3-318" fmla="*/ 0 h 1418896"/>
                  <a:gd name="connsiteX4-319" fmla="*/ 3563006 w 3710151"/>
                  <a:gd name="connsiteY4-320" fmla="*/ 73572 h 1418896"/>
                  <a:gd name="connsiteX5-321" fmla="*/ 2606565 w 3710151"/>
                  <a:gd name="connsiteY5-322" fmla="*/ 441434 h 1418896"/>
                  <a:gd name="connsiteX6-323" fmla="*/ 2575034 w 3710151"/>
                  <a:gd name="connsiteY6-324" fmla="*/ 914400 h 1418896"/>
                  <a:gd name="connsiteX7-325" fmla="*/ 3710151 w 3710151"/>
                  <a:gd name="connsiteY7-326" fmla="*/ 1345324 h 1418896"/>
                  <a:gd name="connsiteX8-327" fmla="*/ 3426372 w 3710151"/>
                  <a:gd name="connsiteY8-328" fmla="*/ 1408386 h 1418896"/>
                  <a:gd name="connsiteX9-329" fmla="*/ 1849820 w 3710151"/>
                  <a:gd name="connsiteY9-330" fmla="*/ 746234 h 1418896"/>
                  <a:gd name="connsiteX10-331" fmla="*/ 241737 w 3710151"/>
                  <a:gd name="connsiteY10-332" fmla="*/ 1418896 h 1418896"/>
                  <a:gd name="connsiteX11-333" fmla="*/ 0 w 3710151"/>
                  <a:gd name="connsiteY11-334" fmla="*/ 1334814 h 1418896"/>
                  <a:gd name="connsiteX12-335" fmla="*/ 1124606 w 3710151"/>
                  <a:gd name="connsiteY12-336" fmla="*/ 903890 h 1418896"/>
                  <a:gd name="connsiteX13-337" fmla="*/ 1124605 w 3710151"/>
                  <a:gd name="connsiteY13-338" fmla="*/ 451945 h 1418896"/>
                  <a:gd name="connsiteX14-339" fmla="*/ 168164 w 3710151"/>
                  <a:gd name="connsiteY14-340" fmla="*/ 84081 h 1418896"/>
                  <a:gd name="connsiteX15-341" fmla="*/ 147144 w 3710151"/>
                  <a:gd name="connsiteY15-342" fmla="*/ 73572 h 1418896"/>
                  <a:gd name="connsiteX0-343" fmla="*/ 147144 w 3710151"/>
                  <a:gd name="connsiteY0-344" fmla="*/ 73572 h 1418896"/>
                  <a:gd name="connsiteX1-345" fmla="*/ 430924 w 3710151"/>
                  <a:gd name="connsiteY1-346" fmla="*/ 0 h 1418896"/>
                  <a:gd name="connsiteX2-347" fmla="*/ 1860331 w 3710151"/>
                  <a:gd name="connsiteY2-348" fmla="*/ 599089 h 1418896"/>
                  <a:gd name="connsiteX3-349" fmla="*/ 3342289 w 3710151"/>
                  <a:gd name="connsiteY3-350" fmla="*/ 0 h 1418896"/>
                  <a:gd name="connsiteX4-351" fmla="*/ 3563006 w 3710151"/>
                  <a:gd name="connsiteY4-352" fmla="*/ 73572 h 1418896"/>
                  <a:gd name="connsiteX5-353" fmla="*/ 2606565 w 3710151"/>
                  <a:gd name="connsiteY5-354" fmla="*/ 441434 h 1418896"/>
                  <a:gd name="connsiteX6-355" fmla="*/ 2606565 w 3710151"/>
                  <a:gd name="connsiteY6-356" fmla="*/ 924910 h 1418896"/>
                  <a:gd name="connsiteX7-357" fmla="*/ 3710151 w 3710151"/>
                  <a:gd name="connsiteY7-358" fmla="*/ 1345324 h 1418896"/>
                  <a:gd name="connsiteX8-359" fmla="*/ 3426372 w 3710151"/>
                  <a:gd name="connsiteY8-360" fmla="*/ 1408386 h 1418896"/>
                  <a:gd name="connsiteX9-361" fmla="*/ 1849820 w 3710151"/>
                  <a:gd name="connsiteY9-362" fmla="*/ 746234 h 1418896"/>
                  <a:gd name="connsiteX10-363" fmla="*/ 241737 w 3710151"/>
                  <a:gd name="connsiteY10-364" fmla="*/ 1418896 h 1418896"/>
                  <a:gd name="connsiteX11-365" fmla="*/ 0 w 3710151"/>
                  <a:gd name="connsiteY11-366" fmla="*/ 1334814 h 1418896"/>
                  <a:gd name="connsiteX12-367" fmla="*/ 1124606 w 3710151"/>
                  <a:gd name="connsiteY12-368" fmla="*/ 903890 h 1418896"/>
                  <a:gd name="connsiteX13-369" fmla="*/ 1124605 w 3710151"/>
                  <a:gd name="connsiteY13-370" fmla="*/ 451945 h 1418896"/>
                  <a:gd name="connsiteX14-371" fmla="*/ 168164 w 3710151"/>
                  <a:gd name="connsiteY14-372" fmla="*/ 84081 h 1418896"/>
                  <a:gd name="connsiteX15-373" fmla="*/ 147144 w 3710151"/>
                  <a:gd name="connsiteY15-374" fmla="*/ 73572 h 1418896"/>
                  <a:gd name="connsiteX0-375" fmla="*/ 147144 w 3710151"/>
                  <a:gd name="connsiteY0-376" fmla="*/ 73572 h 1418896"/>
                  <a:gd name="connsiteX1-377" fmla="*/ 430924 w 3710151"/>
                  <a:gd name="connsiteY1-378" fmla="*/ 0 h 1418896"/>
                  <a:gd name="connsiteX2-379" fmla="*/ 1860331 w 3710151"/>
                  <a:gd name="connsiteY2-380" fmla="*/ 599089 h 1418896"/>
                  <a:gd name="connsiteX3-381" fmla="*/ 3342289 w 3710151"/>
                  <a:gd name="connsiteY3-382" fmla="*/ 0 h 1418896"/>
                  <a:gd name="connsiteX4-383" fmla="*/ 3563006 w 3710151"/>
                  <a:gd name="connsiteY4-384" fmla="*/ 73572 h 1418896"/>
                  <a:gd name="connsiteX5-385" fmla="*/ 2606565 w 3710151"/>
                  <a:gd name="connsiteY5-386" fmla="*/ 441434 h 1418896"/>
                  <a:gd name="connsiteX6-387" fmla="*/ 2610282 w 3710151"/>
                  <a:gd name="connsiteY6-388" fmla="*/ 902607 h 1418896"/>
                  <a:gd name="connsiteX7-389" fmla="*/ 3710151 w 3710151"/>
                  <a:gd name="connsiteY7-390" fmla="*/ 1345324 h 1418896"/>
                  <a:gd name="connsiteX8-391" fmla="*/ 3426372 w 3710151"/>
                  <a:gd name="connsiteY8-392" fmla="*/ 1408386 h 1418896"/>
                  <a:gd name="connsiteX9-393" fmla="*/ 1849820 w 3710151"/>
                  <a:gd name="connsiteY9-394" fmla="*/ 746234 h 1418896"/>
                  <a:gd name="connsiteX10-395" fmla="*/ 241737 w 3710151"/>
                  <a:gd name="connsiteY10-396" fmla="*/ 1418896 h 1418896"/>
                  <a:gd name="connsiteX11-397" fmla="*/ 0 w 3710151"/>
                  <a:gd name="connsiteY11-398" fmla="*/ 1334814 h 1418896"/>
                  <a:gd name="connsiteX12-399" fmla="*/ 1124606 w 3710151"/>
                  <a:gd name="connsiteY12-400" fmla="*/ 903890 h 1418896"/>
                  <a:gd name="connsiteX13-401" fmla="*/ 1124605 w 3710151"/>
                  <a:gd name="connsiteY13-402" fmla="*/ 451945 h 1418896"/>
                  <a:gd name="connsiteX14-403" fmla="*/ 168164 w 3710151"/>
                  <a:gd name="connsiteY14-404" fmla="*/ 84081 h 1418896"/>
                  <a:gd name="connsiteX15-405" fmla="*/ 147144 w 3710151"/>
                  <a:gd name="connsiteY15-406" fmla="*/ 73572 h 1418896"/>
                  <a:gd name="connsiteX0-407" fmla="*/ 147144 w 3710151"/>
                  <a:gd name="connsiteY0-408" fmla="*/ 73572 h 1418896"/>
                  <a:gd name="connsiteX1-409" fmla="*/ 430924 w 3710151"/>
                  <a:gd name="connsiteY1-410" fmla="*/ 0 h 1418896"/>
                  <a:gd name="connsiteX2-411" fmla="*/ 1860331 w 3710151"/>
                  <a:gd name="connsiteY2-412" fmla="*/ 599089 h 1418896"/>
                  <a:gd name="connsiteX3-413" fmla="*/ 3342289 w 3710151"/>
                  <a:gd name="connsiteY3-414" fmla="*/ 0 h 1418896"/>
                  <a:gd name="connsiteX4-415" fmla="*/ 3563006 w 3710151"/>
                  <a:gd name="connsiteY4-416" fmla="*/ 73572 h 1418896"/>
                  <a:gd name="connsiteX5-417" fmla="*/ 2617717 w 3710151"/>
                  <a:gd name="connsiteY5-418" fmla="*/ 445151 h 1418896"/>
                  <a:gd name="connsiteX6-419" fmla="*/ 2610282 w 3710151"/>
                  <a:gd name="connsiteY6-420" fmla="*/ 902607 h 1418896"/>
                  <a:gd name="connsiteX7-421" fmla="*/ 3710151 w 3710151"/>
                  <a:gd name="connsiteY7-422" fmla="*/ 1345324 h 1418896"/>
                  <a:gd name="connsiteX8-423" fmla="*/ 3426372 w 3710151"/>
                  <a:gd name="connsiteY8-424" fmla="*/ 1408386 h 1418896"/>
                  <a:gd name="connsiteX9-425" fmla="*/ 1849820 w 3710151"/>
                  <a:gd name="connsiteY9-426" fmla="*/ 746234 h 1418896"/>
                  <a:gd name="connsiteX10-427" fmla="*/ 241737 w 3710151"/>
                  <a:gd name="connsiteY10-428" fmla="*/ 1418896 h 1418896"/>
                  <a:gd name="connsiteX11-429" fmla="*/ 0 w 3710151"/>
                  <a:gd name="connsiteY11-430" fmla="*/ 1334814 h 1418896"/>
                  <a:gd name="connsiteX12-431" fmla="*/ 1124606 w 3710151"/>
                  <a:gd name="connsiteY12-432" fmla="*/ 903890 h 1418896"/>
                  <a:gd name="connsiteX13-433" fmla="*/ 1124605 w 3710151"/>
                  <a:gd name="connsiteY13-434" fmla="*/ 451945 h 1418896"/>
                  <a:gd name="connsiteX14-435" fmla="*/ 168164 w 3710151"/>
                  <a:gd name="connsiteY14-436" fmla="*/ 84081 h 1418896"/>
                  <a:gd name="connsiteX15-437" fmla="*/ 147144 w 3710151"/>
                  <a:gd name="connsiteY15-438" fmla="*/ 73572 h 1418896"/>
                  <a:gd name="connsiteX0-439" fmla="*/ 147144 w 3710151"/>
                  <a:gd name="connsiteY0-440" fmla="*/ 73572 h 1418896"/>
                  <a:gd name="connsiteX1-441" fmla="*/ 430924 w 3710151"/>
                  <a:gd name="connsiteY1-442" fmla="*/ 0 h 1418896"/>
                  <a:gd name="connsiteX2-443" fmla="*/ 1860331 w 3710151"/>
                  <a:gd name="connsiteY2-444" fmla="*/ 599089 h 1418896"/>
                  <a:gd name="connsiteX3-445" fmla="*/ 3342289 w 3710151"/>
                  <a:gd name="connsiteY3-446" fmla="*/ 0 h 1418896"/>
                  <a:gd name="connsiteX4-447" fmla="*/ 3563006 w 3710151"/>
                  <a:gd name="connsiteY4-448" fmla="*/ 73572 h 1418896"/>
                  <a:gd name="connsiteX5-449" fmla="*/ 2617717 w 3710151"/>
                  <a:gd name="connsiteY5-450" fmla="*/ 448868 h 1418896"/>
                  <a:gd name="connsiteX6-451" fmla="*/ 2610282 w 3710151"/>
                  <a:gd name="connsiteY6-452" fmla="*/ 902607 h 1418896"/>
                  <a:gd name="connsiteX7-453" fmla="*/ 3710151 w 3710151"/>
                  <a:gd name="connsiteY7-454" fmla="*/ 1345324 h 1418896"/>
                  <a:gd name="connsiteX8-455" fmla="*/ 3426372 w 3710151"/>
                  <a:gd name="connsiteY8-456" fmla="*/ 1408386 h 1418896"/>
                  <a:gd name="connsiteX9-457" fmla="*/ 1849820 w 3710151"/>
                  <a:gd name="connsiteY9-458" fmla="*/ 746234 h 1418896"/>
                  <a:gd name="connsiteX10-459" fmla="*/ 241737 w 3710151"/>
                  <a:gd name="connsiteY10-460" fmla="*/ 1418896 h 1418896"/>
                  <a:gd name="connsiteX11-461" fmla="*/ 0 w 3710151"/>
                  <a:gd name="connsiteY11-462" fmla="*/ 1334814 h 1418896"/>
                  <a:gd name="connsiteX12-463" fmla="*/ 1124606 w 3710151"/>
                  <a:gd name="connsiteY12-464" fmla="*/ 903890 h 1418896"/>
                  <a:gd name="connsiteX13-465" fmla="*/ 1124605 w 3710151"/>
                  <a:gd name="connsiteY13-466" fmla="*/ 451945 h 1418896"/>
                  <a:gd name="connsiteX14-467" fmla="*/ 168164 w 3710151"/>
                  <a:gd name="connsiteY14-468" fmla="*/ 84081 h 1418896"/>
                  <a:gd name="connsiteX15-469" fmla="*/ 147144 w 3710151"/>
                  <a:gd name="connsiteY15-470" fmla="*/ 73572 h 1418896"/>
                  <a:gd name="connsiteX0-471" fmla="*/ 147144 w 3710151"/>
                  <a:gd name="connsiteY0-472" fmla="*/ 73572 h 1418896"/>
                  <a:gd name="connsiteX1-473" fmla="*/ 430924 w 3710151"/>
                  <a:gd name="connsiteY1-474" fmla="*/ 0 h 1418896"/>
                  <a:gd name="connsiteX2-475" fmla="*/ 1838028 w 3710151"/>
                  <a:gd name="connsiteY2-476" fmla="*/ 591655 h 1418896"/>
                  <a:gd name="connsiteX3-477" fmla="*/ 3342289 w 3710151"/>
                  <a:gd name="connsiteY3-478" fmla="*/ 0 h 1418896"/>
                  <a:gd name="connsiteX4-479" fmla="*/ 3563006 w 3710151"/>
                  <a:gd name="connsiteY4-480" fmla="*/ 73572 h 1418896"/>
                  <a:gd name="connsiteX5-481" fmla="*/ 2617717 w 3710151"/>
                  <a:gd name="connsiteY5-482" fmla="*/ 448868 h 1418896"/>
                  <a:gd name="connsiteX6-483" fmla="*/ 2610282 w 3710151"/>
                  <a:gd name="connsiteY6-484" fmla="*/ 902607 h 1418896"/>
                  <a:gd name="connsiteX7-485" fmla="*/ 3710151 w 3710151"/>
                  <a:gd name="connsiteY7-486" fmla="*/ 1345324 h 1418896"/>
                  <a:gd name="connsiteX8-487" fmla="*/ 3426372 w 3710151"/>
                  <a:gd name="connsiteY8-488" fmla="*/ 1408386 h 1418896"/>
                  <a:gd name="connsiteX9-489" fmla="*/ 1849820 w 3710151"/>
                  <a:gd name="connsiteY9-490" fmla="*/ 746234 h 1418896"/>
                  <a:gd name="connsiteX10-491" fmla="*/ 241737 w 3710151"/>
                  <a:gd name="connsiteY10-492" fmla="*/ 1418896 h 1418896"/>
                  <a:gd name="connsiteX11-493" fmla="*/ 0 w 3710151"/>
                  <a:gd name="connsiteY11-494" fmla="*/ 1334814 h 1418896"/>
                  <a:gd name="connsiteX12-495" fmla="*/ 1124606 w 3710151"/>
                  <a:gd name="connsiteY12-496" fmla="*/ 903890 h 1418896"/>
                  <a:gd name="connsiteX13-497" fmla="*/ 1124605 w 3710151"/>
                  <a:gd name="connsiteY13-498" fmla="*/ 451945 h 1418896"/>
                  <a:gd name="connsiteX14-499" fmla="*/ 168164 w 3710151"/>
                  <a:gd name="connsiteY14-500" fmla="*/ 84081 h 1418896"/>
                  <a:gd name="connsiteX15-501" fmla="*/ 147144 w 3710151"/>
                  <a:gd name="connsiteY15-502" fmla="*/ 73572 h 1418896"/>
                  <a:gd name="connsiteX0-503" fmla="*/ 147144 w 3710151"/>
                  <a:gd name="connsiteY0-504" fmla="*/ 73572 h 1418896"/>
                  <a:gd name="connsiteX1-505" fmla="*/ 430924 w 3710151"/>
                  <a:gd name="connsiteY1-506" fmla="*/ 0 h 1418896"/>
                  <a:gd name="connsiteX2-507" fmla="*/ 1838028 w 3710151"/>
                  <a:gd name="connsiteY2-508" fmla="*/ 591655 h 1418896"/>
                  <a:gd name="connsiteX3-509" fmla="*/ 3342289 w 3710151"/>
                  <a:gd name="connsiteY3-510" fmla="*/ 0 h 1418896"/>
                  <a:gd name="connsiteX4-511" fmla="*/ 3563006 w 3710151"/>
                  <a:gd name="connsiteY4-512" fmla="*/ 73572 h 1418896"/>
                  <a:gd name="connsiteX5-513" fmla="*/ 2617717 w 3710151"/>
                  <a:gd name="connsiteY5-514" fmla="*/ 448868 h 1418896"/>
                  <a:gd name="connsiteX6-515" fmla="*/ 2610282 w 3710151"/>
                  <a:gd name="connsiteY6-516" fmla="*/ 902607 h 1418896"/>
                  <a:gd name="connsiteX7-517" fmla="*/ 3710151 w 3710151"/>
                  <a:gd name="connsiteY7-518" fmla="*/ 1345324 h 1418896"/>
                  <a:gd name="connsiteX8-519" fmla="*/ 3426372 w 3710151"/>
                  <a:gd name="connsiteY8-520" fmla="*/ 1408386 h 1418896"/>
                  <a:gd name="connsiteX9-521" fmla="*/ 1849820 w 3710151"/>
                  <a:gd name="connsiteY9-522" fmla="*/ 746234 h 1418896"/>
                  <a:gd name="connsiteX10-523" fmla="*/ 241737 w 3710151"/>
                  <a:gd name="connsiteY10-524" fmla="*/ 1418896 h 1418896"/>
                  <a:gd name="connsiteX11-525" fmla="*/ 0 w 3710151"/>
                  <a:gd name="connsiteY11-526" fmla="*/ 1334814 h 1418896"/>
                  <a:gd name="connsiteX12-527" fmla="*/ 1124606 w 3710151"/>
                  <a:gd name="connsiteY12-528" fmla="*/ 903890 h 1418896"/>
                  <a:gd name="connsiteX13-529" fmla="*/ 1087434 w 3710151"/>
                  <a:gd name="connsiteY13-530" fmla="*/ 451945 h 1418896"/>
                  <a:gd name="connsiteX14-531" fmla="*/ 168164 w 3710151"/>
                  <a:gd name="connsiteY14-532" fmla="*/ 84081 h 1418896"/>
                  <a:gd name="connsiteX15-533" fmla="*/ 147144 w 3710151"/>
                  <a:gd name="connsiteY15-534" fmla="*/ 73572 h 1418896"/>
                  <a:gd name="connsiteX0-535" fmla="*/ 147144 w 3710151"/>
                  <a:gd name="connsiteY0-536" fmla="*/ 73572 h 1418896"/>
                  <a:gd name="connsiteX1-537" fmla="*/ 430924 w 3710151"/>
                  <a:gd name="connsiteY1-538" fmla="*/ 0 h 1418896"/>
                  <a:gd name="connsiteX2-539" fmla="*/ 1838028 w 3710151"/>
                  <a:gd name="connsiteY2-540" fmla="*/ 591655 h 1418896"/>
                  <a:gd name="connsiteX3-541" fmla="*/ 3342289 w 3710151"/>
                  <a:gd name="connsiteY3-542" fmla="*/ 0 h 1418896"/>
                  <a:gd name="connsiteX4-543" fmla="*/ 3563006 w 3710151"/>
                  <a:gd name="connsiteY4-544" fmla="*/ 73572 h 1418896"/>
                  <a:gd name="connsiteX5-545" fmla="*/ 2617717 w 3710151"/>
                  <a:gd name="connsiteY5-546" fmla="*/ 448868 h 1418896"/>
                  <a:gd name="connsiteX6-547" fmla="*/ 2610282 w 3710151"/>
                  <a:gd name="connsiteY6-548" fmla="*/ 902607 h 1418896"/>
                  <a:gd name="connsiteX7-549" fmla="*/ 3710151 w 3710151"/>
                  <a:gd name="connsiteY7-550" fmla="*/ 1345324 h 1418896"/>
                  <a:gd name="connsiteX8-551" fmla="*/ 3426372 w 3710151"/>
                  <a:gd name="connsiteY8-552" fmla="*/ 1408386 h 1418896"/>
                  <a:gd name="connsiteX9-553" fmla="*/ 1849820 w 3710151"/>
                  <a:gd name="connsiteY9-554" fmla="*/ 746234 h 1418896"/>
                  <a:gd name="connsiteX10-555" fmla="*/ 241737 w 3710151"/>
                  <a:gd name="connsiteY10-556" fmla="*/ 1418896 h 1418896"/>
                  <a:gd name="connsiteX11-557" fmla="*/ 0 w 3710151"/>
                  <a:gd name="connsiteY11-558" fmla="*/ 1334814 h 1418896"/>
                  <a:gd name="connsiteX12-559" fmla="*/ 1098586 w 3710151"/>
                  <a:gd name="connsiteY12-560" fmla="*/ 903890 h 1418896"/>
                  <a:gd name="connsiteX13-561" fmla="*/ 1087434 w 3710151"/>
                  <a:gd name="connsiteY13-562" fmla="*/ 451945 h 1418896"/>
                  <a:gd name="connsiteX14-563" fmla="*/ 168164 w 3710151"/>
                  <a:gd name="connsiteY14-564" fmla="*/ 84081 h 1418896"/>
                  <a:gd name="connsiteX15-565" fmla="*/ 147144 w 3710151"/>
                  <a:gd name="connsiteY15-566" fmla="*/ 73572 h 1418896"/>
                  <a:gd name="connsiteX0-567" fmla="*/ 162012 w 3725019"/>
                  <a:gd name="connsiteY0-568" fmla="*/ 73572 h 1418896"/>
                  <a:gd name="connsiteX1-569" fmla="*/ 445792 w 3725019"/>
                  <a:gd name="connsiteY1-570" fmla="*/ 0 h 1418896"/>
                  <a:gd name="connsiteX2-571" fmla="*/ 1852896 w 3725019"/>
                  <a:gd name="connsiteY2-572" fmla="*/ 591655 h 1418896"/>
                  <a:gd name="connsiteX3-573" fmla="*/ 3357157 w 3725019"/>
                  <a:gd name="connsiteY3-574" fmla="*/ 0 h 1418896"/>
                  <a:gd name="connsiteX4-575" fmla="*/ 3577874 w 3725019"/>
                  <a:gd name="connsiteY4-576" fmla="*/ 73572 h 1418896"/>
                  <a:gd name="connsiteX5-577" fmla="*/ 2632585 w 3725019"/>
                  <a:gd name="connsiteY5-578" fmla="*/ 448868 h 1418896"/>
                  <a:gd name="connsiteX6-579" fmla="*/ 2625150 w 3725019"/>
                  <a:gd name="connsiteY6-580" fmla="*/ 902607 h 1418896"/>
                  <a:gd name="connsiteX7-581" fmla="*/ 3725019 w 3725019"/>
                  <a:gd name="connsiteY7-582" fmla="*/ 1345324 h 1418896"/>
                  <a:gd name="connsiteX8-583" fmla="*/ 3441240 w 3725019"/>
                  <a:gd name="connsiteY8-584" fmla="*/ 1408386 h 1418896"/>
                  <a:gd name="connsiteX9-585" fmla="*/ 1864688 w 3725019"/>
                  <a:gd name="connsiteY9-586" fmla="*/ 746234 h 1418896"/>
                  <a:gd name="connsiteX10-587" fmla="*/ 256605 w 3725019"/>
                  <a:gd name="connsiteY10-588" fmla="*/ 1418896 h 1418896"/>
                  <a:gd name="connsiteX11-589" fmla="*/ 0 w 3725019"/>
                  <a:gd name="connsiteY11-590" fmla="*/ 1331097 h 1418896"/>
                  <a:gd name="connsiteX12-591" fmla="*/ 1113454 w 3725019"/>
                  <a:gd name="connsiteY12-592" fmla="*/ 903890 h 1418896"/>
                  <a:gd name="connsiteX13-593" fmla="*/ 1102302 w 3725019"/>
                  <a:gd name="connsiteY13-594" fmla="*/ 451945 h 1418896"/>
                  <a:gd name="connsiteX14-595" fmla="*/ 183032 w 3725019"/>
                  <a:gd name="connsiteY14-596" fmla="*/ 84081 h 1418896"/>
                  <a:gd name="connsiteX15-597" fmla="*/ 162012 w 3725019"/>
                  <a:gd name="connsiteY15-598" fmla="*/ 73572 h 14188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785" name="Group 784"/>
          <p:cNvGrpSpPr/>
          <p:nvPr/>
        </p:nvGrpSpPr>
        <p:grpSpPr>
          <a:xfrm>
            <a:off x="7439074" y="2356613"/>
            <a:ext cx="534987" cy="407988"/>
            <a:chOff x="7432700" y="2327293"/>
            <a:chExt cx="534987" cy="407988"/>
          </a:xfrm>
        </p:grpSpPr>
        <p:pic>
          <p:nvPicPr>
            <p:cNvPr id="73" name="Picture 1017" descr="antenna_stylize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76" name="Picture 1020" descr="screen"/>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78" name="Freeform 1022"/>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79" name="Freeform 1023"/>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0" name="Freeform 1024"/>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1" name="Freeform 1025"/>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2" name="Freeform 1026"/>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83" name="Group 1027"/>
            <p:cNvGrpSpPr/>
            <p:nvPr/>
          </p:nvGrpSpPr>
          <p:grpSpPr bwMode="auto">
            <a:xfrm>
              <a:off x="7594735" y="2642220"/>
              <a:ext cx="98740" cy="36846"/>
              <a:chOff x="1740" y="2642"/>
              <a:chExt cx="752" cy="327"/>
            </a:xfrm>
          </p:grpSpPr>
          <p:sp>
            <p:nvSpPr>
              <p:cNvPr id="169" name="Freeform 1028"/>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0" name="Freeform 1029"/>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1" name="Freeform 1030"/>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2" name="Freeform 1031"/>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3" name="Freeform 1032"/>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4" name="Freeform 1033"/>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84" name="Freeform 1034"/>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5" name="Freeform 1035"/>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6" name="Freeform 1036"/>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7" name="Freeform 1037"/>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8" name="Freeform 1038"/>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9" name="Freeform 1039"/>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grpSp>
        <p:nvGrpSpPr>
          <p:cNvPr id="740" name="Group 739"/>
          <p:cNvGrpSpPr/>
          <p:nvPr/>
        </p:nvGrpSpPr>
        <p:grpSpPr>
          <a:xfrm>
            <a:off x="8637781" y="2319727"/>
            <a:ext cx="530702" cy="478009"/>
            <a:chOff x="8631407" y="2290407"/>
            <a:chExt cx="530702" cy="478009"/>
          </a:xfrm>
        </p:grpSpPr>
        <p:pic>
          <p:nvPicPr>
            <p:cNvPr id="110" name="Picture 568" descr="light2.png"/>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p:cNvGrpSpPr/>
          <p:nvPr/>
        </p:nvGrpSpPr>
        <p:grpSpPr>
          <a:xfrm>
            <a:off x="7493518" y="3419140"/>
            <a:ext cx="350807" cy="305517"/>
            <a:chOff x="7487144" y="3389820"/>
            <a:chExt cx="350807" cy="305517"/>
          </a:xfrm>
        </p:grpSpPr>
        <p:pic>
          <p:nvPicPr>
            <p:cNvPr id="91" name="Picture 1115" descr="antenna_stylized"/>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94" name="Picture 1118" descr="screen"/>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6" name="Freeform 1120"/>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7" name="Freeform 1121"/>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8" name="Freeform 1122"/>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99" name="Freeform 1123"/>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0" name="Freeform 1124"/>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01" name="Group 1125"/>
            <p:cNvGrpSpPr/>
            <p:nvPr/>
          </p:nvGrpSpPr>
          <p:grpSpPr bwMode="auto">
            <a:xfrm>
              <a:off x="7593395" y="3625649"/>
              <a:ext cx="64747" cy="27592"/>
              <a:chOff x="1740" y="2642"/>
              <a:chExt cx="752" cy="327"/>
            </a:xfrm>
          </p:grpSpPr>
          <p:sp>
            <p:nvSpPr>
              <p:cNvPr id="140" name="Freeform 112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1" name="Freeform 112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2" name="Freeform 112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3" name="Freeform 112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4" name="Freeform 113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45" name="Freeform 113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102" name="Freeform 1132"/>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3" name="Freeform 1133"/>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4" name="Freeform 1134"/>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5" name="Freeform 1135"/>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6" name="Freeform 1136"/>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07" name="Freeform 1137"/>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grpSp>
        <p:nvGrpSpPr>
          <p:cNvPr id="694" name="Group 693"/>
          <p:cNvGrpSpPr/>
          <p:nvPr/>
        </p:nvGrpSpPr>
        <p:grpSpPr>
          <a:xfrm>
            <a:off x="7803435" y="3325424"/>
            <a:ext cx="347997" cy="396620"/>
            <a:chOff x="7797061" y="3296104"/>
            <a:chExt cx="347997" cy="396620"/>
          </a:xfrm>
        </p:grpSpPr>
        <p:pic>
          <p:nvPicPr>
            <p:cNvPr id="113" name="Picture 571" descr="fridge2.png"/>
            <p:cNvPicPr>
              <a:picLocks noChangeAspect="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p:cNvGrpSpPr/>
          <p:nvPr/>
        </p:nvGrpSpPr>
        <p:grpSpPr>
          <a:xfrm>
            <a:off x="11064947" y="3428485"/>
            <a:ext cx="518448" cy="1212242"/>
            <a:chOff x="11058573" y="3399165"/>
            <a:chExt cx="518448" cy="1212242"/>
          </a:xfrm>
        </p:grpSpPr>
        <p:grpSp>
          <p:nvGrpSpPr>
            <p:cNvPr id="375" name="Group 374"/>
            <p:cNvGrpSpPr/>
            <p:nvPr/>
          </p:nvGrpSpPr>
          <p:grpSpPr>
            <a:xfrm>
              <a:off x="11087182" y="4159591"/>
              <a:ext cx="489839" cy="451816"/>
              <a:chOff x="5103720" y="2693365"/>
              <a:chExt cx="611650" cy="414788"/>
            </a:xfrm>
          </p:grpSpPr>
          <p:cxnSp>
            <p:nvCxnSpPr>
              <p:cNvPr id="376" name="Straight Connector 375"/>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p:cNvGrpSpPr/>
              <p:nvPr/>
            </p:nvGrpSpPr>
            <p:grpSpPr>
              <a:xfrm>
                <a:off x="5275406" y="2693365"/>
                <a:ext cx="439964" cy="414788"/>
                <a:chOff x="5275406" y="2711455"/>
                <a:chExt cx="452949" cy="405518"/>
              </a:xfrm>
            </p:grpSpPr>
            <p:pic>
              <p:nvPicPr>
                <p:cNvPr id="379" name="Picture 378" descr="server_rack.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p:cNvGrpSpPr/>
            <p:nvPr/>
          </p:nvGrpSpPr>
          <p:grpSpPr>
            <a:xfrm>
              <a:off x="11058573" y="3399165"/>
              <a:ext cx="423724" cy="405973"/>
              <a:chOff x="5103720" y="2693365"/>
              <a:chExt cx="611650" cy="414788"/>
            </a:xfrm>
          </p:grpSpPr>
          <p:cxnSp>
            <p:nvCxnSpPr>
              <p:cNvPr id="393" name="Straight Connector 392"/>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p:cNvGrpSpPr/>
              <p:nvPr/>
            </p:nvGrpSpPr>
            <p:grpSpPr>
              <a:xfrm>
                <a:off x="5275406" y="2693365"/>
                <a:ext cx="439964" cy="414788"/>
                <a:chOff x="5275406" y="2711455"/>
                <a:chExt cx="452949" cy="405518"/>
              </a:xfrm>
            </p:grpSpPr>
            <p:pic>
              <p:nvPicPr>
                <p:cNvPr id="396" name="Picture 395" descr="server_rack.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p:cNvGrpSpPr/>
          <p:nvPr/>
        </p:nvGrpSpPr>
        <p:grpSpPr bwMode="auto">
          <a:xfrm>
            <a:off x="10288915" y="5273951"/>
            <a:ext cx="177192" cy="330833"/>
            <a:chOff x="4140" y="429"/>
            <a:chExt cx="1425" cy="2396"/>
          </a:xfrm>
        </p:grpSpPr>
        <p:sp>
          <p:nvSpPr>
            <p:cNvPr id="207"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0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9"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0"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2" name="Group 956"/>
            <p:cNvGrpSpPr/>
            <p:nvPr/>
          </p:nvGrpSpPr>
          <p:grpSpPr bwMode="auto">
            <a:xfrm>
              <a:off x="4749" y="668"/>
              <a:ext cx="581" cy="145"/>
              <a:chOff x="614" y="2568"/>
              <a:chExt cx="725" cy="139"/>
            </a:xfrm>
          </p:grpSpPr>
          <p:sp>
            <p:nvSpPr>
              <p:cNvPr id="23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4" name="Group 960"/>
            <p:cNvGrpSpPr/>
            <p:nvPr/>
          </p:nvGrpSpPr>
          <p:grpSpPr bwMode="auto">
            <a:xfrm>
              <a:off x="4747" y="994"/>
              <a:ext cx="581" cy="134"/>
              <a:chOff x="614" y="2568"/>
              <a:chExt cx="725" cy="139"/>
            </a:xfrm>
          </p:grpSpPr>
          <p:sp>
            <p:nvSpPr>
              <p:cNvPr id="23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1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217" name="Group 965"/>
            <p:cNvGrpSpPr/>
            <p:nvPr/>
          </p:nvGrpSpPr>
          <p:grpSpPr bwMode="auto">
            <a:xfrm>
              <a:off x="4735" y="1627"/>
              <a:ext cx="582" cy="151"/>
              <a:chOff x="614" y="2568"/>
              <a:chExt cx="725" cy="139"/>
            </a:xfrm>
          </p:grpSpPr>
          <p:sp>
            <p:nvSpPr>
              <p:cNvPr id="23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18"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9" name="Group 969"/>
            <p:cNvGrpSpPr/>
            <p:nvPr/>
          </p:nvGrpSpPr>
          <p:grpSpPr bwMode="auto">
            <a:xfrm>
              <a:off x="4739" y="1327"/>
              <a:ext cx="582" cy="139"/>
              <a:chOff x="614" y="2568"/>
              <a:chExt cx="725" cy="139"/>
            </a:xfrm>
          </p:grpSpPr>
          <p:sp>
            <p:nvSpPr>
              <p:cNvPr id="23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22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1"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22"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2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4"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2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2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22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3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grpSp>
        <p:nvGrpSpPr>
          <p:cNvPr id="44" name="Group 590"/>
          <p:cNvGrpSpPr/>
          <p:nvPr/>
        </p:nvGrpSpPr>
        <p:grpSpPr bwMode="auto">
          <a:xfrm flipH="1">
            <a:off x="7980855" y="4900161"/>
            <a:ext cx="345630" cy="320302"/>
            <a:chOff x="2839" y="3501"/>
            <a:chExt cx="755" cy="803"/>
          </a:xfrm>
        </p:grpSpPr>
        <p:pic>
          <p:nvPicPr>
            <p:cNvPr id="367" name="Picture 591" descr="desktop_computer_stylized_medium"/>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490" name="Group 590"/>
          <p:cNvGrpSpPr/>
          <p:nvPr/>
        </p:nvGrpSpPr>
        <p:grpSpPr bwMode="auto">
          <a:xfrm flipH="1">
            <a:off x="8153909" y="5504657"/>
            <a:ext cx="345630" cy="320302"/>
            <a:chOff x="2839" y="3501"/>
            <a:chExt cx="755" cy="803"/>
          </a:xfrm>
        </p:grpSpPr>
        <p:pic>
          <p:nvPicPr>
            <p:cNvPr id="491" name="Picture 591" descr="desktop_computer_stylized_medium"/>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493" name="Group 590"/>
          <p:cNvGrpSpPr/>
          <p:nvPr/>
        </p:nvGrpSpPr>
        <p:grpSpPr bwMode="auto">
          <a:xfrm flipH="1">
            <a:off x="8552134" y="5526130"/>
            <a:ext cx="345630" cy="320302"/>
            <a:chOff x="2839" y="3501"/>
            <a:chExt cx="755" cy="803"/>
          </a:xfrm>
        </p:grpSpPr>
        <p:pic>
          <p:nvPicPr>
            <p:cNvPr id="494" name="Picture 591" descr="desktop_computer_stylized_medium"/>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496" name="Group 1064"/>
          <p:cNvGrpSpPr/>
          <p:nvPr/>
        </p:nvGrpSpPr>
        <p:grpSpPr bwMode="auto">
          <a:xfrm>
            <a:off x="9534746" y="5795138"/>
            <a:ext cx="319264" cy="253379"/>
            <a:chOff x="877" y="1008"/>
            <a:chExt cx="2747" cy="2591"/>
          </a:xfrm>
        </p:grpSpPr>
        <p:pic>
          <p:nvPicPr>
            <p:cNvPr id="497" name="Picture 1065" descr="antenna_stylized"/>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500" name="Picture 1068" descr="screen"/>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2" name="Freeform 1070"/>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3" name="Freeform 1071"/>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4" name="Freeform 1072"/>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5" name="Freeform 1073"/>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6" name="Freeform 1074"/>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507" name="Group 1075"/>
            <p:cNvGrpSpPr/>
            <p:nvPr/>
          </p:nvGrpSpPr>
          <p:grpSpPr bwMode="auto">
            <a:xfrm>
              <a:off x="1709" y="3008"/>
              <a:ext cx="507" cy="234"/>
              <a:chOff x="1740" y="2642"/>
              <a:chExt cx="752" cy="327"/>
            </a:xfrm>
          </p:grpSpPr>
          <p:sp>
            <p:nvSpPr>
              <p:cNvPr id="514" name="Freeform 107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5" name="Freeform 107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6" name="Freeform 107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7" name="Freeform 107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8" name="Freeform 108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9" name="Freeform 108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508" name="Freeform 1082"/>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09" name="Freeform 1083"/>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0" name="Freeform 1084"/>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1" name="Freeform 1085"/>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2" name="Freeform 1086"/>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3" name="Freeform 1087"/>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175" name="Freeform 984"/>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7" name="Freeform 986"/>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8" name="Freeform 987"/>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79" name="Rectangle 988"/>
          <p:cNvSpPr>
            <a:spLocks noChangeArrowheads="1"/>
          </p:cNvSpPr>
          <p:nvPr/>
        </p:nvSpPr>
        <p:spPr bwMode="auto">
          <a:xfrm>
            <a:off x="10026299" y="5674399"/>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0" name="Group 989"/>
          <p:cNvGrpSpPr/>
          <p:nvPr/>
        </p:nvGrpSpPr>
        <p:grpSpPr bwMode="auto">
          <a:xfrm>
            <a:off x="10091149" y="5671195"/>
            <a:ext cx="69903" cy="21117"/>
            <a:chOff x="614" y="2568"/>
            <a:chExt cx="725" cy="139"/>
          </a:xfrm>
        </p:grpSpPr>
        <p:sp>
          <p:nvSpPr>
            <p:cNvPr id="205" name="AutoShape 990"/>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6" name="AutoShape 991"/>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1" name="Rectangle 992"/>
          <p:cNvSpPr>
            <a:spLocks noChangeArrowheads="1"/>
          </p:cNvSpPr>
          <p:nvPr/>
        </p:nvSpPr>
        <p:spPr bwMode="auto">
          <a:xfrm>
            <a:off x="10027502" y="5722750"/>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2" name="Group 993"/>
          <p:cNvGrpSpPr/>
          <p:nvPr/>
        </p:nvGrpSpPr>
        <p:grpSpPr bwMode="auto">
          <a:xfrm>
            <a:off x="10090909" y="5718672"/>
            <a:ext cx="69903" cy="19515"/>
            <a:chOff x="614" y="2568"/>
            <a:chExt cx="725" cy="139"/>
          </a:xfrm>
        </p:grpSpPr>
        <p:sp>
          <p:nvSpPr>
            <p:cNvPr id="203" name="AutoShape 994"/>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4" name="AutoShape 995"/>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3" name="Rectangle 996"/>
          <p:cNvSpPr>
            <a:spLocks noChangeArrowheads="1"/>
          </p:cNvSpPr>
          <p:nvPr/>
        </p:nvSpPr>
        <p:spPr bwMode="auto">
          <a:xfrm>
            <a:off x="10027502" y="5771101"/>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4" name="Rectangle 997"/>
          <p:cNvSpPr>
            <a:spLocks noChangeArrowheads="1"/>
          </p:cNvSpPr>
          <p:nvPr/>
        </p:nvSpPr>
        <p:spPr bwMode="auto">
          <a:xfrm>
            <a:off x="10028705" y="5814938"/>
            <a:ext cx="71949" cy="6845"/>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185" name="Group 998"/>
          <p:cNvGrpSpPr/>
          <p:nvPr/>
        </p:nvGrpSpPr>
        <p:grpSpPr bwMode="auto">
          <a:xfrm>
            <a:off x="10089465" y="5810860"/>
            <a:ext cx="70024" cy="21991"/>
            <a:chOff x="614" y="2568"/>
            <a:chExt cx="725" cy="139"/>
          </a:xfrm>
        </p:grpSpPr>
        <p:sp>
          <p:nvSpPr>
            <p:cNvPr id="201" name="AutoShape 999"/>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2" name="AutoShape 1000"/>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6" name="Freeform 1001"/>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87" name="Group 1002"/>
          <p:cNvGrpSpPr/>
          <p:nvPr/>
        </p:nvGrpSpPr>
        <p:grpSpPr bwMode="auto">
          <a:xfrm>
            <a:off x="10089946" y="5767169"/>
            <a:ext cx="70024" cy="20243"/>
            <a:chOff x="614" y="2568"/>
            <a:chExt cx="725" cy="139"/>
          </a:xfrm>
        </p:grpSpPr>
        <p:sp>
          <p:nvSpPr>
            <p:cNvPr id="199" name="AutoShape 1003"/>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200" name="AutoShape 1004"/>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188" name="Rectangle 1005"/>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89" name="Freeform 1006"/>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0" name="Freeform 1007"/>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1" name="Oval 1008"/>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2" name="Freeform 1009"/>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93" name="AutoShape 1010"/>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4" name="AutoShape 1011"/>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5" name="Oval 1012"/>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6" name="Oval 1013"/>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197" name="Oval 1014"/>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198" name="Rectangle 1015"/>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Peer-to-peer </a:t>
            </a:r>
            <a:r>
              <a:rPr lang="en-US" altLang="en-US" sz="3600" dirty="0">
                <a:ea typeface="MS PGothic" panose="020B0600070205080204" pitchFamily="34" charset="-128"/>
              </a:rPr>
              <a:t>(P2P) </a:t>
            </a:r>
            <a:r>
              <a:rPr lang="en-US" altLang="en-US" dirty="0">
                <a:ea typeface="MS PGothic" panose="020B0600070205080204" pitchFamily="34" charset="-128"/>
              </a:rPr>
              <a:t>a</a:t>
            </a:r>
            <a:r>
              <a:rPr lang="en-US" altLang="en-US" sz="4400" dirty="0">
                <a:ea typeface="MS PGothic" panose="020B0600070205080204" pitchFamily="34" charset="-128"/>
              </a:rPr>
              <a:t>rchitecture</a:t>
            </a:r>
            <a:endParaRPr lang="en-US" sz="4400" dirty="0"/>
          </a:p>
        </p:txBody>
      </p:sp>
      <p:sp>
        <p:nvSpPr>
          <p:cNvPr id="656" name="Content Placeholder 3"/>
          <p:cNvSpPr txBox="1"/>
          <p:nvPr/>
        </p:nvSpPr>
        <p:spPr>
          <a:xfrm>
            <a:off x="664326" y="1290326"/>
            <a:ext cx="606784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400"/>
              </a:spcBef>
            </a:pPr>
            <a:r>
              <a:rPr lang="en-US" altLang="en-US" i="1" dirty="0">
                <a:ea typeface="MS PGothic" panose="020B0600070205080204" pitchFamily="34" charset="-128"/>
              </a:rPr>
              <a:t>no</a:t>
            </a:r>
            <a:r>
              <a:rPr lang="en-US" altLang="en-US" dirty="0">
                <a:ea typeface="MS PGothic" panose="020B0600070205080204" pitchFamily="34" charset="-128"/>
              </a:rPr>
              <a:t> always-on server</a:t>
            </a:r>
            <a:endParaRPr lang="en-US" altLang="en-US" dirty="0">
              <a:ea typeface="MS PGothic" panose="020B0600070205080204" pitchFamily="34" charset="-128"/>
            </a:endParaRPr>
          </a:p>
          <a:p>
            <a:pPr>
              <a:spcBef>
                <a:spcPts val="400"/>
              </a:spcBef>
            </a:pPr>
            <a:r>
              <a:rPr lang="en-US" altLang="en-US" dirty="0">
                <a:ea typeface="MS PGothic" panose="020B0600070205080204" pitchFamily="34" charset="-128"/>
              </a:rPr>
              <a:t>arbitrary end systems directly communicate</a:t>
            </a:r>
            <a:endParaRPr lang="en-US" altLang="en-US" dirty="0">
              <a:ea typeface="MS PGothic" panose="020B0600070205080204" pitchFamily="34" charset="-128"/>
            </a:endParaRPr>
          </a:p>
          <a:p>
            <a:pPr>
              <a:spcBef>
                <a:spcPts val="400"/>
              </a:spcBef>
            </a:pPr>
            <a:r>
              <a:rPr lang="en-US" altLang="en-US" dirty="0">
                <a:ea typeface="MS PGothic" panose="020B0600070205080204" pitchFamily="34" charset="-128"/>
              </a:rPr>
              <a:t>peers request service from other peers, provide service in return to other peers</a:t>
            </a:r>
            <a:endParaRPr lang="en-US" altLang="en-US" dirty="0">
              <a:ea typeface="MS PGothic" panose="020B0600070205080204" pitchFamily="34" charset="-128"/>
            </a:endParaRPr>
          </a:p>
          <a:p>
            <a:pPr marL="582930" lvl="1" indent="-225425"/>
            <a:r>
              <a:rPr lang="en-US" altLang="en-US" i="1" dirty="0">
                <a:solidFill>
                  <a:srgbClr val="CC0000"/>
                </a:solidFill>
                <a:ea typeface="MS PGothic" panose="020B0600070205080204" pitchFamily="34" charset="-128"/>
              </a:rPr>
              <a:t>self scalability</a:t>
            </a:r>
            <a:r>
              <a:rPr lang="en-US" altLang="en-US" dirty="0">
                <a:solidFill>
                  <a:srgbClr val="CC0000"/>
                </a:solidFill>
                <a:ea typeface="MS PGothic" panose="020B0600070205080204" pitchFamily="34" charset="-128"/>
              </a:rPr>
              <a:t> – new peers bring new service capacity, and new service demands</a:t>
            </a:r>
            <a:endParaRPr lang="en-US" altLang="en-US" dirty="0">
              <a:solidFill>
                <a:srgbClr val="CC0000"/>
              </a:solidFill>
              <a:ea typeface="MS PGothic" panose="020B0600070205080204" pitchFamily="34" charset="-128"/>
            </a:endParaRPr>
          </a:p>
          <a:p>
            <a:pPr>
              <a:spcBef>
                <a:spcPts val="400"/>
              </a:spcBef>
            </a:pPr>
            <a:r>
              <a:rPr lang="en-US" altLang="en-US" dirty="0">
                <a:ea typeface="MS PGothic" panose="020B0600070205080204" pitchFamily="34" charset="-128"/>
              </a:rPr>
              <a:t>peers are intermittently connected and change IP addresses</a:t>
            </a:r>
            <a:endParaRPr lang="en-US" altLang="en-US" dirty="0">
              <a:ea typeface="MS PGothic" panose="020B0600070205080204" pitchFamily="34" charset="-128"/>
            </a:endParaRPr>
          </a:p>
          <a:p>
            <a:pPr lvl="1">
              <a:spcBef>
                <a:spcPts val="400"/>
              </a:spcBef>
            </a:pPr>
            <a:r>
              <a:rPr lang="en-US" altLang="en-US" dirty="0">
                <a:ea typeface="MS PGothic" panose="020B0600070205080204" pitchFamily="34" charset="-128"/>
              </a:rPr>
              <a:t>complex management</a:t>
            </a:r>
            <a:endParaRPr lang="en-US" altLang="en-US" dirty="0">
              <a:ea typeface="MS PGothic" panose="020B0600070205080204" pitchFamily="34" charset="-128"/>
            </a:endParaRPr>
          </a:p>
          <a:p>
            <a:pPr>
              <a:spcBef>
                <a:spcPts val="400"/>
              </a:spcBef>
            </a:pPr>
            <a:r>
              <a:rPr lang="en-US" dirty="0"/>
              <a:t>examples: </a:t>
            </a:r>
            <a:r>
              <a:rPr lang="en-US" sz="2400" dirty="0"/>
              <a:t>P2P file sharing (BitTorrent), streaming (</a:t>
            </a:r>
            <a:r>
              <a:rPr lang="en-US" sz="2400" dirty="0" err="1"/>
              <a:t>KanKan</a:t>
            </a:r>
            <a:r>
              <a:rPr lang="en-US" sz="2400" dirty="0"/>
              <a:t>), VoIP (Skype)</a:t>
            </a:r>
            <a:endParaRPr lang="en-US" dirty="0"/>
          </a:p>
        </p:txBody>
      </p:sp>
      <p:grpSp>
        <p:nvGrpSpPr>
          <p:cNvPr id="661" name="Group 950"/>
          <p:cNvGrpSpPr/>
          <p:nvPr/>
        </p:nvGrpSpPr>
        <p:grpSpPr bwMode="auto">
          <a:xfrm>
            <a:off x="10002508" y="5616400"/>
            <a:ext cx="214974" cy="403920"/>
            <a:chOff x="4140" y="429"/>
            <a:chExt cx="1425" cy="2396"/>
          </a:xfrm>
        </p:grpSpPr>
        <p:sp>
          <p:nvSpPr>
            <p:cNvPr id="662"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3"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64"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5"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6"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67" name="Group 956"/>
            <p:cNvGrpSpPr/>
            <p:nvPr/>
          </p:nvGrpSpPr>
          <p:grpSpPr bwMode="auto">
            <a:xfrm>
              <a:off x="4749" y="668"/>
              <a:ext cx="581" cy="145"/>
              <a:chOff x="614" y="2568"/>
              <a:chExt cx="725" cy="139"/>
            </a:xfrm>
          </p:grpSpPr>
          <p:sp>
            <p:nvSpPr>
              <p:cNvPr id="692"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93"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68"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69" name="Group 960"/>
            <p:cNvGrpSpPr/>
            <p:nvPr/>
          </p:nvGrpSpPr>
          <p:grpSpPr bwMode="auto">
            <a:xfrm>
              <a:off x="4747" y="994"/>
              <a:ext cx="581" cy="134"/>
              <a:chOff x="614" y="2568"/>
              <a:chExt cx="725" cy="139"/>
            </a:xfrm>
          </p:grpSpPr>
          <p:sp>
            <p:nvSpPr>
              <p:cNvPr id="690"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91"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0"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1"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nvGrpSpPr>
            <p:cNvPr id="672" name="Group 965"/>
            <p:cNvGrpSpPr/>
            <p:nvPr/>
          </p:nvGrpSpPr>
          <p:grpSpPr bwMode="auto">
            <a:xfrm>
              <a:off x="4735" y="1627"/>
              <a:ext cx="582" cy="151"/>
              <a:chOff x="614" y="2568"/>
              <a:chExt cx="725" cy="139"/>
            </a:xfrm>
          </p:grpSpPr>
          <p:sp>
            <p:nvSpPr>
              <p:cNvPr id="688"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9"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3"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674" name="Group 969"/>
            <p:cNvGrpSpPr/>
            <p:nvPr/>
          </p:nvGrpSpPr>
          <p:grpSpPr bwMode="auto">
            <a:xfrm>
              <a:off x="4739" y="1327"/>
              <a:ext cx="582" cy="139"/>
              <a:chOff x="614" y="2568"/>
              <a:chExt cx="725" cy="139"/>
            </a:xfrm>
          </p:grpSpPr>
          <p:sp>
            <p:nvSpPr>
              <p:cNvPr id="686"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7"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675"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6"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77"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78"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79"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80"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1"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2"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3"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a:solidFill>
                  <a:srgbClr val="FF0000"/>
                </a:solidFill>
                <a:latin typeface="Arial" panose="020B0604020202020204" pitchFamily="34" charset="0"/>
              </a:endParaRPr>
            </a:p>
          </p:txBody>
        </p:sp>
        <p:sp>
          <p:nvSpPr>
            <p:cNvPr id="684"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sp>
          <p:nvSpPr>
            <p:cNvPr id="685"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40"/>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a:latin typeface="Arial" panose="020B0604020202020204" pitchFamily="34" charset="0"/>
              </a:endParaRPr>
            </a:p>
          </p:txBody>
        </p:sp>
      </p:grpSp>
      <p:sp>
        <p:nvSpPr>
          <p:cNvPr id="575" name="Rectangle 574"/>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7680324" y="1814171"/>
            <a:ext cx="1991221" cy="4482411"/>
            <a:chOff x="7680324" y="1814171"/>
            <a:chExt cx="1991221" cy="4482411"/>
          </a:xfrm>
        </p:grpSpPr>
        <p:sp>
          <p:nvSpPr>
            <p:cNvPr id="612" name="Oval 611"/>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5" name="Oval 634"/>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1" name="Line 913"/>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52" name="Line 911"/>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71" name="Oval 570"/>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2" name="Oval 571"/>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6" name="Oval 575"/>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9" name="Line 913"/>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10" name="Line 913"/>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grpSp>
      <p:grpSp>
        <p:nvGrpSpPr>
          <p:cNvPr id="49" name="Group 652"/>
          <p:cNvGrpSpPr/>
          <p:nvPr/>
        </p:nvGrpSpPr>
        <p:grpSpPr bwMode="auto">
          <a:xfrm>
            <a:off x="7750224" y="1859725"/>
            <a:ext cx="415925" cy="385763"/>
            <a:chOff x="2751" y="1851"/>
            <a:chExt cx="462" cy="478"/>
          </a:xfrm>
        </p:grpSpPr>
        <p:pic>
          <p:nvPicPr>
            <p:cNvPr id="359" name="Picture 653" descr="iphone_stylized_small"/>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p:cNvGrpSpPr/>
          <p:nvPr/>
        </p:nvGrpSpPr>
        <p:grpSpPr>
          <a:xfrm>
            <a:off x="8499539" y="2059124"/>
            <a:ext cx="849312" cy="226109"/>
            <a:chOff x="8493165" y="2029804"/>
            <a:chExt cx="849312" cy="226109"/>
          </a:xfrm>
        </p:grpSpPr>
        <p:pic>
          <p:nvPicPr>
            <p:cNvPr id="48" name="Picture 603" descr="car_icon_small"/>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p:cNvGrpSpPr/>
          <p:nvPr/>
        </p:nvGrpSpPr>
        <p:grpSpPr bwMode="auto">
          <a:xfrm flipH="1">
            <a:off x="7991996" y="3567143"/>
            <a:ext cx="359261" cy="342045"/>
            <a:chOff x="2839" y="3501"/>
            <a:chExt cx="755" cy="803"/>
          </a:xfrm>
        </p:grpSpPr>
        <p:pic>
          <p:nvPicPr>
            <p:cNvPr id="138" name="Picture 1140" descr="desktop_computer_stylized_medium"/>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487" name="Group 590"/>
          <p:cNvGrpSpPr/>
          <p:nvPr/>
        </p:nvGrpSpPr>
        <p:grpSpPr bwMode="auto">
          <a:xfrm flipH="1">
            <a:off x="7773981" y="5281060"/>
            <a:ext cx="345630" cy="320302"/>
            <a:chOff x="2839" y="3501"/>
            <a:chExt cx="755" cy="803"/>
          </a:xfrm>
        </p:grpSpPr>
        <p:pic>
          <p:nvPicPr>
            <p:cNvPr id="488" name="Picture 591" descr="desktop_computer_stylized_medium"/>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90" name="Group 1064"/>
          <p:cNvGrpSpPr/>
          <p:nvPr/>
        </p:nvGrpSpPr>
        <p:grpSpPr bwMode="auto">
          <a:xfrm>
            <a:off x="9201681" y="5852809"/>
            <a:ext cx="310186" cy="307808"/>
            <a:chOff x="877" y="1008"/>
            <a:chExt cx="2747" cy="2591"/>
          </a:xfrm>
        </p:grpSpPr>
        <p:pic>
          <p:nvPicPr>
            <p:cNvPr id="146" name="Picture 1065" descr="antenna_stylized"/>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ln>
          </p:spPr>
          <p:txBody>
            <a:bodyPr/>
            <a:lstStyle/>
            <a:p>
              <a:endParaRPr lang="en-US"/>
            </a:p>
          </p:txBody>
        </p:sp>
        <p:pic>
          <p:nvPicPr>
            <p:cNvPr id="149" name="Picture 1068" descr="screen"/>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1" name="Freeform 1070"/>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2" name="Freeform 1071"/>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3" name="Freeform 1072"/>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4" name="Freeform 1073"/>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5" name="Freeform 1074"/>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156" name="Group 1075"/>
            <p:cNvGrpSpPr/>
            <p:nvPr/>
          </p:nvGrpSpPr>
          <p:grpSpPr bwMode="auto">
            <a:xfrm>
              <a:off x="1709" y="3008"/>
              <a:ext cx="507" cy="234"/>
              <a:chOff x="1740" y="2642"/>
              <a:chExt cx="752" cy="327"/>
            </a:xfrm>
          </p:grpSpPr>
          <p:sp>
            <p:nvSpPr>
              <p:cNvPr id="163" name="Freeform 1076"/>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4" name="Freeform 1077"/>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5" name="Freeform 1078"/>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6" name="Freeform 1079"/>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7" name="Freeform 1080"/>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8" name="Freeform 1081"/>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157" name="Freeform 1082"/>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8" name="Freeform 1083"/>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59" name="Freeform 1084"/>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0" name="Freeform 1085"/>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1" name="Freeform 1086"/>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162" name="Freeform 1087"/>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sp>
        <p:nvSpPr>
          <p:cNvPr id="611"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p:cNvSpPr>
            <a:spLocks noGrp="1"/>
          </p:cNvSpPr>
          <p:nvPr>
            <p:ph type="sldNum" sz="quarter" idx="4"/>
          </p:nvPr>
        </p:nvSpPr>
        <p:spPr/>
        <p:txBody>
          <a:bodyPr/>
          <a:lstStyle/>
          <a:p>
            <a:r>
              <a:rPr lang="en-US"/>
              <a:t>Introduction: 1-</a:t>
            </a:r>
            <a:fld id="{C4204591-24BD-A542-B9D5-F8D8A88D2FEE}" type="slidenum">
              <a:rPr lang="en-US" smtClean="0"/>
            </a:fld>
            <a:endParaRPr lang="en-US" dirty="0"/>
          </a:p>
        </p:txBody>
      </p:sp>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File distribution: client-server vs P2P</a:t>
            </a:r>
            <a:endParaRPr lang="en-US" sz="4400" dirty="0"/>
          </a:p>
        </p:txBody>
      </p:sp>
      <p:sp>
        <p:nvSpPr>
          <p:cNvPr id="613" name="Rectangle 3"/>
          <p:cNvSpPr txBox="1">
            <a:spLocks noChangeArrowheads="1"/>
          </p:cNvSpPr>
          <p:nvPr/>
        </p:nvSpPr>
        <p:spPr>
          <a:xfrm>
            <a:off x="863043" y="1302088"/>
            <a:ext cx="10515600" cy="1296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08330" indent="-542925">
              <a:buFont typeface="Wingdings" panose="05000000000000000000" pitchFamily="2" charset="2"/>
              <a:buNone/>
            </a:pPr>
            <a:r>
              <a:rPr lang="en-US" altLang="en-US" sz="3200" i="1" u="sng" dirty="0">
                <a:solidFill>
                  <a:srgbClr val="CC0000"/>
                </a:solidFill>
                <a:ea typeface="MS PGothic" panose="020B0600070205080204" pitchFamily="34" charset="-128"/>
              </a:rPr>
              <a:t>Q</a:t>
            </a:r>
            <a:r>
              <a:rPr lang="en-US" altLang="en-US" sz="3200" i="1" dirty="0">
                <a:solidFill>
                  <a:srgbClr val="CC0000"/>
                </a:solidFill>
                <a:ea typeface="MS PGothic" panose="020B0600070205080204" pitchFamily="34" charset="-128"/>
              </a:rPr>
              <a:t>:</a:t>
            </a:r>
            <a:r>
              <a:rPr lang="en-US" altLang="en-US" sz="3200" dirty="0">
                <a:ea typeface="MS PGothic" panose="020B0600070205080204" pitchFamily="34" charset="-128"/>
              </a:rPr>
              <a:t> how much time to distribute file (size </a:t>
            </a:r>
            <a:r>
              <a:rPr lang="en-US" altLang="en-US" sz="3200" i="1" dirty="0">
                <a:ea typeface="MS PGothic" panose="020B0600070205080204" pitchFamily="34" charset="-128"/>
              </a:rPr>
              <a:t>F</a:t>
            </a:r>
            <a:r>
              <a:rPr lang="en-US" altLang="en-US" sz="3200" dirty="0">
                <a:ea typeface="MS PGothic" panose="020B0600070205080204" pitchFamily="34" charset="-128"/>
              </a:rPr>
              <a:t>) from one server to  </a:t>
            </a:r>
            <a:r>
              <a:rPr lang="en-US" altLang="en-US" sz="3200" i="1" dirty="0">
                <a:ea typeface="MS PGothic" panose="020B0600070205080204" pitchFamily="34" charset="-128"/>
              </a:rPr>
              <a:t>N  peers</a:t>
            </a:r>
            <a:r>
              <a:rPr lang="en-US" altLang="en-US" sz="3200" dirty="0">
                <a:ea typeface="MS PGothic" panose="020B0600070205080204" pitchFamily="34" charset="-128"/>
              </a:rPr>
              <a:t>?</a:t>
            </a:r>
            <a:endParaRPr lang="en-US" altLang="en-US" sz="3200" dirty="0">
              <a:ea typeface="MS PGothic" panose="020B0600070205080204" pitchFamily="34" charset="-128"/>
            </a:endParaRPr>
          </a:p>
          <a:p>
            <a:pPr marL="859155" lvl="1" indent="-238125"/>
            <a:r>
              <a:rPr lang="en-US" altLang="en-US" dirty="0">
                <a:ea typeface="MS PGothic" panose="020B0600070205080204" pitchFamily="34" charset="-128"/>
              </a:rPr>
              <a:t>peer upload/download capacity is limited resource</a:t>
            </a:r>
            <a:endParaRPr lang="en-US" altLang="en-US" dirty="0">
              <a:ea typeface="MS PGothic" panose="020B0600070205080204" pitchFamily="34" charset="-128"/>
            </a:endParaRPr>
          </a:p>
        </p:txBody>
      </p:sp>
      <p:sp>
        <p:nvSpPr>
          <p:cNvPr id="749" name="Freeform 4"/>
          <p:cNvSpPr/>
          <p:nvPr/>
        </p:nvSpPr>
        <p:spPr bwMode="auto">
          <a:xfrm>
            <a:off x="4208462" y="4079079"/>
            <a:ext cx="3775075" cy="17557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400">
              <a:solidFill>
                <a:srgbClr val="000000"/>
              </a:solidFill>
              <a:latin typeface="Arial" panose="020B0604020202020204" pitchFamily="34" charset="0"/>
              <a:ea typeface="MS PGothic" panose="020B0600070205080204" pitchFamily="34" charset="-128"/>
            </a:endParaRPr>
          </a:p>
        </p:txBody>
      </p:sp>
      <p:sp>
        <p:nvSpPr>
          <p:cNvPr id="750" name="Line 14"/>
          <p:cNvSpPr>
            <a:spLocks noChangeShapeType="1"/>
          </p:cNvSpPr>
          <p:nvPr/>
        </p:nvSpPr>
        <p:spPr bwMode="auto">
          <a:xfrm>
            <a:off x="3743324" y="4042566"/>
            <a:ext cx="803275" cy="311150"/>
          </a:xfrm>
          <a:prstGeom prst="line">
            <a:avLst/>
          </a:prstGeom>
          <a:noFill/>
          <a:ln w="9525">
            <a:solidFill>
              <a:srgbClr val="000000"/>
            </a:solidFill>
            <a:rou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51" name="Text Box 15"/>
          <p:cNvSpPr txBox="1">
            <a:spLocks noChangeArrowheads="1"/>
          </p:cNvSpPr>
          <p:nvPr/>
        </p:nvSpPr>
        <p:spPr bwMode="auto">
          <a:xfrm>
            <a:off x="4027487" y="3840954"/>
            <a:ext cx="41229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u</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rPr>
              <a:t>s</a:t>
            </a:r>
            <a:endPar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52" name="Line 39"/>
          <p:cNvSpPr>
            <a:spLocks noChangeShapeType="1"/>
          </p:cNvSpPr>
          <p:nvPr/>
        </p:nvSpPr>
        <p:spPr bwMode="auto">
          <a:xfrm>
            <a:off x="3300412" y="4953791"/>
            <a:ext cx="1016000" cy="0"/>
          </a:xfrm>
          <a:prstGeom prst="line">
            <a:avLst/>
          </a:prstGeom>
          <a:noFill/>
          <a:ln w="9525">
            <a:solidFill>
              <a:srgbClr val="000000"/>
            </a:solidFill>
            <a:rou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53" name="Line 40"/>
          <p:cNvSpPr>
            <a:spLocks noChangeShapeType="1"/>
          </p:cNvSpPr>
          <p:nvPr/>
        </p:nvSpPr>
        <p:spPr bwMode="auto">
          <a:xfrm flipH="1">
            <a:off x="3355974" y="5101429"/>
            <a:ext cx="1003300" cy="0"/>
          </a:xfrm>
          <a:prstGeom prst="line">
            <a:avLst/>
          </a:prstGeom>
          <a:noFill/>
          <a:ln w="9525">
            <a:solidFill>
              <a:srgbClr val="000000"/>
            </a:solidFill>
            <a:rou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54" name="Text Box 41"/>
          <p:cNvSpPr txBox="1">
            <a:spLocks noChangeArrowheads="1"/>
          </p:cNvSpPr>
          <p:nvPr/>
        </p:nvSpPr>
        <p:spPr bwMode="auto">
          <a:xfrm>
            <a:off x="3589337" y="4564854"/>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u</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rPr>
              <a:t>N</a:t>
            </a:r>
            <a:endPar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55" name="Text Box 42"/>
          <p:cNvSpPr txBox="1">
            <a:spLocks noChangeArrowheads="1"/>
          </p:cNvSpPr>
          <p:nvPr/>
        </p:nvSpPr>
        <p:spPr bwMode="auto">
          <a:xfrm>
            <a:off x="3570287" y="5079204"/>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d</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rPr>
              <a:t>N</a:t>
            </a:r>
            <a:endPar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56" name="Text Box 43"/>
          <p:cNvSpPr txBox="1">
            <a:spLocks noChangeArrowheads="1"/>
          </p:cNvSpPr>
          <p:nvPr/>
        </p:nvSpPr>
        <p:spPr bwMode="auto">
          <a:xfrm>
            <a:off x="3070224" y="4063204"/>
            <a:ext cx="11731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r>
              <a:rPr kumimoji="0" lang="en-US" altLang="en-US"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server</a:t>
            </a:r>
            <a:endParaRPr kumimoji="0" lang="en-US" altLang="en-US" b="0" i="0"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57" name="Text Box 44"/>
          <p:cNvSpPr txBox="1">
            <a:spLocks noChangeArrowheads="1"/>
          </p:cNvSpPr>
          <p:nvPr/>
        </p:nvSpPr>
        <p:spPr bwMode="auto">
          <a:xfrm>
            <a:off x="4605759" y="4590254"/>
            <a:ext cx="283443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r>
              <a:rPr kumimoji="0" lang="en-US" altLang="en-US" b="0" i="0" u="none" strike="noStrike" kern="0" cap="none" spc="0" normalizeH="0" baseline="0" noProof="0">
                <a:ln>
                  <a:noFill/>
                </a:ln>
                <a:solidFill>
                  <a:srgbClr val="FFFFFF"/>
                </a:solidFill>
                <a:effectLst/>
                <a:uLnTx/>
                <a:uFillTx/>
                <a:latin typeface="Arial" panose="020B0604020202020204" pitchFamily="34" charset="0"/>
                <a:ea typeface="MS PGothic" panose="020B0600070205080204" pitchFamily="34" charset="-128"/>
              </a:rPr>
              <a:t>network (with abundant</a:t>
            </a:r>
            <a:endParaRPr kumimoji="0" lang="en-US" altLang="en-US" b="0" i="0" u="none" strike="noStrike" kern="0" cap="none" spc="0" normalizeH="0" baseline="0" noProof="0">
              <a:ln>
                <a:noFill/>
              </a:ln>
              <a:solidFill>
                <a:srgbClr val="FFFFFF"/>
              </a:solidFill>
              <a:effectLst/>
              <a:uLnTx/>
              <a:uFillTx/>
              <a:latin typeface="Arial" panose="020B0604020202020204" pitchFamily="34" charset="0"/>
              <a:ea typeface="MS PGothic" panose="020B0600070205080204" pitchFamily="34" charset="-128"/>
            </a:endParaRPr>
          </a:p>
          <a:p>
            <a:pPr marL="0" marR="0" lvl="0" indent="0" algn="ctr" defTabSz="914400" eaLnBrk="1" fontAlgn="base" latinLnBrk="0" hangingPunct="1">
              <a:lnSpc>
                <a:spcPct val="100000"/>
              </a:lnSpc>
              <a:spcBef>
                <a:spcPct val="0"/>
              </a:spcBef>
              <a:spcAft>
                <a:spcPct val="0"/>
              </a:spcAft>
              <a:buClrTx/>
              <a:buSzTx/>
              <a:buFontTx/>
              <a:buNone/>
              <a:defRPr/>
            </a:pPr>
            <a:r>
              <a:rPr kumimoji="0" lang="en-US" altLang="en-US" b="0" i="0" u="none" strike="noStrike" kern="0" cap="none" spc="0" normalizeH="0" baseline="0" noProof="0">
                <a:ln>
                  <a:noFill/>
                </a:ln>
                <a:solidFill>
                  <a:srgbClr val="FFFFFF"/>
                </a:solidFill>
                <a:effectLst/>
                <a:uLnTx/>
                <a:uFillTx/>
                <a:latin typeface="Arial" panose="020B0604020202020204" pitchFamily="34" charset="0"/>
                <a:ea typeface="MS PGothic" panose="020B0600070205080204" pitchFamily="34" charset="-128"/>
              </a:rPr>
              <a:t> bandwidth)</a:t>
            </a:r>
            <a:endParaRPr kumimoji="0" lang="en-US" altLang="en-US" b="0" i="0" u="none" strike="noStrike" kern="0" cap="none" spc="0" normalizeH="0" baseline="0" noProof="0">
              <a:ln>
                <a:noFill/>
              </a:ln>
              <a:solidFill>
                <a:srgbClr val="FFFFFF"/>
              </a:solidFill>
              <a:effectLst/>
              <a:uLnTx/>
              <a:uFillTx/>
              <a:latin typeface="Arial" panose="020B0604020202020204" pitchFamily="34" charset="0"/>
              <a:ea typeface="MS PGothic" panose="020B0600070205080204" pitchFamily="34" charset="-128"/>
            </a:endParaRPr>
          </a:p>
        </p:txBody>
      </p:sp>
      <p:sp>
        <p:nvSpPr>
          <p:cNvPr id="758" name="Text Box 47"/>
          <p:cNvSpPr txBox="1">
            <a:spLocks noChangeArrowheads="1"/>
          </p:cNvSpPr>
          <p:nvPr/>
        </p:nvSpPr>
        <p:spPr bwMode="auto">
          <a:xfrm>
            <a:off x="2178049" y="3815554"/>
            <a:ext cx="1397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r>
              <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file, size F</a:t>
            </a:r>
            <a:endParaRPr kumimoji="0" lang="en-US" altLang="en-US" sz="1800"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59" name="Text Box 49"/>
          <p:cNvSpPr txBox="1">
            <a:spLocks noChangeArrowheads="1"/>
          </p:cNvSpPr>
          <p:nvPr/>
        </p:nvSpPr>
        <p:spPr bwMode="auto">
          <a:xfrm>
            <a:off x="3348953" y="2641737"/>
            <a:ext cx="248651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defRPr/>
            </a:pPr>
            <a:r>
              <a:rPr kumimoji="0" lang="en-US" altLang="en-US" sz="2400" b="1" i="1" u="none" strike="noStrike" kern="0" cap="none" spc="0" normalizeH="0" baseline="0" noProof="0" dirty="0">
                <a:ln>
                  <a:noFill/>
                </a:ln>
                <a:solidFill>
                  <a:srgbClr val="CC0000"/>
                </a:solidFill>
                <a:effectLst/>
                <a:uLnTx/>
                <a:uFillTx/>
                <a:latin typeface="+mn-lt"/>
                <a:ea typeface="MS PGothic" panose="020B0600070205080204" pitchFamily="34" charset="-128"/>
              </a:rPr>
              <a:t>u</a:t>
            </a:r>
            <a:r>
              <a:rPr kumimoji="0" lang="en-US" altLang="en-US" sz="2400" b="1" i="1" u="none" strike="noStrike" kern="0" cap="none" spc="0" normalizeH="0" baseline="-25000" noProof="0" dirty="0">
                <a:ln>
                  <a:noFill/>
                </a:ln>
                <a:solidFill>
                  <a:srgbClr val="CC0000"/>
                </a:solidFill>
                <a:effectLst/>
                <a:uLnTx/>
                <a:uFillTx/>
                <a:latin typeface="+mn-lt"/>
                <a:ea typeface="MS PGothic" panose="020B0600070205080204" pitchFamily="34" charset="-128"/>
              </a:rPr>
              <a:t>s</a:t>
            </a:r>
            <a:r>
              <a:rPr kumimoji="0" lang="en-US" altLang="en-US" sz="2400" b="1" i="1" u="none" strike="noStrike" kern="0" cap="none" spc="0" normalizeH="0" baseline="0" noProof="0" dirty="0">
                <a:ln>
                  <a:noFill/>
                </a:ln>
                <a:solidFill>
                  <a:srgbClr val="CC0000"/>
                </a:solidFill>
                <a:effectLst/>
                <a:uLnTx/>
                <a:uFillTx/>
                <a:latin typeface="+mn-lt"/>
                <a:ea typeface="MS PGothic"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MS PGothic" panose="020B0600070205080204" pitchFamily="34" charset="-128"/>
              </a:rPr>
              <a:t> server upload capacity</a:t>
            </a:r>
            <a:endPar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sp>
        <p:nvSpPr>
          <p:cNvPr id="760" name="Text Box 50"/>
          <p:cNvSpPr txBox="1">
            <a:spLocks noChangeArrowheads="1"/>
          </p:cNvSpPr>
          <p:nvPr/>
        </p:nvSpPr>
        <p:spPr bwMode="auto">
          <a:xfrm>
            <a:off x="8201024" y="5482429"/>
            <a:ext cx="259080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defRPr/>
            </a:pPr>
            <a:r>
              <a:rPr kumimoji="0" lang="en-US" altLang="en-US" sz="2400" b="1" i="1" u="none" strike="noStrike" kern="0" cap="none" spc="0" normalizeH="0" baseline="0" noProof="0" dirty="0" err="1">
                <a:ln>
                  <a:noFill/>
                </a:ln>
                <a:solidFill>
                  <a:srgbClr val="CC0000"/>
                </a:solidFill>
                <a:effectLst/>
                <a:uLnTx/>
                <a:uFillTx/>
                <a:latin typeface="+mn-lt"/>
                <a:ea typeface="MS PGothic" panose="020B0600070205080204" pitchFamily="34" charset="-128"/>
              </a:rPr>
              <a:t>u</a:t>
            </a:r>
            <a:r>
              <a:rPr kumimoji="0" lang="en-US" altLang="en-US" sz="2400" b="1" i="1" u="none" strike="noStrike" kern="0" cap="none" spc="0" normalizeH="0" baseline="-25000" noProof="0" dirty="0" err="1">
                <a:ln>
                  <a:noFill/>
                </a:ln>
                <a:solidFill>
                  <a:srgbClr val="CC0000"/>
                </a:solidFill>
                <a:effectLst/>
                <a:uLnTx/>
                <a:uFillTx/>
                <a:latin typeface="+mn-lt"/>
                <a:ea typeface="MS PGothic" panose="020B0600070205080204" pitchFamily="34" charset="-128"/>
              </a:rPr>
              <a:t>i</a:t>
            </a:r>
            <a:r>
              <a:rPr kumimoji="0" lang="en-US" altLang="en-US" sz="2400" b="1" i="1" u="none" strike="noStrike" kern="0" cap="none" spc="0" normalizeH="0" baseline="0" noProof="0" dirty="0">
                <a:ln>
                  <a:noFill/>
                </a:ln>
                <a:solidFill>
                  <a:srgbClr val="CC0000"/>
                </a:solidFill>
                <a:effectLst/>
                <a:uLnTx/>
                <a:uFillTx/>
                <a:latin typeface="+mn-lt"/>
                <a:ea typeface="MS PGothic"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MS PGothic" panose="020B0600070205080204" pitchFamily="34" charset="-128"/>
              </a:rPr>
              <a:t> peer </a:t>
            </a:r>
            <a:r>
              <a:rPr kumimoji="0" lang="en-US" altLang="en-US" sz="2400" b="0" i="0" u="none" strike="noStrike" kern="0" cap="none" spc="0" normalizeH="0" baseline="0" noProof="0" dirty="0" err="1">
                <a:ln>
                  <a:noFill/>
                </a:ln>
                <a:solidFill>
                  <a:srgbClr val="000000"/>
                </a:solidFill>
                <a:effectLst/>
                <a:uLnTx/>
                <a:uFillTx/>
                <a:latin typeface="+mn-lt"/>
                <a:ea typeface="MS PGothic" panose="020B0600070205080204" pitchFamily="34" charset="-128"/>
              </a:rPr>
              <a:t>i</a:t>
            </a:r>
            <a:r>
              <a:rPr kumimoji="0" lang="en-US" altLang="en-US" sz="2400" b="0" i="0" u="none" strike="noStrike" kern="0" cap="none" spc="0" normalizeH="0" baseline="0" noProof="0" dirty="0">
                <a:ln>
                  <a:noFill/>
                </a:ln>
                <a:solidFill>
                  <a:srgbClr val="000000"/>
                </a:solidFill>
                <a:effectLst/>
                <a:uLnTx/>
                <a:uFillTx/>
                <a:latin typeface="+mn-lt"/>
                <a:ea typeface="MS PGothic" panose="020B0600070205080204" pitchFamily="34" charset="-128"/>
              </a:rPr>
              <a:t> upload capacity</a:t>
            </a:r>
            <a:endParaRPr kumimoji="0" lang="en-US" altLang="en-US" sz="2400" b="0"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sp>
        <p:nvSpPr>
          <p:cNvPr id="761" name="Text Box 51"/>
          <p:cNvSpPr txBox="1">
            <a:spLocks noChangeArrowheads="1"/>
          </p:cNvSpPr>
          <p:nvPr/>
        </p:nvSpPr>
        <p:spPr bwMode="auto">
          <a:xfrm>
            <a:off x="8263868" y="3463243"/>
            <a:ext cx="274320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defRPr/>
            </a:pPr>
            <a:r>
              <a:rPr kumimoji="0" lang="en-US" altLang="en-US" sz="2400" b="1" i="1" u="none" strike="noStrike" kern="0" cap="none" spc="0" normalizeH="0" baseline="0" noProof="0" dirty="0">
                <a:ln>
                  <a:noFill/>
                </a:ln>
                <a:solidFill>
                  <a:srgbClr val="CC0000"/>
                </a:solidFill>
                <a:effectLst/>
                <a:uLnTx/>
                <a:uFillTx/>
                <a:latin typeface="+mn-lt"/>
                <a:ea typeface="MS PGothic" panose="020B0600070205080204" pitchFamily="34" charset="-128"/>
              </a:rPr>
              <a:t>d</a:t>
            </a:r>
            <a:r>
              <a:rPr kumimoji="0" lang="en-US" altLang="en-US" sz="2400" b="1" i="1" u="none" strike="noStrike" kern="0" cap="none" spc="0" normalizeH="0" baseline="-25000" noProof="0" dirty="0">
                <a:ln>
                  <a:noFill/>
                </a:ln>
                <a:solidFill>
                  <a:srgbClr val="CC0000"/>
                </a:solidFill>
                <a:effectLst/>
                <a:uLnTx/>
                <a:uFillTx/>
                <a:latin typeface="+mn-lt"/>
                <a:ea typeface="MS PGothic" panose="020B0600070205080204" pitchFamily="34" charset="-128"/>
              </a:rPr>
              <a:t>i</a:t>
            </a:r>
            <a:r>
              <a:rPr kumimoji="0" lang="en-US" altLang="en-US" sz="2400" b="1" i="1" u="none" strike="noStrike" kern="0" cap="none" spc="0" normalizeH="0" baseline="0" noProof="0" dirty="0">
                <a:ln>
                  <a:noFill/>
                </a:ln>
                <a:solidFill>
                  <a:srgbClr val="CC0000"/>
                </a:solidFill>
                <a:effectLst/>
                <a:uLnTx/>
                <a:uFillTx/>
                <a:latin typeface="+mn-lt"/>
                <a:ea typeface="MS PGothic"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MS PGothic" panose="020B0600070205080204" pitchFamily="34" charset="-128"/>
              </a:rPr>
              <a:t> peer </a:t>
            </a:r>
            <a:r>
              <a:rPr kumimoji="0" lang="en-US" altLang="en-US" sz="2400" b="0" i="0" u="none" strike="noStrike" kern="0" cap="none" spc="0" normalizeH="0" baseline="0" noProof="0" dirty="0" err="1">
                <a:ln>
                  <a:noFill/>
                </a:ln>
                <a:solidFill>
                  <a:srgbClr val="000000"/>
                </a:solidFill>
                <a:effectLst/>
                <a:uLnTx/>
                <a:uFillTx/>
                <a:latin typeface="+mn-lt"/>
                <a:ea typeface="MS PGothic" panose="020B0600070205080204" pitchFamily="34" charset="-128"/>
              </a:rPr>
              <a:t>i</a:t>
            </a:r>
            <a:r>
              <a:rPr kumimoji="0" lang="en-US" altLang="en-US" sz="2400" b="0" i="0" u="none" strike="noStrike" kern="0" cap="none" spc="0" normalizeH="0" baseline="0" noProof="0" dirty="0">
                <a:ln>
                  <a:noFill/>
                </a:ln>
                <a:solidFill>
                  <a:srgbClr val="000000"/>
                </a:solidFill>
                <a:effectLst/>
                <a:uLnTx/>
                <a:uFillTx/>
                <a:latin typeface="+mn-lt"/>
                <a:ea typeface="MS PGothic" panose="020B0600070205080204" pitchFamily="34" charset="-128"/>
              </a:rPr>
              <a:t> download capacity</a:t>
            </a:r>
            <a:endParaRPr kumimoji="0" lang="en-US" altLang="en-US" b="0" i="0" u="none" strike="noStrike" kern="0" cap="none" spc="0" normalizeH="0" baseline="0" noProof="0" dirty="0">
              <a:ln>
                <a:noFill/>
              </a:ln>
              <a:solidFill>
                <a:srgbClr val="000000"/>
              </a:solidFill>
              <a:effectLst/>
              <a:uLnTx/>
              <a:uFillTx/>
              <a:latin typeface="+mn-lt"/>
              <a:ea typeface="MS PGothic" panose="020B0600070205080204" pitchFamily="34" charset="-128"/>
            </a:endParaRPr>
          </a:p>
        </p:txBody>
      </p:sp>
      <p:sp>
        <p:nvSpPr>
          <p:cNvPr id="762" name="AutoShape 327"/>
          <p:cNvSpPr>
            <a:spLocks noChangeArrowheads="1"/>
          </p:cNvSpPr>
          <p:nvPr/>
        </p:nvSpPr>
        <p:spPr bwMode="auto">
          <a:xfrm>
            <a:off x="2687637" y="3261516"/>
            <a:ext cx="592137" cy="581025"/>
          </a:xfrm>
          <a:prstGeom prst="can">
            <a:avLst>
              <a:gd name="adj" fmla="val 20218"/>
            </a:avLst>
          </a:prstGeom>
          <a:gradFill rotWithShape="1">
            <a:gsLst>
              <a:gs pos="0">
                <a:srgbClr val="000099"/>
              </a:gs>
              <a:gs pos="100000">
                <a:srgbClr val="FFFFFF"/>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endParaRPr kumimoji="0" lang="en-US" altLang="en-US" sz="2800" b="0" i="0" u="none" strike="noStrike" kern="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Arial" panose="020B0604020202020204" pitchFamily="34" charset="0"/>
            </a:endParaRPr>
          </a:p>
        </p:txBody>
      </p:sp>
      <p:grpSp>
        <p:nvGrpSpPr>
          <p:cNvPr id="763" name="Group 76"/>
          <p:cNvGrpSpPr/>
          <p:nvPr/>
        </p:nvGrpSpPr>
        <p:grpSpPr bwMode="auto">
          <a:xfrm>
            <a:off x="5422899" y="3539329"/>
            <a:ext cx="2138363" cy="903287"/>
            <a:chOff x="2204" y="2030"/>
            <a:chExt cx="1347" cy="774"/>
          </a:xfrm>
        </p:grpSpPr>
        <p:sp>
          <p:nvSpPr>
            <p:cNvPr id="764" name="Text Box 19"/>
            <p:cNvSpPr txBox="1">
              <a:spLocks noChangeArrowheads="1"/>
            </p:cNvSpPr>
            <p:nvPr/>
          </p:nvSpPr>
          <p:spPr bwMode="auto">
            <a:xfrm>
              <a:off x="2856" y="2271"/>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u</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rPr>
                <a:t>2</a:t>
              </a:r>
              <a:endPar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65" name="Line 22"/>
            <p:cNvSpPr>
              <a:spLocks noChangeShapeType="1"/>
            </p:cNvSpPr>
            <p:nvPr/>
          </p:nvSpPr>
          <p:spPr bwMode="auto">
            <a:xfrm flipV="1">
              <a:off x="2997" y="2133"/>
              <a:ext cx="200" cy="657"/>
            </a:xfrm>
            <a:prstGeom prst="line">
              <a:avLst/>
            </a:prstGeom>
            <a:noFill/>
            <a:ln w="9525">
              <a:solidFill>
                <a:srgbClr val="000000"/>
              </a:solidFill>
              <a:round/>
              <a:head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66" name="Line 23"/>
            <p:cNvSpPr>
              <a:spLocks noChangeShapeType="1"/>
            </p:cNvSpPr>
            <p:nvPr/>
          </p:nvSpPr>
          <p:spPr bwMode="auto">
            <a:xfrm flipH="1">
              <a:off x="3082" y="2141"/>
              <a:ext cx="208" cy="663"/>
            </a:xfrm>
            <a:prstGeom prst="line">
              <a:avLst/>
            </a:prstGeom>
            <a:noFill/>
            <a:ln w="9525">
              <a:solidFill>
                <a:srgbClr val="000000"/>
              </a:solidFill>
              <a:round/>
              <a:head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67" name="Text Box 24"/>
            <p:cNvSpPr txBox="1">
              <a:spLocks noChangeArrowheads="1"/>
            </p:cNvSpPr>
            <p:nvPr/>
          </p:nvSpPr>
          <p:spPr bwMode="auto">
            <a:xfrm>
              <a:off x="3167" y="2332"/>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d</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rPr>
                <a:t>2</a:t>
              </a:r>
              <a:endPar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68" name="Text Box 19"/>
            <p:cNvSpPr txBox="1">
              <a:spLocks noChangeArrowheads="1"/>
            </p:cNvSpPr>
            <p:nvPr/>
          </p:nvSpPr>
          <p:spPr bwMode="auto">
            <a:xfrm>
              <a:off x="2204" y="2167"/>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u</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rPr>
                <a:t>1</a:t>
              </a:r>
              <a:endPar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69" name="Line 22"/>
            <p:cNvSpPr>
              <a:spLocks noChangeShapeType="1"/>
            </p:cNvSpPr>
            <p:nvPr/>
          </p:nvSpPr>
          <p:spPr bwMode="auto">
            <a:xfrm flipV="1">
              <a:off x="2345" y="2030"/>
              <a:ext cx="200" cy="657"/>
            </a:xfrm>
            <a:prstGeom prst="line">
              <a:avLst/>
            </a:prstGeom>
            <a:noFill/>
            <a:ln w="9525">
              <a:solidFill>
                <a:srgbClr val="000000"/>
              </a:solidFill>
              <a:round/>
              <a:head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70" name="Line 23"/>
            <p:cNvSpPr>
              <a:spLocks noChangeShapeType="1"/>
            </p:cNvSpPr>
            <p:nvPr/>
          </p:nvSpPr>
          <p:spPr bwMode="auto">
            <a:xfrm flipH="1">
              <a:off x="2430" y="2038"/>
              <a:ext cx="208" cy="663"/>
            </a:xfrm>
            <a:prstGeom prst="line">
              <a:avLst/>
            </a:prstGeom>
            <a:noFill/>
            <a:ln w="9525">
              <a:solidFill>
                <a:srgbClr val="000000"/>
              </a:solidFill>
              <a:round/>
              <a:head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71" name="Text Box 24"/>
            <p:cNvSpPr txBox="1">
              <a:spLocks noChangeArrowheads="1"/>
            </p:cNvSpPr>
            <p:nvPr/>
          </p:nvSpPr>
          <p:spPr bwMode="auto">
            <a:xfrm>
              <a:off x="2515" y="2229"/>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d</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rPr>
                <a:t>1</a:t>
              </a:r>
              <a:endPar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772" name="Line 72"/>
          <p:cNvSpPr>
            <a:spLocks noChangeShapeType="1"/>
          </p:cNvSpPr>
          <p:nvPr/>
        </p:nvSpPr>
        <p:spPr bwMode="auto">
          <a:xfrm>
            <a:off x="7954962" y="4758529"/>
            <a:ext cx="1165225" cy="0"/>
          </a:xfrm>
          <a:prstGeom prst="line">
            <a:avLst/>
          </a:prstGeom>
          <a:noFill/>
          <a:ln w="19050">
            <a:solidFill>
              <a:srgbClr val="000000"/>
            </a:solidFill>
            <a:rou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73" name="Line 73"/>
          <p:cNvSpPr>
            <a:spLocks noChangeShapeType="1"/>
          </p:cNvSpPr>
          <p:nvPr/>
        </p:nvSpPr>
        <p:spPr bwMode="auto">
          <a:xfrm>
            <a:off x="7962899" y="4910929"/>
            <a:ext cx="1165225" cy="0"/>
          </a:xfrm>
          <a:prstGeom prst="line">
            <a:avLst/>
          </a:prstGeom>
          <a:noFill/>
          <a:ln w="19050">
            <a:solidFill>
              <a:srgbClr val="000000"/>
            </a:solidFill>
            <a:round/>
            <a:head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74" name="Text Box 41"/>
          <p:cNvSpPr txBox="1">
            <a:spLocks noChangeArrowheads="1"/>
          </p:cNvSpPr>
          <p:nvPr/>
        </p:nvSpPr>
        <p:spPr bwMode="auto">
          <a:xfrm>
            <a:off x="8115299" y="4347366"/>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d</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rPr>
              <a:t>i</a:t>
            </a:r>
            <a:endPar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75" name="Text Box 41"/>
          <p:cNvSpPr txBox="1">
            <a:spLocks noChangeArrowheads="1"/>
          </p:cNvSpPr>
          <p:nvPr/>
        </p:nvSpPr>
        <p:spPr bwMode="auto">
          <a:xfrm>
            <a:off x="8139112" y="4880766"/>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defRPr/>
            </a:pPr>
            <a:r>
              <a:rPr kumimoji="0" lang="en-US" altLang="en-US" b="0" i="1"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u</a:t>
            </a:r>
            <a:r>
              <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rPr>
              <a:t>i</a:t>
            </a:r>
            <a:endParaRPr kumimoji="0" lang="en-US" altLang="en-US" b="0" i="1" u="none" strike="noStrike" kern="0" cap="none" spc="0" normalizeH="0" baseline="-2500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76" name="Line 77"/>
          <p:cNvSpPr>
            <a:spLocks noChangeShapeType="1"/>
          </p:cNvSpPr>
          <p:nvPr/>
        </p:nvSpPr>
        <p:spPr bwMode="auto">
          <a:xfrm>
            <a:off x="4189412" y="3223416"/>
            <a:ext cx="0" cy="663575"/>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400">
              <a:solidFill>
                <a:srgbClr val="000000"/>
              </a:solidFill>
              <a:latin typeface="Arial" panose="020B0604020202020204" pitchFamily="34" charset="0"/>
              <a:ea typeface="MS PGothic" panose="020B0600070205080204" pitchFamily="34" charset="-128"/>
            </a:endParaRPr>
          </a:p>
        </p:txBody>
      </p:sp>
      <p:sp>
        <p:nvSpPr>
          <p:cNvPr id="777" name="Line 78"/>
          <p:cNvSpPr>
            <a:spLocks noChangeShapeType="1"/>
          </p:cNvSpPr>
          <p:nvPr/>
        </p:nvSpPr>
        <p:spPr bwMode="auto">
          <a:xfrm flipH="1">
            <a:off x="8402637" y="4137816"/>
            <a:ext cx="369887" cy="414338"/>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400">
              <a:solidFill>
                <a:srgbClr val="000000"/>
              </a:solidFill>
              <a:latin typeface="Arial" panose="020B0604020202020204" pitchFamily="34" charset="0"/>
              <a:ea typeface="MS PGothic" panose="020B0600070205080204" pitchFamily="34" charset="-128"/>
            </a:endParaRPr>
          </a:p>
        </p:txBody>
      </p:sp>
      <p:sp>
        <p:nvSpPr>
          <p:cNvPr id="778" name="Line 79"/>
          <p:cNvSpPr>
            <a:spLocks noChangeShapeType="1"/>
          </p:cNvSpPr>
          <p:nvPr/>
        </p:nvSpPr>
        <p:spPr bwMode="auto">
          <a:xfrm flipH="1" flipV="1">
            <a:off x="8432799" y="5083966"/>
            <a:ext cx="369888" cy="414338"/>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400">
              <a:solidFill>
                <a:srgbClr val="000000"/>
              </a:solidFill>
              <a:latin typeface="Arial" panose="020B0604020202020204" pitchFamily="34" charset="0"/>
              <a:ea typeface="MS PGothic" panose="020B0600070205080204" pitchFamily="34" charset="-128"/>
            </a:endParaRPr>
          </a:p>
        </p:txBody>
      </p:sp>
      <p:grpSp>
        <p:nvGrpSpPr>
          <p:cNvPr id="779" name="Group 81"/>
          <p:cNvGrpSpPr/>
          <p:nvPr/>
        </p:nvGrpSpPr>
        <p:grpSpPr bwMode="auto">
          <a:xfrm>
            <a:off x="3459162" y="3323429"/>
            <a:ext cx="465137" cy="803275"/>
            <a:chOff x="4140" y="429"/>
            <a:chExt cx="1425" cy="2396"/>
          </a:xfrm>
        </p:grpSpPr>
        <p:sp>
          <p:nvSpPr>
            <p:cNvPr id="780" name="Freeform 82"/>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81" name="Rectangle 83"/>
            <p:cNvSpPr>
              <a:spLocks noChangeArrowheads="1"/>
            </p:cNvSpPr>
            <p:nvPr/>
          </p:nvSpPr>
          <p:spPr bwMode="auto">
            <a:xfrm>
              <a:off x="4208" y="429"/>
              <a:ext cx="1046" cy="2282"/>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82" name="Freeform 84"/>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83" name="Freeform 85"/>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84" name="Rectangle 86"/>
            <p:cNvSpPr>
              <a:spLocks noChangeArrowheads="1"/>
            </p:cNvSpPr>
            <p:nvPr/>
          </p:nvSpPr>
          <p:spPr bwMode="auto">
            <a:xfrm>
              <a:off x="4213" y="694"/>
              <a:ext cx="593"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787" name="Group 87"/>
            <p:cNvGrpSpPr/>
            <p:nvPr/>
          </p:nvGrpSpPr>
          <p:grpSpPr bwMode="auto">
            <a:xfrm>
              <a:off x="4749" y="668"/>
              <a:ext cx="581" cy="145"/>
              <a:chOff x="614" y="2568"/>
              <a:chExt cx="725" cy="139"/>
            </a:xfrm>
          </p:grpSpPr>
          <p:sp>
            <p:nvSpPr>
              <p:cNvPr id="822" name="AutoShape 88"/>
              <p:cNvSpPr>
                <a:spLocks noChangeArrowheads="1"/>
              </p:cNvSpPr>
              <p:nvPr/>
            </p:nvSpPr>
            <p:spPr bwMode="auto">
              <a:xfrm>
                <a:off x="613" y="2566"/>
                <a:ext cx="728"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24" name="AutoShape 89"/>
              <p:cNvSpPr>
                <a:spLocks noChangeArrowheads="1"/>
              </p:cNvSpPr>
              <p:nvPr/>
            </p:nvSpPr>
            <p:spPr bwMode="auto">
              <a:xfrm>
                <a:off x="631" y="2584"/>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788" name="Rectangle 90"/>
            <p:cNvSpPr>
              <a:spLocks noChangeArrowheads="1"/>
            </p:cNvSpPr>
            <p:nvPr/>
          </p:nvSpPr>
          <p:spPr bwMode="auto">
            <a:xfrm>
              <a:off x="4223" y="1021"/>
              <a:ext cx="598"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789" name="Group 91"/>
            <p:cNvGrpSpPr/>
            <p:nvPr/>
          </p:nvGrpSpPr>
          <p:grpSpPr bwMode="auto">
            <a:xfrm>
              <a:off x="4747" y="994"/>
              <a:ext cx="581" cy="134"/>
              <a:chOff x="614" y="2568"/>
              <a:chExt cx="725" cy="139"/>
            </a:xfrm>
          </p:grpSpPr>
          <p:sp>
            <p:nvSpPr>
              <p:cNvPr id="820" name="AutoShape 92"/>
              <p:cNvSpPr>
                <a:spLocks noChangeArrowheads="1"/>
              </p:cNvSpPr>
              <p:nvPr/>
            </p:nvSpPr>
            <p:spPr bwMode="auto">
              <a:xfrm>
                <a:off x="615" y="2566"/>
                <a:ext cx="722"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21" name="AutoShape 93"/>
              <p:cNvSpPr>
                <a:spLocks noChangeArrowheads="1"/>
              </p:cNvSpPr>
              <p:nvPr/>
            </p:nvSpPr>
            <p:spPr bwMode="auto">
              <a:xfrm>
                <a:off x="633" y="2581"/>
                <a:ext cx="686"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790" name="Rectangle 94"/>
            <p:cNvSpPr>
              <a:spLocks noChangeArrowheads="1"/>
            </p:cNvSpPr>
            <p:nvPr/>
          </p:nvSpPr>
          <p:spPr bwMode="auto">
            <a:xfrm>
              <a:off x="4218" y="1357"/>
              <a:ext cx="593"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91" name="Rectangle 95"/>
            <p:cNvSpPr>
              <a:spLocks noChangeArrowheads="1"/>
            </p:cNvSpPr>
            <p:nvPr/>
          </p:nvSpPr>
          <p:spPr bwMode="auto">
            <a:xfrm>
              <a:off x="4228" y="1655"/>
              <a:ext cx="598" cy="47"/>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793" name="Group 96"/>
            <p:cNvGrpSpPr/>
            <p:nvPr/>
          </p:nvGrpSpPr>
          <p:grpSpPr bwMode="auto">
            <a:xfrm>
              <a:off x="4735" y="1627"/>
              <a:ext cx="582" cy="151"/>
              <a:chOff x="614" y="2568"/>
              <a:chExt cx="725" cy="139"/>
            </a:xfrm>
          </p:grpSpPr>
          <p:sp>
            <p:nvSpPr>
              <p:cNvPr id="815" name="AutoShape 97"/>
              <p:cNvSpPr>
                <a:spLocks noChangeArrowheads="1"/>
              </p:cNvSpPr>
              <p:nvPr/>
            </p:nvSpPr>
            <p:spPr bwMode="auto">
              <a:xfrm>
                <a:off x="612" y="2568"/>
                <a:ext cx="727"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17" name="AutoShape 98"/>
              <p:cNvSpPr>
                <a:spLocks noChangeArrowheads="1"/>
              </p:cNvSpPr>
              <p:nvPr/>
            </p:nvSpPr>
            <p:spPr bwMode="auto">
              <a:xfrm>
                <a:off x="630" y="2585"/>
                <a:ext cx="691"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794" name="Freeform 99"/>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796" name="Group 100"/>
            <p:cNvGrpSpPr/>
            <p:nvPr/>
          </p:nvGrpSpPr>
          <p:grpSpPr bwMode="auto">
            <a:xfrm>
              <a:off x="4739" y="1327"/>
              <a:ext cx="582" cy="139"/>
              <a:chOff x="614" y="2568"/>
              <a:chExt cx="725" cy="139"/>
            </a:xfrm>
          </p:grpSpPr>
          <p:sp>
            <p:nvSpPr>
              <p:cNvPr id="812" name="AutoShape 101"/>
              <p:cNvSpPr>
                <a:spLocks noChangeArrowheads="1"/>
              </p:cNvSpPr>
              <p:nvPr/>
            </p:nvSpPr>
            <p:spPr bwMode="auto">
              <a:xfrm>
                <a:off x="613" y="2570"/>
                <a:ext cx="727"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14" name="AutoShape 102"/>
              <p:cNvSpPr>
                <a:spLocks noChangeArrowheads="1"/>
              </p:cNvSpPr>
              <p:nvPr/>
            </p:nvSpPr>
            <p:spPr bwMode="auto">
              <a:xfrm>
                <a:off x="631" y="2584"/>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797" name="Rectangle 103"/>
            <p:cNvSpPr>
              <a:spLocks noChangeArrowheads="1"/>
            </p:cNvSpPr>
            <p:nvPr/>
          </p:nvSpPr>
          <p:spPr bwMode="auto">
            <a:xfrm>
              <a:off x="5249" y="429"/>
              <a:ext cx="68"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98" name="Freeform 104"/>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799" name="Freeform 105"/>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01" name="Oval 106"/>
            <p:cNvSpPr>
              <a:spLocks noChangeArrowheads="1"/>
            </p:cNvSpPr>
            <p:nvPr/>
          </p:nvSpPr>
          <p:spPr bwMode="auto">
            <a:xfrm>
              <a:off x="5516" y="2612"/>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02" name="Freeform 107"/>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04" name="AutoShape 108"/>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05" name="AutoShape 109"/>
            <p:cNvSpPr>
              <a:spLocks noChangeArrowheads="1"/>
            </p:cNvSpPr>
            <p:nvPr/>
          </p:nvSpPr>
          <p:spPr bwMode="auto">
            <a:xfrm>
              <a:off x="4208" y="2711"/>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06" name="Oval 110"/>
            <p:cNvSpPr>
              <a:spLocks noChangeArrowheads="1"/>
            </p:cNvSpPr>
            <p:nvPr/>
          </p:nvSpPr>
          <p:spPr bwMode="auto">
            <a:xfrm>
              <a:off x="4310" y="2385"/>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07" name="Oval 111"/>
            <p:cNvSpPr>
              <a:spLocks noChangeArrowheads="1"/>
            </p:cNvSpPr>
            <p:nvPr/>
          </p:nvSpPr>
          <p:spPr bwMode="auto">
            <a:xfrm>
              <a:off x="4485" y="2385"/>
              <a:ext cx="160"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09" name="Oval 112"/>
            <p:cNvSpPr>
              <a:spLocks noChangeArrowheads="1"/>
            </p:cNvSpPr>
            <p:nvPr/>
          </p:nvSpPr>
          <p:spPr bwMode="auto">
            <a:xfrm>
              <a:off x="4660" y="2380"/>
              <a:ext cx="160"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810" name="Rectangle 113"/>
            <p:cNvSpPr>
              <a:spLocks noChangeArrowheads="1"/>
            </p:cNvSpPr>
            <p:nvPr/>
          </p:nvSpPr>
          <p:spPr bwMode="auto">
            <a:xfrm>
              <a:off x="5064" y="1835"/>
              <a:ext cx="83" cy="762"/>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826" name="Group 114"/>
          <p:cNvGrpSpPr/>
          <p:nvPr/>
        </p:nvGrpSpPr>
        <p:grpSpPr bwMode="auto">
          <a:xfrm>
            <a:off x="2368549" y="4626766"/>
            <a:ext cx="925513" cy="795338"/>
            <a:chOff x="-44" y="1473"/>
            <a:chExt cx="981" cy="1105"/>
          </a:xfrm>
        </p:grpSpPr>
        <p:pic>
          <p:nvPicPr>
            <p:cNvPr id="828" name="Picture 115"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 name="Freeform 116"/>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831" name="Group 117"/>
          <p:cNvGrpSpPr/>
          <p:nvPr/>
        </p:nvGrpSpPr>
        <p:grpSpPr bwMode="auto">
          <a:xfrm>
            <a:off x="5589587" y="2807491"/>
            <a:ext cx="925512" cy="795338"/>
            <a:chOff x="-44" y="1473"/>
            <a:chExt cx="981" cy="1105"/>
          </a:xfrm>
        </p:grpSpPr>
        <p:pic>
          <p:nvPicPr>
            <p:cNvPr id="832" name="Picture 118"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3" name="Freeform 11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834" name="Group 120"/>
          <p:cNvGrpSpPr/>
          <p:nvPr/>
        </p:nvGrpSpPr>
        <p:grpSpPr bwMode="auto">
          <a:xfrm>
            <a:off x="6634162" y="2948779"/>
            <a:ext cx="925512" cy="795337"/>
            <a:chOff x="-44" y="1473"/>
            <a:chExt cx="981" cy="1105"/>
          </a:xfrm>
        </p:grpSpPr>
        <p:pic>
          <p:nvPicPr>
            <p:cNvPr id="835" name="Picture 121"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6" name="Freeform 122"/>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837" name="Group 123"/>
          <p:cNvGrpSpPr/>
          <p:nvPr/>
        </p:nvGrpSpPr>
        <p:grpSpPr bwMode="auto">
          <a:xfrm flipH="1">
            <a:off x="9104312" y="4396579"/>
            <a:ext cx="925512" cy="795337"/>
            <a:chOff x="-44" y="1473"/>
            <a:chExt cx="981" cy="1105"/>
          </a:xfrm>
        </p:grpSpPr>
        <p:pic>
          <p:nvPicPr>
            <p:cNvPr id="838" name="Picture 124"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 name="Freeform 12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p:cNvSpPr>
            <a:spLocks noGrp="1"/>
          </p:cNvSpPr>
          <p:nvPr>
            <p:ph type="sldNum" sz="quarter" idx="4"/>
          </p:nvPr>
        </p:nvSpPr>
        <p:spPr/>
        <p:txBody>
          <a:bodyPr/>
          <a:lstStyle/>
          <a:p>
            <a:r>
              <a:rPr lang="en-US"/>
              <a:t>Introduction: 1-</a:t>
            </a:r>
            <a:fld id="{C4204591-24BD-A542-B9D5-F8D8A88D2FEE}" type="slidenum">
              <a:rPr lang="en-US" smtClean="0"/>
            </a:fld>
            <a:endParaRPr lang="en-US" dirty="0"/>
          </a:p>
        </p:txBody>
      </p:sp>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File distribution time: client-server</a:t>
            </a:r>
            <a:endParaRPr lang="en-US" sz="4400" dirty="0"/>
          </a:p>
        </p:txBody>
      </p:sp>
      <p:sp>
        <p:nvSpPr>
          <p:cNvPr id="80" name="Rectangle 47"/>
          <p:cNvSpPr txBox="1">
            <a:spLocks noChangeArrowheads="1"/>
          </p:cNvSpPr>
          <p:nvPr/>
        </p:nvSpPr>
        <p:spPr>
          <a:xfrm>
            <a:off x="545123" y="1309462"/>
            <a:ext cx="6098355" cy="20145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MS PGothic" panose="020B0600070205080204" pitchFamily="34" charset="-128"/>
              </a:rPr>
              <a:t>server transmission: </a:t>
            </a:r>
            <a:r>
              <a:rPr lang="en-US" altLang="en-US" dirty="0">
                <a:ea typeface="MS PGothic" panose="020B0600070205080204" pitchFamily="34" charset="-128"/>
              </a:rPr>
              <a:t>must</a:t>
            </a:r>
            <a:r>
              <a:rPr lang="en-US" altLang="en-US" i="1" dirty="0">
                <a:solidFill>
                  <a:srgbClr val="CC0000"/>
                </a:solidFill>
                <a:ea typeface="MS PGothic" panose="020B0600070205080204" pitchFamily="34" charset="-128"/>
              </a:rPr>
              <a:t> </a:t>
            </a:r>
            <a:r>
              <a:rPr lang="en-US" altLang="en-US" dirty="0">
                <a:ea typeface="MS PGothic" panose="020B0600070205080204" pitchFamily="34" charset="-128"/>
              </a:rPr>
              <a:t>sequentially send (upload) </a:t>
            </a:r>
            <a:r>
              <a:rPr lang="en-US" altLang="en-US" i="1" dirty="0">
                <a:ea typeface="MS PGothic" panose="020B0600070205080204" pitchFamily="34" charset="-128"/>
              </a:rPr>
              <a:t>N </a:t>
            </a:r>
            <a:r>
              <a:rPr lang="en-US" altLang="en-US" dirty="0">
                <a:ea typeface="MS PGothic" panose="020B0600070205080204" pitchFamily="34" charset="-128"/>
              </a:rPr>
              <a:t>file</a:t>
            </a:r>
            <a:r>
              <a:rPr lang="en-US" altLang="en-US" i="1" dirty="0">
                <a:ea typeface="MS PGothic" panose="020B0600070205080204" pitchFamily="34" charset="-128"/>
              </a:rPr>
              <a:t> </a:t>
            </a:r>
            <a:r>
              <a:rPr lang="en-US" altLang="en-US" dirty="0">
                <a:ea typeface="MS PGothic" panose="020B0600070205080204" pitchFamily="34" charset="-128"/>
              </a:rPr>
              <a:t>copies:</a:t>
            </a:r>
            <a:endParaRPr lang="en-US" altLang="en-US" dirty="0">
              <a:ea typeface="MS PGothic" panose="020B0600070205080204" pitchFamily="34" charset="-128"/>
            </a:endParaRPr>
          </a:p>
          <a:p>
            <a:pPr lvl="1">
              <a:lnSpc>
                <a:spcPct val="100000"/>
              </a:lnSpc>
            </a:pPr>
            <a:r>
              <a:rPr lang="en-US" altLang="en-US" dirty="0">
                <a:ea typeface="MS PGothic" panose="020B0600070205080204" pitchFamily="34" charset="-128"/>
              </a:rPr>
              <a:t>time to send one copy: </a:t>
            </a:r>
            <a:r>
              <a:rPr lang="en-US" altLang="en-US" i="1" dirty="0">
                <a:ea typeface="MS PGothic" panose="020B0600070205080204" pitchFamily="34" charset="-128"/>
              </a:rPr>
              <a:t>F/u</a:t>
            </a:r>
            <a:r>
              <a:rPr lang="en-US" altLang="en-US" i="1" baseline="-25000" dirty="0">
                <a:ea typeface="MS PGothic" panose="020B0600070205080204" pitchFamily="34" charset="-128"/>
              </a:rPr>
              <a:t>s </a:t>
            </a:r>
            <a:endParaRPr lang="en-US" altLang="en-US" dirty="0">
              <a:ea typeface="MS PGothic" panose="020B0600070205080204" pitchFamily="34" charset="-128"/>
            </a:endParaRPr>
          </a:p>
          <a:p>
            <a:pPr lvl="1">
              <a:lnSpc>
                <a:spcPct val="100000"/>
              </a:lnSpc>
            </a:pPr>
            <a:r>
              <a:rPr lang="en-US" altLang="en-US" dirty="0">
                <a:ea typeface="MS PGothic" panose="020B0600070205080204" pitchFamily="34" charset="-128"/>
              </a:rPr>
              <a:t>time to send </a:t>
            </a:r>
            <a:r>
              <a:rPr lang="en-US" altLang="en-US" i="1" dirty="0">
                <a:ea typeface="MS PGothic" panose="020B0600070205080204" pitchFamily="34" charset="-128"/>
              </a:rPr>
              <a:t>N</a:t>
            </a:r>
            <a:r>
              <a:rPr lang="en-US" altLang="en-US" dirty="0">
                <a:ea typeface="MS PGothic" panose="020B0600070205080204" pitchFamily="34" charset="-128"/>
              </a:rPr>
              <a:t> copies: </a:t>
            </a:r>
            <a:r>
              <a:rPr lang="en-US" altLang="en-US" i="1" dirty="0">
                <a:ea typeface="MS PGothic" panose="020B0600070205080204" pitchFamily="34" charset="-128"/>
              </a:rPr>
              <a:t>NF/u</a:t>
            </a:r>
            <a:r>
              <a:rPr lang="en-US" altLang="en-US" i="1" baseline="-25000" dirty="0">
                <a:ea typeface="MS PGothic" panose="020B0600070205080204" pitchFamily="34" charset="-128"/>
              </a:rPr>
              <a:t>s</a:t>
            </a:r>
            <a:endParaRPr lang="en-US" altLang="en-US" dirty="0">
              <a:ea typeface="MS PGothic" panose="020B0600070205080204" pitchFamily="34" charset="-128"/>
            </a:endParaRPr>
          </a:p>
        </p:txBody>
      </p:sp>
      <p:sp>
        <p:nvSpPr>
          <p:cNvPr id="81" name="Rectangle 47"/>
          <p:cNvSpPr>
            <a:spLocks noChangeArrowheads="1"/>
          </p:cNvSpPr>
          <p:nvPr/>
        </p:nvSpPr>
        <p:spPr bwMode="auto">
          <a:xfrm>
            <a:off x="649899" y="3219848"/>
            <a:ext cx="5773736" cy="2014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800100" indent="-34290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buClr>
                <a:srgbClr val="000099"/>
              </a:buClr>
              <a:buSzPct val="100000"/>
              <a:buFont typeface="Wingdings" panose="05000000000000000000" pitchFamily="2" charset="2"/>
              <a:buChar char="§"/>
            </a:pPr>
            <a:r>
              <a:rPr lang="en-US" altLang="en-US" sz="2800" i="1" dirty="0">
                <a:solidFill>
                  <a:srgbClr val="CC0000"/>
                </a:solidFill>
                <a:latin typeface="+mn-lt"/>
              </a:rPr>
              <a:t>client: </a:t>
            </a:r>
            <a:r>
              <a:rPr lang="en-US" altLang="en-US" sz="2800" dirty="0">
                <a:latin typeface="+mn-lt"/>
              </a:rPr>
              <a:t>each client must download file copy</a:t>
            </a:r>
            <a:endParaRPr lang="en-US" altLang="en-US" sz="2800" dirty="0">
              <a:latin typeface="+mn-lt"/>
            </a:endParaRPr>
          </a:p>
          <a:p>
            <a:pPr lvl="1">
              <a:lnSpc>
                <a:spcPct val="99000"/>
              </a:lnSpc>
              <a:buClr>
                <a:srgbClr val="000099"/>
              </a:buClr>
              <a:buSzTx/>
              <a:buFont typeface="Arial" panose="020B0604020202020204" pitchFamily="34" charset="0"/>
              <a:buChar char="•"/>
            </a:pPr>
            <a:r>
              <a:rPr lang="en-US" altLang="en-US" sz="2400" i="1" dirty="0" err="1">
                <a:latin typeface="+mn-lt"/>
              </a:rPr>
              <a:t>d</a:t>
            </a:r>
            <a:r>
              <a:rPr lang="en-US" altLang="en-US" sz="2400" i="1" baseline="-25000" dirty="0" err="1">
                <a:latin typeface="+mn-lt"/>
              </a:rPr>
              <a:t>mi</a:t>
            </a:r>
            <a:r>
              <a:rPr lang="en-US" altLang="en-US" sz="2400" baseline="-25000" dirty="0" err="1">
                <a:latin typeface="+mn-lt"/>
              </a:rPr>
              <a:t>n</a:t>
            </a:r>
            <a:r>
              <a:rPr lang="en-US" altLang="en-US" sz="2400" dirty="0">
                <a:latin typeface="+mn-lt"/>
              </a:rPr>
              <a:t> = min client download rate</a:t>
            </a:r>
            <a:endParaRPr lang="en-US" altLang="en-US" sz="2400" dirty="0">
              <a:latin typeface="+mn-lt"/>
            </a:endParaRPr>
          </a:p>
          <a:p>
            <a:pPr lvl="1">
              <a:lnSpc>
                <a:spcPct val="99000"/>
              </a:lnSpc>
              <a:buClr>
                <a:srgbClr val="000099"/>
              </a:buClr>
              <a:buSzTx/>
              <a:buFont typeface="Arial" panose="020B0604020202020204" pitchFamily="34" charset="0"/>
              <a:buChar char="•"/>
            </a:pPr>
            <a:r>
              <a:rPr lang="en-US" altLang="en-US" sz="2400" dirty="0">
                <a:latin typeface="+mn-lt"/>
              </a:rPr>
              <a:t>min client download time: </a:t>
            </a:r>
            <a:r>
              <a:rPr lang="en-US" altLang="en-US" sz="2400" i="1" dirty="0">
                <a:latin typeface="+mn-lt"/>
              </a:rPr>
              <a:t>F/</a:t>
            </a:r>
            <a:r>
              <a:rPr lang="en-US" altLang="en-US" sz="2400" i="1" dirty="0" err="1">
                <a:latin typeface="+mn-lt"/>
              </a:rPr>
              <a:t>d</a:t>
            </a:r>
            <a:r>
              <a:rPr lang="en-US" altLang="en-US" sz="2400" i="1" baseline="-25000" dirty="0" err="1">
                <a:latin typeface="+mn-lt"/>
              </a:rPr>
              <a:t>min</a:t>
            </a:r>
            <a:r>
              <a:rPr lang="en-US" altLang="en-US" sz="2400" i="1" dirty="0">
                <a:solidFill>
                  <a:srgbClr val="CC0000"/>
                </a:solidFill>
                <a:latin typeface="+mn-lt"/>
              </a:rPr>
              <a:t> </a:t>
            </a:r>
            <a:endParaRPr lang="en-US" altLang="en-US" sz="2400" i="1" dirty="0">
              <a:latin typeface="+mn-lt"/>
            </a:endParaRPr>
          </a:p>
        </p:txBody>
      </p:sp>
      <p:grpSp>
        <p:nvGrpSpPr>
          <p:cNvPr id="83" name="Group 82"/>
          <p:cNvGrpSpPr/>
          <p:nvPr/>
        </p:nvGrpSpPr>
        <p:grpSpPr>
          <a:xfrm>
            <a:off x="6796266" y="1727769"/>
            <a:ext cx="4518025" cy="2036762"/>
            <a:chOff x="4471988" y="1284288"/>
            <a:chExt cx="4518025" cy="2036762"/>
          </a:xfrm>
        </p:grpSpPr>
        <p:sp>
          <p:nvSpPr>
            <p:cNvPr id="84" name="Freeform 4"/>
            <p:cNvSpPr/>
            <p:nvPr/>
          </p:nvSpPr>
          <p:spPr bwMode="auto">
            <a:xfrm>
              <a:off x="5600700" y="2111375"/>
              <a:ext cx="2136775" cy="12096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en-US" sz="2000"/>
            </a:p>
          </p:txBody>
        </p:sp>
        <p:sp>
          <p:nvSpPr>
            <p:cNvPr id="85" name="Line 14"/>
            <p:cNvSpPr>
              <a:spLocks noChangeShapeType="1"/>
            </p:cNvSpPr>
            <p:nvPr/>
          </p:nvSpPr>
          <p:spPr bwMode="auto">
            <a:xfrm>
              <a:off x="5338763" y="2085975"/>
              <a:ext cx="455612" cy="214313"/>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6" name="Text Box 15"/>
            <p:cNvSpPr txBox="1">
              <a:spLocks noChangeArrowheads="1"/>
            </p:cNvSpPr>
            <p:nvPr/>
          </p:nvSpPr>
          <p:spPr bwMode="auto">
            <a:xfrm>
              <a:off x="5364163" y="1763713"/>
              <a:ext cx="362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i="1">
                  <a:latin typeface="+mn-lt"/>
                </a:rPr>
                <a:t>u</a:t>
              </a:r>
              <a:r>
                <a:rPr lang="en-US" altLang="en-US" sz="1800" i="1" baseline="-25000">
                  <a:latin typeface="+mn-lt"/>
                </a:rPr>
                <a:t>s</a:t>
              </a:r>
              <a:endParaRPr lang="en-US" altLang="en-US" sz="1800" i="1" baseline="-25000">
                <a:latin typeface="+mn-lt"/>
              </a:endParaRPr>
            </a:p>
          </p:txBody>
        </p:sp>
        <p:sp>
          <p:nvSpPr>
            <p:cNvPr id="87" name="Line 39"/>
            <p:cNvSpPr>
              <a:spLocks noChangeShapeType="1"/>
            </p:cNvSpPr>
            <p:nvPr/>
          </p:nvSpPr>
          <p:spPr bwMode="auto">
            <a:xfrm>
              <a:off x="5089525" y="2713038"/>
              <a:ext cx="574675"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8" name="Line 40"/>
            <p:cNvSpPr>
              <a:spLocks noChangeShapeType="1"/>
            </p:cNvSpPr>
            <p:nvPr/>
          </p:nvSpPr>
          <p:spPr bwMode="auto">
            <a:xfrm flipH="1">
              <a:off x="5119688" y="2814638"/>
              <a:ext cx="566737"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9" name="Text Box 44"/>
            <p:cNvSpPr txBox="1">
              <a:spLocks noChangeArrowheads="1"/>
            </p:cNvSpPr>
            <p:nvPr/>
          </p:nvSpPr>
          <p:spPr bwMode="auto">
            <a:xfrm>
              <a:off x="6103696" y="2460625"/>
              <a:ext cx="10545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r>
                <a:rPr lang="en-US" altLang="en-US" dirty="0">
                  <a:solidFill>
                    <a:schemeClr val="bg1"/>
                  </a:solidFill>
                  <a:latin typeface="+mn-lt"/>
                </a:rPr>
                <a:t>network</a:t>
              </a:r>
              <a:endParaRPr lang="en-US" altLang="en-US" sz="1800" dirty="0">
                <a:solidFill>
                  <a:schemeClr val="bg1"/>
                </a:solidFill>
                <a:latin typeface="+mn-lt"/>
              </a:endParaRPr>
            </a:p>
          </p:txBody>
        </p:sp>
        <p:sp>
          <p:nvSpPr>
            <p:cNvPr id="90" name="AutoShape 327"/>
            <p:cNvSpPr>
              <a:spLocks noChangeArrowheads="1"/>
            </p:cNvSpPr>
            <p:nvPr/>
          </p:nvSpPr>
          <p:spPr bwMode="auto">
            <a:xfrm>
              <a:off x="4740275" y="1562100"/>
              <a:ext cx="334963" cy="401638"/>
            </a:xfrm>
            <a:prstGeom prst="can">
              <a:avLst>
                <a:gd name="adj" fmla="val 24242"/>
              </a:avLst>
            </a:prstGeom>
            <a:gradFill rotWithShape="1">
              <a:gsLst>
                <a:gs pos="0">
                  <a:srgbClr val="000099"/>
                </a:gs>
                <a:gs pos="100000">
                  <a:srgbClr val="FFFFFF"/>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900">
                <a:latin typeface="+mn-lt"/>
                <a:cs typeface="Arial" panose="020B0604020202020204" pitchFamily="34" charset="0"/>
              </a:endParaRPr>
            </a:p>
          </p:txBody>
        </p:sp>
        <p:sp>
          <p:nvSpPr>
            <p:cNvPr id="91" name="Line 22"/>
            <p:cNvSpPr>
              <a:spLocks noChangeShapeType="1"/>
            </p:cNvSpPr>
            <p:nvPr/>
          </p:nvSpPr>
          <p:spPr bwMode="auto">
            <a:xfrm flipV="1">
              <a:off x="7000875" y="1819275"/>
              <a:ext cx="180975" cy="530225"/>
            </a:xfrm>
            <a:prstGeom prst="line">
              <a:avLst/>
            </a:prstGeom>
            <a:noFill/>
            <a:ln w="9525">
              <a:solidFill>
                <a:schemeClr val="tx1"/>
              </a:solidFill>
              <a:round/>
              <a:head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2" name="Line 23"/>
            <p:cNvSpPr>
              <a:spLocks noChangeShapeType="1"/>
            </p:cNvSpPr>
            <p:nvPr/>
          </p:nvSpPr>
          <p:spPr bwMode="auto">
            <a:xfrm flipH="1">
              <a:off x="7078663" y="1825625"/>
              <a:ext cx="187325" cy="534988"/>
            </a:xfrm>
            <a:prstGeom prst="line">
              <a:avLst/>
            </a:prstGeom>
            <a:noFill/>
            <a:ln w="9525">
              <a:solidFill>
                <a:schemeClr val="tx1"/>
              </a:solidFill>
              <a:round/>
              <a:head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3" name="Line 22"/>
            <p:cNvSpPr>
              <a:spLocks noChangeShapeType="1"/>
            </p:cNvSpPr>
            <p:nvPr/>
          </p:nvSpPr>
          <p:spPr bwMode="auto">
            <a:xfrm flipV="1">
              <a:off x="6416675" y="1736725"/>
              <a:ext cx="179388" cy="530225"/>
            </a:xfrm>
            <a:prstGeom prst="line">
              <a:avLst/>
            </a:prstGeom>
            <a:noFill/>
            <a:ln w="9525">
              <a:solidFill>
                <a:schemeClr val="tx1"/>
              </a:solidFill>
              <a:round/>
              <a:head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4" name="Line 23"/>
            <p:cNvSpPr>
              <a:spLocks noChangeShapeType="1"/>
            </p:cNvSpPr>
            <p:nvPr/>
          </p:nvSpPr>
          <p:spPr bwMode="auto">
            <a:xfrm flipH="1">
              <a:off x="6492875" y="1743075"/>
              <a:ext cx="185738" cy="534988"/>
            </a:xfrm>
            <a:prstGeom prst="line">
              <a:avLst/>
            </a:prstGeom>
            <a:noFill/>
            <a:ln w="9525">
              <a:solidFill>
                <a:schemeClr val="tx1"/>
              </a:solidFill>
              <a:round/>
              <a:head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5" name="Line 138"/>
            <p:cNvSpPr>
              <a:spLocks noChangeShapeType="1"/>
            </p:cNvSpPr>
            <p:nvPr/>
          </p:nvSpPr>
          <p:spPr bwMode="auto">
            <a:xfrm>
              <a:off x="7723188" y="2579688"/>
              <a:ext cx="658812" cy="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6" name="Line 139"/>
            <p:cNvSpPr>
              <a:spLocks noChangeShapeType="1"/>
            </p:cNvSpPr>
            <p:nvPr/>
          </p:nvSpPr>
          <p:spPr bwMode="auto">
            <a:xfrm>
              <a:off x="7726363" y="2682875"/>
              <a:ext cx="660400" cy="0"/>
            </a:xfrm>
            <a:prstGeom prst="line">
              <a:avLst/>
            </a:prstGeom>
            <a:noFill/>
            <a:ln w="19050">
              <a:solidFill>
                <a:schemeClr val="tx1"/>
              </a:solidFill>
              <a:round/>
              <a:head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7" name="Text Box 41"/>
            <p:cNvSpPr txBox="1">
              <a:spLocks noChangeArrowheads="1"/>
            </p:cNvSpPr>
            <p:nvPr/>
          </p:nvSpPr>
          <p:spPr bwMode="auto">
            <a:xfrm>
              <a:off x="7813675" y="2146300"/>
              <a:ext cx="450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i="1">
                  <a:latin typeface="+mn-lt"/>
                </a:rPr>
                <a:t>d</a:t>
              </a:r>
              <a:r>
                <a:rPr lang="en-US" altLang="en-US" sz="1800" i="1" baseline="-25000">
                  <a:latin typeface="+mn-lt"/>
                </a:rPr>
                <a:t>i</a:t>
              </a:r>
              <a:endParaRPr lang="en-US" altLang="en-US" sz="1800" i="1" baseline="-25000">
                <a:latin typeface="+mn-lt"/>
              </a:endParaRPr>
            </a:p>
          </p:txBody>
        </p:sp>
        <p:sp>
          <p:nvSpPr>
            <p:cNvPr id="98" name="Text Box 41"/>
            <p:cNvSpPr txBox="1">
              <a:spLocks noChangeArrowheads="1"/>
            </p:cNvSpPr>
            <p:nvPr/>
          </p:nvSpPr>
          <p:spPr bwMode="auto">
            <a:xfrm>
              <a:off x="7829550" y="2663825"/>
              <a:ext cx="50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i="1">
                  <a:latin typeface="+mn-lt"/>
                </a:rPr>
                <a:t>u</a:t>
              </a:r>
              <a:r>
                <a:rPr lang="en-US" altLang="en-US" sz="1800" i="1" baseline="-25000">
                  <a:latin typeface="+mn-lt"/>
                </a:rPr>
                <a:t>i</a:t>
              </a:r>
              <a:endParaRPr lang="en-US" altLang="en-US" sz="1800" i="1" baseline="-25000">
                <a:latin typeface="+mn-lt"/>
              </a:endParaRPr>
            </a:p>
          </p:txBody>
        </p:sp>
        <p:sp>
          <p:nvSpPr>
            <p:cNvPr id="99" name="Text Box 47"/>
            <p:cNvSpPr txBox="1">
              <a:spLocks noChangeArrowheads="1"/>
            </p:cNvSpPr>
            <p:nvPr/>
          </p:nvSpPr>
          <p:spPr bwMode="auto">
            <a:xfrm>
              <a:off x="4498975" y="1616075"/>
              <a:ext cx="7905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r>
                <a:rPr lang="en-US" altLang="en-US" sz="1600" i="1">
                  <a:latin typeface="+mn-lt"/>
                </a:rPr>
                <a:t>F</a:t>
              </a:r>
              <a:endParaRPr lang="en-US" altLang="en-US" sz="1600" i="1" baseline="-25000">
                <a:latin typeface="+mn-lt"/>
              </a:endParaRPr>
            </a:p>
          </p:txBody>
        </p:sp>
        <p:grpSp>
          <p:nvGrpSpPr>
            <p:cNvPr id="100" name="Group 143"/>
            <p:cNvGrpSpPr/>
            <p:nvPr/>
          </p:nvGrpSpPr>
          <p:grpSpPr bwMode="auto">
            <a:xfrm>
              <a:off x="5114925" y="1690688"/>
              <a:ext cx="292100" cy="517525"/>
              <a:chOff x="4140" y="429"/>
              <a:chExt cx="1425" cy="2396"/>
            </a:xfrm>
          </p:grpSpPr>
          <p:sp>
            <p:nvSpPr>
              <p:cNvPr id="113" name="Freeform 144"/>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sp>
            <p:nvSpPr>
              <p:cNvPr id="114" name="Rectangle 145"/>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15" name="Freeform 146"/>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sp>
            <p:nvSpPr>
              <p:cNvPr id="116" name="Freeform 147"/>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sp>
            <p:nvSpPr>
              <p:cNvPr id="117" name="Rectangle 148"/>
              <p:cNvSpPr>
                <a:spLocks noChangeArrowheads="1"/>
              </p:cNvSpPr>
              <p:nvPr/>
            </p:nvSpPr>
            <p:spPr bwMode="auto">
              <a:xfrm>
                <a:off x="4210" y="694"/>
                <a:ext cx="596"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nvGrpSpPr>
              <p:cNvPr id="118" name="Group 149"/>
              <p:cNvGrpSpPr/>
              <p:nvPr/>
            </p:nvGrpSpPr>
            <p:grpSpPr bwMode="auto">
              <a:xfrm>
                <a:off x="4749" y="668"/>
                <a:ext cx="581" cy="145"/>
                <a:chOff x="614" y="2568"/>
                <a:chExt cx="725" cy="139"/>
              </a:xfrm>
            </p:grpSpPr>
            <p:sp>
              <p:nvSpPr>
                <p:cNvPr id="143" name="AutoShape 150"/>
                <p:cNvSpPr>
                  <a:spLocks noChangeArrowheads="1"/>
                </p:cNvSpPr>
                <p:nvPr/>
              </p:nvSpPr>
              <p:spPr bwMode="auto">
                <a:xfrm>
                  <a:off x="618" y="2571"/>
                  <a:ext cx="725"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44" name="AutoShape 151"/>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sp>
            <p:nvSpPr>
              <p:cNvPr id="119" name="Rectangle 152"/>
              <p:cNvSpPr>
                <a:spLocks noChangeArrowheads="1"/>
              </p:cNvSpPr>
              <p:nvPr/>
            </p:nvSpPr>
            <p:spPr bwMode="auto">
              <a:xfrm>
                <a:off x="4225" y="1017"/>
                <a:ext cx="596" cy="51"/>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nvGrpSpPr>
              <p:cNvPr id="120" name="Group 153"/>
              <p:cNvGrpSpPr/>
              <p:nvPr/>
            </p:nvGrpSpPr>
            <p:grpSpPr bwMode="auto">
              <a:xfrm>
                <a:off x="4747" y="994"/>
                <a:ext cx="581" cy="134"/>
                <a:chOff x="614" y="2568"/>
                <a:chExt cx="725" cy="139"/>
              </a:xfrm>
            </p:grpSpPr>
            <p:sp>
              <p:nvSpPr>
                <p:cNvPr id="141" name="AutoShape 154"/>
                <p:cNvSpPr>
                  <a:spLocks noChangeArrowheads="1"/>
                </p:cNvSpPr>
                <p:nvPr/>
              </p:nvSpPr>
              <p:spPr bwMode="auto">
                <a:xfrm>
                  <a:off x="610" y="2569"/>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42" name="AutoShape 155"/>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sp>
            <p:nvSpPr>
              <p:cNvPr id="121" name="Rectangle 156"/>
              <p:cNvSpPr>
                <a:spLocks noChangeArrowheads="1"/>
              </p:cNvSpPr>
              <p:nvPr/>
            </p:nvSpPr>
            <p:spPr bwMode="auto">
              <a:xfrm>
                <a:off x="4217" y="1355"/>
                <a:ext cx="596" cy="51"/>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22" name="Rectangle 157"/>
              <p:cNvSpPr>
                <a:spLocks noChangeArrowheads="1"/>
              </p:cNvSpPr>
              <p:nvPr/>
            </p:nvSpPr>
            <p:spPr bwMode="auto">
              <a:xfrm>
                <a:off x="4225" y="1656"/>
                <a:ext cx="596"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nvGrpSpPr>
              <p:cNvPr id="123" name="Group 158"/>
              <p:cNvGrpSpPr/>
              <p:nvPr/>
            </p:nvGrpSpPr>
            <p:grpSpPr bwMode="auto">
              <a:xfrm>
                <a:off x="4735" y="1627"/>
                <a:ext cx="582" cy="151"/>
                <a:chOff x="614" y="2568"/>
                <a:chExt cx="725" cy="139"/>
              </a:xfrm>
            </p:grpSpPr>
            <p:sp>
              <p:nvSpPr>
                <p:cNvPr id="139" name="AutoShape 159"/>
                <p:cNvSpPr>
                  <a:spLocks noChangeArrowheads="1"/>
                </p:cNvSpPr>
                <p:nvPr/>
              </p:nvSpPr>
              <p:spPr bwMode="auto">
                <a:xfrm>
                  <a:off x="616" y="2568"/>
                  <a:ext cx="724"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40" name="AutoShape 160"/>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sp>
            <p:nvSpPr>
              <p:cNvPr id="124" name="Freeform 161"/>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grpSp>
            <p:nvGrpSpPr>
              <p:cNvPr id="125" name="Group 162"/>
              <p:cNvGrpSpPr/>
              <p:nvPr/>
            </p:nvGrpSpPr>
            <p:grpSpPr bwMode="auto">
              <a:xfrm>
                <a:off x="4739" y="1327"/>
                <a:ext cx="582" cy="139"/>
                <a:chOff x="614" y="2568"/>
                <a:chExt cx="725" cy="139"/>
              </a:xfrm>
            </p:grpSpPr>
            <p:sp>
              <p:nvSpPr>
                <p:cNvPr id="137" name="AutoShape 163"/>
                <p:cNvSpPr>
                  <a:spLocks noChangeArrowheads="1"/>
                </p:cNvSpPr>
                <p:nvPr/>
              </p:nvSpPr>
              <p:spPr bwMode="auto">
                <a:xfrm>
                  <a:off x="611"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38" name="AutoShape 164"/>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sp>
            <p:nvSpPr>
              <p:cNvPr id="126" name="Rectangle 165"/>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27" name="Freeform 166"/>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sp>
            <p:nvSpPr>
              <p:cNvPr id="128" name="Freeform 167"/>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sp>
            <p:nvSpPr>
              <p:cNvPr id="129" name="Oval 168"/>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30" name="Freeform 169"/>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sp>
            <p:nvSpPr>
              <p:cNvPr id="131" name="AutoShape 170"/>
              <p:cNvSpPr>
                <a:spLocks noChangeArrowheads="1"/>
              </p:cNvSpPr>
              <p:nvPr/>
            </p:nvSpPr>
            <p:spPr bwMode="auto">
              <a:xfrm>
                <a:off x="4140" y="2678"/>
                <a:ext cx="1200" cy="147"/>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32" name="AutoShape 171"/>
              <p:cNvSpPr>
                <a:spLocks noChangeArrowheads="1"/>
              </p:cNvSpPr>
              <p:nvPr/>
            </p:nvSpPr>
            <p:spPr bwMode="auto">
              <a:xfrm>
                <a:off x="4210" y="2707"/>
                <a:ext cx="1069" cy="88"/>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33" name="Oval 172"/>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34" name="Oval 173"/>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a:solidFill>
                    <a:srgbClr val="FF0000"/>
                  </a:solidFill>
                  <a:latin typeface="+mn-lt"/>
                  <a:cs typeface="Arial" panose="020B0604020202020204" pitchFamily="34" charset="0"/>
                </a:endParaRPr>
              </a:p>
            </p:txBody>
          </p:sp>
          <p:sp>
            <p:nvSpPr>
              <p:cNvPr id="135" name="Oval 174"/>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36" name="Rectangle 175"/>
              <p:cNvSpPr>
                <a:spLocks noChangeArrowheads="1"/>
              </p:cNvSpPr>
              <p:nvPr/>
            </p:nvSpPr>
            <p:spPr bwMode="auto">
              <a:xfrm>
                <a:off x="5062" y="1833"/>
                <a:ext cx="85" cy="764"/>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grpSp>
          <p:nvGrpSpPr>
            <p:cNvPr id="101" name="Group 176"/>
            <p:cNvGrpSpPr/>
            <p:nvPr/>
          </p:nvGrpSpPr>
          <p:grpSpPr bwMode="auto">
            <a:xfrm>
              <a:off x="4471988" y="2492375"/>
              <a:ext cx="620712" cy="512763"/>
              <a:chOff x="-44" y="1473"/>
              <a:chExt cx="981" cy="1105"/>
            </a:xfrm>
          </p:grpSpPr>
          <p:pic>
            <p:nvPicPr>
              <p:cNvPr id="111" name="Picture 177"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178"/>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102" name="Group 179"/>
            <p:cNvGrpSpPr/>
            <p:nvPr/>
          </p:nvGrpSpPr>
          <p:grpSpPr bwMode="auto">
            <a:xfrm>
              <a:off x="6300788" y="1284288"/>
              <a:ext cx="620712" cy="512762"/>
              <a:chOff x="-44" y="1473"/>
              <a:chExt cx="981" cy="1105"/>
            </a:xfrm>
          </p:grpSpPr>
          <p:pic>
            <p:nvPicPr>
              <p:cNvPr id="109" name="Picture 180"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181"/>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103" name="Group 182"/>
            <p:cNvGrpSpPr/>
            <p:nvPr/>
          </p:nvGrpSpPr>
          <p:grpSpPr bwMode="auto">
            <a:xfrm>
              <a:off x="6910388" y="1360488"/>
              <a:ext cx="620712" cy="512762"/>
              <a:chOff x="-44" y="1473"/>
              <a:chExt cx="981" cy="1105"/>
            </a:xfrm>
          </p:grpSpPr>
          <p:pic>
            <p:nvPicPr>
              <p:cNvPr id="107" name="Picture 183"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Freeform 184"/>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104" name="Group 185"/>
            <p:cNvGrpSpPr/>
            <p:nvPr/>
          </p:nvGrpSpPr>
          <p:grpSpPr bwMode="auto">
            <a:xfrm flipH="1">
              <a:off x="8369300" y="2362200"/>
              <a:ext cx="620713" cy="512763"/>
              <a:chOff x="-44" y="1473"/>
              <a:chExt cx="981" cy="1105"/>
            </a:xfrm>
          </p:grpSpPr>
          <p:pic>
            <p:nvPicPr>
              <p:cNvPr id="105" name="Picture 186"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187"/>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sp>
        <p:nvSpPr>
          <p:cNvPr id="145" name="Line 53"/>
          <p:cNvSpPr>
            <a:spLocks noChangeShapeType="1"/>
          </p:cNvSpPr>
          <p:nvPr/>
        </p:nvSpPr>
        <p:spPr bwMode="auto">
          <a:xfrm flipV="1">
            <a:off x="7346884" y="5742831"/>
            <a:ext cx="430213" cy="692150"/>
          </a:xfrm>
          <a:prstGeom prst="line">
            <a:avLst/>
          </a:prstGeom>
          <a:noFill/>
          <a:ln w="9525">
            <a:solidFill>
              <a:srgbClr val="CC0000"/>
            </a:solidFill>
            <a:round/>
          </a:ln>
          <a:extLst>
            <a:ext uri="{909E8E84-426E-40DD-AFC4-6F175D3DCCD1}">
              <a14:hiddenFill xmlns:a14="http://schemas.microsoft.com/office/drawing/2010/main">
                <a:noFill/>
              </a14:hiddenFill>
            </a:ext>
          </a:extLst>
        </p:spPr>
        <p:txBody>
          <a:bodyPr/>
          <a:lstStyle/>
          <a:p>
            <a:endParaRPr lang="en-US" sz="2000"/>
          </a:p>
        </p:txBody>
      </p:sp>
      <p:sp>
        <p:nvSpPr>
          <p:cNvPr id="146" name="Text Box 54"/>
          <p:cNvSpPr txBox="1">
            <a:spLocks noChangeArrowheads="1"/>
          </p:cNvSpPr>
          <p:nvPr/>
        </p:nvSpPr>
        <p:spPr bwMode="auto">
          <a:xfrm>
            <a:off x="4493784" y="6271469"/>
            <a:ext cx="2905732"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0000"/>
              </a:lnSpc>
            </a:pPr>
            <a:r>
              <a:rPr lang="en-US" altLang="en-US" sz="2400" dirty="0">
                <a:latin typeface="+mn-lt"/>
              </a:rPr>
              <a:t>increases linearly in N</a:t>
            </a:r>
            <a:endParaRPr lang="en-US" altLang="en-US" sz="2400" dirty="0">
              <a:latin typeface="+mn-lt"/>
            </a:endParaRPr>
          </a:p>
        </p:txBody>
      </p:sp>
      <p:sp>
        <p:nvSpPr>
          <p:cNvPr id="147" name="Text Box 51"/>
          <p:cNvSpPr txBox="1">
            <a:spLocks noChangeArrowheads="1"/>
          </p:cNvSpPr>
          <p:nvPr/>
        </p:nvSpPr>
        <p:spPr bwMode="auto">
          <a:xfrm>
            <a:off x="2736226" y="5036394"/>
            <a:ext cx="3049233" cy="1036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r">
              <a:lnSpc>
                <a:spcPct val="80000"/>
              </a:lnSpc>
            </a:pPr>
            <a:r>
              <a:rPr lang="en-US" altLang="en-US" sz="2400" i="1">
                <a:latin typeface="+mn-lt"/>
              </a:rPr>
              <a:t>time to  distribute F </a:t>
            </a:r>
            <a:endParaRPr lang="en-US" altLang="en-US" sz="2400" i="1">
              <a:latin typeface="+mn-lt"/>
            </a:endParaRPr>
          </a:p>
          <a:p>
            <a:pPr algn="r">
              <a:lnSpc>
                <a:spcPct val="80000"/>
              </a:lnSpc>
            </a:pPr>
            <a:r>
              <a:rPr lang="en-US" altLang="en-US" sz="2400" i="1">
                <a:latin typeface="+mn-lt"/>
              </a:rPr>
              <a:t>to N clients using </a:t>
            </a:r>
            <a:endParaRPr lang="en-US" altLang="en-US" sz="2400" i="1">
              <a:latin typeface="+mn-lt"/>
            </a:endParaRPr>
          </a:p>
          <a:p>
            <a:pPr algn="r">
              <a:lnSpc>
                <a:spcPct val="80000"/>
              </a:lnSpc>
            </a:pPr>
            <a:r>
              <a:rPr lang="en-US" altLang="en-US" sz="2400" i="1">
                <a:latin typeface="+mn-lt"/>
              </a:rPr>
              <a:t>client-server approach</a:t>
            </a:r>
            <a:r>
              <a:rPr lang="en-US" altLang="en-US" sz="2800">
                <a:latin typeface="+mn-lt"/>
              </a:rPr>
              <a:t> </a:t>
            </a:r>
            <a:endParaRPr lang="en-US" altLang="en-US" sz="3200">
              <a:latin typeface="+mn-lt"/>
            </a:endParaRPr>
          </a:p>
        </p:txBody>
      </p:sp>
      <p:sp>
        <p:nvSpPr>
          <p:cNvPr id="148" name="Rectangle 55"/>
          <p:cNvSpPr>
            <a:spLocks noChangeArrowheads="1"/>
          </p:cNvSpPr>
          <p:nvPr/>
        </p:nvSpPr>
        <p:spPr bwMode="auto">
          <a:xfrm>
            <a:off x="2518348" y="4964956"/>
            <a:ext cx="7421599" cy="1235075"/>
          </a:xfrm>
          <a:prstGeom prst="rect">
            <a:avLst/>
          </a:prstGeom>
          <a:noFill/>
          <a:ln w="19050">
            <a:solidFill>
              <a:srgbClr val="CC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149" name="Text Box 96"/>
          <p:cNvSpPr txBox="1">
            <a:spLocks noChangeArrowheads="1"/>
          </p:cNvSpPr>
          <p:nvPr/>
        </p:nvSpPr>
        <p:spPr bwMode="auto">
          <a:xfrm>
            <a:off x="5696559" y="5279281"/>
            <a:ext cx="434369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3200" i="1">
                <a:latin typeface="+mn-lt"/>
              </a:rPr>
              <a:t> D</a:t>
            </a:r>
            <a:r>
              <a:rPr lang="en-US" altLang="en-US" sz="3200" i="1" baseline="-25000">
                <a:latin typeface="+mn-lt"/>
              </a:rPr>
              <a:t>c-s</a:t>
            </a:r>
            <a:r>
              <a:rPr lang="en-US" altLang="en-US" sz="3200" i="1">
                <a:latin typeface="+mn-lt"/>
              </a:rPr>
              <a:t> &gt; max{NF/u</a:t>
            </a:r>
            <a:r>
              <a:rPr lang="en-US" altLang="en-US" sz="3200" i="1" baseline="-25000">
                <a:latin typeface="+mn-lt"/>
              </a:rPr>
              <a:t>s,</a:t>
            </a:r>
            <a:r>
              <a:rPr lang="en-US" altLang="en-US" sz="3200" i="1">
                <a:latin typeface="+mn-lt"/>
              </a:rPr>
              <a:t>,F/d</a:t>
            </a:r>
            <a:r>
              <a:rPr lang="en-US" altLang="en-US" sz="3200" i="1" baseline="-25000">
                <a:latin typeface="+mn-lt"/>
              </a:rPr>
              <a:t>min</a:t>
            </a:r>
            <a:r>
              <a:rPr lang="en-US" altLang="en-US" sz="3200" i="1">
                <a:latin typeface="+mn-lt"/>
              </a:rPr>
              <a:t>}</a:t>
            </a:r>
            <a:r>
              <a:rPr lang="en-US" altLang="en-US" sz="3200" i="1">
                <a:solidFill>
                  <a:srgbClr val="CC0000"/>
                </a:solidFill>
                <a:latin typeface="+mn-lt"/>
              </a:rPr>
              <a:t> </a:t>
            </a:r>
            <a:endParaRPr lang="en-US" altLang="en-US" sz="3200" i="1">
              <a:solidFill>
                <a:srgbClr val="CC0000"/>
              </a:solidFill>
              <a:latin typeface="+mn-lt"/>
            </a:endParaRPr>
          </a:p>
        </p:txBody>
      </p:sp>
      <p:sp>
        <p:nvSpPr>
          <p:cNvPr id="150" name="Line 120"/>
          <p:cNvSpPr>
            <a:spLocks noChangeShapeType="1"/>
          </p:cNvSpPr>
          <p:nvPr/>
        </p:nvSpPr>
        <p:spPr bwMode="auto">
          <a:xfrm>
            <a:off x="6593497" y="5707906"/>
            <a:ext cx="17462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en-US" sz="200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File distribution time: P2P</a:t>
            </a:r>
            <a:endParaRPr lang="en-US" sz="4400" dirty="0"/>
          </a:p>
        </p:txBody>
      </p:sp>
      <p:sp>
        <p:nvSpPr>
          <p:cNvPr id="80" name="Rectangle 47"/>
          <p:cNvSpPr txBox="1">
            <a:spLocks noChangeArrowheads="1"/>
          </p:cNvSpPr>
          <p:nvPr/>
        </p:nvSpPr>
        <p:spPr>
          <a:xfrm>
            <a:off x="755629" y="1323701"/>
            <a:ext cx="6098355" cy="20145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MS PGothic" panose="020B0600070205080204" pitchFamily="34" charset="-128"/>
              </a:rPr>
              <a:t>server transmission: </a:t>
            </a:r>
            <a:r>
              <a:rPr lang="en-US" altLang="en-US" dirty="0">
                <a:ea typeface="MS PGothic" panose="020B0600070205080204" pitchFamily="34" charset="-128"/>
              </a:rPr>
              <a:t>must</a:t>
            </a:r>
            <a:r>
              <a:rPr lang="en-US" altLang="en-US" i="1" dirty="0">
                <a:solidFill>
                  <a:srgbClr val="CC0000"/>
                </a:solidFill>
                <a:ea typeface="MS PGothic" panose="020B0600070205080204" pitchFamily="34" charset="-128"/>
              </a:rPr>
              <a:t> </a:t>
            </a:r>
            <a:r>
              <a:rPr lang="en-US" altLang="en-US" dirty="0">
                <a:ea typeface="MS PGothic" panose="020B0600070205080204" pitchFamily="34" charset="-128"/>
              </a:rPr>
              <a:t>upload at least one copy:</a:t>
            </a:r>
            <a:endParaRPr lang="en-US" altLang="en-US" dirty="0">
              <a:ea typeface="MS PGothic" panose="020B0600070205080204" pitchFamily="34" charset="-128"/>
            </a:endParaRPr>
          </a:p>
          <a:p>
            <a:pPr lvl="1">
              <a:lnSpc>
                <a:spcPct val="100000"/>
              </a:lnSpc>
            </a:pPr>
            <a:r>
              <a:rPr lang="en-US" altLang="en-US" dirty="0">
                <a:ea typeface="MS PGothic" panose="020B0600070205080204" pitchFamily="34" charset="-128"/>
              </a:rPr>
              <a:t>time to send one copy: </a:t>
            </a:r>
            <a:r>
              <a:rPr lang="en-US" altLang="en-US" i="1" dirty="0">
                <a:ea typeface="MS PGothic" panose="020B0600070205080204" pitchFamily="34" charset="-128"/>
              </a:rPr>
              <a:t>F/u</a:t>
            </a:r>
            <a:r>
              <a:rPr lang="en-US" altLang="en-US" i="1" baseline="-25000" dirty="0">
                <a:ea typeface="MS PGothic" panose="020B0600070205080204" pitchFamily="34" charset="-128"/>
              </a:rPr>
              <a:t>s </a:t>
            </a:r>
            <a:endParaRPr lang="en-US" altLang="en-US" dirty="0">
              <a:ea typeface="MS PGothic" panose="020B0600070205080204" pitchFamily="34" charset="-128"/>
            </a:endParaRPr>
          </a:p>
        </p:txBody>
      </p:sp>
      <p:sp>
        <p:nvSpPr>
          <p:cNvPr id="81" name="Rectangle 47"/>
          <p:cNvSpPr>
            <a:spLocks noChangeArrowheads="1"/>
          </p:cNvSpPr>
          <p:nvPr/>
        </p:nvSpPr>
        <p:spPr bwMode="auto">
          <a:xfrm>
            <a:off x="877866" y="2707749"/>
            <a:ext cx="5773736" cy="1209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800100" indent="-34290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buClr>
                <a:srgbClr val="000099"/>
              </a:buClr>
              <a:buSzPct val="100000"/>
              <a:buFont typeface="Wingdings" panose="05000000000000000000" pitchFamily="2" charset="2"/>
              <a:buChar char="§"/>
            </a:pPr>
            <a:r>
              <a:rPr lang="en-US" altLang="en-US" sz="2800" i="1" dirty="0">
                <a:solidFill>
                  <a:srgbClr val="CC0000"/>
                </a:solidFill>
                <a:latin typeface="+mn-lt"/>
              </a:rPr>
              <a:t>client: </a:t>
            </a:r>
            <a:r>
              <a:rPr lang="en-US" altLang="en-US" sz="2800" dirty="0">
                <a:latin typeface="+mn-lt"/>
              </a:rPr>
              <a:t>each client must download file copy</a:t>
            </a:r>
            <a:endParaRPr lang="en-US" altLang="en-US" sz="2800" dirty="0">
              <a:latin typeface="+mn-lt"/>
            </a:endParaRPr>
          </a:p>
          <a:p>
            <a:pPr lvl="1">
              <a:lnSpc>
                <a:spcPct val="99000"/>
              </a:lnSpc>
              <a:buClr>
                <a:srgbClr val="000099"/>
              </a:buClr>
              <a:buSzTx/>
              <a:buFont typeface="Arial" panose="020B0604020202020204" pitchFamily="34" charset="0"/>
              <a:buChar char="•"/>
            </a:pPr>
            <a:r>
              <a:rPr lang="en-US" altLang="en-US" sz="2400" dirty="0">
                <a:latin typeface="+mn-lt"/>
              </a:rPr>
              <a:t>min client download time: </a:t>
            </a:r>
            <a:r>
              <a:rPr lang="en-US" altLang="en-US" sz="2400" i="1" dirty="0">
                <a:latin typeface="+mn-lt"/>
              </a:rPr>
              <a:t>F/</a:t>
            </a:r>
            <a:r>
              <a:rPr lang="en-US" altLang="en-US" sz="2400" i="1" dirty="0" err="1">
                <a:latin typeface="+mn-lt"/>
              </a:rPr>
              <a:t>d</a:t>
            </a:r>
            <a:r>
              <a:rPr lang="en-US" altLang="en-US" sz="2400" i="1" baseline="-25000" dirty="0" err="1">
                <a:latin typeface="+mn-lt"/>
              </a:rPr>
              <a:t>min</a:t>
            </a:r>
            <a:r>
              <a:rPr lang="en-US" altLang="en-US" sz="2400" i="1" dirty="0">
                <a:solidFill>
                  <a:srgbClr val="CC0000"/>
                </a:solidFill>
                <a:latin typeface="+mn-lt"/>
              </a:rPr>
              <a:t> </a:t>
            </a:r>
            <a:endParaRPr lang="en-US" altLang="en-US" sz="2400" i="1" dirty="0">
              <a:latin typeface="+mn-lt"/>
            </a:endParaRPr>
          </a:p>
        </p:txBody>
      </p:sp>
      <p:grpSp>
        <p:nvGrpSpPr>
          <p:cNvPr id="83" name="Group 82"/>
          <p:cNvGrpSpPr/>
          <p:nvPr/>
        </p:nvGrpSpPr>
        <p:grpSpPr>
          <a:xfrm>
            <a:off x="7006772" y="1790995"/>
            <a:ext cx="4518025" cy="2036762"/>
            <a:chOff x="4471988" y="1284288"/>
            <a:chExt cx="4518025" cy="2036762"/>
          </a:xfrm>
        </p:grpSpPr>
        <p:sp>
          <p:nvSpPr>
            <p:cNvPr id="84" name="Freeform 4"/>
            <p:cNvSpPr/>
            <p:nvPr/>
          </p:nvSpPr>
          <p:spPr bwMode="auto">
            <a:xfrm>
              <a:off x="5600700" y="2111375"/>
              <a:ext cx="2136775" cy="12096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endParaRPr lang="en-US" sz="2000"/>
            </a:p>
          </p:txBody>
        </p:sp>
        <p:sp>
          <p:nvSpPr>
            <p:cNvPr id="85" name="Line 14"/>
            <p:cNvSpPr>
              <a:spLocks noChangeShapeType="1"/>
            </p:cNvSpPr>
            <p:nvPr/>
          </p:nvSpPr>
          <p:spPr bwMode="auto">
            <a:xfrm>
              <a:off x="5338763" y="2085975"/>
              <a:ext cx="455612" cy="214313"/>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6" name="Text Box 15"/>
            <p:cNvSpPr txBox="1">
              <a:spLocks noChangeArrowheads="1"/>
            </p:cNvSpPr>
            <p:nvPr/>
          </p:nvSpPr>
          <p:spPr bwMode="auto">
            <a:xfrm>
              <a:off x="5364163" y="1763713"/>
              <a:ext cx="362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i="1">
                  <a:latin typeface="+mn-lt"/>
                </a:rPr>
                <a:t>u</a:t>
              </a:r>
              <a:r>
                <a:rPr lang="en-US" altLang="en-US" sz="1800" i="1" baseline="-25000">
                  <a:latin typeface="+mn-lt"/>
                </a:rPr>
                <a:t>s</a:t>
              </a:r>
              <a:endParaRPr lang="en-US" altLang="en-US" sz="1800" i="1" baseline="-25000">
                <a:latin typeface="+mn-lt"/>
              </a:endParaRPr>
            </a:p>
          </p:txBody>
        </p:sp>
        <p:sp>
          <p:nvSpPr>
            <p:cNvPr id="87" name="Line 39"/>
            <p:cNvSpPr>
              <a:spLocks noChangeShapeType="1"/>
            </p:cNvSpPr>
            <p:nvPr/>
          </p:nvSpPr>
          <p:spPr bwMode="auto">
            <a:xfrm>
              <a:off x="5089525" y="2713038"/>
              <a:ext cx="574675"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8" name="Line 40"/>
            <p:cNvSpPr>
              <a:spLocks noChangeShapeType="1"/>
            </p:cNvSpPr>
            <p:nvPr/>
          </p:nvSpPr>
          <p:spPr bwMode="auto">
            <a:xfrm flipH="1">
              <a:off x="5119688" y="2814638"/>
              <a:ext cx="566737"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89" name="Text Box 44"/>
            <p:cNvSpPr txBox="1">
              <a:spLocks noChangeArrowheads="1"/>
            </p:cNvSpPr>
            <p:nvPr/>
          </p:nvSpPr>
          <p:spPr bwMode="auto">
            <a:xfrm>
              <a:off x="6103696" y="2460625"/>
              <a:ext cx="10545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r>
                <a:rPr lang="en-US" altLang="en-US" dirty="0">
                  <a:solidFill>
                    <a:schemeClr val="bg1"/>
                  </a:solidFill>
                  <a:latin typeface="+mn-lt"/>
                </a:rPr>
                <a:t>network</a:t>
              </a:r>
              <a:endParaRPr lang="en-US" altLang="en-US" sz="1800" dirty="0">
                <a:solidFill>
                  <a:schemeClr val="bg1"/>
                </a:solidFill>
                <a:latin typeface="+mn-lt"/>
              </a:endParaRPr>
            </a:p>
          </p:txBody>
        </p:sp>
        <p:sp>
          <p:nvSpPr>
            <p:cNvPr id="90" name="AutoShape 327"/>
            <p:cNvSpPr>
              <a:spLocks noChangeArrowheads="1"/>
            </p:cNvSpPr>
            <p:nvPr/>
          </p:nvSpPr>
          <p:spPr bwMode="auto">
            <a:xfrm>
              <a:off x="4740275" y="1562100"/>
              <a:ext cx="334963" cy="401638"/>
            </a:xfrm>
            <a:prstGeom prst="can">
              <a:avLst>
                <a:gd name="adj" fmla="val 24242"/>
              </a:avLst>
            </a:prstGeom>
            <a:gradFill rotWithShape="1">
              <a:gsLst>
                <a:gs pos="0">
                  <a:srgbClr val="000099"/>
                </a:gs>
                <a:gs pos="100000">
                  <a:srgbClr val="FFFFFF"/>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900">
                <a:latin typeface="+mn-lt"/>
                <a:cs typeface="Arial" panose="020B0604020202020204" pitchFamily="34" charset="0"/>
              </a:endParaRPr>
            </a:p>
          </p:txBody>
        </p:sp>
        <p:sp>
          <p:nvSpPr>
            <p:cNvPr id="91" name="Line 22"/>
            <p:cNvSpPr>
              <a:spLocks noChangeShapeType="1"/>
            </p:cNvSpPr>
            <p:nvPr/>
          </p:nvSpPr>
          <p:spPr bwMode="auto">
            <a:xfrm flipV="1">
              <a:off x="7000875" y="1819275"/>
              <a:ext cx="180975" cy="530225"/>
            </a:xfrm>
            <a:prstGeom prst="line">
              <a:avLst/>
            </a:prstGeom>
            <a:noFill/>
            <a:ln w="9525">
              <a:solidFill>
                <a:schemeClr val="tx1"/>
              </a:solidFill>
              <a:round/>
              <a:head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2" name="Line 23"/>
            <p:cNvSpPr>
              <a:spLocks noChangeShapeType="1"/>
            </p:cNvSpPr>
            <p:nvPr/>
          </p:nvSpPr>
          <p:spPr bwMode="auto">
            <a:xfrm flipH="1">
              <a:off x="7078663" y="1825625"/>
              <a:ext cx="187325" cy="534988"/>
            </a:xfrm>
            <a:prstGeom prst="line">
              <a:avLst/>
            </a:prstGeom>
            <a:noFill/>
            <a:ln w="9525">
              <a:solidFill>
                <a:schemeClr val="tx1"/>
              </a:solidFill>
              <a:round/>
              <a:head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3" name="Line 22"/>
            <p:cNvSpPr>
              <a:spLocks noChangeShapeType="1"/>
            </p:cNvSpPr>
            <p:nvPr/>
          </p:nvSpPr>
          <p:spPr bwMode="auto">
            <a:xfrm flipV="1">
              <a:off x="6416675" y="1736725"/>
              <a:ext cx="179388" cy="530225"/>
            </a:xfrm>
            <a:prstGeom prst="line">
              <a:avLst/>
            </a:prstGeom>
            <a:noFill/>
            <a:ln w="9525">
              <a:solidFill>
                <a:schemeClr val="tx1"/>
              </a:solidFill>
              <a:round/>
              <a:head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4" name="Line 23"/>
            <p:cNvSpPr>
              <a:spLocks noChangeShapeType="1"/>
            </p:cNvSpPr>
            <p:nvPr/>
          </p:nvSpPr>
          <p:spPr bwMode="auto">
            <a:xfrm flipH="1">
              <a:off x="6492875" y="1743075"/>
              <a:ext cx="185738" cy="534988"/>
            </a:xfrm>
            <a:prstGeom prst="line">
              <a:avLst/>
            </a:prstGeom>
            <a:noFill/>
            <a:ln w="9525">
              <a:solidFill>
                <a:schemeClr val="tx1"/>
              </a:solidFill>
              <a:round/>
              <a:head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5" name="Line 138"/>
            <p:cNvSpPr>
              <a:spLocks noChangeShapeType="1"/>
            </p:cNvSpPr>
            <p:nvPr/>
          </p:nvSpPr>
          <p:spPr bwMode="auto">
            <a:xfrm>
              <a:off x="7723188" y="2579688"/>
              <a:ext cx="658812" cy="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6" name="Line 139"/>
            <p:cNvSpPr>
              <a:spLocks noChangeShapeType="1"/>
            </p:cNvSpPr>
            <p:nvPr/>
          </p:nvSpPr>
          <p:spPr bwMode="auto">
            <a:xfrm>
              <a:off x="7726363" y="2682875"/>
              <a:ext cx="660400" cy="0"/>
            </a:xfrm>
            <a:prstGeom prst="line">
              <a:avLst/>
            </a:prstGeom>
            <a:noFill/>
            <a:ln w="19050">
              <a:solidFill>
                <a:schemeClr val="tx1"/>
              </a:solidFill>
              <a:round/>
              <a:head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97" name="Text Box 41"/>
            <p:cNvSpPr txBox="1">
              <a:spLocks noChangeArrowheads="1"/>
            </p:cNvSpPr>
            <p:nvPr/>
          </p:nvSpPr>
          <p:spPr bwMode="auto">
            <a:xfrm>
              <a:off x="7813675" y="2146300"/>
              <a:ext cx="450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i="1">
                  <a:latin typeface="+mn-lt"/>
                </a:rPr>
                <a:t>d</a:t>
              </a:r>
              <a:r>
                <a:rPr lang="en-US" altLang="en-US" sz="1800" i="1" baseline="-25000">
                  <a:latin typeface="+mn-lt"/>
                </a:rPr>
                <a:t>i</a:t>
              </a:r>
              <a:endParaRPr lang="en-US" altLang="en-US" sz="1800" i="1" baseline="-25000">
                <a:latin typeface="+mn-lt"/>
              </a:endParaRPr>
            </a:p>
          </p:txBody>
        </p:sp>
        <p:sp>
          <p:nvSpPr>
            <p:cNvPr id="98" name="Text Box 41"/>
            <p:cNvSpPr txBox="1">
              <a:spLocks noChangeArrowheads="1"/>
            </p:cNvSpPr>
            <p:nvPr/>
          </p:nvSpPr>
          <p:spPr bwMode="auto">
            <a:xfrm>
              <a:off x="7829550" y="2663825"/>
              <a:ext cx="50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i="1">
                  <a:latin typeface="+mn-lt"/>
                </a:rPr>
                <a:t>u</a:t>
              </a:r>
              <a:r>
                <a:rPr lang="en-US" altLang="en-US" sz="1800" i="1" baseline="-25000">
                  <a:latin typeface="+mn-lt"/>
                </a:rPr>
                <a:t>i</a:t>
              </a:r>
              <a:endParaRPr lang="en-US" altLang="en-US" sz="1800" i="1" baseline="-25000">
                <a:latin typeface="+mn-lt"/>
              </a:endParaRPr>
            </a:p>
          </p:txBody>
        </p:sp>
        <p:sp>
          <p:nvSpPr>
            <p:cNvPr id="99" name="Text Box 47"/>
            <p:cNvSpPr txBox="1">
              <a:spLocks noChangeArrowheads="1"/>
            </p:cNvSpPr>
            <p:nvPr/>
          </p:nvSpPr>
          <p:spPr bwMode="auto">
            <a:xfrm>
              <a:off x="4498975" y="1616075"/>
              <a:ext cx="7905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r>
                <a:rPr lang="en-US" altLang="en-US" sz="1600" i="1">
                  <a:latin typeface="+mn-lt"/>
                </a:rPr>
                <a:t>F</a:t>
              </a:r>
              <a:endParaRPr lang="en-US" altLang="en-US" sz="1600" i="1" baseline="-25000">
                <a:latin typeface="+mn-lt"/>
              </a:endParaRPr>
            </a:p>
          </p:txBody>
        </p:sp>
        <p:grpSp>
          <p:nvGrpSpPr>
            <p:cNvPr id="100" name="Group 143"/>
            <p:cNvGrpSpPr/>
            <p:nvPr/>
          </p:nvGrpSpPr>
          <p:grpSpPr bwMode="auto">
            <a:xfrm>
              <a:off x="5114925" y="1690688"/>
              <a:ext cx="292100" cy="517525"/>
              <a:chOff x="4140" y="429"/>
              <a:chExt cx="1425" cy="2396"/>
            </a:xfrm>
          </p:grpSpPr>
          <p:sp>
            <p:nvSpPr>
              <p:cNvPr id="113" name="Freeform 144"/>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sp>
            <p:nvSpPr>
              <p:cNvPr id="114" name="Rectangle 145"/>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15" name="Freeform 146"/>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sp>
            <p:nvSpPr>
              <p:cNvPr id="116" name="Freeform 147"/>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sp>
            <p:nvSpPr>
              <p:cNvPr id="117" name="Rectangle 148"/>
              <p:cNvSpPr>
                <a:spLocks noChangeArrowheads="1"/>
              </p:cNvSpPr>
              <p:nvPr/>
            </p:nvSpPr>
            <p:spPr bwMode="auto">
              <a:xfrm>
                <a:off x="4210" y="694"/>
                <a:ext cx="596"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nvGrpSpPr>
              <p:cNvPr id="118" name="Group 149"/>
              <p:cNvGrpSpPr/>
              <p:nvPr/>
            </p:nvGrpSpPr>
            <p:grpSpPr bwMode="auto">
              <a:xfrm>
                <a:off x="4749" y="668"/>
                <a:ext cx="581" cy="145"/>
                <a:chOff x="614" y="2568"/>
                <a:chExt cx="725" cy="139"/>
              </a:xfrm>
            </p:grpSpPr>
            <p:sp>
              <p:nvSpPr>
                <p:cNvPr id="143" name="AutoShape 150"/>
                <p:cNvSpPr>
                  <a:spLocks noChangeArrowheads="1"/>
                </p:cNvSpPr>
                <p:nvPr/>
              </p:nvSpPr>
              <p:spPr bwMode="auto">
                <a:xfrm>
                  <a:off x="618" y="2571"/>
                  <a:ext cx="725"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44" name="AutoShape 151"/>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sp>
            <p:nvSpPr>
              <p:cNvPr id="119" name="Rectangle 152"/>
              <p:cNvSpPr>
                <a:spLocks noChangeArrowheads="1"/>
              </p:cNvSpPr>
              <p:nvPr/>
            </p:nvSpPr>
            <p:spPr bwMode="auto">
              <a:xfrm>
                <a:off x="4225" y="1017"/>
                <a:ext cx="596" cy="51"/>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nvGrpSpPr>
              <p:cNvPr id="120" name="Group 153"/>
              <p:cNvGrpSpPr/>
              <p:nvPr/>
            </p:nvGrpSpPr>
            <p:grpSpPr bwMode="auto">
              <a:xfrm>
                <a:off x="4747" y="994"/>
                <a:ext cx="581" cy="134"/>
                <a:chOff x="614" y="2568"/>
                <a:chExt cx="725" cy="139"/>
              </a:xfrm>
            </p:grpSpPr>
            <p:sp>
              <p:nvSpPr>
                <p:cNvPr id="141" name="AutoShape 154"/>
                <p:cNvSpPr>
                  <a:spLocks noChangeArrowheads="1"/>
                </p:cNvSpPr>
                <p:nvPr/>
              </p:nvSpPr>
              <p:spPr bwMode="auto">
                <a:xfrm>
                  <a:off x="610" y="2569"/>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42" name="AutoShape 155"/>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sp>
            <p:nvSpPr>
              <p:cNvPr id="121" name="Rectangle 156"/>
              <p:cNvSpPr>
                <a:spLocks noChangeArrowheads="1"/>
              </p:cNvSpPr>
              <p:nvPr/>
            </p:nvSpPr>
            <p:spPr bwMode="auto">
              <a:xfrm>
                <a:off x="4217" y="1355"/>
                <a:ext cx="596" cy="51"/>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22" name="Rectangle 157"/>
              <p:cNvSpPr>
                <a:spLocks noChangeArrowheads="1"/>
              </p:cNvSpPr>
              <p:nvPr/>
            </p:nvSpPr>
            <p:spPr bwMode="auto">
              <a:xfrm>
                <a:off x="4225" y="1656"/>
                <a:ext cx="596"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nvGrpSpPr>
              <p:cNvPr id="123" name="Group 158"/>
              <p:cNvGrpSpPr/>
              <p:nvPr/>
            </p:nvGrpSpPr>
            <p:grpSpPr bwMode="auto">
              <a:xfrm>
                <a:off x="4735" y="1627"/>
                <a:ext cx="582" cy="151"/>
                <a:chOff x="614" y="2568"/>
                <a:chExt cx="725" cy="139"/>
              </a:xfrm>
            </p:grpSpPr>
            <p:sp>
              <p:nvSpPr>
                <p:cNvPr id="139" name="AutoShape 159"/>
                <p:cNvSpPr>
                  <a:spLocks noChangeArrowheads="1"/>
                </p:cNvSpPr>
                <p:nvPr/>
              </p:nvSpPr>
              <p:spPr bwMode="auto">
                <a:xfrm>
                  <a:off x="616" y="2568"/>
                  <a:ext cx="724"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40" name="AutoShape 160"/>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sp>
            <p:nvSpPr>
              <p:cNvPr id="124" name="Freeform 161"/>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grpSp>
            <p:nvGrpSpPr>
              <p:cNvPr id="125" name="Group 162"/>
              <p:cNvGrpSpPr/>
              <p:nvPr/>
            </p:nvGrpSpPr>
            <p:grpSpPr bwMode="auto">
              <a:xfrm>
                <a:off x="4739" y="1327"/>
                <a:ext cx="582" cy="139"/>
                <a:chOff x="614" y="2568"/>
                <a:chExt cx="725" cy="139"/>
              </a:xfrm>
            </p:grpSpPr>
            <p:sp>
              <p:nvSpPr>
                <p:cNvPr id="137" name="AutoShape 163"/>
                <p:cNvSpPr>
                  <a:spLocks noChangeArrowheads="1"/>
                </p:cNvSpPr>
                <p:nvPr/>
              </p:nvSpPr>
              <p:spPr bwMode="auto">
                <a:xfrm>
                  <a:off x="611"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38" name="AutoShape 164"/>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sp>
            <p:nvSpPr>
              <p:cNvPr id="126" name="Rectangle 165"/>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27" name="Freeform 166"/>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sp>
            <p:nvSpPr>
              <p:cNvPr id="128" name="Freeform 167"/>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sp>
            <p:nvSpPr>
              <p:cNvPr id="129" name="Oval 168"/>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30" name="Freeform 169"/>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000"/>
              </a:p>
            </p:txBody>
          </p:sp>
          <p:sp>
            <p:nvSpPr>
              <p:cNvPr id="131" name="AutoShape 170"/>
              <p:cNvSpPr>
                <a:spLocks noChangeArrowheads="1"/>
              </p:cNvSpPr>
              <p:nvPr/>
            </p:nvSpPr>
            <p:spPr bwMode="auto">
              <a:xfrm>
                <a:off x="4140" y="2678"/>
                <a:ext cx="1200" cy="147"/>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32" name="AutoShape 171"/>
              <p:cNvSpPr>
                <a:spLocks noChangeArrowheads="1"/>
              </p:cNvSpPr>
              <p:nvPr/>
            </p:nvSpPr>
            <p:spPr bwMode="auto">
              <a:xfrm>
                <a:off x="4210" y="2707"/>
                <a:ext cx="1069" cy="88"/>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33" name="Oval 172"/>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34" name="Oval 173"/>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a:solidFill>
                    <a:srgbClr val="FF0000"/>
                  </a:solidFill>
                  <a:latin typeface="+mn-lt"/>
                  <a:cs typeface="Arial" panose="020B0604020202020204" pitchFamily="34" charset="0"/>
                </a:endParaRPr>
              </a:p>
            </p:txBody>
          </p:sp>
          <p:sp>
            <p:nvSpPr>
              <p:cNvPr id="135" name="Oval 174"/>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sp>
            <p:nvSpPr>
              <p:cNvPr id="136" name="Rectangle 175"/>
              <p:cNvSpPr>
                <a:spLocks noChangeArrowheads="1"/>
              </p:cNvSpPr>
              <p:nvPr/>
            </p:nvSpPr>
            <p:spPr bwMode="auto">
              <a:xfrm>
                <a:off x="5062" y="1833"/>
                <a:ext cx="85" cy="764"/>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mn-lt"/>
                </a:endParaRPr>
              </a:p>
            </p:txBody>
          </p:sp>
        </p:grpSp>
        <p:grpSp>
          <p:nvGrpSpPr>
            <p:cNvPr id="101" name="Group 176"/>
            <p:cNvGrpSpPr/>
            <p:nvPr/>
          </p:nvGrpSpPr>
          <p:grpSpPr bwMode="auto">
            <a:xfrm>
              <a:off x="4471988" y="2492375"/>
              <a:ext cx="620712" cy="512763"/>
              <a:chOff x="-44" y="1473"/>
              <a:chExt cx="981" cy="1105"/>
            </a:xfrm>
          </p:grpSpPr>
          <p:pic>
            <p:nvPicPr>
              <p:cNvPr id="111" name="Picture 177"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178"/>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102" name="Group 179"/>
            <p:cNvGrpSpPr/>
            <p:nvPr/>
          </p:nvGrpSpPr>
          <p:grpSpPr bwMode="auto">
            <a:xfrm>
              <a:off x="6300788" y="1284288"/>
              <a:ext cx="620712" cy="512762"/>
              <a:chOff x="-44" y="1473"/>
              <a:chExt cx="981" cy="1105"/>
            </a:xfrm>
          </p:grpSpPr>
          <p:pic>
            <p:nvPicPr>
              <p:cNvPr id="109" name="Picture 180"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181"/>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103" name="Group 182"/>
            <p:cNvGrpSpPr/>
            <p:nvPr/>
          </p:nvGrpSpPr>
          <p:grpSpPr bwMode="auto">
            <a:xfrm>
              <a:off x="6910388" y="1360488"/>
              <a:ext cx="620712" cy="512762"/>
              <a:chOff x="-44" y="1473"/>
              <a:chExt cx="981" cy="1105"/>
            </a:xfrm>
          </p:grpSpPr>
          <p:pic>
            <p:nvPicPr>
              <p:cNvPr id="107" name="Picture 183"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Freeform 184"/>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104" name="Group 185"/>
            <p:cNvGrpSpPr/>
            <p:nvPr/>
          </p:nvGrpSpPr>
          <p:grpSpPr bwMode="auto">
            <a:xfrm flipH="1">
              <a:off x="8369300" y="2362200"/>
              <a:ext cx="620713" cy="512763"/>
              <a:chOff x="-44" y="1473"/>
              <a:chExt cx="981" cy="1105"/>
            </a:xfrm>
          </p:grpSpPr>
          <p:pic>
            <p:nvPicPr>
              <p:cNvPr id="105" name="Picture 186"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187"/>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sp>
        <p:nvSpPr>
          <p:cNvPr id="74" name="Rectangle 47"/>
          <p:cNvSpPr>
            <a:spLocks noChangeArrowheads="1"/>
          </p:cNvSpPr>
          <p:nvPr/>
        </p:nvSpPr>
        <p:spPr bwMode="auto">
          <a:xfrm>
            <a:off x="865984" y="3876829"/>
            <a:ext cx="8524160" cy="1252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681355" indent="-224155">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buClr>
                <a:srgbClr val="000099"/>
              </a:buClr>
              <a:buSzPct val="100000"/>
              <a:buFont typeface="Wingdings" panose="05000000000000000000" pitchFamily="2" charset="2"/>
              <a:buChar char="§"/>
            </a:pPr>
            <a:r>
              <a:rPr lang="en-US" altLang="en-US" sz="2800" i="1" dirty="0">
                <a:solidFill>
                  <a:srgbClr val="CC0000"/>
                </a:solidFill>
                <a:latin typeface="+mn-lt"/>
              </a:rPr>
              <a:t>clients: </a:t>
            </a:r>
            <a:r>
              <a:rPr lang="en-US" altLang="en-US" sz="2800" dirty="0">
                <a:latin typeface="+mn-lt"/>
              </a:rPr>
              <a:t>as aggregate must download </a:t>
            </a:r>
            <a:r>
              <a:rPr lang="en-US" altLang="en-US" sz="2800" i="1" dirty="0">
                <a:latin typeface="+mn-lt"/>
              </a:rPr>
              <a:t>NF</a:t>
            </a:r>
            <a:r>
              <a:rPr lang="en-US" altLang="en-US" sz="2800" dirty="0">
                <a:latin typeface="+mn-lt"/>
              </a:rPr>
              <a:t> bits</a:t>
            </a:r>
            <a:endParaRPr lang="en-US" altLang="en-US" sz="2800" dirty="0">
              <a:latin typeface="+mn-lt"/>
            </a:endParaRPr>
          </a:p>
          <a:p>
            <a:pPr lvl="1">
              <a:lnSpc>
                <a:spcPct val="85000"/>
              </a:lnSpc>
              <a:buClr>
                <a:srgbClr val="000099"/>
              </a:buClr>
              <a:buSzTx/>
              <a:buFont typeface="Arial" panose="020B0604020202020204" pitchFamily="34" charset="0"/>
              <a:buChar char="•"/>
            </a:pPr>
            <a:r>
              <a:rPr lang="en-US" altLang="en-US" sz="2400" dirty="0">
                <a:latin typeface="+mn-lt"/>
              </a:rPr>
              <a:t>max upload rate (limiting max download rate) is </a:t>
            </a:r>
            <a:r>
              <a:rPr lang="en-US" altLang="en-US" sz="2400" i="1" dirty="0">
                <a:latin typeface="+mn-lt"/>
              </a:rPr>
              <a:t>u</a:t>
            </a:r>
            <a:r>
              <a:rPr lang="en-US" altLang="en-US" sz="2400" i="1" baseline="-25000" dirty="0">
                <a:latin typeface="+mn-lt"/>
              </a:rPr>
              <a:t>s</a:t>
            </a:r>
            <a:r>
              <a:rPr lang="en-US" altLang="en-US" sz="2400" i="1" dirty="0">
                <a:latin typeface="+mn-lt"/>
              </a:rPr>
              <a:t> + </a:t>
            </a:r>
            <a:r>
              <a:rPr lang="en-US" altLang="en-US" sz="2800" i="1" dirty="0">
                <a:latin typeface="Symbol" panose="05050102010706020507" pitchFamily="2" charset="2"/>
              </a:rPr>
              <a:t>S</a:t>
            </a:r>
            <a:r>
              <a:rPr lang="en-US" altLang="en-US" sz="2400" i="1" dirty="0">
                <a:latin typeface="+mn-lt"/>
              </a:rPr>
              <a:t>u</a:t>
            </a:r>
            <a:r>
              <a:rPr lang="en-US" altLang="en-US" sz="2400" i="1" baseline="-25000" dirty="0">
                <a:latin typeface="+mn-lt"/>
              </a:rPr>
              <a:t>i</a:t>
            </a:r>
            <a:endParaRPr lang="en-US" altLang="en-US" sz="2400" i="1" baseline="-25000" dirty="0">
              <a:latin typeface="+mn-lt"/>
            </a:endParaRPr>
          </a:p>
        </p:txBody>
      </p:sp>
      <p:sp>
        <p:nvSpPr>
          <p:cNvPr id="75" name="Text Box 51"/>
          <p:cNvSpPr txBox="1">
            <a:spLocks noChangeArrowheads="1"/>
          </p:cNvSpPr>
          <p:nvPr/>
        </p:nvSpPr>
        <p:spPr bwMode="auto">
          <a:xfrm>
            <a:off x="1496934" y="5088499"/>
            <a:ext cx="2267800" cy="887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r">
              <a:lnSpc>
                <a:spcPct val="80000"/>
              </a:lnSpc>
            </a:pPr>
            <a:r>
              <a:rPr lang="en-US" altLang="en-US" i="1" dirty="0">
                <a:latin typeface="+mn-lt"/>
              </a:rPr>
              <a:t>time to  distribute F </a:t>
            </a:r>
            <a:endParaRPr lang="en-US" altLang="en-US" i="1" dirty="0">
              <a:latin typeface="+mn-lt"/>
            </a:endParaRPr>
          </a:p>
          <a:p>
            <a:pPr algn="r">
              <a:lnSpc>
                <a:spcPct val="80000"/>
              </a:lnSpc>
            </a:pPr>
            <a:r>
              <a:rPr lang="en-US" altLang="en-US" i="1" dirty="0">
                <a:latin typeface="+mn-lt"/>
              </a:rPr>
              <a:t>to N clients using </a:t>
            </a:r>
            <a:endParaRPr lang="en-US" altLang="en-US" i="1" dirty="0">
              <a:latin typeface="+mn-lt"/>
            </a:endParaRPr>
          </a:p>
          <a:p>
            <a:pPr algn="r">
              <a:lnSpc>
                <a:spcPct val="80000"/>
              </a:lnSpc>
            </a:pPr>
            <a:r>
              <a:rPr lang="en-US" altLang="en-US" i="1" dirty="0">
                <a:latin typeface="+mn-lt"/>
              </a:rPr>
              <a:t>P2P approach</a:t>
            </a:r>
            <a:r>
              <a:rPr lang="en-US" altLang="en-US" sz="2400" dirty="0">
                <a:latin typeface="+mn-lt"/>
              </a:rPr>
              <a:t> </a:t>
            </a:r>
            <a:endParaRPr lang="en-US" altLang="en-US" sz="2800" dirty="0">
              <a:latin typeface="+mn-lt"/>
            </a:endParaRPr>
          </a:p>
        </p:txBody>
      </p:sp>
      <p:sp>
        <p:nvSpPr>
          <p:cNvPr id="76" name="Rectangle 55"/>
          <p:cNvSpPr>
            <a:spLocks noChangeArrowheads="1"/>
          </p:cNvSpPr>
          <p:nvPr/>
        </p:nvSpPr>
        <p:spPr bwMode="auto">
          <a:xfrm>
            <a:off x="1336619" y="4991768"/>
            <a:ext cx="9155099" cy="1006589"/>
          </a:xfrm>
          <a:prstGeom prst="rect">
            <a:avLst/>
          </a:prstGeom>
          <a:noFill/>
          <a:ln w="19050">
            <a:solidFill>
              <a:srgbClr val="CC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800">
              <a:latin typeface="+mn-lt"/>
            </a:endParaRPr>
          </a:p>
        </p:txBody>
      </p:sp>
      <p:sp>
        <p:nvSpPr>
          <p:cNvPr id="77" name="Text Box 31"/>
          <p:cNvSpPr txBox="1">
            <a:spLocks noChangeArrowheads="1"/>
          </p:cNvSpPr>
          <p:nvPr/>
        </p:nvSpPr>
        <p:spPr bwMode="auto">
          <a:xfrm>
            <a:off x="4214018" y="5202837"/>
            <a:ext cx="626209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3200" i="1" dirty="0">
                <a:latin typeface="+mn-lt"/>
              </a:rPr>
              <a:t> D</a:t>
            </a:r>
            <a:r>
              <a:rPr lang="en-US" altLang="en-US" sz="3200" i="1" baseline="-25000" dirty="0">
                <a:latin typeface="+mn-lt"/>
              </a:rPr>
              <a:t>P2P</a:t>
            </a:r>
            <a:r>
              <a:rPr lang="en-US" altLang="en-US" sz="3200" i="1" dirty="0">
                <a:latin typeface="+mn-lt"/>
              </a:rPr>
              <a:t> &gt; max{F/</a:t>
            </a:r>
            <a:r>
              <a:rPr lang="en-US" altLang="en-US" sz="3200" i="1" dirty="0" err="1">
                <a:latin typeface="+mn-lt"/>
              </a:rPr>
              <a:t>u</a:t>
            </a:r>
            <a:r>
              <a:rPr lang="en-US" altLang="en-US" sz="3200" i="1" baseline="-25000" dirty="0" err="1">
                <a:latin typeface="+mn-lt"/>
              </a:rPr>
              <a:t>s,</a:t>
            </a:r>
            <a:r>
              <a:rPr lang="en-US" altLang="en-US" sz="3200" i="1" dirty="0" err="1">
                <a:latin typeface="+mn-lt"/>
              </a:rPr>
              <a:t>,F</a:t>
            </a:r>
            <a:r>
              <a:rPr lang="en-US" altLang="en-US" sz="3200" i="1" dirty="0">
                <a:latin typeface="+mn-lt"/>
              </a:rPr>
              <a:t>/</a:t>
            </a:r>
            <a:r>
              <a:rPr lang="en-US" altLang="en-US" sz="3200" i="1" dirty="0" err="1">
                <a:latin typeface="+mn-lt"/>
              </a:rPr>
              <a:t>d</a:t>
            </a:r>
            <a:r>
              <a:rPr lang="en-US" altLang="en-US" sz="3200" i="1" baseline="-25000" dirty="0" err="1">
                <a:latin typeface="+mn-lt"/>
              </a:rPr>
              <a:t>min</a:t>
            </a:r>
            <a:r>
              <a:rPr lang="en-US" altLang="en-US" sz="3200" i="1" baseline="-25000" dirty="0">
                <a:latin typeface="+mn-lt"/>
              </a:rPr>
              <a:t>,</a:t>
            </a:r>
            <a:r>
              <a:rPr lang="en-US" altLang="en-US" sz="3200" i="1" dirty="0">
                <a:latin typeface="+mn-lt"/>
              </a:rPr>
              <a:t>,NF/(</a:t>
            </a:r>
            <a:r>
              <a:rPr lang="en-US" altLang="en-US" sz="2800" i="1" dirty="0">
                <a:latin typeface="+mn-lt"/>
              </a:rPr>
              <a:t>u</a:t>
            </a:r>
            <a:r>
              <a:rPr lang="en-US" altLang="en-US" sz="2800" i="1" baseline="-25000" dirty="0">
                <a:latin typeface="+mn-lt"/>
              </a:rPr>
              <a:t>s</a:t>
            </a:r>
            <a:r>
              <a:rPr lang="en-US" altLang="en-US" sz="2800" i="1" dirty="0">
                <a:latin typeface="+mn-lt"/>
              </a:rPr>
              <a:t> + </a:t>
            </a:r>
            <a:r>
              <a:rPr lang="en-US" altLang="en-US" sz="3200" i="1" dirty="0">
                <a:latin typeface="Symbol" panose="05050102010706020507" pitchFamily="2" charset="2"/>
              </a:rPr>
              <a:t>S</a:t>
            </a:r>
            <a:r>
              <a:rPr lang="en-US" altLang="en-US" sz="2800" i="1" dirty="0">
                <a:latin typeface="+mn-lt"/>
              </a:rPr>
              <a:t>u</a:t>
            </a:r>
            <a:r>
              <a:rPr lang="en-US" altLang="en-US" sz="2800" i="1" baseline="-25000" dirty="0">
                <a:latin typeface="+mn-lt"/>
              </a:rPr>
              <a:t>i</a:t>
            </a:r>
            <a:r>
              <a:rPr lang="en-US" altLang="en-US" sz="3200" dirty="0">
                <a:latin typeface="+mn-lt"/>
              </a:rPr>
              <a:t>)</a:t>
            </a:r>
            <a:r>
              <a:rPr lang="en-US" altLang="en-US" sz="3200" i="1" dirty="0">
                <a:latin typeface="+mn-lt"/>
              </a:rPr>
              <a:t>}</a:t>
            </a:r>
            <a:r>
              <a:rPr lang="en-US" altLang="en-US" sz="3200" i="1" dirty="0">
                <a:solidFill>
                  <a:srgbClr val="CC0000"/>
                </a:solidFill>
                <a:latin typeface="+mn-lt"/>
              </a:rPr>
              <a:t> </a:t>
            </a:r>
            <a:endParaRPr lang="en-US" altLang="en-US" sz="3200" i="1" dirty="0">
              <a:solidFill>
                <a:srgbClr val="CC0000"/>
              </a:solidFill>
              <a:latin typeface="+mn-lt"/>
            </a:endParaRPr>
          </a:p>
        </p:txBody>
      </p:sp>
      <p:grpSp>
        <p:nvGrpSpPr>
          <p:cNvPr id="2" name="Group 1"/>
          <p:cNvGrpSpPr/>
          <p:nvPr/>
        </p:nvGrpSpPr>
        <p:grpSpPr>
          <a:xfrm>
            <a:off x="3027135" y="5637812"/>
            <a:ext cx="7034618" cy="1072227"/>
            <a:chOff x="3027135" y="5637812"/>
            <a:chExt cx="7034618" cy="1072227"/>
          </a:xfrm>
        </p:grpSpPr>
        <p:sp>
          <p:nvSpPr>
            <p:cNvPr id="78" name="Line 33"/>
            <p:cNvSpPr>
              <a:spLocks noChangeShapeType="1"/>
            </p:cNvSpPr>
            <p:nvPr/>
          </p:nvSpPr>
          <p:spPr bwMode="auto">
            <a:xfrm>
              <a:off x="5247481" y="5669562"/>
              <a:ext cx="174625"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en-US" sz="2000"/>
            </a:p>
          </p:txBody>
        </p:sp>
        <p:sp>
          <p:nvSpPr>
            <p:cNvPr id="79" name="Line 53"/>
            <p:cNvSpPr>
              <a:spLocks noChangeShapeType="1"/>
            </p:cNvSpPr>
            <p:nvPr/>
          </p:nvSpPr>
          <p:spPr bwMode="auto">
            <a:xfrm flipV="1">
              <a:off x="9282594" y="5731183"/>
              <a:ext cx="376235" cy="579911"/>
            </a:xfrm>
            <a:prstGeom prst="line">
              <a:avLst/>
            </a:prstGeom>
            <a:noFill/>
            <a:ln w="9525">
              <a:solidFill>
                <a:srgbClr val="CC0000"/>
              </a:solidFill>
              <a:round/>
            </a:ln>
            <a:extLst>
              <a:ext uri="{909E8E84-426E-40DD-AFC4-6F175D3DCCD1}">
                <a14:hiddenFill xmlns:a14="http://schemas.microsoft.com/office/drawing/2010/main">
                  <a:noFill/>
                </a14:hiddenFill>
              </a:ext>
            </a:extLst>
          </p:spPr>
          <p:txBody>
            <a:bodyPr/>
            <a:lstStyle/>
            <a:p>
              <a:endParaRPr lang="en-US" sz="2000"/>
            </a:p>
          </p:txBody>
        </p:sp>
        <p:sp>
          <p:nvSpPr>
            <p:cNvPr id="82" name="Text Box 54"/>
            <p:cNvSpPr txBox="1">
              <a:spLocks noChangeArrowheads="1"/>
            </p:cNvSpPr>
            <p:nvPr/>
          </p:nvSpPr>
          <p:spPr bwMode="auto">
            <a:xfrm>
              <a:off x="3027135" y="6314866"/>
              <a:ext cx="7034618"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0000"/>
                </a:lnSpc>
              </a:pPr>
              <a:r>
                <a:rPr lang="en-US" altLang="en-US" sz="2400" dirty="0">
                  <a:latin typeface="+mn-lt"/>
                </a:rPr>
                <a:t>… but so does this, as each peer brings service capacity</a:t>
              </a:r>
              <a:endParaRPr lang="en-US" altLang="en-US" sz="2400" dirty="0">
                <a:latin typeface="+mn-lt"/>
              </a:endParaRPr>
            </a:p>
          </p:txBody>
        </p:sp>
        <p:sp>
          <p:nvSpPr>
            <p:cNvPr id="151" name="Line 53"/>
            <p:cNvSpPr>
              <a:spLocks noChangeShapeType="1"/>
            </p:cNvSpPr>
            <p:nvPr/>
          </p:nvSpPr>
          <p:spPr bwMode="auto">
            <a:xfrm flipV="1">
              <a:off x="7935121" y="5637812"/>
              <a:ext cx="376235" cy="462537"/>
            </a:xfrm>
            <a:prstGeom prst="line">
              <a:avLst/>
            </a:prstGeom>
            <a:noFill/>
            <a:ln w="9525">
              <a:solidFill>
                <a:srgbClr val="CC0000"/>
              </a:solidFill>
              <a:round/>
            </a:ln>
            <a:extLst>
              <a:ext uri="{909E8E84-426E-40DD-AFC4-6F175D3DCCD1}">
                <a14:hiddenFill xmlns:a14="http://schemas.microsoft.com/office/drawing/2010/main">
                  <a:noFill/>
                </a14:hiddenFill>
              </a:ext>
            </a:extLst>
          </p:spPr>
          <p:txBody>
            <a:bodyPr/>
            <a:lstStyle/>
            <a:p>
              <a:endParaRPr lang="en-US" sz="2000"/>
            </a:p>
          </p:txBody>
        </p:sp>
        <p:sp>
          <p:nvSpPr>
            <p:cNvPr id="152" name="Text Box 54"/>
            <p:cNvSpPr txBox="1">
              <a:spLocks noChangeArrowheads="1"/>
            </p:cNvSpPr>
            <p:nvPr/>
          </p:nvSpPr>
          <p:spPr bwMode="auto">
            <a:xfrm>
              <a:off x="5084684" y="6045728"/>
              <a:ext cx="3187860"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0000"/>
                </a:lnSpc>
              </a:pPr>
              <a:r>
                <a:rPr lang="en-US" altLang="en-US" sz="2400" dirty="0">
                  <a:latin typeface="+mn-lt"/>
                </a:rPr>
                <a:t>increases linearly in </a:t>
              </a:r>
              <a:r>
                <a:rPr lang="en-US" altLang="en-US" sz="2400" i="1" dirty="0">
                  <a:latin typeface="+mn-lt"/>
                </a:rPr>
                <a:t>N</a:t>
              </a:r>
              <a:r>
                <a:rPr lang="en-US" altLang="en-US" sz="2400" dirty="0">
                  <a:latin typeface="+mn-lt"/>
                </a:rPr>
                <a:t> …</a:t>
              </a:r>
              <a:endParaRPr lang="en-US" altLang="en-US" sz="2400" dirty="0">
                <a:latin typeface="+mn-lt"/>
              </a:endParaRPr>
            </a:p>
          </p:txBody>
        </p:sp>
      </p:grpSp>
      <p:sp>
        <p:nvSpPr>
          <p:cNvPr id="145" name="Slide Number Placeholder 2"/>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Client-server vs. P2P: example</a:t>
            </a:r>
            <a:endParaRPr lang="en-US" altLang="en-US" sz="4400" dirty="0">
              <a:ea typeface="MS PGothic" panose="020B0600070205080204" pitchFamily="34" charset="-128"/>
            </a:endParaRPr>
          </a:p>
        </p:txBody>
      </p:sp>
      <p:sp>
        <p:nvSpPr>
          <p:cNvPr id="145" name="Text Box 5"/>
          <p:cNvSpPr txBox="1">
            <a:spLocks noChangeArrowheads="1"/>
          </p:cNvSpPr>
          <p:nvPr/>
        </p:nvSpPr>
        <p:spPr bwMode="auto">
          <a:xfrm>
            <a:off x="2752045" y="1362602"/>
            <a:ext cx="7481468" cy="474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dirty="0">
                <a:latin typeface="+mn-lt"/>
              </a:rPr>
              <a:t>client upload rate =</a:t>
            </a:r>
            <a:r>
              <a:rPr lang="en-US" altLang="en-US" sz="2400" i="1" dirty="0">
                <a:latin typeface="+mn-lt"/>
              </a:rPr>
              <a:t> u</a:t>
            </a:r>
            <a:r>
              <a:rPr lang="en-US" altLang="en-US" sz="2400" dirty="0">
                <a:latin typeface="+mn-lt"/>
              </a:rPr>
              <a:t>,  </a:t>
            </a:r>
            <a:r>
              <a:rPr lang="en-US" altLang="en-US" sz="2400" i="1" dirty="0">
                <a:latin typeface="+mn-lt"/>
              </a:rPr>
              <a:t>F/u </a:t>
            </a:r>
            <a:r>
              <a:rPr lang="en-US" altLang="en-US" sz="2400" dirty="0">
                <a:latin typeface="+mn-lt"/>
              </a:rPr>
              <a:t>= 1 hour,  </a:t>
            </a:r>
            <a:r>
              <a:rPr lang="en-US" altLang="en-US" sz="2400" i="1" dirty="0">
                <a:latin typeface="+mn-lt"/>
              </a:rPr>
              <a:t>u</a:t>
            </a:r>
            <a:r>
              <a:rPr lang="en-US" altLang="en-US" sz="2400" i="1" baseline="-25000" dirty="0">
                <a:latin typeface="+mn-lt"/>
              </a:rPr>
              <a:t>s</a:t>
            </a:r>
            <a:r>
              <a:rPr lang="en-US" altLang="en-US" sz="2400" i="1" dirty="0">
                <a:latin typeface="+mn-lt"/>
              </a:rPr>
              <a:t> = 10u,  </a:t>
            </a:r>
            <a:r>
              <a:rPr lang="en-US" altLang="en-US" sz="2400" i="1" dirty="0" err="1">
                <a:latin typeface="+mn-lt"/>
              </a:rPr>
              <a:t>d</a:t>
            </a:r>
            <a:r>
              <a:rPr lang="en-US" altLang="en-US" sz="2400" i="1" baseline="-25000" dirty="0" err="1">
                <a:latin typeface="+mn-lt"/>
              </a:rPr>
              <a:t>min</a:t>
            </a:r>
            <a:r>
              <a:rPr lang="en-US" altLang="en-US" sz="2400" i="1" dirty="0">
                <a:latin typeface="+mn-lt"/>
              </a:rPr>
              <a:t> ≥ u</a:t>
            </a:r>
            <a:r>
              <a:rPr lang="en-US" altLang="en-US" sz="2400" i="1" baseline="-25000" dirty="0">
                <a:latin typeface="+mn-lt"/>
              </a:rPr>
              <a:t>s</a:t>
            </a:r>
            <a:endParaRPr lang="en-US" altLang="en-US" sz="2400" i="1" baseline="-25000" dirty="0">
              <a:latin typeface="+mn-lt"/>
            </a:endParaRPr>
          </a:p>
        </p:txBody>
      </p:sp>
      <p:graphicFrame>
        <p:nvGraphicFramePr>
          <p:cNvPr id="146" name="Object 2"/>
          <p:cNvGraphicFramePr>
            <a:graphicFrameLocks noChangeAspect="1"/>
          </p:cNvGraphicFramePr>
          <p:nvPr/>
        </p:nvGraphicFramePr>
        <p:xfrm>
          <a:off x="2976864" y="1835409"/>
          <a:ext cx="7031830" cy="4790242"/>
        </p:xfrm>
        <a:graphic>
          <a:graphicData uri="http://schemas.openxmlformats.org/presentationml/2006/ole">
            <mc:AlternateContent xmlns:mc="http://schemas.openxmlformats.org/markup-compatibility/2006">
              <mc:Choice xmlns:v="urn:schemas-microsoft-com:vml" Requires="v">
                <p:oleObj spid="_x0000_s31791" name="Chart" r:id="rId1" imgW="9166860" imgH="6276340" progId="Excel.Chart.8">
                  <p:embed/>
                </p:oleObj>
              </mc:Choice>
              <mc:Fallback>
                <p:oleObj name="Chart" r:id="rId1" imgW="9166860" imgH="6276340" progId="Excel.Char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76864" y="1835409"/>
                        <a:ext cx="7031830" cy="4790242"/>
                      </a:xfrm>
                      <a:prstGeom prst="rect">
                        <a:avLst/>
                      </a:prstGeom>
                      <a:noFill/>
                      <a:ln>
                        <a:noFill/>
                      </a:ln>
                      <a:effectLst/>
                    </p:spPr>
                  </p:pic>
                </p:oleObj>
              </mc:Fallback>
            </mc:AlternateContent>
          </a:graphicData>
        </a:graphic>
      </p:graphicFrame>
      <p:sp>
        <p:nvSpPr>
          <p:cNvPr id="7"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P2P file distribution: BitTorrent </a:t>
            </a:r>
            <a:endParaRPr lang="en-US" altLang="en-US" sz="4400" dirty="0">
              <a:ea typeface="MS PGothic" panose="020B0600070205080204" pitchFamily="34" charset="-128"/>
            </a:endParaRPr>
          </a:p>
        </p:txBody>
      </p:sp>
      <p:sp>
        <p:nvSpPr>
          <p:cNvPr id="8" name="Rectangle 43"/>
          <p:cNvSpPr>
            <a:spLocks noChangeArrowheads="1"/>
          </p:cNvSpPr>
          <p:nvPr/>
        </p:nvSpPr>
        <p:spPr bwMode="auto">
          <a:xfrm>
            <a:off x="745784" y="1260022"/>
            <a:ext cx="7124700" cy="100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buClr>
                <a:srgbClr val="000099"/>
              </a:buClr>
              <a:buSzPct val="100000"/>
              <a:buFont typeface="Wingdings" panose="05000000000000000000" pitchFamily="2" charset="2"/>
              <a:buChar char="§"/>
            </a:pPr>
            <a:r>
              <a:rPr lang="en-US" altLang="en-US" sz="2800" dirty="0">
                <a:latin typeface="+mn-lt"/>
              </a:rPr>
              <a:t>file divided into 256Kb chunks</a:t>
            </a:r>
            <a:endParaRPr lang="en-US" altLang="en-US" sz="2800" dirty="0">
              <a:latin typeface="+mn-lt"/>
            </a:endParaRPr>
          </a:p>
          <a:p>
            <a:pPr>
              <a:buClr>
                <a:srgbClr val="000099"/>
              </a:buClr>
              <a:buSzPct val="100000"/>
              <a:buFont typeface="Wingdings" panose="05000000000000000000" pitchFamily="2" charset="2"/>
              <a:buChar char="§"/>
            </a:pPr>
            <a:r>
              <a:rPr lang="en-US" altLang="en-US" sz="2800" dirty="0">
                <a:latin typeface="+mn-lt"/>
              </a:rPr>
              <a:t>peers in torrent send/receive file chunks</a:t>
            </a:r>
            <a:endParaRPr lang="en-US" altLang="en-US" sz="3200" dirty="0">
              <a:latin typeface="+mn-lt"/>
            </a:endParaRPr>
          </a:p>
        </p:txBody>
      </p:sp>
      <p:sp>
        <p:nvSpPr>
          <p:cNvPr id="9" name="Text Box 37"/>
          <p:cNvSpPr txBox="1">
            <a:spLocks noChangeArrowheads="1"/>
          </p:cNvSpPr>
          <p:nvPr/>
        </p:nvSpPr>
        <p:spPr bwMode="auto">
          <a:xfrm>
            <a:off x="1812096" y="2371997"/>
            <a:ext cx="3018775" cy="775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lnSpc>
                <a:spcPct val="85000"/>
              </a:lnSpc>
              <a:spcBef>
                <a:spcPct val="0"/>
              </a:spcBef>
              <a:buClrTx/>
              <a:buSzTx/>
              <a:buFontTx/>
              <a:buNone/>
            </a:pPr>
            <a:r>
              <a:rPr lang="en-US" altLang="en-US" sz="2800" i="1" dirty="0">
                <a:solidFill>
                  <a:srgbClr val="CC0000"/>
                </a:solidFill>
                <a:latin typeface="+mn-lt"/>
              </a:rPr>
              <a:t>tracker:</a:t>
            </a:r>
            <a:r>
              <a:rPr lang="en-US" altLang="en-US" sz="2800" dirty="0">
                <a:latin typeface="+mn-lt"/>
              </a:rPr>
              <a:t> </a:t>
            </a:r>
            <a:r>
              <a:rPr lang="en-US" altLang="en-US" sz="2400" dirty="0">
                <a:latin typeface="+mn-lt"/>
              </a:rPr>
              <a:t>tracks peers </a:t>
            </a:r>
            <a:endParaRPr lang="en-US" altLang="en-US" sz="2400" dirty="0">
              <a:latin typeface="+mn-lt"/>
            </a:endParaRPr>
          </a:p>
          <a:p>
            <a:pPr eaLnBrk="1" hangingPunct="1">
              <a:lnSpc>
                <a:spcPct val="85000"/>
              </a:lnSpc>
              <a:spcBef>
                <a:spcPct val="0"/>
              </a:spcBef>
              <a:buClrTx/>
              <a:buSzTx/>
              <a:buFontTx/>
              <a:buNone/>
            </a:pPr>
            <a:r>
              <a:rPr lang="en-US" altLang="en-US" sz="2400" dirty="0">
                <a:latin typeface="+mn-lt"/>
              </a:rPr>
              <a:t>participating in torrent</a:t>
            </a:r>
            <a:endParaRPr lang="en-US" altLang="en-US" sz="2400" dirty="0">
              <a:latin typeface="+mn-lt"/>
            </a:endParaRPr>
          </a:p>
        </p:txBody>
      </p:sp>
      <p:sp>
        <p:nvSpPr>
          <p:cNvPr id="10" name="Text Box 41"/>
          <p:cNvSpPr txBox="1">
            <a:spLocks noChangeArrowheads="1"/>
          </p:cNvSpPr>
          <p:nvPr/>
        </p:nvSpPr>
        <p:spPr bwMode="auto">
          <a:xfrm>
            <a:off x="7124019" y="2385559"/>
            <a:ext cx="4044723" cy="775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pPr>
            <a:r>
              <a:rPr lang="en-US" altLang="en-US" sz="2800" i="1" dirty="0">
                <a:solidFill>
                  <a:srgbClr val="CC0000"/>
                </a:solidFill>
                <a:latin typeface="+mn-lt"/>
              </a:rPr>
              <a:t>torrent:</a:t>
            </a:r>
            <a:r>
              <a:rPr lang="en-US" altLang="en-US" sz="2800" dirty="0">
                <a:latin typeface="+mn-lt"/>
              </a:rPr>
              <a:t> </a:t>
            </a:r>
            <a:r>
              <a:rPr lang="en-US" altLang="en-US" sz="2400" dirty="0">
                <a:latin typeface="+mn-lt"/>
              </a:rPr>
              <a:t>group of peers exchanging  chunks of a file</a:t>
            </a:r>
            <a:endParaRPr lang="en-US" altLang="en-US" sz="2400" dirty="0">
              <a:latin typeface="+mn-lt"/>
            </a:endParaRPr>
          </a:p>
        </p:txBody>
      </p:sp>
      <p:sp>
        <p:nvSpPr>
          <p:cNvPr id="11" name="Line 21"/>
          <p:cNvSpPr>
            <a:spLocks noChangeShapeType="1"/>
          </p:cNvSpPr>
          <p:nvPr/>
        </p:nvSpPr>
        <p:spPr bwMode="auto">
          <a:xfrm>
            <a:off x="4149045" y="3765096"/>
            <a:ext cx="1587" cy="536575"/>
          </a:xfrm>
          <a:prstGeom prst="line">
            <a:avLst/>
          </a:prstGeom>
          <a:noFill/>
          <a:ln w="19050">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 name="Line 25"/>
          <p:cNvSpPr>
            <a:spLocks noChangeShapeType="1"/>
          </p:cNvSpPr>
          <p:nvPr/>
        </p:nvSpPr>
        <p:spPr bwMode="auto">
          <a:xfrm>
            <a:off x="5495245" y="3493634"/>
            <a:ext cx="2551112" cy="14097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 name="Line 26"/>
          <p:cNvSpPr>
            <a:spLocks noChangeShapeType="1"/>
          </p:cNvSpPr>
          <p:nvPr/>
        </p:nvSpPr>
        <p:spPr bwMode="auto">
          <a:xfrm>
            <a:off x="5292045" y="3644446"/>
            <a:ext cx="247650" cy="18161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4" name="Line 27"/>
          <p:cNvSpPr>
            <a:spLocks noChangeShapeType="1"/>
          </p:cNvSpPr>
          <p:nvPr/>
        </p:nvSpPr>
        <p:spPr bwMode="auto">
          <a:xfrm flipH="1" flipV="1">
            <a:off x="6931932" y="3404734"/>
            <a:ext cx="1168400" cy="3063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 name="Line 28"/>
          <p:cNvSpPr>
            <a:spLocks noChangeShapeType="1"/>
          </p:cNvSpPr>
          <p:nvPr/>
        </p:nvSpPr>
        <p:spPr bwMode="auto">
          <a:xfrm flipH="1">
            <a:off x="6115957" y="3941309"/>
            <a:ext cx="2039938" cy="198755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6" name="Line 29"/>
          <p:cNvSpPr>
            <a:spLocks noChangeShapeType="1"/>
          </p:cNvSpPr>
          <p:nvPr/>
        </p:nvSpPr>
        <p:spPr bwMode="auto">
          <a:xfrm flipH="1">
            <a:off x="6203270" y="5906634"/>
            <a:ext cx="739775" cy="163512"/>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 name="Line 30"/>
          <p:cNvSpPr>
            <a:spLocks noChangeShapeType="1"/>
          </p:cNvSpPr>
          <p:nvPr/>
        </p:nvSpPr>
        <p:spPr bwMode="auto">
          <a:xfrm flipH="1">
            <a:off x="5722257" y="3603171"/>
            <a:ext cx="900113" cy="16764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8" name="Line 31"/>
          <p:cNvSpPr>
            <a:spLocks noChangeShapeType="1"/>
          </p:cNvSpPr>
          <p:nvPr/>
        </p:nvSpPr>
        <p:spPr bwMode="auto">
          <a:xfrm flipV="1">
            <a:off x="5887357" y="4989059"/>
            <a:ext cx="2120900" cy="4826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 name="Line 32"/>
          <p:cNvSpPr>
            <a:spLocks noChangeShapeType="1"/>
          </p:cNvSpPr>
          <p:nvPr/>
        </p:nvSpPr>
        <p:spPr bwMode="auto">
          <a:xfrm>
            <a:off x="6887482" y="3547609"/>
            <a:ext cx="1182688" cy="127635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 name="Line 33"/>
          <p:cNvSpPr>
            <a:spLocks noChangeShapeType="1"/>
          </p:cNvSpPr>
          <p:nvPr/>
        </p:nvSpPr>
        <p:spPr bwMode="auto">
          <a:xfrm>
            <a:off x="7330395" y="5928859"/>
            <a:ext cx="376237" cy="2174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1" name="Line 34"/>
          <p:cNvSpPr>
            <a:spLocks noChangeShapeType="1"/>
          </p:cNvSpPr>
          <p:nvPr/>
        </p:nvSpPr>
        <p:spPr bwMode="auto">
          <a:xfrm>
            <a:off x="6215970" y="6224134"/>
            <a:ext cx="1490662" cy="15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 name="Text Box 35"/>
          <p:cNvSpPr txBox="1">
            <a:spLocks noChangeArrowheads="1"/>
          </p:cNvSpPr>
          <p:nvPr/>
        </p:nvSpPr>
        <p:spPr bwMode="auto">
          <a:xfrm>
            <a:off x="2380570" y="4766809"/>
            <a:ext cx="15850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a:latin typeface="+mn-lt"/>
              </a:rPr>
              <a:t>Alice arrives  …</a:t>
            </a:r>
            <a:endParaRPr lang="en-US" altLang="en-US" sz="1800">
              <a:latin typeface="+mn-lt"/>
            </a:endParaRPr>
          </a:p>
        </p:txBody>
      </p:sp>
      <p:sp>
        <p:nvSpPr>
          <p:cNvPr id="23" name="Line 38"/>
          <p:cNvSpPr>
            <a:spLocks noChangeShapeType="1"/>
          </p:cNvSpPr>
          <p:nvPr/>
        </p:nvSpPr>
        <p:spPr bwMode="auto">
          <a:xfrm flipH="1">
            <a:off x="7881257" y="5163684"/>
            <a:ext cx="263525" cy="9398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pic>
        <p:nvPicPr>
          <p:cNvPr id="24" name="Picture 39" descr="Alice"/>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536270" y="4284209"/>
            <a:ext cx="474662" cy="5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Line 42"/>
          <p:cNvSpPr>
            <a:spLocks noChangeShapeType="1"/>
          </p:cNvSpPr>
          <p:nvPr/>
        </p:nvSpPr>
        <p:spPr bwMode="auto">
          <a:xfrm>
            <a:off x="3364820" y="3122159"/>
            <a:ext cx="476250" cy="258762"/>
          </a:xfrm>
          <a:prstGeom prst="line">
            <a:avLst/>
          </a:prstGeom>
          <a:noFill/>
          <a:ln w="9525">
            <a:solidFill>
              <a:srgbClr val="FF3300"/>
            </a:solidFill>
            <a:round/>
          </a:ln>
          <a:extLst>
            <a:ext uri="{909E8E84-426E-40DD-AFC4-6F175D3DCCD1}">
              <a14:hiddenFill xmlns:a14="http://schemas.microsoft.com/office/drawing/2010/main">
                <a:noFill/>
              </a14:hiddenFill>
            </a:ext>
          </a:extLst>
        </p:spPr>
        <p:txBody>
          <a:bodyPr/>
          <a:lstStyle/>
          <a:p>
            <a:endParaRPr lang="en-US"/>
          </a:p>
        </p:txBody>
      </p:sp>
      <p:sp>
        <p:nvSpPr>
          <p:cNvPr id="26" name="Text Box 35"/>
          <p:cNvSpPr txBox="1">
            <a:spLocks noChangeArrowheads="1"/>
          </p:cNvSpPr>
          <p:nvPr/>
        </p:nvSpPr>
        <p:spPr bwMode="auto">
          <a:xfrm>
            <a:off x="2394857" y="5027159"/>
            <a:ext cx="216052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a:latin typeface="+mn-lt"/>
              </a:rPr>
              <a:t>… obtains list</a:t>
            </a:r>
            <a:endParaRPr lang="en-US" altLang="en-US" sz="1800">
              <a:latin typeface="+mn-lt"/>
            </a:endParaRPr>
          </a:p>
          <a:p>
            <a:pPr eaLnBrk="1" hangingPunct="1">
              <a:spcBef>
                <a:spcPct val="0"/>
              </a:spcBef>
              <a:buClrTx/>
              <a:buSzTx/>
              <a:buFontTx/>
              <a:buNone/>
            </a:pPr>
            <a:r>
              <a:rPr lang="en-US" altLang="en-US" sz="1800">
                <a:latin typeface="+mn-lt"/>
              </a:rPr>
              <a:t>of peers from tracker</a:t>
            </a:r>
            <a:endParaRPr lang="en-US" altLang="en-US" sz="1800">
              <a:latin typeface="+mn-lt"/>
            </a:endParaRPr>
          </a:p>
        </p:txBody>
      </p:sp>
      <p:grpSp>
        <p:nvGrpSpPr>
          <p:cNvPr id="27" name="Group 68"/>
          <p:cNvGrpSpPr/>
          <p:nvPr/>
        </p:nvGrpSpPr>
        <p:grpSpPr bwMode="auto">
          <a:xfrm>
            <a:off x="4528457" y="3571421"/>
            <a:ext cx="3492500" cy="2163763"/>
            <a:chOff x="1752" y="2166"/>
            <a:chExt cx="2200" cy="1363"/>
          </a:xfrm>
        </p:grpSpPr>
        <p:sp>
          <p:nvSpPr>
            <p:cNvPr id="28" name="Line 22"/>
            <p:cNvSpPr>
              <a:spLocks noChangeShapeType="1"/>
            </p:cNvSpPr>
            <p:nvPr/>
          </p:nvSpPr>
          <p:spPr bwMode="auto">
            <a:xfrm flipV="1">
              <a:off x="1752" y="2166"/>
              <a:ext cx="361" cy="53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9" name="Line 23"/>
            <p:cNvSpPr>
              <a:spLocks noChangeShapeType="1"/>
            </p:cNvSpPr>
            <p:nvPr/>
          </p:nvSpPr>
          <p:spPr bwMode="auto">
            <a:xfrm flipV="1">
              <a:off x="1770" y="2352"/>
              <a:ext cx="2182" cy="4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0" name="Line 24"/>
            <p:cNvSpPr>
              <a:spLocks noChangeShapeType="1"/>
            </p:cNvSpPr>
            <p:nvPr/>
          </p:nvSpPr>
          <p:spPr bwMode="auto">
            <a:xfrm>
              <a:off x="1786" y="2820"/>
              <a:ext cx="1550" cy="709"/>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sp>
        <p:nvSpPr>
          <p:cNvPr id="31" name="Text Box 35"/>
          <p:cNvSpPr txBox="1">
            <a:spLocks noChangeArrowheads="1"/>
          </p:cNvSpPr>
          <p:nvPr/>
        </p:nvSpPr>
        <p:spPr bwMode="auto">
          <a:xfrm>
            <a:off x="2355170" y="5568496"/>
            <a:ext cx="317202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1800">
                <a:latin typeface="+mn-lt"/>
              </a:rPr>
              <a:t>… and begins exchanging </a:t>
            </a:r>
            <a:endParaRPr lang="en-US" altLang="en-US" sz="1800">
              <a:latin typeface="+mn-lt"/>
            </a:endParaRPr>
          </a:p>
          <a:p>
            <a:pPr eaLnBrk="1" hangingPunct="1">
              <a:spcBef>
                <a:spcPct val="0"/>
              </a:spcBef>
              <a:buClrTx/>
              <a:buSzTx/>
              <a:buFontTx/>
              <a:buNone/>
            </a:pPr>
            <a:r>
              <a:rPr lang="en-US" altLang="en-US" sz="1800">
                <a:latin typeface="+mn-lt"/>
              </a:rPr>
              <a:t>file chunks with peers in torrent</a:t>
            </a:r>
            <a:endParaRPr lang="en-US" altLang="en-US" sz="1800">
              <a:latin typeface="+mn-lt"/>
            </a:endParaRPr>
          </a:p>
        </p:txBody>
      </p:sp>
      <p:grpSp>
        <p:nvGrpSpPr>
          <p:cNvPr id="32" name="Group 71"/>
          <p:cNvGrpSpPr/>
          <p:nvPr/>
        </p:nvGrpSpPr>
        <p:grpSpPr bwMode="auto">
          <a:xfrm>
            <a:off x="3931557" y="3080884"/>
            <a:ext cx="379413" cy="604837"/>
            <a:chOff x="4140" y="429"/>
            <a:chExt cx="1425" cy="2396"/>
          </a:xfrm>
        </p:grpSpPr>
        <p:sp>
          <p:nvSpPr>
            <p:cNvPr id="33" name="Freeform 72"/>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34" name="Rectangle 73"/>
            <p:cNvSpPr>
              <a:spLocks noChangeArrowheads="1"/>
            </p:cNvSpPr>
            <p:nvPr/>
          </p:nvSpPr>
          <p:spPr bwMode="auto">
            <a:xfrm>
              <a:off x="4206" y="429"/>
              <a:ext cx="1049"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35" name="Freeform 74"/>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36" name="Freeform 75"/>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37" name="Rectangle 76"/>
            <p:cNvSpPr>
              <a:spLocks noChangeArrowheads="1"/>
            </p:cNvSpPr>
            <p:nvPr/>
          </p:nvSpPr>
          <p:spPr bwMode="auto">
            <a:xfrm>
              <a:off x="4212" y="693"/>
              <a:ext cx="596"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38" name="Group 77"/>
            <p:cNvGrpSpPr/>
            <p:nvPr/>
          </p:nvGrpSpPr>
          <p:grpSpPr bwMode="auto">
            <a:xfrm>
              <a:off x="4749" y="668"/>
              <a:ext cx="581" cy="145"/>
              <a:chOff x="614" y="2568"/>
              <a:chExt cx="725" cy="139"/>
            </a:xfrm>
          </p:grpSpPr>
          <p:sp>
            <p:nvSpPr>
              <p:cNvPr id="63" name="AutoShape 78"/>
              <p:cNvSpPr>
                <a:spLocks noChangeArrowheads="1"/>
              </p:cNvSpPr>
              <p:nvPr/>
            </p:nvSpPr>
            <p:spPr bwMode="auto">
              <a:xfrm>
                <a:off x="613" y="2568"/>
                <a:ext cx="729"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64" name="AutoShape 79"/>
              <p:cNvSpPr>
                <a:spLocks noChangeArrowheads="1"/>
              </p:cNvSpPr>
              <p:nvPr/>
            </p:nvSpPr>
            <p:spPr bwMode="auto">
              <a:xfrm>
                <a:off x="628" y="2586"/>
                <a:ext cx="699"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39" name="Rectangle 80"/>
            <p:cNvSpPr>
              <a:spLocks noChangeArrowheads="1"/>
            </p:cNvSpPr>
            <p:nvPr/>
          </p:nvSpPr>
          <p:spPr bwMode="auto">
            <a:xfrm>
              <a:off x="4223" y="1020"/>
              <a:ext cx="596"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40" name="Group 81"/>
            <p:cNvGrpSpPr/>
            <p:nvPr/>
          </p:nvGrpSpPr>
          <p:grpSpPr bwMode="auto">
            <a:xfrm>
              <a:off x="4747" y="994"/>
              <a:ext cx="581" cy="134"/>
              <a:chOff x="614" y="2568"/>
              <a:chExt cx="725" cy="139"/>
            </a:xfrm>
          </p:grpSpPr>
          <p:sp>
            <p:nvSpPr>
              <p:cNvPr id="61" name="AutoShape 82"/>
              <p:cNvSpPr>
                <a:spLocks noChangeArrowheads="1"/>
              </p:cNvSpPr>
              <p:nvPr/>
            </p:nvSpPr>
            <p:spPr bwMode="auto">
              <a:xfrm>
                <a:off x="615" y="2569"/>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62" name="AutoShape 83"/>
              <p:cNvSpPr>
                <a:spLocks noChangeArrowheads="1"/>
              </p:cNvSpPr>
              <p:nvPr/>
            </p:nvSpPr>
            <p:spPr bwMode="auto">
              <a:xfrm>
                <a:off x="630" y="2582"/>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41" name="Rectangle 84"/>
            <p:cNvSpPr>
              <a:spLocks noChangeArrowheads="1"/>
            </p:cNvSpPr>
            <p:nvPr/>
          </p:nvSpPr>
          <p:spPr bwMode="auto">
            <a:xfrm>
              <a:off x="4218" y="1360"/>
              <a:ext cx="596"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42" name="Rectangle 85"/>
            <p:cNvSpPr>
              <a:spLocks noChangeArrowheads="1"/>
            </p:cNvSpPr>
            <p:nvPr/>
          </p:nvSpPr>
          <p:spPr bwMode="auto">
            <a:xfrm>
              <a:off x="4229" y="1655"/>
              <a:ext cx="596"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43" name="Group 86"/>
            <p:cNvGrpSpPr/>
            <p:nvPr/>
          </p:nvGrpSpPr>
          <p:grpSpPr bwMode="auto">
            <a:xfrm>
              <a:off x="4735" y="1627"/>
              <a:ext cx="582" cy="151"/>
              <a:chOff x="614" y="2568"/>
              <a:chExt cx="725" cy="139"/>
            </a:xfrm>
          </p:grpSpPr>
          <p:sp>
            <p:nvSpPr>
              <p:cNvPr id="59" name="AutoShape 87"/>
              <p:cNvSpPr>
                <a:spLocks noChangeArrowheads="1"/>
              </p:cNvSpPr>
              <p:nvPr/>
            </p:nvSpPr>
            <p:spPr bwMode="auto">
              <a:xfrm>
                <a:off x="616" y="2582"/>
                <a:ext cx="720"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60" name="AutoShape 88"/>
              <p:cNvSpPr>
                <a:spLocks noChangeArrowheads="1"/>
              </p:cNvSpPr>
              <p:nvPr/>
            </p:nvSpPr>
            <p:spPr bwMode="auto">
              <a:xfrm>
                <a:off x="630" y="2588"/>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44" name="Freeform 89"/>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45" name="Group 90"/>
            <p:cNvGrpSpPr/>
            <p:nvPr/>
          </p:nvGrpSpPr>
          <p:grpSpPr bwMode="auto">
            <a:xfrm>
              <a:off x="4739" y="1327"/>
              <a:ext cx="582" cy="139"/>
              <a:chOff x="614" y="2568"/>
              <a:chExt cx="725" cy="139"/>
            </a:xfrm>
          </p:grpSpPr>
          <p:sp>
            <p:nvSpPr>
              <p:cNvPr id="57" name="AutoShape 91"/>
              <p:cNvSpPr>
                <a:spLocks noChangeArrowheads="1"/>
              </p:cNvSpPr>
              <p:nvPr/>
            </p:nvSpPr>
            <p:spPr bwMode="auto">
              <a:xfrm>
                <a:off x="611" y="2569"/>
                <a:ext cx="728"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8" name="AutoShape 92"/>
              <p:cNvSpPr>
                <a:spLocks noChangeArrowheads="1"/>
              </p:cNvSpPr>
              <p:nvPr/>
            </p:nvSpPr>
            <p:spPr bwMode="auto">
              <a:xfrm>
                <a:off x="618" y="2588"/>
                <a:ext cx="706"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46" name="Rectangle 93"/>
            <p:cNvSpPr>
              <a:spLocks noChangeArrowheads="1"/>
            </p:cNvSpPr>
            <p:nvPr/>
          </p:nvSpPr>
          <p:spPr bwMode="auto">
            <a:xfrm>
              <a:off x="5249" y="429"/>
              <a:ext cx="72"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47" name="Freeform 94"/>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48" name="Freeform 95"/>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49" name="Oval 96"/>
            <p:cNvSpPr>
              <a:spLocks noChangeArrowheads="1"/>
            </p:cNvSpPr>
            <p:nvPr/>
          </p:nvSpPr>
          <p:spPr bwMode="auto">
            <a:xfrm>
              <a:off x="5517" y="2611"/>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0" name="Freeform 97"/>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51" name="AutoShape 98"/>
            <p:cNvSpPr>
              <a:spLocks noChangeArrowheads="1"/>
            </p:cNvSpPr>
            <p:nvPr/>
          </p:nvSpPr>
          <p:spPr bwMode="auto">
            <a:xfrm>
              <a:off x="4140" y="2680"/>
              <a:ext cx="1198" cy="145"/>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2" name="AutoShape 99"/>
            <p:cNvSpPr>
              <a:spLocks noChangeArrowheads="1"/>
            </p:cNvSpPr>
            <p:nvPr/>
          </p:nvSpPr>
          <p:spPr bwMode="auto">
            <a:xfrm>
              <a:off x="4206" y="2712"/>
              <a:ext cx="1073" cy="82"/>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3" name="Oval 100"/>
            <p:cNvSpPr>
              <a:spLocks noChangeArrowheads="1"/>
            </p:cNvSpPr>
            <p:nvPr/>
          </p:nvSpPr>
          <p:spPr bwMode="auto">
            <a:xfrm>
              <a:off x="4307" y="2385"/>
              <a:ext cx="161"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4" name="Oval 101"/>
            <p:cNvSpPr>
              <a:spLocks noChangeArrowheads="1"/>
            </p:cNvSpPr>
            <p:nvPr/>
          </p:nvSpPr>
          <p:spPr bwMode="auto">
            <a:xfrm>
              <a:off x="4486" y="2385"/>
              <a:ext cx="161"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latin typeface="+mn-lt"/>
                <a:cs typeface="Arial" panose="020B0604020202020204" pitchFamily="34" charset="0"/>
              </a:endParaRPr>
            </a:p>
          </p:txBody>
        </p:sp>
        <p:sp>
          <p:nvSpPr>
            <p:cNvPr id="55" name="Oval 102"/>
            <p:cNvSpPr>
              <a:spLocks noChangeArrowheads="1"/>
            </p:cNvSpPr>
            <p:nvPr/>
          </p:nvSpPr>
          <p:spPr bwMode="auto">
            <a:xfrm>
              <a:off x="4665" y="2379"/>
              <a:ext cx="155"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56" name="Rectangle 103"/>
            <p:cNvSpPr>
              <a:spLocks noChangeArrowheads="1"/>
            </p:cNvSpPr>
            <p:nvPr/>
          </p:nvSpPr>
          <p:spPr bwMode="auto">
            <a:xfrm>
              <a:off x="5064" y="1838"/>
              <a:ext cx="83" cy="761"/>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grpSp>
        <p:nvGrpSpPr>
          <p:cNvPr id="65" name="Group 104"/>
          <p:cNvGrpSpPr/>
          <p:nvPr/>
        </p:nvGrpSpPr>
        <p:grpSpPr bwMode="auto">
          <a:xfrm>
            <a:off x="3825195" y="4320721"/>
            <a:ext cx="685800" cy="588963"/>
            <a:chOff x="-44" y="1473"/>
            <a:chExt cx="981" cy="1105"/>
          </a:xfrm>
        </p:grpSpPr>
        <p:pic>
          <p:nvPicPr>
            <p:cNvPr id="66" name="Picture 105"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106"/>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68" name="Group 107"/>
          <p:cNvGrpSpPr/>
          <p:nvPr/>
        </p:nvGrpSpPr>
        <p:grpSpPr bwMode="auto">
          <a:xfrm>
            <a:off x="5195207" y="5333546"/>
            <a:ext cx="728663" cy="620713"/>
            <a:chOff x="-44" y="1473"/>
            <a:chExt cx="981" cy="1105"/>
          </a:xfrm>
        </p:grpSpPr>
        <p:pic>
          <p:nvPicPr>
            <p:cNvPr id="69" name="Picture 108"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 name="Freeform 10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71" name="Group 110"/>
          <p:cNvGrpSpPr/>
          <p:nvPr/>
        </p:nvGrpSpPr>
        <p:grpSpPr bwMode="auto">
          <a:xfrm>
            <a:off x="5477782" y="5911396"/>
            <a:ext cx="728663" cy="620713"/>
            <a:chOff x="-44" y="1473"/>
            <a:chExt cx="981" cy="1105"/>
          </a:xfrm>
        </p:grpSpPr>
        <p:pic>
          <p:nvPicPr>
            <p:cNvPr id="72" name="Picture 111"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Freeform 112"/>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74" name="Group 113"/>
          <p:cNvGrpSpPr/>
          <p:nvPr/>
        </p:nvGrpSpPr>
        <p:grpSpPr bwMode="auto">
          <a:xfrm flipH="1">
            <a:off x="8111445" y="4757284"/>
            <a:ext cx="728662" cy="620712"/>
            <a:chOff x="-44" y="1473"/>
            <a:chExt cx="981" cy="1105"/>
          </a:xfrm>
        </p:grpSpPr>
        <p:pic>
          <p:nvPicPr>
            <p:cNvPr id="75" name="Picture 114"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Freeform 11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77" name="Group 116"/>
          <p:cNvGrpSpPr/>
          <p:nvPr/>
        </p:nvGrpSpPr>
        <p:grpSpPr bwMode="auto">
          <a:xfrm flipH="1">
            <a:off x="7763782" y="6095546"/>
            <a:ext cx="728663" cy="620713"/>
            <a:chOff x="-44" y="1473"/>
            <a:chExt cx="981" cy="1105"/>
          </a:xfrm>
        </p:grpSpPr>
        <p:pic>
          <p:nvPicPr>
            <p:cNvPr id="78" name="Picture 117"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Freeform 118"/>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80" name="Group 119"/>
          <p:cNvGrpSpPr/>
          <p:nvPr/>
        </p:nvGrpSpPr>
        <p:grpSpPr bwMode="auto">
          <a:xfrm flipH="1">
            <a:off x="8165420" y="3569834"/>
            <a:ext cx="728662" cy="620712"/>
            <a:chOff x="-44" y="1473"/>
            <a:chExt cx="981" cy="1105"/>
          </a:xfrm>
        </p:grpSpPr>
        <p:pic>
          <p:nvPicPr>
            <p:cNvPr id="81" name="Picture 120"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Freeform 121"/>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83" name="Group 122"/>
          <p:cNvGrpSpPr/>
          <p:nvPr/>
        </p:nvGrpSpPr>
        <p:grpSpPr bwMode="auto">
          <a:xfrm flipH="1">
            <a:off x="6368370" y="3036434"/>
            <a:ext cx="641350" cy="620712"/>
            <a:chOff x="-44" y="1473"/>
            <a:chExt cx="981" cy="1105"/>
          </a:xfrm>
        </p:grpSpPr>
        <p:pic>
          <p:nvPicPr>
            <p:cNvPr id="84" name="Picture 123"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124"/>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86" name="Group 125"/>
          <p:cNvGrpSpPr/>
          <p:nvPr/>
        </p:nvGrpSpPr>
        <p:grpSpPr bwMode="auto">
          <a:xfrm>
            <a:off x="4758645" y="3026909"/>
            <a:ext cx="728662" cy="620712"/>
            <a:chOff x="-44" y="1473"/>
            <a:chExt cx="981" cy="1105"/>
          </a:xfrm>
        </p:grpSpPr>
        <p:pic>
          <p:nvPicPr>
            <p:cNvPr id="87" name="Picture 126"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Freeform 127"/>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89" name="Group 129"/>
          <p:cNvGrpSpPr/>
          <p:nvPr/>
        </p:nvGrpSpPr>
        <p:grpSpPr bwMode="auto">
          <a:xfrm>
            <a:off x="6858907" y="5639934"/>
            <a:ext cx="490538" cy="412750"/>
            <a:chOff x="-44" y="1473"/>
            <a:chExt cx="981" cy="1105"/>
          </a:xfrm>
        </p:grpSpPr>
        <p:pic>
          <p:nvPicPr>
            <p:cNvPr id="90" name="Picture 130"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131"/>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sp>
        <p:nvSpPr>
          <p:cNvPr id="92"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dissolve">
                                      <p:cBhvr>
                                        <p:cTn id="7" dur="1000"/>
                                        <p:tgtEl>
                                          <p:spTgt spid="22"/>
                                        </p:tgtEl>
                                      </p:cBhvr>
                                    </p:animEffect>
                                  </p:childTnLst>
                                </p:cTn>
                              </p:par>
                              <p:par>
                                <p:cTn id="8" presetID="9" presetClass="entr" presetSubtype="0" fill="hold"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dissolve">
                                      <p:cBhvr>
                                        <p:cTn id="10" dur="500"/>
                                        <p:tgtEl>
                                          <p:spTgt spid="24"/>
                                        </p:tgtEl>
                                      </p:cBhvr>
                                    </p:animEffect>
                                  </p:childTnLst>
                                </p:cTn>
                              </p:par>
                              <p:par>
                                <p:cTn id="11" presetID="9" presetClass="entr" presetSubtype="0" fill="hold" nodeType="withEffect">
                                  <p:stCondLst>
                                    <p:cond delay="0"/>
                                  </p:stCondLst>
                                  <p:childTnLst>
                                    <p:set>
                                      <p:cBhvr>
                                        <p:cTn id="12" dur="1" fill="hold">
                                          <p:stCondLst>
                                            <p:cond delay="0"/>
                                          </p:stCondLst>
                                        </p:cTn>
                                        <p:tgtEl>
                                          <p:spTgt spid="65"/>
                                        </p:tgtEl>
                                        <p:attrNameLst>
                                          <p:attrName>style.visibility</p:attrName>
                                        </p:attrNameLst>
                                      </p:cBhvr>
                                      <p:to>
                                        <p:strVal val="visible"/>
                                      </p:to>
                                    </p:set>
                                    <p:animEffect transition="in" filter="dissolve">
                                      <p:cBhvr>
                                        <p:cTn id="13" dur="500"/>
                                        <p:tgtEl>
                                          <p:spTgt spid="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dissolve">
                                      <p:cBhvr>
                                        <p:cTn id="18" dur="1000"/>
                                        <p:tgtEl>
                                          <p:spTgt spid="26"/>
                                        </p:tgtEl>
                                      </p:cBhvr>
                                    </p:animEffec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dissolve">
                                      <p:cBhvr>
                                        <p:cTn id="26" dur="1000"/>
                                        <p:tgtEl>
                                          <p:spTgt spid="27"/>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dissolve">
                                      <p:cBhvr>
                                        <p:cTn id="29" dur="1000"/>
                                        <p:tgtEl>
                                          <p:spTgt spid="31"/>
                                        </p:tgtEl>
                                      </p:cBhvr>
                                    </p:animEffect>
                                  </p:childTnLst>
                                </p:cTn>
                              </p:par>
                              <p:par>
                                <p:cTn id="30" presetID="9" presetClass="exit" presetSubtype="0" fill="hold" nodeType="withEffect">
                                  <p:stCondLst>
                                    <p:cond delay="0"/>
                                  </p:stCondLst>
                                  <p:childTnLst>
                                    <p:animEffect transition="out" filter="dissolv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6" grpId="0"/>
      <p:bldP spid="31"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P2P file distribution: BitTorrent </a:t>
            </a:r>
            <a:endParaRPr lang="en-US" altLang="en-US" sz="4400" dirty="0">
              <a:ea typeface="MS PGothic" panose="020B0600070205080204" pitchFamily="34" charset="-128"/>
            </a:endParaRPr>
          </a:p>
        </p:txBody>
      </p:sp>
      <p:sp>
        <p:nvSpPr>
          <p:cNvPr id="170" name="Rectangle 3"/>
          <p:cNvSpPr txBox="1">
            <a:spLocks noChangeArrowheads="1"/>
          </p:cNvSpPr>
          <p:nvPr/>
        </p:nvSpPr>
        <p:spPr bwMode="auto">
          <a:xfrm>
            <a:off x="672727" y="1548887"/>
            <a:ext cx="5988276" cy="245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MS PGothic" panose="020B0600070205080204" pitchFamily="34" charset="-128"/>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anose="020B0502020104020203" pitchFamily="34" charset="0"/>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sz="1800">
                <a:solidFill>
                  <a:schemeClr val="tx1"/>
                </a:solidFill>
                <a:latin typeface="Times New Roman" panose="02020603050405020304" pitchFamily="18" charset="0"/>
                <a:ea typeface="MS PGothic" panose="020B0600070205080204" pitchFamily="34" charset="-128"/>
              </a:defRPr>
            </a:lvl4pPr>
            <a:lvl5pPr marL="2057400" indent="-228600" algn="l" rtl="0" eaLnBrk="0" fontAlgn="base" hangingPunct="0">
              <a:spcBef>
                <a:spcPct val="20000"/>
              </a:spcBef>
              <a:spcAft>
                <a:spcPct val="0"/>
              </a:spcAft>
              <a:buChar char="»"/>
              <a:defRPr sz="1800">
                <a:solidFill>
                  <a:schemeClr val="tx1"/>
                </a:solidFill>
                <a:latin typeface="Times New Roman" panose="02020603050405020304" pitchFamily="18" charset="0"/>
                <a:ea typeface="MS PGothic" panose="020B0600070205080204" pitchFamily="34" charset="-128"/>
              </a:defRPr>
            </a:lvl5pPr>
            <a:lvl6pPr marL="25146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9pPr>
          </a:lstStyle>
          <a:p>
            <a:pPr marL="287655" indent="-287655"/>
            <a:r>
              <a:rPr lang="en-US" altLang="en-US" kern="0" dirty="0">
                <a:latin typeface="+mn-lt"/>
                <a:ea typeface="MS PGothic" panose="020B0600070205080204" pitchFamily="34" charset="-128"/>
              </a:rPr>
              <a:t>peer joining torrent: </a:t>
            </a:r>
            <a:endParaRPr lang="en-US" altLang="en-US" kern="0" dirty="0">
              <a:latin typeface="+mn-lt"/>
              <a:ea typeface="MS PGothic" panose="020B0600070205080204" pitchFamily="34" charset="-128"/>
            </a:endParaRPr>
          </a:p>
          <a:p>
            <a:pPr marL="681355" lvl="1" indent="-224155"/>
            <a:r>
              <a:rPr lang="en-US" altLang="en-US" kern="0" dirty="0">
                <a:latin typeface="+mn-lt"/>
                <a:ea typeface="MS PGothic" panose="020B0600070205080204" pitchFamily="34" charset="-128"/>
              </a:rPr>
              <a:t>has no chunks, but will accumulate them over time from other peers</a:t>
            </a:r>
            <a:endParaRPr lang="en-US" altLang="en-US" kern="0" dirty="0">
              <a:latin typeface="+mn-lt"/>
              <a:ea typeface="MS PGothic" panose="020B0600070205080204" pitchFamily="34" charset="-128"/>
            </a:endParaRPr>
          </a:p>
          <a:p>
            <a:pPr marL="681355" lvl="1" indent="-224155"/>
            <a:r>
              <a:rPr lang="en-US" altLang="en-US" kern="0" dirty="0">
                <a:latin typeface="+mn-lt"/>
                <a:ea typeface="MS PGothic" panose="020B0600070205080204" pitchFamily="34" charset="-128"/>
              </a:rPr>
              <a:t>registers with tracker to get list of peers, connects to subset of peers (</a:t>
            </a:r>
            <a:r>
              <a:rPr lang="ja-JP" altLang="en-US" kern="0">
                <a:latin typeface="+mn-lt"/>
                <a:ea typeface="MS PGothic" panose="020B0600070205080204" pitchFamily="34" charset="-128"/>
              </a:rPr>
              <a:t>“</a:t>
            </a:r>
            <a:r>
              <a:rPr lang="en-US" altLang="ja-JP" kern="0" dirty="0">
                <a:latin typeface="+mn-lt"/>
                <a:ea typeface="MS PGothic" panose="020B0600070205080204" pitchFamily="34" charset="-128"/>
              </a:rPr>
              <a:t>neighbors</a:t>
            </a:r>
            <a:r>
              <a:rPr lang="ja-JP" altLang="en-US" kern="0">
                <a:latin typeface="+mn-lt"/>
                <a:ea typeface="MS PGothic" panose="020B0600070205080204" pitchFamily="34" charset="-128"/>
              </a:rPr>
              <a:t>”</a:t>
            </a:r>
            <a:r>
              <a:rPr lang="en-US" altLang="ja-JP" kern="0" dirty="0">
                <a:latin typeface="+mn-lt"/>
                <a:ea typeface="MS PGothic" panose="020B0600070205080204" pitchFamily="34" charset="-128"/>
              </a:rPr>
              <a:t>)</a:t>
            </a:r>
            <a:endParaRPr lang="en-US" altLang="en-US" kern="0" dirty="0">
              <a:latin typeface="+mn-lt"/>
              <a:ea typeface="MS PGothic" panose="020B0600070205080204" pitchFamily="34" charset="-128"/>
            </a:endParaRPr>
          </a:p>
        </p:txBody>
      </p:sp>
      <p:sp>
        <p:nvSpPr>
          <p:cNvPr id="171" name="Rectangle 3"/>
          <p:cNvSpPr>
            <a:spLocks noChangeArrowheads="1"/>
          </p:cNvSpPr>
          <p:nvPr/>
        </p:nvSpPr>
        <p:spPr bwMode="auto">
          <a:xfrm>
            <a:off x="689056" y="3728719"/>
            <a:ext cx="10987087" cy="2338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655" indent="-287655">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lnSpc>
                <a:spcPct val="85000"/>
              </a:lnSpc>
              <a:spcBef>
                <a:spcPct val="20000"/>
              </a:spcBef>
              <a:spcAft>
                <a:spcPct val="0"/>
              </a:spcAft>
              <a:buClr>
                <a:srgbClr val="000099"/>
              </a:buClr>
              <a:buSzPct val="100000"/>
              <a:buFont typeface="Wingdings" panose="05000000000000000000" pitchFamily="2" charset="2"/>
              <a:buChar char="§"/>
            </a:pPr>
            <a:r>
              <a:rPr lang="en-US" altLang="en-US" sz="2800" dirty="0">
                <a:solidFill>
                  <a:srgbClr val="000000"/>
                </a:solidFill>
                <a:latin typeface="+mn-lt"/>
              </a:rPr>
              <a:t>while downloading, peer uploads chunks to other peers</a:t>
            </a:r>
            <a:endParaRPr lang="en-US" altLang="en-US" sz="2800" dirty="0">
              <a:solidFill>
                <a:srgbClr val="000000"/>
              </a:solidFill>
              <a:latin typeface="+mn-lt"/>
            </a:endParaRPr>
          </a:p>
          <a:p>
            <a:pPr eaLnBrk="0" fontAlgn="base" hangingPunct="0">
              <a:lnSpc>
                <a:spcPct val="85000"/>
              </a:lnSpc>
              <a:spcBef>
                <a:spcPct val="20000"/>
              </a:spcBef>
              <a:spcAft>
                <a:spcPct val="0"/>
              </a:spcAft>
              <a:buClr>
                <a:srgbClr val="000099"/>
              </a:buClr>
              <a:buSzPct val="100000"/>
              <a:buFont typeface="Wingdings" panose="05000000000000000000" pitchFamily="2" charset="2"/>
              <a:buChar char="§"/>
            </a:pPr>
            <a:r>
              <a:rPr lang="en-US" altLang="en-US" sz="2800" dirty="0">
                <a:solidFill>
                  <a:srgbClr val="000000"/>
                </a:solidFill>
                <a:latin typeface="+mn-lt"/>
              </a:rPr>
              <a:t>peer may change peers with whom it exchanges chunks</a:t>
            </a:r>
            <a:endParaRPr lang="en-US" altLang="en-US" sz="2800" dirty="0">
              <a:solidFill>
                <a:srgbClr val="000000"/>
              </a:solidFill>
              <a:latin typeface="+mn-lt"/>
            </a:endParaRPr>
          </a:p>
          <a:p>
            <a:pPr eaLnBrk="0" fontAlgn="base" hangingPunct="0">
              <a:lnSpc>
                <a:spcPct val="85000"/>
              </a:lnSpc>
              <a:spcBef>
                <a:spcPct val="20000"/>
              </a:spcBef>
              <a:spcAft>
                <a:spcPct val="0"/>
              </a:spcAft>
              <a:buClr>
                <a:srgbClr val="000099"/>
              </a:buClr>
              <a:buSzPct val="100000"/>
              <a:buFont typeface="Wingdings" panose="05000000000000000000" pitchFamily="2" charset="2"/>
              <a:buChar char="§"/>
            </a:pPr>
            <a:r>
              <a:rPr lang="en-US" altLang="en-US" sz="2800" i="1" dirty="0">
                <a:solidFill>
                  <a:srgbClr val="CC0000"/>
                </a:solidFill>
                <a:latin typeface="+mn-lt"/>
              </a:rPr>
              <a:t>churn:</a:t>
            </a:r>
            <a:r>
              <a:rPr lang="en-US" altLang="en-US" sz="2800" dirty="0">
                <a:solidFill>
                  <a:srgbClr val="000000"/>
                </a:solidFill>
                <a:latin typeface="+mn-lt"/>
              </a:rPr>
              <a:t> peers may come and go</a:t>
            </a:r>
            <a:endParaRPr lang="en-US" altLang="en-US" sz="2800" dirty="0">
              <a:solidFill>
                <a:srgbClr val="000000"/>
              </a:solidFill>
              <a:latin typeface="+mn-lt"/>
            </a:endParaRPr>
          </a:p>
          <a:p>
            <a:pPr eaLnBrk="0" fontAlgn="base" hangingPunct="0">
              <a:lnSpc>
                <a:spcPct val="85000"/>
              </a:lnSpc>
              <a:spcBef>
                <a:spcPct val="20000"/>
              </a:spcBef>
              <a:spcAft>
                <a:spcPct val="0"/>
              </a:spcAft>
              <a:buClr>
                <a:srgbClr val="000099"/>
              </a:buClr>
              <a:buSzPct val="100000"/>
              <a:buFont typeface="Wingdings" panose="05000000000000000000" pitchFamily="2" charset="2"/>
              <a:buChar char="§"/>
            </a:pPr>
            <a:r>
              <a:rPr lang="en-US" altLang="en-US" sz="2800" dirty="0">
                <a:solidFill>
                  <a:srgbClr val="000000"/>
                </a:solidFill>
                <a:latin typeface="+mn-lt"/>
              </a:rPr>
              <a:t>once peer has entire file, it may (selfishly) leave or (altruistically) remain in torrent</a:t>
            </a:r>
            <a:endParaRPr lang="en-US" altLang="en-US" sz="2800" dirty="0">
              <a:solidFill>
                <a:srgbClr val="000000"/>
              </a:solidFill>
              <a:latin typeface="+mn-lt"/>
            </a:endParaRPr>
          </a:p>
        </p:txBody>
      </p:sp>
      <p:grpSp>
        <p:nvGrpSpPr>
          <p:cNvPr id="2" name="Group 1"/>
          <p:cNvGrpSpPr/>
          <p:nvPr/>
        </p:nvGrpSpPr>
        <p:grpSpPr>
          <a:xfrm>
            <a:off x="7622267" y="1307114"/>
            <a:ext cx="3567113" cy="2233613"/>
            <a:chOff x="4911725" y="1368425"/>
            <a:chExt cx="3567113" cy="2233613"/>
          </a:xfrm>
        </p:grpSpPr>
        <p:sp>
          <p:nvSpPr>
            <p:cNvPr id="172" name="Line 25"/>
            <p:cNvSpPr>
              <a:spLocks noChangeShapeType="1"/>
            </p:cNvSpPr>
            <p:nvPr/>
          </p:nvSpPr>
          <p:spPr bwMode="auto">
            <a:xfrm>
              <a:off x="6245225" y="1646238"/>
              <a:ext cx="1736725" cy="8794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73" name="Line 26"/>
            <p:cNvSpPr>
              <a:spLocks noChangeShapeType="1"/>
            </p:cNvSpPr>
            <p:nvPr/>
          </p:nvSpPr>
          <p:spPr bwMode="auto">
            <a:xfrm>
              <a:off x="6107113" y="1739900"/>
              <a:ext cx="168275" cy="11334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74" name="Line 27"/>
            <p:cNvSpPr>
              <a:spLocks noChangeShapeType="1"/>
            </p:cNvSpPr>
            <p:nvPr/>
          </p:nvSpPr>
          <p:spPr bwMode="auto">
            <a:xfrm flipH="1" flipV="1">
              <a:off x="7223125" y="1590675"/>
              <a:ext cx="795338" cy="1905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75" name="Line 28"/>
            <p:cNvSpPr>
              <a:spLocks noChangeShapeType="1"/>
            </p:cNvSpPr>
            <p:nvPr/>
          </p:nvSpPr>
          <p:spPr bwMode="auto">
            <a:xfrm flipH="1">
              <a:off x="6667500" y="1925638"/>
              <a:ext cx="1389063" cy="123983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76" name="Line 29"/>
            <p:cNvSpPr>
              <a:spLocks noChangeShapeType="1"/>
            </p:cNvSpPr>
            <p:nvPr/>
          </p:nvSpPr>
          <p:spPr bwMode="auto">
            <a:xfrm flipH="1">
              <a:off x="6726238" y="3152775"/>
              <a:ext cx="504825" cy="1016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77" name="Line 30"/>
            <p:cNvSpPr>
              <a:spLocks noChangeShapeType="1"/>
            </p:cNvSpPr>
            <p:nvPr/>
          </p:nvSpPr>
          <p:spPr bwMode="auto">
            <a:xfrm flipH="1">
              <a:off x="6399213" y="1714500"/>
              <a:ext cx="612775" cy="1046163"/>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78" name="Line 31"/>
            <p:cNvSpPr>
              <a:spLocks noChangeShapeType="1"/>
            </p:cNvSpPr>
            <p:nvPr/>
          </p:nvSpPr>
          <p:spPr bwMode="auto">
            <a:xfrm flipV="1">
              <a:off x="6511925" y="2579688"/>
              <a:ext cx="1443038" cy="3016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79" name="Line 32"/>
            <p:cNvSpPr>
              <a:spLocks noChangeShapeType="1"/>
            </p:cNvSpPr>
            <p:nvPr/>
          </p:nvSpPr>
          <p:spPr bwMode="auto">
            <a:xfrm>
              <a:off x="7192963" y="1679575"/>
              <a:ext cx="804862" cy="7969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80" name="Line 33"/>
            <p:cNvSpPr>
              <a:spLocks noChangeShapeType="1"/>
            </p:cNvSpPr>
            <p:nvPr/>
          </p:nvSpPr>
          <p:spPr bwMode="auto">
            <a:xfrm>
              <a:off x="7494588" y="3165475"/>
              <a:ext cx="255587" cy="1365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81" name="Line 34"/>
            <p:cNvSpPr>
              <a:spLocks noChangeShapeType="1"/>
            </p:cNvSpPr>
            <p:nvPr/>
          </p:nvSpPr>
          <p:spPr bwMode="auto">
            <a:xfrm>
              <a:off x="6735763" y="3351213"/>
              <a:ext cx="1014412"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82" name="Line 38"/>
            <p:cNvSpPr>
              <a:spLocks noChangeShapeType="1"/>
            </p:cNvSpPr>
            <p:nvPr/>
          </p:nvSpPr>
          <p:spPr bwMode="auto">
            <a:xfrm flipH="1">
              <a:off x="7869238" y="2689225"/>
              <a:ext cx="179387" cy="585788"/>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pic>
          <p:nvPicPr>
            <p:cNvPr id="183" name="Picture 39" descr="Alice"/>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4911725" y="2139950"/>
              <a:ext cx="323850" cy="319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4" name="Group 70"/>
            <p:cNvGrpSpPr/>
            <p:nvPr/>
          </p:nvGrpSpPr>
          <p:grpSpPr bwMode="auto">
            <a:xfrm>
              <a:off x="5586413" y="1693863"/>
              <a:ext cx="2378075" cy="1350962"/>
              <a:chOff x="1752" y="2166"/>
              <a:chExt cx="2200" cy="1363"/>
            </a:xfrm>
          </p:grpSpPr>
          <p:sp>
            <p:nvSpPr>
              <p:cNvPr id="185" name="Line 22"/>
              <p:cNvSpPr>
                <a:spLocks noChangeShapeType="1"/>
              </p:cNvSpPr>
              <p:nvPr/>
            </p:nvSpPr>
            <p:spPr bwMode="auto">
              <a:xfrm flipV="1">
                <a:off x="1752" y="2166"/>
                <a:ext cx="361" cy="53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86" name="Line 23"/>
              <p:cNvSpPr>
                <a:spLocks noChangeShapeType="1"/>
              </p:cNvSpPr>
              <p:nvPr/>
            </p:nvSpPr>
            <p:spPr bwMode="auto">
              <a:xfrm flipV="1">
                <a:off x="1770" y="2352"/>
                <a:ext cx="2182" cy="4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87" name="Line 24"/>
              <p:cNvSpPr>
                <a:spLocks noChangeShapeType="1"/>
              </p:cNvSpPr>
              <p:nvPr/>
            </p:nvSpPr>
            <p:spPr bwMode="auto">
              <a:xfrm>
                <a:off x="1786" y="2820"/>
                <a:ext cx="1550" cy="70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188" name="Group 74"/>
            <p:cNvGrpSpPr/>
            <p:nvPr/>
          </p:nvGrpSpPr>
          <p:grpSpPr bwMode="auto">
            <a:xfrm>
              <a:off x="5245100" y="1374775"/>
              <a:ext cx="292100" cy="517525"/>
              <a:chOff x="4140" y="429"/>
              <a:chExt cx="1425" cy="2396"/>
            </a:xfrm>
          </p:grpSpPr>
          <p:sp>
            <p:nvSpPr>
              <p:cNvPr id="189" name="Freeform 75"/>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90" name="Rectangle 76"/>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91" name="Freeform 77"/>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92" name="Freeform 78"/>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93" name="Rectangle 79"/>
              <p:cNvSpPr>
                <a:spLocks noChangeArrowheads="1"/>
              </p:cNvSpPr>
              <p:nvPr/>
            </p:nvSpPr>
            <p:spPr bwMode="auto">
              <a:xfrm>
                <a:off x="4210" y="694"/>
                <a:ext cx="596"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194" name="Group 80"/>
              <p:cNvGrpSpPr/>
              <p:nvPr/>
            </p:nvGrpSpPr>
            <p:grpSpPr bwMode="auto">
              <a:xfrm>
                <a:off x="4749" y="668"/>
                <a:ext cx="581" cy="145"/>
                <a:chOff x="614" y="2568"/>
                <a:chExt cx="725" cy="139"/>
              </a:xfrm>
            </p:grpSpPr>
            <p:sp>
              <p:nvSpPr>
                <p:cNvPr id="219" name="AutoShape 81"/>
                <p:cNvSpPr>
                  <a:spLocks noChangeArrowheads="1"/>
                </p:cNvSpPr>
                <p:nvPr/>
              </p:nvSpPr>
              <p:spPr bwMode="auto">
                <a:xfrm>
                  <a:off x="618" y="2571"/>
                  <a:ext cx="725"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20" name="AutoShape 82"/>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195" name="Rectangle 83"/>
              <p:cNvSpPr>
                <a:spLocks noChangeArrowheads="1"/>
              </p:cNvSpPr>
              <p:nvPr/>
            </p:nvSpPr>
            <p:spPr bwMode="auto">
              <a:xfrm>
                <a:off x="4225" y="1017"/>
                <a:ext cx="596" cy="51"/>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196" name="Group 84"/>
              <p:cNvGrpSpPr/>
              <p:nvPr/>
            </p:nvGrpSpPr>
            <p:grpSpPr bwMode="auto">
              <a:xfrm>
                <a:off x="4747" y="994"/>
                <a:ext cx="581" cy="134"/>
                <a:chOff x="614" y="2568"/>
                <a:chExt cx="725" cy="139"/>
              </a:xfrm>
            </p:grpSpPr>
            <p:sp>
              <p:nvSpPr>
                <p:cNvPr id="217" name="AutoShape 85"/>
                <p:cNvSpPr>
                  <a:spLocks noChangeArrowheads="1"/>
                </p:cNvSpPr>
                <p:nvPr/>
              </p:nvSpPr>
              <p:spPr bwMode="auto">
                <a:xfrm>
                  <a:off x="610" y="2569"/>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8" name="AutoShape 86"/>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197" name="Rectangle 87"/>
              <p:cNvSpPr>
                <a:spLocks noChangeArrowheads="1"/>
              </p:cNvSpPr>
              <p:nvPr/>
            </p:nvSpPr>
            <p:spPr bwMode="auto">
              <a:xfrm>
                <a:off x="4217" y="1355"/>
                <a:ext cx="596" cy="51"/>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98" name="Rectangle 88"/>
              <p:cNvSpPr>
                <a:spLocks noChangeArrowheads="1"/>
              </p:cNvSpPr>
              <p:nvPr/>
            </p:nvSpPr>
            <p:spPr bwMode="auto">
              <a:xfrm>
                <a:off x="4225" y="1656"/>
                <a:ext cx="596" cy="44"/>
              </a:xfrm>
              <a:prstGeom prst="rect">
                <a:avLst/>
              </a:prstGeom>
              <a:solidFill>
                <a:srgbClr val="000000"/>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199" name="Group 89"/>
              <p:cNvGrpSpPr/>
              <p:nvPr/>
            </p:nvGrpSpPr>
            <p:grpSpPr bwMode="auto">
              <a:xfrm>
                <a:off x="4735" y="1627"/>
                <a:ext cx="582" cy="151"/>
                <a:chOff x="614" y="2568"/>
                <a:chExt cx="725" cy="139"/>
              </a:xfrm>
            </p:grpSpPr>
            <p:sp>
              <p:nvSpPr>
                <p:cNvPr id="215" name="AutoShape 90"/>
                <p:cNvSpPr>
                  <a:spLocks noChangeArrowheads="1"/>
                </p:cNvSpPr>
                <p:nvPr/>
              </p:nvSpPr>
              <p:spPr bwMode="auto">
                <a:xfrm>
                  <a:off x="616" y="2568"/>
                  <a:ext cx="724"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6" name="AutoShape 91"/>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00" name="Freeform 92"/>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201" name="Group 93"/>
              <p:cNvGrpSpPr/>
              <p:nvPr/>
            </p:nvGrpSpPr>
            <p:grpSpPr bwMode="auto">
              <a:xfrm>
                <a:off x="4739" y="1327"/>
                <a:ext cx="582" cy="139"/>
                <a:chOff x="614" y="2568"/>
                <a:chExt cx="725" cy="139"/>
              </a:xfrm>
            </p:grpSpPr>
            <p:sp>
              <p:nvSpPr>
                <p:cNvPr id="213" name="AutoShape 94"/>
                <p:cNvSpPr>
                  <a:spLocks noChangeArrowheads="1"/>
                </p:cNvSpPr>
                <p:nvPr/>
              </p:nvSpPr>
              <p:spPr bwMode="auto">
                <a:xfrm>
                  <a:off x="611" y="2567"/>
                  <a:ext cx="724"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4" name="AutoShape 95"/>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202" name="Rectangle 96"/>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3" name="Freeform 97"/>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4" name="Freeform 98"/>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5" name="Oval 99"/>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6" name="Freeform 100"/>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7" name="AutoShape 101"/>
              <p:cNvSpPr>
                <a:spLocks noChangeArrowheads="1"/>
              </p:cNvSpPr>
              <p:nvPr/>
            </p:nvSpPr>
            <p:spPr bwMode="auto">
              <a:xfrm>
                <a:off x="4140" y="2678"/>
                <a:ext cx="1200" cy="147"/>
              </a:xfrm>
              <a:prstGeom prst="roundRect">
                <a:avLst>
                  <a:gd name="adj" fmla="val 50000"/>
                </a:avLst>
              </a:prstGeom>
              <a:solidFill>
                <a:srgbClr val="DDDDDD"/>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8" name="AutoShape 102"/>
              <p:cNvSpPr>
                <a:spLocks noChangeArrowheads="1"/>
              </p:cNvSpPr>
              <p:nvPr/>
            </p:nvSpPr>
            <p:spPr bwMode="auto">
              <a:xfrm>
                <a:off x="4210" y="2707"/>
                <a:ext cx="1069" cy="88"/>
              </a:xfrm>
              <a:prstGeom prst="roundRect">
                <a:avLst>
                  <a:gd name="adj" fmla="val 50000"/>
                </a:avLst>
              </a:prstGeom>
              <a:gradFill rotWithShape="1">
                <a:gsLst>
                  <a:gs pos="0">
                    <a:srgbClr val="000000"/>
                  </a:gs>
                  <a:gs pos="100000">
                    <a:srgbClr val="808080"/>
                  </a:gs>
                </a:gsLst>
                <a:lin ang="0" scaled="1"/>
              </a:gra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09" name="Oval 103"/>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0" name="Oval 104"/>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1" name="Oval 105"/>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212" name="Rectangle 106"/>
              <p:cNvSpPr>
                <a:spLocks noChangeArrowheads="1"/>
              </p:cNvSpPr>
              <p:nvPr/>
            </p:nvSpPr>
            <p:spPr bwMode="auto">
              <a:xfrm>
                <a:off x="5062" y="1833"/>
                <a:ext cx="85" cy="764"/>
              </a:xfrm>
              <a:prstGeom prst="rect">
                <a:avLst/>
              </a:prstGeom>
              <a:solidFill>
                <a:srgbClr val="292929"/>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21" name="Group 107"/>
            <p:cNvGrpSpPr/>
            <p:nvPr/>
          </p:nvGrpSpPr>
          <p:grpSpPr bwMode="auto">
            <a:xfrm>
              <a:off x="6311900" y="3176588"/>
              <a:ext cx="434975" cy="349250"/>
              <a:chOff x="-44" y="1473"/>
              <a:chExt cx="981" cy="1105"/>
            </a:xfrm>
          </p:grpSpPr>
          <p:pic>
            <p:nvPicPr>
              <p:cNvPr id="222" name="Picture 108"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3" name="Freeform 10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24" name="Group 110"/>
            <p:cNvGrpSpPr/>
            <p:nvPr/>
          </p:nvGrpSpPr>
          <p:grpSpPr bwMode="auto">
            <a:xfrm flipH="1">
              <a:off x="7716838" y="3252788"/>
              <a:ext cx="434975" cy="349250"/>
              <a:chOff x="-44" y="1473"/>
              <a:chExt cx="981" cy="1105"/>
            </a:xfrm>
          </p:grpSpPr>
          <p:pic>
            <p:nvPicPr>
              <p:cNvPr id="225" name="Picture 111"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Freeform 112"/>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27" name="Group 113"/>
            <p:cNvGrpSpPr/>
            <p:nvPr/>
          </p:nvGrpSpPr>
          <p:grpSpPr bwMode="auto">
            <a:xfrm flipH="1">
              <a:off x="7988300" y="2457450"/>
              <a:ext cx="434975" cy="349250"/>
              <a:chOff x="-44" y="1473"/>
              <a:chExt cx="981" cy="1105"/>
            </a:xfrm>
          </p:grpSpPr>
          <p:pic>
            <p:nvPicPr>
              <p:cNvPr id="228" name="Picture 114"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Freeform 11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30" name="Group 116"/>
            <p:cNvGrpSpPr/>
            <p:nvPr/>
          </p:nvGrpSpPr>
          <p:grpSpPr bwMode="auto">
            <a:xfrm flipH="1">
              <a:off x="8043863" y="1706563"/>
              <a:ext cx="434975" cy="349250"/>
              <a:chOff x="-44" y="1473"/>
              <a:chExt cx="981" cy="1105"/>
            </a:xfrm>
          </p:grpSpPr>
          <p:pic>
            <p:nvPicPr>
              <p:cNvPr id="231" name="Picture 117"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18"/>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33" name="Group 119"/>
            <p:cNvGrpSpPr/>
            <p:nvPr/>
          </p:nvGrpSpPr>
          <p:grpSpPr bwMode="auto">
            <a:xfrm flipH="1">
              <a:off x="6911975" y="1368425"/>
              <a:ext cx="434975" cy="349250"/>
              <a:chOff x="-44" y="1473"/>
              <a:chExt cx="981" cy="1105"/>
            </a:xfrm>
          </p:grpSpPr>
          <p:pic>
            <p:nvPicPr>
              <p:cNvPr id="234" name="Picture 120"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21"/>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36" name="Group 123"/>
            <p:cNvGrpSpPr/>
            <p:nvPr/>
          </p:nvGrpSpPr>
          <p:grpSpPr bwMode="auto">
            <a:xfrm>
              <a:off x="5824538" y="1411288"/>
              <a:ext cx="434975" cy="349250"/>
              <a:chOff x="-44" y="1473"/>
              <a:chExt cx="981" cy="1105"/>
            </a:xfrm>
          </p:grpSpPr>
          <p:pic>
            <p:nvPicPr>
              <p:cNvPr id="237" name="Picture 124"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25"/>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39" name="Group 126"/>
            <p:cNvGrpSpPr/>
            <p:nvPr/>
          </p:nvGrpSpPr>
          <p:grpSpPr bwMode="auto">
            <a:xfrm>
              <a:off x="5159375" y="2162175"/>
              <a:ext cx="434975" cy="349250"/>
              <a:chOff x="-44" y="1473"/>
              <a:chExt cx="981" cy="1105"/>
            </a:xfrm>
          </p:grpSpPr>
          <p:pic>
            <p:nvPicPr>
              <p:cNvPr id="240" name="Picture 127"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28"/>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42" name="Group 129"/>
            <p:cNvGrpSpPr/>
            <p:nvPr/>
          </p:nvGrpSpPr>
          <p:grpSpPr bwMode="auto">
            <a:xfrm>
              <a:off x="6129338" y="2749550"/>
              <a:ext cx="434975" cy="349250"/>
              <a:chOff x="-44" y="1473"/>
              <a:chExt cx="981" cy="1105"/>
            </a:xfrm>
          </p:grpSpPr>
          <p:pic>
            <p:nvPicPr>
              <p:cNvPr id="243" name="Picture 130"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4" name="Freeform 131"/>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245" name="Group 132"/>
            <p:cNvGrpSpPr/>
            <p:nvPr/>
          </p:nvGrpSpPr>
          <p:grpSpPr bwMode="auto">
            <a:xfrm>
              <a:off x="7185025" y="2989263"/>
              <a:ext cx="325438" cy="261937"/>
              <a:chOff x="-44" y="1473"/>
              <a:chExt cx="981" cy="1105"/>
            </a:xfrm>
          </p:grpSpPr>
          <p:pic>
            <p:nvPicPr>
              <p:cNvPr id="246" name="Picture 133"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 name="Freeform 134"/>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sp>
        <p:nvSpPr>
          <p:cNvPr id="83"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BitTorrent: requesting, sending file chunks</a:t>
            </a:r>
            <a:endParaRPr lang="en-US" altLang="en-US" sz="4400" dirty="0">
              <a:ea typeface="MS PGothic" panose="020B0600070205080204" pitchFamily="34" charset="-128"/>
            </a:endParaRPr>
          </a:p>
        </p:txBody>
      </p:sp>
      <p:sp>
        <p:nvSpPr>
          <p:cNvPr id="85" name="Rectangle 4"/>
          <p:cNvSpPr txBox="1">
            <a:spLocks noChangeArrowheads="1"/>
          </p:cNvSpPr>
          <p:nvPr/>
        </p:nvSpPr>
        <p:spPr>
          <a:xfrm>
            <a:off x="798691" y="1510619"/>
            <a:ext cx="4521200" cy="41179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indent="0">
              <a:buFont typeface="Wingdings" panose="05000000000000000000" charset="0"/>
              <a:buNone/>
              <a:defRPr/>
            </a:pPr>
            <a:r>
              <a:rPr lang="en-US" sz="3200" dirty="0">
                <a:solidFill>
                  <a:srgbClr val="CC0000"/>
                </a:solidFill>
              </a:rPr>
              <a:t>Requesting chunks:</a:t>
            </a:r>
            <a:endParaRPr lang="en-US" sz="3200" dirty="0">
              <a:solidFill>
                <a:srgbClr val="CC0000"/>
              </a:solidFill>
            </a:endParaRPr>
          </a:p>
          <a:p>
            <a:pPr marL="406400" indent="-276225">
              <a:buFont typeface="Wingdings" panose="05000000000000000000" pitchFamily="2" charset="2"/>
              <a:buChar char="§"/>
              <a:defRPr/>
            </a:pPr>
            <a:r>
              <a:rPr lang="en-US" dirty="0"/>
              <a:t>at any given time, different peers have different subsets of file chunks</a:t>
            </a:r>
            <a:endParaRPr lang="en-US" dirty="0"/>
          </a:p>
          <a:p>
            <a:pPr marL="406400" indent="-276225">
              <a:buFont typeface="Wingdings" panose="05000000000000000000" pitchFamily="2" charset="2"/>
              <a:buChar char="§"/>
              <a:defRPr/>
            </a:pPr>
            <a:r>
              <a:rPr lang="en-US" dirty="0"/>
              <a:t>periodically, Alice asks each peer for list of chunks that they have</a:t>
            </a:r>
            <a:endParaRPr lang="en-US" dirty="0"/>
          </a:p>
          <a:p>
            <a:pPr marL="406400" indent="-276225">
              <a:buFont typeface="Wingdings" panose="05000000000000000000" pitchFamily="2" charset="2"/>
              <a:buChar char="§"/>
              <a:defRPr/>
            </a:pPr>
            <a:r>
              <a:rPr lang="en-US" dirty="0"/>
              <a:t>Alice requests missing chunks from peers, rarest first</a:t>
            </a:r>
            <a:endParaRPr lang="en-US" dirty="0"/>
          </a:p>
        </p:txBody>
      </p:sp>
      <p:sp>
        <p:nvSpPr>
          <p:cNvPr id="86" name="Rectangle 6"/>
          <p:cNvSpPr>
            <a:spLocks noChangeArrowheads="1"/>
          </p:cNvSpPr>
          <p:nvPr/>
        </p:nvSpPr>
        <p:spPr bwMode="auto">
          <a:xfrm>
            <a:off x="5927271" y="1412473"/>
            <a:ext cx="5714999" cy="5039006"/>
          </a:xfrm>
          <a:prstGeom prst="rect">
            <a:avLst/>
          </a:prstGeom>
          <a:noFill/>
          <a:ln>
            <a:noFill/>
          </a:ln>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681355" indent="-224155">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15875" indent="0"/>
            <a:r>
              <a:rPr lang="en-US" altLang="en-US" sz="3200" dirty="0">
                <a:solidFill>
                  <a:srgbClr val="CC0000"/>
                </a:solidFill>
                <a:latin typeface="+mn-lt"/>
              </a:rPr>
              <a:t>Sending chunks: tit-for-tat</a:t>
            </a:r>
            <a:endParaRPr lang="en-US" altLang="en-US" sz="3200" dirty="0">
              <a:solidFill>
                <a:srgbClr val="CC0000"/>
              </a:solidFill>
              <a:latin typeface="+mn-lt"/>
            </a:endParaRPr>
          </a:p>
          <a:p>
            <a:pPr marL="406400" indent="-341630">
              <a:lnSpc>
                <a:spcPct val="90000"/>
              </a:lnSpc>
              <a:spcBef>
                <a:spcPts val="400"/>
              </a:spcBef>
              <a:buClr>
                <a:srgbClr val="000099"/>
              </a:buClr>
              <a:buSzPct val="100000"/>
              <a:buFont typeface="Wingdings" panose="05000000000000000000" pitchFamily="2" charset="2"/>
              <a:buChar char="§"/>
            </a:pPr>
            <a:r>
              <a:rPr lang="en-US" altLang="en-US" sz="2800" dirty="0">
                <a:latin typeface="+mn-lt"/>
              </a:rPr>
              <a:t>Alice sends chunks to those four peers currently sending her chunks </a:t>
            </a:r>
            <a:r>
              <a:rPr lang="en-US" altLang="en-US" sz="2800" i="1" dirty="0">
                <a:latin typeface="+mn-lt"/>
              </a:rPr>
              <a:t>at highest rate</a:t>
            </a:r>
            <a:r>
              <a:rPr lang="en-US" altLang="en-US" sz="2800" dirty="0">
                <a:latin typeface="+mn-lt"/>
              </a:rPr>
              <a:t> </a:t>
            </a:r>
            <a:endParaRPr lang="en-US" altLang="en-US" sz="2800" dirty="0">
              <a:latin typeface="+mn-lt"/>
            </a:endParaRP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other peers are choked by Alice (do not receive chunks from her)</a:t>
            </a:r>
            <a:endParaRPr lang="en-US" altLang="en-US" sz="2400" dirty="0">
              <a:latin typeface="+mn-lt"/>
            </a:endParaRP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re-evaluate top 4 every10 secs</a:t>
            </a:r>
            <a:endParaRPr lang="en-US" altLang="en-US" sz="2400" dirty="0">
              <a:latin typeface="+mn-lt"/>
            </a:endParaRPr>
          </a:p>
          <a:p>
            <a:pPr marL="471805" indent="-341630">
              <a:lnSpc>
                <a:spcPct val="90000"/>
              </a:lnSpc>
              <a:spcBef>
                <a:spcPts val="400"/>
              </a:spcBef>
              <a:buClr>
                <a:srgbClr val="000099"/>
              </a:buClr>
              <a:buSzPct val="100000"/>
              <a:buFont typeface="Wingdings" panose="05000000000000000000" pitchFamily="2" charset="2"/>
              <a:buChar char="§"/>
            </a:pPr>
            <a:r>
              <a:rPr lang="en-US" altLang="en-US" sz="2800" dirty="0">
                <a:latin typeface="+mn-lt"/>
              </a:rPr>
              <a:t>every 30 secs: randomly select another peer, starts sending chunks</a:t>
            </a:r>
            <a:endParaRPr lang="en-US" altLang="en-US" sz="2800" dirty="0">
              <a:latin typeface="+mn-lt"/>
            </a:endParaRPr>
          </a:p>
          <a:p>
            <a:pPr lvl="1">
              <a:lnSpc>
                <a:spcPct val="90000"/>
              </a:lnSpc>
              <a:spcBef>
                <a:spcPts val="400"/>
              </a:spcBef>
              <a:buClr>
                <a:srgbClr val="000099"/>
              </a:buClr>
              <a:buSzTx/>
              <a:buFont typeface="Arial" panose="020B0604020202020204" pitchFamily="34" charset="0"/>
              <a:buChar char="•"/>
            </a:pPr>
            <a:r>
              <a:rPr lang="en-US" altLang="ja-JP" sz="2400" dirty="0">
                <a:latin typeface="+mn-lt"/>
              </a:rPr>
              <a:t>“optimistically unchoke” this peer</a:t>
            </a:r>
            <a:endParaRPr lang="en-US" altLang="ja-JP" sz="2400" dirty="0">
              <a:latin typeface="+mn-lt"/>
            </a:endParaRP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newly chosen peer may join top 4</a:t>
            </a:r>
            <a:endParaRPr lang="en-US" altLang="en-US" sz="2400" dirty="0">
              <a:latin typeface="+mn-lt"/>
            </a:endParaRPr>
          </a:p>
          <a:p>
            <a:pPr>
              <a:buClr>
                <a:srgbClr val="000099"/>
              </a:buClr>
              <a:buSzTx/>
              <a:buFont typeface="Wingdings" panose="05000000000000000000" pitchFamily="2" charset="2"/>
              <a:buChar char="§"/>
            </a:pPr>
            <a:endParaRPr lang="en-US" altLang="en-US" dirty="0">
              <a:latin typeface="Gill Sans MT" panose="020B0502020104020203" pitchFamily="34" charset="77"/>
            </a:endParaRPr>
          </a:p>
        </p:txBody>
      </p:sp>
      <p:sp>
        <p:nvSpPr>
          <p:cNvPr id="7"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BitTorrent: tit-for-tat</a:t>
            </a:r>
            <a:endParaRPr lang="en-US" altLang="en-US" sz="4400" dirty="0">
              <a:ea typeface="MS PGothic" panose="020B0600070205080204" pitchFamily="34" charset="-128"/>
            </a:endParaRPr>
          </a:p>
        </p:txBody>
      </p:sp>
      <p:pic>
        <p:nvPicPr>
          <p:cNvPr id="7" name="Picture 13" descr="Alice"/>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4369027" y="5178425"/>
            <a:ext cx="561975" cy="69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Line 15"/>
          <p:cNvSpPr>
            <a:spLocks noChangeShapeType="1"/>
          </p:cNvSpPr>
          <p:nvPr/>
        </p:nvSpPr>
        <p:spPr bwMode="auto">
          <a:xfrm flipH="1" flipV="1">
            <a:off x="2452914" y="4184650"/>
            <a:ext cx="1473200" cy="5969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sp>
        <p:nvSpPr>
          <p:cNvPr id="9" name="Line 16"/>
          <p:cNvSpPr>
            <a:spLocks noChangeShapeType="1"/>
          </p:cNvSpPr>
          <p:nvPr/>
        </p:nvSpPr>
        <p:spPr bwMode="auto">
          <a:xfrm flipH="1">
            <a:off x="2933927" y="5010150"/>
            <a:ext cx="965200" cy="3810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sp>
        <p:nvSpPr>
          <p:cNvPr id="10" name="Line 17"/>
          <p:cNvSpPr>
            <a:spLocks noChangeShapeType="1"/>
          </p:cNvSpPr>
          <p:nvPr/>
        </p:nvSpPr>
        <p:spPr bwMode="auto">
          <a:xfrm flipH="1">
            <a:off x="3608614" y="5124450"/>
            <a:ext cx="596900" cy="10414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sp>
        <p:nvSpPr>
          <p:cNvPr id="11" name="Line 18"/>
          <p:cNvSpPr>
            <a:spLocks noChangeShapeType="1"/>
          </p:cNvSpPr>
          <p:nvPr/>
        </p:nvSpPr>
        <p:spPr bwMode="auto">
          <a:xfrm flipV="1">
            <a:off x="6491514" y="3308350"/>
            <a:ext cx="419100" cy="6477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sp>
        <p:nvSpPr>
          <p:cNvPr id="12" name="Line 20"/>
          <p:cNvSpPr>
            <a:spLocks noChangeShapeType="1"/>
          </p:cNvSpPr>
          <p:nvPr/>
        </p:nvSpPr>
        <p:spPr bwMode="auto">
          <a:xfrm flipV="1">
            <a:off x="6593114" y="3892550"/>
            <a:ext cx="787400" cy="3048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sp>
        <p:nvSpPr>
          <p:cNvPr id="13" name="Line 21"/>
          <p:cNvSpPr>
            <a:spLocks noChangeShapeType="1"/>
          </p:cNvSpPr>
          <p:nvPr/>
        </p:nvSpPr>
        <p:spPr bwMode="auto">
          <a:xfrm>
            <a:off x="6593114" y="4362450"/>
            <a:ext cx="596900" cy="3175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pic>
        <p:nvPicPr>
          <p:cNvPr id="14" name="Picture 22" descr="Bob"/>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59702" y="4606925"/>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Line 23"/>
          <p:cNvSpPr>
            <a:spLocks noChangeShapeType="1"/>
          </p:cNvSpPr>
          <p:nvPr/>
        </p:nvSpPr>
        <p:spPr bwMode="auto">
          <a:xfrm flipV="1">
            <a:off x="4510314" y="4159250"/>
            <a:ext cx="1435100" cy="482600"/>
          </a:xfrm>
          <a:prstGeom prst="line">
            <a:avLst/>
          </a:prstGeom>
          <a:noFill/>
          <a:ln w="25400">
            <a:solidFill>
              <a:srgbClr val="CC0000"/>
            </a:solidFill>
            <a:prstDash val="sysDot"/>
            <a:roun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a:p>
        </p:txBody>
      </p:sp>
      <p:sp>
        <p:nvSpPr>
          <p:cNvPr id="16" name="Line 24"/>
          <p:cNvSpPr>
            <a:spLocks noChangeShapeType="1"/>
          </p:cNvSpPr>
          <p:nvPr/>
        </p:nvSpPr>
        <p:spPr bwMode="auto">
          <a:xfrm flipH="1">
            <a:off x="4523014" y="4248150"/>
            <a:ext cx="1397000" cy="469900"/>
          </a:xfrm>
          <a:prstGeom prst="line">
            <a:avLst/>
          </a:prstGeom>
          <a:noFill/>
          <a:ln w="25400">
            <a:solidFill>
              <a:srgbClr val="CC0000"/>
            </a:solidFill>
            <a:round/>
            <a:tailEnd type="triangle" w="med" len="med"/>
          </a:ln>
          <a:extLst>
            <a:ext uri="{909E8E84-426E-40DD-AFC4-6F175D3DCCD1}">
              <a14:hiddenFill xmlns:a14="http://schemas.microsoft.com/office/drawing/2010/main">
                <a:noFill/>
              </a14:hiddenFill>
            </a:ext>
          </a:extLst>
        </p:spPr>
        <p:txBody>
          <a:bodyPr wrap="none" lIns="0" tIns="0" rIns="0" bIns="0">
            <a:spAutoFit/>
          </a:bodyPr>
          <a:lstStyle/>
          <a:p>
            <a:endParaRPr lang="en-US" sz="2000"/>
          </a:p>
        </p:txBody>
      </p:sp>
      <p:sp>
        <p:nvSpPr>
          <p:cNvPr id="17" name="Line 25"/>
          <p:cNvSpPr>
            <a:spLocks noChangeShapeType="1"/>
          </p:cNvSpPr>
          <p:nvPr/>
        </p:nvSpPr>
        <p:spPr bwMode="auto">
          <a:xfrm flipV="1">
            <a:off x="4561114" y="4349750"/>
            <a:ext cx="1371600" cy="482600"/>
          </a:xfrm>
          <a:prstGeom prst="line">
            <a:avLst/>
          </a:prstGeom>
          <a:noFill/>
          <a:ln w="25400">
            <a:solidFill>
              <a:srgbClr val="CC0000"/>
            </a:solidFill>
            <a:round/>
            <a:tailEnd type="triangle" w="med" len="med"/>
          </a:ln>
          <a:extLst>
            <a:ext uri="{909E8E84-426E-40DD-AFC4-6F175D3DCCD1}">
              <a14:hiddenFill xmlns:a14="http://schemas.microsoft.com/office/drawing/2010/main">
                <a:noFill/>
              </a14:hiddenFill>
            </a:ext>
          </a:extLst>
        </p:spPr>
        <p:txBody>
          <a:bodyPr wrap="none" lIns="0" tIns="0" rIns="0" bIns="0">
            <a:spAutoFit/>
          </a:bodyPr>
          <a:lstStyle/>
          <a:p>
            <a:endParaRPr lang="en-US" sz="2000"/>
          </a:p>
        </p:txBody>
      </p:sp>
      <p:sp>
        <p:nvSpPr>
          <p:cNvPr id="18" name="Text Box 26"/>
          <p:cNvSpPr txBox="1">
            <a:spLocks noChangeArrowheads="1"/>
          </p:cNvSpPr>
          <p:nvPr/>
        </p:nvSpPr>
        <p:spPr bwMode="auto">
          <a:xfrm>
            <a:off x="825046" y="1288142"/>
            <a:ext cx="47891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2400" dirty="0">
                <a:latin typeface="+mn-lt"/>
              </a:rPr>
              <a:t>(1) Alice “</a:t>
            </a:r>
            <a:r>
              <a:rPr lang="en-US" altLang="ja-JP" sz="2400" dirty="0">
                <a:latin typeface="+mn-lt"/>
              </a:rPr>
              <a:t>optimistically unchokes” Bob</a:t>
            </a:r>
            <a:endParaRPr lang="en-US" altLang="en-US" sz="2400" dirty="0">
              <a:latin typeface="+mn-lt"/>
            </a:endParaRPr>
          </a:p>
        </p:txBody>
      </p:sp>
      <p:sp>
        <p:nvSpPr>
          <p:cNvPr id="19" name="Text Box 27"/>
          <p:cNvSpPr txBox="1">
            <a:spLocks noChangeArrowheads="1"/>
          </p:cNvSpPr>
          <p:nvPr/>
        </p:nvSpPr>
        <p:spPr bwMode="auto">
          <a:xfrm>
            <a:off x="822327" y="1711330"/>
            <a:ext cx="8496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2400" dirty="0">
                <a:latin typeface="+mn-lt"/>
              </a:rPr>
              <a:t>(2) Alice becomes one of Bob’</a:t>
            </a:r>
            <a:r>
              <a:rPr lang="en-US" altLang="ja-JP" sz="2400" dirty="0">
                <a:latin typeface="+mn-lt"/>
              </a:rPr>
              <a:t>s top-four providers; Bob reciprocates</a:t>
            </a:r>
            <a:endParaRPr lang="en-US" altLang="en-US" sz="2400" dirty="0">
              <a:latin typeface="+mn-lt"/>
            </a:endParaRPr>
          </a:p>
        </p:txBody>
      </p:sp>
      <p:sp>
        <p:nvSpPr>
          <p:cNvPr id="20" name="Text Box 28"/>
          <p:cNvSpPr txBox="1">
            <a:spLocks noChangeArrowheads="1"/>
          </p:cNvSpPr>
          <p:nvPr/>
        </p:nvSpPr>
        <p:spPr bwMode="auto">
          <a:xfrm>
            <a:off x="814389" y="2124086"/>
            <a:ext cx="62574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2400" dirty="0">
                <a:latin typeface="+mn-lt"/>
              </a:rPr>
              <a:t>(3) Bob becomes one of Alice’</a:t>
            </a:r>
            <a:r>
              <a:rPr lang="en-US" altLang="ja-JP" sz="2400" dirty="0">
                <a:latin typeface="+mn-lt"/>
              </a:rPr>
              <a:t>s top-four providers</a:t>
            </a:r>
            <a:endParaRPr lang="en-US" altLang="en-US" sz="2400" dirty="0">
              <a:latin typeface="+mn-lt"/>
            </a:endParaRPr>
          </a:p>
        </p:txBody>
      </p:sp>
      <p:sp>
        <p:nvSpPr>
          <p:cNvPr id="21" name="Text Box 29"/>
          <p:cNvSpPr txBox="1">
            <a:spLocks noChangeArrowheads="1"/>
          </p:cNvSpPr>
          <p:nvPr/>
        </p:nvSpPr>
        <p:spPr bwMode="auto">
          <a:xfrm>
            <a:off x="6416902" y="5338537"/>
            <a:ext cx="4897389" cy="830997"/>
          </a:xfrm>
          <a:prstGeom prst="rect">
            <a:avLst/>
          </a:prstGeom>
          <a:noFill/>
          <a:ln w="19050">
            <a:solidFill>
              <a:srgbClr val="CC0000"/>
            </a:solid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1" hangingPunct="1">
              <a:spcBef>
                <a:spcPct val="0"/>
              </a:spcBef>
              <a:buClrTx/>
              <a:buSzTx/>
              <a:buFontTx/>
              <a:buNone/>
            </a:pPr>
            <a:r>
              <a:rPr lang="en-US" altLang="en-US" sz="2400" i="1" dirty="0">
                <a:latin typeface="+mn-lt"/>
              </a:rPr>
              <a:t>higher upload rate:</a:t>
            </a:r>
            <a:r>
              <a:rPr lang="en-US" altLang="en-US" sz="2400" dirty="0">
                <a:latin typeface="+mn-lt"/>
              </a:rPr>
              <a:t> find better trading partners, get file faster !</a:t>
            </a:r>
            <a:endParaRPr lang="en-US" altLang="en-US" sz="2400" dirty="0">
              <a:latin typeface="+mn-lt"/>
            </a:endParaRPr>
          </a:p>
        </p:txBody>
      </p:sp>
      <p:grpSp>
        <p:nvGrpSpPr>
          <p:cNvPr id="22" name="Group 52"/>
          <p:cNvGrpSpPr/>
          <p:nvPr/>
        </p:nvGrpSpPr>
        <p:grpSpPr bwMode="auto">
          <a:xfrm>
            <a:off x="2194152" y="5014913"/>
            <a:ext cx="762000" cy="752475"/>
            <a:chOff x="-44" y="1473"/>
            <a:chExt cx="981" cy="1105"/>
          </a:xfrm>
        </p:grpSpPr>
        <p:pic>
          <p:nvPicPr>
            <p:cNvPr id="23" name="Picture 53"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54"/>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25" name="Group 55"/>
          <p:cNvGrpSpPr/>
          <p:nvPr/>
        </p:nvGrpSpPr>
        <p:grpSpPr bwMode="auto">
          <a:xfrm>
            <a:off x="2889477" y="5776913"/>
            <a:ext cx="762000" cy="752475"/>
            <a:chOff x="-44" y="1473"/>
            <a:chExt cx="981" cy="1105"/>
          </a:xfrm>
        </p:grpSpPr>
        <p:pic>
          <p:nvPicPr>
            <p:cNvPr id="26" name="Picture 56"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Freeform 57"/>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28" name="Group 58"/>
          <p:cNvGrpSpPr/>
          <p:nvPr/>
        </p:nvGrpSpPr>
        <p:grpSpPr bwMode="auto">
          <a:xfrm>
            <a:off x="1708377" y="3894138"/>
            <a:ext cx="762000" cy="752475"/>
            <a:chOff x="-44" y="1473"/>
            <a:chExt cx="981" cy="1105"/>
          </a:xfrm>
        </p:grpSpPr>
        <p:pic>
          <p:nvPicPr>
            <p:cNvPr id="29" name="Picture 59"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Freeform 60"/>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31" name="Group 61"/>
          <p:cNvGrpSpPr/>
          <p:nvPr/>
        </p:nvGrpSpPr>
        <p:grpSpPr bwMode="auto">
          <a:xfrm>
            <a:off x="3672114" y="4427538"/>
            <a:ext cx="762000" cy="752475"/>
            <a:chOff x="-44" y="1473"/>
            <a:chExt cx="981" cy="1105"/>
          </a:xfrm>
        </p:grpSpPr>
        <p:pic>
          <p:nvPicPr>
            <p:cNvPr id="32" name="Picture 62"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Freeform 63"/>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34" name="Group 64"/>
          <p:cNvGrpSpPr/>
          <p:nvPr/>
        </p:nvGrpSpPr>
        <p:grpSpPr bwMode="auto">
          <a:xfrm flipH="1">
            <a:off x="7199539" y="4351338"/>
            <a:ext cx="762000" cy="752475"/>
            <a:chOff x="-44" y="1473"/>
            <a:chExt cx="981" cy="1105"/>
          </a:xfrm>
        </p:grpSpPr>
        <p:pic>
          <p:nvPicPr>
            <p:cNvPr id="35" name="Picture 65"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Freeform 66"/>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37" name="Group 67"/>
          <p:cNvGrpSpPr/>
          <p:nvPr/>
        </p:nvGrpSpPr>
        <p:grpSpPr bwMode="auto">
          <a:xfrm flipH="1">
            <a:off x="7350352" y="3513138"/>
            <a:ext cx="762000" cy="752475"/>
            <a:chOff x="-44" y="1473"/>
            <a:chExt cx="981" cy="1105"/>
          </a:xfrm>
        </p:grpSpPr>
        <p:pic>
          <p:nvPicPr>
            <p:cNvPr id="38" name="Picture 68"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Freeform 6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40" name="Group 70"/>
          <p:cNvGrpSpPr/>
          <p:nvPr/>
        </p:nvGrpSpPr>
        <p:grpSpPr bwMode="auto">
          <a:xfrm flipH="1">
            <a:off x="6958239" y="2892425"/>
            <a:ext cx="762000" cy="752475"/>
            <a:chOff x="-44" y="1473"/>
            <a:chExt cx="981" cy="1105"/>
          </a:xfrm>
        </p:grpSpPr>
        <p:pic>
          <p:nvPicPr>
            <p:cNvPr id="41" name="Picture 71"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Freeform 72"/>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43" name="Group 74"/>
          <p:cNvGrpSpPr/>
          <p:nvPr/>
        </p:nvGrpSpPr>
        <p:grpSpPr bwMode="auto">
          <a:xfrm flipH="1">
            <a:off x="6035902" y="3883025"/>
            <a:ext cx="762000" cy="752475"/>
            <a:chOff x="-44" y="1473"/>
            <a:chExt cx="981" cy="1105"/>
          </a:xfrm>
        </p:grpSpPr>
        <p:pic>
          <p:nvPicPr>
            <p:cNvPr id="44" name="Picture 75"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76"/>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nvGrpSpPr>
          <p:cNvPr id="46" name="Group 80"/>
          <p:cNvGrpSpPr/>
          <p:nvPr/>
        </p:nvGrpSpPr>
        <p:grpSpPr bwMode="auto">
          <a:xfrm>
            <a:off x="5815239" y="2717800"/>
            <a:ext cx="762000" cy="1177925"/>
            <a:chOff x="4746" y="1528"/>
            <a:chExt cx="480" cy="742"/>
          </a:xfrm>
        </p:grpSpPr>
        <p:sp>
          <p:nvSpPr>
            <p:cNvPr id="47" name="Line 50"/>
            <p:cNvSpPr>
              <a:spLocks noChangeShapeType="1"/>
            </p:cNvSpPr>
            <p:nvPr/>
          </p:nvSpPr>
          <p:spPr bwMode="auto">
            <a:xfrm>
              <a:off x="4964" y="1962"/>
              <a:ext cx="2" cy="308"/>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sz="2000"/>
            </a:p>
          </p:txBody>
        </p:sp>
        <p:grpSp>
          <p:nvGrpSpPr>
            <p:cNvPr id="48" name="Group 77"/>
            <p:cNvGrpSpPr/>
            <p:nvPr/>
          </p:nvGrpSpPr>
          <p:grpSpPr bwMode="auto">
            <a:xfrm flipH="1">
              <a:off x="4746" y="1528"/>
              <a:ext cx="480" cy="474"/>
              <a:chOff x="-44" y="1473"/>
              <a:chExt cx="981" cy="1105"/>
            </a:xfrm>
          </p:grpSpPr>
          <p:pic>
            <p:nvPicPr>
              <p:cNvPr id="49" name="Picture 78"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7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grpSp>
        <p:nvGrpSpPr>
          <p:cNvPr id="51" name="Group 87"/>
          <p:cNvGrpSpPr/>
          <p:nvPr/>
        </p:nvGrpSpPr>
        <p:grpSpPr bwMode="auto">
          <a:xfrm>
            <a:off x="2905352" y="3206750"/>
            <a:ext cx="1112837" cy="1219200"/>
            <a:chOff x="4779" y="2386"/>
            <a:chExt cx="701" cy="768"/>
          </a:xfrm>
        </p:grpSpPr>
        <p:sp>
          <p:nvSpPr>
            <p:cNvPr id="52" name="Line 46"/>
            <p:cNvSpPr>
              <a:spLocks noChangeShapeType="1"/>
            </p:cNvSpPr>
            <p:nvPr/>
          </p:nvSpPr>
          <p:spPr bwMode="auto">
            <a:xfrm>
              <a:off x="5239" y="2812"/>
              <a:ext cx="241" cy="342"/>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sz="2000"/>
            </a:p>
          </p:txBody>
        </p:sp>
        <p:grpSp>
          <p:nvGrpSpPr>
            <p:cNvPr id="53" name="Group 84"/>
            <p:cNvGrpSpPr/>
            <p:nvPr/>
          </p:nvGrpSpPr>
          <p:grpSpPr bwMode="auto">
            <a:xfrm>
              <a:off x="4779" y="2386"/>
              <a:ext cx="480" cy="474"/>
              <a:chOff x="-44" y="1473"/>
              <a:chExt cx="981" cy="1105"/>
            </a:xfrm>
          </p:grpSpPr>
          <p:pic>
            <p:nvPicPr>
              <p:cNvPr id="54" name="Picture 85"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Freeform 86"/>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sz="2000"/>
              </a:p>
            </p:txBody>
          </p:sp>
        </p:grpSp>
      </p:grpSp>
      <p:sp>
        <p:nvSpPr>
          <p:cNvPr id="56"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dissolv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dissolve">
                                      <p:cBhvr>
                                        <p:cTn id="15" dur="500"/>
                                        <p:tgtEl>
                                          <p:spTgt spid="19"/>
                                        </p:tgtEl>
                                      </p:cBhvr>
                                    </p:animEffect>
                                  </p:childTnLst>
                                </p:cTn>
                              </p:par>
                              <p:par>
                                <p:cTn id="16" presetID="9" presetClass="exit" presetSubtype="0" fill="hold" nodeType="withEffect">
                                  <p:stCondLst>
                                    <p:cond delay="0"/>
                                  </p:stCondLst>
                                  <p:childTnLst>
                                    <p:animEffect transition="out" filter="dissolve">
                                      <p:cBhvr>
                                        <p:cTn id="17" dur="500"/>
                                        <p:tgtEl>
                                          <p:spTgt spid="46"/>
                                        </p:tgtEl>
                                      </p:cBhvr>
                                    </p:animEffect>
                                    <p:set>
                                      <p:cBhvr>
                                        <p:cTn id="18" dur="1" fill="hold">
                                          <p:stCondLst>
                                            <p:cond delay="499"/>
                                          </p:stCondLst>
                                        </p:cTn>
                                        <p:tgtEl>
                                          <p:spTgt spid="46"/>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dissolve">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dissolve">
                                      <p:cBhvr>
                                        <p:cTn id="26" dur="500"/>
                                        <p:tgtEl>
                                          <p:spTgt spid="20"/>
                                        </p:tgtEl>
                                      </p:cBhvr>
                                    </p:animEffect>
                                  </p:childTnLst>
                                </p:cTn>
                              </p:par>
                              <p:par>
                                <p:cTn id="27" presetID="9" presetClass="exit" presetSubtype="0" fill="hold" nodeType="withEffect">
                                  <p:stCondLst>
                                    <p:cond delay="0"/>
                                  </p:stCondLst>
                                  <p:childTnLst>
                                    <p:animEffect transition="out" filter="dissolve">
                                      <p:cBhvr>
                                        <p:cTn id="28" dur="500"/>
                                        <p:tgtEl>
                                          <p:spTgt spid="51"/>
                                        </p:tgtEl>
                                      </p:cBhvr>
                                    </p:animEffect>
                                    <p:set>
                                      <p:cBhvr>
                                        <p:cTn id="29" dur="1" fill="hold">
                                          <p:stCondLst>
                                            <p:cond delay="499"/>
                                          </p:stCondLst>
                                        </p:cTn>
                                        <p:tgtEl>
                                          <p:spTgt spid="51"/>
                                        </p:tgtEl>
                                        <p:attrNameLst>
                                          <p:attrName>style.visibility</p:attrName>
                                        </p:attrNameLst>
                                      </p:cBhvr>
                                      <p:to>
                                        <p:strVal val="hidden"/>
                                      </p:to>
                                    </p:set>
                                  </p:childTnLst>
                                </p:cTn>
                              </p:par>
                              <p:par>
                                <p:cTn id="30" presetID="9"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dissolve">
                                      <p:cBhvr>
                                        <p:cTn id="32" dur="500"/>
                                        <p:tgtEl>
                                          <p:spTgt spid="17"/>
                                        </p:tgtEl>
                                      </p:cBhvr>
                                    </p:animEffect>
                                  </p:childTnLst>
                                </p:cTn>
                              </p:par>
                              <p:par>
                                <p:cTn id="33" presetID="3" presetClass="exit" presetSubtype="10" fill="hold" nodeType="withEffect">
                                  <p:stCondLst>
                                    <p:cond delay="0"/>
                                  </p:stCondLst>
                                  <p:childTnLst>
                                    <p:animEffect transition="out" filter="blinds(horizontal)">
                                      <p:cBhvr>
                                        <p:cTn id="34" dur="500"/>
                                        <p:tgtEl>
                                          <p:spTgt spid="15"/>
                                        </p:tgtEl>
                                      </p:cBhvr>
                                    </p:animEffect>
                                    <p:set>
                                      <p:cBhvr>
                                        <p:cTn id="35" dur="1" fill="hold">
                                          <p:stCondLst>
                                            <p:cond delay="499"/>
                                          </p:stCondLst>
                                        </p:cTn>
                                        <p:tgtEl>
                                          <p:spTgt spid="15"/>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dissolve">
                                      <p:cBhvr>
                                        <p:cTn id="4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p:cNvSpPr txBox="1"/>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endParaRPr lang="en-US" sz="3200" dirty="0">
              <a:solidFill>
                <a:schemeClr val="bg1">
                  <a:lumMod val="75000"/>
                </a:schemeClr>
              </a:solidFill>
              <a:latin typeface="Calibri" panose="020F0502020204030204" pitchFamily="34" charset="0"/>
              <a:cs typeface="Calibri" panose="020F0502020204030204" pitchFamily="34" charset="0"/>
            </a:endParaRPr>
          </a:p>
          <a:p>
            <a:endParaRPr lang="en-US" dirty="0"/>
          </a:p>
        </p:txBody>
      </p:sp>
      <p:sp>
        <p:nvSpPr>
          <p:cNvPr id="11" name="Rectangle 4"/>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P2P applications</a:t>
            </a:r>
            <a:endParaRPr lang="en-US" altLang="en-US" sz="3200" dirty="0">
              <a:solidFill>
                <a:schemeClr val="bg1">
                  <a:lumMod val="75000"/>
                </a:schemeClr>
              </a:solidFill>
              <a:ea typeface="MS PGothic" panose="020B0600070205080204" pitchFamily="34" charset="-128"/>
            </a:endParaRPr>
          </a:p>
          <a:p>
            <a:pPr marL="349250" indent="-349250">
              <a:buClr>
                <a:srgbClr val="0000A8"/>
              </a:buClr>
            </a:pPr>
            <a:r>
              <a:rPr lang="en-US" altLang="en-US" sz="3200" dirty="0">
                <a:ea typeface="MS PGothic" panose="020B0600070205080204" pitchFamily="34" charset="-128"/>
              </a:rPr>
              <a:t>video streaming and content distribution networks</a:t>
            </a:r>
            <a:endParaRPr lang="en-US" altLang="en-US" sz="3200" dirty="0">
              <a:ea typeface="MS PGothic" panose="020B0600070205080204" pitchFamily="34" charset="-128"/>
            </a:endParaRPr>
          </a:p>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socket programming with UDP and TCP</a:t>
            </a:r>
            <a:endParaRPr lang="en-US" altLang="en-US" sz="3200" dirty="0">
              <a:solidFill>
                <a:schemeClr val="bg1">
                  <a:lumMod val="75000"/>
                </a:schemeClr>
              </a:solidFill>
              <a:ea typeface="MS PGothic" panose="020B0600070205080204" pitchFamily="34" charset="-128"/>
            </a:endParaRPr>
          </a:p>
          <a:p>
            <a:pPr>
              <a:buFont typeface="Wingdings" panose="05000000000000000000" pitchFamily="2" charset="2"/>
              <a:buNone/>
            </a:pPr>
            <a:endParaRPr lang="en-US" altLang="en-US" sz="2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pic>
        <p:nvPicPr>
          <p:cNvPr id="7" name="Picture 6" descr="Kurose&amp;Ross 8th edition photo"/>
          <p:cNvPicPr>
            <a:picLocks noChangeAspect="1"/>
          </p:cNvPicPr>
          <p:nvPr/>
        </p:nvPicPr>
        <p:blipFill>
          <a:blip r:embed="rId1"/>
          <a:stretch>
            <a:fillRect/>
          </a:stretch>
        </p:blipFill>
        <p:spPr>
          <a:xfrm>
            <a:off x="6957391" y="4125913"/>
            <a:ext cx="3087757" cy="2315818"/>
          </a:xfrm>
          <a:prstGeom prst="rect">
            <a:avLst/>
          </a:prstGeom>
        </p:spPr>
      </p:pic>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Video Streaming and CDNs: context</a:t>
            </a:r>
            <a:endParaRPr lang="en-US" altLang="en-US" sz="4400" dirty="0">
              <a:ea typeface="MS PGothic" panose="020B0600070205080204" pitchFamily="34" charset="-128"/>
            </a:endParaRPr>
          </a:p>
        </p:txBody>
      </p:sp>
      <p:sp>
        <p:nvSpPr>
          <p:cNvPr id="83" name="Rectangle 43"/>
          <p:cNvSpPr>
            <a:spLocks noChangeArrowheads="1"/>
          </p:cNvSpPr>
          <p:nvPr/>
        </p:nvSpPr>
        <p:spPr bwMode="auto">
          <a:xfrm>
            <a:off x="703683" y="1676400"/>
            <a:ext cx="8448901" cy="894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buClr>
                <a:srgbClr val="000099"/>
              </a:buClr>
              <a:buSzPct val="100000"/>
              <a:buFont typeface="Wingdings" panose="05000000000000000000" pitchFamily="2" charset="2"/>
              <a:buChar char="§"/>
            </a:pPr>
            <a:endParaRPr lang="en-US" altLang="en-US" sz="2800" dirty="0">
              <a:latin typeface="+mn-lt"/>
            </a:endParaRPr>
          </a:p>
        </p:txBody>
      </p:sp>
      <p:sp>
        <p:nvSpPr>
          <p:cNvPr id="84" name="Rectangle 43"/>
          <p:cNvSpPr>
            <a:spLocks noChangeArrowheads="1"/>
          </p:cNvSpPr>
          <p:nvPr/>
        </p:nvSpPr>
        <p:spPr bwMode="auto">
          <a:xfrm>
            <a:off x="939800" y="1452782"/>
            <a:ext cx="9225965" cy="4821237"/>
          </a:xfrm>
          <a:prstGeom prst="rect">
            <a:avLst/>
          </a:prstGeom>
          <a:noFill/>
          <a:ln>
            <a:noFill/>
          </a:ln>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681355" indent="-224155">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357505" indent="-341630">
              <a:buClr>
                <a:srgbClr val="0000A3"/>
              </a:buClr>
              <a:buSzPct val="100000"/>
              <a:buFont typeface="Wingdings" panose="05000000000000000000" pitchFamily="2" charset="2"/>
              <a:buChar char="§"/>
            </a:pPr>
            <a:r>
              <a:rPr lang="en-US" altLang="en-US" sz="3200" dirty="0">
                <a:latin typeface="+mn-lt"/>
              </a:rPr>
              <a:t>stream video traffic: major consumer of Internet bandwidth</a:t>
            </a:r>
            <a:endParaRPr lang="en-US" altLang="en-US" sz="3200" dirty="0">
              <a:latin typeface="+mn-lt"/>
            </a:endParaRPr>
          </a:p>
          <a:p>
            <a:pPr lvl="1">
              <a:buClr>
                <a:srgbClr val="000099"/>
              </a:buClr>
              <a:buSzPct val="100000"/>
              <a:buFont typeface="Arial" panose="020B0604020202020204" pitchFamily="34" charset="0"/>
              <a:buChar char="•"/>
            </a:pPr>
            <a:r>
              <a:rPr lang="en-US" altLang="en-US" sz="2800" dirty="0">
                <a:latin typeface="+mn-lt"/>
              </a:rPr>
              <a:t>Netflix, YouTube, Amazon Prime: 80% of residential ISP traffic </a:t>
            </a:r>
            <a:r>
              <a:rPr lang="en-US" altLang="en-US" dirty="0">
                <a:latin typeface="+mn-lt"/>
              </a:rPr>
              <a:t>(2020)</a:t>
            </a:r>
            <a:endParaRPr lang="en-US" altLang="en-US" dirty="0">
              <a:latin typeface="+mn-lt"/>
            </a:endParaRPr>
          </a:p>
          <a:p>
            <a:pPr>
              <a:buClr>
                <a:srgbClr val="000099"/>
              </a:buClr>
              <a:buSzPct val="100000"/>
              <a:buFont typeface="Wingdings" panose="05000000000000000000" pitchFamily="2" charset="2"/>
              <a:buChar char="§"/>
            </a:pPr>
            <a:r>
              <a:rPr lang="en-US" altLang="en-US" sz="3200" dirty="0">
                <a:latin typeface="+mn-lt"/>
              </a:rPr>
              <a:t>challenge:  scale - how to reach ~1B users?</a:t>
            </a:r>
            <a:endParaRPr lang="en-US" altLang="en-US" sz="2800" dirty="0">
              <a:latin typeface="+mn-lt"/>
            </a:endParaRPr>
          </a:p>
          <a:p>
            <a:pPr lvl="1">
              <a:buClr>
                <a:srgbClr val="000099"/>
              </a:buClr>
              <a:buSzPct val="100000"/>
              <a:buFont typeface="Arial" panose="020B0604020202020204" pitchFamily="34" charset="0"/>
              <a:buChar char="•"/>
            </a:pPr>
            <a:r>
              <a:rPr lang="en-US" altLang="en-US" sz="2800" dirty="0">
                <a:latin typeface="+mn-lt"/>
              </a:rPr>
              <a:t>single mega-video server won’t work (why?)</a:t>
            </a:r>
            <a:endParaRPr lang="en-US" altLang="en-US" sz="2800" dirty="0">
              <a:latin typeface="+mn-lt"/>
            </a:endParaRPr>
          </a:p>
          <a:p>
            <a:pPr>
              <a:buClr>
                <a:srgbClr val="000099"/>
              </a:buClr>
              <a:buSzPct val="100000"/>
              <a:buFont typeface="Wingdings" panose="05000000000000000000" pitchFamily="2" charset="2"/>
              <a:buChar char="§"/>
            </a:pPr>
            <a:r>
              <a:rPr lang="en-US" altLang="en-US" sz="3200" dirty="0">
                <a:latin typeface="+mn-lt"/>
              </a:rPr>
              <a:t>challenge: heterogeneity</a:t>
            </a:r>
            <a:endParaRPr lang="en-US" altLang="en-US" sz="3200" dirty="0">
              <a:latin typeface="+mn-lt"/>
            </a:endParaRPr>
          </a:p>
          <a:p>
            <a:pPr lvl="1">
              <a:buClr>
                <a:srgbClr val="000099"/>
              </a:buClr>
              <a:buSzPct val="100000"/>
              <a:buFont typeface="Wingdings" panose="05000000000000000000" pitchFamily="2" charset="2"/>
              <a:buChar char="§"/>
            </a:pPr>
            <a:r>
              <a:rPr lang="en-US" altLang="en-US" sz="2800" dirty="0">
                <a:latin typeface="+mn-lt"/>
              </a:rPr>
              <a:t>different users have different capabilities (e.g., wired versus mobile; bandwidth rich versus bandwidth poor)</a:t>
            </a:r>
            <a:endParaRPr lang="en-US" altLang="en-US" sz="2800" dirty="0">
              <a:latin typeface="+mn-lt"/>
            </a:endParaRPr>
          </a:p>
          <a:p>
            <a:pPr>
              <a:buClr>
                <a:srgbClr val="000099"/>
              </a:buClr>
              <a:buSzPct val="100000"/>
              <a:buFont typeface="Wingdings" panose="05000000000000000000" pitchFamily="2" charset="2"/>
              <a:buChar char="§"/>
            </a:pPr>
            <a:r>
              <a:rPr lang="en-US" altLang="en-US" sz="3200" i="1" dirty="0">
                <a:solidFill>
                  <a:srgbClr val="CC0000"/>
                </a:solidFill>
                <a:latin typeface="+mn-lt"/>
              </a:rPr>
              <a:t>solution: </a:t>
            </a:r>
            <a:r>
              <a:rPr lang="en-US" altLang="en-US" sz="3200" i="1" dirty="0">
                <a:solidFill>
                  <a:srgbClr val="C00000"/>
                </a:solidFill>
                <a:latin typeface="+mn-lt"/>
              </a:rPr>
              <a:t>distributed, application-level infrastructure</a:t>
            </a:r>
            <a:endParaRPr lang="en-US" altLang="en-US" sz="3200" i="1" dirty="0">
              <a:solidFill>
                <a:srgbClr val="C00000"/>
              </a:solidFill>
              <a:latin typeface="+mn-lt"/>
            </a:endParaRPr>
          </a:p>
        </p:txBody>
      </p:sp>
      <p:grpSp>
        <p:nvGrpSpPr>
          <p:cNvPr id="3" name="Group 2"/>
          <p:cNvGrpSpPr/>
          <p:nvPr/>
        </p:nvGrpSpPr>
        <p:grpSpPr>
          <a:xfrm>
            <a:off x="9518829" y="990600"/>
            <a:ext cx="2671762" cy="4033838"/>
            <a:chOff x="9219616" y="1676400"/>
            <a:chExt cx="2671762" cy="4033838"/>
          </a:xfrm>
        </p:grpSpPr>
        <p:pic>
          <p:nvPicPr>
            <p:cNvPr id="85" name="Picture 5"/>
            <p:cNvPicPr>
              <a:picLocks noChangeAspect="1"/>
            </p:cNvPicPr>
            <p:nvPr/>
          </p:nvPicPr>
          <p:blipFill>
            <a:blip r:embed="rId1">
              <a:extLst>
                <a:ext uri="{28A0092B-C50C-407E-A947-70E740481C1C}">
                  <a14:useLocalDpi xmlns:a14="http://schemas.microsoft.com/office/drawing/2010/main" val="0"/>
                </a:ext>
              </a:extLst>
            </a:blip>
            <a:srcRect/>
            <a:stretch>
              <a:fillRect/>
            </a:stretch>
          </p:blipFill>
          <p:spPr bwMode="auto">
            <a:xfrm>
              <a:off x="9219616" y="3865563"/>
              <a:ext cx="2671762"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9641891" y="1676400"/>
              <a:ext cx="1779587" cy="1104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0002253" y="2740025"/>
              <a:ext cx="1227138"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4"/>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0008603" y="3571875"/>
              <a:ext cx="1211263"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9989553" y="5002213"/>
              <a:ext cx="150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Multimedia: video</a:t>
            </a:r>
            <a:endParaRPr lang="en-US" altLang="en-US" sz="4400" dirty="0">
              <a:ea typeface="MS PGothic" panose="020B0600070205080204" pitchFamily="34" charset="-128"/>
            </a:endParaRPr>
          </a:p>
        </p:txBody>
      </p:sp>
      <p:sp>
        <p:nvSpPr>
          <p:cNvPr id="12" name="Rectangle 3"/>
          <p:cNvSpPr txBox="1">
            <a:spLocks noChangeArrowheads="1"/>
          </p:cNvSpPr>
          <p:nvPr/>
        </p:nvSpPr>
        <p:spPr>
          <a:xfrm>
            <a:off x="864007" y="1452894"/>
            <a:ext cx="5710237" cy="49085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ea typeface="MS PGothic" panose="020B0600070205080204" pitchFamily="34" charset="-128"/>
              </a:rPr>
              <a:t>video: sequence of images displayed at constant rate</a:t>
            </a:r>
            <a:endParaRPr lang="en-US" altLang="en-US" dirty="0">
              <a:ea typeface="MS PGothic" panose="020B0600070205080204" pitchFamily="34" charset="-128"/>
            </a:endParaRPr>
          </a:p>
          <a:p>
            <a:pPr lvl="1"/>
            <a:r>
              <a:rPr lang="en-US" altLang="en-US" sz="2800" dirty="0">
                <a:ea typeface="MS PGothic" panose="020B0600070205080204" pitchFamily="34" charset="-128"/>
              </a:rPr>
              <a:t>e.g., 24 images/sec</a:t>
            </a:r>
            <a:endParaRPr lang="en-US" altLang="en-US" sz="2800" dirty="0">
              <a:ea typeface="MS PGothic" panose="020B0600070205080204" pitchFamily="34" charset="-128"/>
            </a:endParaRPr>
          </a:p>
          <a:p>
            <a:r>
              <a:rPr lang="en-US" altLang="en-US" dirty="0">
                <a:ea typeface="MS PGothic" panose="020B0600070205080204" pitchFamily="34" charset="-128"/>
              </a:rPr>
              <a:t>digital image: array of pixels</a:t>
            </a:r>
            <a:endParaRPr lang="en-US" altLang="en-US" dirty="0">
              <a:ea typeface="MS PGothic" panose="020B0600070205080204" pitchFamily="34" charset="-128"/>
            </a:endParaRPr>
          </a:p>
          <a:p>
            <a:pPr lvl="1"/>
            <a:r>
              <a:rPr lang="en-US" altLang="en-US" sz="2800" dirty="0">
                <a:ea typeface="MS PGothic" panose="020B0600070205080204" pitchFamily="34" charset="-128"/>
              </a:rPr>
              <a:t>each pixel represented by bits</a:t>
            </a:r>
            <a:endParaRPr lang="en-US" altLang="en-US" sz="2800" dirty="0">
              <a:ea typeface="MS PGothic" panose="020B0600070205080204" pitchFamily="34" charset="-128"/>
            </a:endParaRPr>
          </a:p>
          <a:p>
            <a:r>
              <a:rPr lang="en-US" altLang="en-US" dirty="0">
                <a:ea typeface="MS PGothic" panose="020B0600070205080204" pitchFamily="34" charset="-128"/>
              </a:rPr>
              <a:t>coding: use redundancy </a:t>
            </a:r>
            <a:r>
              <a:rPr lang="en-US" altLang="en-US" i="1" dirty="0">
                <a:solidFill>
                  <a:srgbClr val="CC0000"/>
                </a:solidFill>
                <a:ea typeface="MS PGothic" panose="020B0600070205080204" pitchFamily="34" charset="-128"/>
              </a:rPr>
              <a:t>within</a:t>
            </a:r>
            <a:r>
              <a:rPr lang="en-US" altLang="en-US" dirty="0">
                <a:ea typeface="MS PGothic" panose="020B0600070205080204" pitchFamily="34" charset="-128"/>
              </a:rPr>
              <a:t> and </a:t>
            </a:r>
            <a:r>
              <a:rPr lang="en-US" altLang="en-US" i="1" dirty="0">
                <a:solidFill>
                  <a:srgbClr val="CC0000"/>
                </a:solidFill>
                <a:ea typeface="MS PGothic" panose="020B0600070205080204" pitchFamily="34" charset="-128"/>
              </a:rPr>
              <a:t>between</a:t>
            </a:r>
            <a:r>
              <a:rPr lang="en-US" altLang="en-US" dirty="0">
                <a:solidFill>
                  <a:srgbClr val="CC0000"/>
                </a:solidFill>
                <a:ea typeface="MS PGothic" panose="020B0600070205080204" pitchFamily="34" charset="-128"/>
              </a:rPr>
              <a:t> </a:t>
            </a:r>
            <a:r>
              <a:rPr lang="en-US" altLang="en-US" dirty="0">
                <a:ea typeface="MS PGothic" panose="020B0600070205080204" pitchFamily="34" charset="-128"/>
              </a:rPr>
              <a:t>images to decrease # bits used to encode image</a:t>
            </a:r>
            <a:endParaRPr lang="en-US" altLang="en-US" dirty="0">
              <a:ea typeface="MS PGothic" panose="020B0600070205080204" pitchFamily="34" charset="-128"/>
            </a:endParaRPr>
          </a:p>
          <a:p>
            <a:pPr lvl="1"/>
            <a:r>
              <a:rPr lang="en-US" altLang="en-US" sz="2800" dirty="0">
                <a:ea typeface="MS PGothic" panose="020B0600070205080204" pitchFamily="34" charset="-128"/>
              </a:rPr>
              <a:t>spatial (within image)</a:t>
            </a:r>
            <a:endParaRPr lang="en-US" altLang="en-US" sz="2800" dirty="0">
              <a:ea typeface="MS PGothic" panose="020B0600070205080204" pitchFamily="34" charset="-128"/>
            </a:endParaRPr>
          </a:p>
          <a:p>
            <a:pPr lvl="1"/>
            <a:r>
              <a:rPr lang="en-US" altLang="en-US" sz="2800" dirty="0">
                <a:ea typeface="MS PGothic" panose="020B0600070205080204" pitchFamily="34" charset="-128"/>
              </a:rPr>
              <a:t>temporal (from one image to next)</a:t>
            </a:r>
            <a:endParaRPr lang="en-US" altLang="en-US" sz="2800" dirty="0">
              <a:ea typeface="MS PGothic" panose="020B0600070205080204" pitchFamily="34" charset="-128"/>
            </a:endParaRPr>
          </a:p>
        </p:txBody>
      </p:sp>
      <p:grpSp>
        <p:nvGrpSpPr>
          <p:cNvPr id="13" name="Group 18"/>
          <p:cNvGrpSpPr/>
          <p:nvPr/>
        </p:nvGrpSpPr>
        <p:grpSpPr bwMode="auto">
          <a:xfrm>
            <a:off x="6722609" y="562768"/>
            <a:ext cx="4416425" cy="5732463"/>
            <a:chOff x="4338638" y="295275"/>
            <a:chExt cx="4417210" cy="5732463"/>
          </a:xfrm>
        </p:grpSpPr>
        <p:pic>
          <p:nvPicPr>
            <p:cNvPr id="14" name="Picture 4"/>
            <p:cNvPicPr>
              <a:picLocks noChangeAspect="1"/>
            </p:cNvPicPr>
            <p:nvPr/>
          </p:nvPicPr>
          <p:blipFill>
            <a:blip r:embed="rId1">
              <a:extLst>
                <a:ext uri="{28A0092B-C50C-407E-A947-70E740481C1C}">
                  <a14:useLocalDpi xmlns:a14="http://schemas.microsoft.com/office/drawing/2010/main" val="0"/>
                </a:ext>
              </a:extLst>
            </a:blip>
            <a:srcRect/>
            <a:stretch>
              <a:fillRect/>
            </a:stretch>
          </p:blipFill>
          <p:spPr bwMode="auto">
            <a:xfrm>
              <a:off x="5387975" y="1749425"/>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p:cNvGrpSpPr/>
            <p:nvPr/>
          </p:nvGrpSpPr>
          <p:grpSpPr bwMode="auto">
            <a:xfrm>
              <a:off x="5345113" y="295275"/>
              <a:ext cx="3275012" cy="1730347"/>
              <a:chOff x="5345311" y="524250"/>
              <a:chExt cx="3274238" cy="1730214"/>
            </a:xfrm>
          </p:grpSpPr>
          <p:sp>
            <p:nvSpPr>
              <p:cNvPr id="21" name="TextBox 5"/>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solidFill>
                      <a:srgbClr val="CC0000"/>
                    </a:solidFill>
                    <a:latin typeface="Arial Narrow" panose="020B0606020202030204" pitchFamily="34" charset="0"/>
                  </a:rPr>
                  <a:t>……………………..</a:t>
                </a:r>
                <a:endParaRPr lang="en-US" altLang="en-US" sz="1800">
                  <a:solidFill>
                    <a:srgbClr val="CC0000"/>
                  </a:solidFill>
                  <a:latin typeface="Arial Narrow" panose="020B0606020202030204" pitchFamily="34" charset="0"/>
                </a:endParaRPr>
              </a:p>
            </p:txBody>
          </p:sp>
          <p:sp>
            <p:nvSpPr>
              <p:cNvPr id="22" name="TextBox 8"/>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i="1">
                    <a:solidFill>
                      <a:srgbClr val="CC0000"/>
                    </a:solidFill>
                    <a:cs typeface="Arial" panose="020B0604020202020204" pitchFamily="34" charset="0"/>
                  </a:rPr>
                  <a:t>spatial coding example: </a:t>
                </a:r>
                <a:r>
                  <a:rPr lang="en-US" altLang="en-US" sz="1400">
                    <a:cs typeface="Arial" panose="020B0604020202020204" pitchFamily="34" charset="0"/>
                  </a:rPr>
                  <a:t>instead of sending</a:t>
                </a:r>
                <a:r>
                  <a:rPr lang="en-US" altLang="en-US" sz="1400" i="1">
                    <a:cs typeface="Arial" panose="020B0604020202020204" pitchFamily="34" charset="0"/>
                  </a:rPr>
                  <a:t> N </a:t>
                </a:r>
                <a:r>
                  <a:rPr lang="en-US" altLang="en-US" sz="1400">
                    <a:cs typeface="Arial" panose="020B0604020202020204" pitchFamily="34" charset="0"/>
                  </a:rPr>
                  <a:t>values of same color (all purple), send only two values: color  value (</a:t>
                </a:r>
                <a:r>
                  <a:rPr lang="en-US" altLang="en-US" sz="1400" i="1">
                    <a:cs typeface="Arial" panose="020B0604020202020204" pitchFamily="34" charset="0"/>
                  </a:rPr>
                  <a:t>purple)  and number of repeated values (</a:t>
                </a:r>
                <a:r>
                  <a:rPr lang="en-US" altLang="en-US" sz="1400">
                    <a:cs typeface="Arial" panose="020B0604020202020204" pitchFamily="34" charset="0"/>
                  </a:rPr>
                  <a:t>N)</a:t>
                </a:r>
                <a:endParaRPr lang="en-US" altLang="en-US" sz="1400">
                  <a:cs typeface="Arial" panose="020B0604020202020204" pitchFamily="34" charset="0"/>
                </a:endParaRPr>
              </a:p>
            </p:txBody>
          </p:sp>
          <p:sp>
            <p:nvSpPr>
              <p:cNvPr id="23" name="TextBox 13"/>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solidFill>
                      <a:srgbClr val="CC0000"/>
                    </a:solidFill>
                    <a:latin typeface="Arial Narrow" panose="020B0606020202030204" pitchFamily="34" charset="0"/>
                  </a:rPr>
                  <a:t>……………….…….</a:t>
                </a:r>
                <a:endParaRPr lang="en-US" altLang="en-US" sz="1800">
                  <a:solidFill>
                    <a:srgbClr val="CC0000"/>
                  </a:solidFill>
                  <a:latin typeface="Arial Narrow" panose="020B0606020202030204" pitchFamily="34" charset="0"/>
                </a:endParaRPr>
              </a:p>
            </p:txBody>
          </p:sp>
          <p:cxnSp>
            <p:nvCxnSpPr>
              <p:cNvPr id="24" name="Straight Connector 10"/>
              <p:cNvCxnSpPr>
                <a:cxnSpLocks noChangeShapeType="1"/>
              </p:cNvCxnSpPr>
              <p:nvPr/>
            </p:nvCxnSpPr>
            <p:spPr bwMode="auto">
              <a:xfrm flipH="1">
                <a:off x="5565603" y="756253"/>
                <a:ext cx="313958" cy="1155782"/>
              </a:xfrm>
              <a:prstGeom prst="line">
                <a:avLst/>
              </a:prstGeom>
              <a:noFill/>
              <a:ln w="9525">
                <a:solidFill>
                  <a:srgbClr val="CC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p:cNvSpPr txBox="1">
              <a:spLocks noChangeArrowheads="1"/>
            </p:cNvSpPr>
            <p:nvPr/>
          </p:nvSpPr>
          <p:spPr bwMode="auto">
            <a:xfrm>
              <a:off x="5323721" y="3654665"/>
              <a:ext cx="9334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solidFill>
                    <a:srgbClr val="CC0000"/>
                  </a:solidFill>
                  <a:cs typeface="Arial" panose="020B0604020202020204" pitchFamily="34" charset="0"/>
                </a:rPr>
                <a:t>frame</a:t>
              </a:r>
              <a:r>
                <a:rPr lang="en-US" altLang="en-US" sz="1800" i="1">
                  <a:solidFill>
                    <a:srgbClr val="CC0000"/>
                  </a:solidFill>
                  <a:cs typeface="Arial" panose="020B0604020202020204" pitchFamily="34" charset="0"/>
                </a:rPr>
                <a:t> i</a:t>
              </a:r>
              <a:endParaRPr lang="en-US" altLang="en-US" sz="1800" i="1">
                <a:solidFill>
                  <a:srgbClr val="CC0000"/>
                </a:solidFill>
                <a:cs typeface="Arial" panose="020B0604020202020204" pitchFamily="34" charset="0"/>
              </a:endParaRPr>
            </a:p>
          </p:txBody>
        </p:sp>
        <p:sp>
          <p:nvSpPr>
            <p:cNvPr id="17" name="TextBox 23"/>
            <p:cNvSpPr txBox="1">
              <a:spLocks noChangeArrowheads="1"/>
            </p:cNvSpPr>
            <p:nvPr/>
          </p:nvSpPr>
          <p:spPr bwMode="auto">
            <a:xfrm>
              <a:off x="7051858" y="5611091"/>
              <a:ext cx="11969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solidFill>
                    <a:srgbClr val="CC0000"/>
                  </a:solidFill>
                  <a:cs typeface="Arial" panose="020B0604020202020204" pitchFamily="34" charset="0"/>
                </a:rPr>
                <a:t>frame</a:t>
              </a:r>
              <a:r>
                <a:rPr lang="en-US" altLang="en-US" sz="1800" i="1">
                  <a:solidFill>
                    <a:srgbClr val="CC0000"/>
                  </a:solidFill>
                  <a:cs typeface="Arial" panose="020B0604020202020204" pitchFamily="34" charset="0"/>
                </a:rPr>
                <a:t> i+1</a:t>
              </a:r>
              <a:endParaRPr lang="en-US" altLang="en-US" sz="1800" i="1">
                <a:solidFill>
                  <a:srgbClr val="CC0000"/>
                </a:solidFill>
                <a:cs typeface="Arial" panose="020B0604020202020204" pitchFamily="34" charset="0"/>
              </a:endParaRPr>
            </a:p>
          </p:txBody>
        </p:sp>
        <p:sp>
          <p:nvSpPr>
            <p:cNvPr id="18" name="TextBox 26"/>
            <p:cNvSpPr txBox="1">
              <a:spLocks noChangeArrowheads="1"/>
            </p:cNvSpPr>
            <p:nvPr/>
          </p:nvSpPr>
          <p:spPr bwMode="auto">
            <a:xfrm>
              <a:off x="4338638" y="4857750"/>
              <a:ext cx="2278062"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i="1">
                  <a:solidFill>
                    <a:srgbClr val="CC0000"/>
                  </a:solidFill>
                  <a:cs typeface="Arial" panose="020B0604020202020204" pitchFamily="34" charset="0"/>
                </a:rPr>
                <a:t>temporal coding example: </a:t>
              </a:r>
              <a:r>
                <a:rPr lang="en-US" altLang="en-US" sz="1400">
                  <a:cs typeface="Arial" panose="020B0604020202020204" pitchFamily="34" charset="0"/>
                </a:rPr>
                <a:t>instead of sending complete frame at i+1, send only differences from frame i</a:t>
              </a:r>
              <a:endParaRPr lang="en-US" altLang="en-US" sz="1400">
                <a:cs typeface="Arial" panose="020B0604020202020204" pitchFamily="34" charset="0"/>
              </a:endParaRPr>
            </a:p>
          </p:txBody>
        </p:sp>
        <p:cxnSp>
          <p:nvCxnSpPr>
            <p:cNvPr id="19" name="Straight Connector 28"/>
            <p:cNvCxnSpPr>
              <a:cxnSpLocks noChangeShapeType="1"/>
            </p:cNvCxnSpPr>
            <p:nvPr/>
          </p:nvCxnSpPr>
          <p:spPr bwMode="auto">
            <a:xfrm>
              <a:off x="5972518" y="4021445"/>
              <a:ext cx="1013060" cy="1783949"/>
            </a:xfrm>
            <a:prstGeom prst="line">
              <a:avLst/>
            </a:prstGeom>
            <a:noFill/>
            <a:ln w="9525">
              <a:solidFill>
                <a:srgbClr val="CC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 name="Picture 4"/>
            <p:cNvPicPr>
              <a:picLocks noChangeAspect="1"/>
            </p:cNvPicPr>
            <p:nvPr/>
          </p:nvPicPr>
          <p:blipFill>
            <a:blip r:embed="rId1">
              <a:extLst>
                <a:ext uri="{28A0092B-C50C-407E-A947-70E740481C1C}">
                  <a14:useLocalDpi xmlns:a14="http://schemas.microsoft.com/office/drawing/2010/main" val="0"/>
                </a:ext>
              </a:extLst>
            </a:blip>
            <a:srcRect/>
            <a:stretch>
              <a:fillRect/>
            </a:stretch>
          </p:blipFill>
          <p:spPr bwMode="auto">
            <a:xfrm>
              <a:off x="7112885" y="3806720"/>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798691" y="289325"/>
            <a:ext cx="10515600" cy="894622"/>
          </a:xfrm>
        </p:spPr>
        <p:txBody>
          <a:bodyPr>
            <a:normAutofit/>
          </a:bodyPr>
          <a:lstStyle/>
          <a:p>
            <a:r>
              <a:rPr lang="en-US" altLang="en-US" sz="4400" dirty="0">
                <a:ea typeface="MS PGothic" panose="020B0600070205080204" pitchFamily="34" charset="-128"/>
              </a:rPr>
              <a:t>Multimedia: video</a:t>
            </a:r>
            <a:endParaRPr lang="en-US" altLang="en-US" sz="4400" dirty="0">
              <a:ea typeface="MS PGothic" panose="020B0600070205080204" pitchFamily="34" charset="-128"/>
            </a:endParaRPr>
          </a:p>
        </p:txBody>
      </p:sp>
      <p:grpSp>
        <p:nvGrpSpPr>
          <p:cNvPr id="13" name="Group 18"/>
          <p:cNvGrpSpPr/>
          <p:nvPr/>
        </p:nvGrpSpPr>
        <p:grpSpPr bwMode="auto">
          <a:xfrm>
            <a:off x="6722609" y="562768"/>
            <a:ext cx="4416425" cy="5732463"/>
            <a:chOff x="4338638" y="295275"/>
            <a:chExt cx="4417210" cy="5732463"/>
          </a:xfrm>
        </p:grpSpPr>
        <p:pic>
          <p:nvPicPr>
            <p:cNvPr id="14" name="Picture 4"/>
            <p:cNvPicPr>
              <a:picLocks noChangeAspect="1"/>
            </p:cNvPicPr>
            <p:nvPr/>
          </p:nvPicPr>
          <p:blipFill>
            <a:blip r:embed="rId1">
              <a:extLst>
                <a:ext uri="{28A0092B-C50C-407E-A947-70E740481C1C}">
                  <a14:useLocalDpi xmlns:a14="http://schemas.microsoft.com/office/drawing/2010/main" val="0"/>
                </a:ext>
              </a:extLst>
            </a:blip>
            <a:srcRect/>
            <a:stretch>
              <a:fillRect/>
            </a:stretch>
          </p:blipFill>
          <p:spPr bwMode="auto">
            <a:xfrm>
              <a:off x="5387975" y="1749425"/>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p:cNvGrpSpPr/>
            <p:nvPr/>
          </p:nvGrpSpPr>
          <p:grpSpPr bwMode="auto">
            <a:xfrm>
              <a:off x="5345113" y="295275"/>
              <a:ext cx="3275012" cy="1730347"/>
              <a:chOff x="5345311" y="524250"/>
              <a:chExt cx="3274238" cy="1730214"/>
            </a:xfrm>
          </p:grpSpPr>
          <p:sp>
            <p:nvSpPr>
              <p:cNvPr id="21" name="TextBox 5"/>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solidFill>
                      <a:srgbClr val="CC0000"/>
                    </a:solidFill>
                    <a:latin typeface="Arial Narrow" panose="020B0606020202030204" pitchFamily="34" charset="0"/>
                  </a:rPr>
                  <a:t>……………………..</a:t>
                </a:r>
                <a:endParaRPr lang="en-US" altLang="en-US" sz="1800">
                  <a:solidFill>
                    <a:srgbClr val="CC0000"/>
                  </a:solidFill>
                  <a:latin typeface="Arial Narrow" panose="020B0606020202030204" pitchFamily="34" charset="0"/>
                </a:endParaRPr>
              </a:p>
            </p:txBody>
          </p:sp>
          <p:sp>
            <p:nvSpPr>
              <p:cNvPr id="22" name="TextBox 8"/>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i="1">
                    <a:solidFill>
                      <a:srgbClr val="CC0000"/>
                    </a:solidFill>
                    <a:cs typeface="Arial" panose="020B0604020202020204" pitchFamily="34" charset="0"/>
                  </a:rPr>
                  <a:t>spatial coding example: </a:t>
                </a:r>
                <a:r>
                  <a:rPr lang="en-US" altLang="en-US" sz="1400">
                    <a:cs typeface="Arial" panose="020B0604020202020204" pitchFamily="34" charset="0"/>
                  </a:rPr>
                  <a:t>instead of sending</a:t>
                </a:r>
                <a:r>
                  <a:rPr lang="en-US" altLang="en-US" sz="1400" i="1">
                    <a:cs typeface="Arial" panose="020B0604020202020204" pitchFamily="34" charset="0"/>
                  </a:rPr>
                  <a:t> N </a:t>
                </a:r>
                <a:r>
                  <a:rPr lang="en-US" altLang="en-US" sz="1400">
                    <a:cs typeface="Arial" panose="020B0604020202020204" pitchFamily="34" charset="0"/>
                  </a:rPr>
                  <a:t>values of same color (all purple), send only two values: color  value (</a:t>
                </a:r>
                <a:r>
                  <a:rPr lang="en-US" altLang="en-US" sz="1400" i="1">
                    <a:cs typeface="Arial" panose="020B0604020202020204" pitchFamily="34" charset="0"/>
                  </a:rPr>
                  <a:t>purple)  and number of repeated values (</a:t>
                </a:r>
                <a:r>
                  <a:rPr lang="en-US" altLang="en-US" sz="1400">
                    <a:cs typeface="Arial" panose="020B0604020202020204" pitchFamily="34" charset="0"/>
                  </a:rPr>
                  <a:t>N)</a:t>
                </a:r>
                <a:endParaRPr lang="en-US" altLang="en-US" sz="1400">
                  <a:cs typeface="Arial" panose="020B0604020202020204" pitchFamily="34" charset="0"/>
                </a:endParaRPr>
              </a:p>
            </p:txBody>
          </p:sp>
          <p:sp>
            <p:nvSpPr>
              <p:cNvPr id="23" name="TextBox 13"/>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solidFill>
                      <a:srgbClr val="CC0000"/>
                    </a:solidFill>
                    <a:latin typeface="Arial Narrow" panose="020B0606020202030204" pitchFamily="34" charset="0"/>
                  </a:rPr>
                  <a:t>……………….…….</a:t>
                </a:r>
                <a:endParaRPr lang="en-US" altLang="en-US" sz="1800">
                  <a:solidFill>
                    <a:srgbClr val="CC0000"/>
                  </a:solidFill>
                  <a:latin typeface="Arial Narrow" panose="020B0606020202030204" pitchFamily="34" charset="0"/>
                </a:endParaRPr>
              </a:p>
            </p:txBody>
          </p:sp>
          <p:cxnSp>
            <p:nvCxnSpPr>
              <p:cNvPr id="24" name="Straight Connector 10"/>
              <p:cNvCxnSpPr>
                <a:cxnSpLocks noChangeShapeType="1"/>
              </p:cNvCxnSpPr>
              <p:nvPr/>
            </p:nvCxnSpPr>
            <p:spPr bwMode="auto">
              <a:xfrm flipH="1">
                <a:off x="5565603" y="756253"/>
                <a:ext cx="313958" cy="1155782"/>
              </a:xfrm>
              <a:prstGeom prst="line">
                <a:avLst/>
              </a:prstGeom>
              <a:noFill/>
              <a:ln w="9525">
                <a:solidFill>
                  <a:srgbClr val="CC0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p:cNvSpPr txBox="1">
              <a:spLocks noChangeArrowheads="1"/>
            </p:cNvSpPr>
            <p:nvPr/>
          </p:nvSpPr>
          <p:spPr bwMode="auto">
            <a:xfrm>
              <a:off x="5323721" y="3654665"/>
              <a:ext cx="9334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solidFill>
                    <a:srgbClr val="CC0000"/>
                  </a:solidFill>
                  <a:cs typeface="Arial" panose="020B0604020202020204" pitchFamily="34" charset="0"/>
                </a:rPr>
                <a:t>frame</a:t>
              </a:r>
              <a:r>
                <a:rPr lang="en-US" altLang="en-US" sz="1800" i="1">
                  <a:solidFill>
                    <a:srgbClr val="CC0000"/>
                  </a:solidFill>
                  <a:cs typeface="Arial" panose="020B0604020202020204" pitchFamily="34" charset="0"/>
                </a:rPr>
                <a:t> i</a:t>
              </a:r>
              <a:endParaRPr lang="en-US" altLang="en-US" sz="1800" i="1">
                <a:solidFill>
                  <a:srgbClr val="CC0000"/>
                </a:solidFill>
                <a:cs typeface="Arial" panose="020B0604020202020204" pitchFamily="34" charset="0"/>
              </a:endParaRPr>
            </a:p>
          </p:txBody>
        </p:sp>
        <p:sp>
          <p:nvSpPr>
            <p:cNvPr id="17" name="TextBox 23"/>
            <p:cNvSpPr txBox="1">
              <a:spLocks noChangeArrowheads="1"/>
            </p:cNvSpPr>
            <p:nvPr/>
          </p:nvSpPr>
          <p:spPr bwMode="auto">
            <a:xfrm>
              <a:off x="7051858" y="5611091"/>
              <a:ext cx="11969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solidFill>
                    <a:srgbClr val="CC0000"/>
                  </a:solidFill>
                  <a:cs typeface="Arial" panose="020B0604020202020204" pitchFamily="34" charset="0"/>
                </a:rPr>
                <a:t>frame</a:t>
              </a:r>
              <a:r>
                <a:rPr lang="en-US" altLang="en-US" sz="1800" i="1">
                  <a:solidFill>
                    <a:srgbClr val="CC0000"/>
                  </a:solidFill>
                  <a:cs typeface="Arial" panose="020B0604020202020204" pitchFamily="34" charset="0"/>
                </a:rPr>
                <a:t> i+1</a:t>
              </a:r>
              <a:endParaRPr lang="en-US" altLang="en-US" sz="1800" i="1">
                <a:solidFill>
                  <a:srgbClr val="CC0000"/>
                </a:solidFill>
                <a:cs typeface="Arial" panose="020B0604020202020204" pitchFamily="34" charset="0"/>
              </a:endParaRPr>
            </a:p>
          </p:txBody>
        </p:sp>
        <p:sp>
          <p:nvSpPr>
            <p:cNvPr id="18" name="TextBox 26"/>
            <p:cNvSpPr txBox="1">
              <a:spLocks noChangeArrowheads="1"/>
            </p:cNvSpPr>
            <p:nvPr/>
          </p:nvSpPr>
          <p:spPr bwMode="auto">
            <a:xfrm>
              <a:off x="4338638" y="4857750"/>
              <a:ext cx="2278062"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i="1">
                  <a:solidFill>
                    <a:srgbClr val="CC0000"/>
                  </a:solidFill>
                  <a:cs typeface="Arial" panose="020B0604020202020204" pitchFamily="34" charset="0"/>
                </a:rPr>
                <a:t>temporal coding example: </a:t>
              </a:r>
              <a:r>
                <a:rPr lang="en-US" altLang="en-US" sz="1400">
                  <a:cs typeface="Arial" panose="020B0604020202020204" pitchFamily="34" charset="0"/>
                </a:rPr>
                <a:t>instead of sending complete frame at i+1, send only differences from frame i</a:t>
              </a:r>
              <a:endParaRPr lang="en-US" altLang="en-US" sz="1400">
                <a:cs typeface="Arial" panose="020B0604020202020204" pitchFamily="34" charset="0"/>
              </a:endParaRPr>
            </a:p>
          </p:txBody>
        </p:sp>
        <p:cxnSp>
          <p:nvCxnSpPr>
            <p:cNvPr id="19" name="Straight Connector 28"/>
            <p:cNvCxnSpPr>
              <a:cxnSpLocks noChangeShapeType="1"/>
            </p:cNvCxnSpPr>
            <p:nvPr/>
          </p:nvCxnSpPr>
          <p:spPr bwMode="auto">
            <a:xfrm>
              <a:off x="5972518" y="4021445"/>
              <a:ext cx="1013060" cy="1783949"/>
            </a:xfrm>
            <a:prstGeom prst="line">
              <a:avLst/>
            </a:prstGeom>
            <a:noFill/>
            <a:ln w="9525">
              <a:solidFill>
                <a:srgbClr val="CC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 name="Picture 4"/>
            <p:cNvPicPr>
              <a:picLocks noChangeAspect="1"/>
            </p:cNvPicPr>
            <p:nvPr/>
          </p:nvPicPr>
          <p:blipFill>
            <a:blip r:embed="rId1">
              <a:extLst>
                <a:ext uri="{28A0092B-C50C-407E-A947-70E740481C1C}">
                  <a14:useLocalDpi xmlns:a14="http://schemas.microsoft.com/office/drawing/2010/main" val="0"/>
                </a:ext>
              </a:extLst>
            </a:blip>
            <a:srcRect/>
            <a:stretch>
              <a:fillRect/>
            </a:stretch>
          </p:blipFill>
          <p:spPr bwMode="auto">
            <a:xfrm>
              <a:off x="7112885" y="3806720"/>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Rectangle 4"/>
          <p:cNvSpPr txBox="1">
            <a:spLocks noChangeArrowheads="1"/>
          </p:cNvSpPr>
          <p:nvPr/>
        </p:nvSpPr>
        <p:spPr bwMode="auto">
          <a:xfrm>
            <a:off x="1033466" y="1458684"/>
            <a:ext cx="5254061" cy="4908550"/>
          </a:xfrm>
          <a:prstGeom prst="rect">
            <a:avLst/>
          </a:prstGeom>
          <a:noFill/>
          <a:ln>
            <a:noFill/>
          </a:ln>
          <a:effec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charset="0"/>
              <a:buChar char="v"/>
              <a:defRPr sz="2800">
                <a:solidFill>
                  <a:schemeClr val="tx1"/>
                </a:solidFill>
                <a:latin typeface="+mn-lt"/>
                <a:ea typeface="MS PGothic" panose="020B0600070205080204" pitchFamily="34" charset="-128"/>
                <a:cs typeface="MS PGothic" panose="020B0600070205080204" pitchFamily="34" charset="-128"/>
              </a:defRPr>
            </a:lvl1pPr>
            <a:lvl2pPr marL="742950" indent="-285750" algn="l" rtl="0" eaLnBrk="0" fontAlgn="base" hangingPunct="0">
              <a:lnSpc>
                <a:spcPct val="85000"/>
              </a:lnSpc>
              <a:spcBef>
                <a:spcPct val="20000"/>
              </a:spcBef>
              <a:spcAft>
                <a:spcPct val="0"/>
              </a:spcAft>
              <a:buClr>
                <a:srgbClr val="000099"/>
              </a:buClr>
              <a:buFont typeface="Wingdings" panose="05000000000000000000" charset="0"/>
              <a:buChar char="§"/>
              <a:defRPr sz="2400">
                <a:solidFill>
                  <a:schemeClr val="tx1"/>
                </a:solidFill>
                <a:latin typeface="+mn-lt"/>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sz="1800">
                <a:solidFill>
                  <a:schemeClr val="tx1"/>
                </a:solidFill>
                <a:latin typeface="Times New Roman" panose="02020603050405020304" pitchFamily="18" charset="0"/>
                <a:ea typeface="MS PGothic" panose="020B0600070205080204" pitchFamily="34" charset="-128"/>
              </a:defRPr>
            </a:lvl4pPr>
            <a:lvl5pPr marL="2057400" indent="-228600" algn="l" rtl="0" eaLnBrk="0" fontAlgn="base" hangingPunct="0">
              <a:spcBef>
                <a:spcPct val="20000"/>
              </a:spcBef>
              <a:spcAft>
                <a:spcPct val="0"/>
              </a:spcAft>
              <a:buChar char="»"/>
              <a:defRPr sz="1800">
                <a:solidFill>
                  <a:schemeClr val="tx1"/>
                </a:solidFill>
                <a:latin typeface="Times New Roman" panose="02020603050405020304" pitchFamily="18" charset="0"/>
                <a:ea typeface="MS PGothic" panose="020B0600070205080204" pitchFamily="34" charset="-128"/>
              </a:defRPr>
            </a:lvl5pPr>
            <a:lvl6pPr marL="25146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anose="02020603050405020304" pitchFamily="18" charset="0"/>
              </a:defRPr>
            </a:lvl9pPr>
          </a:lstStyle>
          <a:p>
            <a:pPr>
              <a:buSzPct val="100000"/>
              <a:buFont typeface="Wingdings" panose="05000000000000000000" pitchFamily="2" charset="2"/>
              <a:buChar char="§"/>
              <a:defRPr/>
            </a:pPr>
            <a:r>
              <a:rPr lang="en-US" dirty="0">
                <a:solidFill>
                  <a:srgbClr val="CC0000"/>
                </a:solidFill>
                <a:cs typeface="Gill Sans MT" panose="020B0502020104020203"/>
              </a:rPr>
              <a:t>CBR: (constant bit rate): </a:t>
            </a:r>
            <a:r>
              <a:rPr lang="en-US" dirty="0">
                <a:solidFill>
                  <a:srgbClr val="000000"/>
                </a:solidFill>
                <a:cs typeface="Gill Sans MT" panose="020B0502020104020203"/>
              </a:rPr>
              <a:t>video encoding rate fixed</a:t>
            </a:r>
            <a:endParaRPr lang="en-US" dirty="0">
              <a:solidFill>
                <a:srgbClr val="000000"/>
              </a:solidFill>
              <a:cs typeface="Gill Sans MT" panose="020B0502020104020203"/>
            </a:endParaRPr>
          </a:p>
          <a:p>
            <a:pPr>
              <a:buSzPct val="100000"/>
              <a:buFont typeface="Wingdings" panose="05000000000000000000" pitchFamily="2" charset="2"/>
              <a:buChar char="§"/>
              <a:defRPr/>
            </a:pPr>
            <a:r>
              <a:rPr lang="en-US" dirty="0">
                <a:solidFill>
                  <a:srgbClr val="CC0000"/>
                </a:solidFill>
                <a:cs typeface="Gill Sans MT" panose="020B0502020104020203"/>
              </a:rPr>
              <a:t>VBR:  (variable bit rate): </a:t>
            </a:r>
            <a:r>
              <a:rPr lang="en-US" dirty="0">
                <a:solidFill>
                  <a:srgbClr val="000000"/>
                </a:solidFill>
                <a:cs typeface="Gill Sans MT" panose="020B0502020104020203"/>
              </a:rPr>
              <a:t>video </a:t>
            </a:r>
            <a:r>
              <a:rPr lang="en-US" dirty="0">
                <a:cs typeface="Gill Sans MT" panose="020B0502020104020203"/>
              </a:rPr>
              <a:t>encoding rate changes as amount of spatial, temporal coding changes </a:t>
            </a:r>
            <a:endParaRPr lang="en-US" dirty="0">
              <a:cs typeface="Gill Sans MT" panose="020B0502020104020203"/>
            </a:endParaRPr>
          </a:p>
          <a:p>
            <a:pPr>
              <a:buSzPct val="100000"/>
              <a:buFont typeface="Wingdings" panose="05000000000000000000" pitchFamily="2" charset="2"/>
              <a:buChar char="§"/>
              <a:defRPr/>
            </a:pPr>
            <a:r>
              <a:rPr lang="en-US" dirty="0">
                <a:solidFill>
                  <a:srgbClr val="CC0000"/>
                </a:solidFill>
                <a:cs typeface="Gill Sans MT" panose="020B0502020104020203"/>
              </a:rPr>
              <a:t>examples:</a:t>
            </a:r>
            <a:endParaRPr lang="en-US" dirty="0">
              <a:solidFill>
                <a:srgbClr val="CC0000"/>
              </a:solidFill>
              <a:cs typeface="Gill Sans MT" panose="020B0502020104020203"/>
            </a:endParaRPr>
          </a:p>
          <a:p>
            <a:pPr lvl="1">
              <a:lnSpc>
                <a:spcPct val="100000"/>
              </a:lnSpc>
              <a:buSzPct val="100000"/>
              <a:buFont typeface="Arial" panose="020B0604020202020204"/>
              <a:buChar char="•"/>
              <a:defRPr/>
            </a:pPr>
            <a:r>
              <a:rPr lang="en-US" sz="2800" dirty="0">
                <a:cs typeface="Gill Sans MT" panose="020B0502020104020203"/>
              </a:rPr>
              <a:t>MPEG 1 (CD-ROM) 1.5 Mbps</a:t>
            </a:r>
            <a:endParaRPr lang="en-US" sz="2800" dirty="0">
              <a:cs typeface="Gill Sans MT" panose="020B0502020104020203"/>
            </a:endParaRPr>
          </a:p>
          <a:p>
            <a:pPr lvl="1">
              <a:lnSpc>
                <a:spcPct val="100000"/>
              </a:lnSpc>
              <a:buSzPct val="100000"/>
              <a:buFont typeface="Arial" panose="020B0604020202020204"/>
              <a:buChar char="•"/>
              <a:defRPr/>
            </a:pPr>
            <a:r>
              <a:rPr lang="en-US" sz="2800" dirty="0">
                <a:cs typeface="Gill Sans MT" panose="020B0502020104020203"/>
              </a:rPr>
              <a:t>MPEG2 (DVD) 3-6 Mbps</a:t>
            </a:r>
            <a:endParaRPr lang="en-US" sz="2800" dirty="0">
              <a:cs typeface="Gill Sans MT" panose="020B0502020104020203"/>
            </a:endParaRPr>
          </a:p>
          <a:p>
            <a:pPr lvl="1">
              <a:lnSpc>
                <a:spcPct val="100000"/>
              </a:lnSpc>
              <a:buSzPct val="100000"/>
              <a:buFont typeface="Arial" panose="020B0604020202020204"/>
              <a:buChar char="•"/>
              <a:defRPr/>
            </a:pPr>
            <a:r>
              <a:rPr lang="en-US" sz="2800" dirty="0">
                <a:cs typeface="Gill Sans MT" panose="020B0502020104020203"/>
              </a:rPr>
              <a:t>MPEG4 (often used in Internet,  64Kbps – 12 Mbps)</a:t>
            </a:r>
            <a:endParaRPr lang="en-US" sz="2800" dirty="0">
              <a:cs typeface="Gill Sans MT" panose="020B0502020104020203"/>
            </a:endParaRPr>
          </a:p>
        </p:txBody>
      </p:sp>
      <p:sp>
        <p:nvSpPr>
          <p:cNvPr id="26"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847142" y="4099627"/>
            <a:ext cx="10923837" cy="2543879"/>
          </a:xfrm>
        </p:spPr>
        <p:txBody>
          <a:bodyPr>
            <a:normAutofit lnSpcReduction="10000"/>
          </a:bodyPr>
          <a:lstStyle/>
          <a:p>
            <a:pPr marL="15875" indent="0">
              <a:buNone/>
            </a:pPr>
            <a:r>
              <a:rPr lang="en-US" sz="3000" dirty="0"/>
              <a:t>Main challenges: </a:t>
            </a:r>
            <a:endParaRPr lang="en-US" sz="3000" dirty="0"/>
          </a:p>
          <a:p>
            <a:pPr marL="471805" indent="-294005"/>
            <a:r>
              <a:rPr lang="en-US" dirty="0"/>
              <a:t>server-to-client bandwidth will </a:t>
            </a:r>
            <a:r>
              <a:rPr lang="en-US" i="1" dirty="0">
                <a:solidFill>
                  <a:srgbClr val="C00000"/>
                </a:solidFill>
              </a:rPr>
              <a:t>vary</a:t>
            </a:r>
            <a:r>
              <a:rPr lang="en-US" dirty="0"/>
              <a:t> </a:t>
            </a:r>
            <a:r>
              <a:rPr lang="en-US"/>
              <a:t>over time, </a:t>
            </a:r>
            <a:r>
              <a:rPr lang="en-US" dirty="0"/>
              <a:t>with changing network congestion levels (in house, in access network, in network core, at video server)</a:t>
            </a:r>
            <a:endParaRPr lang="en-US" dirty="0"/>
          </a:p>
          <a:p>
            <a:pPr marL="471805" indent="-294005"/>
            <a:r>
              <a:rPr lang="en-US" dirty="0"/>
              <a:t>packet loss and delay due to congestion will delay playout, or result in poor video quality</a:t>
            </a:r>
            <a:endParaRPr lang="en-US" dirty="0"/>
          </a:p>
        </p:txBody>
      </p:sp>
      <p:sp>
        <p:nvSpPr>
          <p:cNvPr id="654" name="Title 1"/>
          <p:cNvSpPr>
            <a:spLocks noGrp="1"/>
          </p:cNvSpPr>
          <p:nvPr>
            <p:ph type="title"/>
          </p:nvPr>
        </p:nvSpPr>
        <p:spPr/>
        <p:txBody>
          <a:bodyPr>
            <a:normAutofit/>
          </a:bodyPr>
          <a:lstStyle/>
          <a:p>
            <a:r>
              <a:rPr lang="en-US" altLang="en-US" sz="4400" dirty="0">
                <a:ea typeface="MS PGothic" panose="020B0600070205080204" pitchFamily="34" charset="-128"/>
              </a:rPr>
              <a:t>Streaming stored </a:t>
            </a:r>
            <a:r>
              <a:rPr lang="en-US" altLang="en-US" dirty="0">
                <a:ea typeface="MS PGothic" panose="020B0600070205080204" pitchFamily="34" charset="-128"/>
              </a:rPr>
              <a:t>v</a:t>
            </a:r>
            <a:r>
              <a:rPr lang="en-US" altLang="en-US" sz="4400" dirty="0">
                <a:ea typeface="MS PGothic" panose="020B0600070205080204" pitchFamily="34" charset="-128"/>
              </a:rPr>
              <a:t>ideo</a:t>
            </a:r>
            <a:endParaRPr lang="en-US" altLang="en-US" sz="4400" dirty="0">
              <a:ea typeface="MS PGothic" panose="020B0600070205080204" pitchFamily="34" charset="-128"/>
            </a:endParaRPr>
          </a:p>
        </p:txBody>
      </p:sp>
      <p:sp>
        <p:nvSpPr>
          <p:cNvPr id="72" name="TextBox 1"/>
          <p:cNvSpPr txBox="1">
            <a:spLocks noChangeArrowheads="1"/>
          </p:cNvSpPr>
          <p:nvPr/>
        </p:nvSpPr>
        <p:spPr bwMode="auto">
          <a:xfrm>
            <a:off x="2013954" y="1217613"/>
            <a:ext cx="27495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800"/>
              <a:t>simple scenario</a:t>
            </a:r>
            <a:r>
              <a:rPr lang="en-US" altLang="en-US"/>
              <a:t>:</a:t>
            </a:r>
            <a:endParaRPr lang="en-US" altLang="en-US"/>
          </a:p>
        </p:txBody>
      </p:sp>
      <p:sp>
        <p:nvSpPr>
          <p:cNvPr id="76" name="TextBox 64"/>
          <p:cNvSpPr txBox="1">
            <a:spLocks noChangeArrowheads="1"/>
          </p:cNvSpPr>
          <p:nvPr/>
        </p:nvSpPr>
        <p:spPr bwMode="auto">
          <a:xfrm>
            <a:off x="2837866" y="3332163"/>
            <a:ext cx="16525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r>
              <a:rPr lang="en-US" altLang="en-US" sz="1800">
                <a:solidFill>
                  <a:srgbClr val="000000"/>
                </a:solidFill>
                <a:cs typeface="Arial" panose="020B0604020202020204" pitchFamily="34" charset="0"/>
              </a:rPr>
              <a:t>video server</a:t>
            </a:r>
            <a:endParaRPr lang="en-US" altLang="en-US" sz="1800">
              <a:solidFill>
                <a:srgbClr val="000000"/>
              </a:solidFill>
              <a:cs typeface="Arial" panose="020B0604020202020204" pitchFamily="34" charset="0"/>
            </a:endParaRPr>
          </a:p>
          <a:p>
            <a:pPr algn="ctr"/>
            <a:r>
              <a:rPr lang="en-US" altLang="en-US" sz="1800">
                <a:solidFill>
                  <a:srgbClr val="000000"/>
                </a:solidFill>
                <a:cs typeface="Arial" panose="020B0604020202020204" pitchFamily="34" charset="0"/>
              </a:rPr>
              <a:t>(stored video)</a:t>
            </a:r>
            <a:endParaRPr lang="en-US" altLang="en-US" sz="1800" i="1">
              <a:solidFill>
                <a:srgbClr val="CC0000"/>
              </a:solidFill>
              <a:cs typeface="Arial" panose="020B0604020202020204" pitchFamily="34" charset="0"/>
            </a:endParaRPr>
          </a:p>
        </p:txBody>
      </p:sp>
      <p:grpSp>
        <p:nvGrpSpPr>
          <p:cNvPr id="3" name="Group 2"/>
          <p:cNvGrpSpPr/>
          <p:nvPr/>
        </p:nvGrpSpPr>
        <p:grpSpPr>
          <a:xfrm>
            <a:off x="2942641" y="1846263"/>
            <a:ext cx="6276975" cy="1962150"/>
            <a:chOff x="2942641" y="1846263"/>
            <a:chExt cx="6276975" cy="1962150"/>
          </a:xfrm>
        </p:grpSpPr>
        <p:grpSp>
          <p:nvGrpSpPr>
            <p:cNvPr id="26" name="Group 2"/>
            <p:cNvGrpSpPr/>
            <p:nvPr/>
          </p:nvGrpSpPr>
          <p:grpSpPr bwMode="auto">
            <a:xfrm>
              <a:off x="7109829" y="1846263"/>
              <a:ext cx="2109787" cy="1582737"/>
              <a:chOff x="1842724" y="2867233"/>
              <a:chExt cx="5649912" cy="3416300"/>
            </a:xfrm>
          </p:grpSpPr>
          <p:sp>
            <p:nvSpPr>
              <p:cNvPr id="27" name="AutoShape 99"/>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28" name="Rectangle 87"/>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grpSp>
        <p:grpSp>
          <p:nvGrpSpPr>
            <p:cNvPr id="29" name="Group 249"/>
            <p:cNvGrpSpPr/>
            <p:nvPr/>
          </p:nvGrpSpPr>
          <p:grpSpPr bwMode="auto">
            <a:xfrm>
              <a:off x="3369679" y="2406650"/>
              <a:ext cx="427037" cy="785813"/>
              <a:chOff x="4140" y="429"/>
              <a:chExt cx="1425" cy="2396"/>
            </a:xfrm>
          </p:grpSpPr>
          <p:sp>
            <p:nvSpPr>
              <p:cNvPr id="30"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 name="Rectangle 251"/>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32"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 name="Rectangle 254"/>
              <p:cNvSpPr>
                <a:spLocks noChangeArrowheads="1"/>
              </p:cNvSpPr>
              <p:nvPr/>
            </p:nvSpPr>
            <p:spPr bwMode="auto">
              <a:xfrm>
                <a:off x="4214" y="695"/>
                <a:ext cx="593" cy="44"/>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nvGrpSpPr>
              <p:cNvPr id="35" name="Group 255"/>
              <p:cNvGrpSpPr/>
              <p:nvPr/>
            </p:nvGrpSpPr>
            <p:grpSpPr bwMode="auto">
              <a:xfrm>
                <a:off x="4749" y="668"/>
                <a:ext cx="581" cy="145"/>
                <a:chOff x="614" y="2568"/>
                <a:chExt cx="725" cy="139"/>
              </a:xfrm>
            </p:grpSpPr>
            <p:sp>
              <p:nvSpPr>
                <p:cNvPr id="60" name="AutoShape 256"/>
                <p:cNvSpPr>
                  <a:spLocks noChangeArrowheads="1"/>
                </p:cNvSpPr>
                <p:nvPr/>
              </p:nvSpPr>
              <p:spPr bwMode="auto">
                <a:xfrm>
                  <a:off x="614" y="2566"/>
                  <a:ext cx="727" cy="139"/>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61" name="AutoShape 257"/>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sp>
            <p:nvSpPr>
              <p:cNvPr id="36" name="Rectangle 258"/>
              <p:cNvSpPr>
                <a:spLocks noChangeArrowheads="1"/>
              </p:cNvSpPr>
              <p:nvPr/>
            </p:nvSpPr>
            <p:spPr bwMode="auto">
              <a:xfrm>
                <a:off x="4225" y="1020"/>
                <a:ext cx="593"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nvGrpSpPr>
              <p:cNvPr id="37" name="Group 259"/>
              <p:cNvGrpSpPr/>
              <p:nvPr/>
            </p:nvGrpSpPr>
            <p:grpSpPr bwMode="auto">
              <a:xfrm>
                <a:off x="4747" y="994"/>
                <a:ext cx="581" cy="134"/>
                <a:chOff x="614" y="2568"/>
                <a:chExt cx="725" cy="139"/>
              </a:xfrm>
            </p:grpSpPr>
            <p:sp>
              <p:nvSpPr>
                <p:cNvPr id="58" name="AutoShape 260"/>
                <p:cNvSpPr>
                  <a:spLocks noChangeArrowheads="1"/>
                </p:cNvSpPr>
                <p:nvPr/>
              </p:nvSpPr>
              <p:spPr bwMode="auto">
                <a:xfrm>
                  <a:off x="617" y="2569"/>
                  <a:ext cx="721" cy="136"/>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59" name="AutoShape 261"/>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sp>
            <p:nvSpPr>
              <p:cNvPr id="38" name="Rectangle 262"/>
              <p:cNvSpPr>
                <a:spLocks noChangeArrowheads="1"/>
              </p:cNvSpPr>
              <p:nvPr/>
            </p:nvSpPr>
            <p:spPr bwMode="auto">
              <a:xfrm>
                <a:off x="4219" y="1358"/>
                <a:ext cx="593" cy="44"/>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39" name="Rectangle 263"/>
              <p:cNvSpPr>
                <a:spLocks noChangeArrowheads="1"/>
              </p:cNvSpPr>
              <p:nvPr/>
            </p:nvSpPr>
            <p:spPr bwMode="auto">
              <a:xfrm>
                <a:off x="4225" y="1654"/>
                <a:ext cx="599"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nvGrpSpPr>
              <p:cNvPr id="40" name="Group 264"/>
              <p:cNvGrpSpPr/>
              <p:nvPr/>
            </p:nvGrpSpPr>
            <p:grpSpPr bwMode="auto">
              <a:xfrm>
                <a:off x="4735" y="1627"/>
                <a:ext cx="582" cy="151"/>
                <a:chOff x="614" y="2568"/>
                <a:chExt cx="725" cy="139"/>
              </a:xfrm>
            </p:grpSpPr>
            <p:sp>
              <p:nvSpPr>
                <p:cNvPr id="56" name="AutoShape 265"/>
                <p:cNvSpPr>
                  <a:spLocks noChangeArrowheads="1"/>
                </p:cNvSpPr>
                <p:nvPr/>
              </p:nvSpPr>
              <p:spPr bwMode="auto">
                <a:xfrm>
                  <a:off x="612" y="2570"/>
                  <a:ext cx="719" cy="138"/>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57" name="AutoShape 266"/>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sp>
            <p:nvSpPr>
              <p:cNvPr id="41"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2" name="Group 268"/>
              <p:cNvGrpSpPr/>
              <p:nvPr/>
            </p:nvGrpSpPr>
            <p:grpSpPr bwMode="auto">
              <a:xfrm>
                <a:off x="4739" y="1327"/>
                <a:ext cx="582" cy="139"/>
                <a:chOff x="614" y="2568"/>
                <a:chExt cx="725" cy="139"/>
              </a:xfrm>
            </p:grpSpPr>
            <p:sp>
              <p:nvSpPr>
                <p:cNvPr id="54" name="AutoShape 269"/>
                <p:cNvSpPr>
                  <a:spLocks noChangeArrowheads="1"/>
                </p:cNvSpPr>
                <p:nvPr/>
              </p:nvSpPr>
              <p:spPr bwMode="auto">
                <a:xfrm>
                  <a:off x="614" y="2570"/>
                  <a:ext cx="726" cy="136"/>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55" name="AutoShape 270"/>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sp>
            <p:nvSpPr>
              <p:cNvPr id="43" name="Rectangle 271"/>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44"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5"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 name="Oval 274"/>
              <p:cNvSpPr>
                <a:spLocks noChangeArrowheads="1"/>
              </p:cNvSpPr>
              <p:nvPr/>
            </p:nvSpPr>
            <p:spPr bwMode="auto">
              <a:xfrm>
                <a:off x="5517" y="2612"/>
                <a:ext cx="48" cy="97"/>
              </a:xfrm>
              <a:prstGeom prst="ellipse">
                <a:avLst/>
              </a:prstGeom>
              <a:solidFill>
                <a:srgbClr val="3333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47"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 name="AutoShape 276"/>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49" name="AutoShape 277"/>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50" name="Oval 278"/>
              <p:cNvSpPr>
                <a:spLocks noChangeArrowheads="1"/>
              </p:cNvSpPr>
              <p:nvPr/>
            </p:nvSpPr>
            <p:spPr bwMode="auto">
              <a:xfrm>
                <a:off x="4310" y="2380"/>
                <a:ext cx="159" cy="145"/>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51" name="Oval 279"/>
              <p:cNvSpPr>
                <a:spLocks noChangeArrowheads="1"/>
              </p:cNvSpPr>
              <p:nvPr/>
            </p:nvSpPr>
            <p:spPr bwMode="auto">
              <a:xfrm>
                <a:off x="4484" y="2385"/>
                <a:ext cx="164" cy="140"/>
              </a:xfrm>
              <a:prstGeom prst="ellipse">
                <a:avLst/>
              </a:prstGeom>
              <a:solidFill>
                <a:srgbClr val="FF0000"/>
              </a:solidFill>
              <a:ln>
                <a:noFill/>
              </a:ln>
              <a:effectLst/>
            </p:spPr>
            <p:txBody>
              <a:bodyPr wrap="none" anchor="ctr"/>
              <a:lstStyle/>
              <a:p>
                <a:pPr algn="ctr">
                  <a:buFont typeface="ZapfDingbats" charset="0"/>
                  <a:buNone/>
                  <a:defRPr/>
                </a:pPr>
                <a:endParaRPr lang="en-US" dirty="0">
                  <a:solidFill>
                    <a:srgbClr val="FF0000"/>
                  </a:solidFill>
                  <a:latin typeface="Arial" panose="020B0604020202020204" pitchFamily="34" charset="0"/>
                  <a:ea typeface="MS PGothic" panose="020B0600070205080204" pitchFamily="34" charset="-128"/>
                  <a:cs typeface="Arial" panose="020B0604020202020204" pitchFamily="34" charset="0"/>
                </a:endParaRPr>
              </a:p>
            </p:txBody>
          </p:sp>
          <p:sp>
            <p:nvSpPr>
              <p:cNvPr id="52" name="Oval 280"/>
              <p:cNvSpPr>
                <a:spLocks noChangeArrowheads="1"/>
              </p:cNvSpPr>
              <p:nvPr/>
            </p:nvSpPr>
            <p:spPr bwMode="auto">
              <a:xfrm>
                <a:off x="4664" y="2380"/>
                <a:ext cx="154" cy="140"/>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53" name="Rectangle 281"/>
              <p:cNvSpPr>
                <a:spLocks noChangeArrowheads="1"/>
              </p:cNvSpPr>
              <p:nvPr/>
            </p:nvSpPr>
            <p:spPr bwMode="auto">
              <a:xfrm>
                <a:off x="5062" y="1838"/>
                <a:ext cx="85" cy="760"/>
              </a:xfrm>
              <a:prstGeom prst="rect">
                <a:avLst/>
              </a:prstGeom>
              <a:solidFill>
                <a:srgbClr val="292929"/>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grpSp>
          <p:nvGrpSpPr>
            <p:cNvPr id="62" name="Group 134"/>
            <p:cNvGrpSpPr/>
            <p:nvPr/>
          </p:nvGrpSpPr>
          <p:grpSpPr bwMode="auto">
            <a:xfrm>
              <a:off x="2942641" y="2038350"/>
              <a:ext cx="1281113" cy="363538"/>
              <a:chOff x="3621" y="3265"/>
              <a:chExt cx="1776" cy="744"/>
            </a:xfrm>
          </p:grpSpPr>
          <p:pic>
            <p:nvPicPr>
              <p:cNvPr id="63" name="Picture 135" descr="reellogo"/>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136"/>
              <p:cNvSpPr/>
              <p:nvPr/>
            </p:nvSpPr>
            <p:spPr bwMode="auto">
              <a:xfrm>
                <a:off x="3971" y="3288"/>
                <a:ext cx="1402" cy="439"/>
              </a:xfrm>
              <a:custGeom>
                <a:avLst/>
                <a:gdLst>
                  <a:gd name="T0" fmla="*/ 0 w 1401"/>
                  <a:gd name="T1" fmla="*/ 6 h 438"/>
                  <a:gd name="T2" fmla="*/ 27 w 1401"/>
                  <a:gd name="T3" fmla="*/ 385 h 438"/>
                  <a:gd name="T4" fmla="*/ 114 w 1401"/>
                  <a:gd name="T5" fmla="*/ 382 h 438"/>
                  <a:gd name="T6" fmla="*/ 132 w 1401"/>
                  <a:gd name="T7" fmla="*/ 358 h 438"/>
                  <a:gd name="T8" fmla="*/ 210 w 1401"/>
                  <a:gd name="T9" fmla="*/ 403 h 438"/>
                  <a:gd name="T10" fmla="*/ 450 w 1401"/>
                  <a:gd name="T11" fmla="*/ 385 h 438"/>
                  <a:gd name="T12" fmla="*/ 486 w 1401"/>
                  <a:gd name="T13" fmla="*/ 394 h 438"/>
                  <a:gd name="T14" fmla="*/ 690 w 1401"/>
                  <a:gd name="T15" fmla="*/ 418 h 438"/>
                  <a:gd name="T16" fmla="*/ 1075 w 1401"/>
                  <a:gd name="T17" fmla="*/ 439 h 438"/>
                  <a:gd name="T18" fmla="*/ 1402 w 1401"/>
                  <a:gd name="T19" fmla="*/ 421 h 438"/>
                  <a:gd name="T20" fmla="*/ 1393 w 1401"/>
                  <a:gd name="T21" fmla="*/ 165 h 438"/>
                  <a:gd name="T22" fmla="*/ 291 w 1401"/>
                  <a:gd name="T23" fmla="*/ 0 h 438"/>
                  <a:gd name="T24" fmla="*/ 0 w 1401"/>
                  <a:gd name="T25" fmla="*/ 6 h 4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endParaRPr lang="en-US"/>
              </a:p>
            </p:txBody>
          </p:sp>
          <p:sp>
            <p:nvSpPr>
              <p:cNvPr id="65" name="Freeform 137"/>
              <p:cNvSpPr/>
              <p:nvPr/>
            </p:nvSpPr>
            <p:spPr bwMode="auto">
              <a:xfrm>
                <a:off x="4242" y="3860"/>
                <a:ext cx="999" cy="120"/>
              </a:xfrm>
              <a:custGeom>
                <a:avLst/>
                <a:gdLst>
                  <a:gd name="T0" fmla="*/ 0 w 999"/>
                  <a:gd name="T1" fmla="*/ 6 h 123"/>
                  <a:gd name="T2" fmla="*/ 717 w 999"/>
                  <a:gd name="T3" fmla="*/ 12 h 123"/>
                  <a:gd name="T4" fmla="*/ 744 w 999"/>
                  <a:gd name="T5" fmla="*/ 35 h 123"/>
                  <a:gd name="T6" fmla="*/ 801 w 999"/>
                  <a:gd name="T7" fmla="*/ 41 h 123"/>
                  <a:gd name="T8" fmla="*/ 876 w 999"/>
                  <a:gd name="T9" fmla="*/ 6 h 123"/>
                  <a:gd name="T10" fmla="*/ 933 w 999"/>
                  <a:gd name="T11" fmla="*/ 0 h 123"/>
                  <a:gd name="T12" fmla="*/ 981 w 999"/>
                  <a:gd name="T13" fmla="*/ 15 h 123"/>
                  <a:gd name="T14" fmla="*/ 999 w 999"/>
                  <a:gd name="T15" fmla="*/ 50 h 123"/>
                  <a:gd name="T16" fmla="*/ 987 w 999"/>
                  <a:gd name="T17" fmla="*/ 120 h 123"/>
                  <a:gd name="T18" fmla="*/ 18 w 999"/>
                  <a:gd name="T19" fmla="*/ 117 h 123"/>
                  <a:gd name="T20" fmla="*/ 0 w 999"/>
                  <a:gd name="T21" fmla="*/ 6 h 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endParaRPr lang="en-US"/>
              </a:p>
            </p:txBody>
          </p:sp>
          <p:pic>
            <p:nvPicPr>
              <p:cNvPr id="66" name="Picture 138" descr="video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349"/>
            <p:cNvGrpSpPr/>
            <p:nvPr/>
          </p:nvGrpSpPr>
          <p:grpSpPr bwMode="auto">
            <a:xfrm>
              <a:off x="7868654" y="2625725"/>
              <a:ext cx="677862" cy="663575"/>
              <a:chOff x="4437" y="1472"/>
              <a:chExt cx="427" cy="418"/>
            </a:xfrm>
          </p:grpSpPr>
          <p:sp>
            <p:nvSpPr>
              <p:cNvPr id="68" name="Rectangle 350"/>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ln>
              <a:effectLst/>
            </p:spPr>
            <p:txBody>
              <a:bodyPr wrap="none" anchor="ctr"/>
              <a:lstStyle/>
              <a:p>
                <a:pPr>
                  <a:buFont typeface="ZapfDingbats" charset="0"/>
                  <a:buNone/>
                  <a:defRPr/>
                </a:pPr>
                <a:endParaRPr lang="en-US" dirty="0">
                  <a:latin typeface="Arial" panose="020B0604020202020204"/>
                  <a:ea typeface="MS PGothic" panose="020B0600070205080204" pitchFamily="34" charset="-128"/>
                  <a:cs typeface="Arial" panose="020B0604020202020204"/>
                </a:endParaRPr>
              </a:p>
            </p:txBody>
          </p:sp>
          <p:sp>
            <p:nvSpPr>
              <p:cNvPr id="69" name="Rectangle 351"/>
              <p:cNvSpPr>
                <a:spLocks noChangeArrowheads="1"/>
              </p:cNvSpPr>
              <p:nvPr/>
            </p:nvSpPr>
            <p:spPr bwMode="auto">
              <a:xfrm>
                <a:off x="4567" y="1837"/>
                <a:ext cx="179" cy="23"/>
              </a:xfrm>
              <a:prstGeom prst="rect">
                <a:avLst/>
              </a:prstGeom>
              <a:solidFill>
                <a:srgbClr val="5F5F5F"/>
              </a:solidFill>
              <a:ln w="19050">
                <a:solidFill>
                  <a:srgbClr val="5F5F5F"/>
                </a:solidFill>
                <a:miter lim="800000"/>
              </a:ln>
              <a:effectLst/>
            </p:spPr>
            <p:txBody>
              <a:bodyPr wrap="none" anchor="ctr"/>
              <a:lstStyle/>
              <a:p>
                <a:pPr>
                  <a:buFont typeface="ZapfDingbats" charset="0"/>
                  <a:buNone/>
                  <a:defRPr/>
                </a:pPr>
                <a:endParaRPr lang="en-US" dirty="0">
                  <a:latin typeface="Arial" panose="020B0604020202020204"/>
                  <a:ea typeface="MS PGothic" panose="020B0600070205080204" pitchFamily="34" charset="-128"/>
                  <a:cs typeface="Arial" panose="020B0604020202020204"/>
                </a:endParaRPr>
              </a:p>
            </p:txBody>
          </p:sp>
          <p:sp>
            <p:nvSpPr>
              <p:cNvPr id="70" name="Rectangle 352"/>
              <p:cNvSpPr>
                <a:spLocks noChangeArrowheads="1"/>
              </p:cNvSpPr>
              <p:nvPr/>
            </p:nvSpPr>
            <p:spPr bwMode="auto">
              <a:xfrm>
                <a:off x="4442" y="1866"/>
                <a:ext cx="414" cy="24"/>
              </a:xfrm>
              <a:prstGeom prst="rect">
                <a:avLst/>
              </a:prstGeom>
              <a:solidFill>
                <a:schemeClr val="tx2"/>
              </a:solidFill>
              <a:ln w="19050">
                <a:solidFill>
                  <a:schemeClr val="tx1"/>
                </a:solidFill>
                <a:miter lim="800000"/>
              </a:ln>
              <a:effectLst/>
            </p:spPr>
            <p:txBody>
              <a:bodyPr wrap="none" anchor="ctr"/>
              <a:lstStyle/>
              <a:p>
                <a:pPr>
                  <a:buFont typeface="ZapfDingbats" charset="0"/>
                  <a:buNone/>
                  <a:defRPr/>
                </a:pPr>
                <a:endParaRPr lang="en-US" dirty="0">
                  <a:latin typeface="Arial" panose="020B0604020202020204"/>
                  <a:ea typeface="MS PGothic" panose="020B0600070205080204" pitchFamily="34" charset="-128"/>
                  <a:cs typeface="Arial" panose="020B0604020202020204"/>
                </a:endParaRPr>
              </a:p>
            </p:txBody>
          </p:sp>
          <p:sp>
            <p:nvSpPr>
              <p:cNvPr id="71" name="Rectangle 353"/>
              <p:cNvSpPr>
                <a:spLocks noChangeArrowheads="1"/>
              </p:cNvSpPr>
              <p:nvPr/>
            </p:nvSpPr>
            <p:spPr bwMode="auto">
              <a:xfrm>
                <a:off x="4437" y="1472"/>
                <a:ext cx="423" cy="356"/>
              </a:xfrm>
              <a:prstGeom prst="rect">
                <a:avLst/>
              </a:prstGeom>
              <a:noFill/>
              <a:ln w="19050">
                <a:solidFill>
                  <a:schemeClr val="accent2"/>
                </a:solidFill>
                <a:miter lim="800000"/>
              </a:ln>
              <a:effectLst/>
            </p:spPr>
            <p:txBody>
              <a:bodyPr wrap="none" anchor="ctr"/>
              <a:lstStyle/>
              <a:p>
                <a:pPr>
                  <a:buFont typeface="ZapfDingbats" charset="0"/>
                  <a:buNone/>
                  <a:defRPr/>
                </a:pPr>
                <a:endParaRPr lang="en-US" dirty="0">
                  <a:latin typeface="Arial" panose="020B0604020202020204"/>
                  <a:ea typeface="MS PGothic" panose="020B0600070205080204" pitchFamily="34" charset="-128"/>
                  <a:cs typeface="Arial" panose="020B0604020202020204"/>
                </a:endParaRPr>
              </a:p>
            </p:txBody>
          </p:sp>
        </p:grpSp>
        <p:sp>
          <p:nvSpPr>
            <p:cNvPr id="73" name="Freeform 1287"/>
            <p:cNvSpPr/>
            <p:nvPr/>
          </p:nvSpPr>
          <p:spPr bwMode="auto">
            <a:xfrm>
              <a:off x="4377741" y="2066925"/>
              <a:ext cx="2320925" cy="1228725"/>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74" name="Straight Connector 45"/>
            <p:cNvCxnSpPr>
              <a:cxnSpLocks noChangeShapeType="1"/>
            </p:cNvCxnSpPr>
            <p:nvPr/>
          </p:nvCxnSpPr>
          <p:spPr bwMode="auto">
            <a:xfrm>
              <a:off x="4018966" y="2632075"/>
              <a:ext cx="1241425" cy="0"/>
            </a:xfrm>
            <a:prstGeom prst="line">
              <a:avLst/>
            </a:prstGeom>
            <a:noFill/>
            <a:ln w="31750">
              <a:solidFill>
                <a:srgbClr val="CC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46"/>
            <p:cNvCxnSpPr>
              <a:cxnSpLocks noChangeShapeType="1"/>
            </p:cNvCxnSpPr>
            <p:nvPr/>
          </p:nvCxnSpPr>
          <p:spPr bwMode="auto">
            <a:xfrm>
              <a:off x="6030329" y="2662238"/>
              <a:ext cx="1531937" cy="0"/>
            </a:xfrm>
            <a:prstGeom prst="line">
              <a:avLst/>
            </a:prstGeom>
            <a:noFill/>
            <a:ln w="31750">
              <a:solidFill>
                <a:srgbClr val="CC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7" name="TextBox 64"/>
            <p:cNvSpPr txBox="1">
              <a:spLocks noChangeArrowheads="1"/>
            </p:cNvSpPr>
            <p:nvPr/>
          </p:nvSpPr>
          <p:spPr bwMode="auto">
            <a:xfrm>
              <a:off x="7784516" y="3440113"/>
              <a:ext cx="76676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solidFill>
                    <a:srgbClr val="000000"/>
                  </a:solidFill>
                  <a:cs typeface="Arial" panose="020B0604020202020204" pitchFamily="34" charset="0"/>
                </a:rPr>
                <a:t>client</a:t>
              </a:r>
              <a:endParaRPr lang="en-US" altLang="en-US" sz="1800" i="1">
                <a:solidFill>
                  <a:srgbClr val="CC0000"/>
                </a:solidFill>
                <a:cs typeface="Arial" panose="020B0604020202020204" pitchFamily="34" charset="0"/>
              </a:endParaRPr>
            </a:p>
          </p:txBody>
        </p:sp>
        <p:sp>
          <p:nvSpPr>
            <p:cNvPr id="78" name="TextBox 64"/>
            <p:cNvSpPr txBox="1">
              <a:spLocks noChangeArrowheads="1"/>
            </p:cNvSpPr>
            <p:nvPr/>
          </p:nvSpPr>
          <p:spPr bwMode="auto">
            <a:xfrm>
              <a:off x="5031791" y="2895600"/>
              <a:ext cx="91916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solidFill>
                    <a:srgbClr val="000000"/>
                  </a:solidFill>
                  <a:cs typeface="Arial" panose="020B0604020202020204" pitchFamily="34" charset="0"/>
                </a:rPr>
                <a:t>Internet</a:t>
              </a:r>
              <a:endParaRPr lang="en-US" altLang="en-US" sz="1800" i="1">
                <a:solidFill>
                  <a:srgbClr val="CC0000"/>
                </a:solidFill>
                <a:cs typeface="Arial" panose="020B0604020202020204" pitchFamily="34" charset="0"/>
              </a:endParaRPr>
            </a:p>
          </p:txBody>
        </p:sp>
      </p:grpSp>
      <p:sp>
        <p:nvSpPr>
          <p:cNvPr id="79"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838200" y="451821"/>
            <a:ext cx="10515600" cy="894622"/>
          </a:xfrm>
        </p:spPr>
        <p:txBody>
          <a:bodyPr>
            <a:normAutofit/>
          </a:bodyPr>
          <a:lstStyle/>
          <a:p>
            <a:r>
              <a:rPr lang="en-US" altLang="en-US" sz="4400" dirty="0">
                <a:ea typeface="MS PGothic" panose="020B0600070205080204" pitchFamily="34" charset="-128"/>
              </a:rPr>
              <a:t>Streaming stored </a:t>
            </a:r>
            <a:r>
              <a:rPr lang="en-US" altLang="en-US" dirty="0">
                <a:ea typeface="MS PGothic" panose="020B0600070205080204" pitchFamily="34" charset="-128"/>
              </a:rPr>
              <a:t>v</a:t>
            </a:r>
            <a:r>
              <a:rPr lang="en-US" altLang="en-US" sz="4400" dirty="0">
                <a:ea typeface="MS PGothic" panose="020B0600070205080204" pitchFamily="34" charset="-128"/>
              </a:rPr>
              <a:t>ideo</a:t>
            </a:r>
            <a:endParaRPr lang="en-US" altLang="en-US" sz="4400" dirty="0">
              <a:ea typeface="MS PGothic" panose="020B0600070205080204" pitchFamily="34" charset="-128"/>
            </a:endParaRPr>
          </a:p>
        </p:txBody>
      </p:sp>
      <p:grpSp>
        <p:nvGrpSpPr>
          <p:cNvPr id="266" name="Group 249"/>
          <p:cNvGrpSpPr/>
          <p:nvPr/>
        </p:nvGrpSpPr>
        <p:grpSpPr bwMode="auto">
          <a:xfrm>
            <a:off x="3771872" y="5012751"/>
            <a:ext cx="427037" cy="785812"/>
            <a:chOff x="4140" y="429"/>
            <a:chExt cx="1425" cy="2396"/>
          </a:xfrm>
        </p:grpSpPr>
        <p:sp>
          <p:nvSpPr>
            <p:cNvPr id="267" name="Freeform 250"/>
            <p:cNvSpPr/>
            <p:nvPr/>
          </p:nvSpPr>
          <p:spPr bwMode="auto">
            <a:xfrm>
              <a:off x="5268" y="433"/>
              <a:ext cx="283" cy="2286"/>
            </a:xfrm>
            <a:custGeom>
              <a:avLst/>
              <a:gdLst>
                <a:gd name="T0" fmla="*/ 26 w 354"/>
                <a:gd name="T1" fmla="*/ 0 h 2742"/>
                <a:gd name="T2" fmla="*/ 145 w 354"/>
                <a:gd name="T3" fmla="*/ 164 h 2742"/>
                <a:gd name="T4" fmla="*/ 142 w 354"/>
                <a:gd name="T5" fmla="*/ 1268 h 2742"/>
                <a:gd name="T6" fmla="*/ 0 w 354"/>
                <a:gd name="T7" fmla="*/ 1325 h 2742"/>
                <a:gd name="T8" fmla="*/ 26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p:spPr>
          <p:txBody>
            <a:bodyPr/>
            <a:lstStyle/>
            <a:p>
              <a:endParaRPr lang="en-US" dirty="0"/>
            </a:p>
          </p:txBody>
        </p:sp>
        <p:sp>
          <p:nvSpPr>
            <p:cNvPr id="268" name="Rectangle 251"/>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p:spPr>
          <p:txBody>
            <a:bodyPr wrap="none" anchor="ctr"/>
            <a:lstStyle/>
            <a:p>
              <a:pPr>
                <a:defRPr/>
              </a:pPr>
              <a:endParaRPr lang="en-US" dirty="0">
                <a:cs typeface="Arial" panose="020B0604020202020204" pitchFamily="34" charset="0"/>
              </a:endParaRPr>
            </a:p>
          </p:txBody>
        </p:sp>
        <p:sp>
          <p:nvSpPr>
            <p:cNvPr id="269" name="Freeform 252"/>
            <p:cNvSpPr/>
            <p:nvPr/>
          </p:nvSpPr>
          <p:spPr bwMode="auto">
            <a:xfrm>
              <a:off x="5321" y="570"/>
              <a:ext cx="169" cy="2115"/>
            </a:xfrm>
            <a:custGeom>
              <a:avLst/>
              <a:gdLst>
                <a:gd name="T0" fmla="*/ 3 w 211"/>
                <a:gd name="T1" fmla="*/ 0 h 2537"/>
                <a:gd name="T2" fmla="*/ 87 w 211"/>
                <a:gd name="T3" fmla="*/ 106 h 2537"/>
                <a:gd name="T4" fmla="*/ 3 w 211"/>
                <a:gd name="T5" fmla="*/ 1208 h 2537"/>
                <a:gd name="T6" fmla="*/ 3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p:spPr>
          <p:txBody>
            <a:bodyPr/>
            <a:lstStyle/>
            <a:p>
              <a:endParaRPr lang="en-US" dirty="0"/>
            </a:p>
          </p:txBody>
        </p:sp>
        <p:sp>
          <p:nvSpPr>
            <p:cNvPr id="270" name="Freeform 253"/>
            <p:cNvSpPr/>
            <p:nvPr/>
          </p:nvSpPr>
          <p:spPr bwMode="auto">
            <a:xfrm>
              <a:off x="5284" y="1640"/>
              <a:ext cx="263" cy="189"/>
            </a:xfrm>
            <a:custGeom>
              <a:avLst/>
              <a:gdLst>
                <a:gd name="T0" fmla="*/ 2 w 328"/>
                <a:gd name="T1" fmla="*/ 0 h 226"/>
                <a:gd name="T2" fmla="*/ 136 w 328"/>
                <a:gd name="T3" fmla="*/ 62 h 226"/>
                <a:gd name="T4" fmla="*/ 135 w 328"/>
                <a:gd name="T5" fmla="*/ 110 h 226"/>
                <a:gd name="T6" fmla="*/ 0 w 328"/>
                <a:gd name="T7" fmla="*/ 4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p:spPr>
          <p:txBody>
            <a:bodyPr/>
            <a:lstStyle/>
            <a:p>
              <a:endParaRPr lang="en-US" dirty="0"/>
            </a:p>
          </p:txBody>
        </p:sp>
        <p:sp>
          <p:nvSpPr>
            <p:cNvPr id="271" name="Rectangle 254"/>
            <p:cNvSpPr>
              <a:spLocks noChangeArrowheads="1"/>
            </p:cNvSpPr>
            <p:nvPr/>
          </p:nvSpPr>
          <p:spPr bwMode="auto">
            <a:xfrm>
              <a:off x="4214" y="695"/>
              <a:ext cx="593" cy="44"/>
            </a:xfrm>
            <a:prstGeom prst="rect">
              <a:avLst/>
            </a:prstGeom>
            <a:solidFill>
              <a:schemeClr val="tx1"/>
            </a:solidFill>
            <a:ln w="9525">
              <a:solidFill>
                <a:schemeClr val="tx1"/>
              </a:solidFill>
              <a:miter lim="800000"/>
            </a:ln>
            <a:effectLst/>
          </p:spPr>
          <p:txBody>
            <a:bodyPr wrap="none" anchor="ctr"/>
            <a:lstStyle/>
            <a:p>
              <a:pPr>
                <a:defRPr/>
              </a:pPr>
              <a:endParaRPr lang="en-US" dirty="0">
                <a:cs typeface="Arial" panose="020B0604020202020204" pitchFamily="34" charset="0"/>
              </a:endParaRPr>
            </a:p>
          </p:txBody>
        </p:sp>
        <p:grpSp>
          <p:nvGrpSpPr>
            <p:cNvPr id="272" name="Group 255"/>
            <p:cNvGrpSpPr/>
            <p:nvPr/>
          </p:nvGrpSpPr>
          <p:grpSpPr bwMode="auto">
            <a:xfrm>
              <a:off x="4749" y="668"/>
              <a:ext cx="581" cy="145"/>
              <a:chOff x="614" y="2568"/>
              <a:chExt cx="725" cy="139"/>
            </a:xfrm>
          </p:grpSpPr>
          <p:sp>
            <p:nvSpPr>
              <p:cNvPr id="297" name="AutoShape 256"/>
              <p:cNvSpPr>
                <a:spLocks noChangeArrowheads="1"/>
              </p:cNvSpPr>
              <p:nvPr/>
            </p:nvSpPr>
            <p:spPr bwMode="auto">
              <a:xfrm>
                <a:off x="614" y="2566"/>
                <a:ext cx="727" cy="139"/>
              </a:xfrm>
              <a:prstGeom prst="roundRect">
                <a:avLst>
                  <a:gd name="adj" fmla="val 50000"/>
                </a:avLst>
              </a:prstGeom>
              <a:solidFill>
                <a:schemeClr val="tx1"/>
              </a:solidFill>
              <a:ln>
                <a:noFill/>
              </a:ln>
              <a:effectLst/>
            </p:spPr>
            <p:txBody>
              <a:bodyPr wrap="none" anchor="ctr"/>
              <a:lstStyle/>
              <a:p>
                <a:pPr>
                  <a:defRPr/>
                </a:pPr>
                <a:endParaRPr lang="en-US" dirty="0">
                  <a:cs typeface="Arial" panose="020B0604020202020204" pitchFamily="34" charset="0"/>
                </a:endParaRPr>
              </a:p>
            </p:txBody>
          </p:sp>
          <p:sp>
            <p:nvSpPr>
              <p:cNvPr id="298" name="AutoShape 257"/>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dirty="0">
                  <a:cs typeface="Arial" panose="020B0604020202020204" pitchFamily="34" charset="0"/>
                </a:endParaRPr>
              </a:p>
            </p:txBody>
          </p:sp>
        </p:grpSp>
        <p:sp>
          <p:nvSpPr>
            <p:cNvPr id="273" name="Rectangle 258"/>
            <p:cNvSpPr>
              <a:spLocks noChangeArrowheads="1"/>
            </p:cNvSpPr>
            <p:nvPr/>
          </p:nvSpPr>
          <p:spPr bwMode="auto">
            <a:xfrm>
              <a:off x="4225" y="1020"/>
              <a:ext cx="593" cy="48"/>
            </a:xfrm>
            <a:prstGeom prst="rect">
              <a:avLst/>
            </a:prstGeom>
            <a:solidFill>
              <a:schemeClr val="tx1"/>
            </a:solidFill>
            <a:ln w="9525">
              <a:solidFill>
                <a:schemeClr val="tx1"/>
              </a:solidFill>
              <a:miter lim="800000"/>
            </a:ln>
            <a:effectLst/>
          </p:spPr>
          <p:txBody>
            <a:bodyPr wrap="none" anchor="ctr"/>
            <a:lstStyle/>
            <a:p>
              <a:pPr>
                <a:defRPr/>
              </a:pPr>
              <a:endParaRPr lang="en-US" dirty="0">
                <a:cs typeface="Arial" panose="020B0604020202020204" pitchFamily="34" charset="0"/>
              </a:endParaRPr>
            </a:p>
          </p:txBody>
        </p:sp>
        <p:grpSp>
          <p:nvGrpSpPr>
            <p:cNvPr id="274" name="Group 259"/>
            <p:cNvGrpSpPr/>
            <p:nvPr/>
          </p:nvGrpSpPr>
          <p:grpSpPr bwMode="auto">
            <a:xfrm>
              <a:off x="4747" y="994"/>
              <a:ext cx="581" cy="134"/>
              <a:chOff x="614" y="2568"/>
              <a:chExt cx="725" cy="139"/>
            </a:xfrm>
          </p:grpSpPr>
          <p:sp>
            <p:nvSpPr>
              <p:cNvPr id="295" name="AutoShape 260"/>
              <p:cNvSpPr>
                <a:spLocks noChangeArrowheads="1"/>
              </p:cNvSpPr>
              <p:nvPr/>
            </p:nvSpPr>
            <p:spPr bwMode="auto">
              <a:xfrm>
                <a:off x="617" y="2569"/>
                <a:ext cx="721" cy="136"/>
              </a:xfrm>
              <a:prstGeom prst="roundRect">
                <a:avLst>
                  <a:gd name="adj" fmla="val 50000"/>
                </a:avLst>
              </a:prstGeom>
              <a:solidFill>
                <a:schemeClr val="tx1"/>
              </a:solidFill>
              <a:ln>
                <a:noFill/>
              </a:ln>
              <a:effectLst/>
            </p:spPr>
            <p:txBody>
              <a:bodyPr wrap="none" anchor="ctr"/>
              <a:lstStyle/>
              <a:p>
                <a:pPr>
                  <a:defRPr/>
                </a:pPr>
                <a:endParaRPr lang="en-US" dirty="0">
                  <a:cs typeface="Arial" panose="020B0604020202020204" pitchFamily="34" charset="0"/>
                </a:endParaRPr>
              </a:p>
            </p:txBody>
          </p:sp>
          <p:sp>
            <p:nvSpPr>
              <p:cNvPr id="296" name="AutoShape 261"/>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dirty="0">
                  <a:cs typeface="Arial" panose="020B0604020202020204" pitchFamily="34" charset="0"/>
                </a:endParaRPr>
              </a:p>
            </p:txBody>
          </p:sp>
        </p:grpSp>
        <p:sp>
          <p:nvSpPr>
            <p:cNvPr id="275" name="Rectangle 262"/>
            <p:cNvSpPr>
              <a:spLocks noChangeArrowheads="1"/>
            </p:cNvSpPr>
            <p:nvPr/>
          </p:nvSpPr>
          <p:spPr bwMode="auto">
            <a:xfrm>
              <a:off x="4219" y="1358"/>
              <a:ext cx="593" cy="44"/>
            </a:xfrm>
            <a:prstGeom prst="rect">
              <a:avLst/>
            </a:prstGeom>
            <a:solidFill>
              <a:schemeClr val="tx1"/>
            </a:solidFill>
            <a:ln w="9525">
              <a:solidFill>
                <a:schemeClr val="tx1"/>
              </a:solidFill>
              <a:miter lim="800000"/>
            </a:ln>
            <a:effectLst/>
          </p:spPr>
          <p:txBody>
            <a:bodyPr wrap="none" anchor="ctr"/>
            <a:lstStyle/>
            <a:p>
              <a:pPr>
                <a:defRPr/>
              </a:pPr>
              <a:endParaRPr lang="en-US" dirty="0">
                <a:cs typeface="Arial" panose="020B0604020202020204" pitchFamily="34" charset="0"/>
              </a:endParaRPr>
            </a:p>
          </p:txBody>
        </p:sp>
        <p:sp>
          <p:nvSpPr>
            <p:cNvPr id="276" name="Rectangle 263"/>
            <p:cNvSpPr>
              <a:spLocks noChangeArrowheads="1"/>
            </p:cNvSpPr>
            <p:nvPr/>
          </p:nvSpPr>
          <p:spPr bwMode="auto">
            <a:xfrm>
              <a:off x="4225" y="1654"/>
              <a:ext cx="599" cy="48"/>
            </a:xfrm>
            <a:prstGeom prst="rect">
              <a:avLst/>
            </a:prstGeom>
            <a:solidFill>
              <a:schemeClr val="tx1"/>
            </a:solidFill>
            <a:ln w="9525">
              <a:solidFill>
                <a:schemeClr val="tx1"/>
              </a:solidFill>
              <a:miter lim="800000"/>
            </a:ln>
            <a:effectLst/>
          </p:spPr>
          <p:txBody>
            <a:bodyPr wrap="none" anchor="ctr"/>
            <a:lstStyle/>
            <a:p>
              <a:pPr>
                <a:defRPr/>
              </a:pPr>
              <a:endParaRPr lang="en-US" dirty="0">
                <a:cs typeface="Arial" panose="020B0604020202020204" pitchFamily="34" charset="0"/>
              </a:endParaRPr>
            </a:p>
          </p:txBody>
        </p:sp>
        <p:grpSp>
          <p:nvGrpSpPr>
            <p:cNvPr id="277" name="Group 264"/>
            <p:cNvGrpSpPr/>
            <p:nvPr/>
          </p:nvGrpSpPr>
          <p:grpSpPr bwMode="auto">
            <a:xfrm>
              <a:off x="4735" y="1627"/>
              <a:ext cx="582" cy="151"/>
              <a:chOff x="614" y="2568"/>
              <a:chExt cx="725" cy="139"/>
            </a:xfrm>
          </p:grpSpPr>
          <p:sp>
            <p:nvSpPr>
              <p:cNvPr id="293" name="AutoShape 265"/>
              <p:cNvSpPr>
                <a:spLocks noChangeArrowheads="1"/>
              </p:cNvSpPr>
              <p:nvPr/>
            </p:nvSpPr>
            <p:spPr bwMode="auto">
              <a:xfrm>
                <a:off x="612" y="2570"/>
                <a:ext cx="719" cy="138"/>
              </a:xfrm>
              <a:prstGeom prst="roundRect">
                <a:avLst>
                  <a:gd name="adj" fmla="val 50000"/>
                </a:avLst>
              </a:prstGeom>
              <a:solidFill>
                <a:schemeClr val="tx1"/>
              </a:solidFill>
              <a:ln>
                <a:noFill/>
              </a:ln>
              <a:effectLst/>
            </p:spPr>
            <p:txBody>
              <a:bodyPr wrap="none" anchor="ctr"/>
              <a:lstStyle/>
              <a:p>
                <a:pPr>
                  <a:defRPr/>
                </a:pPr>
                <a:endParaRPr lang="en-US" dirty="0">
                  <a:cs typeface="Arial" panose="020B0604020202020204" pitchFamily="34" charset="0"/>
                </a:endParaRPr>
              </a:p>
            </p:txBody>
          </p:sp>
          <p:sp>
            <p:nvSpPr>
              <p:cNvPr id="294" name="AutoShape 266"/>
              <p:cNvSpPr>
                <a:spLocks noChangeArrowheads="1"/>
              </p:cNvSpPr>
              <p:nvPr/>
            </p:nvSpPr>
            <p:spPr bwMode="auto">
              <a:xfrm>
                <a:off x="625"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dirty="0">
                  <a:cs typeface="Arial" panose="020B0604020202020204" pitchFamily="34" charset="0"/>
                </a:endParaRPr>
              </a:p>
            </p:txBody>
          </p:sp>
        </p:grpSp>
        <p:sp>
          <p:nvSpPr>
            <p:cNvPr id="278" name="Freeform 267"/>
            <p:cNvSpPr/>
            <p:nvPr/>
          </p:nvSpPr>
          <p:spPr bwMode="auto">
            <a:xfrm>
              <a:off x="5288" y="1354"/>
              <a:ext cx="263" cy="188"/>
            </a:xfrm>
            <a:custGeom>
              <a:avLst/>
              <a:gdLst>
                <a:gd name="T0" fmla="*/ 2 w 328"/>
                <a:gd name="T1" fmla="*/ 0 h 226"/>
                <a:gd name="T2" fmla="*/ 136 w 328"/>
                <a:gd name="T3" fmla="*/ 61 h 226"/>
                <a:gd name="T4" fmla="*/ 135 w 328"/>
                <a:gd name="T5" fmla="*/ 108 h 226"/>
                <a:gd name="T6" fmla="*/ 0 w 328"/>
                <a:gd name="T7" fmla="*/ 47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p:spPr>
          <p:txBody>
            <a:bodyPr/>
            <a:lstStyle/>
            <a:p>
              <a:endParaRPr lang="en-US" dirty="0"/>
            </a:p>
          </p:txBody>
        </p:sp>
        <p:grpSp>
          <p:nvGrpSpPr>
            <p:cNvPr id="279" name="Group 268"/>
            <p:cNvGrpSpPr/>
            <p:nvPr/>
          </p:nvGrpSpPr>
          <p:grpSpPr bwMode="auto">
            <a:xfrm>
              <a:off x="4739" y="1327"/>
              <a:ext cx="582" cy="139"/>
              <a:chOff x="614" y="2568"/>
              <a:chExt cx="725" cy="139"/>
            </a:xfrm>
          </p:grpSpPr>
          <p:sp>
            <p:nvSpPr>
              <p:cNvPr id="291" name="AutoShape 269"/>
              <p:cNvSpPr>
                <a:spLocks noChangeArrowheads="1"/>
              </p:cNvSpPr>
              <p:nvPr/>
            </p:nvSpPr>
            <p:spPr bwMode="auto">
              <a:xfrm>
                <a:off x="614" y="2570"/>
                <a:ext cx="726" cy="136"/>
              </a:xfrm>
              <a:prstGeom prst="roundRect">
                <a:avLst>
                  <a:gd name="adj" fmla="val 50000"/>
                </a:avLst>
              </a:prstGeom>
              <a:solidFill>
                <a:schemeClr val="tx1"/>
              </a:solidFill>
              <a:ln>
                <a:noFill/>
              </a:ln>
              <a:effectLst/>
            </p:spPr>
            <p:txBody>
              <a:bodyPr wrap="none" anchor="ctr"/>
              <a:lstStyle/>
              <a:p>
                <a:pPr>
                  <a:defRPr/>
                </a:pPr>
                <a:endParaRPr lang="en-US" dirty="0">
                  <a:cs typeface="Arial" panose="020B0604020202020204" pitchFamily="34" charset="0"/>
                </a:endParaRPr>
              </a:p>
            </p:txBody>
          </p:sp>
          <p:sp>
            <p:nvSpPr>
              <p:cNvPr id="292" name="AutoShape 270"/>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dirty="0">
                  <a:cs typeface="Arial" panose="020B0604020202020204" pitchFamily="34" charset="0"/>
                </a:endParaRPr>
              </a:p>
            </p:txBody>
          </p:sp>
        </p:grpSp>
        <p:sp>
          <p:nvSpPr>
            <p:cNvPr id="280" name="Rectangle 271"/>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defRPr/>
              </a:pPr>
              <a:endParaRPr lang="en-US" dirty="0">
                <a:cs typeface="Arial" panose="020B0604020202020204" pitchFamily="34" charset="0"/>
              </a:endParaRPr>
            </a:p>
          </p:txBody>
        </p:sp>
        <p:sp>
          <p:nvSpPr>
            <p:cNvPr id="281" name="Freeform 272"/>
            <p:cNvSpPr/>
            <p:nvPr/>
          </p:nvSpPr>
          <p:spPr bwMode="auto">
            <a:xfrm>
              <a:off x="5312" y="1007"/>
              <a:ext cx="237" cy="213"/>
            </a:xfrm>
            <a:custGeom>
              <a:avLst/>
              <a:gdLst>
                <a:gd name="T0" fmla="*/ 2 w 296"/>
                <a:gd name="T1" fmla="*/ 0 h 256"/>
                <a:gd name="T2" fmla="*/ 120 w 296"/>
                <a:gd name="T3" fmla="*/ 69 h 256"/>
                <a:gd name="T4" fmla="*/ 122 w 296"/>
                <a:gd name="T5" fmla="*/ 122 h 256"/>
                <a:gd name="T6" fmla="*/ 0 w 296"/>
                <a:gd name="T7" fmla="*/ 47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p:spPr>
          <p:txBody>
            <a:bodyPr/>
            <a:lstStyle/>
            <a:p>
              <a:endParaRPr lang="en-US" dirty="0"/>
            </a:p>
          </p:txBody>
        </p:sp>
        <p:sp>
          <p:nvSpPr>
            <p:cNvPr id="282" name="Freeform 273"/>
            <p:cNvSpPr/>
            <p:nvPr/>
          </p:nvSpPr>
          <p:spPr bwMode="auto">
            <a:xfrm>
              <a:off x="5315" y="680"/>
              <a:ext cx="244" cy="240"/>
            </a:xfrm>
            <a:custGeom>
              <a:avLst/>
              <a:gdLst>
                <a:gd name="T0" fmla="*/ 0 w 304"/>
                <a:gd name="T1" fmla="*/ 0 h 288"/>
                <a:gd name="T2" fmla="*/ 126 w 304"/>
                <a:gd name="T3" fmla="*/ 79 h 288"/>
                <a:gd name="T4" fmla="*/ 118 w 304"/>
                <a:gd name="T5" fmla="*/ 139 h 288"/>
                <a:gd name="T6" fmla="*/ 3 w 304"/>
                <a:gd name="T7" fmla="*/ 6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p:spPr>
          <p:txBody>
            <a:bodyPr/>
            <a:lstStyle/>
            <a:p>
              <a:endParaRPr lang="en-US" dirty="0"/>
            </a:p>
          </p:txBody>
        </p:sp>
        <p:sp>
          <p:nvSpPr>
            <p:cNvPr id="283" name="Oval 274"/>
            <p:cNvSpPr>
              <a:spLocks noChangeArrowheads="1"/>
            </p:cNvSpPr>
            <p:nvPr/>
          </p:nvSpPr>
          <p:spPr bwMode="auto">
            <a:xfrm>
              <a:off x="5517" y="2612"/>
              <a:ext cx="48" cy="97"/>
            </a:xfrm>
            <a:prstGeom prst="ellipse">
              <a:avLst/>
            </a:prstGeom>
            <a:solidFill>
              <a:srgbClr val="333333"/>
            </a:solidFill>
            <a:ln>
              <a:noFill/>
            </a:ln>
            <a:effectLst/>
          </p:spPr>
          <p:txBody>
            <a:bodyPr wrap="none" anchor="ctr"/>
            <a:lstStyle/>
            <a:p>
              <a:pPr>
                <a:defRPr/>
              </a:pPr>
              <a:endParaRPr lang="en-US" dirty="0">
                <a:cs typeface="Arial" panose="020B0604020202020204" pitchFamily="34" charset="0"/>
              </a:endParaRPr>
            </a:p>
          </p:txBody>
        </p:sp>
        <p:sp>
          <p:nvSpPr>
            <p:cNvPr id="284" name="Freeform 275"/>
            <p:cNvSpPr/>
            <p:nvPr/>
          </p:nvSpPr>
          <p:spPr bwMode="auto">
            <a:xfrm>
              <a:off x="5302" y="2614"/>
              <a:ext cx="245" cy="200"/>
            </a:xfrm>
            <a:custGeom>
              <a:avLst/>
              <a:gdLst>
                <a:gd name="T0" fmla="*/ 0 w 306"/>
                <a:gd name="T1" fmla="*/ 51 h 240"/>
                <a:gd name="T2" fmla="*/ 2 w 306"/>
                <a:gd name="T3" fmla="*/ 116 h 240"/>
                <a:gd name="T4" fmla="*/ 126 w 306"/>
                <a:gd name="T5" fmla="*/ 53 h 240"/>
                <a:gd name="T6" fmla="*/ 123 w 306"/>
                <a:gd name="T7" fmla="*/ 0 h 240"/>
                <a:gd name="T8" fmla="*/ 0 w 306"/>
                <a:gd name="T9" fmla="*/ 5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p:spPr>
          <p:txBody>
            <a:bodyPr/>
            <a:lstStyle/>
            <a:p>
              <a:endParaRPr lang="en-US" dirty="0"/>
            </a:p>
          </p:txBody>
        </p:sp>
        <p:sp>
          <p:nvSpPr>
            <p:cNvPr id="285" name="AutoShape 276"/>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ln>
            <a:effectLst/>
          </p:spPr>
          <p:txBody>
            <a:bodyPr wrap="none" anchor="ctr"/>
            <a:lstStyle/>
            <a:p>
              <a:pPr>
                <a:defRPr/>
              </a:pPr>
              <a:endParaRPr lang="en-US" dirty="0">
                <a:cs typeface="Arial" panose="020B0604020202020204" pitchFamily="34" charset="0"/>
              </a:endParaRPr>
            </a:p>
          </p:txBody>
        </p:sp>
        <p:sp>
          <p:nvSpPr>
            <p:cNvPr id="286" name="AutoShape 277"/>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defRPr/>
              </a:pPr>
              <a:endParaRPr lang="en-US" dirty="0">
                <a:cs typeface="Arial" panose="020B0604020202020204" pitchFamily="34" charset="0"/>
              </a:endParaRPr>
            </a:p>
          </p:txBody>
        </p:sp>
        <p:sp>
          <p:nvSpPr>
            <p:cNvPr id="287" name="Oval 278"/>
            <p:cNvSpPr>
              <a:spLocks noChangeArrowheads="1"/>
            </p:cNvSpPr>
            <p:nvPr/>
          </p:nvSpPr>
          <p:spPr bwMode="auto">
            <a:xfrm>
              <a:off x="4310" y="2380"/>
              <a:ext cx="159" cy="145"/>
            </a:xfrm>
            <a:prstGeom prst="ellipse">
              <a:avLst/>
            </a:prstGeom>
            <a:solidFill>
              <a:srgbClr val="33CC33"/>
            </a:solidFill>
            <a:ln>
              <a:noFill/>
            </a:ln>
            <a:effectLst/>
          </p:spPr>
          <p:txBody>
            <a:bodyPr wrap="none" anchor="ctr"/>
            <a:lstStyle/>
            <a:p>
              <a:pPr>
                <a:defRPr/>
              </a:pPr>
              <a:endParaRPr lang="en-US" dirty="0">
                <a:cs typeface="Arial" panose="020B0604020202020204" pitchFamily="34" charset="0"/>
              </a:endParaRPr>
            </a:p>
          </p:txBody>
        </p:sp>
        <p:sp>
          <p:nvSpPr>
            <p:cNvPr id="288" name="Oval 279"/>
            <p:cNvSpPr>
              <a:spLocks noChangeArrowheads="1"/>
            </p:cNvSpPr>
            <p:nvPr/>
          </p:nvSpPr>
          <p:spPr bwMode="auto">
            <a:xfrm>
              <a:off x="4484" y="2385"/>
              <a:ext cx="164" cy="140"/>
            </a:xfrm>
            <a:prstGeom prst="ellipse">
              <a:avLst/>
            </a:prstGeom>
            <a:solidFill>
              <a:srgbClr val="FF0000"/>
            </a:solidFill>
            <a:ln>
              <a:noFill/>
            </a:ln>
            <a:effectLst/>
          </p:spPr>
          <p:txBody>
            <a:bodyPr wrap="none" anchor="ctr"/>
            <a:lstStyle/>
            <a:p>
              <a:pPr algn="ctr">
                <a:defRPr/>
              </a:pPr>
              <a:endParaRPr lang="en-US" dirty="0">
                <a:solidFill>
                  <a:srgbClr val="FF0000"/>
                </a:solidFill>
                <a:cs typeface="Arial" panose="020B0604020202020204" pitchFamily="34" charset="0"/>
              </a:endParaRPr>
            </a:p>
          </p:txBody>
        </p:sp>
        <p:sp>
          <p:nvSpPr>
            <p:cNvPr id="289" name="Oval 280"/>
            <p:cNvSpPr>
              <a:spLocks noChangeArrowheads="1"/>
            </p:cNvSpPr>
            <p:nvPr/>
          </p:nvSpPr>
          <p:spPr bwMode="auto">
            <a:xfrm>
              <a:off x="4664" y="2380"/>
              <a:ext cx="154" cy="140"/>
            </a:xfrm>
            <a:prstGeom prst="ellipse">
              <a:avLst/>
            </a:prstGeom>
            <a:solidFill>
              <a:srgbClr val="33CC33"/>
            </a:solidFill>
            <a:ln>
              <a:noFill/>
            </a:ln>
            <a:effectLst/>
          </p:spPr>
          <p:txBody>
            <a:bodyPr wrap="none" anchor="ctr"/>
            <a:lstStyle/>
            <a:p>
              <a:pPr>
                <a:defRPr/>
              </a:pPr>
              <a:endParaRPr lang="en-US" dirty="0">
                <a:cs typeface="Arial" panose="020B0604020202020204" pitchFamily="34" charset="0"/>
              </a:endParaRPr>
            </a:p>
          </p:txBody>
        </p:sp>
        <p:sp>
          <p:nvSpPr>
            <p:cNvPr id="290" name="Rectangle 281"/>
            <p:cNvSpPr>
              <a:spLocks noChangeArrowheads="1"/>
            </p:cNvSpPr>
            <p:nvPr/>
          </p:nvSpPr>
          <p:spPr bwMode="auto">
            <a:xfrm>
              <a:off x="5062" y="1838"/>
              <a:ext cx="85" cy="760"/>
            </a:xfrm>
            <a:prstGeom prst="rect">
              <a:avLst/>
            </a:prstGeom>
            <a:solidFill>
              <a:srgbClr val="292929"/>
            </a:solidFill>
            <a:ln w="9525">
              <a:solidFill>
                <a:schemeClr val="tx1"/>
              </a:solidFill>
              <a:miter lim="800000"/>
            </a:ln>
            <a:effectLst/>
          </p:spPr>
          <p:txBody>
            <a:bodyPr wrap="none" anchor="ctr"/>
            <a:lstStyle/>
            <a:p>
              <a:pPr>
                <a:defRPr/>
              </a:pPr>
              <a:endParaRPr lang="en-US" dirty="0">
                <a:cs typeface="Arial" panose="020B0604020202020204" pitchFamily="34" charset="0"/>
              </a:endParaRPr>
            </a:p>
          </p:txBody>
        </p:sp>
      </p:grpSp>
      <p:grpSp>
        <p:nvGrpSpPr>
          <p:cNvPr id="299" name="Group 134"/>
          <p:cNvGrpSpPr/>
          <p:nvPr/>
        </p:nvGrpSpPr>
        <p:grpSpPr bwMode="auto">
          <a:xfrm>
            <a:off x="3344834" y="4644451"/>
            <a:ext cx="1281113" cy="363537"/>
            <a:chOff x="3621" y="3265"/>
            <a:chExt cx="1776" cy="744"/>
          </a:xfrm>
        </p:grpSpPr>
        <p:pic>
          <p:nvPicPr>
            <p:cNvPr id="300" name="Picture 135" descr="reellogo"/>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p:spPr>
        </p:pic>
        <p:sp>
          <p:nvSpPr>
            <p:cNvPr id="301" name="Freeform 136"/>
            <p:cNvSpPr/>
            <p:nvPr/>
          </p:nvSpPr>
          <p:spPr bwMode="auto">
            <a:xfrm>
              <a:off x="3971" y="3288"/>
              <a:ext cx="1402" cy="439"/>
            </a:xfrm>
            <a:custGeom>
              <a:avLst/>
              <a:gdLst>
                <a:gd name="T0" fmla="*/ 0 w 1401"/>
                <a:gd name="T1" fmla="*/ 6 h 438"/>
                <a:gd name="T2" fmla="*/ 27 w 1401"/>
                <a:gd name="T3" fmla="*/ 384 h 438"/>
                <a:gd name="T4" fmla="*/ 114 w 1401"/>
                <a:gd name="T5" fmla="*/ 381 h 438"/>
                <a:gd name="T6" fmla="*/ 132 w 1401"/>
                <a:gd name="T7" fmla="*/ 357 h 438"/>
                <a:gd name="T8" fmla="*/ 210 w 1401"/>
                <a:gd name="T9" fmla="*/ 402 h 438"/>
                <a:gd name="T10" fmla="*/ 450 w 1401"/>
                <a:gd name="T11" fmla="*/ 384 h 438"/>
                <a:gd name="T12" fmla="*/ 486 w 1401"/>
                <a:gd name="T13" fmla="*/ 393 h 438"/>
                <a:gd name="T14" fmla="*/ 690 w 1401"/>
                <a:gd name="T15" fmla="*/ 417 h 438"/>
                <a:gd name="T16" fmla="*/ 1074 w 1401"/>
                <a:gd name="T17" fmla="*/ 438 h 438"/>
                <a:gd name="T18" fmla="*/ 1401 w 1401"/>
                <a:gd name="T19" fmla="*/ 420 h 438"/>
                <a:gd name="T20" fmla="*/ 1392 w 1401"/>
                <a:gd name="T21" fmla="*/ 165 h 438"/>
                <a:gd name="T22" fmla="*/ 291 w 1401"/>
                <a:gd name="T23" fmla="*/ 0 h 438"/>
                <a:gd name="T24" fmla="*/ 0 w 1401"/>
                <a:gd name="T25" fmla="*/ 6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ln>
            <a:effectLst/>
          </p:spPr>
          <p:txBody>
            <a:bodyPr wrap="none" anchor="ctr"/>
            <a:lstStyle/>
            <a:p>
              <a:pPr>
                <a:defRPr/>
              </a:pPr>
              <a:endParaRPr lang="en-US" dirty="0">
                <a:latin typeface="Arial" panose="020B0604020202020204"/>
                <a:cs typeface="Arial" panose="020B0604020202020204"/>
              </a:endParaRPr>
            </a:p>
          </p:txBody>
        </p:sp>
        <p:sp>
          <p:nvSpPr>
            <p:cNvPr id="302" name="Freeform 137"/>
            <p:cNvSpPr/>
            <p:nvPr/>
          </p:nvSpPr>
          <p:spPr bwMode="auto">
            <a:xfrm>
              <a:off x="4242" y="3860"/>
              <a:ext cx="999" cy="120"/>
            </a:xfrm>
            <a:custGeom>
              <a:avLst/>
              <a:gdLst>
                <a:gd name="T0" fmla="*/ 0 w 999"/>
                <a:gd name="T1" fmla="*/ 6 h 123"/>
                <a:gd name="T2" fmla="*/ 717 w 999"/>
                <a:gd name="T3" fmla="*/ 12 h 123"/>
                <a:gd name="T4" fmla="*/ 744 w 999"/>
                <a:gd name="T5" fmla="*/ 36 h 123"/>
                <a:gd name="T6" fmla="*/ 801 w 999"/>
                <a:gd name="T7" fmla="*/ 42 h 123"/>
                <a:gd name="T8" fmla="*/ 876 w 999"/>
                <a:gd name="T9" fmla="*/ 6 h 123"/>
                <a:gd name="T10" fmla="*/ 933 w 999"/>
                <a:gd name="T11" fmla="*/ 0 h 123"/>
                <a:gd name="T12" fmla="*/ 981 w 999"/>
                <a:gd name="T13" fmla="*/ 15 h 123"/>
                <a:gd name="T14" fmla="*/ 999 w 999"/>
                <a:gd name="T15" fmla="*/ 51 h 123"/>
                <a:gd name="T16" fmla="*/ 987 w 999"/>
                <a:gd name="T17" fmla="*/ 123 h 123"/>
                <a:gd name="T18" fmla="*/ 18 w 999"/>
                <a:gd name="T19" fmla="*/ 120 h 123"/>
                <a:gd name="T20" fmla="*/ 0 w 999"/>
                <a:gd name="T21" fmla="*/ 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ln>
            <a:effectLst/>
          </p:spPr>
          <p:txBody>
            <a:bodyPr wrap="none" anchor="ctr"/>
            <a:lstStyle/>
            <a:p>
              <a:pPr>
                <a:defRPr/>
              </a:pPr>
              <a:endParaRPr lang="en-US" dirty="0">
                <a:latin typeface="Arial" panose="020B0604020202020204"/>
                <a:cs typeface="Arial" panose="020B0604020202020204"/>
              </a:endParaRPr>
            </a:p>
          </p:txBody>
        </p:sp>
        <p:pic>
          <p:nvPicPr>
            <p:cNvPr id="303" name="Picture 138" descr="video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p:spPr>
        </p:pic>
      </p:grpSp>
      <p:sp>
        <p:nvSpPr>
          <p:cNvPr id="304" name="Line 168"/>
          <p:cNvSpPr>
            <a:spLocks noChangeShapeType="1"/>
          </p:cNvSpPr>
          <p:nvPr/>
        </p:nvSpPr>
        <p:spPr bwMode="auto">
          <a:xfrm>
            <a:off x="1379509" y="1574226"/>
            <a:ext cx="0" cy="2852737"/>
          </a:xfrm>
          <a:prstGeom prst="line">
            <a:avLst/>
          </a:prstGeom>
          <a:noFill/>
          <a:ln w="28575">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grpSp>
        <p:nvGrpSpPr>
          <p:cNvPr id="305" name="Group 357"/>
          <p:cNvGrpSpPr/>
          <p:nvPr/>
        </p:nvGrpSpPr>
        <p:grpSpPr bwMode="auto">
          <a:xfrm>
            <a:off x="2039909" y="3550665"/>
            <a:ext cx="1662113" cy="1489076"/>
            <a:chOff x="944" y="2184"/>
            <a:chExt cx="1047" cy="938"/>
          </a:xfrm>
        </p:grpSpPr>
        <p:sp>
          <p:nvSpPr>
            <p:cNvPr id="306" name="Freeform 207"/>
            <p:cNvSpPr/>
            <p:nvPr/>
          </p:nvSpPr>
          <p:spPr bwMode="auto">
            <a:xfrm>
              <a:off x="1278" y="2184"/>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chemeClr val="tx1"/>
              </a:solidFill>
              <a:prstDash val="solid"/>
              <a:round/>
              <a:headEnd type="none" w="med" len="med"/>
              <a:tailEnd type="triangle" w="med" len="med"/>
            </a:ln>
            <a:effectLst/>
          </p:spPr>
          <p:txBody>
            <a:bodyPr wrap="none" anchor="ctr"/>
            <a:lstStyle/>
            <a:p>
              <a:pPr>
                <a:defRPr/>
              </a:pPr>
              <a:endParaRPr lang="en-US" dirty="0">
                <a:latin typeface="Arial" panose="020B0604020202020204"/>
                <a:cs typeface="Arial" panose="020B0604020202020204"/>
              </a:endParaRPr>
            </a:p>
          </p:txBody>
        </p:sp>
        <p:sp>
          <p:nvSpPr>
            <p:cNvPr id="307" name="Text Box 208"/>
            <p:cNvSpPr txBox="1">
              <a:spLocks noChangeArrowheads="1"/>
            </p:cNvSpPr>
            <p:nvPr/>
          </p:nvSpPr>
          <p:spPr bwMode="auto">
            <a:xfrm>
              <a:off x="944" y="2366"/>
              <a:ext cx="1047" cy="756"/>
            </a:xfrm>
            <a:prstGeom prst="rect">
              <a:avLst/>
            </a:prstGeom>
            <a:noFill/>
            <a:ln>
              <a:noFill/>
            </a:ln>
            <a:effectLst/>
          </p:spPr>
          <p:txBody>
            <a:bodyPr>
              <a:spAutoFit/>
            </a:bodyPr>
            <a:lstStyle/>
            <a:p>
              <a:pPr marL="342900" indent="-342900">
                <a:lnSpc>
                  <a:spcPct val="90000"/>
                </a:lnSpc>
                <a:buFontTx/>
                <a:buAutoNum type="arabicPeriod"/>
                <a:defRPr/>
              </a:pPr>
              <a:r>
                <a:rPr lang="en-US" sz="2000" dirty="0">
                  <a:cs typeface="Arial" panose="020B0604020202020204"/>
                </a:rPr>
                <a:t>video</a:t>
              </a:r>
              <a:endParaRPr lang="en-US" sz="2000" dirty="0">
                <a:cs typeface="Arial" panose="020B0604020202020204"/>
              </a:endParaRPr>
            </a:p>
            <a:p>
              <a:pPr>
                <a:lnSpc>
                  <a:spcPct val="90000"/>
                </a:lnSpc>
                <a:defRPr/>
              </a:pPr>
              <a:r>
                <a:rPr lang="en-US" sz="2000" dirty="0">
                  <a:cs typeface="Arial" panose="020B0604020202020204"/>
                </a:rPr>
                <a:t>recorded (e.g., 30 frames/sec)</a:t>
              </a:r>
              <a:endParaRPr lang="en-US" sz="2000" dirty="0">
                <a:cs typeface="Arial" panose="020B0604020202020204"/>
              </a:endParaRPr>
            </a:p>
          </p:txBody>
        </p:sp>
      </p:grpSp>
      <p:grpSp>
        <p:nvGrpSpPr>
          <p:cNvPr id="308" name="Group 262"/>
          <p:cNvGrpSpPr/>
          <p:nvPr/>
        </p:nvGrpSpPr>
        <p:grpSpPr bwMode="auto">
          <a:xfrm>
            <a:off x="1570009" y="1894901"/>
            <a:ext cx="2552700" cy="2525712"/>
            <a:chOff x="648" y="1147"/>
            <a:chExt cx="1608" cy="1591"/>
          </a:xfrm>
        </p:grpSpPr>
        <p:grpSp>
          <p:nvGrpSpPr>
            <p:cNvPr id="309" name="Group 206"/>
            <p:cNvGrpSpPr/>
            <p:nvPr/>
          </p:nvGrpSpPr>
          <p:grpSpPr bwMode="auto">
            <a:xfrm>
              <a:off x="648" y="1725"/>
              <a:ext cx="1024" cy="1013"/>
              <a:chOff x="672" y="1071"/>
              <a:chExt cx="1024" cy="1013"/>
            </a:xfrm>
          </p:grpSpPr>
          <p:grpSp>
            <p:nvGrpSpPr>
              <p:cNvPr id="325" name="Group 189"/>
              <p:cNvGrpSpPr/>
              <p:nvPr/>
            </p:nvGrpSpPr>
            <p:grpSpPr bwMode="auto">
              <a:xfrm>
                <a:off x="672" y="1506"/>
                <a:ext cx="583" cy="578"/>
                <a:chOff x="672" y="1486"/>
                <a:chExt cx="583" cy="578"/>
              </a:xfrm>
            </p:grpSpPr>
            <p:grpSp>
              <p:nvGrpSpPr>
                <p:cNvPr id="336" name="Group 181"/>
                <p:cNvGrpSpPr/>
                <p:nvPr/>
              </p:nvGrpSpPr>
              <p:grpSpPr bwMode="auto">
                <a:xfrm>
                  <a:off x="672" y="1776"/>
                  <a:ext cx="291" cy="288"/>
                  <a:chOff x="672" y="1776"/>
                  <a:chExt cx="291" cy="288"/>
                </a:xfrm>
              </p:grpSpPr>
              <p:grpSp>
                <p:nvGrpSpPr>
                  <p:cNvPr id="344" name="Group 177"/>
                  <p:cNvGrpSpPr/>
                  <p:nvPr/>
                </p:nvGrpSpPr>
                <p:grpSpPr bwMode="auto">
                  <a:xfrm>
                    <a:off x="672" y="1920"/>
                    <a:ext cx="145" cy="144"/>
                    <a:chOff x="672" y="1920"/>
                    <a:chExt cx="145" cy="144"/>
                  </a:xfrm>
                </p:grpSpPr>
                <p:sp>
                  <p:nvSpPr>
                    <p:cNvPr id="348" name="Line 173"/>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sp>
                  <p:nvSpPr>
                    <p:cNvPr id="349" name="Line 176"/>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345" name="Group 178"/>
                  <p:cNvGrpSpPr/>
                  <p:nvPr/>
                </p:nvGrpSpPr>
                <p:grpSpPr bwMode="auto">
                  <a:xfrm>
                    <a:off x="818" y="1776"/>
                    <a:ext cx="145" cy="144"/>
                    <a:chOff x="672" y="1920"/>
                    <a:chExt cx="145" cy="144"/>
                  </a:xfrm>
                </p:grpSpPr>
                <p:sp>
                  <p:nvSpPr>
                    <p:cNvPr id="346" name="Line 179"/>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sp>
                  <p:nvSpPr>
                    <p:cNvPr id="347" name="Line 180"/>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grpSp>
            </p:grpSp>
            <p:grpSp>
              <p:nvGrpSpPr>
                <p:cNvPr id="337" name="Group 182"/>
                <p:cNvGrpSpPr/>
                <p:nvPr/>
              </p:nvGrpSpPr>
              <p:grpSpPr bwMode="auto">
                <a:xfrm>
                  <a:off x="964" y="1486"/>
                  <a:ext cx="291" cy="288"/>
                  <a:chOff x="672" y="1776"/>
                  <a:chExt cx="291" cy="288"/>
                </a:xfrm>
              </p:grpSpPr>
              <p:grpSp>
                <p:nvGrpSpPr>
                  <p:cNvPr id="338" name="Group 183"/>
                  <p:cNvGrpSpPr/>
                  <p:nvPr/>
                </p:nvGrpSpPr>
                <p:grpSpPr bwMode="auto">
                  <a:xfrm>
                    <a:off x="672" y="1920"/>
                    <a:ext cx="145" cy="144"/>
                    <a:chOff x="672" y="1920"/>
                    <a:chExt cx="145" cy="144"/>
                  </a:xfrm>
                </p:grpSpPr>
                <p:sp>
                  <p:nvSpPr>
                    <p:cNvPr id="342" name="Line 184"/>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sp>
                  <p:nvSpPr>
                    <p:cNvPr id="343" name="Line 185"/>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339" name="Group 186"/>
                  <p:cNvGrpSpPr/>
                  <p:nvPr/>
                </p:nvGrpSpPr>
                <p:grpSpPr bwMode="auto">
                  <a:xfrm>
                    <a:off x="818" y="1776"/>
                    <a:ext cx="145" cy="144"/>
                    <a:chOff x="672" y="1920"/>
                    <a:chExt cx="145" cy="144"/>
                  </a:xfrm>
                </p:grpSpPr>
                <p:sp>
                  <p:nvSpPr>
                    <p:cNvPr id="340" name="Line 187"/>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sp>
                  <p:nvSpPr>
                    <p:cNvPr id="341" name="Line 188"/>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grpSp>
            </p:grpSp>
          </p:grpSp>
          <p:grpSp>
            <p:nvGrpSpPr>
              <p:cNvPr id="326" name="Group 191"/>
              <p:cNvGrpSpPr/>
              <p:nvPr/>
            </p:nvGrpSpPr>
            <p:grpSpPr bwMode="auto">
              <a:xfrm>
                <a:off x="1259" y="1217"/>
                <a:ext cx="291" cy="288"/>
                <a:chOff x="672" y="1776"/>
                <a:chExt cx="291" cy="288"/>
              </a:xfrm>
            </p:grpSpPr>
            <p:grpSp>
              <p:nvGrpSpPr>
                <p:cNvPr id="330" name="Group 192"/>
                <p:cNvGrpSpPr/>
                <p:nvPr/>
              </p:nvGrpSpPr>
              <p:grpSpPr bwMode="auto">
                <a:xfrm>
                  <a:off x="672" y="1920"/>
                  <a:ext cx="145" cy="144"/>
                  <a:chOff x="672" y="1920"/>
                  <a:chExt cx="145" cy="144"/>
                </a:xfrm>
              </p:grpSpPr>
              <p:sp>
                <p:nvSpPr>
                  <p:cNvPr id="334" name="Line 193"/>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sp>
                <p:nvSpPr>
                  <p:cNvPr id="335" name="Line 194"/>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331" name="Group 195"/>
                <p:cNvGrpSpPr/>
                <p:nvPr/>
              </p:nvGrpSpPr>
              <p:grpSpPr bwMode="auto">
                <a:xfrm>
                  <a:off x="818" y="1776"/>
                  <a:ext cx="145" cy="144"/>
                  <a:chOff x="672" y="1920"/>
                  <a:chExt cx="145" cy="144"/>
                </a:xfrm>
              </p:grpSpPr>
              <p:sp>
                <p:nvSpPr>
                  <p:cNvPr id="332" name="Line 196"/>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sp>
                <p:nvSpPr>
                  <p:cNvPr id="333" name="Line 197"/>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grpSp>
          </p:grpSp>
          <p:grpSp>
            <p:nvGrpSpPr>
              <p:cNvPr id="327" name="Group 199"/>
              <p:cNvGrpSpPr/>
              <p:nvPr/>
            </p:nvGrpSpPr>
            <p:grpSpPr bwMode="auto">
              <a:xfrm>
                <a:off x="1551" y="1071"/>
                <a:ext cx="145" cy="144"/>
                <a:chOff x="672" y="1920"/>
                <a:chExt cx="145" cy="144"/>
              </a:xfrm>
            </p:grpSpPr>
            <p:sp>
              <p:nvSpPr>
                <p:cNvPr id="328" name="Line 200"/>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sp>
              <p:nvSpPr>
                <p:cNvPr id="329" name="Line 201"/>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grpSp>
        </p:grpSp>
        <p:grpSp>
          <p:nvGrpSpPr>
            <p:cNvPr id="310" name="Group 237"/>
            <p:cNvGrpSpPr/>
            <p:nvPr/>
          </p:nvGrpSpPr>
          <p:grpSpPr bwMode="auto">
            <a:xfrm>
              <a:off x="1673" y="1147"/>
              <a:ext cx="583" cy="578"/>
              <a:chOff x="672" y="1486"/>
              <a:chExt cx="583" cy="578"/>
            </a:xfrm>
          </p:grpSpPr>
          <p:grpSp>
            <p:nvGrpSpPr>
              <p:cNvPr id="311" name="Group 238"/>
              <p:cNvGrpSpPr/>
              <p:nvPr/>
            </p:nvGrpSpPr>
            <p:grpSpPr bwMode="auto">
              <a:xfrm>
                <a:off x="672" y="1776"/>
                <a:ext cx="291" cy="288"/>
                <a:chOff x="672" y="1776"/>
                <a:chExt cx="291" cy="288"/>
              </a:xfrm>
            </p:grpSpPr>
            <p:grpSp>
              <p:nvGrpSpPr>
                <p:cNvPr id="319" name="Group 239"/>
                <p:cNvGrpSpPr/>
                <p:nvPr/>
              </p:nvGrpSpPr>
              <p:grpSpPr bwMode="auto">
                <a:xfrm>
                  <a:off x="672" y="1920"/>
                  <a:ext cx="145" cy="144"/>
                  <a:chOff x="672" y="1920"/>
                  <a:chExt cx="145" cy="144"/>
                </a:xfrm>
              </p:grpSpPr>
              <p:sp>
                <p:nvSpPr>
                  <p:cNvPr id="323" name="Line 240"/>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sp>
                <p:nvSpPr>
                  <p:cNvPr id="324" name="Line 241"/>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320" name="Group 242"/>
                <p:cNvGrpSpPr/>
                <p:nvPr/>
              </p:nvGrpSpPr>
              <p:grpSpPr bwMode="auto">
                <a:xfrm>
                  <a:off x="818" y="1776"/>
                  <a:ext cx="145" cy="144"/>
                  <a:chOff x="672" y="1920"/>
                  <a:chExt cx="145" cy="144"/>
                </a:xfrm>
              </p:grpSpPr>
              <p:sp>
                <p:nvSpPr>
                  <p:cNvPr id="321" name="Line 243"/>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sp>
                <p:nvSpPr>
                  <p:cNvPr id="322" name="Line 244"/>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grpSp>
          </p:grpSp>
          <p:grpSp>
            <p:nvGrpSpPr>
              <p:cNvPr id="312" name="Group 245"/>
              <p:cNvGrpSpPr/>
              <p:nvPr/>
            </p:nvGrpSpPr>
            <p:grpSpPr bwMode="auto">
              <a:xfrm>
                <a:off x="964" y="1486"/>
                <a:ext cx="291" cy="288"/>
                <a:chOff x="672" y="1776"/>
                <a:chExt cx="291" cy="288"/>
              </a:xfrm>
            </p:grpSpPr>
            <p:grpSp>
              <p:nvGrpSpPr>
                <p:cNvPr id="313" name="Group 246"/>
                <p:cNvGrpSpPr/>
                <p:nvPr/>
              </p:nvGrpSpPr>
              <p:grpSpPr bwMode="auto">
                <a:xfrm>
                  <a:off x="672" y="1920"/>
                  <a:ext cx="145" cy="144"/>
                  <a:chOff x="672" y="1920"/>
                  <a:chExt cx="145" cy="144"/>
                </a:xfrm>
              </p:grpSpPr>
              <p:sp>
                <p:nvSpPr>
                  <p:cNvPr id="317" name="Line 247"/>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sp>
                <p:nvSpPr>
                  <p:cNvPr id="318" name="Line 248"/>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314" name="Group 249"/>
                <p:cNvGrpSpPr/>
                <p:nvPr/>
              </p:nvGrpSpPr>
              <p:grpSpPr bwMode="auto">
                <a:xfrm>
                  <a:off x="818" y="1776"/>
                  <a:ext cx="145" cy="144"/>
                  <a:chOff x="672" y="1920"/>
                  <a:chExt cx="145" cy="144"/>
                </a:xfrm>
              </p:grpSpPr>
              <p:sp>
                <p:nvSpPr>
                  <p:cNvPr id="315" name="Line 250"/>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sp>
                <p:nvSpPr>
                  <p:cNvPr id="316" name="Line 251"/>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defRPr/>
                    </a:pPr>
                    <a:endParaRPr lang="en-US" dirty="0">
                      <a:latin typeface="Arial" panose="020B0604020202020204"/>
                      <a:cs typeface="Arial" panose="020B0604020202020204"/>
                    </a:endParaRPr>
                  </a:p>
                </p:txBody>
              </p:sp>
            </p:grpSp>
          </p:grpSp>
        </p:grpSp>
      </p:grpSp>
      <p:grpSp>
        <p:nvGrpSpPr>
          <p:cNvPr id="350" name="Group 358"/>
          <p:cNvGrpSpPr/>
          <p:nvPr/>
        </p:nvGrpSpPr>
        <p:grpSpPr bwMode="auto">
          <a:xfrm>
            <a:off x="3706784" y="3325238"/>
            <a:ext cx="1373188" cy="1296988"/>
            <a:chOff x="1994" y="2042"/>
            <a:chExt cx="865" cy="817"/>
          </a:xfrm>
        </p:grpSpPr>
        <p:sp>
          <p:nvSpPr>
            <p:cNvPr id="351" name="Freeform 209"/>
            <p:cNvSpPr/>
            <p:nvPr/>
          </p:nvSpPr>
          <p:spPr bwMode="auto">
            <a:xfrm rot="-5400000">
              <a:off x="2196" y="2196"/>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rgbClr val="CC0000"/>
              </a:solidFill>
              <a:prstDash val="solid"/>
              <a:round/>
              <a:headEnd type="none" w="med" len="med"/>
              <a:tailEnd type="triangle" w="med" len="med"/>
            </a:ln>
            <a:effectLst/>
          </p:spPr>
          <p:txBody>
            <a:bodyPr wrap="none" anchor="ctr"/>
            <a:lstStyle/>
            <a:p>
              <a:pPr>
                <a:defRPr/>
              </a:pPr>
              <a:endParaRPr lang="en-US" dirty="0">
                <a:latin typeface="Arial" panose="020B0604020202020204"/>
                <a:cs typeface="Arial" panose="020B0604020202020204"/>
              </a:endParaRPr>
            </a:p>
          </p:txBody>
        </p:sp>
        <p:sp>
          <p:nvSpPr>
            <p:cNvPr id="352" name="Text Box 305"/>
            <p:cNvSpPr txBox="1">
              <a:spLocks noChangeArrowheads="1"/>
            </p:cNvSpPr>
            <p:nvPr/>
          </p:nvSpPr>
          <p:spPr bwMode="auto">
            <a:xfrm>
              <a:off x="1994" y="2042"/>
              <a:ext cx="638" cy="446"/>
            </a:xfrm>
            <a:prstGeom prst="rect">
              <a:avLst/>
            </a:prstGeom>
            <a:noFill/>
            <a:ln>
              <a:noFill/>
            </a:ln>
            <a:effectLst/>
          </p:spPr>
          <p:txBody>
            <a:bodyPr wrap="none">
              <a:spAutoFit/>
            </a:bodyPr>
            <a:lstStyle/>
            <a:p>
              <a:pPr>
                <a:defRPr/>
              </a:pPr>
              <a:r>
                <a:rPr lang="en-US" sz="2000" b="1" dirty="0">
                  <a:solidFill>
                    <a:srgbClr val="CC0000"/>
                  </a:solidFill>
                  <a:cs typeface="Arial" panose="020B0604020202020204"/>
                </a:rPr>
                <a:t>2. </a:t>
              </a:r>
              <a:r>
                <a:rPr lang="en-US" sz="2000" dirty="0">
                  <a:solidFill>
                    <a:srgbClr val="CC0000"/>
                  </a:solidFill>
                  <a:cs typeface="Arial" panose="020B0604020202020204"/>
                </a:rPr>
                <a:t>video</a:t>
              </a:r>
              <a:endParaRPr lang="en-US" sz="2000" dirty="0">
                <a:solidFill>
                  <a:srgbClr val="CC0000"/>
                </a:solidFill>
                <a:cs typeface="Arial" panose="020B0604020202020204"/>
              </a:endParaRPr>
            </a:p>
            <a:p>
              <a:pPr>
                <a:defRPr/>
              </a:pPr>
              <a:r>
                <a:rPr lang="en-US" sz="2000" dirty="0">
                  <a:solidFill>
                    <a:srgbClr val="CC0000"/>
                  </a:solidFill>
                  <a:cs typeface="Arial" panose="020B0604020202020204"/>
                </a:rPr>
                <a:t>sent</a:t>
              </a:r>
              <a:endParaRPr lang="en-US" sz="2000" dirty="0">
                <a:solidFill>
                  <a:srgbClr val="CC0000"/>
                </a:solidFill>
                <a:cs typeface="Arial" panose="020B0604020202020204"/>
              </a:endParaRPr>
            </a:p>
          </p:txBody>
        </p:sp>
      </p:grpSp>
      <p:sp>
        <p:nvSpPr>
          <p:cNvPr id="353" name="Text Box 354"/>
          <p:cNvSpPr txBox="1">
            <a:spLocks noChangeArrowheads="1"/>
          </p:cNvSpPr>
          <p:nvPr/>
        </p:nvSpPr>
        <p:spPr bwMode="auto">
          <a:xfrm rot="-5433387">
            <a:off x="128559" y="2721989"/>
            <a:ext cx="1957387" cy="366712"/>
          </a:xfrm>
          <a:prstGeom prst="rect">
            <a:avLst/>
          </a:prstGeom>
          <a:noFill/>
          <a:ln>
            <a:noFill/>
          </a:ln>
          <a:effectLst/>
        </p:spPr>
        <p:txBody>
          <a:bodyPr>
            <a:spAutoFit/>
          </a:bodyPr>
          <a:lstStyle/>
          <a:p>
            <a:pPr>
              <a:defRPr/>
            </a:pPr>
            <a:r>
              <a:rPr lang="en-US" i="0" dirty="0">
                <a:latin typeface="Arial" panose="020B0604020202020204"/>
                <a:cs typeface="Arial" panose="020B0604020202020204"/>
              </a:rPr>
              <a:t>Cumulative data</a:t>
            </a:r>
            <a:endParaRPr lang="en-US" i="0" dirty="0">
              <a:latin typeface="Arial" panose="020B0604020202020204"/>
              <a:cs typeface="Arial" panose="020B0604020202020204"/>
            </a:endParaRPr>
          </a:p>
        </p:txBody>
      </p:sp>
      <p:grpSp>
        <p:nvGrpSpPr>
          <p:cNvPr id="354" name="Group 365"/>
          <p:cNvGrpSpPr/>
          <p:nvPr/>
        </p:nvGrpSpPr>
        <p:grpSpPr bwMode="auto">
          <a:xfrm>
            <a:off x="4992659" y="1934588"/>
            <a:ext cx="5768976" cy="4508501"/>
            <a:chOff x="2804" y="1044"/>
            <a:chExt cx="3634" cy="2840"/>
          </a:xfrm>
        </p:grpSpPr>
        <p:sp>
          <p:nvSpPr>
            <p:cNvPr id="355" name="Line 360"/>
            <p:cNvSpPr>
              <a:spLocks noChangeShapeType="1"/>
            </p:cNvSpPr>
            <p:nvPr/>
          </p:nvSpPr>
          <p:spPr bwMode="auto">
            <a:xfrm>
              <a:off x="3852" y="1044"/>
              <a:ext cx="0" cy="2150"/>
            </a:xfrm>
            <a:prstGeom prst="line">
              <a:avLst/>
            </a:prstGeom>
            <a:noFill/>
            <a:ln w="19050">
              <a:solidFill>
                <a:schemeClr val="tx1"/>
              </a:solidFill>
              <a:prstDash val="sysDot"/>
              <a:round/>
            </a:ln>
            <a:effectLst/>
          </p:spPr>
          <p:txBody>
            <a:bodyPr wrap="none" anchor="ctr"/>
            <a:lstStyle/>
            <a:p>
              <a:pPr>
                <a:defRPr/>
              </a:pPr>
              <a:endParaRPr lang="en-US" dirty="0">
                <a:latin typeface="Arial" panose="020B0604020202020204"/>
                <a:cs typeface="Arial" panose="020B0604020202020204"/>
              </a:endParaRPr>
            </a:p>
          </p:txBody>
        </p:sp>
        <p:sp>
          <p:nvSpPr>
            <p:cNvPr id="356" name="Text Box 361"/>
            <p:cNvSpPr txBox="1">
              <a:spLocks noChangeArrowheads="1"/>
            </p:cNvSpPr>
            <p:nvPr/>
          </p:nvSpPr>
          <p:spPr bwMode="auto">
            <a:xfrm>
              <a:off x="2804" y="3198"/>
              <a:ext cx="3634" cy="686"/>
            </a:xfrm>
            <a:prstGeom prst="rect">
              <a:avLst/>
            </a:prstGeom>
            <a:noFill/>
            <a:ln w="19050">
              <a:solidFill>
                <a:schemeClr val="tx1"/>
              </a:solidFill>
              <a:prstDash val="sysDot"/>
              <a:miter lim="800000"/>
            </a:ln>
            <a:effectLst/>
          </p:spPr>
          <p:txBody>
            <a:bodyPr wrap="square">
              <a:spAutoFit/>
            </a:bodyPr>
            <a:lstStyle/>
            <a:p>
              <a:pPr>
                <a:lnSpc>
                  <a:spcPct val="90000"/>
                </a:lnSpc>
                <a:defRPr/>
              </a:pPr>
              <a:r>
                <a:rPr lang="en-US" sz="2400" dirty="0">
                  <a:solidFill>
                    <a:srgbClr val="CC0000"/>
                  </a:solidFill>
                  <a:cs typeface="Arial" panose="020B0604020202020204"/>
                </a:rPr>
                <a:t>streaming</a:t>
              </a:r>
              <a:r>
                <a:rPr lang="en-US" sz="2400" dirty="0">
                  <a:cs typeface="Arial" panose="020B0604020202020204"/>
                </a:rPr>
                <a:t>: </a:t>
              </a:r>
              <a:r>
                <a:rPr lang="en-US" sz="2400" i="0" dirty="0">
                  <a:cs typeface="Arial" panose="020B0604020202020204"/>
                </a:rPr>
                <a:t>at this time, client  playing out early part of video, while server still sending later part of video</a:t>
              </a:r>
              <a:endParaRPr lang="en-US" sz="2400" i="0" dirty="0">
                <a:cs typeface="Arial" panose="020B0604020202020204"/>
              </a:endParaRPr>
            </a:p>
          </p:txBody>
        </p:sp>
      </p:grpSp>
      <p:grpSp>
        <p:nvGrpSpPr>
          <p:cNvPr id="357" name="Group 364"/>
          <p:cNvGrpSpPr/>
          <p:nvPr/>
        </p:nvGrpSpPr>
        <p:grpSpPr bwMode="auto">
          <a:xfrm>
            <a:off x="4444972" y="4466654"/>
            <a:ext cx="1903413" cy="839788"/>
            <a:chOff x="2459" y="2718"/>
            <a:chExt cx="1199" cy="529"/>
          </a:xfrm>
        </p:grpSpPr>
        <p:sp>
          <p:nvSpPr>
            <p:cNvPr id="358" name="Text Box 362"/>
            <p:cNvSpPr txBox="1">
              <a:spLocks noChangeArrowheads="1"/>
            </p:cNvSpPr>
            <p:nvPr/>
          </p:nvSpPr>
          <p:spPr bwMode="auto">
            <a:xfrm>
              <a:off x="2564" y="2718"/>
              <a:ext cx="1018" cy="529"/>
            </a:xfrm>
            <a:prstGeom prst="rect">
              <a:avLst/>
            </a:prstGeom>
            <a:solidFill>
              <a:schemeClr val="bg1"/>
            </a:solidFill>
            <a:ln>
              <a:noFill/>
            </a:ln>
            <a:effectLst/>
          </p:spPr>
          <p:txBody>
            <a:bodyPr wrap="square">
              <a:spAutoFit/>
            </a:bodyPr>
            <a:lstStyle/>
            <a:p>
              <a:pPr algn="ctr">
                <a:lnSpc>
                  <a:spcPct val="90000"/>
                </a:lnSpc>
                <a:defRPr/>
              </a:pPr>
              <a:r>
                <a:rPr lang="en-US" dirty="0">
                  <a:cs typeface="Arial" panose="020B0604020202020204"/>
                </a:rPr>
                <a:t>network delay</a:t>
              </a:r>
              <a:endParaRPr lang="en-US" dirty="0">
                <a:cs typeface="Arial" panose="020B0604020202020204"/>
              </a:endParaRPr>
            </a:p>
            <a:p>
              <a:pPr algn="ctr">
                <a:lnSpc>
                  <a:spcPct val="90000"/>
                </a:lnSpc>
                <a:defRPr/>
              </a:pPr>
              <a:r>
                <a:rPr lang="en-US" dirty="0">
                  <a:cs typeface="Arial" panose="020B0604020202020204"/>
                </a:rPr>
                <a:t>(fixed in this example)</a:t>
              </a:r>
              <a:endParaRPr lang="en-US" dirty="0">
                <a:cs typeface="Arial" panose="020B0604020202020204"/>
              </a:endParaRPr>
            </a:p>
          </p:txBody>
        </p:sp>
        <p:sp>
          <p:nvSpPr>
            <p:cNvPr id="359" name="Line 363"/>
            <p:cNvSpPr>
              <a:spLocks noChangeShapeType="1"/>
            </p:cNvSpPr>
            <p:nvPr/>
          </p:nvSpPr>
          <p:spPr bwMode="auto">
            <a:xfrm flipV="1">
              <a:off x="2459" y="2742"/>
              <a:ext cx="1199" cy="5"/>
            </a:xfrm>
            <a:prstGeom prst="line">
              <a:avLst/>
            </a:prstGeom>
            <a:noFill/>
            <a:ln w="19050">
              <a:solidFill>
                <a:schemeClr val="tx1"/>
              </a:solidFill>
              <a:round/>
              <a:headEnd type="triangle" w="med" len="med"/>
              <a:tailEnd type="triangle" w="med" len="med"/>
            </a:ln>
            <a:effectLst/>
          </p:spPr>
          <p:txBody>
            <a:bodyPr wrap="none" anchor="ctr"/>
            <a:lstStyle/>
            <a:p>
              <a:pPr>
                <a:defRPr/>
              </a:pPr>
              <a:endParaRPr lang="en-US" dirty="0">
                <a:latin typeface="Arial" panose="020B0604020202020204"/>
                <a:cs typeface="Arial" panose="020B0604020202020204"/>
              </a:endParaRPr>
            </a:p>
          </p:txBody>
        </p:sp>
      </p:grpSp>
      <p:sp>
        <p:nvSpPr>
          <p:cNvPr id="360" name="Text Box 366"/>
          <p:cNvSpPr txBox="1">
            <a:spLocks noChangeArrowheads="1"/>
          </p:cNvSpPr>
          <p:nvPr/>
        </p:nvSpPr>
        <p:spPr bwMode="auto">
          <a:xfrm>
            <a:off x="8640734" y="4439663"/>
            <a:ext cx="620713" cy="369888"/>
          </a:xfrm>
          <a:prstGeom prst="rect">
            <a:avLst/>
          </a:prstGeom>
          <a:noFill/>
          <a:ln>
            <a:noFill/>
          </a:ln>
          <a:effectLst/>
        </p:spPr>
        <p:txBody>
          <a:bodyPr wrap="none">
            <a:spAutoFit/>
          </a:bodyPr>
          <a:lstStyle/>
          <a:p>
            <a:pPr>
              <a:defRPr/>
            </a:pPr>
            <a:r>
              <a:rPr lang="en-US" i="0" dirty="0">
                <a:latin typeface="Arial" panose="020B0604020202020204"/>
                <a:cs typeface="Arial" panose="020B0604020202020204"/>
              </a:rPr>
              <a:t>time</a:t>
            </a:r>
            <a:endParaRPr lang="en-US" i="0" dirty="0">
              <a:latin typeface="Arial" panose="020B0604020202020204"/>
              <a:cs typeface="Arial" panose="020B0604020202020204"/>
            </a:endParaRPr>
          </a:p>
        </p:txBody>
      </p:sp>
      <p:grpSp>
        <p:nvGrpSpPr>
          <p:cNvPr id="361" name="Group 359"/>
          <p:cNvGrpSpPr/>
          <p:nvPr/>
        </p:nvGrpSpPr>
        <p:grpSpPr bwMode="auto">
          <a:xfrm>
            <a:off x="4456084" y="1913951"/>
            <a:ext cx="6392863" cy="2590801"/>
            <a:chOff x="2466" y="1153"/>
            <a:chExt cx="4027" cy="1632"/>
          </a:xfrm>
        </p:grpSpPr>
        <p:grpSp>
          <p:nvGrpSpPr>
            <p:cNvPr id="362" name="Group 263"/>
            <p:cNvGrpSpPr/>
            <p:nvPr/>
          </p:nvGrpSpPr>
          <p:grpSpPr bwMode="auto">
            <a:xfrm>
              <a:off x="2466" y="1153"/>
              <a:ext cx="1608" cy="1591"/>
              <a:chOff x="648" y="1147"/>
              <a:chExt cx="1608" cy="1591"/>
            </a:xfrm>
          </p:grpSpPr>
          <p:grpSp>
            <p:nvGrpSpPr>
              <p:cNvPr id="411" name="Group 264"/>
              <p:cNvGrpSpPr/>
              <p:nvPr/>
            </p:nvGrpSpPr>
            <p:grpSpPr bwMode="auto">
              <a:xfrm>
                <a:off x="648" y="1725"/>
                <a:ext cx="1024" cy="1013"/>
                <a:chOff x="672" y="1071"/>
                <a:chExt cx="1024" cy="1013"/>
              </a:xfrm>
            </p:grpSpPr>
            <p:grpSp>
              <p:nvGrpSpPr>
                <p:cNvPr id="427" name="Group 265"/>
                <p:cNvGrpSpPr/>
                <p:nvPr/>
              </p:nvGrpSpPr>
              <p:grpSpPr bwMode="auto">
                <a:xfrm>
                  <a:off x="672" y="1506"/>
                  <a:ext cx="583" cy="578"/>
                  <a:chOff x="672" y="1486"/>
                  <a:chExt cx="583" cy="578"/>
                </a:xfrm>
              </p:grpSpPr>
              <p:grpSp>
                <p:nvGrpSpPr>
                  <p:cNvPr id="438" name="Group 266"/>
                  <p:cNvGrpSpPr/>
                  <p:nvPr/>
                </p:nvGrpSpPr>
                <p:grpSpPr bwMode="auto">
                  <a:xfrm>
                    <a:off x="672" y="1776"/>
                    <a:ext cx="291" cy="288"/>
                    <a:chOff x="672" y="1776"/>
                    <a:chExt cx="291" cy="288"/>
                  </a:xfrm>
                </p:grpSpPr>
                <p:grpSp>
                  <p:nvGrpSpPr>
                    <p:cNvPr id="446" name="Group 267"/>
                    <p:cNvGrpSpPr/>
                    <p:nvPr/>
                  </p:nvGrpSpPr>
                  <p:grpSpPr bwMode="auto">
                    <a:xfrm>
                      <a:off x="672" y="1920"/>
                      <a:ext cx="145" cy="144"/>
                      <a:chOff x="672" y="1920"/>
                      <a:chExt cx="145" cy="144"/>
                    </a:xfrm>
                  </p:grpSpPr>
                  <p:sp>
                    <p:nvSpPr>
                      <p:cNvPr id="450" name="Line 268"/>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sp>
                    <p:nvSpPr>
                      <p:cNvPr id="451" name="Line 269"/>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447" name="Group 270"/>
                    <p:cNvGrpSpPr/>
                    <p:nvPr/>
                  </p:nvGrpSpPr>
                  <p:grpSpPr bwMode="auto">
                    <a:xfrm>
                      <a:off x="818" y="1776"/>
                      <a:ext cx="145" cy="144"/>
                      <a:chOff x="672" y="1920"/>
                      <a:chExt cx="145" cy="144"/>
                    </a:xfrm>
                  </p:grpSpPr>
                  <p:sp>
                    <p:nvSpPr>
                      <p:cNvPr id="448" name="Line 271"/>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sp>
                    <p:nvSpPr>
                      <p:cNvPr id="449" name="Line 272"/>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grpSp>
              </p:grpSp>
              <p:grpSp>
                <p:nvGrpSpPr>
                  <p:cNvPr id="439" name="Group 273"/>
                  <p:cNvGrpSpPr/>
                  <p:nvPr/>
                </p:nvGrpSpPr>
                <p:grpSpPr bwMode="auto">
                  <a:xfrm>
                    <a:off x="964" y="1486"/>
                    <a:ext cx="291" cy="288"/>
                    <a:chOff x="672" y="1776"/>
                    <a:chExt cx="291" cy="288"/>
                  </a:xfrm>
                </p:grpSpPr>
                <p:grpSp>
                  <p:nvGrpSpPr>
                    <p:cNvPr id="440" name="Group 274"/>
                    <p:cNvGrpSpPr/>
                    <p:nvPr/>
                  </p:nvGrpSpPr>
                  <p:grpSpPr bwMode="auto">
                    <a:xfrm>
                      <a:off x="672" y="1920"/>
                      <a:ext cx="145" cy="144"/>
                      <a:chOff x="672" y="1920"/>
                      <a:chExt cx="145" cy="144"/>
                    </a:xfrm>
                  </p:grpSpPr>
                  <p:sp>
                    <p:nvSpPr>
                      <p:cNvPr id="444" name="Line 275"/>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sp>
                    <p:nvSpPr>
                      <p:cNvPr id="445" name="Line 276"/>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441" name="Group 277"/>
                    <p:cNvGrpSpPr/>
                    <p:nvPr/>
                  </p:nvGrpSpPr>
                  <p:grpSpPr bwMode="auto">
                    <a:xfrm>
                      <a:off x="818" y="1776"/>
                      <a:ext cx="145" cy="144"/>
                      <a:chOff x="672" y="1920"/>
                      <a:chExt cx="145" cy="144"/>
                    </a:xfrm>
                  </p:grpSpPr>
                  <p:sp>
                    <p:nvSpPr>
                      <p:cNvPr id="442" name="Line 278"/>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sp>
                    <p:nvSpPr>
                      <p:cNvPr id="443" name="Line 279"/>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grpSp>
              </p:grpSp>
            </p:grpSp>
            <p:grpSp>
              <p:nvGrpSpPr>
                <p:cNvPr id="428" name="Group 280"/>
                <p:cNvGrpSpPr/>
                <p:nvPr/>
              </p:nvGrpSpPr>
              <p:grpSpPr bwMode="auto">
                <a:xfrm>
                  <a:off x="1259" y="1217"/>
                  <a:ext cx="291" cy="288"/>
                  <a:chOff x="672" y="1776"/>
                  <a:chExt cx="291" cy="288"/>
                </a:xfrm>
              </p:grpSpPr>
              <p:grpSp>
                <p:nvGrpSpPr>
                  <p:cNvPr id="432" name="Group 281"/>
                  <p:cNvGrpSpPr/>
                  <p:nvPr/>
                </p:nvGrpSpPr>
                <p:grpSpPr bwMode="auto">
                  <a:xfrm>
                    <a:off x="672" y="1920"/>
                    <a:ext cx="145" cy="144"/>
                    <a:chOff x="672" y="1920"/>
                    <a:chExt cx="145" cy="144"/>
                  </a:xfrm>
                </p:grpSpPr>
                <p:sp>
                  <p:nvSpPr>
                    <p:cNvPr id="436" name="Line 282"/>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sp>
                  <p:nvSpPr>
                    <p:cNvPr id="437" name="Line 283"/>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433" name="Group 284"/>
                  <p:cNvGrpSpPr/>
                  <p:nvPr/>
                </p:nvGrpSpPr>
                <p:grpSpPr bwMode="auto">
                  <a:xfrm>
                    <a:off x="818" y="1776"/>
                    <a:ext cx="145" cy="144"/>
                    <a:chOff x="672" y="1920"/>
                    <a:chExt cx="145" cy="144"/>
                  </a:xfrm>
                </p:grpSpPr>
                <p:sp>
                  <p:nvSpPr>
                    <p:cNvPr id="434" name="Line 285"/>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sp>
                  <p:nvSpPr>
                    <p:cNvPr id="435" name="Line 286"/>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grpSp>
            </p:grpSp>
            <p:grpSp>
              <p:nvGrpSpPr>
                <p:cNvPr id="429" name="Group 287"/>
                <p:cNvGrpSpPr/>
                <p:nvPr/>
              </p:nvGrpSpPr>
              <p:grpSpPr bwMode="auto">
                <a:xfrm>
                  <a:off x="1551" y="1071"/>
                  <a:ext cx="145" cy="144"/>
                  <a:chOff x="672" y="1920"/>
                  <a:chExt cx="145" cy="144"/>
                </a:xfrm>
              </p:grpSpPr>
              <p:sp>
                <p:nvSpPr>
                  <p:cNvPr id="430" name="Line 288"/>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sp>
                <p:nvSpPr>
                  <p:cNvPr id="431" name="Line 289"/>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grpSp>
          </p:grpSp>
          <p:grpSp>
            <p:nvGrpSpPr>
              <p:cNvPr id="412" name="Group 290"/>
              <p:cNvGrpSpPr/>
              <p:nvPr/>
            </p:nvGrpSpPr>
            <p:grpSpPr bwMode="auto">
              <a:xfrm>
                <a:off x="1673" y="1147"/>
                <a:ext cx="583" cy="578"/>
                <a:chOff x="672" y="1486"/>
                <a:chExt cx="583" cy="578"/>
              </a:xfrm>
            </p:grpSpPr>
            <p:grpSp>
              <p:nvGrpSpPr>
                <p:cNvPr id="413" name="Group 291"/>
                <p:cNvGrpSpPr/>
                <p:nvPr/>
              </p:nvGrpSpPr>
              <p:grpSpPr bwMode="auto">
                <a:xfrm>
                  <a:off x="672" y="1776"/>
                  <a:ext cx="291" cy="288"/>
                  <a:chOff x="672" y="1776"/>
                  <a:chExt cx="291" cy="288"/>
                </a:xfrm>
              </p:grpSpPr>
              <p:grpSp>
                <p:nvGrpSpPr>
                  <p:cNvPr id="421" name="Group 292"/>
                  <p:cNvGrpSpPr/>
                  <p:nvPr/>
                </p:nvGrpSpPr>
                <p:grpSpPr bwMode="auto">
                  <a:xfrm>
                    <a:off x="672" y="1920"/>
                    <a:ext cx="145" cy="144"/>
                    <a:chOff x="672" y="1920"/>
                    <a:chExt cx="145" cy="144"/>
                  </a:xfrm>
                </p:grpSpPr>
                <p:sp>
                  <p:nvSpPr>
                    <p:cNvPr id="425" name="Line 293"/>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sp>
                  <p:nvSpPr>
                    <p:cNvPr id="426" name="Line 294"/>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422" name="Group 295"/>
                  <p:cNvGrpSpPr/>
                  <p:nvPr/>
                </p:nvGrpSpPr>
                <p:grpSpPr bwMode="auto">
                  <a:xfrm>
                    <a:off x="818" y="1776"/>
                    <a:ext cx="145" cy="144"/>
                    <a:chOff x="672" y="1920"/>
                    <a:chExt cx="145" cy="144"/>
                  </a:xfrm>
                </p:grpSpPr>
                <p:sp>
                  <p:nvSpPr>
                    <p:cNvPr id="423" name="Line 296"/>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sp>
                  <p:nvSpPr>
                    <p:cNvPr id="424" name="Line 297"/>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grpSp>
            </p:grpSp>
            <p:grpSp>
              <p:nvGrpSpPr>
                <p:cNvPr id="414" name="Group 298"/>
                <p:cNvGrpSpPr/>
                <p:nvPr/>
              </p:nvGrpSpPr>
              <p:grpSpPr bwMode="auto">
                <a:xfrm>
                  <a:off x="964" y="1486"/>
                  <a:ext cx="291" cy="288"/>
                  <a:chOff x="672" y="1776"/>
                  <a:chExt cx="291" cy="288"/>
                </a:xfrm>
              </p:grpSpPr>
              <p:grpSp>
                <p:nvGrpSpPr>
                  <p:cNvPr id="415" name="Group 299"/>
                  <p:cNvGrpSpPr/>
                  <p:nvPr/>
                </p:nvGrpSpPr>
                <p:grpSpPr bwMode="auto">
                  <a:xfrm>
                    <a:off x="672" y="1920"/>
                    <a:ext cx="145" cy="144"/>
                    <a:chOff x="672" y="1920"/>
                    <a:chExt cx="145" cy="144"/>
                  </a:xfrm>
                </p:grpSpPr>
                <p:sp>
                  <p:nvSpPr>
                    <p:cNvPr id="419" name="Line 300"/>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sp>
                  <p:nvSpPr>
                    <p:cNvPr id="420" name="Line 301"/>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416" name="Group 302"/>
                  <p:cNvGrpSpPr/>
                  <p:nvPr/>
                </p:nvGrpSpPr>
                <p:grpSpPr bwMode="auto">
                  <a:xfrm>
                    <a:off x="818" y="1776"/>
                    <a:ext cx="145" cy="144"/>
                    <a:chOff x="672" y="1920"/>
                    <a:chExt cx="145" cy="144"/>
                  </a:xfrm>
                </p:grpSpPr>
                <p:sp>
                  <p:nvSpPr>
                    <p:cNvPr id="417" name="Line 303"/>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sp>
                  <p:nvSpPr>
                    <p:cNvPr id="418" name="Line 304"/>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defRPr/>
                      </a:pPr>
                      <a:endParaRPr lang="en-US" dirty="0">
                        <a:latin typeface="Arial" panose="020B0604020202020204"/>
                        <a:cs typeface="Arial" panose="020B0604020202020204"/>
                      </a:endParaRPr>
                    </a:p>
                  </p:txBody>
                </p:sp>
              </p:grpSp>
            </p:grpSp>
          </p:grpSp>
        </p:grpSp>
        <p:grpSp>
          <p:nvGrpSpPr>
            <p:cNvPr id="363" name="Group 306"/>
            <p:cNvGrpSpPr/>
            <p:nvPr/>
          </p:nvGrpSpPr>
          <p:grpSpPr bwMode="auto">
            <a:xfrm>
              <a:off x="3636" y="1159"/>
              <a:ext cx="1608" cy="1591"/>
              <a:chOff x="648" y="1147"/>
              <a:chExt cx="1608" cy="1591"/>
            </a:xfrm>
          </p:grpSpPr>
          <p:grpSp>
            <p:nvGrpSpPr>
              <p:cNvPr id="370" name="Group 307"/>
              <p:cNvGrpSpPr/>
              <p:nvPr/>
            </p:nvGrpSpPr>
            <p:grpSpPr bwMode="auto">
              <a:xfrm>
                <a:off x="648" y="1725"/>
                <a:ext cx="1024" cy="1013"/>
                <a:chOff x="672" y="1071"/>
                <a:chExt cx="1024" cy="1013"/>
              </a:xfrm>
            </p:grpSpPr>
            <p:grpSp>
              <p:nvGrpSpPr>
                <p:cNvPr id="386" name="Group 308"/>
                <p:cNvGrpSpPr/>
                <p:nvPr/>
              </p:nvGrpSpPr>
              <p:grpSpPr bwMode="auto">
                <a:xfrm>
                  <a:off x="672" y="1506"/>
                  <a:ext cx="583" cy="578"/>
                  <a:chOff x="672" y="1486"/>
                  <a:chExt cx="583" cy="578"/>
                </a:xfrm>
              </p:grpSpPr>
              <p:grpSp>
                <p:nvGrpSpPr>
                  <p:cNvPr id="397" name="Group 309"/>
                  <p:cNvGrpSpPr/>
                  <p:nvPr/>
                </p:nvGrpSpPr>
                <p:grpSpPr bwMode="auto">
                  <a:xfrm>
                    <a:off x="672" y="1776"/>
                    <a:ext cx="291" cy="288"/>
                    <a:chOff x="672" y="1776"/>
                    <a:chExt cx="291" cy="288"/>
                  </a:xfrm>
                </p:grpSpPr>
                <p:grpSp>
                  <p:nvGrpSpPr>
                    <p:cNvPr id="405" name="Group 310"/>
                    <p:cNvGrpSpPr/>
                    <p:nvPr/>
                  </p:nvGrpSpPr>
                  <p:grpSpPr bwMode="auto">
                    <a:xfrm>
                      <a:off x="672" y="1920"/>
                      <a:ext cx="145" cy="144"/>
                      <a:chOff x="672" y="1920"/>
                      <a:chExt cx="145" cy="144"/>
                    </a:xfrm>
                  </p:grpSpPr>
                  <p:sp>
                    <p:nvSpPr>
                      <p:cNvPr id="409" name="Line 311"/>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sp>
                    <p:nvSpPr>
                      <p:cNvPr id="410" name="Line 312"/>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406" name="Group 313"/>
                    <p:cNvGrpSpPr/>
                    <p:nvPr/>
                  </p:nvGrpSpPr>
                  <p:grpSpPr bwMode="auto">
                    <a:xfrm>
                      <a:off x="818" y="1776"/>
                      <a:ext cx="145" cy="144"/>
                      <a:chOff x="672" y="1920"/>
                      <a:chExt cx="145" cy="144"/>
                    </a:xfrm>
                  </p:grpSpPr>
                  <p:sp>
                    <p:nvSpPr>
                      <p:cNvPr id="407" name="Line 314"/>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sp>
                    <p:nvSpPr>
                      <p:cNvPr id="408" name="Line 315"/>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grpSp>
              </p:grpSp>
              <p:grpSp>
                <p:nvGrpSpPr>
                  <p:cNvPr id="398" name="Group 316"/>
                  <p:cNvGrpSpPr/>
                  <p:nvPr/>
                </p:nvGrpSpPr>
                <p:grpSpPr bwMode="auto">
                  <a:xfrm>
                    <a:off x="964" y="1486"/>
                    <a:ext cx="291" cy="288"/>
                    <a:chOff x="672" y="1776"/>
                    <a:chExt cx="291" cy="288"/>
                  </a:xfrm>
                </p:grpSpPr>
                <p:grpSp>
                  <p:nvGrpSpPr>
                    <p:cNvPr id="399" name="Group 317"/>
                    <p:cNvGrpSpPr/>
                    <p:nvPr/>
                  </p:nvGrpSpPr>
                  <p:grpSpPr bwMode="auto">
                    <a:xfrm>
                      <a:off x="672" y="1920"/>
                      <a:ext cx="145" cy="144"/>
                      <a:chOff x="672" y="1920"/>
                      <a:chExt cx="145" cy="144"/>
                    </a:xfrm>
                  </p:grpSpPr>
                  <p:sp>
                    <p:nvSpPr>
                      <p:cNvPr id="403" name="Line 318"/>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sp>
                    <p:nvSpPr>
                      <p:cNvPr id="404" name="Line 319"/>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400" name="Group 320"/>
                    <p:cNvGrpSpPr/>
                    <p:nvPr/>
                  </p:nvGrpSpPr>
                  <p:grpSpPr bwMode="auto">
                    <a:xfrm>
                      <a:off x="818" y="1776"/>
                      <a:ext cx="145" cy="144"/>
                      <a:chOff x="672" y="1920"/>
                      <a:chExt cx="145" cy="144"/>
                    </a:xfrm>
                  </p:grpSpPr>
                  <p:sp>
                    <p:nvSpPr>
                      <p:cNvPr id="401" name="Line 321"/>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sp>
                    <p:nvSpPr>
                      <p:cNvPr id="402" name="Line 322"/>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grpSp>
              </p:grpSp>
            </p:grpSp>
            <p:grpSp>
              <p:nvGrpSpPr>
                <p:cNvPr id="387" name="Group 323"/>
                <p:cNvGrpSpPr/>
                <p:nvPr/>
              </p:nvGrpSpPr>
              <p:grpSpPr bwMode="auto">
                <a:xfrm>
                  <a:off x="1259" y="1217"/>
                  <a:ext cx="291" cy="288"/>
                  <a:chOff x="672" y="1776"/>
                  <a:chExt cx="291" cy="288"/>
                </a:xfrm>
              </p:grpSpPr>
              <p:grpSp>
                <p:nvGrpSpPr>
                  <p:cNvPr id="391" name="Group 324"/>
                  <p:cNvGrpSpPr/>
                  <p:nvPr/>
                </p:nvGrpSpPr>
                <p:grpSpPr bwMode="auto">
                  <a:xfrm>
                    <a:off x="672" y="1920"/>
                    <a:ext cx="145" cy="144"/>
                    <a:chOff x="672" y="1920"/>
                    <a:chExt cx="145" cy="144"/>
                  </a:xfrm>
                </p:grpSpPr>
                <p:sp>
                  <p:nvSpPr>
                    <p:cNvPr id="395" name="Line 325"/>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sp>
                  <p:nvSpPr>
                    <p:cNvPr id="396" name="Line 326"/>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392" name="Group 327"/>
                  <p:cNvGrpSpPr/>
                  <p:nvPr/>
                </p:nvGrpSpPr>
                <p:grpSpPr bwMode="auto">
                  <a:xfrm>
                    <a:off x="818" y="1776"/>
                    <a:ext cx="145" cy="144"/>
                    <a:chOff x="672" y="1920"/>
                    <a:chExt cx="145" cy="144"/>
                  </a:xfrm>
                </p:grpSpPr>
                <p:sp>
                  <p:nvSpPr>
                    <p:cNvPr id="393" name="Line 328"/>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sp>
                  <p:nvSpPr>
                    <p:cNvPr id="394" name="Line 329"/>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grpSp>
            </p:grpSp>
            <p:grpSp>
              <p:nvGrpSpPr>
                <p:cNvPr id="388" name="Group 330"/>
                <p:cNvGrpSpPr/>
                <p:nvPr/>
              </p:nvGrpSpPr>
              <p:grpSpPr bwMode="auto">
                <a:xfrm>
                  <a:off x="1551" y="1071"/>
                  <a:ext cx="145" cy="144"/>
                  <a:chOff x="672" y="1920"/>
                  <a:chExt cx="145" cy="144"/>
                </a:xfrm>
              </p:grpSpPr>
              <p:sp>
                <p:nvSpPr>
                  <p:cNvPr id="389" name="Line 331"/>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sp>
                <p:nvSpPr>
                  <p:cNvPr id="390" name="Line 332"/>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grpSp>
          </p:grpSp>
          <p:grpSp>
            <p:nvGrpSpPr>
              <p:cNvPr id="371" name="Group 333"/>
              <p:cNvGrpSpPr/>
              <p:nvPr/>
            </p:nvGrpSpPr>
            <p:grpSpPr bwMode="auto">
              <a:xfrm>
                <a:off x="1673" y="1147"/>
                <a:ext cx="583" cy="578"/>
                <a:chOff x="672" y="1486"/>
                <a:chExt cx="583" cy="578"/>
              </a:xfrm>
            </p:grpSpPr>
            <p:grpSp>
              <p:nvGrpSpPr>
                <p:cNvPr id="372" name="Group 334"/>
                <p:cNvGrpSpPr/>
                <p:nvPr/>
              </p:nvGrpSpPr>
              <p:grpSpPr bwMode="auto">
                <a:xfrm>
                  <a:off x="672" y="1776"/>
                  <a:ext cx="291" cy="288"/>
                  <a:chOff x="672" y="1776"/>
                  <a:chExt cx="291" cy="288"/>
                </a:xfrm>
              </p:grpSpPr>
              <p:grpSp>
                <p:nvGrpSpPr>
                  <p:cNvPr id="380" name="Group 335"/>
                  <p:cNvGrpSpPr/>
                  <p:nvPr/>
                </p:nvGrpSpPr>
                <p:grpSpPr bwMode="auto">
                  <a:xfrm>
                    <a:off x="672" y="1920"/>
                    <a:ext cx="145" cy="144"/>
                    <a:chOff x="672" y="1920"/>
                    <a:chExt cx="145" cy="144"/>
                  </a:xfrm>
                </p:grpSpPr>
                <p:sp>
                  <p:nvSpPr>
                    <p:cNvPr id="384" name="Line 336"/>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sp>
                  <p:nvSpPr>
                    <p:cNvPr id="385" name="Line 337"/>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381" name="Group 338"/>
                  <p:cNvGrpSpPr/>
                  <p:nvPr/>
                </p:nvGrpSpPr>
                <p:grpSpPr bwMode="auto">
                  <a:xfrm>
                    <a:off x="818" y="1776"/>
                    <a:ext cx="145" cy="144"/>
                    <a:chOff x="672" y="1920"/>
                    <a:chExt cx="145" cy="144"/>
                  </a:xfrm>
                </p:grpSpPr>
                <p:sp>
                  <p:nvSpPr>
                    <p:cNvPr id="382" name="Line 339"/>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sp>
                  <p:nvSpPr>
                    <p:cNvPr id="383" name="Line 340"/>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grpSp>
            </p:grpSp>
            <p:grpSp>
              <p:nvGrpSpPr>
                <p:cNvPr id="373" name="Group 341"/>
                <p:cNvGrpSpPr/>
                <p:nvPr/>
              </p:nvGrpSpPr>
              <p:grpSpPr bwMode="auto">
                <a:xfrm>
                  <a:off x="964" y="1486"/>
                  <a:ext cx="291" cy="288"/>
                  <a:chOff x="672" y="1776"/>
                  <a:chExt cx="291" cy="288"/>
                </a:xfrm>
              </p:grpSpPr>
              <p:grpSp>
                <p:nvGrpSpPr>
                  <p:cNvPr id="374" name="Group 342"/>
                  <p:cNvGrpSpPr/>
                  <p:nvPr/>
                </p:nvGrpSpPr>
                <p:grpSpPr bwMode="auto">
                  <a:xfrm>
                    <a:off x="672" y="1920"/>
                    <a:ext cx="145" cy="144"/>
                    <a:chOff x="672" y="1920"/>
                    <a:chExt cx="145" cy="144"/>
                  </a:xfrm>
                </p:grpSpPr>
                <p:sp>
                  <p:nvSpPr>
                    <p:cNvPr id="378" name="Line 343"/>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sp>
                  <p:nvSpPr>
                    <p:cNvPr id="379" name="Line 344"/>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grpSp>
              <p:grpSp>
                <p:nvGrpSpPr>
                  <p:cNvPr id="375" name="Group 345"/>
                  <p:cNvGrpSpPr/>
                  <p:nvPr/>
                </p:nvGrpSpPr>
                <p:grpSpPr bwMode="auto">
                  <a:xfrm>
                    <a:off x="818" y="1776"/>
                    <a:ext cx="145" cy="144"/>
                    <a:chOff x="672" y="1920"/>
                    <a:chExt cx="145" cy="144"/>
                  </a:xfrm>
                </p:grpSpPr>
                <p:sp>
                  <p:nvSpPr>
                    <p:cNvPr id="376" name="Line 346"/>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sp>
                  <p:nvSpPr>
                    <p:cNvPr id="377" name="Line 347"/>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defRPr/>
                      </a:pPr>
                      <a:endParaRPr lang="en-US" dirty="0">
                        <a:latin typeface="Arial" panose="020B0604020202020204"/>
                        <a:cs typeface="Arial" panose="020B0604020202020204"/>
                      </a:endParaRPr>
                    </a:p>
                  </p:txBody>
                </p:sp>
              </p:grpSp>
            </p:grpSp>
          </p:grpSp>
        </p:grpSp>
        <p:sp>
          <p:nvSpPr>
            <p:cNvPr id="364" name="Text Box 348"/>
            <p:cNvSpPr txBox="1">
              <a:spLocks noChangeArrowheads="1"/>
            </p:cNvSpPr>
            <p:nvPr/>
          </p:nvSpPr>
          <p:spPr bwMode="auto">
            <a:xfrm>
              <a:off x="3932" y="2339"/>
              <a:ext cx="2561" cy="446"/>
            </a:xfrm>
            <a:prstGeom prst="rect">
              <a:avLst/>
            </a:prstGeom>
            <a:noFill/>
            <a:ln>
              <a:noFill/>
            </a:ln>
            <a:effectLst/>
          </p:spPr>
          <p:txBody>
            <a:bodyPr wrap="square">
              <a:spAutoFit/>
            </a:bodyPr>
            <a:lstStyle/>
            <a:p>
              <a:pPr>
                <a:defRPr/>
              </a:pPr>
              <a:r>
                <a:rPr lang="en-US" sz="2000" b="1" dirty="0">
                  <a:solidFill>
                    <a:srgbClr val="000099"/>
                  </a:solidFill>
                  <a:cs typeface="Arial" panose="020B0604020202020204"/>
                </a:rPr>
                <a:t>3. </a:t>
              </a:r>
              <a:r>
                <a:rPr lang="en-US" sz="2000" dirty="0">
                  <a:solidFill>
                    <a:srgbClr val="000099"/>
                  </a:solidFill>
                  <a:cs typeface="Arial" panose="020B0604020202020204"/>
                </a:rPr>
                <a:t>video received, played out at client</a:t>
              </a:r>
              <a:endParaRPr lang="en-US" sz="2000" dirty="0">
                <a:solidFill>
                  <a:srgbClr val="000099"/>
                </a:solidFill>
                <a:cs typeface="Arial" panose="020B0604020202020204"/>
              </a:endParaRPr>
            </a:p>
            <a:p>
              <a:pPr>
                <a:defRPr/>
              </a:pPr>
              <a:r>
                <a:rPr lang="en-US" sz="2000" dirty="0">
                  <a:solidFill>
                    <a:srgbClr val="000099"/>
                  </a:solidFill>
                  <a:cs typeface="Arial" panose="020B0604020202020204"/>
                </a:rPr>
                <a:t>(30 frames/sec)</a:t>
              </a:r>
              <a:endParaRPr lang="en-US" dirty="0">
                <a:solidFill>
                  <a:srgbClr val="000099"/>
                </a:solidFill>
                <a:cs typeface="Arial" panose="020B0604020202020204"/>
              </a:endParaRPr>
            </a:p>
          </p:txBody>
        </p:sp>
        <p:grpSp>
          <p:nvGrpSpPr>
            <p:cNvPr id="365" name="Group 349"/>
            <p:cNvGrpSpPr/>
            <p:nvPr/>
          </p:nvGrpSpPr>
          <p:grpSpPr bwMode="auto">
            <a:xfrm>
              <a:off x="4679" y="1872"/>
              <a:ext cx="427" cy="418"/>
              <a:chOff x="4437" y="1472"/>
              <a:chExt cx="427" cy="418"/>
            </a:xfrm>
          </p:grpSpPr>
          <p:sp>
            <p:nvSpPr>
              <p:cNvPr id="366" name="Rectangle 350"/>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ln>
              <a:effectLst/>
            </p:spPr>
            <p:txBody>
              <a:bodyPr wrap="none" anchor="ctr"/>
              <a:lstStyle/>
              <a:p>
                <a:pPr>
                  <a:defRPr/>
                </a:pPr>
                <a:endParaRPr lang="en-US" dirty="0">
                  <a:latin typeface="Arial" panose="020B0604020202020204"/>
                  <a:cs typeface="Arial" panose="020B0604020202020204"/>
                </a:endParaRPr>
              </a:p>
            </p:txBody>
          </p:sp>
          <p:sp>
            <p:nvSpPr>
              <p:cNvPr id="367" name="Rectangle 351"/>
              <p:cNvSpPr>
                <a:spLocks noChangeArrowheads="1"/>
              </p:cNvSpPr>
              <p:nvPr/>
            </p:nvSpPr>
            <p:spPr bwMode="auto">
              <a:xfrm>
                <a:off x="4567" y="1837"/>
                <a:ext cx="179" cy="23"/>
              </a:xfrm>
              <a:prstGeom prst="rect">
                <a:avLst/>
              </a:prstGeom>
              <a:solidFill>
                <a:srgbClr val="5F5F5F"/>
              </a:solidFill>
              <a:ln w="19050">
                <a:solidFill>
                  <a:srgbClr val="5F5F5F"/>
                </a:solidFill>
                <a:miter lim="800000"/>
              </a:ln>
              <a:effectLst/>
            </p:spPr>
            <p:txBody>
              <a:bodyPr wrap="none" anchor="ctr"/>
              <a:lstStyle/>
              <a:p>
                <a:pPr>
                  <a:defRPr/>
                </a:pPr>
                <a:endParaRPr lang="en-US" dirty="0">
                  <a:latin typeface="Arial" panose="020B0604020202020204"/>
                  <a:cs typeface="Arial" panose="020B0604020202020204"/>
                </a:endParaRPr>
              </a:p>
            </p:txBody>
          </p:sp>
          <p:sp>
            <p:nvSpPr>
              <p:cNvPr id="368" name="Rectangle 352"/>
              <p:cNvSpPr>
                <a:spLocks noChangeArrowheads="1"/>
              </p:cNvSpPr>
              <p:nvPr/>
            </p:nvSpPr>
            <p:spPr bwMode="auto">
              <a:xfrm>
                <a:off x="4442" y="1866"/>
                <a:ext cx="414" cy="24"/>
              </a:xfrm>
              <a:prstGeom prst="rect">
                <a:avLst/>
              </a:prstGeom>
              <a:solidFill>
                <a:schemeClr val="tx2"/>
              </a:solidFill>
              <a:ln w="19050">
                <a:solidFill>
                  <a:schemeClr val="tx1"/>
                </a:solidFill>
                <a:miter lim="800000"/>
              </a:ln>
              <a:effectLst/>
            </p:spPr>
            <p:txBody>
              <a:bodyPr wrap="none" anchor="ctr"/>
              <a:lstStyle/>
              <a:p>
                <a:pPr>
                  <a:defRPr/>
                </a:pPr>
                <a:endParaRPr lang="en-US" dirty="0">
                  <a:latin typeface="Arial" panose="020B0604020202020204"/>
                  <a:cs typeface="Arial" panose="020B0604020202020204"/>
                </a:endParaRPr>
              </a:p>
            </p:txBody>
          </p:sp>
          <p:sp>
            <p:nvSpPr>
              <p:cNvPr id="369" name="Rectangle 353"/>
              <p:cNvSpPr>
                <a:spLocks noChangeArrowheads="1"/>
              </p:cNvSpPr>
              <p:nvPr/>
            </p:nvSpPr>
            <p:spPr bwMode="auto">
              <a:xfrm>
                <a:off x="4437" y="1472"/>
                <a:ext cx="423" cy="356"/>
              </a:xfrm>
              <a:prstGeom prst="rect">
                <a:avLst/>
              </a:prstGeom>
              <a:noFill/>
              <a:ln w="19050">
                <a:solidFill>
                  <a:srgbClr val="0000A3"/>
                </a:solidFill>
                <a:miter lim="800000"/>
              </a:ln>
              <a:effectLst/>
            </p:spPr>
            <p:txBody>
              <a:bodyPr wrap="none" anchor="ctr"/>
              <a:lstStyle/>
              <a:p>
                <a:pPr>
                  <a:defRPr/>
                </a:pPr>
                <a:endParaRPr lang="en-US" dirty="0">
                  <a:latin typeface="Arial" panose="020B0604020202020204"/>
                  <a:cs typeface="Arial" panose="020B0604020202020204"/>
                </a:endParaRPr>
              </a:p>
            </p:txBody>
          </p:sp>
        </p:grpSp>
      </p:grpSp>
      <p:sp>
        <p:nvSpPr>
          <p:cNvPr id="452" name="Line 169"/>
          <p:cNvSpPr>
            <a:spLocks noChangeShapeType="1"/>
          </p:cNvSpPr>
          <p:nvPr/>
        </p:nvSpPr>
        <p:spPr bwMode="auto">
          <a:xfrm flipH="1">
            <a:off x="1369984" y="4417438"/>
            <a:ext cx="7815263" cy="14288"/>
          </a:xfrm>
          <a:prstGeom prst="line">
            <a:avLst/>
          </a:prstGeom>
          <a:noFill/>
          <a:ln w="28575">
            <a:solidFill>
              <a:schemeClr val="tx1"/>
            </a:solidFill>
            <a:round/>
            <a:headEnd type="triangle" w="med" len="med"/>
          </a:ln>
          <a:effectLst/>
        </p:spPr>
        <p:txBody>
          <a:bodyPr wrap="none" anchor="ctr"/>
          <a:lstStyle/>
          <a:p>
            <a:pPr>
              <a:defRPr/>
            </a:pPr>
            <a:endParaRPr lang="en-US" dirty="0">
              <a:latin typeface="Arial" panose="020B0604020202020204"/>
              <a:cs typeface="Arial" panose="020B0604020202020204"/>
            </a:endParaRPr>
          </a:p>
        </p:txBody>
      </p:sp>
      <p:grpSp>
        <p:nvGrpSpPr>
          <p:cNvPr id="11" name="Group 10"/>
          <p:cNvGrpSpPr/>
          <p:nvPr/>
        </p:nvGrpSpPr>
        <p:grpSpPr>
          <a:xfrm>
            <a:off x="3762849" y="4237927"/>
            <a:ext cx="249757" cy="291754"/>
            <a:chOff x="9055510" y="606165"/>
            <a:chExt cx="249757" cy="291754"/>
          </a:xfrm>
        </p:grpSpPr>
        <p:sp>
          <p:nvSpPr>
            <p:cNvPr id="10" name="Rectangle 9"/>
            <p:cNvSpPr/>
            <p:nvPr/>
          </p:nvSpPr>
          <p:spPr>
            <a:xfrm rot="1596992">
              <a:off x="9109854" y="606165"/>
              <a:ext cx="133240" cy="2917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 name="Straight Connector 8"/>
            <p:cNvCxnSpPr/>
            <p:nvPr/>
          </p:nvCxnSpPr>
          <p:spPr>
            <a:xfrm flipH="1">
              <a:off x="9055510" y="634181"/>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p:cNvCxnSpPr/>
            <p:nvPr/>
          </p:nvCxnSpPr>
          <p:spPr>
            <a:xfrm flipH="1">
              <a:off x="9176862" y="638677"/>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5"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500"/>
                                        <p:tgtEl>
                                          <p:spTgt spid="30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305"/>
                                        </p:tgtEl>
                                        <p:attrNameLst>
                                          <p:attrName>style.visibility</p:attrName>
                                        </p:attrNameLst>
                                      </p:cBhvr>
                                      <p:to>
                                        <p:strVal val="visible"/>
                                      </p:to>
                                    </p:set>
                                    <p:animEffect transition="in" filter="dissolve">
                                      <p:cBhvr>
                                        <p:cTn id="11" dur="500"/>
                                        <p:tgtEl>
                                          <p:spTgt spid="305"/>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50"/>
                                        </p:tgtEl>
                                        <p:attrNameLst>
                                          <p:attrName>style.visibility</p:attrName>
                                        </p:attrNameLst>
                                      </p:cBhvr>
                                      <p:to>
                                        <p:strVal val="visible"/>
                                      </p:to>
                                    </p:set>
                                    <p:animEffect transition="in" filter="dissolve">
                                      <p:cBhvr>
                                        <p:cTn id="16" dur="500"/>
                                        <p:tgtEl>
                                          <p:spTgt spid="350"/>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361"/>
                                        </p:tgtEl>
                                        <p:attrNameLst>
                                          <p:attrName>style.visibility</p:attrName>
                                        </p:attrNameLst>
                                      </p:cBhvr>
                                      <p:to>
                                        <p:strVal val="visible"/>
                                      </p:to>
                                    </p:set>
                                    <p:animEffect transition="in" filter="wipe(left)">
                                      <p:cBhvr>
                                        <p:cTn id="21" dur="500"/>
                                        <p:tgtEl>
                                          <p:spTgt spid="361"/>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57"/>
                                        </p:tgtEl>
                                        <p:attrNameLst>
                                          <p:attrName>style.visibility</p:attrName>
                                        </p:attrNameLst>
                                      </p:cBhvr>
                                      <p:to>
                                        <p:strVal val="visible"/>
                                      </p:to>
                                    </p:set>
                                    <p:animEffect transition="in" filter="dissolve">
                                      <p:cBhvr>
                                        <p:cTn id="26" dur="500"/>
                                        <p:tgtEl>
                                          <p:spTgt spid="357"/>
                                        </p:tgtEl>
                                      </p:cBhvr>
                                    </p:animEffect>
                                  </p:childTnLst>
                                  <p:subTnLst>
                                    <p:set>
                                      <p:cBhvr override="childStyle">
                                        <p:cTn dur="1" fill="hold" display="0" masterRel="nextClick" afterEffect="1"/>
                                        <p:tgtEl>
                                          <p:spTgt spid="357"/>
                                        </p:tgtEl>
                                        <p:attrNameLst>
                                          <p:attrName>style.visibility</p:attrName>
                                        </p:attrNameLst>
                                      </p:cBhvr>
                                      <p:to>
                                        <p:strVal val="hidden"/>
                                      </p:to>
                                    </p:set>
                                  </p:sub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354"/>
                                        </p:tgtEl>
                                        <p:attrNameLst>
                                          <p:attrName>style.visibility</p:attrName>
                                        </p:attrNameLst>
                                      </p:cBhvr>
                                      <p:to>
                                        <p:strVal val="visible"/>
                                      </p:to>
                                    </p:set>
                                    <p:animEffect transition="in" filter="dissolve">
                                      <p:cBhvr>
                                        <p:cTn id="31" dur="500"/>
                                        <p:tgtEl>
                                          <p:spTgt spid="3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838200" y="451821"/>
            <a:ext cx="10515600" cy="894622"/>
          </a:xfrm>
        </p:spPr>
        <p:txBody>
          <a:bodyPr>
            <a:normAutofit/>
          </a:bodyPr>
          <a:lstStyle/>
          <a:p>
            <a:r>
              <a:rPr lang="en-US" altLang="en-US" sz="4400" dirty="0">
                <a:ea typeface="MS PGothic" panose="020B0600070205080204" pitchFamily="34" charset="-128"/>
              </a:rPr>
              <a:t>Streaming stored </a:t>
            </a:r>
            <a:r>
              <a:rPr lang="en-US" altLang="en-US" dirty="0">
                <a:ea typeface="MS PGothic" panose="020B0600070205080204" pitchFamily="34" charset="-128"/>
              </a:rPr>
              <a:t>v</a:t>
            </a:r>
            <a:r>
              <a:rPr lang="en-US" altLang="en-US" sz="4400" dirty="0">
                <a:ea typeface="MS PGothic" panose="020B0600070205080204" pitchFamily="34" charset="-128"/>
              </a:rPr>
              <a:t>ideo: challenges</a:t>
            </a:r>
            <a:endParaRPr lang="en-US" altLang="en-US" sz="4400" dirty="0">
              <a:ea typeface="MS PGothic" panose="020B0600070205080204" pitchFamily="34" charset="-128"/>
            </a:endParaRPr>
          </a:p>
        </p:txBody>
      </p:sp>
      <p:sp>
        <p:nvSpPr>
          <p:cNvPr id="195" name="Rectangle 153"/>
          <p:cNvSpPr>
            <a:spLocks noChangeArrowheads="1"/>
          </p:cNvSpPr>
          <p:nvPr/>
        </p:nvSpPr>
        <p:spPr bwMode="auto">
          <a:xfrm>
            <a:off x="1047801" y="1389828"/>
            <a:ext cx="8553400" cy="4488769"/>
          </a:xfrm>
          <a:prstGeom prst="rect">
            <a:avLst/>
          </a:prstGeom>
          <a:noFill/>
          <a:ln>
            <a:noFill/>
          </a:ln>
          <a:effectLst/>
        </p:spPr>
        <p:txBody>
          <a:bodyPr/>
          <a:lstStyle/>
          <a:p>
            <a:pPr marL="282575" indent="-282575">
              <a:spcBef>
                <a:spcPct val="20000"/>
              </a:spcBef>
              <a:buClr>
                <a:srgbClr val="000099"/>
              </a:buClr>
              <a:buSzPct val="100000"/>
              <a:buFont typeface="Wingdings" panose="05000000000000000000" pitchFamily="2" charset="2"/>
              <a:buChar char="§"/>
              <a:defRPr/>
            </a:pPr>
            <a:r>
              <a:rPr lang="en-US" sz="3200" dirty="0">
                <a:solidFill>
                  <a:srgbClr val="CC0000"/>
                </a:solidFill>
                <a:latin typeface="+mn-lt"/>
              </a:rPr>
              <a:t>continuous playout constraint</a:t>
            </a:r>
            <a:r>
              <a:rPr lang="en-US" sz="3200" i="0" dirty="0">
                <a:latin typeface="+mn-lt"/>
              </a:rPr>
              <a:t>: once client playout begins, playback must match original timing </a:t>
            </a:r>
            <a:endParaRPr lang="en-US" sz="3200" i="0" dirty="0">
              <a:latin typeface="+mn-lt"/>
            </a:endParaRPr>
          </a:p>
          <a:p>
            <a:pPr marL="682625" lvl="1" indent="-225425">
              <a:lnSpc>
                <a:spcPct val="90000"/>
              </a:lnSpc>
              <a:spcBef>
                <a:spcPct val="20000"/>
              </a:spcBef>
              <a:buClr>
                <a:srgbClr val="000099"/>
              </a:buClr>
              <a:buSzPct val="100000"/>
              <a:buFont typeface="Arial" panose="020B0604020202020204"/>
              <a:buChar char="•"/>
              <a:defRPr/>
            </a:pPr>
            <a:r>
              <a:rPr lang="en-US" sz="2800" i="0" dirty="0">
                <a:latin typeface="+mn-lt"/>
              </a:rPr>
              <a:t>… but </a:t>
            </a:r>
            <a:r>
              <a:rPr lang="en-US" sz="2800" dirty="0">
                <a:solidFill>
                  <a:srgbClr val="CC0000"/>
                </a:solidFill>
                <a:latin typeface="+mn-lt"/>
              </a:rPr>
              <a:t>network delays are variable </a:t>
            </a:r>
            <a:r>
              <a:rPr lang="en-US" sz="2800" i="0" dirty="0">
                <a:latin typeface="+mn-lt"/>
              </a:rPr>
              <a:t>(jitter), so will need </a:t>
            </a:r>
            <a:r>
              <a:rPr lang="en-US" sz="2800" dirty="0">
                <a:solidFill>
                  <a:srgbClr val="000099"/>
                </a:solidFill>
                <a:latin typeface="+mn-lt"/>
              </a:rPr>
              <a:t>client-side buffer </a:t>
            </a:r>
            <a:r>
              <a:rPr lang="en-US" sz="2800" i="0" dirty="0">
                <a:latin typeface="+mn-lt"/>
              </a:rPr>
              <a:t>to match playout requirements</a:t>
            </a:r>
            <a:endParaRPr lang="en-US" sz="2800" i="0" dirty="0">
              <a:latin typeface="+mn-lt"/>
            </a:endParaRPr>
          </a:p>
          <a:p>
            <a:pPr marL="342900" indent="-342900">
              <a:spcBef>
                <a:spcPct val="20000"/>
              </a:spcBef>
              <a:buClr>
                <a:srgbClr val="000099"/>
              </a:buClr>
              <a:buSzPct val="75000"/>
              <a:buFont typeface="Wingdings" panose="05000000000000000000" charset="0"/>
              <a:buChar char="v"/>
              <a:defRPr/>
            </a:pPr>
            <a:endParaRPr lang="en-US" sz="2400" i="0" dirty="0">
              <a:latin typeface="+mn-lt"/>
            </a:endParaRPr>
          </a:p>
        </p:txBody>
      </p:sp>
      <p:pic>
        <p:nvPicPr>
          <p:cNvPr id="44034" name="Picture 2" descr="Image result for netflix rebufferin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9635393" y="3044149"/>
            <a:ext cx="2124226" cy="1180125"/>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153"/>
          <p:cNvSpPr>
            <a:spLocks noChangeArrowheads="1"/>
          </p:cNvSpPr>
          <p:nvPr/>
        </p:nvSpPr>
        <p:spPr bwMode="auto">
          <a:xfrm>
            <a:off x="1047801" y="4167220"/>
            <a:ext cx="8171815" cy="1166462"/>
          </a:xfrm>
          <a:prstGeom prst="rect">
            <a:avLst/>
          </a:prstGeom>
          <a:noFill/>
          <a:ln>
            <a:noFill/>
          </a:ln>
          <a:effectLst/>
        </p:spPr>
        <p:txBody>
          <a:bodyPr/>
          <a:lstStyle/>
          <a:p>
            <a:pPr marL="282575" indent="-282575">
              <a:spcBef>
                <a:spcPct val="20000"/>
              </a:spcBef>
              <a:buClr>
                <a:srgbClr val="000099"/>
              </a:buClr>
              <a:buSzPct val="100000"/>
              <a:buFont typeface="Wingdings" panose="05000000000000000000" pitchFamily="2" charset="2"/>
              <a:buChar char="§"/>
              <a:defRPr/>
            </a:pPr>
            <a:r>
              <a:rPr lang="en-US" sz="3200" i="0" dirty="0">
                <a:latin typeface="+mn-lt"/>
              </a:rPr>
              <a:t>other challenges:</a:t>
            </a:r>
            <a:endParaRPr lang="en-US" sz="3200" i="0" dirty="0">
              <a:latin typeface="+mn-lt"/>
            </a:endParaRPr>
          </a:p>
          <a:p>
            <a:pPr marL="682625" lvl="1" indent="-225425">
              <a:spcBef>
                <a:spcPct val="20000"/>
              </a:spcBef>
              <a:buClr>
                <a:srgbClr val="000099"/>
              </a:buClr>
              <a:buSzPct val="100000"/>
              <a:buFont typeface="Arial" panose="020B0604020202020204"/>
              <a:buChar char="•"/>
              <a:defRPr/>
            </a:pPr>
            <a:r>
              <a:rPr lang="en-US" sz="2800" i="0" dirty="0">
                <a:latin typeface="+mn-lt"/>
              </a:rPr>
              <a:t>client interactivity: pause, fast-forward, rewind, jump through video</a:t>
            </a:r>
            <a:endParaRPr lang="en-US" sz="2800" i="0" dirty="0">
              <a:latin typeface="+mn-lt"/>
            </a:endParaRPr>
          </a:p>
          <a:p>
            <a:pPr marL="682625" lvl="1" indent="-225425">
              <a:spcBef>
                <a:spcPct val="20000"/>
              </a:spcBef>
              <a:buClr>
                <a:srgbClr val="000099"/>
              </a:buClr>
              <a:buSzPct val="100000"/>
              <a:buFont typeface="Arial" panose="020B0604020202020204"/>
              <a:buChar char="•"/>
              <a:defRPr/>
            </a:pPr>
            <a:r>
              <a:rPr lang="en-US" sz="2800" i="0" dirty="0">
                <a:latin typeface="+mn-lt"/>
              </a:rPr>
              <a:t>video packets may be lost, retransmitted</a:t>
            </a:r>
            <a:endParaRPr lang="en-US" sz="2800" i="0" dirty="0">
              <a:latin typeface="+mn-lt"/>
            </a:endParaRPr>
          </a:p>
          <a:p>
            <a:pPr marL="342900" indent="-342900">
              <a:spcBef>
                <a:spcPct val="20000"/>
              </a:spcBef>
              <a:buClr>
                <a:srgbClr val="000099"/>
              </a:buClr>
              <a:buSzPct val="75000"/>
              <a:buFont typeface="Wingdings" panose="05000000000000000000" charset="0"/>
              <a:buChar char="v"/>
              <a:defRPr/>
            </a:pPr>
            <a:endParaRPr lang="en-US" sz="2400" i="0" dirty="0">
              <a:latin typeface="+mn-lt"/>
            </a:endParaRPr>
          </a:p>
        </p:txBody>
      </p:sp>
      <p:sp>
        <p:nvSpPr>
          <p:cNvPr id="8"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838200" y="451821"/>
            <a:ext cx="10515600" cy="894622"/>
          </a:xfrm>
        </p:spPr>
        <p:txBody>
          <a:bodyPr>
            <a:normAutofit/>
          </a:bodyPr>
          <a:lstStyle/>
          <a:p>
            <a:r>
              <a:rPr lang="en-US" altLang="en-US" sz="4400" dirty="0">
                <a:ea typeface="MS PGothic" panose="020B0600070205080204" pitchFamily="34" charset="-128"/>
              </a:rPr>
              <a:t>Streaming stored </a:t>
            </a:r>
            <a:r>
              <a:rPr lang="en-US" altLang="en-US" dirty="0">
                <a:ea typeface="MS PGothic" panose="020B0600070205080204" pitchFamily="34" charset="-128"/>
              </a:rPr>
              <a:t>v</a:t>
            </a:r>
            <a:r>
              <a:rPr lang="en-US" altLang="en-US" sz="4400" dirty="0">
                <a:ea typeface="MS PGothic" panose="020B0600070205080204" pitchFamily="34" charset="-128"/>
              </a:rPr>
              <a:t>ideo: playout buffering</a:t>
            </a:r>
            <a:endParaRPr lang="en-US" altLang="en-US" sz="4400" dirty="0">
              <a:ea typeface="MS PGothic" panose="020B0600070205080204" pitchFamily="34" charset="-128"/>
            </a:endParaRPr>
          </a:p>
        </p:txBody>
      </p:sp>
      <p:sp>
        <p:nvSpPr>
          <p:cNvPr id="195" name="Line 9"/>
          <p:cNvSpPr>
            <a:spLocks noChangeShapeType="1"/>
          </p:cNvSpPr>
          <p:nvPr/>
        </p:nvSpPr>
        <p:spPr bwMode="auto">
          <a:xfrm>
            <a:off x="2445774" y="1667644"/>
            <a:ext cx="0" cy="2852737"/>
          </a:xfrm>
          <a:prstGeom prst="line">
            <a:avLst/>
          </a:prstGeom>
          <a:noFill/>
          <a:ln w="28575">
            <a:solidFill>
              <a:schemeClr val="tx1"/>
            </a:solidFill>
            <a:round/>
          </a:ln>
          <a:effectLst/>
        </p:spPr>
        <p:txBody>
          <a:bodyPr wrap="none" anchor="ctr"/>
          <a:lstStyle/>
          <a:p>
            <a:pPr>
              <a:lnSpc>
                <a:spcPct val="90000"/>
              </a:lnSpc>
              <a:defRPr/>
            </a:pPr>
            <a:endParaRPr lang="en-US" sz="2000" i="0" dirty="0">
              <a:cs typeface="Arial" panose="020B0604020202020204"/>
            </a:endParaRPr>
          </a:p>
        </p:txBody>
      </p:sp>
      <p:sp>
        <p:nvSpPr>
          <p:cNvPr id="196" name="Line 10"/>
          <p:cNvSpPr>
            <a:spLocks noChangeShapeType="1"/>
          </p:cNvSpPr>
          <p:nvPr/>
        </p:nvSpPr>
        <p:spPr bwMode="auto">
          <a:xfrm flipH="1">
            <a:off x="2436249" y="4510856"/>
            <a:ext cx="7815263" cy="14288"/>
          </a:xfrm>
          <a:prstGeom prst="line">
            <a:avLst/>
          </a:prstGeom>
          <a:noFill/>
          <a:ln w="28575">
            <a:solidFill>
              <a:schemeClr val="tx1"/>
            </a:solidFill>
            <a:round/>
            <a:headEnd type="triangle" w="med" len="med"/>
          </a:ln>
          <a:effectLst/>
        </p:spPr>
        <p:txBody>
          <a:bodyPr wrap="none" anchor="ctr"/>
          <a:lstStyle/>
          <a:p>
            <a:pPr>
              <a:lnSpc>
                <a:spcPct val="90000"/>
              </a:lnSpc>
              <a:defRPr/>
            </a:pPr>
            <a:endParaRPr lang="en-US" sz="2000" i="0" dirty="0">
              <a:cs typeface="Arial" panose="020B0604020202020204"/>
            </a:endParaRPr>
          </a:p>
        </p:txBody>
      </p:sp>
      <p:sp>
        <p:nvSpPr>
          <p:cNvPr id="197" name="Text Box 58"/>
          <p:cNvSpPr txBox="1">
            <a:spLocks noChangeArrowheads="1"/>
          </p:cNvSpPr>
          <p:nvPr/>
        </p:nvSpPr>
        <p:spPr bwMode="auto">
          <a:xfrm>
            <a:off x="3077599" y="1770831"/>
            <a:ext cx="1884555" cy="923330"/>
          </a:xfrm>
          <a:prstGeom prst="rect">
            <a:avLst/>
          </a:prstGeom>
          <a:noFill/>
          <a:ln>
            <a:noFill/>
          </a:ln>
          <a:effectLst/>
        </p:spPr>
        <p:txBody>
          <a:bodyPr wrap="none">
            <a:spAutoFit/>
          </a:bodyPr>
          <a:lstStyle/>
          <a:p>
            <a:pPr>
              <a:lnSpc>
                <a:spcPct val="90000"/>
              </a:lnSpc>
              <a:defRPr/>
            </a:pPr>
            <a:r>
              <a:rPr lang="en-US" sz="2000" i="0" dirty="0">
                <a:solidFill>
                  <a:srgbClr val="CC0000"/>
                </a:solidFill>
                <a:cs typeface="Arial" panose="020B0604020202020204"/>
              </a:rPr>
              <a:t>       constant bit </a:t>
            </a:r>
            <a:endParaRPr lang="en-US" sz="2000" i="0" dirty="0">
              <a:solidFill>
                <a:srgbClr val="CC0000"/>
              </a:solidFill>
              <a:cs typeface="Arial" panose="020B0604020202020204"/>
            </a:endParaRPr>
          </a:p>
          <a:p>
            <a:pPr>
              <a:lnSpc>
                <a:spcPct val="90000"/>
              </a:lnSpc>
              <a:defRPr/>
            </a:pPr>
            <a:r>
              <a:rPr lang="en-US" sz="2000" i="0" dirty="0">
                <a:solidFill>
                  <a:srgbClr val="CC0000"/>
                </a:solidFill>
                <a:cs typeface="Arial" panose="020B0604020202020204"/>
              </a:rPr>
              <a:t>      rate video</a:t>
            </a:r>
            <a:endParaRPr lang="en-US" sz="2000" i="0" dirty="0">
              <a:solidFill>
                <a:srgbClr val="CC0000"/>
              </a:solidFill>
              <a:cs typeface="Arial" panose="020B0604020202020204"/>
            </a:endParaRPr>
          </a:p>
          <a:p>
            <a:pPr>
              <a:lnSpc>
                <a:spcPct val="90000"/>
              </a:lnSpc>
              <a:defRPr/>
            </a:pPr>
            <a:r>
              <a:rPr lang="en-US" sz="2000" i="0" dirty="0">
                <a:solidFill>
                  <a:srgbClr val="CC0000"/>
                </a:solidFill>
                <a:cs typeface="Arial" panose="020B0604020202020204"/>
              </a:rPr>
              <a:t>transmission</a:t>
            </a:r>
            <a:endParaRPr lang="en-US" sz="2000" i="0" dirty="0">
              <a:solidFill>
                <a:srgbClr val="CC0000"/>
              </a:solidFill>
              <a:cs typeface="Arial" panose="020B0604020202020204"/>
            </a:endParaRPr>
          </a:p>
        </p:txBody>
      </p:sp>
      <p:grpSp>
        <p:nvGrpSpPr>
          <p:cNvPr id="198" name="Group 60"/>
          <p:cNvGrpSpPr/>
          <p:nvPr/>
        </p:nvGrpSpPr>
        <p:grpSpPr bwMode="auto">
          <a:xfrm>
            <a:off x="2826774" y="1997844"/>
            <a:ext cx="2552700" cy="2525712"/>
            <a:chOff x="648" y="1147"/>
            <a:chExt cx="1608" cy="1591"/>
          </a:xfrm>
        </p:grpSpPr>
        <p:grpSp>
          <p:nvGrpSpPr>
            <p:cNvPr id="199" name="Group 61"/>
            <p:cNvGrpSpPr/>
            <p:nvPr/>
          </p:nvGrpSpPr>
          <p:grpSpPr bwMode="auto">
            <a:xfrm>
              <a:off x="648" y="1725"/>
              <a:ext cx="1024" cy="1013"/>
              <a:chOff x="672" y="1071"/>
              <a:chExt cx="1024" cy="1013"/>
            </a:xfrm>
          </p:grpSpPr>
          <p:grpSp>
            <p:nvGrpSpPr>
              <p:cNvPr id="215" name="Group 62"/>
              <p:cNvGrpSpPr/>
              <p:nvPr/>
            </p:nvGrpSpPr>
            <p:grpSpPr bwMode="auto">
              <a:xfrm>
                <a:off x="672" y="1506"/>
                <a:ext cx="583" cy="578"/>
                <a:chOff x="672" y="1486"/>
                <a:chExt cx="583" cy="578"/>
              </a:xfrm>
            </p:grpSpPr>
            <p:grpSp>
              <p:nvGrpSpPr>
                <p:cNvPr id="226" name="Group 63"/>
                <p:cNvGrpSpPr/>
                <p:nvPr/>
              </p:nvGrpSpPr>
              <p:grpSpPr bwMode="auto">
                <a:xfrm>
                  <a:off x="672" y="1776"/>
                  <a:ext cx="291" cy="288"/>
                  <a:chOff x="672" y="1776"/>
                  <a:chExt cx="291" cy="288"/>
                </a:xfrm>
              </p:grpSpPr>
              <p:grpSp>
                <p:nvGrpSpPr>
                  <p:cNvPr id="234" name="Group 64"/>
                  <p:cNvGrpSpPr/>
                  <p:nvPr/>
                </p:nvGrpSpPr>
                <p:grpSpPr bwMode="auto">
                  <a:xfrm>
                    <a:off x="672" y="1920"/>
                    <a:ext cx="145" cy="144"/>
                    <a:chOff x="672" y="1920"/>
                    <a:chExt cx="145" cy="144"/>
                  </a:xfrm>
                </p:grpSpPr>
                <p:sp>
                  <p:nvSpPr>
                    <p:cNvPr id="238" name="Line 65"/>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sp>
                  <p:nvSpPr>
                    <p:cNvPr id="239" name="Line 66"/>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235" name="Group 67"/>
                  <p:cNvGrpSpPr/>
                  <p:nvPr/>
                </p:nvGrpSpPr>
                <p:grpSpPr bwMode="auto">
                  <a:xfrm>
                    <a:off x="818" y="1776"/>
                    <a:ext cx="145" cy="144"/>
                    <a:chOff x="672" y="1920"/>
                    <a:chExt cx="145" cy="144"/>
                  </a:xfrm>
                </p:grpSpPr>
                <p:sp>
                  <p:nvSpPr>
                    <p:cNvPr id="236" name="Line 68"/>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sp>
                  <p:nvSpPr>
                    <p:cNvPr id="237" name="Line 69"/>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grpSp>
            </p:grpSp>
            <p:grpSp>
              <p:nvGrpSpPr>
                <p:cNvPr id="227" name="Group 70"/>
                <p:cNvGrpSpPr/>
                <p:nvPr/>
              </p:nvGrpSpPr>
              <p:grpSpPr bwMode="auto">
                <a:xfrm>
                  <a:off x="964" y="1486"/>
                  <a:ext cx="291" cy="288"/>
                  <a:chOff x="672" y="1776"/>
                  <a:chExt cx="291" cy="288"/>
                </a:xfrm>
              </p:grpSpPr>
              <p:grpSp>
                <p:nvGrpSpPr>
                  <p:cNvPr id="228" name="Group 71"/>
                  <p:cNvGrpSpPr/>
                  <p:nvPr/>
                </p:nvGrpSpPr>
                <p:grpSpPr bwMode="auto">
                  <a:xfrm>
                    <a:off x="672" y="1920"/>
                    <a:ext cx="145" cy="144"/>
                    <a:chOff x="672" y="1920"/>
                    <a:chExt cx="145" cy="144"/>
                  </a:xfrm>
                </p:grpSpPr>
                <p:sp>
                  <p:nvSpPr>
                    <p:cNvPr id="232" name="Line 72"/>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sp>
                  <p:nvSpPr>
                    <p:cNvPr id="233" name="Line 73"/>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229" name="Group 74"/>
                  <p:cNvGrpSpPr/>
                  <p:nvPr/>
                </p:nvGrpSpPr>
                <p:grpSpPr bwMode="auto">
                  <a:xfrm>
                    <a:off x="818" y="1776"/>
                    <a:ext cx="145" cy="144"/>
                    <a:chOff x="672" y="1920"/>
                    <a:chExt cx="145" cy="144"/>
                  </a:xfrm>
                </p:grpSpPr>
                <p:sp>
                  <p:nvSpPr>
                    <p:cNvPr id="230" name="Line 75"/>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sp>
                  <p:nvSpPr>
                    <p:cNvPr id="231" name="Line 76"/>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grpSp>
            </p:grpSp>
          </p:grpSp>
          <p:grpSp>
            <p:nvGrpSpPr>
              <p:cNvPr id="216" name="Group 77"/>
              <p:cNvGrpSpPr/>
              <p:nvPr/>
            </p:nvGrpSpPr>
            <p:grpSpPr bwMode="auto">
              <a:xfrm>
                <a:off x="1259" y="1217"/>
                <a:ext cx="291" cy="288"/>
                <a:chOff x="672" y="1776"/>
                <a:chExt cx="291" cy="288"/>
              </a:xfrm>
            </p:grpSpPr>
            <p:grpSp>
              <p:nvGrpSpPr>
                <p:cNvPr id="220" name="Group 78"/>
                <p:cNvGrpSpPr/>
                <p:nvPr/>
              </p:nvGrpSpPr>
              <p:grpSpPr bwMode="auto">
                <a:xfrm>
                  <a:off x="672" y="1920"/>
                  <a:ext cx="145" cy="144"/>
                  <a:chOff x="672" y="1920"/>
                  <a:chExt cx="145" cy="144"/>
                </a:xfrm>
              </p:grpSpPr>
              <p:sp>
                <p:nvSpPr>
                  <p:cNvPr id="224" name="Line 79"/>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sp>
                <p:nvSpPr>
                  <p:cNvPr id="225" name="Line 80"/>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221" name="Group 81"/>
                <p:cNvGrpSpPr/>
                <p:nvPr/>
              </p:nvGrpSpPr>
              <p:grpSpPr bwMode="auto">
                <a:xfrm>
                  <a:off x="818" y="1776"/>
                  <a:ext cx="145" cy="144"/>
                  <a:chOff x="672" y="1920"/>
                  <a:chExt cx="145" cy="144"/>
                </a:xfrm>
              </p:grpSpPr>
              <p:sp>
                <p:nvSpPr>
                  <p:cNvPr id="222" name="Line 82"/>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sp>
                <p:nvSpPr>
                  <p:cNvPr id="223" name="Line 83"/>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grpSp>
          </p:grpSp>
          <p:grpSp>
            <p:nvGrpSpPr>
              <p:cNvPr id="217" name="Group 84"/>
              <p:cNvGrpSpPr/>
              <p:nvPr/>
            </p:nvGrpSpPr>
            <p:grpSpPr bwMode="auto">
              <a:xfrm>
                <a:off x="1551" y="1071"/>
                <a:ext cx="145" cy="144"/>
                <a:chOff x="672" y="1920"/>
                <a:chExt cx="145" cy="144"/>
              </a:xfrm>
            </p:grpSpPr>
            <p:sp>
              <p:nvSpPr>
                <p:cNvPr id="218" name="Line 85"/>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sp>
              <p:nvSpPr>
                <p:cNvPr id="219" name="Line 86"/>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grpSp>
        </p:grpSp>
        <p:grpSp>
          <p:nvGrpSpPr>
            <p:cNvPr id="200" name="Group 87"/>
            <p:cNvGrpSpPr/>
            <p:nvPr/>
          </p:nvGrpSpPr>
          <p:grpSpPr bwMode="auto">
            <a:xfrm>
              <a:off x="1673" y="1147"/>
              <a:ext cx="583" cy="578"/>
              <a:chOff x="672" y="1486"/>
              <a:chExt cx="583" cy="578"/>
            </a:xfrm>
          </p:grpSpPr>
          <p:grpSp>
            <p:nvGrpSpPr>
              <p:cNvPr id="201" name="Group 88"/>
              <p:cNvGrpSpPr/>
              <p:nvPr/>
            </p:nvGrpSpPr>
            <p:grpSpPr bwMode="auto">
              <a:xfrm>
                <a:off x="672" y="1776"/>
                <a:ext cx="291" cy="288"/>
                <a:chOff x="672" y="1776"/>
                <a:chExt cx="291" cy="288"/>
              </a:xfrm>
            </p:grpSpPr>
            <p:grpSp>
              <p:nvGrpSpPr>
                <p:cNvPr id="209" name="Group 89"/>
                <p:cNvGrpSpPr/>
                <p:nvPr/>
              </p:nvGrpSpPr>
              <p:grpSpPr bwMode="auto">
                <a:xfrm>
                  <a:off x="672" y="1920"/>
                  <a:ext cx="145" cy="144"/>
                  <a:chOff x="672" y="1920"/>
                  <a:chExt cx="145" cy="144"/>
                </a:xfrm>
              </p:grpSpPr>
              <p:sp>
                <p:nvSpPr>
                  <p:cNvPr id="213" name="Line 90"/>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sp>
                <p:nvSpPr>
                  <p:cNvPr id="214" name="Line 91"/>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210" name="Group 92"/>
                <p:cNvGrpSpPr/>
                <p:nvPr/>
              </p:nvGrpSpPr>
              <p:grpSpPr bwMode="auto">
                <a:xfrm>
                  <a:off x="818" y="1776"/>
                  <a:ext cx="145" cy="144"/>
                  <a:chOff x="672" y="1920"/>
                  <a:chExt cx="145" cy="144"/>
                </a:xfrm>
              </p:grpSpPr>
              <p:sp>
                <p:nvSpPr>
                  <p:cNvPr id="211" name="Line 93"/>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sp>
                <p:nvSpPr>
                  <p:cNvPr id="212" name="Line 94"/>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grpSp>
          </p:grpSp>
          <p:grpSp>
            <p:nvGrpSpPr>
              <p:cNvPr id="202" name="Group 95"/>
              <p:cNvGrpSpPr/>
              <p:nvPr/>
            </p:nvGrpSpPr>
            <p:grpSpPr bwMode="auto">
              <a:xfrm>
                <a:off x="964" y="1486"/>
                <a:ext cx="291" cy="288"/>
                <a:chOff x="672" y="1776"/>
                <a:chExt cx="291" cy="288"/>
              </a:xfrm>
            </p:grpSpPr>
            <p:grpSp>
              <p:nvGrpSpPr>
                <p:cNvPr id="203" name="Group 96"/>
                <p:cNvGrpSpPr/>
                <p:nvPr/>
              </p:nvGrpSpPr>
              <p:grpSpPr bwMode="auto">
                <a:xfrm>
                  <a:off x="672" y="1920"/>
                  <a:ext cx="145" cy="144"/>
                  <a:chOff x="672" y="1920"/>
                  <a:chExt cx="145" cy="144"/>
                </a:xfrm>
              </p:grpSpPr>
              <p:sp>
                <p:nvSpPr>
                  <p:cNvPr id="207" name="Line 97"/>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sp>
                <p:nvSpPr>
                  <p:cNvPr id="208" name="Line 98"/>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204" name="Group 99"/>
                <p:cNvGrpSpPr/>
                <p:nvPr/>
              </p:nvGrpSpPr>
              <p:grpSpPr bwMode="auto">
                <a:xfrm>
                  <a:off x="818" y="1776"/>
                  <a:ext cx="145" cy="144"/>
                  <a:chOff x="672" y="1920"/>
                  <a:chExt cx="145" cy="144"/>
                </a:xfrm>
              </p:grpSpPr>
              <p:sp>
                <p:nvSpPr>
                  <p:cNvPr id="205" name="Line 100"/>
                  <p:cNvSpPr>
                    <a:spLocks noChangeShapeType="1"/>
                  </p:cNvSpPr>
                  <p:nvPr/>
                </p:nvSpPr>
                <p:spPr bwMode="auto">
                  <a:xfrm>
                    <a:off x="672" y="1920"/>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sp>
                <p:nvSpPr>
                  <p:cNvPr id="206" name="Line 101"/>
                  <p:cNvSpPr>
                    <a:spLocks noChangeShapeType="1"/>
                  </p:cNvSpPr>
                  <p:nvPr/>
                </p:nvSpPr>
                <p:spPr bwMode="auto">
                  <a:xfrm rot="5400000">
                    <a:off x="745" y="1848"/>
                    <a:ext cx="0" cy="144"/>
                  </a:xfrm>
                  <a:prstGeom prst="line">
                    <a:avLst/>
                  </a:prstGeom>
                  <a:noFill/>
                  <a:ln w="19050">
                    <a:solidFill>
                      <a:srgbClr val="FF0000"/>
                    </a:solidFill>
                    <a:round/>
                  </a:ln>
                  <a:effectLst/>
                </p:spPr>
                <p:txBody>
                  <a:bodyPr wrap="none" anchor="ctr"/>
                  <a:lstStyle/>
                  <a:p>
                    <a:pPr>
                      <a:lnSpc>
                        <a:spcPct val="90000"/>
                      </a:lnSpc>
                      <a:defRPr/>
                    </a:pPr>
                    <a:endParaRPr lang="en-US" sz="2000" i="0" dirty="0">
                      <a:cs typeface="Arial" panose="020B0604020202020204"/>
                    </a:endParaRPr>
                  </a:p>
                </p:txBody>
              </p:sp>
            </p:grpSp>
          </p:grpSp>
        </p:grpSp>
      </p:grpSp>
      <p:sp>
        <p:nvSpPr>
          <p:cNvPr id="240" name="Text Box 150"/>
          <p:cNvSpPr txBox="1">
            <a:spLocks noChangeArrowheads="1"/>
          </p:cNvSpPr>
          <p:nvPr/>
        </p:nvSpPr>
        <p:spPr bwMode="auto">
          <a:xfrm rot="-5433387">
            <a:off x="1194824" y="2814097"/>
            <a:ext cx="1957387" cy="369332"/>
          </a:xfrm>
          <a:prstGeom prst="rect">
            <a:avLst/>
          </a:prstGeom>
          <a:noFill/>
          <a:ln>
            <a:noFill/>
          </a:ln>
          <a:effectLst/>
        </p:spPr>
        <p:txBody>
          <a:bodyPr>
            <a:spAutoFit/>
          </a:bodyPr>
          <a:lstStyle/>
          <a:p>
            <a:pPr>
              <a:lnSpc>
                <a:spcPct val="90000"/>
              </a:lnSpc>
              <a:defRPr/>
            </a:pPr>
            <a:r>
              <a:rPr lang="en-US" sz="2000" i="0" dirty="0">
                <a:cs typeface="Arial" panose="020B0604020202020204"/>
              </a:rPr>
              <a:t>Cumulative data</a:t>
            </a:r>
            <a:endParaRPr lang="en-US" sz="2000" i="0" dirty="0">
              <a:cs typeface="Arial" panose="020B0604020202020204"/>
            </a:endParaRPr>
          </a:p>
        </p:txBody>
      </p:sp>
      <p:sp>
        <p:nvSpPr>
          <p:cNvPr id="241" name="Text Box 154"/>
          <p:cNvSpPr txBox="1">
            <a:spLocks noChangeArrowheads="1"/>
          </p:cNvSpPr>
          <p:nvPr/>
        </p:nvSpPr>
        <p:spPr bwMode="auto">
          <a:xfrm>
            <a:off x="9706999" y="4533081"/>
            <a:ext cx="663964" cy="369332"/>
          </a:xfrm>
          <a:prstGeom prst="rect">
            <a:avLst/>
          </a:prstGeom>
          <a:noFill/>
          <a:ln>
            <a:noFill/>
          </a:ln>
          <a:effectLst/>
        </p:spPr>
        <p:txBody>
          <a:bodyPr wrap="none">
            <a:spAutoFit/>
          </a:bodyPr>
          <a:lstStyle/>
          <a:p>
            <a:pPr>
              <a:lnSpc>
                <a:spcPct val="90000"/>
              </a:lnSpc>
              <a:defRPr/>
            </a:pPr>
            <a:r>
              <a:rPr lang="en-US" sz="2000" i="0" dirty="0">
                <a:cs typeface="Arial" panose="020B0604020202020204"/>
              </a:rPr>
              <a:t>time</a:t>
            </a:r>
            <a:endParaRPr lang="en-US" sz="2000" i="0" dirty="0">
              <a:cs typeface="Arial" panose="020B0604020202020204"/>
            </a:endParaRPr>
          </a:p>
        </p:txBody>
      </p:sp>
      <p:grpSp>
        <p:nvGrpSpPr>
          <p:cNvPr id="242" name="Group 201"/>
          <p:cNvGrpSpPr/>
          <p:nvPr/>
        </p:nvGrpSpPr>
        <p:grpSpPr bwMode="auto">
          <a:xfrm>
            <a:off x="4103124" y="2012131"/>
            <a:ext cx="3500438" cy="2520950"/>
            <a:chOff x="1572" y="1156"/>
            <a:chExt cx="2205" cy="1588"/>
          </a:xfrm>
        </p:grpSpPr>
        <p:grpSp>
          <p:nvGrpSpPr>
            <p:cNvPr id="243" name="Group 198"/>
            <p:cNvGrpSpPr/>
            <p:nvPr/>
          </p:nvGrpSpPr>
          <p:grpSpPr bwMode="auto">
            <a:xfrm>
              <a:off x="1938" y="1156"/>
              <a:ext cx="1839" cy="1588"/>
              <a:chOff x="1938" y="1156"/>
              <a:chExt cx="1839" cy="1588"/>
            </a:xfrm>
          </p:grpSpPr>
          <p:grpSp>
            <p:nvGrpSpPr>
              <p:cNvPr id="247" name="Group 106"/>
              <p:cNvGrpSpPr/>
              <p:nvPr/>
            </p:nvGrpSpPr>
            <p:grpSpPr bwMode="auto">
              <a:xfrm>
                <a:off x="1938" y="2600"/>
                <a:ext cx="319" cy="144"/>
                <a:chOff x="672" y="1920"/>
                <a:chExt cx="145" cy="144"/>
              </a:xfrm>
            </p:grpSpPr>
            <p:sp>
              <p:nvSpPr>
                <p:cNvPr id="469" name="Line 107"/>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sp>
              <p:nvSpPr>
                <p:cNvPr id="470" name="Line 108"/>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248" name="Group 109"/>
              <p:cNvGrpSpPr/>
              <p:nvPr/>
            </p:nvGrpSpPr>
            <p:grpSpPr bwMode="auto">
              <a:xfrm>
                <a:off x="2252" y="2456"/>
                <a:ext cx="73" cy="144"/>
                <a:chOff x="672" y="1920"/>
                <a:chExt cx="145" cy="144"/>
              </a:xfrm>
            </p:grpSpPr>
            <p:sp>
              <p:nvSpPr>
                <p:cNvPr id="467" name="Line 110"/>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sp>
              <p:nvSpPr>
                <p:cNvPr id="468" name="Line 111"/>
                <p:cNvSpPr>
                  <a:spLocks noChangeShapeType="1"/>
                </p:cNvSpPr>
                <p:nvPr/>
              </p:nvSpPr>
              <p:spPr bwMode="auto">
                <a:xfrm rot="5400000">
                  <a:off x="745" y="1849"/>
                  <a:ext cx="0" cy="141"/>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249" name="Group 112"/>
              <p:cNvGrpSpPr/>
              <p:nvPr/>
            </p:nvGrpSpPr>
            <p:grpSpPr bwMode="auto">
              <a:xfrm>
                <a:off x="2317" y="2169"/>
                <a:ext cx="126" cy="288"/>
                <a:chOff x="672" y="1776"/>
                <a:chExt cx="291" cy="288"/>
              </a:xfrm>
            </p:grpSpPr>
            <p:grpSp>
              <p:nvGrpSpPr>
                <p:cNvPr id="461" name="Group 113"/>
                <p:cNvGrpSpPr/>
                <p:nvPr/>
              </p:nvGrpSpPr>
              <p:grpSpPr bwMode="auto">
                <a:xfrm>
                  <a:off x="672" y="1920"/>
                  <a:ext cx="145" cy="144"/>
                  <a:chOff x="672" y="1920"/>
                  <a:chExt cx="145" cy="144"/>
                </a:xfrm>
              </p:grpSpPr>
              <p:sp>
                <p:nvSpPr>
                  <p:cNvPr id="465" name="Line 114"/>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sp>
                <p:nvSpPr>
                  <p:cNvPr id="466" name="Line 115"/>
                  <p:cNvSpPr>
                    <a:spLocks noChangeShapeType="1"/>
                  </p:cNvSpPr>
                  <p:nvPr/>
                </p:nvSpPr>
                <p:spPr bwMode="auto">
                  <a:xfrm rot="5400000">
                    <a:off x="745" y="1847"/>
                    <a:ext cx="0" cy="145"/>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462" name="Group 116"/>
                <p:cNvGrpSpPr/>
                <p:nvPr/>
              </p:nvGrpSpPr>
              <p:grpSpPr bwMode="auto">
                <a:xfrm>
                  <a:off x="818" y="1776"/>
                  <a:ext cx="145" cy="144"/>
                  <a:chOff x="672" y="1920"/>
                  <a:chExt cx="145" cy="144"/>
                </a:xfrm>
              </p:grpSpPr>
              <p:sp>
                <p:nvSpPr>
                  <p:cNvPr id="463" name="Line 117"/>
                  <p:cNvSpPr>
                    <a:spLocks noChangeShapeType="1"/>
                  </p:cNvSpPr>
                  <p:nvPr/>
                </p:nvSpPr>
                <p:spPr bwMode="auto">
                  <a:xfrm>
                    <a:off x="671" y="1920"/>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sp>
                <p:nvSpPr>
                  <p:cNvPr id="464" name="Line 118"/>
                  <p:cNvSpPr>
                    <a:spLocks noChangeShapeType="1"/>
                  </p:cNvSpPr>
                  <p:nvPr/>
                </p:nvSpPr>
                <p:spPr bwMode="auto">
                  <a:xfrm rot="5400000">
                    <a:off x="744" y="1847"/>
                    <a:ext cx="0" cy="146"/>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grpSp>
          </p:grpSp>
          <p:grpSp>
            <p:nvGrpSpPr>
              <p:cNvPr id="250" name="Group 119"/>
              <p:cNvGrpSpPr/>
              <p:nvPr/>
            </p:nvGrpSpPr>
            <p:grpSpPr bwMode="auto">
              <a:xfrm>
                <a:off x="2441" y="1877"/>
                <a:ext cx="609" cy="288"/>
                <a:chOff x="672" y="1776"/>
                <a:chExt cx="291" cy="288"/>
              </a:xfrm>
            </p:grpSpPr>
            <p:grpSp>
              <p:nvGrpSpPr>
                <p:cNvPr id="455" name="Group 120"/>
                <p:cNvGrpSpPr/>
                <p:nvPr/>
              </p:nvGrpSpPr>
              <p:grpSpPr bwMode="auto">
                <a:xfrm>
                  <a:off x="672" y="1920"/>
                  <a:ext cx="145" cy="144"/>
                  <a:chOff x="672" y="1920"/>
                  <a:chExt cx="145" cy="144"/>
                </a:xfrm>
              </p:grpSpPr>
              <p:sp>
                <p:nvSpPr>
                  <p:cNvPr id="459" name="Line 121"/>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sp>
                <p:nvSpPr>
                  <p:cNvPr id="460" name="Line 122"/>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456" name="Group 123"/>
                <p:cNvGrpSpPr/>
                <p:nvPr/>
              </p:nvGrpSpPr>
              <p:grpSpPr bwMode="auto">
                <a:xfrm>
                  <a:off x="818" y="1776"/>
                  <a:ext cx="145" cy="144"/>
                  <a:chOff x="672" y="1920"/>
                  <a:chExt cx="145" cy="144"/>
                </a:xfrm>
              </p:grpSpPr>
              <p:sp>
                <p:nvSpPr>
                  <p:cNvPr id="457" name="Line 124"/>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sp>
                <p:nvSpPr>
                  <p:cNvPr id="458" name="Line 125"/>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grpSp>
          </p:grpSp>
          <p:grpSp>
            <p:nvGrpSpPr>
              <p:cNvPr id="251" name="Group 126"/>
              <p:cNvGrpSpPr/>
              <p:nvPr/>
            </p:nvGrpSpPr>
            <p:grpSpPr bwMode="auto">
              <a:xfrm>
                <a:off x="3045" y="1740"/>
                <a:ext cx="52" cy="144"/>
                <a:chOff x="672" y="1920"/>
                <a:chExt cx="145" cy="144"/>
              </a:xfrm>
            </p:grpSpPr>
            <p:sp>
              <p:nvSpPr>
                <p:cNvPr id="265" name="Line 127"/>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sp>
              <p:nvSpPr>
                <p:cNvPr id="454" name="Line 128"/>
                <p:cNvSpPr>
                  <a:spLocks noChangeShapeType="1"/>
                </p:cNvSpPr>
                <p:nvPr/>
              </p:nvSpPr>
              <p:spPr bwMode="auto">
                <a:xfrm rot="5400000">
                  <a:off x="745" y="1849"/>
                  <a:ext cx="0" cy="145"/>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252" name="Group 131"/>
              <p:cNvGrpSpPr/>
              <p:nvPr/>
            </p:nvGrpSpPr>
            <p:grpSpPr bwMode="auto">
              <a:xfrm>
                <a:off x="3092" y="1590"/>
                <a:ext cx="469" cy="144"/>
                <a:chOff x="672" y="1920"/>
                <a:chExt cx="145" cy="144"/>
              </a:xfrm>
            </p:grpSpPr>
            <p:sp>
              <p:nvSpPr>
                <p:cNvPr id="263" name="Line 132"/>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sp>
              <p:nvSpPr>
                <p:cNvPr id="264" name="Line 133"/>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253" name="Group 134"/>
              <p:cNvGrpSpPr/>
              <p:nvPr/>
            </p:nvGrpSpPr>
            <p:grpSpPr bwMode="auto">
              <a:xfrm>
                <a:off x="3550" y="1446"/>
                <a:ext cx="145" cy="144"/>
                <a:chOff x="672" y="1920"/>
                <a:chExt cx="145" cy="144"/>
              </a:xfrm>
            </p:grpSpPr>
            <p:sp>
              <p:nvSpPr>
                <p:cNvPr id="261" name="Line 135"/>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sp>
              <p:nvSpPr>
                <p:cNvPr id="262" name="Line 136"/>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254" name="Group 137"/>
              <p:cNvGrpSpPr/>
              <p:nvPr/>
            </p:nvGrpSpPr>
            <p:grpSpPr bwMode="auto">
              <a:xfrm>
                <a:off x="3690" y="1156"/>
                <a:ext cx="87" cy="288"/>
                <a:chOff x="672" y="1776"/>
                <a:chExt cx="291" cy="288"/>
              </a:xfrm>
            </p:grpSpPr>
            <p:grpSp>
              <p:nvGrpSpPr>
                <p:cNvPr id="255" name="Group 138"/>
                <p:cNvGrpSpPr/>
                <p:nvPr/>
              </p:nvGrpSpPr>
              <p:grpSpPr bwMode="auto">
                <a:xfrm>
                  <a:off x="672" y="1920"/>
                  <a:ext cx="145" cy="144"/>
                  <a:chOff x="672" y="1920"/>
                  <a:chExt cx="145" cy="144"/>
                </a:xfrm>
              </p:grpSpPr>
              <p:sp>
                <p:nvSpPr>
                  <p:cNvPr id="259" name="Line 139"/>
                  <p:cNvSpPr>
                    <a:spLocks noChangeShapeType="1"/>
                  </p:cNvSpPr>
                  <p:nvPr/>
                </p:nvSpPr>
                <p:spPr bwMode="auto">
                  <a:xfrm>
                    <a:off x="672" y="1920"/>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sp>
                <p:nvSpPr>
                  <p:cNvPr id="260" name="Line 140"/>
                  <p:cNvSpPr>
                    <a:spLocks noChangeShapeType="1"/>
                  </p:cNvSpPr>
                  <p:nvPr/>
                </p:nvSpPr>
                <p:spPr bwMode="auto">
                  <a:xfrm rot="5400000">
                    <a:off x="744" y="1848"/>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256" name="Group 141"/>
                <p:cNvGrpSpPr/>
                <p:nvPr/>
              </p:nvGrpSpPr>
              <p:grpSpPr bwMode="auto">
                <a:xfrm>
                  <a:off x="818" y="1776"/>
                  <a:ext cx="145" cy="144"/>
                  <a:chOff x="672" y="1920"/>
                  <a:chExt cx="145" cy="144"/>
                </a:xfrm>
              </p:grpSpPr>
              <p:sp>
                <p:nvSpPr>
                  <p:cNvPr id="257" name="Line 142"/>
                  <p:cNvSpPr>
                    <a:spLocks noChangeShapeType="1"/>
                  </p:cNvSpPr>
                  <p:nvPr/>
                </p:nvSpPr>
                <p:spPr bwMode="auto">
                  <a:xfrm>
                    <a:off x="673" y="1920"/>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sp>
                <p:nvSpPr>
                  <p:cNvPr id="258" name="Line 143"/>
                  <p:cNvSpPr>
                    <a:spLocks noChangeShapeType="1"/>
                  </p:cNvSpPr>
                  <p:nvPr/>
                </p:nvSpPr>
                <p:spPr bwMode="auto">
                  <a:xfrm rot="5400000">
                    <a:off x="745" y="1848"/>
                    <a:ext cx="0" cy="144"/>
                  </a:xfrm>
                  <a:prstGeom prst="line">
                    <a:avLst/>
                  </a:prstGeom>
                  <a:noFill/>
                  <a:ln w="19050">
                    <a:solidFill>
                      <a:schemeClr val="tx1"/>
                    </a:solidFill>
                    <a:round/>
                  </a:ln>
                  <a:effectLst/>
                </p:spPr>
                <p:txBody>
                  <a:bodyPr wrap="none" anchor="ctr"/>
                  <a:lstStyle/>
                  <a:p>
                    <a:pPr>
                      <a:lnSpc>
                        <a:spcPct val="90000"/>
                      </a:lnSpc>
                      <a:defRPr/>
                    </a:pPr>
                    <a:endParaRPr lang="en-US" sz="2000" i="0" dirty="0">
                      <a:cs typeface="Arial" panose="020B0604020202020204"/>
                    </a:endParaRPr>
                  </a:p>
                </p:txBody>
              </p:sp>
            </p:grpSp>
          </p:grpSp>
        </p:grpSp>
        <p:sp>
          <p:nvSpPr>
            <p:cNvPr id="244" name="Text Box 152"/>
            <p:cNvSpPr txBox="1">
              <a:spLocks noChangeArrowheads="1"/>
            </p:cNvSpPr>
            <p:nvPr/>
          </p:nvSpPr>
          <p:spPr bwMode="auto">
            <a:xfrm>
              <a:off x="1737" y="1724"/>
              <a:ext cx="664" cy="582"/>
            </a:xfrm>
            <a:prstGeom prst="rect">
              <a:avLst/>
            </a:prstGeom>
            <a:noFill/>
            <a:ln>
              <a:noFill/>
            </a:ln>
            <a:effectLst/>
          </p:spPr>
          <p:txBody>
            <a:bodyPr wrap="none">
              <a:spAutoFit/>
            </a:bodyPr>
            <a:lstStyle/>
            <a:p>
              <a:pPr algn="ctr">
                <a:lnSpc>
                  <a:spcPct val="90000"/>
                </a:lnSpc>
                <a:defRPr/>
              </a:pPr>
              <a:r>
                <a:rPr lang="en-US" sz="2000" i="0" dirty="0">
                  <a:cs typeface="Arial" panose="020B0604020202020204"/>
                </a:rPr>
                <a:t>variable</a:t>
              </a:r>
              <a:endParaRPr lang="en-US" sz="2000" i="0" dirty="0">
                <a:cs typeface="Arial" panose="020B0604020202020204"/>
              </a:endParaRPr>
            </a:p>
            <a:p>
              <a:pPr algn="ctr">
                <a:lnSpc>
                  <a:spcPct val="90000"/>
                </a:lnSpc>
                <a:defRPr/>
              </a:pPr>
              <a:r>
                <a:rPr lang="en-US" sz="2000" i="0" dirty="0">
                  <a:cs typeface="Arial" panose="020B0604020202020204"/>
                </a:rPr>
                <a:t>network</a:t>
              </a:r>
              <a:endParaRPr lang="en-US" sz="2000" i="0" dirty="0">
                <a:cs typeface="Arial" panose="020B0604020202020204"/>
              </a:endParaRPr>
            </a:p>
            <a:p>
              <a:pPr algn="ctr">
                <a:lnSpc>
                  <a:spcPct val="90000"/>
                </a:lnSpc>
                <a:defRPr/>
              </a:pPr>
              <a:r>
                <a:rPr lang="en-US" sz="2000" i="0" dirty="0">
                  <a:cs typeface="Arial" panose="020B0604020202020204"/>
                </a:rPr>
                <a:t>delay</a:t>
              </a:r>
              <a:endParaRPr lang="en-US" sz="2000" i="0" dirty="0">
                <a:cs typeface="Arial" panose="020B0604020202020204"/>
              </a:endParaRPr>
            </a:p>
          </p:txBody>
        </p:sp>
        <p:sp>
          <p:nvSpPr>
            <p:cNvPr id="245" name="Line 153"/>
            <p:cNvSpPr>
              <a:spLocks noChangeShapeType="1"/>
            </p:cNvSpPr>
            <p:nvPr/>
          </p:nvSpPr>
          <p:spPr bwMode="auto">
            <a:xfrm>
              <a:off x="1572" y="1938"/>
              <a:ext cx="1098" cy="0"/>
            </a:xfrm>
            <a:prstGeom prst="line">
              <a:avLst/>
            </a:prstGeom>
            <a:noFill/>
            <a:ln w="19050">
              <a:solidFill>
                <a:schemeClr val="tx1"/>
              </a:solidFill>
              <a:round/>
              <a:headEnd type="triangle" w="med" len="med"/>
              <a:tailEnd type="triangle" w="med" len="med"/>
            </a:ln>
            <a:effectLst/>
          </p:spPr>
          <p:txBody>
            <a:bodyPr wrap="none" anchor="ctr"/>
            <a:lstStyle/>
            <a:p>
              <a:pPr>
                <a:lnSpc>
                  <a:spcPct val="90000"/>
                </a:lnSpc>
                <a:defRPr/>
              </a:pPr>
              <a:endParaRPr lang="en-US" sz="2000" i="0" dirty="0">
                <a:cs typeface="Arial" panose="020B0604020202020204"/>
              </a:endParaRPr>
            </a:p>
          </p:txBody>
        </p:sp>
        <p:sp>
          <p:nvSpPr>
            <p:cNvPr id="246" name="Text Box 197"/>
            <p:cNvSpPr txBox="1">
              <a:spLocks noChangeArrowheads="1"/>
            </p:cNvSpPr>
            <p:nvPr/>
          </p:nvSpPr>
          <p:spPr bwMode="auto">
            <a:xfrm>
              <a:off x="2651" y="1196"/>
              <a:ext cx="875" cy="407"/>
            </a:xfrm>
            <a:prstGeom prst="rect">
              <a:avLst/>
            </a:prstGeom>
            <a:noFill/>
            <a:ln>
              <a:noFill/>
            </a:ln>
            <a:effectLst/>
          </p:spPr>
          <p:txBody>
            <a:bodyPr wrap="none">
              <a:spAutoFit/>
            </a:bodyPr>
            <a:lstStyle/>
            <a:p>
              <a:pPr algn="r">
                <a:lnSpc>
                  <a:spcPct val="90000"/>
                </a:lnSpc>
                <a:defRPr/>
              </a:pPr>
              <a:r>
                <a:rPr lang="en-US" sz="2000" i="0" dirty="0">
                  <a:cs typeface="Arial" panose="020B0604020202020204"/>
                </a:rPr>
                <a:t>client video</a:t>
              </a:r>
              <a:endParaRPr lang="en-US" sz="2000" i="0" dirty="0">
                <a:cs typeface="Arial" panose="020B0604020202020204"/>
              </a:endParaRPr>
            </a:p>
            <a:p>
              <a:pPr algn="r">
                <a:lnSpc>
                  <a:spcPct val="90000"/>
                </a:lnSpc>
                <a:defRPr/>
              </a:pPr>
              <a:r>
                <a:rPr lang="en-US" sz="2000" i="0" dirty="0">
                  <a:cs typeface="Arial" panose="020B0604020202020204"/>
                </a:rPr>
                <a:t>reception</a:t>
              </a:r>
              <a:endParaRPr lang="en-US" sz="2000" i="0" dirty="0">
                <a:cs typeface="Arial" panose="020B0604020202020204"/>
              </a:endParaRPr>
            </a:p>
          </p:txBody>
        </p:sp>
      </p:grpSp>
      <p:grpSp>
        <p:nvGrpSpPr>
          <p:cNvPr id="471" name="Group 203"/>
          <p:cNvGrpSpPr/>
          <p:nvPr/>
        </p:nvGrpSpPr>
        <p:grpSpPr bwMode="auto">
          <a:xfrm>
            <a:off x="4582549" y="1983556"/>
            <a:ext cx="5226054" cy="3214688"/>
            <a:chOff x="1874" y="1138"/>
            <a:chExt cx="3292" cy="2025"/>
          </a:xfrm>
        </p:grpSpPr>
        <p:grpSp>
          <p:nvGrpSpPr>
            <p:cNvPr id="472" name="Group 155"/>
            <p:cNvGrpSpPr/>
            <p:nvPr/>
          </p:nvGrpSpPr>
          <p:grpSpPr bwMode="auto">
            <a:xfrm>
              <a:off x="2784" y="1138"/>
              <a:ext cx="1608" cy="1591"/>
              <a:chOff x="648" y="1147"/>
              <a:chExt cx="1608" cy="1591"/>
            </a:xfrm>
          </p:grpSpPr>
          <p:grpSp>
            <p:nvGrpSpPr>
              <p:cNvPr id="477" name="Group 156"/>
              <p:cNvGrpSpPr/>
              <p:nvPr/>
            </p:nvGrpSpPr>
            <p:grpSpPr bwMode="auto">
              <a:xfrm>
                <a:off x="648" y="1725"/>
                <a:ext cx="1024" cy="1013"/>
                <a:chOff x="672" y="1071"/>
                <a:chExt cx="1024" cy="1013"/>
              </a:xfrm>
            </p:grpSpPr>
            <p:grpSp>
              <p:nvGrpSpPr>
                <p:cNvPr id="493" name="Group 157"/>
                <p:cNvGrpSpPr/>
                <p:nvPr/>
              </p:nvGrpSpPr>
              <p:grpSpPr bwMode="auto">
                <a:xfrm>
                  <a:off x="672" y="1506"/>
                  <a:ext cx="583" cy="578"/>
                  <a:chOff x="672" y="1486"/>
                  <a:chExt cx="583" cy="578"/>
                </a:xfrm>
              </p:grpSpPr>
              <p:grpSp>
                <p:nvGrpSpPr>
                  <p:cNvPr id="504" name="Group 158"/>
                  <p:cNvGrpSpPr/>
                  <p:nvPr/>
                </p:nvGrpSpPr>
                <p:grpSpPr bwMode="auto">
                  <a:xfrm>
                    <a:off x="672" y="1776"/>
                    <a:ext cx="291" cy="288"/>
                    <a:chOff x="672" y="1776"/>
                    <a:chExt cx="291" cy="288"/>
                  </a:xfrm>
                </p:grpSpPr>
                <p:grpSp>
                  <p:nvGrpSpPr>
                    <p:cNvPr id="512" name="Group 159"/>
                    <p:cNvGrpSpPr/>
                    <p:nvPr/>
                  </p:nvGrpSpPr>
                  <p:grpSpPr bwMode="auto">
                    <a:xfrm>
                      <a:off x="672" y="1920"/>
                      <a:ext cx="145" cy="144"/>
                      <a:chOff x="672" y="1920"/>
                      <a:chExt cx="145" cy="144"/>
                    </a:xfrm>
                  </p:grpSpPr>
                  <p:sp>
                    <p:nvSpPr>
                      <p:cNvPr id="516" name="Line 160"/>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sp>
                    <p:nvSpPr>
                      <p:cNvPr id="517" name="Line 161"/>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513" name="Group 162"/>
                    <p:cNvGrpSpPr/>
                    <p:nvPr/>
                  </p:nvGrpSpPr>
                  <p:grpSpPr bwMode="auto">
                    <a:xfrm>
                      <a:off x="818" y="1776"/>
                      <a:ext cx="145" cy="144"/>
                      <a:chOff x="672" y="1920"/>
                      <a:chExt cx="145" cy="144"/>
                    </a:xfrm>
                  </p:grpSpPr>
                  <p:sp>
                    <p:nvSpPr>
                      <p:cNvPr id="514" name="Line 163"/>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sp>
                    <p:nvSpPr>
                      <p:cNvPr id="515" name="Line 164"/>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grpSp>
              </p:grpSp>
              <p:grpSp>
                <p:nvGrpSpPr>
                  <p:cNvPr id="505" name="Group 165"/>
                  <p:cNvGrpSpPr/>
                  <p:nvPr/>
                </p:nvGrpSpPr>
                <p:grpSpPr bwMode="auto">
                  <a:xfrm>
                    <a:off x="964" y="1486"/>
                    <a:ext cx="291" cy="288"/>
                    <a:chOff x="672" y="1776"/>
                    <a:chExt cx="291" cy="288"/>
                  </a:xfrm>
                </p:grpSpPr>
                <p:grpSp>
                  <p:nvGrpSpPr>
                    <p:cNvPr id="506" name="Group 166"/>
                    <p:cNvGrpSpPr/>
                    <p:nvPr/>
                  </p:nvGrpSpPr>
                  <p:grpSpPr bwMode="auto">
                    <a:xfrm>
                      <a:off x="672" y="1920"/>
                      <a:ext cx="145" cy="144"/>
                      <a:chOff x="672" y="1920"/>
                      <a:chExt cx="145" cy="144"/>
                    </a:xfrm>
                  </p:grpSpPr>
                  <p:sp>
                    <p:nvSpPr>
                      <p:cNvPr id="510" name="Line 167"/>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sp>
                    <p:nvSpPr>
                      <p:cNvPr id="511" name="Line 168"/>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507" name="Group 169"/>
                    <p:cNvGrpSpPr/>
                    <p:nvPr/>
                  </p:nvGrpSpPr>
                  <p:grpSpPr bwMode="auto">
                    <a:xfrm>
                      <a:off x="818" y="1776"/>
                      <a:ext cx="145" cy="144"/>
                      <a:chOff x="672" y="1920"/>
                      <a:chExt cx="145" cy="144"/>
                    </a:xfrm>
                  </p:grpSpPr>
                  <p:sp>
                    <p:nvSpPr>
                      <p:cNvPr id="508" name="Line 170"/>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sp>
                    <p:nvSpPr>
                      <p:cNvPr id="509" name="Line 171"/>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grpSp>
              </p:grpSp>
            </p:grpSp>
            <p:grpSp>
              <p:nvGrpSpPr>
                <p:cNvPr id="494" name="Group 172"/>
                <p:cNvGrpSpPr/>
                <p:nvPr/>
              </p:nvGrpSpPr>
              <p:grpSpPr bwMode="auto">
                <a:xfrm>
                  <a:off x="1259" y="1217"/>
                  <a:ext cx="291" cy="288"/>
                  <a:chOff x="672" y="1776"/>
                  <a:chExt cx="291" cy="288"/>
                </a:xfrm>
              </p:grpSpPr>
              <p:grpSp>
                <p:nvGrpSpPr>
                  <p:cNvPr id="498" name="Group 173"/>
                  <p:cNvGrpSpPr/>
                  <p:nvPr/>
                </p:nvGrpSpPr>
                <p:grpSpPr bwMode="auto">
                  <a:xfrm>
                    <a:off x="672" y="1920"/>
                    <a:ext cx="145" cy="144"/>
                    <a:chOff x="672" y="1920"/>
                    <a:chExt cx="145" cy="144"/>
                  </a:xfrm>
                </p:grpSpPr>
                <p:sp>
                  <p:nvSpPr>
                    <p:cNvPr id="502" name="Line 174"/>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sp>
                  <p:nvSpPr>
                    <p:cNvPr id="503" name="Line 175"/>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499" name="Group 176"/>
                  <p:cNvGrpSpPr/>
                  <p:nvPr/>
                </p:nvGrpSpPr>
                <p:grpSpPr bwMode="auto">
                  <a:xfrm>
                    <a:off x="818" y="1776"/>
                    <a:ext cx="145" cy="144"/>
                    <a:chOff x="672" y="1920"/>
                    <a:chExt cx="145" cy="144"/>
                  </a:xfrm>
                </p:grpSpPr>
                <p:sp>
                  <p:nvSpPr>
                    <p:cNvPr id="500" name="Line 177"/>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sp>
                  <p:nvSpPr>
                    <p:cNvPr id="501" name="Line 178"/>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grpSp>
            </p:grpSp>
            <p:grpSp>
              <p:nvGrpSpPr>
                <p:cNvPr id="495" name="Group 179"/>
                <p:cNvGrpSpPr/>
                <p:nvPr/>
              </p:nvGrpSpPr>
              <p:grpSpPr bwMode="auto">
                <a:xfrm>
                  <a:off x="1551" y="1071"/>
                  <a:ext cx="145" cy="144"/>
                  <a:chOff x="672" y="1920"/>
                  <a:chExt cx="145" cy="144"/>
                </a:xfrm>
              </p:grpSpPr>
              <p:sp>
                <p:nvSpPr>
                  <p:cNvPr id="496" name="Line 180"/>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sp>
                <p:nvSpPr>
                  <p:cNvPr id="497" name="Line 181"/>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grpSp>
          </p:grpSp>
          <p:grpSp>
            <p:nvGrpSpPr>
              <p:cNvPr id="478" name="Group 182"/>
              <p:cNvGrpSpPr/>
              <p:nvPr/>
            </p:nvGrpSpPr>
            <p:grpSpPr bwMode="auto">
              <a:xfrm>
                <a:off x="1673" y="1147"/>
                <a:ext cx="583" cy="578"/>
                <a:chOff x="672" y="1486"/>
                <a:chExt cx="583" cy="578"/>
              </a:xfrm>
            </p:grpSpPr>
            <p:grpSp>
              <p:nvGrpSpPr>
                <p:cNvPr id="479" name="Group 183"/>
                <p:cNvGrpSpPr/>
                <p:nvPr/>
              </p:nvGrpSpPr>
              <p:grpSpPr bwMode="auto">
                <a:xfrm>
                  <a:off x="672" y="1776"/>
                  <a:ext cx="291" cy="288"/>
                  <a:chOff x="672" y="1776"/>
                  <a:chExt cx="291" cy="288"/>
                </a:xfrm>
              </p:grpSpPr>
              <p:grpSp>
                <p:nvGrpSpPr>
                  <p:cNvPr id="487" name="Group 184"/>
                  <p:cNvGrpSpPr/>
                  <p:nvPr/>
                </p:nvGrpSpPr>
                <p:grpSpPr bwMode="auto">
                  <a:xfrm>
                    <a:off x="672" y="1920"/>
                    <a:ext cx="145" cy="144"/>
                    <a:chOff x="672" y="1920"/>
                    <a:chExt cx="145" cy="144"/>
                  </a:xfrm>
                </p:grpSpPr>
                <p:sp>
                  <p:nvSpPr>
                    <p:cNvPr id="491" name="Line 185"/>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sp>
                  <p:nvSpPr>
                    <p:cNvPr id="492" name="Line 186"/>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488" name="Group 187"/>
                  <p:cNvGrpSpPr/>
                  <p:nvPr/>
                </p:nvGrpSpPr>
                <p:grpSpPr bwMode="auto">
                  <a:xfrm>
                    <a:off x="818" y="1776"/>
                    <a:ext cx="145" cy="144"/>
                    <a:chOff x="672" y="1920"/>
                    <a:chExt cx="145" cy="144"/>
                  </a:xfrm>
                </p:grpSpPr>
                <p:sp>
                  <p:nvSpPr>
                    <p:cNvPr id="489" name="Line 188"/>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sp>
                  <p:nvSpPr>
                    <p:cNvPr id="490" name="Line 189"/>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grpSp>
            </p:grpSp>
            <p:grpSp>
              <p:nvGrpSpPr>
                <p:cNvPr id="480" name="Group 190"/>
                <p:cNvGrpSpPr/>
                <p:nvPr/>
              </p:nvGrpSpPr>
              <p:grpSpPr bwMode="auto">
                <a:xfrm>
                  <a:off x="964" y="1486"/>
                  <a:ext cx="291" cy="288"/>
                  <a:chOff x="672" y="1776"/>
                  <a:chExt cx="291" cy="288"/>
                </a:xfrm>
              </p:grpSpPr>
              <p:grpSp>
                <p:nvGrpSpPr>
                  <p:cNvPr id="481" name="Group 191"/>
                  <p:cNvGrpSpPr/>
                  <p:nvPr/>
                </p:nvGrpSpPr>
                <p:grpSpPr bwMode="auto">
                  <a:xfrm>
                    <a:off x="672" y="1920"/>
                    <a:ext cx="145" cy="144"/>
                    <a:chOff x="672" y="1920"/>
                    <a:chExt cx="145" cy="144"/>
                  </a:xfrm>
                </p:grpSpPr>
                <p:sp>
                  <p:nvSpPr>
                    <p:cNvPr id="485" name="Line 192"/>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sp>
                  <p:nvSpPr>
                    <p:cNvPr id="486" name="Line 193"/>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grpSp>
              <p:grpSp>
                <p:nvGrpSpPr>
                  <p:cNvPr id="482" name="Group 194"/>
                  <p:cNvGrpSpPr/>
                  <p:nvPr/>
                </p:nvGrpSpPr>
                <p:grpSpPr bwMode="auto">
                  <a:xfrm>
                    <a:off x="818" y="1776"/>
                    <a:ext cx="145" cy="144"/>
                    <a:chOff x="672" y="1920"/>
                    <a:chExt cx="145" cy="144"/>
                  </a:xfrm>
                </p:grpSpPr>
                <p:sp>
                  <p:nvSpPr>
                    <p:cNvPr id="483" name="Line 195"/>
                    <p:cNvSpPr>
                      <a:spLocks noChangeShapeType="1"/>
                    </p:cNvSpPr>
                    <p:nvPr/>
                  </p:nvSpPr>
                  <p:spPr bwMode="auto">
                    <a:xfrm>
                      <a:off x="672" y="1920"/>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sp>
                  <p:nvSpPr>
                    <p:cNvPr id="484" name="Line 196"/>
                    <p:cNvSpPr>
                      <a:spLocks noChangeShapeType="1"/>
                    </p:cNvSpPr>
                    <p:nvPr/>
                  </p:nvSpPr>
                  <p:spPr bwMode="auto">
                    <a:xfrm rot="5400000">
                      <a:off x="745" y="1848"/>
                      <a:ext cx="0" cy="144"/>
                    </a:xfrm>
                    <a:prstGeom prst="line">
                      <a:avLst/>
                    </a:prstGeom>
                    <a:noFill/>
                    <a:ln w="19050">
                      <a:solidFill>
                        <a:srgbClr val="0000A3"/>
                      </a:solidFill>
                      <a:round/>
                    </a:ln>
                    <a:effectLst/>
                  </p:spPr>
                  <p:txBody>
                    <a:bodyPr wrap="none" anchor="ctr"/>
                    <a:lstStyle/>
                    <a:p>
                      <a:pPr>
                        <a:lnSpc>
                          <a:spcPct val="90000"/>
                        </a:lnSpc>
                        <a:defRPr/>
                      </a:pPr>
                      <a:endParaRPr lang="en-US" sz="2000" i="0" dirty="0">
                        <a:cs typeface="Arial" panose="020B0604020202020204"/>
                      </a:endParaRPr>
                    </a:p>
                  </p:txBody>
                </p:sp>
              </p:grpSp>
            </p:grpSp>
          </p:grpSp>
        </p:grpSp>
        <p:sp>
          <p:nvSpPr>
            <p:cNvPr id="473" name="Text Box 199"/>
            <p:cNvSpPr txBox="1">
              <a:spLocks noChangeArrowheads="1"/>
            </p:cNvSpPr>
            <p:nvPr/>
          </p:nvSpPr>
          <p:spPr bwMode="auto">
            <a:xfrm>
              <a:off x="3956" y="1225"/>
              <a:ext cx="1210" cy="582"/>
            </a:xfrm>
            <a:prstGeom prst="rect">
              <a:avLst/>
            </a:prstGeom>
            <a:noFill/>
            <a:ln>
              <a:noFill/>
            </a:ln>
            <a:effectLst/>
          </p:spPr>
          <p:txBody>
            <a:bodyPr wrap="none">
              <a:spAutoFit/>
            </a:bodyPr>
            <a:lstStyle/>
            <a:p>
              <a:pPr>
                <a:lnSpc>
                  <a:spcPct val="90000"/>
                </a:lnSpc>
                <a:defRPr/>
              </a:pPr>
              <a:r>
                <a:rPr lang="en-US" sz="2000" i="0" dirty="0">
                  <a:solidFill>
                    <a:srgbClr val="000099"/>
                  </a:solidFill>
                  <a:cs typeface="Arial" panose="020B0604020202020204"/>
                </a:rPr>
                <a:t>       constant bit </a:t>
              </a:r>
              <a:endParaRPr lang="en-US" sz="2000" i="0" dirty="0">
                <a:solidFill>
                  <a:srgbClr val="000099"/>
                </a:solidFill>
                <a:cs typeface="Arial" panose="020B0604020202020204"/>
              </a:endParaRPr>
            </a:p>
            <a:p>
              <a:pPr>
                <a:lnSpc>
                  <a:spcPct val="90000"/>
                </a:lnSpc>
                <a:defRPr/>
              </a:pPr>
              <a:r>
                <a:rPr lang="en-US" sz="2000" i="0" dirty="0">
                  <a:solidFill>
                    <a:srgbClr val="000099"/>
                  </a:solidFill>
                  <a:cs typeface="Arial" panose="020B0604020202020204"/>
                </a:rPr>
                <a:t>     rate video</a:t>
              </a:r>
              <a:endParaRPr lang="en-US" sz="2000" i="0" dirty="0">
                <a:solidFill>
                  <a:srgbClr val="000099"/>
                </a:solidFill>
                <a:cs typeface="Arial" panose="020B0604020202020204"/>
              </a:endParaRPr>
            </a:p>
            <a:p>
              <a:pPr>
                <a:lnSpc>
                  <a:spcPct val="90000"/>
                </a:lnSpc>
                <a:defRPr/>
              </a:pPr>
              <a:r>
                <a:rPr lang="en-US" sz="2000" i="0" dirty="0">
                  <a:solidFill>
                    <a:srgbClr val="000099"/>
                  </a:solidFill>
                  <a:cs typeface="Arial" panose="020B0604020202020204"/>
                </a:rPr>
                <a:t> playout at client</a:t>
              </a:r>
              <a:endParaRPr lang="en-US" sz="2000" i="0" dirty="0">
                <a:solidFill>
                  <a:srgbClr val="000099"/>
                </a:solidFill>
                <a:cs typeface="Arial" panose="020B0604020202020204"/>
              </a:endParaRPr>
            </a:p>
          </p:txBody>
        </p:sp>
        <p:grpSp>
          <p:nvGrpSpPr>
            <p:cNvPr id="474" name="Group 202"/>
            <p:cNvGrpSpPr/>
            <p:nvPr/>
          </p:nvGrpSpPr>
          <p:grpSpPr bwMode="auto">
            <a:xfrm>
              <a:off x="1874" y="2756"/>
              <a:ext cx="1059" cy="407"/>
              <a:chOff x="1874" y="2756"/>
              <a:chExt cx="1059" cy="407"/>
            </a:xfrm>
          </p:grpSpPr>
          <p:sp>
            <p:nvSpPr>
              <p:cNvPr id="475" name="Text Box 144"/>
              <p:cNvSpPr txBox="1">
                <a:spLocks noChangeArrowheads="1"/>
              </p:cNvSpPr>
              <p:nvPr/>
            </p:nvSpPr>
            <p:spPr bwMode="auto">
              <a:xfrm>
                <a:off x="1874" y="2756"/>
                <a:ext cx="1059" cy="407"/>
              </a:xfrm>
              <a:prstGeom prst="rect">
                <a:avLst/>
              </a:prstGeom>
              <a:noFill/>
              <a:ln>
                <a:noFill/>
              </a:ln>
              <a:effectLst/>
            </p:spPr>
            <p:txBody>
              <a:bodyPr>
                <a:spAutoFit/>
              </a:bodyPr>
              <a:lstStyle/>
              <a:p>
                <a:pPr algn="ctr">
                  <a:lnSpc>
                    <a:spcPct val="90000"/>
                  </a:lnSpc>
                  <a:defRPr/>
                </a:pPr>
                <a:r>
                  <a:rPr lang="en-US" sz="2000" i="0" dirty="0">
                    <a:solidFill>
                      <a:srgbClr val="000099"/>
                    </a:solidFill>
                    <a:cs typeface="Arial" panose="020B0604020202020204"/>
                  </a:rPr>
                  <a:t>client playout</a:t>
                </a:r>
                <a:endParaRPr lang="en-US" sz="2000" i="0" dirty="0">
                  <a:solidFill>
                    <a:srgbClr val="000099"/>
                  </a:solidFill>
                  <a:cs typeface="Arial" panose="020B0604020202020204"/>
                </a:endParaRPr>
              </a:p>
              <a:p>
                <a:pPr algn="ctr">
                  <a:lnSpc>
                    <a:spcPct val="90000"/>
                  </a:lnSpc>
                  <a:defRPr/>
                </a:pPr>
                <a:r>
                  <a:rPr lang="en-US" sz="2000" i="0" dirty="0">
                    <a:solidFill>
                      <a:srgbClr val="000099"/>
                    </a:solidFill>
                    <a:cs typeface="Arial" panose="020B0604020202020204"/>
                  </a:rPr>
                  <a:t>delay</a:t>
                </a:r>
                <a:endParaRPr lang="en-US" sz="2000" i="0" dirty="0">
                  <a:solidFill>
                    <a:srgbClr val="000099"/>
                  </a:solidFill>
                  <a:cs typeface="Arial" panose="020B0604020202020204"/>
                </a:endParaRPr>
              </a:p>
            </p:txBody>
          </p:sp>
          <p:sp>
            <p:nvSpPr>
              <p:cNvPr id="476" name="Line 200"/>
              <p:cNvSpPr>
                <a:spLocks noChangeShapeType="1"/>
              </p:cNvSpPr>
              <p:nvPr/>
            </p:nvSpPr>
            <p:spPr bwMode="auto">
              <a:xfrm>
                <a:off x="1938" y="2952"/>
                <a:ext cx="905" cy="0"/>
              </a:xfrm>
              <a:prstGeom prst="line">
                <a:avLst/>
              </a:prstGeom>
              <a:noFill/>
              <a:ln w="19050">
                <a:solidFill>
                  <a:srgbClr val="010086"/>
                </a:solidFill>
                <a:round/>
                <a:headEnd type="triangle" w="med" len="med"/>
                <a:tailEnd type="triangle" w="med" len="med"/>
              </a:ln>
              <a:effectLst/>
            </p:spPr>
            <p:txBody>
              <a:bodyPr wrap="none" anchor="ctr"/>
              <a:lstStyle/>
              <a:p>
                <a:pPr>
                  <a:lnSpc>
                    <a:spcPct val="90000"/>
                  </a:lnSpc>
                  <a:defRPr/>
                </a:pPr>
                <a:endParaRPr lang="en-US" sz="2000" i="0" dirty="0">
                  <a:cs typeface="Arial" panose="020B0604020202020204"/>
                </a:endParaRPr>
              </a:p>
            </p:txBody>
          </p:sp>
        </p:grpSp>
      </p:grpSp>
      <p:grpSp>
        <p:nvGrpSpPr>
          <p:cNvPr id="518" name="Group 206"/>
          <p:cNvGrpSpPr/>
          <p:nvPr/>
        </p:nvGrpSpPr>
        <p:grpSpPr bwMode="auto">
          <a:xfrm>
            <a:off x="6060511" y="3126165"/>
            <a:ext cx="534988" cy="923926"/>
            <a:chOff x="2822" y="1854"/>
            <a:chExt cx="337" cy="582"/>
          </a:xfrm>
        </p:grpSpPr>
        <p:sp>
          <p:nvSpPr>
            <p:cNvPr id="519" name="Line 204"/>
            <p:cNvSpPr>
              <a:spLocks noChangeShapeType="1"/>
            </p:cNvSpPr>
            <p:nvPr/>
          </p:nvSpPr>
          <p:spPr bwMode="auto">
            <a:xfrm flipV="1">
              <a:off x="2988" y="1872"/>
              <a:ext cx="0" cy="564"/>
            </a:xfrm>
            <a:prstGeom prst="line">
              <a:avLst/>
            </a:prstGeom>
            <a:noFill/>
            <a:ln w="19050">
              <a:solidFill>
                <a:srgbClr val="0000A3"/>
              </a:solidFill>
              <a:round/>
              <a:headEnd type="triangle" w="med" len="med"/>
              <a:tailEnd type="triangle" w="med" len="med"/>
            </a:ln>
            <a:effectLst/>
          </p:spPr>
          <p:txBody>
            <a:bodyPr wrap="none" anchor="ctr"/>
            <a:lstStyle/>
            <a:p>
              <a:pPr>
                <a:lnSpc>
                  <a:spcPct val="90000"/>
                </a:lnSpc>
                <a:defRPr/>
              </a:pPr>
              <a:endParaRPr lang="en-US" sz="2000" i="0" dirty="0">
                <a:cs typeface="Arial" panose="020B0604020202020204"/>
              </a:endParaRPr>
            </a:p>
          </p:txBody>
        </p:sp>
        <p:sp>
          <p:nvSpPr>
            <p:cNvPr id="520" name="Text Box 205"/>
            <p:cNvSpPr txBox="1">
              <a:spLocks noChangeArrowheads="1"/>
            </p:cNvSpPr>
            <p:nvPr/>
          </p:nvSpPr>
          <p:spPr bwMode="auto">
            <a:xfrm rot="16200000">
              <a:off x="2707" y="1969"/>
              <a:ext cx="567" cy="337"/>
            </a:xfrm>
            <a:prstGeom prst="rect">
              <a:avLst/>
            </a:prstGeom>
            <a:noFill/>
            <a:ln>
              <a:noFill/>
            </a:ln>
            <a:effectLst/>
          </p:spPr>
          <p:txBody>
            <a:bodyPr wrap="none">
              <a:spAutoFit/>
            </a:bodyPr>
            <a:lstStyle/>
            <a:p>
              <a:pPr algn="ctr">
                <a:lnSpc>
                  <a:spcPct val="90000"/>
                </a:lnSpc>
                <a:defRPr/>
              </a:pPr>
              <a:r>
                <a:rPr lang="en-US" sz="1600" i="0" dirty="0">
                  <a:solidFill>
                    <a:srgbClr val="0000A3"/>
                  </a:solidFill>
                  <a:cs typeface="Arial" panose="020B0604020202020204"/>
                </a:rPr>
                <a:t>buffered</a:t>
              </a:r>
              <a:endParaRPr lang="en-US" sz="1600" i="0" dirty="0">
                <a:solidFill>
                  <a:srgbClr val="0000A3"/>
                </a:solidFill>
                <a:cs typeface="Arial" panose="020B0604020202020204"/>
              </a:endParaRPr>
            </a:p>
            <a:p>
              <a:pPr algn="ctr">
                <a:lnSpc>
                  <a:spcPct val="90000"/>
                </a:lnSpc>
                <a:defRPr/>
              </a:pPr>
              <a:r>
                <a:rPr lang="en-US" sz="1600" i="0" dirty="0">
                  <a:solidFill>
                    <a:srgbClr val="0000A3"/>
                  </a:solidFill>
                  <a:cs typeface="Arial" panose="020B0604020202020204"/>
                </a:rPr>
                <a:t>video</a:t>
              </a:r>
              <a:endParaRPr lang="en-US" sz="2000" i="0" dirty="0">
                <a:solidFill>
                  <a:srgbClr val="0000A3"/>
                </a:solidFill>
                <a:cs typeface="Arial" panose="020B0604020202020204"/>
              </a:endParaRPr>
            </a:p>
          </p:txBody>
        </p:sp>
      </p:grpSp>
      <p:sp>
        <p:nvSpPr>
          <p:cNvPr id="521" name="Rectangle 208"/>
          <p:cNvSpPr txBox="1">
            <a:spLocks noChangeArrowheads="1"/>
          </p:cNvSpPr>
          <p:nvPr/>
        </p:nvSpPr>
        <p:spPr>
          <a:xfrm>
            <a:off x="1252768" y="5367320"/>
            <a:ext cx="10515599" cy="889000"/>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en-US" sz="3200" i="1">
                <a:solidFill>
                  <a:srgbClr val="CC0000"/>
                </a:solidFill>
              </a:rPr>
              <a:t>client-side buffering and playout delay: </a:t>
            </a:r>
            <a:r>
              <a:rPr lang="en-US" sz="3200"/>
              <a:t>compensate for network-added delay, delay jitter</a:t>
            </a:r>
            <a:endParaRPr lang="en-US" sz="3200" dirty="0"/>
          </a:p>
        </p:txBody>
      </p:sp>
      <p:sp>
        <p:nvSpPr>
          <p:cNvPr id="143"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
                                        </p:tgtEl>
                                        <p:attrNameLst>
                                          <p:attrName>style.visibility</p:attrName>
                                        </p:attrNameLst>
                                      </p:cBhvr>
                                      <p:to>
                                        <p:strVal val="visible"/>
                                      </p:to>
                                    </p:set>
                                    <p:animEffect transition="in" filter="dissolve">
                                      <p:cBhvr>
                                        <p:cTn id="7" dur="500"/>
                                        <p:tgtEl>
                                          <p:spTgt spid="2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1"/>
                                        </p:tgtEl>
                                        <p:attrNameLst>
                                          <p:attrName>style.visibility</p:attrName>
                                        </p:attrNameLst>
                                      </p:cBhvr>
                                      <p:to>
                                        <p:strVal val="visible"/>
                                      </p:to>
                                    </p:set>
                                    <p:animEffect transition="in" filter="dissolve">
                                      <p:cBhvr>
                                        <p:cTn id="12" dur="500"/>
                                        <p:tgtEl>
                                          <p:spTgt spid="4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18"/>
                                        </p:tgtEl>
                                        <p:attrNameLst>
                                          <p:attrName>style.visibility</p:attrName>
                                        </p:attrNameLst>
                                      </p:cBhvr>
                                      <p:to>
                                        <p:strVal val="visible"/>
                                      </p:to>
                                    </p:set>
                                    <p:animEffect transition="in" filter="dissolve">
                                      <p:cBhvr>
                                        <p:cTn id="17" dur="500"/>
                                        <p:tgtEl>
                                          <p:spTgt spid="518"/>
                                        </p:tgtEl>
                                      </p:cBhvr>
                                    </p:animEffect>
                                  </p:childTnLst>
                                </p:cTn>
                              </p:par>
                            </p:childTnLst>
                          </p:cTn>
                        </p:par>
                        <p:par>
                          <p:cTn id="18" fill="hold">
                            <p:stCondLst>
                              <p:cond delay="500"/>
                            </p:stCondLst>
                            <p:childTnLst>
                              <p:par>
                                <p:cTn id="19" presetID="9" presetClass="entr" presetSubtype="0" fill="hold" grpId="0" nodeType="afterEffect">
                                  <p:stCondLst>
                                    <p:cond delay="0"/>
                                  </p:stCondLst>
                                  <p:childTnLst>
                                    <p:set>
                                      <p:cBhvr>
                                        <p:cTn id="20" dur="1" fill="hold">
                                          <p:stCondLst>
                                            <p:cond delay="0"/>
                                          </p:stCondLst>
                                        </p:cTn>
                                        <p:tgtEl>
                                          <p:spTgt spid="521">
                                            <p:txEl>
                                              <p:pRg st="0" end="0"/>
                                            </p:txEl>
                                          </p:spTgt>
                                        </p:tgtEl>
                                        <p:attrNameLst>
                                          <p:attrName>style.visibility</p:attrName>
                                        </p:attrNameLst>
                                      </p:cBhvr>
                                      <p:to>
                                        <p:strVal val="visible"/>
                                      </p:to>
                                    </p:set>
                                    <p:animEffect transition="in" filter="dissolve">
                                      <p:cBhvr>
                                        <p:cTn id="21" dur="500"/>
                                        <p:tgtEl>
                                          <p:spTgt spid="5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1" grpId="0" advAuto="0" autoUpdateAnimBg="0" build="p"/>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r>
              <a:rPr lang="en-US" altLang="en-US" sz="4400" dirty="0">
                <a:ea typeface="MS PGothic" panose="020B0600070205080204" pitchFamily="34" charset="-128"/>
              </a:rPr>
              <a:t>Streaming multimedia: DASH</a:t>
            </a:r>
            <a:endParaRPr lang="en-US" altLang="en-US" sz="4400" dirty="0">
              <a:ea typeface="MS PGothic" panose="020B0600070205080204" pitchFamily="34" charset="-128"/>
            </a:endParaRPr>
          </a:p>
        </p:txBody>
      </p:sp>
      <p:sp>
        <p:nvSpPr>
          <p:cNvPr id="80" name="Rectangle 3"/>
          <p:cNvSpPr txBox="1">
            <a:spLocks noChangeArrowheads="1"/>
          </p:cNvSpPr>
          <p:nvPr/>
        </p:nvSpPr>
        <p:spPr>
          <a:xfrm>
            <a:off x="838200" y="1390076"/>
            <a:ext cx="10369274"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MS PGothic" panose="020B0600070205080204" pitchFamily="34" charset="-128"/>
              </a:rPr>
              <a:t>DASH: D</a:t>
            </a:r>
            <a:r>
              <a:rPr lang="en-US" altLang="en-US" dirty="0">
                <a:ea typeface="MS PGothic" panose="020B0600070205080204" pitchFamily="34" charset="-128"/>
              </a:rPr>
              <a:t>ynamic, </a:t>
            </a:r>
            <a:r>
              <a:rPr lang="en-US" altLang="en-US" i="1" dirty="0">
                <a:solidFill>
                  <a:srgbClr val="CC0000"/>
                </a:solidFill>
                <a:ea typeface="MS PGothic" panose="020B0600070205080204" pitchFamily="34" charset="-128"/>
              </a:rPr>
              <a:t>A</a:t>
            </a:r>
            <a:r>
              <a:rPr lang="en-US" altLang="en-US" dirty="0">
                <a:ea typeface="MS PGothic" panose="020B0600070205080204" pitchFamily="34" charset="-128"/>
              </a:rPr>
              <a:t>daptive </a:t>
            </a:r>
            <a:r>
              <a:rPr lang="en-US" altLang="en-US" i="1" dirty="0">
                <a:solidFill>
                  <a:srgbClr val="CC0000"/>
                </a:solidFill>
                <a:ea typeface="MS PGothic" panose="020B0600070205080204" pitchFamily="34" charset="-128"/>
              </a:rPr>
              <a:t>S</a:t>
            </a:r>
            <a:r>
              <a:rPr lang="en-US" altLang="en-US" dirty="0">
                <a:ea typeface="MS PGothic" panose="020B0600070205080204" pitchFamily="34" charset="-128"/>
              </a:rPr>
              <a:t>treaming over </a:t>
            </a:r>
            <a:r>
              <a:rPr lang="en-US" altLang="en-US" i="1" dirty="0">
                <a:solidFill>
                  <a:srgbClr val="CC0000"/>
                </a:solidFill>
                <a:ea typeface="MS PGothic" panose="020B0600070205080204" pitchFamily="34" charset="-128"/>
              </a:rPr>
              <a:t>H</a:t>
            </a:r>
            <a:r>
              <a:rPr lang="en-US" altLang="en-US" dirty="0">
                <a:ea typeface="MS PGothic" panose="020B0600070205080204" pitchFamily="34" charset="-128"/>
              </a:rPr>
              <a:t>TTP</a:t>
            </a:r>
            <a:endParaRPr lang="en-US" altLang="en-US" dirty="0">
              <a:ea typeface="MS PGothic" panose="020B0600070205080204" pitchFamily="34" charset="-128"/>
            </a:endParaRPr>
          </a:p>
          <a:p>
            <a:r>
              <a:rPr lang="en-US" altLang="en-US" i="1" dirty="0">
                <a:solidFill>
                  <a:srgbClr val="000099"/>
                </a:solidFill>
                <a:ea typeface="MS PGothic" panose="020B0600070205080204" pitchFamily="34" charset="-128"/>
              </a:rPr>
              <a:t>server:</a:t>
            </a:r>
            <a:endParaRPr lang="en-US" altLang="en-US" i="1" dirty="0">
              <a:solidFill>
                <a:srgbClr val="000099"/>
              </a:solidFill>
              <a:ea typeface="MS PGothic" panose="020B0600070205080204" pitchFamily="34" charset="-128"/>
            </a:endParaRPr>
          </a:p>
          <a:p>
            <a:pPr lvl="1"/>
            <a:r>
              <a:rPr lang="en-US" altLang="en-US" dirty="0">
                <a:ea typeface="MS PGothic" panose="020B0600070205080204" pitchFamily="34" charset="-128"/>
              </a:rPr>
              <a:t>divides video file into multiple chunks</a:t>
            </a:r>
            <a:endParaRPr lang="en-US" altLang="en-US" dirty="0">
              <a:ea typeface="MS PGothic" panose="020B0600070205080204" pitchFamily="34" charset="-128"/>
            </a:endParaRPr>
          </a:p>
          <a:p>
            <a:pPr lvl="1"/>
            <a:r>
              <a:rPr lang="en-US" altLang="en-US" dirty="0">
                <a:ea typeface="MS PGothic" panose="020B0600070205080204" pitchFamily="34" charset="-128"/>
              </a:rPr>
              <a:t>each chunk stored, encoded at different rates </a:t>
            </a:r>
            <a:endParaRPr lang="en-US" altLang="en-US" dirty="0">
              <a:ea typeface="MS PGothic" panose="020B0600070205080204" pitchFamily="34" charset="-128"/>
            </a:endParaRPr>
          </a:p>
          <a:p>
            <a:pPr lvl="1"/>
            <a:r>
              <a:rPr lang="en-US" altLang="en-US" i="1" dirty="0">
                <a:solidFill>
                  <a:srgbClr val="000099"/>
                </a:solidFill>
                <a:ea typeface="MS PGothic" panose="020B0600070205080204" pitchFamily="34" charset="-128"/>
              </a:rPr>
              <a:t>manifest file: </a:t>
            </a:r>
            <a:r>
              <a:rPr lang="en-US" altLang="en-US" dirty="0">
                <a:ea typeface="MS PGothic" panose="020B0600070205080204" pitchFamily="34" charset="-128"/>
              </a:rPr>
              <a:t>provides URLs for different chunks</a:t>
            </a:r>
            <a:endParaRPr lang="en-US" altLang="en-US" dirty="0">
              <a:ea typeface="MS PGothic" panose="020B0600070205080204" pitchFamily="34" charset="-128"/>
            </a:endParaRPr>
          </a:p>
          <a:p>
            <a:r>
              <a:rPr lang="en-US" altLang="en-US" i="1" dirty="0">
                <a:solidFill>
                  <a:srgbClr val="000099"/>
                </a:solidFill>
                <a:ea typeface="MS PGothic" panose="020B0600070205080204" pitchFamily="34" charset="-128"/>
              </a:rPr>
              <a:t>client:</a:t>
            </a:r>
            <a:endParaRPr lang="en-US" altLang="en-US" i="1" dirty="0">
              <a:solidFill>
                <a:srgbClr val="000099"/>
              </a:solidFill>
              <a:ea typeface="MS PGothic" panose="020B0600070205080204" pitchFamily="34" charset="-128"/>
            </a:endParaRPr>
          </a:p>
          <a:p>
            <a:pPr lvl="1"/>
            <a:r>
              <a:rPr lang="en-US" altLang="en-US" dirty="0">
                <a:ea typeface="MS PGothic" panose="020B0600070205080204" pitchFamily="34" charset="-128"/>
              </a:rPr>
              <a:t>periodically measures server-to-client bandwidth</a:t>
            </a:r>
            <a:endParaRPr lang="en-US" altLang="en-US" dirty="0">
              <a:ea typeface="MS PGothic" panose="020B0600070205080204" pitchFamily="34" charset="-128"/>
            </a:endParaRPr>
          </a:p>
          <a:p>
            <a:pPr lvl="1"/>
            <a:r>
              <a:rPr lang="en-US" altLang="en-US" dirty="0">
                <a:ea typeface="MS PGothic" panose="020B0600070205080204" pitchFamily="34" charset="-128"/>
              </a:rPr>
              <a:t>consulting manifest, requests one chunk at a time </a:t>
            </a:r>
            <a:endParaRPr lang="en-US" altLang="en-US" dirty="0">
              <a:ea typeface="MS PGothic" panose="020B0600070205080204" pitchFamily="34" charset="-128"/>
            </a:endParaRPr>
          </a:p>
          <a:p>
            <a:pPr lvl="2"/>
            <a:r>
              <a:rPr lang="en-US" altLang="en-US" sz="2400" dirty="0">
                <a:ea typeface="MS PGothic" panose="020B0600070205080204" pitchFamily="34" charset="-128"/>
              </a:rPr>
              <a:t>chooses maximum coding rate sustainable given current bandwidth</a:t>
            </a:r>
            <a:endParaRPr lang="en-US" altLang="en-US" sz="2400" dirty="0">
              <a:ea typeface="MS PGothic" panose="020B0600070205080204" pitchFamily="34" charset="-128"/>
            </a:endParaRPr>
          </a:p>
          <a:p>
            <a:pPr lvl="2"/>
            <a:r>
              <a:rPr lang="en-US" altLang="en-US" sz="2400" dirty="0">
                <a:ea typeface="MS PGothic" panose="020B0600070205080204" pitchFamily="34" charset="-128"/>
              </a:rPr>
              <a:t>can choose different coding rates at different points in time (depending on available bandwidth at time)</a:t>
            </a:r>
            <a:endParaRPr lang="en-US" altLang="en-US" sz="2400" dirty="0">
              <a:ea typeface="MS PGothic" panose="020B0600070205080204" pitchFamily="34" charset="-128"/>
            </a:endParaRPr>
          </a:p>
        </p:txBody>
      </p:sp>
      <p:grpSp>
        <p:nvGrpSpPr>
          <p:cNvPr id="82" name="Group 81"/>
          <p:cNvGrpSpPr/>
          <p:nvPr/>
        </p:nvGrpSpPr>
        <p:grpSpPr>
          <a:xfrm>
            <a:off x="7788729" y="2387938"/>
            <a:ext cx="3961816" cy="1342799"/>
            <a:chOff x="2942641" y="1846263"/>
            <a:chExt cx="6276975" cy="1962150"/>
          </a:xfrm>
        </p:grpSpPr>
        <p:grpSp>
          <p:nvGrpSpPr>
            <p:cNvPr id="83" name="Group 2"/>
            <p:cNvGrpSpPr/>
            <p:nvPr/>
          </p:nvGrpSpPr>
          <p:grpSpPr bwMode="auto">
            <a:xfrm>
              <a:off x="7109829" y="1846263"/>
              <a:ext cx="2109787" cy="1582737"/>
              <a:chOff x="1842724" y="2867233"/>
              <a:chExt cx="5649912" cy="3416300"/>
            </a:xfrm>
          </p:grpSpPr>
          <p:sp>
            <p:nvSpPr>
              <p:cNvPr id="132" name="AutoShape 99"/>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133" name="Rectangle 87"/>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grpSp>
        <p:grpSp>
          <p:nvGrpSpPr>
            <p:cNvPr id="84" name="Group 249"/>
            <p:cNvGrpSpPr/>
            <p:nvPr/>
          </p:nvGrpSpPr>
          <p:grpSpPr bwMode="auto">
            <a:xfrm>
              <a:off x="3369679" y="2406650"/>
              <a:ext cx="427037" cy="785813"/>
              <a:chOff x="4140" y="429"/>
              <a:chExt cx="1425" cy="2396"/>
            </a:xfrm>
          </p:grpSpPr>
          <p:sp>
            <p:nvSpPr>
              <p:cNvPr id="100"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1" name="Rectangle 251"/>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02"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3"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4" name="Rectangle 254"/>
              <p:cNvSpPr>
                <a:spLocks noChangeArrowheads="1"/>
              </p:cNvSpPr>
              <p:nvPr/>
            </p:nvSpPr>
            <p:spPr bwMode="auto">
              <a:xfrm>
                <a:off x="4214" y="695"/>
                <a:ext cx="593" cy="44"/>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nvGrpSpPr>
              <p:cNvPr id="105" name="Group 255"/>
              <p:cNvGrpSpPr/>
              <p:nvPr/>
            </p:nvGrpSpPr>
            <p:grpSpPr bwMode="auto">
              <a:xfrm>
                <a:off x="4749" y="668"/>
                <a:ext cx="581" cy="145"/>
                <a:chOff x="614" y="2568"/>
                <a:chExt cx="725" cy="139"/>
              </a:xfrm>
            </p:grpSpPr>
            <p:sp>
              <p:nvSpPr>
                <p:cNvPr id="130" name="AutoShape 256"/>
                <p:cNvSpPr>
                  <a:spLocks noChangeArrowheads="1"/>
                </p:cNvSpPr>
                <p:nvPr/>
              </p:nvSpPr>
              <p:spPr bwMode="auto">
                <a:xfrm>
                  <a:off x="614" y="2566"/>
                  <a:ext cx="727" cy="139"/>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31" name="AutoShape 257"/>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sp>
            <p:nvSpPr>
              <p:cNvPr id="106" name="Rectangle 258"/>
              <p:cNvSpPr>
                <a:spLocks noChangeArrowheads="1"/>
              </p:cNvSpPr>
              <p:nvPr/>
            </p:nvSpPr>
            <p:spPr bwMode="auto">
              <a:xfrm>
                <a:off x="4225" y="1020"/>
                <a:ext cx="593"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nvGrpSpPr>
              <p:cNvPr id="107" name="Group 259"/>
              <p:cNvGrpSpPr/>
              <p:nvPr/>
            </p:nvGrpSpPr>
            <p:grpSpPr bwMode="auto">
              <a:xfrm>
                <a:off x="4747" y="994"/>
                <a:ext cx="581" cy="134"/>
                <a:chOff x="614" y="2568"/>
                <a:chExt cx="725" cy="139"/>
              </a:xfrm>
            </p:grpSpPr>
            <p:sp>
              <p:nvSpPr>
                <p:cNvPr id="128" name="AutoShape 260"/>
                <p:cNvSpPr>
                  <a:spLocks noChangeArrowheads="1"/>
                </p:cNvSpPr>
                <p:nvPr/>
              </p:nvSpPr>
              <p:spPr bwMode="auto">
                <a:xfrm>
                  <a:off x="617" y="2569"/>
                  <a:ext cx="721" cy="136"/>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29" name="AutoShape 261"/>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sp>
            <p:nvSpPr>
              <p:cNvPr id="108" name="Rectangle 262"/>
              <p:cNvSpPr>
                <a:spLocks noChangeArrowheads="1"/>
              </p:cNvSpPr>
              <p:nvPr/>
            </p:nvSpPr>
            <p:spPr bwMode="auto">
              <a:xfrm>
                <a:off x="4219" y="1358"/>
                <a:ext cx="593" cy="44"/>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09" name="Rectangle 263"/>
              <p:cNvSpPr>
                <a:spLocks noChangeArrowheads="1"/>
              </p:cNvSpPr>
              <p:nvPr/>
            </p:nvSpPr>
            <p:spPr bwMode="auto">
              <a:xfrm>
                <a:off x="4225" y="1654"/>
                <a:ext cx="599"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nvGrpSpPr>
              <p:cNvPr id="110" name="Group 264"/>
              <p:cNvGrpSpPr/>
              <p:nvPr/>
            </p:nvGrpSpPr>
            <p:grpSpPr bwMode="auto">
              <a:xfrm>
                <a:off x="4735" y="1627"/>
                <a:ext cx="582" cy="151"/>
                <a:chOff x="614" y="2568"/>
                <a:chExt cx="725" cy="139"/>
              </a:xfrm>
            </p:grpSpPr>
            <p:sp>
              <p:nvSpPr>
                <p:cNvPr id="126" name="AutoShape 265"/>
                <p:cNvSpPr>
                  <a:spLocks noChangeArrowheads="1"/>
                </p:cNvSpPr>
                <p:nvPr/>
              </p:nvSpPr>
              <p:spPr bwMode="auto">
                <a:xfrm>
                  <a:off x="612" y="2570"/>
                  <a:ext cx="719" cy="138"/>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27" name="AutoShape 266"/>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sp>
            <p:nvSpPr>
              <p:cNvPr id="111"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12" name="Group 268"/>
              <p:cNvGrpSpPr/>
              <p:nvPr/>
            </p:nvGrpSpPr>
            <p:grpSpPr bwMode="auto">
              <a:xfrm>
                <a:off x="4739" y="1327"/>
                <a:ext cx="582" cy="139"/>
                <a:chOff x="614" y="2568"/>
                <a:chExt cx="725" cy="139"/>
              </a:xfrm>
            </p:grpSpPr>
            <p:sp>
              <p:nvSpPr>
                <p:cNvPr id="124" name="AutoShape 269"/>
                <p:cNvSpPr>
                  <a:spLocks noChangeArrowheads="1"/>
                </p:cNvSpPr>
                <p:nvPr/>
              </p:nvSpPr>
              <p:spPr bwMode="auto">
                <a:xfrm>
                  <a:off x="614" y="2570"/>
                  <a:ext cx="726" cy="136"/>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25" name="AutoShape 270"/>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sp>
            <p:nvSpPr>
              <p:cNvPr id="113" name="Rectangle 271"/>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14"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5"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6" name="Oval 274"/>
              <p:cNvSpPr>
                <a:spLocks noChangeArrowheads="1"/>
              </p:cNvSpPr>
              <p:nvPr/>
            </p:nvSpPr>
            <p:spPr bwMode="auto">
              <a:xfrm>
                <a:off x="5517" y="2612"/>
                <a:ext cx="48" cy="97"/>
              </a:xfrm>
              <a:prstGeom prst="ellipse">
                <a:avLst/>
              </a:prstGeom>
              <a:solidFill>
                <a:srgbClr val="3333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17"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 name="AutoShape 276"/>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19" name="AutoShape 277"/>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20" name="Oval 278"/>
              <p:cNvSpPr>
                <a:spLocks noChangeArrowheads="1"/>
              </p:cNvSpPr>
              <p:nvPr/>
            </p:nvSpPr>
            <p:spPr bwMode="auto">
              <a:xfrm>
                <a:off x="4310" y="2380"/>
                <a:ext cx="159" cy="145"/>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21" name="Oval 279"/>
              <p:cNvSpPr>
                <a:spLocks noChangeArrowheads="1"/>
              </p:cNvSpPr>
              <p:nvPr/>
            </p:nvSpPr>
            <p:spPr bwMode="auto">
              <a:xfrm>
                <a:off x="4484" y="2385"/>
                <a:ext cx="164" cy="140"/>
              </a:xfrm>
              <a:prstGeom prst="ellipse">
                <a:avLst/>
              </a:prstGeom>
              <a:solidFill>
                <a:srgbClr val="FF0000"/>
              </a:solidFill>
              <a:ln>
                <a:noFill/>
              </a:ln>
              <a:effectLst/>
            </p:spPr>
            <p:txBody>
              <a:bodyPr wrap="none" anchor="ctr"/>
              <a:lstStyle/>
              <a:p>
                <a:pPr algn="ctr">
                  <a:buFont typeface="ZapfDingbats" charset="0"/>
                  <a:buNone/>
                  <a:defRPr/>
                </a:pPr>
                <a:endParaRPr lang="en-US" dirty="0">
                  <a:solidFill>
                    <a:srgbClr val="FF0000"/>
                  </a:solidFill>
                  <a:latin typeface="Arial" panose="020B0604020202020204" pitchFamily="34" charset="0"/>
                  <a:ea typeface="MS PGothic" panose="020B0600070205080204" pitchFamily="34" charset="-128"/>
                  <a:cs typeface="Arial" panose="020B0604020202020204" pitchFamily="34" charset="0"/>
                </a:endParaRPr>
              </a:p>
            </p:txBody>
          </p:sp>
          <p:sp>
            <p:nvSpPr>
              <p:cNvPr id="122" name="Oval 280"/>
              <p:cNvSpPr>
                <a:spLocks noChangeArrowheads="1"/>
              </p:cNvSpPr>
              <p:nvPr/>
            </p:nvSpPr>
            <p:spPr bwMode="auto">
              <a:xfrm>
                <a:off x="4664" y="2380"/>
                <a:ext cx="154" cy="140"/>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23" name="Rectangle 281"/>
              <p:cNvSpPr>
                <a:spLocks noChangeArrowheads="1"/>
              </p:cNvSpPr>
              <p:nvPr/>
            </p:nvSpPr>
            <p:spPr bwMode="auto">
              <a:xfrm>
                <a:off x="5062" y="1838"/>
                <a:ext cx="85" cy="760"/>
              </a:xfrm>
              <a:prstGeom prst="rect">
                <a:avLst/>
              </a:prstGeom>
              <a:solidFill>
                <a:srgbClr val="292929"/>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grpSp>
          <p:nvGrpSpPr>
            <p:cNvPr id="85" name="Group 134"/>
            <p:cNvGrpSpPr/>
            <p:nvPr/>
          </p:nvGrpSpPr>
          <p:grpSpPr bwMode="auto">
            <a:xfrm>
              <a:off x="2942641" y="2038350"/>
              <a:ext cx="1281113" cy="363538"/>
              <a:chOff x="3621" y="3265"/>
              <a:chExt cx="1776" cy="744"/>
            </a:xfrm>
          </p:grpSpPr>
          <p:pic>
            <p:nvPicPr>
              <p:cNvPr id="96" name="Picture 135" descr="reellogo"/>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Freeform 136"/>
              <p:cNvSpPr/>
              <p:nvPr/>
            </p:nvSpPr>
            <p:spPr bwMode="auto">
              <a:xfrm>
                <a:off x="3971" y="3288"/>
                <a:ext cx="1402" cy="439"/>
              </a:xfrm>
              <a:custGeom>
                <a:avLst/>
                <a:gdLst>
                  <a:gd name="T0" fmla="*/ 0 w 1401"/>
                  <a:gd name="T1" fmla="*/ 6 h 438"/>
                  <a:gd name="T2" fmla="*/ 27 w 1401"/>
                  <a:gd name="T3" fmla="*/ 385 h 438"/>
                  <a:gd name="T4" fmla="*/ 114 w 1401"/>
                  <a:gd name="T5" fmla="*/ 382 h 438"/>
                  <a:gd name="T6" fmla="*/ 132 w 1401"/>
                  <a:gd name="T7" fmla="*/ 358 h 438"/>
                  <a:gd name="T8" fmla="*/ 210 w 1401"/>
                  <a:gd name="T9" fmla="*/ 403 h 438"/>
                  <a:gd name="T10" fmla="*/ 450 w 1401"/>
                  <a:gd name="T11" fmla="*/ 385 h 438"/>
                  <a:gd name="T12" fmla="*/ 486 w 1401"/>
                  <a:gd name="T13" fmla="*/ 394 h 438"/>
                  <a:gd name="T14" fmla="*/ 690 w 1401"/>
                  <a:gd name="T15" fmla="*/ 418 h 438"/>
                  <a:gd name="T16" fmla="*/ 1075 w 1401"/>
                  <a:gd name="T17" fmla="*/ 439 h 438"/>
                  <a:gd name="T18" fmla="*/ 1402 w 1401"/>
                  <a:gd name="T19" fmla="*/ 421 h 438"/>
                  <a:gd name="T20" fmla="*/ 1393 w 1401"/>
                  <a:gd name="T21" fmla="*/ 165 h 438"/>
                  <a:gd name="T22" fmla="*/ 291 w 1401"/>
                  <a:gd name="T23" fmla="*/ 0 h 438"/>
                  <a:gd name="T24" fmla="*/ 0 w 1401"/>
                  <a:gd name="T25" fmla="*/ 6 h 4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endParaRPr lang="en-US"/>
              </a:p>
            </p:txBody>
          </p:sp>
          <p:sp>
            <p:nvSpPr>
              <p:cNvPr id="98" name="Freeform 137"/>
              <p:cNvSpPr/>
              <p:nvPr/>
            </p:nvSpPr>
            <p:spPr bwMode="auto">
              <a:xfrm>
                <a:off x="4242" y="3860"/>
                <a:ext cx="999" cy="120"/>
              </a:xfrm>
              <a:custGeom>
                <a:avLst/>
                <a:gdLst>
                  <a:gd name="T0" fmla="*/ 0 w 999"/>
                  <a:gd name="T1" fmla="*/ 6 h 123"/>
                  <a:gd name="T2" fmla="*/ 717 w 999"/>
                  <a:gd name="T3" fmla="*/ 12 h 123"/>
                  <a:gd name="T4" fmla="*/ 744 w 999"/>
                  <a:gd name="T5" fmla="*/ 35 h 123"/>
                  <a:gd name="T6" fmla="*/ 801 w 999"/>
                  <a:gd name="T7" fmla="*/ 41 h 123"/>
                  <a:gd name="T8" fmla="*/ 876 w 999"/>
                  <a:gd name="T9" fmla="*/ 6 h 123"/>
                  <a:gd name="T10" fmla="*/ 933 w 999"/>
                  <a:gd name="T11" fmla="*/ 0 h 123"/>
                  <a:gd name="T12" fmla="*/ 981 w 999"/>
                  <a:gd name="T13" fmla="*/ 15 h 123"/>
                  <a:gd name="T14" fmla="*/ 999 w 999"/>
                  <a:gd name="T15" fmla="*/ 50 h 123"/>
                  <a:gd name="T16" fmla="*/ 987 w 999"/>
                  <a:gd name="T17" fmla="*/ 120 h 123"/>
                  <a:gd name="T18" fmla="*/ 18 w 999"/>
                  <a:gd name="T19" fmla="*/ 117 h 123"/>
                  <a:gd name="T20" fmla="*/ 0 w 999"/>
                  <a:gd name="T21" fmla="*/ 6 h 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endParaRPr lang="en-US"/>
              </a:p>
            </p:txBody>
          </p:sp>
          <p:pic>
            <p:nvPicPr>
              <p:cNvPr id="99" name="Picture 138" descr="video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349"/>
            <p:cNvGrpSpPr/>
            <p:nvPr/>
          </p:nvGrpSpPr>
          <p:grpSpPr bwMode="auto">
            <a:xfrm>
              <a:off x="7868654" y="2625725"/>
              <a:ext cx="677862" cy="663575"/>
              <a:chOff x="4437" y="1472"/>
              <a:chExt cx="427" cy="418"/>
            </a:xfrm>
          </p:grpSpPr>
          <p:sp>
            <p:nvSpPr>
              <p:cNvPr id="92" name="Rectangle 350"/>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ln>
              <a:effectLst/>
            </p:spPr>
            <p:txBody>
              <a:bodyPr wrap="none" anchor="ctr"/>
              <a:lstStyle/>
              <a:p>
                <a:pPr>
                  <a:buFont typeface="ZapfDingbats" charset="0"/>
                  <a:buNone/>
                  <a:defRPr/>
                </a:pPr>
                <a:endParaRPr lang="en-US" dirty="0">
                  <a:latin typeface="Arial" panose="020B0604020202020204"/>
                  <a:ea typeface="MS PGothic" panose="020B0600070205080204" pitchFamily="34" charset="-128"/>
                  <a:cs typeface="Arial" panose="020B0604020202020204"/>
                </a:endParaRPr>
              </a:p>
            </p:txBody>
          </p:sp>
          <p:sp>
            <p:nvSpPr>
              <p:cNvPr id="93" name="Rectangle 351"/>
              <p:cNvSpPr>
                <a:spLocks noChangeArrowheads="1"/>
              </p:cNvSpPr>
              <p:nvPr/>
            </p:nvSpPr>
            <p:spPr bwMode="auto">
              <a:xfrm>
                <a:off x="4567" y="1837"/>
                <a:ext cx="179" cy="23"/>
              </a:xfrm>
              <a:prstGeom prst="rect">
                <a:avLst/>
              </a:prstGeom>
              <a:solidFill>
                <a:srgbClr val="5F5F5F"/>
              </a:solidFill>
              <a:ln w="19050">
                <a:solidFill>
                  <a:srgbClr val="5F5F5F"/>
                </a:solidFill>
                <a:miter lim="800000"/>
              </a:ln>
              <a:effectLst/>
            </p:spPr>
            <p:txBody>
              <a:bodyPr wrap="none" anchor="ctr"/>
              <a:lstStyle/>
              <a:p>
                <a:pPr>
                  <a:buFont typeface="ZapfDingbats" charset="0"/>
                  <a:buNone/>
                  <a:defRPr/>
                </a:pPr>
                <a:endParaRPr lang="en-US" dirty="0">
                  <a:latin typeface="Arial" panose="020B0604020202020204"/>
                  <a:ea typeface="MS PGothic" panose="020B0600070205080204" pitchFamily="34" charset="-128"/>
                  <a:cs typeface="Arial" panose="020B0604020202020204"/>
                </a:endParaRPr>
              </a:p>
            </p:txBody>
          </p:sp>
          <p:sp>
            <p:nvSpPr>
              <p:cNvPr id="94" name="Rectangle 352"/>
              <p:cNvSpPr>
                <a:spLocks noChangeArrowheads="1"/>
              </p:cNvSpPr>
              <p:nvPr/>
            </p:nvSpPr>
            <p:spPr bwMode="auto">
              <a:xfrm>
                <a:off x="4442" y="1866"/>
                <a:ext cx="414" cy="24"/>
              </a:xfrm>
              <a:prstGeom prst="rect">
                <a:avLst/>
              </a:prstGeom>
              <a:solidFill>
                <a:schemeClr val="tx2"/>
              </a:solidFill>
              <a:ln w="19050">
                <a:solidFill>
                  <a:schemeClr val="tx1"/>
                </a:solidFill>
                <a:miter lim="800000"/>
              </a:ln>
              <a:effectLst/>
            </p:spPr>
            <p:txBody>
              <a:bodyPr wrap="none" anchor="ctr"/>
              <a:lstStyle/>
              <a:p>
                <a:pPr>
                  <a:buFont typeface="ZapfDingbats" charset="0"/>
                  <a:buNone/>
                  <a:defRPr/>
                </a:pPr>
                <a:endParaRPr lang="en-US" dirty="0">
                  <a:latin typeface="Arial" panose="020B0604020202020204"/>
                  <a:ea typeface="MS PGothic" panose="020B0600070205080204" pitchFamily="34" charset="-128"/>
                  <a:cs typeface="Arial" panose="020B0604020202020204"/>
                </a:endParaRPr>
              </a:p>
            </p:txBody>
          </p:sp>
          <p:sp>
            <p:nvSpPr>
              <p:cNvPr id="95" name="Rectangle 353"/>
              <p:cNvSpPr>
                <a:spLocks noChangeArrowheads="1"/>
              </p:cNvSpPr>
              <p:nvPr/>
            </p:nvSpPr>
            <p:spPr bwMode="auto">
              <a:xfrm>
                <a:off x="4437" y="1472"/>
                <a:ext cx="423" cy="356"/>
              </a:xfrm>
              <a:prstGeom prst="rect">
                <a:avLst/>
              </a:prstGeom>
              <a:noFill/>
              <a:ln w="19050">
                <a:solidFill>
                  <a:schemeClr val="accent2"/>
                </a:solidFill>
                <a:miter lim="800000"/>
              </a:ln>
              <a:effectLst/>
            </p:spPr>
            <p:txBody>
              <a:bodyPr wrap="none" anchor="ctr"/>
              <a:lstStyle/>
              <a:p>
                <a:pPr>
                  <a:buFont typeface="ZapfDingbats" charset="0"/>
                  <a:buNone/>
                  <a:defRPr/>
                </a:pPr>
                <a:endParaRPr lang="en-US" dirty="0">
                  <a:latin typeface="Arial" panose="020B0604020202020204"/>
                  <a:ea typeface="MS PGothic" panose="020B0600070205080204" pitchFamily="34" charset="-128"/>
                  <a:cs typeface="Arial" panose="020B0604020202020204"/>
                </a:endParaRPr>
              </a:p>
            </p:txBody>
          </p:sp>
        </p:grpSp>
        <p:sp>
          <p:nvSpPr>
            <p:cNvPr id="87" name="Freeform 1287"/>
            <p:cNvSpPr/>
            <p:nvPr/>
          </p:nvSpPr>
          <p:spPr bwMode="auto">
            <a:xfrm>
              <a:off x="4377741" y="2066925"/>
              <a:ext cx="2320925" cy="1228725"/>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88" name="Straight Connector 45"/>
            <p:cNvCxnSpPr>
              <a:cxnSpLocks noChangeShapeType="1"/>
            </p:cNvCxnSpPr>
            <p:nvPr/>
          </p:nvCxnSpPr>
          <p:spPr bwMode="auto">
            <a:xfrm>
              <a:off x="4018966" y="2632075"/>
              <a:ext cx="1241425" cy="0"/>
            </a:xfrm>
            <a:prstGeom prst="line">
              <a:avLst/>
            </a:prstGeom>
            <a:noFill/>
            <a:ln w="31750">
              <a:solidFill>
                <a:srgbClr val="CC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46"/>
            <p:cNvCxnSpPr>
              <a:cxnSpLocks noChangeShapeType="1"/>
            </p:cNvCxnSpPr>
            <p:nvPr/>
          </p:nvCxnSpPr>
          <p:spPr bwMode="auto">
            <a:xfrm>
              <a:off x="6030329" y="2662238"/>
              <a:ext cx="1531937" cy="0"/>
            </a:xfrm>
            <a:prstGeom prst="line">
              <a:avLst/>
            </a:prstGeom>
            <a:noFill/>
            <a:ln w="31750">
              <a:solidFill>
                <a:srgbClr val="CC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0" name="TextBox 64"/>
            <p:cNvSpPr txBox="1">
              <a:spLocks noChangeArrowheads="1"/>
            </p:cNvSpPr>
            <p:nvPr/>
          </p:nvSpPr>
          <p:spPr bwMode="auto">
            <a:xfrm>
              <a:off x="7784516" y="3440113"/>
              <a:ext cx="76676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solidFill>
                    <a:srgbClr val="000000"/>
                  </a:solidFill>
                  <a:cs typeface="Arial" panose="020B0604020202020204" pitchFamily="34" charset="0"/>
                </a:rPr>
                <a:t>client</a:t>
              </a:r>
              <a:endParaRPr lang="en-US" altLang="en-US" sz="1800" i="1">
                <a:solidFill>
                  <a:srgbClr val="CC0000"/>
                </a:solidFill>
                <a:cs typeface="Arial" panose="020B0604020202020204" pitchFamily="34" charset="0"/>
              </a:endParaRPr>
            </a:p>
          </p:txBody>
        </p:sp>
        <p:sp>
          <p:nvSpPr>
            <p:cNvPr id="91" name="TextBox 64"/>
            <p:cNvSpPr txBox="1">
              <a:spLocks noChangeArrowheads="1"/>
            </p:cNvSpPr>
            <p:nvPr/>
          </p:nvSpPr>
          <p:spPr bwMode="auto">
            <a:xfrm>
              <a:off x="5031791" y="2895600"/>
              <a:ext cx="91916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solidFill>
                    <a:srgbClr val="000000"/>
                  </a:solidFill>
                  <a:cs typeface="Arial" panose="020B0604020202020204" pitchFamily="34" charset="0"/>
                </a:rPr>
                <a:t>Internet</a:t>
              </a:r>
              <a:endParaRPr lang="en-US" altLang="en-US" sz="1800" i="1">
                <a:solidFill>
                  <a:srgbClr val="CC0000"/>
                </a:solidFill>
                <a:cs typeface="Arial" panose="020B0604020202020204" pitchFamily="34" charset="0"/>
              </a:endParaRPr>
            </a:p>
          </p:txBody>
        </p:sp>
      </p:grpSp>
      <p:sp>
        <p:nvSpPr>
          <p:cNvPr id="57"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r>
              <a:rPr lang="en-US" altLang="en-US" sz="4400" dirty="0">
                <a:ea typeface="MS PGothic" panose="020B0600070205080204" pitchFamily="34" charset="-128"/>
              </a:rPr>
              <a:t>Streaming multimedia: DASH</a:t>
            </a:r>
            <a:endParaRPr lang="en-US" altLang="en-US" sz="4400" dirty="0">
              <a:ea typeface="MS PGothic" panose="020B0600070205080204" pitchFamily="34" charset="-128"/>
            </a:endParaRPr>
          </a:p>
        </p:txBody>
      </p:sp>
      <p:grpSp>
        <p:nvGrpSpPr>
          <p:cNvPr id="82" name="Group 81"/>
          <p:cNvGrpSpPr/>
          <p:nvPr/>
        </p:nvGrpSpPr>
        <p:grpSpPr>
          <a:xfrm>
            <a:off x="7788729" y="2387938"/>
            <a:ext cx="3961816" cy="1342799"/>
            <a:chOff x="2942641" y="1846263"/>
            <a:chExt cx="6276975" cy="1962150"/>
          </a:xfrm>
        </p:grpSpPr>
        <p:grpSp>
          <p:nvGrpSpPr>
            <p:cNvPr id="83" name="Group 2"/>
            <p:cNvGrpSpPr/>
            <p:nvPr/>
          </p:nvGrpSpPr>
          <p:grpSpPr bwMode="auto">
            <a:xfrm>
              <a:off x="7109829" y="1846263"/>
              <a:ext cx="2109787" cy="1582737"/>
              <a:chOff x="1842724" y="2867233"/>
              <a:chExt cx="5649912" cy="3416300"/>
            </a:xfrm>
          </p:grpSpPr>
          <p:sp>
            <p:nvSpPr>
              <p:cNvPr id="132" name="AutoShape 99"/>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133" name="Rectangle 87"/>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grpSp>
        <p:grpSp>
          <p:nvGrpSpPr>
            <p:cNvPr id="84" name="Group 249"/>
            <p:cNvGrpSpPr/>
            <p:nvPr/>
          </p:nvGrpSpPr>
          <p:grpSpPr bwMode="auto">
            <a:xfrm>
              <a:off x="3369679" y="2406650"/>
              <a:ext cx="427037" cy="785813"/>
              <a:chOff x="4140" y="429"/>
              <a:chExt cx="1425" cy="2396"/>
            </a:xfrm>
          </p:grpSpPr>
          <p:sp>
            <p:nvSpPr>
              <p:cNvPr id="100"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1" name="Rectangle 251"/>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02"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3"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4" name="Rectangle 254"/>
              <p:cNvSpPr>
                <a:spLocks noChangeArrowheads="1"/>
              </p:cNvSpPr>
              <p:nvPr/>
            </p:nvSpPr>
            <p:spPr bwMode="auto">
              <a:xfrm>
                <a:off x="4214" y="695"/>
                <a:ext cx="593" cy="44"/>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nvGrpSpPr>
              <p:cNvPr id="105" name="Group 255"/>
              <p:cNvGrpSpPr/>
              <p:nvPr/>
            </p:nvGrpSpPr>
            <p:grpSpPr bwMode="auto">
              <a:xfrm>
                <a:off x="4749" y="668"/>
                <a:ext cx="581" cy="145"/>
                <a:chOff x="614" y="2568"/>
                <a:chExt cx="725" cy="139"/>
              </a:xfrm>
            </p:grpSpPr>
            <p:sp>
              <p:nvSpPr>
                <p:cNvPr id="130" name="AutoShape 256"/>
                <p:cNvSpPr>
                  <a:spLocks noChangeArrowheads="1"/>
                </p:cNvSpPr>
                <p:nvPr/>
              </p:nvSpPr>
              <p:spPr bwMode="auto">
                <a:xfrm>
                  <a:off x="614" y="2566"/>
                  <a:ext cx="727" cy="139"/>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31" name="AutoShape 257"/>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sp>
            <p:nvSpPr>
              <p:cNvPr id="106" name="Rectangle 258"/>
              <p:cNvSpPr>
                <a:spLocks noChangeArrowheads="1"/>
              </p:cNvSpPr>
              <p:nvPr/>
            </p:nvSpPr>
            <p:spPr bwMode="auto">
              <a:xfrm>
                <a:off x="4225" y="1020"/>
                <a:ext cx="593"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nvGrpSpPr>
              <p:cNvPr id="107" name="Group 259"/>
              <p:cNvGrpSpPr/>
              <p:nvPr/>
            </p:nvGrpSpPr>
            <p:grpSpPr bwMode="auto">
              <a:xfrm>
                <a:off x="4747" y="994"/>
                <a:ext cx="581" cy="134"/>
                <a:chOff x="614" y="2568"/>
                <a:chExt cx="725" cy="139"/>
              </a:xfrm>
            </p:grpSpPr>
            <p:sp>
              <p:nvSpPr>
                <p:cNvPr id="128" name="AutoShape 260"/>
                <p:cNvSpPr>
                  <a:spLocks noChangeArrowheads="1"/>
                </p:cNvSpPr>
                <p:nvPr/>
              </p:nvSpPr>
              <p:spPr bwMode="auto">
                <a:xfrm>
                  <a:off x="617" y="2569"/>
                  <a:ext cx="721" cy="136"/>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29" name="AutoShape 261"/>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sp>
            <p:nvSpPr>
              <p:cNvPr id="108" name="Rectangle 262"/>
              <p:cNvSpPr>
                <a:spLocks noChangeArrowheads="1"/>
              </p:cNvSpPr>
              <p:nvPr/>
            </p:nvSpPr>
            <p:spPr bwMode="auto">
              <a:xfrm>
                <a:off x="4219" y="1358"/>
                <a:ext cx="593" cy="44"/>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09" name="Rectangle 263"/>
              <p:cNvSpPr>
                <a:spLocks noChangeArrowheads="1"/>
              </p:cNvSpPr>
              <p:nvPr/>
            </p:nvSpPr>
            <p:spPr bwMode="auto">
              <a:xfrm>
                <a:off x="4225" y="1654"/>
                <a:ext cx="599"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nvGrpSpPr>
              <p:cNvPr id="110" name="Group 264"/>
              <p:cNvGrpSpPr/>
              <p:nvPr/>
            </p:nvGrpSpPr>
            <p:grpSpPr bwMode="auto">
              <a:xfrm>
                <a:off x="4735" y="1627"/>
                <a:ext cx="582" cy="151"/>
                <a:chOff x="614" y="2568"/>
                <a:chExt cx="725" cy="139"/>
              </a:xfrm>
            </p:grpSpPr>
            <p:sp>
              <p:nvSpPr>
                <p:cNvPr id="126" name="AutoShape 265"/>
                <p:cNvSpPr>
                  <a:spLocks noChangeArrowheads="1"/>
                </p:cNvSpPr>
                <p:nvPr/>
              </p:nvSpPr>
              <p:spPr bwMode="auto">
                <a:xfrm>
                  <a:off x="612" y="2570"/>
                  <a:ext cx="719" cy="138"/>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27" name="AutoShape 266"/>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sp>
            <p:nvSpPr>
              <p:cNvPr id="111"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12" name="Group 268"/>
              <p:cNvGrpSpPr/>
              <p:nvPr/>
            </p:nvGrpSpPr>
            <p:grpSpPr bwMode="auto">
              <a:xfrm>
                <a:off x="4739" y="1327"/>
                <a:ext cx="582" cy="139"/>
                <a:chOff x="614" y="2568"/>
                <a:chExt cx="725" cy="139"/>
              </a:xfrm>
            </p:grpSpPr>
            <p:sp>
              <p:nvSpPr>
                <p:cNvPr id="124" name="AutoShape 269"/>
                <p:cNvSpPr>
                  <a:spLocks noChangeArrowheads="1"/>
                </p:cNvSpPr>
                <p:nvPr/>
              </p:nvSpPr>
              <p:spPr bwMode="auto">
                <a:xfrm>
                  <a:off x="614" y="2570"/>
                  <a:ext cx="726" cy="136"/>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25" name="AutoShape 270"/>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sp>
            <p:nvSpPr>
              <p:cNvPr id="113" name="Rectangle 271"/>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14"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5"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6" name="Oval 274"/>
              <p:cNvSpPr>
                <a:spLocks noChangeArrowheads="1"/>
              </p:cNvSpPr>
              <p:nvPr/>
            </p:nvSpPr>
            <p:spPr bwMode="auto">
              <a:xfrm>
                <a:off x="5517" y="2612"/>
                <a:ext cx="48" cy="97"/>
              </a:xfrm>
              <a:prstGeom prst="ellipse">
                <a:avLst/>
              </a:prstGeom>
              <a:solidFill>
                <a:srgbClr val="3333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17"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 name="AutoShape 276"/>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19" name="AutoShape 277"/>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20" name="Oval 278"/>
              <p:cNvSpPr>
                <a:spLocks noChangeArrowheads="1"/>
              </p:cNvSpPr>
              <p:nvPr/>
            </p:nvSpPr>
            <p:spPr bwMode="auto">
              <a:xfrm>
                <a:off x="4310" y="2380"/>
                <a:ext cx="159" cy="145"/>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21" name="Oval 279"/>
              <p:cNvSpPr>
                <a:spLocks noChangeArrowheads="1"/>
              </p:cNvSpPr>
              <p:nvPr/>
            </p:nvSpPr>
            <p:spPr bwMode="auto">
              <a:xfrm>
                <a:off x="4484" y="2385"/>
                <a:ext cx="164" cy="140"/>
              </a:xfrm>
              <a:prstGeom prst="ellipse">
                <a:avLst/>
              </a:prstGeom>
              <a:solidFill>
                <a:srgbClr val="FF0000"/>
              </a:solidFill>
              <a:ln>
                <a:noFill/>
              </a:ln>
              <a:effectLst/>
            </p:spPr>
            <p:txBody>
              <a:bodyPr wrap="none" anchor="ctr"/>
              <a:lstStyle/>
              <a:p>
                <a:pPr algn="ctr">
                  <a:buFont typeface="ZapfDingbats" charset="0"/>
                  <a:buNone/>
                  <a:defRPr/>
                </a:pPr>
                <a:endParaRPr lang="en-US" dirty="0">
                  <a:solidFill>
                    <a:srgbClr val="FF0000"/>
                  </a:solidFill>
                  <a:latin typeface="Arial" panose="020B0604020202020204" pitchFamily="34" charset="0"/>
                  <a:ea typeface="MS PGothic" panose="020B0600070205080204" pitchFamily="34" charset="-128"/>
                  <a:cs typeface="Arial" panose="020B0604020202020204" pitchFamily="34" charset="0"/>
                </a:endParaRPr>
              </a:p>
            </p:txBody>
          </p:sp>
          <p:sp>
            <p:nvSpPr>
              <p:cNvPr id="122" name="Oval 280"/>
              <p:cNvSpPr>
                <a:spLocks noChangeArrowheads="1"/>
              </p:cNvSpPr>
              <p:nvPr/>
            </p:nvSpPr>
            <p:spPr bwMode="auto">
              <a:xfrm>
                <a:off x="4664" y="2380"/>
                <a:ext cx="154" cy="140"/>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sp>
            <p:nvSpPr>
              <p:cNvPr id="123" name="Rectangle 281"/>
              <p:cNvSpPr>
                <a:spLocks noChangeArrowheads="1"/>
              </p:cNvSpPr>
              <p:nvPr/>
            </p:nvSpPr>
            <p:spPr bwMode="auto">
              <a:xfrm>
                <a:off x="5062" y="1838"/>
                <a:ext cx="85" cy="760"/>
              </a:xfrm>
              <a:prstGeom prst="rect">
                <a:avLst/>
              </a:prstGeom>
              <a:solidFill>
                <a:srgbClr val="292929"/>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cs typeface="Arial" panose="020B0604020202020204" pitchFamily="34" charset="0"/>
                </a:endParaRPr>
              </a:p>
            </p:txBody>
          </p:sp>
        </p:grpSp>
        <p:grpSp>
          <p:nvGrpSpPr>
            <p:cNvPr id="85" name="Group 134"/>
            <p:cNvGrpSpPr/>
            <p:nvPr/>
          </p:nvGrpSpPr>
          <p:grpSpPr bwMode="auto">
            <a:xfrm>
              <a:off x="2942641" y="2038350"/>
              <a:ext cx="1281113" cy="363538"/>
              <a:chOff x="3621" y="3265"/>
              <a:chExt cx="1776" cy="744"/>
            </a:xfrm>
          </p:grpSpPr>
          <p:pic>
            <p:nvPicPr>
              <p:cNvPr id="96" name="Picture 135" descr="reellogo"/>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Freeform 136"/>
              <p:cNvSpPr/>
              <p:nvPr/>
            </p:nvSpPr>
            <p:spPr bwMode="auto">
              <a:xfrm>
                <a:off x="3971" y="3288"/>
                <a:ext cx="1402" cy="439"/>
              </a:xfrm>
              <a:custGeom>
                <a:avLst/>
                <a:gdLst>
                  <a:gd name="T0" fmla="*/ 0 w 1401"/>
                  <a:gd name="T1" fmla="*/ 6 h 438"/>
                  <a:gd name="T2" fmla="*/ 27 w 1401"/>
                  <a:gd name="T3" fmla="*/ 385 h 438"/>
                  <a:gd name="T4" fmla="*/ 114 w 1401"/>
                  <a:gd name="T5" fmla="*/ 382 h 438"/>
                  <a:gd name="T6" fmla="*/ 132 w 1401"/>
                  <a:gd name="T7" fmla="*/ 358 h 438"/>
                  <a:gd name="T8" fmla="*/ 210 w 1401"/>
                  <a:gd name="T9" fmla="*/ 403 h 438"/>
                  <a:gd name="T10" fmla="*/ 450 w 1401"/>
                  <a:gd name="T11" fmla="*/ 385 h 438"/>
                  <a:gd name="T12" fmla="*/ 486 w 1401"/>
                  <a:gd name="T13" fmla="*/ 394 h 438"/>
                  <a:gd name="T14" fmla="*/ 690 w 1401"/>
                  <a:gd name="T15" fmla="*/ 418 h 438"/>
                  <a:gd name="T16" fmla="*/ 1075 w 1401"/>
                  <a:gd name="T17" fmla="*/ 439 h 438"/>
                  <a:gd name="T18" fmla="*/ 1402 w 1401"/>
                  <a:gd name="T19" fmla="*/ 421 h 438"/>
                  <a:gd name="T20" fmla="*/ 1393 w 1401"/>
                  <a:gd name="T21" fmla="*/ 165 h 438"/>
                  <a:gd name="T22" fmla="*/ 291 w 1401"/>
                  <a:gd name="T23" fmla="*/ 0 h 438"/>
                  <a:gd name="T24" fmla="*/ 0 w 1401"/>
                  <a:gd name="T25" fmla="*/ 6 h 4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endParaRPr lang="en-US"/>
              </a:p>
            </p:txBody>
          </p:sp>
          <p:sp>
            <p:nvSpPr>
              <p:cNvPr id="98" name="Freeform 137"/>
              <p:cNvSpPr/>
              <p:nvPr/>
            </p:nvSpPr>
            <p:spPr bwMode="auto">
              <a:xfrm>
                <a:off x="4242" y="3860"/>
                <a:ext cx="999" cy="120"/>
              </a:xfrm>
              <a:custGeom>
                <a:avLst/>
                <a:gdLst>
                  <a:gd name="T0" fmla="*/ 0 w 999"/>
                  <a:gd name="T1" fmla="*/ 6 h 123"/>
                  <a:gd name="T2" fmla="*/ 717 w 999"/>
                  <a:gd name="T3" fmla="*/ 12 h 123"/>
                  <a:gd name="T4" fmla="*/ 744 w 999"/>
                  <a:gd name="T5" fmla="*/ 35 h 123"/>
                  <a:gd name="T6" fmla="*/ 801 w 999"/>
                  <a:gd name="T7" fmla="*/ 41 h 123"/>
                  <a:gd name="T8" fmla="*/ 876 w 999"/>
                  <a:gd name="T9" fmla="*/ 6 h 123"/>
                  <a:gd name="T10" fmla="*/ 933 w 999"/>
                  <a:gd name="T11" fmla="*/ 0 h 123"/>
                  <a:gd name="T12" fmla="*/ 981 w 999"/>
                  <a:gd name="T13" fmla="*/ 15 h 123"/>
                  <a:gd name="T14" fmla="*/ 999 w 999"/>
                  <a:gd name="T15" fmla="*/ 50 h 123"/>
                  <a:gd name="T16" fmla="*/ 987 w 999"/>
                  <a:gd name="T17" fmla="*/ 120 h 123"/>
                  <a:gd name="T18" fmla="*/ 18 w 999"/>
                  <a:gd name="T19" fmla="*/ 117 h 123"/>
                  <a:gd name="T20" fmla="*/ 0 w 999"/>
                  <a:gd name="T21" fmla="*/ 6 h 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endParaRPr lang="en-US"/>
              </a:p>
            </p:txBody>
          </p:sp>
          <p:pic>
            <p:nvPicPr>
              <p:cNvPr id="99" name="Picture 138" descr="video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 name="Group 349"/>
            <p:cNvGrpSpPr/>
            <p:nvPr/>
          </p:nvGrpSpPr>
          <p:grpSpPr bwMode="auto">
            <a:xfrm>
              <a:off x="7868654" y="2625725"/>
              <a:ext cx="677862" cy="663575"/>
              <a:chOff x="4437" y="1472"/>
              <a:chExt cx="427" cy="418"/>
            </a:xfrm>
          </p:grpSpPr>
          <p:sp>
            <p:nvSpPr>
              <p:cNvPr id="92" name="Rectangle 350"/>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ln>
              <a:effectLst/>
            </p:spPr>
            <p:txBody>
              <a:bodyPr wrap="none" anchor="ctr"/>
              <a:lstStyle/>
              <a:p>
                <a:pPr>
                  <a:buFont typeface="ZapfDingbats" charset="0"/>
                  <a:buNone/>
                  <a:defRPr/>
                </a:pPr>
                <a:endParaRPr lang="en-US" dirty="0">
                  <a:latin typeface="Arial" panose="020B0604020202020204"/>
                  <a:ea typeface="MS PGothic" panose="020B0600070205080204" pitchFamily="34" charset="-128"/>
                  <a:cs typeface="Arial" panose="020B0604020202020204"/>
                </a:endParaRPr>
              </a:p>
            </p:txBody>
          </p:sp>
          <p:sp>
            <p:nvSpPr>
              <p:cNvPr id="93" name="Rectangle 351"/>
              <p:cNvSpPr>
                <a:spLocks noChangeArrowheads="1"/>
              </p:cNvSpPr>
              <p:nvPr/>
            </p:nvSpPr>
            <p:spPr bwMode="auto">
              <a:xfrm>
                <a:off x="4567" y="1837"/>
                <a:ext cx="179" cy="23"/>
              </a:xfrm>
              <a:prstGeom prst="rect">
                <a:avLst/>
              </a:prstGeom>
              <a:solidFill>
                <a:srgbClr val="5F5F5F"/>
              </a:solidFill>
              <a:ln w="19050">
                <a:solidFill>
                  <a:srgbClr val="5F5F5F"/>
                </a:solidFill>
                <a:miter lim="800000"/>
              </a:ln>
              <a:effectLst/>
            </p:spPr>
            <p:txBody>
              <a:bodyPr wrap="none" anchor="ctr"/>
              <a:lstStyle/>
              <a:p>
                <a:pPr>
                  <a:buFont typeface="ZapfDingbats" charset="0"/>
                  <a:buNone/>
                  <a:defRPr/>
                </a:pPr>
                <a:endParaRPr lang="en-US" dirty="0">
                  <a:latin typeface="Arial" panose="020B0604020202020204"/>
                  <a:ea typeface="MS PGothic" panose="020B0600070205080204" pitchFamily="34" charset="-128"/>
                  <a:cs typeface="Arial" panose="020B0604020202020204"/>
                </a:endParaRPr>
              </a:p>
            </p:txBody>
          </p:sp>
          <p:sp>
            <p:nvSpPr>
              <p:cNvPr id="94" name="Rectangle 352"/>
              <p:cNvSpPr>
                <a:spLocks noChangeArrowheads="1"/>
              </p:cNvSpPr>
              <p:nvPr/>
            </p:nvSpPr>
            <p:spPr bwMode="auto">
              <a:xfrm>
                <a:off x="4442" y="1866"/>
                <a:ext cx="414" cy="24"/>
              </a:xfrm>
              <a:prstGeom prst="rect">
                <a:avLst/>
              </a:prstGeom>
              <a:solidFill>
                <a:schemeClr val="tx2"/>
              </a:solidFill>
              <a:ln w="19050">
                <a:solidFill>
                  <a:schemeClr val="tx1"/>
                </a:solidFill>
                <a:miter lim="800000"/>
              </a:ln>
              <a:effectLst/>
            </p:spPr>
            <p:txBody>
              <a:bodyPr wrap="none" anchor="ctr"/>
              <a:lstStyle/>
              <a:p>
                <a:pPr>
                  <a:buFont typeface="ZapfDingbats" charset="0"/>
                  <a:buNone/>
                  <a:defRPr/>
                </a:pPr>
                <a:endParaRPr lang="en-US" dirty="0">
                  <a:latin typeface="Arial" panose="020B0604020202020204"/>
                  <a:ea typeface="MS PGothic" panose="020B0600070205080204" pitchFamily="34" charset="-128"/>
                  <a:cs typeface="Arial" panose="020B0604020202020204"/>
                </a:endParaRPr>
              </a:p>
            </p:txBody>
          </p:sp>
          <p:sp>
            <p:nvSpPr>
              <p:cNvPr id="95" name="Rectangle 353"/>
              <p:cNvSpPr>
                <a:spLocks noChangeArrowheads="1"/>
              </p:cNvSpPr>
              <p:nvPr/>
            </p:nvSpPr>
            <p:spPr bwMode="auto">
              <a:xfrm>
                <a:off x="4437" y="1472"/>
                <a:ext cx="423" cy="356"/>
              </a:xfrm>
              <a:prstGeom prst="rect">
                <a:avLst/>
              </a:prstGeom>
              <a:noFill/>
              <a:ln w="19050">
                <a:solidFill>
                  <a:schemeClr val="accent2"/>
                </a:solidFill>
                <a:miter lim="800000"/>
              </a:ln>
              <a:effectLst/>
            </p:spPr>
            <p:txBody>
              <a:bodyPr wrap="none" anchor="ctr"/>
              <a:lstStyle/>
              <a:p>
                <a:pPr>
                  <a:buFont typeface="ZapfDingbats" charset="0"/>
                  <a:buNone/>
                  <a:defRPr/>
                </a:pPr>
                <a:endParaRPr lang="en-US" dirty="0">
                  <a:latin typeface="Arial" panose="020B0604020202020204"/>
                  <a:ea typeface="MS PGothic" panose="020B0600070205080204" pitchFamily="34" charset="-128"/>
                  <a:cs typeface="Arial" panose="020B0604020202020204"/>
                </a:endParaRPr>
              </a:p>
            </p:txBody>
          </p:sp>
        </p:grpSp>
        <p:sp>
          <p:nvSpPr>
            <p:cNvPr id="87" name="Freeform 1287"/>
            <p:cNvSpPr/>
            <p:nvPr/>
          </p:nvSpPr>
          <p:spPr bwMode="auto">
            <a:xfrm>
              <a:off x="4377741" y="2066925"/>
              <a:ext cx="2320925" cy="1228725"/>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88" name="Straight Connector 45"/>
            <p:cNvCxnSpPr>
              <a:cxnSpLocks noChangeShapeType="1"/>
            </p:cNvCxnSpPr>
            <p:nvPr/>
          </p:nvCxnSpPr>
          <p:spPr bwMode="auto">
            <a:xfrm>
              <a:off x="4018966" y="2632075"/>
              <a:ext cx="1241425" cy="0"/>
            </a:xfrm>
            <a:prstGeom prst="line">
              <a:avLst/>
            </a:prstGeom>
            <a:noFill/>
            <a:ln w="31750">
              <a:solidFill>
                <a:srgbClr val="CC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46"/>
            <p:cNvCxnSpPr>
              <a:cxnSpLocks noChangeShapeType="1"/>
            </p:cNvCxnSpPr>
            <p:nvPr/>
          </p:nvCxnSpPr>
          <p:spPr bwMode="auto">
            <a:xfrm>
              <a:off x="6030329" y="2662238"/>
              <a:ext cx="1531937" cy="0"/>
            </a:xfrm>
            <a:prstGeom prst="line">
              <a:avLst/>
            </a:prstGeom>
            <a:noFill/>
            <a:ln w="31750">
              <a:solidFill>
                <a:srgbClr val="CC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0" name="TextBox 64"/>
            <p:cNvSpPr txBox="1">
              <a:spLocks noChangeArrowheads="1"/>
            </p:cNvSpPr>
            <p:nvPr/>
          </p:nvSpPr>
          <p:spPr bwMode="auto">
            <a:xfrm>
              <a:off x="7784516" y="3440113"/>
              <a:ext cx="76676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solidFill>
                    <a:srgbClr val="000000"/>
                  </a:solidFill>
                  <a:cs typeface="Arial" panose="020B0604020202020204" pitchFamily="34" charset="0"/>
                </a:rPr>
                <a:t>client</a:t>
              </a:r>
              <a:endParaRPr lang="en-US" altLang="en-US" sz="1800" i="1">
                <a:solidFill>
                  <a:srgbClr val="CC0000"/>
                </a:solidFill>
                <a:cs typeface="Arial" panose="020B0604020202020204" pitchFamily="34" charset="0"/>
              </a:endParaRPr>
            </a:p>
          </p:txBody>
        </p:sp>
        <p:sp>
          <p:nvSpPr>
            <p:cNvPr id="91" name="TextBox 64"/>
            <p:cNvSpPr txBox="1">
              <a:spLocks noChangeArrowheads="1"/>
            </p:cNvSpPr>
            <p:nvPr/>
          </p:nvSpPr>
          <p:spPr bwMode="auto">
            <a:xfrm>
              <a:off x="5031791" y="2895600"/>
              <a:ext cx="91916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a:solidFill>
                    <a:srgbClr val="000000"/>
                  </a:solidFill>
                  <a:cs typeface="Arial" panose="020B0604020202020204" pitchFamily="34" charset="0"/>
                </a:rPr>
                <a:t>Internet</a:t>
              </a:r>
              <a:endParaRPr lang="en-US" altLang="en-US" sz="1800" i="1">
                <a:solidFill>
                  <a:srgbClr val="CC0000"/>
                </a:solidFill>
                <a:cs typeface="Arial" panose="020B0604020202020204" pitchFamily="34" charset="0"/>
              </a:endParaRPr>
            </a:p>
          </p:txBody>
        </p:sp>
      </p:grpSp>
      <p:sp>
        <p:nvSpPr>
          <p:cNvPr id="57" name="Rectangle 3"/>
          <p:cNvSpPr txBox="1">
            <a:spLocks noChangeArrowheads="1"/>
          </p:cNvSpPr>
          <p:nvPr/>
        </p:nvSpPr>
        <p:spPr>
          <a:xfrm>
            <a:off x="902523" y="1442355"/>
            <a:ext cx="6582550"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sz="3200" i="1" dirty="0">
                <a:solidFill>
                  <a:srgbClr val="000099"/>
                </a:solidFill>
                <a:latin typeface="Gill Sans MT" panose="020B0502020104020203" pitchFamily="34" charset="77"/>
                <a:ea typeface="MS PGothic" panose="020B0600070205080204" pitchFamily="34" charset="-128"/>
              </a:rPr>
              <a:t>“</a:t>
            </a:r>
            <a:r>
              <a:rPr lang="en-US" altLang="en-US" sz="3200" i="1" dirty="0">
                <a:solidFill>
                  <a:srgbClr val="000099"/>
                </a:solidFill>
                <a:ea typeface="MS PGothic" panose="020B0600070205080204" pitchFamily="34" charset="-128"/>
              </a:rPr>
              <a:t>intelligence” </a:t>
            </a:r>
            <a:r>
              <a:rPr lang="en-US" altLang="en-US" sz="3200" dirty="0">
                <a:solidFill>
                  <a:srgbClr val="000099"/>
                </a:solidFill>
                <a:ea typeface="MS PGothic" panose="020B0600070205080204" pitchFamily="34" charset="-128"/>
              </a:rPr>
              <a:t>at client: </a:t>
            </a:r>
            <a:r>
              <a:rPr lang="en-US" altLang="en-US" sz="3200" dirty="0">
                <a:ea typeface="MS PGothic" panose="020B0600070205080204" pitchFamily="34" charset="-128"/>
              </a:rPr>
              <a:t>client determines</a:t>
            </a:r>
            <a:endParaRPr lang="en-US" altLang="en-US" sz="3200" dirty="0">
              <a:ea typeface="MS PGothic" panose="020B0600070205080204" pitchFamily="34" charset="-128"/>
            </a:endParaRPr>
          </a:p>
          <a:p>
            <a:pPr lvl="1"/>
            <a:r>
              <a:rPr lang="en-US" altLang="en-US" sz="2800" i="1" dirty="0">
                <a:solidFill>
                  <a:srgbClr val="CC0000"/>
                </a:solidFill>
                <a:ea typeface="MS PGothic" panose="020B0600070205080204" pitchFamily="34" charset="-128"/>
              </a:rPr>
              <a:t>when</a:t>
            </a:r>
            <a:r>
              <a:rPr lang="en-US" altLang="en-US" sz="2800" i="1" dirty="0">
                <a:solidFill>
                  <a:srgbClr val="800000"/>
                </a:solidFill>
                <a:ea typeface="MS PGothic" panose="020B0600070205080204" pitchFamily="34" charset="-128"/>
              </a:rPr>
              <a:t> </a:t>
            </a:r>
            <a:r>
              <a:rPr lang="en-US" altLang="en-US" sz="2800" dirty="0">
                <a:solidFill>
                  <a:srgbClr val="000000"/>
                </a:solidFill>
                <a:ea typeface="MS PGothic" panose="020B0600070205080204" pitchFamily="34" charset="-128"/>
              </a:rPr>
              <a:t>to request chunk (so that buffer starvation, or overflow does not occur)</a:t>
            </a:r>
            <a:endParaRPr lang="en-US" altLang="en-US" sz="2800" dirty="0">
              <a:solidFill>
                <a:srgbClr val="000000"/>
              </a:solidFill>
              <a:ea typeface="MS PGothic" panose="020B0600070205080204" pitchFamily="34" charset="-128"/>
            </a:endParaRPr>
          </a:p>
          <a:p>
            <a:pPr lvl="1"/>
            <a:r>
              <a:rPr lang="en-US" altLang="en-US" sz="2800" i="1" dirty="0">
                <a:solidFill>
                  <a:srgbClr val="CC0000"/>
                </a:solidFill>
                <a:ea typeface="MS PGothic" panose="020B0600070205080204" pitchFamily="34" charset="-128"/>
              </a:rPr>
              <a:t>what encoding rate </a:t>
            </a:r>
            <a:r>
              <a:rPr lang="en-US" altLang="en-US" sz="2800" dirty="0">
                <a:solidFill>
                  <a:srgbClr val="000000"/>
                </a:solidFill>
                <a:ea typeface="MS PGothic" panose="020B0600070205080204" pitchFamily="34" charset="-128"/>
              </a:rPr>
              <a:t>to request </a:t>
            </a:r>
            <a:r>
              <a:rPr lang="en-US" altLang="en-US" sz="2800" dirty="0">
                <a:ea typeface="MS PGothic" panose="020B0600070205080204" pitchFamily="34" charset="-128"/>
              </a:rPr>
              <a:t>(higher quality when more bandwidth available) </a:t>
            </a:r>
            <a:endParaRPr lang="en-US" altLang="en-US" sz="2800" dirty="0">
              <a:solidFill>
                <a:srgbClr val="000000"/>
              </a:solidFill>
              <a:ea typeface="MS PGothic" panose="020B0600070205080204" pitchFamily="34" charset="-128"/>
            </a:endParaRPr>
          </a:p>
        </p:txBody>
      </p:sp>
      <p:sp>
        <p:nvSpPr>
          <p:cNvPr id="58" name="Rectangle 3"/>
          <p:cNvSpPr txBox="1">
            <a:spLocks noChangeArrowheads="1"/>
          </p:cNvSpPr>
          <p:nvPr/>
        </p:nvSpPr>
        <p:spPr>
          <a:xfrm>
            <a:off x="917270" y="4418084"/>
            <a:ext cx="10736797" cy="16010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r>
              <a:rPr lang="en-US" altLang="en-US" sz="2800" i="1" dirty="0">
                <a:solidFill>
                  <a:srgbClr val="CC0000"/>
                </a:solidFill>
                <a:ea typeface="MS PGothic" panose="020B0600070205080204" pitchFamily="34" charset="-128"/>
              </a:rPr>
              <a:t>where</a:t>
            </a:r>
            <a:r>
              <a:rPr lang="en-US" altLang="en-US" sz="2800" i="1" dirty="0">
                <a:solidFill>
                  <a:srgbClr val="800000"/>
                </a:solidFill>
                <a:ea typeface="MS PGothic" panose="020B0600070205080204" pitchFamily="34" charset="-128"/>
              </a:rPr>
              <a:t> </a:t>
            </a:r>
            <a:r>
              <a:rPr lang="en-US" altLang="en-US" sz="2800" dirty="0">
                <a:ea typeface="MS PGothic" panose="020B0600070205080204" pitchFamily="34" charset="-128"/>
              </a:rPr>
              <a:t>to request chunk (can request from URL server that is “close” to client or has high available bandwidth</a:t>
            </a:r>
            <a:r>
              <a:rPr lang="en-US" altLang="en-US" sz="2800" dirty="0">
                <a:latin typeface="Gill Sans MT" panose="020B0502020104020203" pitchFamily="34" charset="77"/>
                <a:ea typeface="MS PGothic" panose="020B0600070205080204" pitchFamily="34" charset="-128"/>
              </a:rPr>
              <a:t>) </a:t>
            </a:r>
            <a:endParaRPr lang="en-US" altLang="en-US" sz="2800" dirty="0">
              <a:latin typeface="Gill Sans MT" panose="020B0502020104020203" pitchFamily="34" charset="77"/>
              <a:ea typeface="MS PGothic" panose="020B0600070205080204" pitchFamily="34" charset="-128"/>
            </a:endParaRPr>
          </a:p>
        </p:txBody>
      </p:sp>
      <p:sp>
        <p:nvSpPr>
          <p:cNvPr id="2" name="TextBox 1"/>
          <p:cNvSpPr txBox="1"/>
          <p:nvPr/>
        </p:nvSpPr>
        <p:spPr>
          <a:xfrm>
            <a:off x="1455456" y="5652226"/>
            <a:ext cx="9389302" cy="584775"/>
          </a:xfrm>
          <a:prstGeom prst="rect">
            <a:avLst/>
          </a:prstGeom>
          <a:noFill/>
        </p:spPr>
        <p:txBody>
          <a:bodyPr wrap="none" rtlCol="0">
            <a:spAutoFit/>
          </a:bodyPr>
          <a:lstStyle/>
          <a:p>
            <a:r>
              <a:rPr lang="en-US" sz="3200" dirty="0">
                <a:solidFill>
                  <a:srgbClr val="C00000"/>
                </a:solidFill>
              </a:rPr>
              <a:t>Streaming video = </a:t>
            </a:r>
            <a:r>
              <a:rPr lang="en-US" sz="3200" dirty="0"/>
              <a:t>encoding +</a:t>
            </a:r>
            <a:r>
              <a:rPr lang="en-US" sz="3200" dirty="0">
                <a:solidFill>
                  <a:srgbClr val="C00000"/>
                </a:solidFill>
              </a:rPr>
              <a:t> </a:t>
            </a:r>
            <a:r>
              <a:rPr lang="en-US" sz="3200" dirty="0"/>
              <a:t>DASH + playout buffering</a:t>
            </a:r>
            <a:endParaRPr lang="en-US" sz="3200" dirty="0"/>
          </a:p>
        </p:txBody>
      </p:sp>
      <p:sp>
        <p:nvSpPr>
          <p:cNvPr id="59"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r>
              <a:rPr lang="en-US" altLang="en-US" sz="4400" dirty="0">
                <a:ea typeface="MS PGothic" panose="020B0600070205080204" pitchFamily="34" charset="-128"/>
              </a:rPr>
              <a:t>Content distribution </a:t>
            </a:r>
            <a:r>
              <a:rPr lang="en-US" altLang="en-US" dirty="0">
                <a:ea typeface="MS PGothic" panose="020B0600070205080204" pitchFamily="34" charset="-128"/>
              </a:rPr>
              <a:t>n</a:t>
            </a:r>
            <a:r>
              <a:rPr lang="en-US" altLang="en-US" sz="4400" dirty="0">
                <a:ea typeface="MS PGothic" panose="020B0600070205080204" pitchFamily="34" charset="-128"/>
              </a:rPr>
              <a:t>etworks (CDNs)</a:t>
            </a:r>
            <a:endParaRPr lang="en-US" altLang="en-US" sz="4400" dirty="0">
              <a:ea typeface="MS PGothic" panose="020B0600070205080204" pitchFamily="34" charset="-128"/>
            </a:endParaRPr>
          </a:p>
        </p:txBody>
      </p:sp>
      <p:sp>
        <p:nvSpPr>
          <p:cNvPr id="59" name="Rectangle 3"/>
          <p:cNvSpPr txBox="1">
            <a:spLocks noChangeArrowheads="1"/>
          </p:cNvSpPr>
          <p:nvPr/>
        </p:nvSpPr>
        <p:spPr>
          <a:xfrm>
            <a:off x="1013029" y="1454599"/>
            <a:ext cx="10515599"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655" indent="-287655"/>
            <a:r>
              <a:rPr lang="en-US" altLang="en-US" sz="3200" i="1" dirty="0">
                <a:solidFill>
                  <a:srgbClr val="CC0000"/>
                </a:solidFill>
                <a:ea typeface="MS PGothic" panose="020B0600070205080204" pitchFamily="34" charset="-128"/>
              </a:rPr>
              <a:t>challenge: </a:t>
            </a:r>
            <a:r>
              <a:rPr lang="en-US" altLang="en-US" sz="3200" dirty="0">
                <a:solidFill>
                  <a:srgbClr val="000000"/>
                </a:solidFill>
                <a:ea typeface="MS PGothic" panose="020B0600070205080204" pitchFamily="34" charset="-128"/>
              </a:rPr>
              <a:t>how to stream content (selected from millions of videos) to hundreds of thousands of </a:t>
            </a:r>
            <a:r>
              <a:rPr lang="en-US" altLang="en-US" sz="3200" i="1" dirty="0">
                <a:solidFill>
                  <a:srgbClr val="000000"/>
                </a:solidFill>
                <a:ea typeface="MS PGothic" panose="020B0600070205080204" pitchFamily="34" charset="-128"/>
              </a:rPr>
              <a:t>simultaneous</a:t>
            </a:r>
            <a:r>
              <a:rPr lang="en-US" altLang="en-US" sz="3200" dirty="0">
                <a:solidFill>
                  <a:srgbClr val="000000"/>
                </a:solidFill>
                <a:ea typeface="MS PGothic" panose="020B0600070205080204" pitchFamily="34" charset="-128"/>
              </a:rPr>
              <a:t> users?</a:t>
            </a:r>
            <a:endParaRPr lang="en-US" altLang="en-US" sz="3200" dirty="0">
              <a:solidFill>
                <a:srgbClr val="000000"/>
              </a:solidFill>
              <a:ea typeface="MS PGothic" panose="020B0600070205080204" pitchFamily="34" charset="-128"/>
            </a:endParaRPr>
          </a:p>
          <a:p>
            <a:pPr marL="287655" indent="-287655"/>
            <a:endParaRPr lang="en-US" altLang="en-US" dirty="0">
              <a:solidFill>
                <a:srgbClr val="000000"/>
              </a:solidFill>
              <a:ea typeface="MS PGothic" panose="020B0600070205080204" pitchFamily="34" charset="-128"/>
            </a:endParaRPr>
          </a:p>
        </p:txBody>
      </p:sp>
      <p:sp>
        <p:nvSpPr>
          <p:cNvPr id="5" name="Rectangle 3"/>
          <p:cNvSpPr txBox="1">
            <a:spLocks noChangeArrowheads="1"/>
          </p:cNvSpPr>
          <p:nvPr/>
        </p:nvSpPr>
        <p:spPr>
          <a:xfrm>
            <a:off x="1013029" y="2757624"/>
            <a:ext cx="10515599"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655" indent="-287655"/>
            <a:r>
              <a:rPr lang="en-US" altLang="en-US" sz="3200" dirty="0">
                <a:solidFill>
                  <a:srgbClr val="CC0000"/>
                </a:solidFill>
                <a:ea typeface="MS PGothic" panose="020B0600070205080204" pitchFamily="34" charset="-128"/>
              </a:rPr>
              <a:t>option 1: </a:t>
            </a:r>
            <a:r>
              <a:rPr lang="en-US" altLang="en-US" sz="3200" dirty="0">
                <a:solidFill>
                  <a:srgbClr val="000000"/>
                </a:solidFill>
                <a:ea typeface="MS PGothic" panose="020B0600070205080204" pitchFamily="34" charset="-128"/>
              </a:rPr>
              <a:t>single, large “mega-server”</a:t>
            </a:r>
            <a:endParaRPr lang="en-US" altLang="en-US" sz="3200" dirty="0">
              <a:solidFill>
                <a:srgbClr val="000000"/>
              </a:solidFill>
              <a:ea typeface="MS PGothic" panose="020B0600070205080204" pitchFamily="34" charset="-128"/>
            </a:endParaRPr>
          </a:p>
          <a:p>
            <a:pPr marL="681355" lvl="1" indent="-224155"/>
            <a:r>
              <a:rPr lang="en-US" altLang="en-US" sz="2800" dirty="0">
                <a:solidFill>
                  <a:srgbClr val="000000"/>
                </a:solidFill>
                <a:ea typeface="MS PGothic" panose="020B0600070205080204" pitchFamily="34" charset="-128"/>
              </a:rPr>
              <a:t>single point of failure</a:t>
            </a:r>
            <a:endParaRPr lang="en-US" altLang="en-US" sz="2800" dirty="0">
              <a:solidFill>
                <a:srgbClr val="000000"/>
              </a:solidFill>
              <a:ea typeface="MS PGothic" panose="020B0600070205080204" pitchFamily="34" charset="-128"/>
            </a:endParaRPr>
          </a:p>
          <a:p>
            <a:pPr marL="681355" lvl="1" indent="-224155"/>
            <a:r>
              <a:rPr lang="en-US" altLang="en-US" sz="2800" dirty="0">
                <a:solidFill>
                  <a:srgbClr val="000000"/>
                </a:solidFill>
                <a:ea typeface="MS PGothic" panose="020B0600070205080204" pitchFamily="34" charset="-128"/>
              </a:rPr>
              <a:t>point of network congestion</a:t>
            </a:r>
            <a:endParaRPr lang="en-US" altLang="en-US" sz="2800" dirty="0">
              <a:solidFill>
                <a:srgbClr val="000000"/>
              </a:solidFill>
              <a:ea typeface="MS PGothic" panose="020B0600070205080204" pitchFamily="34" charset="-128"/>
            </a:endParaRPr>
          </a:p>
          <a:p>
            <a:pPr marL="681355" lvl="1" indent="-224155"/>
            <a:r>
              <a:rPr lang="en-US" altLang="en-US" sz="2800" dirty="0">
                <a:solidFill>
                  <a:srgbClr val="000000"/>
                </a:solidFill>
                <a:ea typeface="MS PGothic" panose="020B0600070205080204" pitchFamily="34" charset="-128"/>
              </a:rPr>
              <a:t>long path to distant clients</a:t>
            </a:r>
            <a:endParaRPr lang="en-US" altLang="en-US" sz="2800" dirty="0">
              <a:solidFill>
                <a:srgbClr val="000000"/>
              </a:solidFill>
              <a:ea typeface="MS PGothic" panose="020B0600070205080204" pitchFamily="34" charset="-128"/>
            </a:endParaRPr>
          </a:p>
          <a:p>
            <a:pPr marL="681355" lvl="1" indent="-224155"/>
            <a:r>
              <a:rPr lang="en-US" altLang="en-US" sz="2800" dirty="0">
                <a:solidFill>
                  <a:srgbClr val="000000"/>
                </a:solidFill>
                <a:ea typeface="MS PGothic" panose="020B0600070205080204" pitchFamily="34" charset="-128"/>
              </a:rPr>
              <a:t>multiple copies of video sent over outgoing link</a:t>
            </a:r>
            <a:endParaRPr lang="en-US" altLang="en-US" sz="2800" dirty="0">
              <a:solidFill>
                <a:srgbClr val="000000"/>
              </a:solidFill>
              <a:ea typeface="MS PGothic" panose="020B0600070205080204" pitchFamily="34" charset="-128"/>
            </a:endParaRPr>
          </a:p>
          <a:p>
            <a:pPr marL="681355" lvl="1" indent="-224155">
              <a:buFont typeface="Arial" panose="020B0604020202020204" pitchFamily="34" charset="0"/>
              <a:buNone/>
            </a:pPr>
            <a:endParaRPr lang="en-US" altLang="en-US" sz="2800" dirty="0">
              <a:solidFill>
                <a:srgbClr val="000000"/>
              </a:solidFill>
              <a:ea typeface="MS PGothic" panose="020B0600070205080204" pitchFamily="34" charset="-128"/>
            </a:endParaRPr>
          </a:p>
          <a:p>
            <a:pPr marL="287655" indent="-287655">
              <a:buFont typeface="Wingdings" panose="05000000000000000000" pitchFamily="2" charset="2"/>
              <a:buNone/>
            </a:pPr>
            <a:r>
              <a:rPr lang="en-US" altLang="en-US" sz="3200" dirty="0">
                <a:solidFill>
                  <a:srgbClr val="000000"/>
                </a:solidFill>
                <a:ea typeface="MS PGothic" panose="020B0600070205080204" pitchFamily="34" charset="-128"/>
              </a:rPr>
              <a:t>….quite simply: this solution </a:t>
            </a:r>
            <a:r>
              <a:rPr lang="en-US" altLang="en-US" sz="3200" i="1" dirty="0" err="1">
                <a:solidFill>
                  <a:srgbClr val="C00000"/>
                </a:solidFill>
                <a:ea typeface="MS PGothic" panose="020B0600070205080204" pitchFamily="34" charset="-128"/>
              </a:rPr>
              <a:t>doesn</a:t>
            </a:r>
            <a:r>
              <a:rPr lang="fr-FR" altLang="en-US" sz="3200" i="1" dirty="0">
                <a:solidFill>
                  <a:srgbClr val="C00000"/>
                </a:solidFill>
                <a:ea typeface="MS PGothic" panose="020B0600070205080204" pitchFamily="34" charset="-128"/>
              </a:rPr>
              <a:t>’</a:t>
            </a:r>
            <a:r>
              <a:rPr lang="en-US" altLang="ja-JP" sz="3200" i="1" dirty="0">
                <a:solidFill>
                  <a:srgbClr val="C00000"/>
                </a:solidFill>
                <a:ea typeface="MS PGothic" panose="020B0600070205080204" pitchFamily="34" charset="-128"/>
              </a:rPr>
              <a:t>t scale</a:t>
            </a:r>
            <a:endParaRPr lang="en-US" altLang="ja-JP" sz="3200" i="1" dirty="0">
              <a:solidFill>
                <a:srgbClr val="C00000"/>
              </a:solidFill>
              <a:ea typeface="MS PGothic" panose="020B0600070205080204" pitchFamily="34" charset="-128"/>
            </a:endParaRPr>
          </a:p>
          <a:p>
            <a:pPr marL="681355" lvl="1" indent="-224155"/>
            <a:endParaRPr lang="en-US" altLang="en-US" dirty="0">
              <a:solidFill>
                <a:srgbClr val="000000"/>
              </a:solidFill>
              <a:ea typeface="MS PGothic" panose="020B0600070205080204" pitchFamily="34" charset="-128"/>
            </a:endParaRPr>
          </a:p>
          <a:p>
            <a:pPr marL="287655" indent="-287655"/>
            <a:endParaRPr lang="en-US" altLang="en-US" dirty="0">
              <a:solidFill>
                <a:srgbClr val="000000"/>
              </a:solidFill>
              <a:ea typeface="MS PGothic" panose="020B0600070205080204" pitchFamily="34" charset="-128"/>
            </a:endParaRPr>
          </a:p>
          <a:p>
            <a:pPr marL="287655" indent="-287655"/>
            <a:endParaRPr lang="en-US" altLang="en-US" dirty="0">
              <a:solidFill>
                <a:srgbClr val="000000"/>
              </a:solidFill>
              <a:ea typeface="MS PGothic" panose="020B0600070205080204" pitchFamily="34" charset="-128"/>
            </a:endParaRPr>
          </a:p>
        </p:txBody>
      </p:sp>
      <p:sp>
        <p:nvSpPr>
          <p:cNvPr id="7"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r>
              <a:rPr lang="en-US" altLang="en-US" sz="4400" dirty="0">
                <a:ea typeface="MS PGothic" panose="020B0600070205080204" pitchFamily="34" charset="-128"/>
              </a:rPr>
              <a:t>Content distribution </a:t>
            </a:r>
            <a:r>
              <a:rPr lang="en-US" altLang="en-US" dirty="0">
                <a:ea typeface="MS PGothic" panose="020B0600070205080204" pitchFamily="34" charset="-128"/>
              </a:rPr>
              <a:t>n</a:t>
            </a:r>
            <a:r>
              <a:rPr lang="en-US" altLang="en-US" sz="4400" dirty="0">
                <a:ea typeface="MS PGothic" panose="020B0600070205080204" pitchFamily="34" charset="-128"/>
              </a:rPr>
              <a:t>etworks (CDNs)</a:t>
            </a:r>
            <a:endParaRPr lang="en-US" altLang="en-US" sz="4400" dirty="0">
              <a:ea typeface="MS PGothic" panose="020B0600070205080204" pitchFamily="34" charset="-128"/>
            </a:endParaRPr>
          </a:p>
        </p:txBody>
      </p:sp>
      <p:sp>
        <p:nvSpPr>
          <p:cNvPr id="59" name="Rectangle 3"/>
          <p:cNvSpPr txBox="1">
            <a:spLocks noChangeArrowheads="1"/>
          </p:cNvSpPr>
          <p:nvPr/>
        </p:nvSpPr>
        <p:spPr>
          <a:xfrm>
            <a:off x="1013029" y="1454599"/>
            <a:ext cx="10515599" cy="53536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655" indent="-287655"/>
            <a:r>
              <a:rPr lang="en-US" altLang="en-US" sz="3200" i="1" dirty="0">
                <a:solidFill>
                  <a:srgbClr val="CC0000"/>
                </a:solidFill>
                <a:ea typeface="MS PGothic" panose="020B0600070205080204" pitchFamily="34" charset="-128"/>
              </a:rPr>
              <a:t>challenge: </a:t>
            </a:r>
            <a:r>
              <a:rPr lang="en-US" altLang="en-US" sz="3200" dirty="0">
                <a:solidFill>
                  <a:srgbClr val="000000"/>
                </a:solidFill>
                <a:ea typeface="MS PGothic" panose="020B0600070205080204" pitchFamily="34" charset="-128"/>
              </a:rPr>
              <a:t>how to stream content (selected from millions of videos) to hundreds of thousands of </a:t>
            </a:r>
            <a:r>
              <a:rPr lang="en-US" altLang="en-US" sz="3200" i="1" dirty="0">
                <a:solidFill>
                  <a:srgbClr val="000000"/>
                </a:solidFill>
                <a:ea typeface="MS PGothic" panose="020B0600070205080204" pitchFamily="34" charset="-128"/>
              </a:rPr>
              <a:t>simultaneous</a:t>
            </a:r>
            <a:r>
              <a:rPr lang="en-US" altLang="en-US" sz="3200" dirty="0">
                <a:solidFill>
                  <a:srgbClr val="000000"/>
                </a:solidFill>
                <a:ea typeface="MS PGothic" panose="020B0600070205080204" pitchFamily="34" charset="-128"/>
              </a:rPr>
              <a:t> users?</a:t>
            </a:r>
            <a:endParaRPr lang="en-US" altLang="en-US" sz="3200" dirty="0">
              <a:solidFill>
                <a:srgbClr val="000000"/>
              </a:solidFill>
              <a:ea typeface="MS PGothic" panose="020B0600070205080204" pitchFamily="34" charset="-128"/>
            </a:endParaRPr>
          </a:p>
          <a:p>
            <a:pPr marL="287655" indent="-287655"/>
            <a:endParaRPr lang="en-US" altLang="en-US" dirty="0">
              <a:solidFill>
                <a:srgbClr val="000000"/>
              </a:solidFill>
              <a:ea typeface="MS PGothic" panose="020B0600070205080204" pitchFamily="34" charset="-128"/>
            </a:endParaRPr>
          </a:p>
        </p:txBody>
      </p:sp>
      <p:pic>
        <p:nvPicPr>
          <p:cNvPr id="48130" name="Picture 2" descr="Limelight Networks"/>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598310" y="5403401"/>
            <a:ext cx="3162300" cy="6985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3"/>
          <p:cNvSpPr txBox="1">
            <a:spLocks noChangeArrowheads="1"/>
          </p:cNvSpPr>
          <p:nvPr/>
        </p:nvSpPr>
        <p:spPr>
          <a:xfrm>
            <a:off x="838200" y="3468367"/>
            <a:ext cx="7760110" cy="310941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r>
              <a:rPr lang="en-US" altLang="en-US" sz="2800" i="1" dirty="0">
                <a:solidFill>
                  <a:srgbClr val="000099"/>
                </a:solidFill>
                <a:ea typeface="MS PGothic" panose="020B0600070205080204" pitchFamily="34" charset="-128"/>
              </a:rPr>
              <a:t>enter deep: </a:t>
            </a:r>
            <a:r>
              <a:rPr lang="en-US" altLang="en-US" sz="2800" dirty="0">
                <a:solidFill>
                  <a:srgbClr val="000000"/>
                </a:solidFill>
                <a:ea typeface="MS PGothic" panose="020B0600070205080204" pitchFamily="34" charset="-128"/>
              </a:rPr>
              <a:t>push CDN servers deep into many access networks </a:t>
            </a:r>
            <a:endParaRPr lang="en-US" altLang="en-US" sz="2800" dirty="0">
              <a:solidFill>
                <a:srgbClr val="000000"/>
              </a:solidFill>
              <a:ea typeface="MS PGothic" panose="020B0600070205080204" pitchFamily="34" charset="-128"/>
            </a:endParaRPr>
          </a:p>
          <a:p>
            <a:pPr lvl="2">
              <a:lnSpc>
                <a:spcPts val="2000"/>
              </a:lnSpc>
            </a:pPr>
            <a:r>
              <a:rPr lang="en-US" altLang="en-US" sz="2400" dirty="0">
                <a:solidFill>
                  <a:srgbClr val="000000"/>
                </a:solidFill>
                <a:ea typeface="MS PGothic" panose="020B0600070205080204" pitchFamily="34" charset="-128"/>
              </a:rPr>
              <a:t>close to users</a:t>
            </a:r>
            <a:endParaRPr lang="en-US" altLang="en-US" sz="2400" dirty="0">
              <a:solidFill>
                <a:srgbClr val="000000"/>
              </a:solidFill>
              <a:ea typeface="MS PGothic" panose="020B0600070205080204" pitchFamily="34" charset="-128"/>
            </a:endParaRPr>
          </a:p>
          <a:p>
            <a:pPr lvl="2">
              <a:lnSpc>
                <a:spcPts val="2000"/>
              </a:lnSpc>
            </a:pPr>
            <a:r>
              <a:rPr lang="en-US" altLang="en-US" sz="2400" dirty="0">
                <a:solidFill>
                  <a:srgbClr val="000000"/>
                </a:solidFill>
                <a:ea typeface="MS PGothic" panose="020B0600070205080204" pitchFamily="34" charset="-128"/>
              </a:rPr>
              <a:t>Akamai: </a:t>
            </a:r>
            <a:r>
              <a:rPr lang="en-US" sz="2400" dirty="0"/>
              <a:t>240,000 servers deployed in more than 120 countries (2015)</a:t>
            </a:r>
            <a:endParaRPr lang="en-US" altLang="en-US" sz="2400" dirty="0">
              <a:solidFill>
                <a:srgbClr val="000000"/>
              </a:solidFill>
              <a:ea typeface="MS PGothic" panose="020B0600070205080204" pitchFamily="34" charset="-128"/>
            </a:endParaRPr>
          </a:p>
          <a:p>
            <a:pPr lvl="1"/>
            <a:r>
              <a:rPr lang="en-US" altLang="en-US" sz="2800" i="1" dirty="0">
                <a:solidFill>
                  <a:srgbClr val="000099"/>
                </a:solidFill>
                <a:ea typeface="MS PGothic" panose="020B0600070205080204" pitchFamily="34" charset="-128"/>
              </a:rPr>
              <a:t>bring home: </a:t>
            </a:r>
            <a:r>
              <a:rPr lang="en-US" altLang="en-US" sz="2800" dirty="0">
                <a:solidFill>
                  <a:srgbClr val="000000"/>
                </a:solidFill>
                <a:ea typeface="MS PGothic" panose="020B0600070205080204" pitchFamily="34" charset="-128"/>
              </a:rPr>
              <a:t>smaller number (10’s) of larger clusters in POPs near (but not within) access networks</a:t>
            </a:r>
            <a:endParaRPr lang="en-US" altLang="en-US" sz="2800" dirty="0">
              <a:solidFill>
                <a:srgbClr val="000000"/>
              </a:solidFill>
              <a:ea typeface="MS PGothic" panose="020B0600070205080204" pitchFamily="34" charset="-128"/>
            </a:endParaRPr>
          </a:p>
          <a:p>
            <a:pPr lvl="2"/>
            <a:r>
              <a:rPr lang="en-US" altLang="en-US" sz="2400" dirty="0">
                <a:solidFill>
                  <a:srgbClr val="000000"/>
                </a:solidFill>
                <a:ea typeface="MS PGothic" panose="020B0600070205080204" pitchFamily="34" charset="-128"/>
              </a:rPr>
              <a:t>used by Limelight</a:t>
            </a:r>
            <a:endParaRPr lang="en-US" altLang="en-US" sz="2400" i="1" dirty="0">
              <a:solidFill>
                <a:srgbClr val="CC0000"/>
              </a:solidFill>
              <a:ea typeface="MS PGothic" panose="020B0600070205080204" pitchFamily="34" charset="-128"/>
            </a:endParaRPr>
          </a:p>
          <a:p>
            <a:pPr marL="681355" lvl="1" indent="-224155"/>
            <a:endParaRPr lang="en-US" altLang="en-US" sz="2800" dirty="0">
              <a:solidFill>
                <a:srgbClr val="000000"/>
              </a:solidFill>
              <a:ea typeface="MS PGothic" panose="020B0600070205080204" pitchFamily="34" charset="-128"/>
            </a:endParaRPr>
          </a:p>
          <a:p>
            <a:pPr marL="287655" indent="-287655"/>
            <a:endParaRPr lang="en-US" altLang="en-US" dirty="0">
              <a:solidFill>
                <a:srgbClr val="000000"/>
              </a:solidFill>
              <a:ea typeface="MS PGothic" panose="020B0600070205080204" pitchFamily="34" charset="-128"/>
            </a:endParaRPr>
          </a:p>
          <a:p>
            <a:pPr marL="287655" indent="-287655"/>
            <a:endParaRPr lang="en-US" altLang="en-US" dirty="0">
              <a:solidFill>
                <a:srgbClr val="000000"/>
              </a:solidFill>
              <a:ea typeface="MS PGothic" panose="020B0600070205080204" pitchFamily="34" charset="-128"/>
            </a:endParaRPr>
          </a:p>
        </p:txBody>
      </p:sp>
      <p:pic>
        <p:nvPicPr>
          <p:cNvPr id="48132" name="Picture 4" descr="Image result for akamai log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98310" y="4313963"/>
            <a:ext cx="1886155" cy="76625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3"/>
          <p:cNvSpPr txBox="1">
            <a:spLocks noChangeArrowheads="1"/>
          </p:cNvSpPr>
          <p:nvPr/>
        </p:nvSpPr>
        <p:spPr>
          <a:xfrm>
            <a:off x="1010678" y="1874874"/>
            <a:ext cx="10515599" cy="28222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655" indent="-287655"/>
            <a:endParaRPr lang="en-US" altLang="en-US" sz="3200" dirty="0">
              <a:solidFill>
                <a:srgbClr val="000000"/>
              </a:solidFill>
              <a:ea typeface="MS PGothic" panose="020B0600070205080204" pitchFamily="34" charset="-128"/>
            </a:endParaRPr>
          </a:p>
          <a:p>
            <a:pPr marL="287655" indent="-287655"/>
            <a:r>
              <a:rPr lang="en-US" altLang="en-US" sz="3200" dirty="0">
                <a:solidFill>
                  <a:srgbClr val="CC0000"/>
                </a:solidFill>
                <a:ea typeface="MS PGothic" panose="020B0600070205080204" pitchFamily="34" charset="-128"/>
              </a:rPr>
              <a:t>option 2: </a:t>
            </a:r>
            <a:r>
              <a:rPr lang="en-US" altLang="en-US" sz="3200" dirty="0">
                <a:solidFill>
                  <a:srgbClr val="000000"/>
                </a:solidFill>
                <a:ea typeface="MS PGothic" panose="020B0600070205080204" pitchFamily="34" charset="-128"/>
              </a:rPr>
              <a:t>store/serve multiple copies of videos at multiple geographically distributed sites </a:t>
            </a:r>
            <a:r>
              <a:rPr lang="en-US" altLang="en-US" sz="3200" i="1" dirty="0">
                <a:solidFill>
                  <a:srgbClr val="CC0000"/>
                </a:solidFill>
                <a:ea typeface="MS PGothic" panose="020B0600070205080204" pitchFamily="34" charset="-128"/>
              </a:rPr>
              <a:t>(CDN)</a:t>
            </a:r>
            <a:endParaRPr lang="en-US" altLang="en-US" sz="3200" i="1" dirty="0">
              <a:solidFill>
                <a:srgbClr val="CC0000"/>
              </a:solidFill>
              <a:ea typeface="MS PGothic" panose="020B0600070205080204" pitchFamily="34" charset="-128"/>
            </a:endParaRPr>
          </a:p>
          <a:p>
            <a:pPr marL="287655" indent="-287655"/>
            <a:endParaRPr lang="en-US" altLang="en-US" dirty="0">
              <a:solidFill>
                <a:srgbClr val="000000"/>
              </a:solidFill>
              <a:ea typeface="MS PGothic" panose="020B0600070205080204" pitchFamily="34" charset="-128"/>
            </a:endParaRPr>
          </a:p>
          <a:p>
            <a:pPr marL="287655" indent="-287655"/>
            <a:endParaRPr lang="en-US" altLang="en-US" dirty="0">
              <a:solidFill>
                <a:srgbClr val="000000"/>
              </a:solidFill>
              <a:ea typeface="MS PGothic" panose="020B0600070205080204" pitchFamily="34" charset="-128"/>
            </a:endParaRPr>
          </a:p>
        </p:txBody>
      </p:sp>
      <p:sp>
        <p:nvSpPr>
          <p:cNvPr id="9"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48130"/>
                                        </p:tgtEl>
                                        <p:attrNameLst>
                                          <p:attrName>style.visibility</p:attrName>
                                        </p:attrNameLst>
                                      </p:cBhvr>
                                      <p:to>
                                        <p:strVal val="visible"/>
                                      </p:to>
                                    </p:set>
                                    <p:animEffect transition="in" filter="dissolve">
                                      <p:cBhvr>
                                        <p:cTn id="15" dur="500"/>
                                        <p:tgtEl>
                                          <p:spTgt spid="48130"/>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48132"/>
                                        </p:tgtEl>
                                        <p:attrNameLst>
                                          <p:attrName>style.visibility</p:attrName>
                                        </p:attrNameLst>
                                      </p:cBhvr>
                                      <p:to>
                                        <p:strVal val="visible"/>
                                      </p:to>
                                    </p:set>
                                    <p:animEffect transition="in" filter="dissolve">
                                      <p:cBhvr>
                                        <p:cTn id="19" dur="500"/>
                                        <p:tgtEl>
                                          <p:spTgt spid="48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bwMode="auto">
          <a:xfrm>
            <a:off x="3201988" y="3854450"/>
            <a:ext cx="347662" cy="681038"/>
            <a:chOff x="7923189" y="2486664"/>
            <a:chExt cx="360377" cy="884585"/>
          </a:xfrm>
        </p:grpSpPr>
        <p:pic>
          <p:nvPicPr>
            <p:cNvPr id="212606"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607" name="Group 950"/>
            <p:cNvGrpSpPr/>
            <p:nvPr/>
          </p:nvGrpSpPr>
          <p:grpSpPr bwMode="auto">
            <a:xfrm>
              <a:off x="7923189" y="2890236"/>
              <a:ext cx="227012" cy="481013"/>
              <a:chOff x="4140" y="429"/>
              <a:chExt cx="1425" cy="2396"/>
            </a:xfrm>
          </p:grpSpPr>
          <p:sp>
            <p:nvSpPr>
              <p:cNvPr id="212608"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609"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610"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611"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612"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613" name="Group 956"/>
              <p:cNvGrpSpPr/>
              <p:nvPr/>
            </p:nvGrpSpPr>
            <p:grpSpPr bwMode="auto">
              <a:xfrm>
                <a:off x="4749" y="668"/>
                <a:ext cx="581" cy="145"/>
                <a:chOff x="614" y="2568"/>
                <a:chExt cx="725" cy="139"/>
              </a:xfrm>
            </p:grpSpPr>
            <p:sp>
              <p:nvSpPr>
                <p:cNvPr id="212638"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639"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614"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615" name="Group 960"/>
              <p:cNvGrpSpPr/>
              <p:nvPr/>
            </p:nvGrpSpPr>
            <p:grpSpPr bwMode="auto">
              <a:xfrm>
                <a:off x="4747" y="994"/>
                <a:ext cx="581" cy="134"/>
                <a:chOff x="614" y="2568"/>
                <a:chExt cx="725" cy="139"/>
              </a:xfrm>
            </p:grpSpPr>
            <p:sp>
              <p:nvSpPr>
                <p:cNvPr id="212636"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637"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616"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617"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618" name="Group 965"/>
              <p:cNvGrpSpPr/>
              <p:nvPr/>
            </p:nvGrpSpPr>
            <p:grpSpPr bwMode="auto">
              <a:xfrm>
                <a:off x="4735" y="1627"/>
                <a:ext cx="582" cy="151"/>
                <a:chOff x="614" y="2568"/>
                <a:chExt cx="725" cy="139"/>
              </a:xfrm>
            </p:grpSpPr>
            <p:sp>
              <p:nvSpPr>
                <p:cNvPr id="212634"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635"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619"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620" name="Group 969"/>
              <p:cNvGrpSpPr/>
              <p:nvPr/>
            </p:nvGrpSpPr>
            <p:grpSpPr bwMode="auto">
              <a:xfrm>
                <a:off x="4739" y="1327"/>
                <a:ext cx="582" cy="139"/>
                <a:chOff x="614" y="2568"/>
                <a:chExt cx="725" cy="139"/>
              </a:xfrm>
            </p:grpSpPr>
            <p:sp>
              <p:nvSpPr>
                <p:cNvPr id="212632"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633"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621"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622"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623"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624"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625"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626"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627"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628"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629"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fontAlgn="base">
                  <a:spcBef>
                    <a:spcPct val="0"/>
                  </a:spcBef>
                  <a:spcAft>
                    <a:spcPct val="0"/>
                  </a:spcAft>
                </a:pPr>
                <a:endParaRPr lang="en-US" altLang="en-US" sz="1800">
                  <a:solidFill>
                    <a:srgbClr val="FF0000"/>
                  </a:solidFill>
                  <a:cs typeface="Arial" panose="020B0604020202020204"/>
                </a:endParaRPr>
              </a:p>
            </p:txBody>
          </p:sp>
          <p:sp>
            <p:nvSpPr>
              <p:cNvPr id="212630"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631"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grpSp>
      <p:grpSp>
        <p:nvGrpSpPr>
          <p:cNvPr id="211972" name="Group 485"/>
          <p:cNvGrpSpPr/>
          <p:nvPr/>
        </p:nvGrpSpPr>
        <p:grpSpPr bwMode="auto">
          <a:xfrm>
            <a:off x="2644455" y="3773226"/>
            <a:ext cx="7044059" cy="2764362"/>
            <a:chOff x="399121" y="1433583"/>
            <a:chExt cx="8437850" cy="5258268"/>
          </a:xfrm>
        </p:grpSpPr>
        <p:sp>
          <p:nvSpPr>
            <p:cNvPr id="212306" name="Freeform 84"/>
            <p:cNvSpPr/>
            <p:nvPr/>
          </p:nvSpPr>
          <p:spPr bwMode="auto">
            <a:xfrm>
              <a:off x="1825539" y="224138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07" name="Freeform 84"/>
            <p:cNvSpPr/>
            <p:nvPr/>
          </p:nvSpPr>
          <p:spPr bwMode="auto">
            <a:xfrm>
              <a:off x="669683" y="304142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08" name="Freeform 84"/>
            <p:cNvSpPr/>
            <p:nvPr/>
          </p:nvSpPr>
          <p:spPr bwMode="auto">
            <a:xfrm>
              <a:off x="6334646" y="249536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09" name="Freeform 84"/>
            <p:cNvSpPr/>
            <p:nvPr/>
          </p:nvSpPr>
          <p:spPr bwMode="auto">
            <a:xfrm>
              <a:off x="1241260" y="535264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10" name="Freeform 84"/>
            <p:cNvSpPr/>
            <p:nvPr/>
          </p:nvSpPr>
          <p:spPr bwMode="auto">
            <a:xfrm>
              <a:off x="822104" y="473039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11" name="Freeform 84"/>
            <p:cNvSpPr/>
            <p:nvPr/>
          </p:nvSpPr>
          <p:spPr bwMode="auto">
            <a:xfrm>
              <a:off x="593473" y="407004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12" name="Freeform 84"/>
            <p:cNvSpPr/>
            <p:nvPr/>
          </p:nvSpPr>
          <p:spPr bwMode="auto">
            <a:xfrm>
              <a:off x="7084047" y="2927129"/>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13" name="Freeform 84"/>
            <p:cNvSpPr/>
            <p:nvPr/>
          </p:nvSpPr>
          <p:spPr bwMode="auto">
            <a:xfrm>
              <a:off x="3425955" y="200010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14" name="Freeform 84"/>
            <p:cNvSpPr/>
            <p:nvPr/>
          </p:nvSpPr>
          <p:spPr bwMode="auto">
            <a:xfrm>
              <a:off x="1050735" y="264775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15" name="Freeform 84"/>
            <p:cNvSpPr/>
            <p:nvPr/>
          </p:nvSpPr>
          <p:spPr bwMode="auto">
            <a:xfrm>
              <a:off x="4340478" y="197470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16" name="Freeform 84"/>
            <p:cNvSpPr/>
            <p:nvPr/>
          </p:nvSpPr>
          <p:spPr bwMode="auto">
            <a:xfrm>
              <a:off x="7401590" y="560662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17" name="Freeform 84"/>
            <p:cNvSpPr/>
            <p:nvPr/>
          </p:nvSpPr>
          <p:spPr bwMode="auto">
            <a:xfrm>
              <a:off x="8239903" y="495897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18" name="Freeform 84"/>
            <p:cNvSpPr/>
            <p:nvPr/>
          </p:nvSpPr>
          <p:spPr bwMode="auto">
            <a:xfrm>
              <a:off x="8011272" y="404464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19" name="Freeform 84"/>
            <p:cNvSpPr/>
            <p:nvPr/>
          </p:nvSpPr>
          <p:spPr bwMode="auto">
            <a:xfrm>
              <a:off x="5166089" y="5847904"/>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20" name="Freeform 84"/>
            <p:cNvSpPr/>
            <p:nvPr/>
          </p:nvSpPr>
          <p:spPr bwMode="auto">
            <a:xfrm>
              <a:off x="4251566" y="598759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21" name="Freeform 84"/>
            <p:cNvSpPr/>
            <p:nvPr/>
          </p:nvSpPr>
          <p:spPr bwMode="auto">
            <a:xfrm>
              <a:off x="3032202" y="5835205"/>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22" name="TextBox 4"/>
            <p:cNvSpPr txBox="1">
              <a:spLocks noChangeArrowheads="1"/>
            </p:cNvSpPr>
            <p:nvPr/>
          </p:nvSpPr>
          <p:spPr bwMode="auto">
            <a:xfrm rot="307360">
              <a:off x="5241475" y="1433583"/>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r>
                <a:rPr lang="en-US" altLang="en-US" sz="2800">
                  <a:solidFill>
                    <a:srgbClr val="0000FF"/>
                  </a:solidFill>
                  <a:cs typeface="Arial" panose="020B0604020202020204"/>
                </a:rPr>
                <a:t>…</a:t>
              </a:r>
              <a:endParaRPr lang="en-US" altLang="en-US" sz="2800">
                <a:solidFill>
                  <a:srgbClr val="0000FF"/>
                </a:solidFill>
                <a:cs typeface="Arial" panose="020B0604020202020204"/>
              </a:endParaRPr>
            </a:p>
          </p:txBody>
        </p:sp>
        <p:sp>
          <p:nvSpPr>
            <p:cNvPr id="212323" name="TextBox 179"/>
            <p:cNvSpPr txBox="1">
              <a:spLocks noChangeArrowheads="1"/>
            </p:cNvSpPr>
            <p:nvPr/>
          </p:nvSpPr>
          <p:spPr bwMode="auto">
            <a:xfrm rot="2829263">
              <a:off x="7390643" y="3033433"/>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r>
                <a:rPr lang="en-US" altLang="en-US" sz="2800">
                  <a:solidFill>
                    <a:srgbClr val="0000FF"/>
                  </a:solidFill>
                  <a:cs typeface="Arial" panose="020B0604020202020204"/>
                </a:rPr>
                <a:t>…</a:t>
              </a:r>
              <a:endParaRPr lang="en-US" altLang="en-US" sz="2800">
                <a:solidFill>
                  <a:srgbClr val="0000FF"/>
                </a:solidFill>
                <a:cs typeface="Arial" panose="020B0604020202020204"/>
              </a:endParaRPr>
            </a:p>
          </p:txBody>
        </p:sp>
        <p:sp>
          <p:nvSpPr>
            <p:cNvPr id="212324" name="TextBox 180"/>
            <p:cNvSpPr txBox="1">
              <a:spLocks noChangeArrowheads="1"/>
            </p:cNvSpPr>
            <p:nvPr/>
          </p:nvSpPr>
          <p:spPr bwMode="auto">
            <a:xfrm rot="9845918">
              <a:off x="6341242" y="5649524"/>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r>
                <a:rPr lang="en-US" altLang="en-US" sz="2800">
                  <a:solidFill>
                    <a:srgbClr val="0000FF"/>
                  </a:solidFill>
                  <a:cs typeface="Arial" panose="020B0604020202020204"/>
                </a:rPr>
                <a:t>…</a:t>
              </a:r>
              <a:endParaRPr lang="en-US" altLang="en-US" sz="2800">
                <a:solidFill>
                  <a:srgbClr val="0000FF"/>
                </a:solidFill>
                <a:cs typeface="Arial" panose="020B0604020202020204"/>
              </a:endParaRPr>
            </a:p>
          </p:txBody>
        </p:sp>
        <p:sp>
          <p:nvSpPr>
            <p:cNvPr id="212325" name="TextBox 181"/>
            <p:cNvSpPr txBox="1">
              <a:spLocks noChangeArrowheads="1"/>
            </p:cNvSpPr>
            <p:nvPr/>
          </p:nvSpPr>
          <p:spPr bwMode="auto">
            <a:xfrm rot="11651262">
              <a:off x="2063761" y="5696601"/>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r>
                <a:rPr lang="en-US" altLang="en-US" sz="2800">
                  <a:solidFill>
                    <a:srgbClr val="0000FF"/>
                  </a:solidFill>
                  <a:cs typeface="Arial" panose="020B0604020202020204"/>
                </a:rPr>
                <a:t>…</a:t>
              </a:r>
              <a:endParaRPr lang="en-US" altLang="en-US" sz="2800">
                <a:solidFill>
                  <a:srgbClr val="0000FF"/>
                </a:solidFill>
                <a:cs typeface="Arial" panose="020B0604020202020204"/>
              </a:endParaRPr>
            </a:p>
          </p:txBody>
        </p:sp>
        <p:sp>
          <p:nvSpPr>
            <p:cNvPr id="212326" name="TextBox 182"/>
            <p:cNvSpPr txBox="1">
              <a:spLocks noChangeArrowheads="1"/>
            </p:cNvSpPr>
            <p:nvPr/>
          </p:nvSpPr>
          <p:spPr bwMode="auto">
            <a:xfrm rot="16607303">
              <a:off x="195355" y="3660810"/>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r>
                <a:rPr lang="en-US" altLang="en-US" sz="2800">
                  <a:solidFill>
                    <a:srgbClr val="0000FF"/>
                  </a:solidFill>
                  <a:cs typeface="Arial" panose="020B0604020202020204"/>
                </a:rPr>
                <a:t>…</a:t>
              </a:r>
              <a:endParaRPr lang="en-US" altLang="en-US" sz="2800">
                <a:solidFill>
                  <a:srgbClr val="0000FF"/>
                </a:solidFill>
                <a:cs typeface="Arial" panose="020B0604020202020204"/>
              </a:endParaRPr>
            </a:p>
          </p:txBody>
        </p:sp>
        <p:sp>
          <p:nvSpPr>
            <p:cNvPr id="212327" name="TextBox 183"/>
            <p:cNvSpPr txBox="1">
              <a:spLocks noChangeArrowheads="1"/>
            </p:cNvSpPr>
            <p:nvPr/>
          </p:nvSpPr>
          <p:spPr bwMode="auto">
            <a:xfrm rot="21079349">
              <a:off x="2482309" y="1498435"/>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r>
                <a:rPr lang="en-US" altLang="en-US" sz="2800">
                  <a:solidFill>
                    <a:srgbClr val="0000FF"/>
                  </a:solidFill>
                  <a:cs typeface="Arial" panose="020B0604020202020204"/>
                </a:rPr>
                <a:t>…</a:t>
              </a:r>
              <a:endParaRPr lang="en-US" altLang="en-US" sz="2800">
                <a:solidFill>
                  <a:srgbClr val="0000FF"/>
                </a:solidFill>
                <a:cs typeface="Arial" panose="020B0604020202020204"/>
              </a:endParaRPr>
            </a:p>
          </p:txBody>
        </p:sp>
        <p:grpSp>
          <p:nvGrpSpPr>
            <p:cNvPr id="212328" name="Group 8"/>
            <p:cNvGrpSpPr/>
            <p:nvPr/>
          </p:nvGrpSpPr>
          <p:grpSpPr bwMode="auto">
            <a:xfrm>
              <a:off x="4546600" y="3746500"/>
              <a:ext cx="3225800" cy="1117600"/>
              <a:chOff x="7848600" y="2044700"/>
              <a:chExt cx="3200399" cy="1371600"/>
            </a:xfrm>
          </p:grpSpPr>
          <p:sp>
            <p:nvSpPr>
              <p:cNvPr id="212524" name="Oval 3"/>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525" name="Group 133"/>
              <p:cNvGrpSpPr/>
              <p:nvPr/>
            </p:nvGrpSpPr>
            <p:grpSpPr bwMode="auto">
              <a:xfrm>
                <a:off x="8526482" y="2160804"/>
                <a:ext cx="532759" cy="184809"/>
                <a:chOff x="2356" y="1300"/>
                <a:chExt cx="555" cy="194"/>
              </a:xfrm>
            </p:grpSpPr>
            <p:sp>
              <p:nvSpPr>
                <p:cNvPr id="212598"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99"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600"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601" name="Group 137"/>
                <p:cNvGrpSpPr/>
                <p:nvPr/>
              </p:nvGrpSpPr>
              <p:grpSpPr bwMode="auto">
                <a:xfrm>
                  <a:off x="2468" y="1332"/>
                  <a:ext cx="310" cy="60"/>
                  <a:chOff x="2468" y="1332"/>
                  <a:chExt cx="310" cy="60"/>
                </a:xfrm>
              </p:grpSpPr>
              <p:sp>
                <p:nvSpPr>
                  <p:cNvPr id="212604"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605"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602" name="Line 140"/>
                <p:cNvSpPr>
                  <a:spLocks noChangeShapeType="1"/>
                </p:cNvSpPr>
                <p:nvPr/>
              </p:nvSpPr>
              <p:spPr bwMode="auto">
                <a:xfrm>
                  <a:off x="2357" y="1362"/>
                  <a:ext cx="0" cy="82"/>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603" name="Line 141"/>
                <p:cNvSpPr>
                  <a:spLocks noChangeShapeType="1"/>
                </p:cNvSpPr>
                <p:nvPr/>
              </p:nvSpPr>
              <p:spPr bwMode="auto">
                <a:xfrm>
                  <a:off x="2908" y="1364"/>
                  <a:ext cx="0" cy="82"/>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cxnSp>
            <p:nvCxnSpPr>
              <p:cNvPr id="212526" name="Straight Connector 10"/>
              <p:cNvCxnSpPr>
                <a:cxnSpLocks noChangeShapeType="1"/>
                <a:stCxn id="212603" idx="0"/>
              </p:cNvCxnSpPr>
              <p:nvPr/>
            </p:nvCxnSpPr>
            <p:spPr bwMode="auto">
              <a:xfrm>
                <a:off x="9055401" y="2220819"/>
                <a:ext cx="975377" cy="13653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527" name="Straight Connector 297"/>
              <p:cNvCxnSpPr>
                <a:cxnSpLocks noChangeShapeType="1"/>
              </p:cNvCxnSpPr>
              <p:nvPr/>
            </p:nvCxnSpPr>
            <p:spPr bwMode="auto">
              <a:xfrm>
                <a:off x="9522191" y="2583188"/>
                <a:ext cx="120745" cy="8339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528" name="Straight Connector 298"/>
              <p:cNvCxnSpPr>
                <a:cxnSpLocks noChangeShapeType="1"/>
              </p:cNvCxnSpPr>
              <p:nvPr/>
            </p:nvCxnSpPr>
            <p:spPr bwMode="auto">
              <a:xfrm flipV="1">
                <a:off x="9323081" y="2786992"/>
                <a:ext cx="243358" cy="4562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529" name="Straight Connector 299"/>
              <p:cNvCxnSpPr>
                <a:cxnSpLocks noChangeShapeType="1"/>
              </p:cNvCxnSpPr>
              <p:nvPr/>
            </p:nvCxnSpPr>
            <p:spPr bwMode="auto">
              <a:xfrm flipV="1">
                <a:off x="9028147" y="2611644"/>
                <a:ext cx="192778" cy="10958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530" name="Straight Connector 300"/>
              <p:cNvCxnSpPr>
                <a:cxnSpLocks noChangeShapeType="1"/>
              </p:cNvCxnSpPr>
              <p:nvPr/>
            </p:nvCxnSpPr>
            <p:spPr bwMode="auto">
              <a:xfrm flipV="1">
                <a:off x="8729859" y="2909476"/>
                <a:ext cx="192778" cy="10958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531" name="Straight Connector 301"/>
              <p:cNvCxnSpPr>
                <a:cxnSpLocks noChangeShapeType="1"/>
              </p:cNvCxnSpPr>
              <p:nvPr/>
            </p:nvCxnSpPr>
            <p:spPr bwMode="auto">
              <a:xfrm flipV="1">
                <a:off x="9537887" y="2836224"/>
                <a:ext cx="252969" cy="25294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532" name="Straight Connector 302"/>
              <p:cNvCxnSpPr>
                <a:cxnSpLocks noChangeShapeType="1"/>
              </p:cNvCxnSpPr>
              <p:nvPr/>
            </p:nvCxnSpPr>
            <p:spPr bwMode="auto">
              <a:xfrm flipH="1" flipV="1">
                <a:off x="10029359" y="2822067"/>
                <a:ext cx="354959" cy="124390"/>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533" name="Straight Connector 303"/>
              <p:cNvCxnSpPr>
                <a:cxnSpLocks noChangeShapeType="1"/>
              </p:cNvCxnSpPr>
              <p:nvPr/>
            </p:nvCxnSpPr>
            <p:spPr bwMode="auto">
              <a:xfrm flipV="1">
                <a:off x="10015190" y="2475242"/>
                <a:ext cx="283363" cy="19566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534" name="Straight Connector 304"/>
              <p:cNvCxnSpPr>
                <a:cxnSpLocks noChangeShapeType="1"/>
                <a:endCxn id="212598" idx="4"/>
              </p:cNvCxnSpPr>
              <p:nvPr/>
            </p:nvCxnSpPr>
            <p:spPr bwMode="auto">
              <a:xfrm flipH="1" flipV="1">
                <a:off x="8791902" y="2345614"/>
                <a:ext cx="410984" cy="87180"/>
              </a:xfrm>
              <a:prstGeom prst="line">
                <a:avLst/>
              </a:prstGeom>
              <a:noFill/>
              <a:ln w="3175">
                <a:solidFill>
                  <a:schemeClr val="tx1"/>
                </a:solidFill>
                <a:round/>
              </a:ln>
              <a:extLst>
                <a:ext uri="{909E8E84-426E-40DD-AFC4-6F175D3DCCD1}">
                  <a14:hiddenFill xmlns:a14="http://schemas.microsoft.com/office/drawing/2010/main">
                    <a:noFill/>
                  </a14:hiddenFill>
                </a:ext>
              </a:extLst>
            </p:spPr>
          </p:cxnSp>
          <p:grpSp>
            <p:nvGrpSpPr>
              <p:cNvPr id="212535" name="Group 133"/>
              <p:cNvGrpSpPr/>
              <p:nvPr/>
            </p:nvGrpSpPr>
            <p:grpSpPr bwMode="auto">
              <a:xfrm>
                <a:off x="9555206" y="2650627"/>
                <a:ext cx="532759" cy="184809"/>
                <a:chOff x="2356" y="1300"/>
                <a:chExt cx="555" cy="194"/>
              </a:xfrm>
            </p:grpSpPr>
            <p:sp>
              <p:nvSpPr>
                <p:cNvPr id="212590"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91"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92"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593" name="Group 137"/>
                <p:cNvGrpSpPr/>
                <p:nvPr/>
              </p:nvGrpSpPr>
              <p:grpSpPr bwMode="auto">
                <a:xfrm>
                  <a:off x="2468" y="1332"/>
                  <a:ext cx="310" cy="60"/>
                  <a:chOff x="2468" y="1332"/>
                  <a:chExt cx="310" cy="60"/>
                </a:xfrm>
              </p:grpSpPr>
              <p:sp>
                <p:nvSpPr>
                  <p:cNvPr id="212596"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97"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594" name="Line 140"/>
                <p:cNvSpPr>
                  <a:spLocks noChangeShapeType="1"/>
                </p:cNvSpPr>
                <p:nvPr/>
              </p:nvSpPr>
              <p:spPr bwMode="auto">
                <a:xfrm>
                  <a:off x="2358"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95"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536" name="Group 133"/>
              <p:cNvGrpSpPr/>
              <p:nvPr/>
            </p:nvGrpSpPr>
            <p:grpSpPr bwMode="auto">
              <a:xfrm>
                <a:off x="8772607" y="2725609"/>
                <a:ext cx="532759" cy="184809"/>
                <a:chOff x="2356" y="1300"/>
                <a:chExt cx="555" cy="194"/>
              </a:xfrm>
            </p:grpSpPr>
            <p:sp>
              <p:nvSpPr>
                <p:cNvPr id="212582"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83"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84"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585" name="Group 137"/>
                <p:cNvGrpSpPr/>
                <p:nvPr/>
              </p:nvGrpSpPr>
              <p:grpSpPr bwMode="auto">
                <a:xfrm>
                  <a:off x="2468" y="1332"/>
                  <a:ext cx="310" cy="60"/>
                  <a:chOff x="2468" y="1332"/>
                  <a:chExt cx="310" cy="60"/>
                </a:xfrm>
              </p:grpSpPr>
              <p:sp>
                <p:nvSpPr>
                  <p:cNvPr id="212588"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89"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586" name="Line 140"/>
                <p:cNvSpPr>
                  <a:spLocks noChangeShapeType="1"/>
                </p:cNvSpPr>
                <p:nvPr/>
              </p:nvSpPr>
              <p:spPr bwMode="auto">
                <a:xfrm>
                  <a:off x="2358" y="1356"/>
                  <a:ext cx="0" cy="88"/>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87" name="Line 141"/>
                <p:cNvSpPr>
                  <a:spLocks noChangeShapeType="1"/>
                </p:cNvSpPr>
                <p:nvPr/>
              </p:nvSpPr>
              <p:spPr bwMode="auto">
                <a:xfrm>
                  <a:off x="2908" y="1358"/>
                  <a:ext cx="0" cy="86"/>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537" name="Group 133"/>
              <p:cNvGrpSpPr/>
              <p:nvPr/>
            </p:nvGrpSpPr>
            <p:grpSpPr bwMode="auto">
              <a:xfrm>
                <a:off x="9060908" y="2428111"/>
                <a:ext cx="532759" cy="184809"/>
                <a:chOff x="2356" y="1300"/>
                <a:chExt cx="555" cy="194"/>
              </a:xfrm>
            </p:grpSpPr>
            <p:sp>
              <p:nvSpPr>
                <p:cNvPr id="212574"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75"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76"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577" name="Group 137"/>
                <p:cNvGrpSpPr/>
                <p:nvPr/>
              </p:nvGrpSpPr>
              <p:grpSpPr bwMode="auto">
                <a:xfrm>
                  <a:off x="2468" y="1332"/>
                  <a:ext cx="310" cy="60"/>
                  <a:chOff x="2468" y="1332"/>
                  <a:chExt cx="310" cy="60"/>
                </a:xfrm>
              </p:grpSpPr>
              <p:sp>
                <p:nvSpPr>
                  <p:cNvPr id="212580"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81"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578" name="Line 140"/>
                <p:cNvSpPr>
                  <a:spLocks noChangeShapeType="1"/>
                </p:cNvSpPr>
                <p:nvPr/>
              </p:nvSpPr>
              <p:spPr bwMode="auto">
                <a:xfrm>
                  <a:off x="2358" y="1362"/>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79" name="Line 141"/>
                <p:cNvSpPr>
                  <a:spLocks noChangeShapeType="1"/>
                </p:cNvSpPr>
                <p:nvPr/>
              </p:nvSpPr>
              <p:spPr bwMode="auto">
                <a:xfrm>
                  <a:off x="2908" y="1364"/>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538" name="Group 133"/>
              <p:cNvGrpSpPr/>
              <p:nvPr/>
            </p:nvGrpSpPr>
            <p:grpSpPr bwMode="auto">
              <a:xfrm>
                <a:off x="10005281" y="2289952"/>
                <a:ext cx="532759" cy="184809"/>
                <a:chOff x="2356" y="1300"/>
                <a:chExt cx="555" cy="194"/>
              </a:xfrm>
            </p:grpSpPr>
            <p:sp>
              <p:nvSpPr>
                <p:cNvPr id="212566"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67"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68"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569" name="Group 137"/>
                <p:cNvGrpSpPr/>
                <p:nvPr/>
              </p:nvGrpSpPr>
              <p:grpSpPr bwMode="auto">
                <a:xfrm>
                  <a:off x="2468" y="1332"/>
                  <a:ext cx="310" cy="60"/>
                  <a:chOff x="2468" y="1332"/>
                  <a:chExt cx="310" cy="60"/>
                </a:xfrm>
              </p:grpSpPr>
              <p:sp>
                <p:nvSpPr>
                  <p:cNvPr id="212572"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73"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570" name="Line 140"/>
                <p:cNvSpPr>
                  <a:spLocks noChangeShapeType="1"/>
                </p:cNvSpPr>
                <p:nvPr/>
              </p:nvSpPr>
              <p:spPr bwMode="auto">
                <a:xfrm>
                  <a:off x="2357" y="1362"/>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71" name="Line 141"/>
                <p:cNvSpPr>
                  <a:spLocks noChangeShapeType="1"/>
                </p:cNvSpPr>
                <p:nvPr/>
              </p:nvSpPr>
              <p:spPr bwMode="auto">
                <a:xfrm>
                  <a:off x="2908" y="1364"/>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539" name="Group 133"/>
              <p:cNvGrpSpPr/>
              <p:nvPr/>
            </p:nvGrpSpPr>
            <p:grpSpPr bwMode="auto">
              <a:xfrm>
                <a:off x="10232661" y="2882876"/>
                <a:ext cx="532759" cy="184809"/>
                <a:chOff x="2356" y="1300"/>
                <a:chExt cx="555" cy="194"/>
              </a:xfrm>
            </p:grpSpPr>
            <p:sp>
              <p:nvSpPr>
                <p:cNvPr id="212558"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59"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60"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561" name="Group 137"/>
                <p:cNvGrpSpPr/>
                <p:nvPr/>
              </p:nvGrpSpPr>
              <p:grpSpPr bwMode="auto">
                <a:xfrm>
                  <a:off x="2468" y="1332"/>
                  <a:ext cx="310" cy="60"/>
                  <a:chOff x="2468" y="1332"/>
                  <a:chExt cx="310" cy="60"/>
                </a:xfrm>
              </p:grpSpPr>
              <p:sp>
                <p:nvSpPr>
                  <p:cNvPr id="212564"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65"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562" name="Line 140"/>
                <p:cNvSpPr>
                  <a:spLocks noChangeShapeType="1"/>
                </p:cNvSpPr>
                <p:nvPr/>
              </p:nvSpPr>
              <p:spPr bwMode="auto">
                <a:xfrm>
                  <a:off x="2358"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63"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540" name="Group 133"/>
              <p:cNvGrpSpPr/>
              <p:nvPr/>
            </p:nvGrpSpPr>
            <p:grpSpPr bwMode="auto">
              <a:xfrm>
                <a:off x="9330660" y="3072767"/>
                <a:ext cx="532759" cy="184809"/>
                <a:chOff x="2356" y="1300"/>
                <a:chExt cx="555" cy="194"/>
              </a:xfrm>
            </p:grpSpPr>
            <p:sp>
              <p:nvSpPr>
                <p:cNvPr id="212550"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51"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52"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553" name="Group 137"/>
                <p:cNvGrpSpPr/>
                <p:nvPr/>
              </p:nvGrpSpPr>
              <p:grpSpPr bwMode="auto">
                <a:xfrm>
                  <a:off x="2468" y="1332"/>
                  <a:ext cx="310" cy="60"/>
                  <a:chOff x="2468" y="1332"/>
                  <a:chExt cx="310" cy="60"/>
                </a:xfrm>
              </p:grpSpPr>
              <p:sp>
                <p:nvSpPr>
                  <p:cNvPr id="212556"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57"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554" name="Line 140"/>
                <p:cNvSpPr>
                  <a:spLocks noChangeShapeType="1"/>
                </p:cNvSpPr>
                <p:nvPr/>
              </p:nvSpPr>
              <p:spPr bwMode="auto">
                <a:xfrm>
                  <a:off x="2358" y="1362"/>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55" name="Line 141"/>
                <p:cNvSpPr>
                  <a:spLocks noChangeShapeType="1"/>
                </p:cNvSpPr>
                <p:nvPr/>
              </p:nvSpPr>
              <p:spPr bwMode="auto">
                <a:xfrm>
                  <a:off x="2907" y="1364"/>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541" name="Group 133"/>
              <p:cNvGrpSpPr/>
              <p:nvPr/>
            </p:nvGrpSpPr>
            <p:grpSpPr bwMode="auto">
              <a:xfrm>
                <a:off x="8438032" y="3018963"/>
                <a:ext cx="532759" cy="184809"/>
                <a:chOff x="2356" y="1300"/>
                <a:chExt cx="555" cy="194"/>
              </a:xfrm>
            </p:grpSpPr>
            <p:sp>
              <p:nvSpPr>
                <p:cNvPr id="212542"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43"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44"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545" name="Group 137"/>
                <p:cNvGrpSpPr/>
                <p:nvPr/>
              </p:nvGrpSpPr>
              <p:grpSpPr bwMode="auto">
                <a:xfrm>
                  <a:off x="2468" y="1332"/>
                  <a:ext cx="310" cy="60"/>
                  <a:chOff x="2468" y="1332"/>
                  <a:chExt cx="310" cy="60"/>
                </a:xfrm>
              </p:grpSpPr>
              <p:sp>
                <p:nvSpPr>
                  <p:cNvPr id="212548"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49"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546" name="Line 140"/>
                <p:cNvSpPr>
                  <a:spLocks noChangeShapeType="1"/>
                </p:cNvSpPr>
                <p:nvPr/>
              </p:nvSpPr>
              <p:spPr bwMode="auto">
                <a:xfrm>
                  <a:off x="2357"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47" name="Line 141"/>
                <p:cNvSpPr>
                  <a:spLocks noChangeShapeType="1"/>
                </p:cNvSpPr>
                <p:nvPr/>
              </p:nvSpPr>
              <p:spPr bwMode="auto">
                <a:xfrm>
                  <a:off x="2910"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grpSp>
          <p:nvGrpSpPr>
            <p:cNvPr id="212329" name="Group 331"/>
            <p:cNvGrpSpPr/>
            <p:nvPr/>
          </p:nvGrpSpPr>
          <p:grpSpPr bwMode="auto">
            <a:xfrm>
              <a:off x="1803400" y="2755900"/>
              <a:ext cx="3467100" cy="1193800"/>
              <a:chOff x="7848600" y="2044700"/>
              <a:chExt cx="3200399" cy="1371600"/>
            </a:xfrm>
          </p:grpSpPr>
          <p:sp>
            <p:nvSpPr>
              <p:cNvPr id="212442" name="Oval 332"/>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443" name="Group 133"/>
              <p:cNvGrpSpPr/>
              <p:nvPr/>
            </p:nvGrpSpPr>
            <p:grpSpPr bwMode="auto">
              <a:xfrm>
                <a:off x="8526482" y="2160804"/>
                <a:ext cx="532759" cy="184809"/>
                <a:chOff x="2356" y="1300"/>
                <a:chExt cx="555" cy="194"/>
              </a:xfrm>
            </p:grpSpPr>
            <p:sp>
              <p:nvSpPr>
                <p:cNvPr id="212516"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17"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18"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519" name="Group 137"/>
                <p:cNvGrpSpPr/>
                <p:nvPr/>
              </p:nvGrpSpPr>
              <p:grpSpPr bwMode="auto">
                <a:xfrm>
                  <a:off x="2468" y="1332"/>
                  <a:ext cx="310" cy="60"/>
                  <a:chOff x="2468" y="1332"/>
                  <a:chExt cx="310" cy="60"/>
                </a:xfrm>
              </p:grpSpPr>
              <p:sp>
                <p:nvSpPr>
                  <p:cNvPr id="212522"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23"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520" name="Line 140"/>
                <p:cNvSpPr>
                  <a:spLocks noChangeShapeType="1"/>
                </p:cNvSpPr>
                <p:nvPr/>
              </p:nvSpPr>
              <p:spPr bwMode="auto">
                <a:xfrm>
                  <a:off x="2358" y="1362"/>
                  <a:ext cx="0" cy="82"/>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21" name="Line 141"/>
                <p:cNvSpPr>
                  <a:spLocks noChangeShapeType="1"/>
                </p:cNvSpPr>
                <p:nvPr/>
              </p:nvSpPr>
              <p:spPr bwMode="auto">
                <a:xfrm>
                  <a:off x="2906" y="1364"/>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cxnSp>
            <p:nvCxnSpPr>
              <p:cNvPr id="212444" name="Straight Connector 334"/>
              <p:cNvCxnSpPr>
                <a:cxnSpLocks noChangeShapeType="1"/>
                <a:stCxn id="212521" idx="0"/>
              </p:cNvCxnSpPr>
              <p:nvPr/>
            </p:nvCxnSpPr>
            <p:spPr bwMode="auto">
              <a:xfrm>
                <a:off x="9055401" y="2220819"/>
                <a:ext cx="975377" cy="13653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445" name="Straight Connector 335"/>
              <p:cNvCxnSpPr>
                <a:cxnSpLocks noChangeShapeType="1"/>
              </p:cNvCxnSpPr>
              <p:nvPr/>
            </p:nvCxnSpPr>
            <p:spPr bwMode="auto">
              <a:xfrm>
                <a:off x="9522191" y="2583188"/>
                <a:ext cx="120745" cy="8339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446" name="Straight Connector 336"/>
              <p:cNvCxnSpPr>
                <a:cxnSpLocks noChangeShapeType="1"/>
              </p:cNvCxnSpPr>
              <p:nvPr/>
            </p:nvCxnSpPr>
            <p:spPr bwMode="auto">
              <a:xfrm flipV="1">
                <a:off x="9323081" y="2786992"/>
                <a:ext cx="243358" cy="4562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447" name="Straight Connector 337"/>
              <p:cNvCxnSpPr>
                <a:cxnSpLocks noChangeShapeType="1"/>
              </p:cNvCxnSpPr>
              <p:nvPr/>
            </p:nvCxnSpPr>
            <p:spPr bwMode="auto">
              <a:xfrm flipV="1">
                <a:off x="9028147" y="2611644"/>
                <a:ext cx="192778" cy="10958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448" name="Straight Connector 338"/>
              <p:cNvCxnSpPr>
                <a:cxnSpLocks noChangeShapeType="1"/>
              </p:cNvCxnSpPr>
              <p:nvPr/>
            </p:nvCxnSpPr>
            <p:spPr bwMode="auto">
              <a:xfrm flipV="1">
                <a:off x="8729859" y="2909476"/>
                <a:ext cx="192778" cy="10958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449" name="Straight Connector 339"/>
              <p:cNvCxnSpPr>
                <a:cxnSpLocks noChangeShapeType="1"/>
              </p:cNvCxnSpPr>
              <p:nvPr/>
            </p:nvCxnSpPr>
            <p:spPr bwMode="auto">
              <a:xfrm flipV="1">
                <a:off x="9537887" y="2836224"/>
                <a:ext cx="252969" cy="25294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450" name="Straight Connector 340"/>
              <p:cNvCxnSpPr>
                <a:cxnSpLocks noChangeShapeType="1"/>
              </p:cNvCxnSpPr>
              <p:nvPr/>
            </p:nvCxnSpPr>
            <p:spPr bwMode="auto">
              <a:xfrm flipH="1" flipV="1">
                <a:off x="10029359" y="2822067"/>
                <a:ext cx="354959" cy="124390"/>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451" name="Straight Connector 341"/>
              <p:cNvCxnSpPr>
                <a:cxnSpLocks noChangeShapeType="1"/>
              </p:cNvCxnSpPr>
              <p:nvPr/>
            </p:nvCxnSpPr>
            <p:spPr bwMode="auto">
              <a:xfrm flipV="1">
                <a:off x="10015190" y="2475242"/>
                <a:ext cx="283363" cy="19566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452" name="Straight Connector 342"/>
              <p:cNvCxnSpPr>
                <a:cxnSpLocks noChangeShapeType="1"/>
                <a:endCxn id="212516" idx="4"/>
              </p:cNvCxnSpPr>
              <p:nvPr/>
            </p:nvCxnSpPr>
            <p:spPr bwMode="auto">
              <a:xfrm flipH="1" flipV="1">
                <a:off x="8791902" y="2345614"/>
                <a:ext cx="410984" cy="87180"/>
              </a:xfrm>
              <a:prstGeom prst="line">
                <a:avLst/>
              </a:prstGeom>
              <a:noFill/>
              <a:ln w="3175">
                <a:solidFill>
                  <a:schemeClr val="tx1"/>
                </a:solidFill>
                <a:round/>
              </a:ln>
              <a:extLst>
                <a:ext uri="{909E8E84-426E-40DD-AFC4-6F175D3DCCD1}">
                  <a14:hiddenFill xmlns:a14="http://schemas.microsoft.com/office/drawing/2010/main">
                    <a:noFill/>
                  </a14:hiddenFill>
                </a:ext>
              </a:extLst>
            </p:spPr>
          </p:cxnSp>
          <p:grpSp>
            <p:nvGrpSpPr>
              <p:cNvPr id="212453" name="Group 133"/>
              <p:cNvGrpSpPr/>
              <p:nvPr/>
            </p:nvGrpSpPr>
            <p:grpSpPr bwMode="auto">
              <a:xfrm>
                <a:off x="9555206" y="2650627"/>
                <a:ext cx="532759" cy="184809"/>
                <a:chOff x="2356" y="1300"/>
                <a:chExt cx="555" cy="194"/>
              </a:xfrm>
            </p:grpSpPr>
            <p:sp>
              <p:nvSpPr>
                <p:cNvPr id="212508"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09"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10"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511" name="Group 137"/>
                <p:cNvGrpSpPr/>
                <p:nvPr/>
              </p:nvGrpSpPr>
              <p:grpSpPr bwMode="auto">
                <a:xfrm>
                  <a:off x="2468" y="1332"/>
                  <a:ext cx="310" cy="60"/>
                  <a:chOff x="2468" y="1332"/>
                  <a:chExt cx="310" cy="60"/>
                </a:xfrm>
              </p:grpSpPr>
              <p:sp>
                <p:nvSpPr>
                  <p:cNvPr id="212514"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15"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512" name="Line 140"/>
                <p:cNvSpPr>
                  <a:spLocks noChangeShapeType="1"/>
                </p:cNvSpPr>
                <p:nvPr/>
              </p:nvSpPr>
              <p:spPr bwMode="auto">
                <a:xfrm>
                  <a:off x="2358"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13" name="Line 141"/>
                <p:cNvSpPr>
                  <a:spLocks noChangeShapeType="1"/>
                </p:cNvSpPr>
                <p:nvPr/>
              </p:nvSpPr>
              <p:spPr bwMode="auto">
                <a:xfrm>
                  <a:off x="2906"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454" name="Group 133"/>
              <p:cNvGrpSpPr/>
              <p:nvPr/>
            </p:nvGrpSpPr>
            <p:grpSpPr bwMode="auto">
              <a:xfrm>
                <a:off x="8772607" y="2725609"/>
                <a:ext cx="532759" cy="184809"/>
                <a:chOff x="2356" y="1300"/>
                <a:chExt cx="555" cy="194"/>
              </a:xfrm>
            </p:grpSpPr>
            <p:sp>
              <p:nvSpPr>
                <p:cNvPr id="212500"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01"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502"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503" name="Group 137"/>
                <p:cNvGrpSpPr/>
                <p:nvPr/>
              </p:nvGrpSpPr>
              <p:grpSpPr bwMode="auto">
                <a:xfrm>
                  <a:off x="2468" y="1332"/>
                  <a:ext cx="310" cy="60"/>
                  <a:chOff x="2468" y="1332"/>
                  <a:chExt cx="310" cy="60"/>
                </a:xfrm>
              </p:grpSpPr>
              <p:sp>
                <p:nvSpPr>
                  <p:cNvPr id="212506"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07"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504" name="Line 140"/>
                <p:cNvSpPr>
                  <a:spLocks noChangeShapeType="1"/>
                </p:cNvSpPr>
                <p:nvPr/>
              </p:nvSpPr>
              <p:spPr bwMode="auto">
                <a:xfrm>
                  <a:off x="2358"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505" name="Line 141"/>
                <p:cNvSpPr>
                  <a:spLocks noChangeShapeType="1"/>
                </p:cNvSpPr>
                <p:nvPr/>
              </p:nvSpPr>
              <p:spPr bwMode="auto">
                <a:xfrm>
                  <a:off x="2906"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455" name="Group 133"/>
              <p:cNvGrpSpPr/>
              <p:nvPr/>
            </p:nvGrpSpPr>
            <p:grpSpPr bwMode="auto">
              <a:xfrm>
                <a:off x="9060908" y="2428111"/>
                <a:ext cx="532759" cy="184809"/>
                <a:chOff x="2356" y="1300"/>
                <a:chExt cx="555" cy="194"/>
              </a:xfrm>
            </p:grpSpPr>
            <p:sp>
              <p:nvSpPr>
                <p:cNvPr id="212492"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93"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94"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495" name="Group 137"/>
                <p:cNvGrpSpPr/>
                <p:nvPr/>
              </p:nvGrpSpPr>
              <p:grpSpPr bwMode="auto">
                <a:xfrm>
                  <a:off x="2468" y="1332"/>
                  <a:ext cx="310" cy="60"/>
                  <a:chOff x="2468" y="1332"/>
                  <a:chExt cx="310" cy="60"/>
                </a:xfrm>
              </p:grpSpPr>
              <p:sp>
                <p:nvSpPr>
                  <p:cNvPr id="212498"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99"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496" name="Line 140"/>
                <p:cNvSpPr>
                  <a:spLocks noChangeShapeType="1"/>
                </p:cNvSpPr>
                <p:nvPr/>
              </p:nvSpPr>
              <p:spPr bwMode="auto">
                <a:xfrm>
                  <a:off x="2357"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97" name="Line 141"/>
                <p:cNvSpPr>
                  <a:spLocks noChangeShapeType="1"/>
                </p:cNvSpPr>
                <p:nvPr/>
              </p:nvSpPr>
              <p:spPr bwMode="auto">
                <a:xfrm>
                  <a:off x="2907"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456" name="Group 133"/>
              <p:cNvGrpSpPr/>
              <p:nvPr/>
            </p:nvGrpSpPr>
            <p:grpSpPr bwMode="auto">
              <a:xfrm>
                <a:off x="10005281" y="2289952"/>
                <a:ext cx="532759" cy="184809"/>
                <a:chOff x="2356" y="1300"/>
                <a:chExt cx="555" cy="194"/>
              </a:xfrm>
            </p:grpSpPr>
            <p:sp>
              <p:nvSpPr>
                <p:cNvPr id="212484"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85"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86"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487" name="Group 137"/>
                <p:cNvGrpSpPr/>
                <p:nvPr/>
              </p:nvGrpSpPr>
              <p:grpSpPr bwMode="auto">
                <a:xfrm>
                  <a:off x="2468" y="1332"/>
                  <a:ext cx="310" cy="60"/>
                  <a:chOff x="2468" y="1332"/>
                  <a:chExt cx="310" cy="60"/>
                </a:xfrm>
              </p:grpSpPr>
              <p:sp>
                <p:nvSpPr>
                  <p:cNvPr id="212490"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91"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488" name="Line 140"/>
                <p:cNvSpPr>
                  <a:spLocks noChangeShapeType="1"/>
                </p:cNvSpPr>
                <p:nvPr/>
              </p:nvSpPr>
              <p:spPr bwMode="auto">
                <a:xfrm>
                  <a:off x="2358" y="1360"/>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89" name="Line 141"/>
                <p:cNvSpPr>
                  <a:spLocks noChangeShapeType="1"/>
                </p:cNvSpPr>
                <p:nvPr/>
              </p:nvSpPr>
              <p:spPr bwMode="auto">
                <a:xfrm>
                  <a:off x="2906" y="1362"/>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457" name="Group 133"/>
              <p:cNvGrpSpPr/>
              <p:nvPr/>
            </p:nvGrpSpPr>
            <p:grpSpPr bwMode="auto">
              <a:xfrm>
                <a:off x="10232661" y="2882876"/>
                <a:ext cx="532759" cy="184809"/>
                <a:chOff x="2356" y="1300"/>
                <a:chExt cx="555" cy="194"/>
              </a:xfrm>
            </p:grpSpPr>
            <p:sp>
              <p:nvSpPr>
                <p:cNvPr id="212476"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77"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78"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479" name="Group 137"/>
                <p:cNvGrpSpPr/>
                <p:nvPr/>
              </p:nvGrpSpPr>
              <p:grpSpPr bwMode="auto">
                <a:xfrm>
                  <a:off x="2468" y="1332"/>
                  <a:ext cx="310" cy="60"/>
                  <a:chOff x="2468" y="1332"/>
                  <a:chExt cx="310" cy="60"/>
                </a:xfrm>
              </p:grpSpPr>
              <p:sp>
                <p:nvSpPr>
                  <p:cNvPr id="212482"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83"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480" name="Line 140"/>
                <p:cNvSpPr>
                  <a:spLocks noChangeShapeType="1"/>
                </p:cNvSpPr>
                <p:nvPr/>
              </p:nvSpPr>
              <p:spPr bwMode="auto">
                <a:xfrm>
                  <a:off x="2358" y="1362"/>
                  <a:ext cx="0" cy="82"/>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81" name="Line 141"/>
                <p:cNvSpPr>
                  <a:spLocks noChangeShapeType="1"/>
                </p:cNvSpPr>
                <p:nvPr/>
              </p:nvSpPr>
              <p:spPr bwMode="auto">
                <a:xfrm>
                  <a:off x="2906" y="1364"/>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458" name="Group 133"/>
              <p:cNvGrpSpPr/>
              <p:nvPr/>
            </p:nvGrpSpPr>
            <p:grpSpPr bwMode="auto">
              <a:xfrm>
                <a:off x="9330660" y="3072767"/>
                <a:ext cx="532759" cy="184809"/>
                <a:chOff x="2356" y="1300"/>
                <a:chExt cx="555" cy="194"/>
              </a:xfrm>
            </p:grpSpPr>
            <p:sp>
              <p:nvSpPr>
                <p:cNvPr id="212468"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69"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70"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471" name="Group 137"/>
                <p:cNvGrpSpPr/>
                <p:nvPr/>
              </p:nvGrpSpPr>
              <p:grpSpPr bwMode="auto">
                <a:xfrm>
                  <a:off x="2468" y="1332"/>
                  <a:ext cx="310" cy="60"/>
                  <a:chOff x="2468" y="1332"/>
                  <a:chExt cx="310" cy="60"/>
                </a:xfrm>
              </p:grpSpPr>
              <p:sp>
                <p:nvSpPr>
                  <p:cNvPr id="212474"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75"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472" name="Line 140"/>
                <p:cNvSpPr>
                  <a:spLocks noChangeShapeType="1"/>
                </p:cNvSpPr>
                <p:nvPr/>
              </p:nvSpPr>
              <p:spPr bwMode="auto">
                <a:xfrm>
                  <a:off x="2357" y="1362"/>
                  <a:ext cx="0" cy="82"/>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73" name="Line 141"/>
                <p:cNvSpPr>
                  <a:spLocks noChangeShapeType="1"/>
                </p:cNvSpPr>
                <p:nvPr/>
              </p:nvSpPr>
              <p:spPr bwMode="auto">
                <a:xfrm>
                  <a:off x="2907" y="1364"/>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459" name="Group 133"/>
              <p:cNvGrpSpPr/>
              <p:nvPr/>
            </p:nvGrpSpPr>
            <p:grpSpPr bwMode="auto">
              <a:xfrm>
                <a:off x="8438032" y="3018963"/>
                <a:ext cx="532759" cy="184809"/>
                <a:chOff x="2356" y="1300"/>
                <a:chExt cx="555" cy="194"/>
              </a:xfrm>
            </p:grpSpPr>
            <p:sp>
              <p:nvSpPr>
                <p:cNvPr id="212460"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61"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62"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463" name="Group 137"/>
                <p:cNvGrpSpPr/>
                <p:nvPr/>
              </p:nvGrpSpPr>
              <p:grpSpPr bwMode="auto">
                <a:xfrm>
                  <a:off x="2468" y="1332"/>
                  <a:ext cx="310" cy="60"/>
                  <a:chOff x="2468" y="1332"/>
                  <a:chExt cx="310" cy="60"/>
                </a:xfrm>
              </p:grpSpPr>
              <p:sp>
                <p:nvSpPr>
                  <p:cNvPr id="212466"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67"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464" name="Line 140"/>
                <p:cNvSpPr>
                  <a:spLocks noChangeShapeType="1"/>
                </p:cNvSpPr>
                <p:nvPr/>
              </p:nvSpPr>
              <p:spPr bwMode="auto">
                <a:xfrm>
                  <a:off x="2357" y="1361"/>
                  <a:ext cx="0" cy="79"/>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65" name="Line 141"/>
                <p:cNvSpPr>
                  <a:spLocks noChangeShapeType="1"/>
                </p:cNvSpPr>
                <p:nvPr/>
              </p:nvSpPr>
              <p:spPr bwMode="auto">
                <a:xfrm>
                  <a:off x="2907"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sp>
          <p:nvSpPr>
            <p:cNvPr id="212330" name="Oval 417"/>
            <p:cNvSpPr>
              <a:spLocks noChangeArrowheads="1"/>
            </p:cNvSpPr>
            <p:nvPr/>
          </p:nvSpPr>
          <p:spPr bwMode="auto">
            <a:xfrm>
              <a:off x="1498600" y="4165600"/>
              <a:ext cx="3086100" cy="1168400"/>
            </a:xfrm>
            <a:prstGeom prst="ellipse">
              <a:avLst/>
            </a:prstGeom>
            <a:solidFill>
              <a:srgbClr val="3C6CDF"/>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331" name="Group 133"/>
            <p:cNvGrpSpPr/>
            <p:nvPr/>
          </p:nvGrpSpPr>
          <p:grpSpPr bwMode="auto">
            <a:xfrm>
              <a:off x="2152272" y="4264503"/>
              <a:ext cx="513732" cy="157430"/>
              <a:chOff x="2356" y="1300"/>
              <a:chExt cx="555" cy="194"/>
            </a:xfrm>
          </p:grpSpPr>
          <p:sp>
            <p:nvSpPr>
              <p:cNvPr id="212434" name="Oval 492"/>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35"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36"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437" name="Group 137"/>
              <p:cNvGrpSpPr/>
              <p:nvPr/>
            </p:nvGrpSpPr>
            <p:grpSpPr bwMode="auto">
              <a:xfrm>
                <a:off x="2468" y="1332"/>
                <a:ext cx="310" cy="60"/>
                <a:chOff x="2468" y="1332"/>
                <a:chExt cx="310" cy="60"/>
              </a:xfrm>
            </p:grpSpPr>
            <p:sp>
              <p:nvSpPr>
                <p:cNvPr id="212440"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41"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438" name="Line 140"/>
              <p:cNvSpPr>
                <a:spLocks noChangeShapeType="1"/>
              </p:cNvSpPr>
              <p:nvPr/>
            </p:nvSpPr>
            <p:spPr bwMode="auto">
              <a:xfrm>
                <a:off x="2358" y="1360"/>
                <a:ext cx="0" cy="80"/>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39" name="Line 141"/>
              <p:cNvSpPr>
                <a:spLocks noChangeShapeType="1"/>
              </p:cNvSpPr>
              <p:nvPr/>
            </p:nvSpPr>
            <p:spPr bwMode="auto">
              <a:xfrm>
                <a:off x="2907" y="1362"/>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cxnSp>
          <p:nvCxnSpPr>
            <p:cNvPr id="212332" name="Straight Connector 419"/>
            <p:cNvCxnSpPr>
              <a:cxnSpLocks noChangeShapeType="1"/>
              <a:stCxn id="212439" idx="0"/>
            </p:cNvCxnSpPr>
            <p:nvPr/>
          </p:nvCxnSpPr>
          <p:spPr bwMode="auto">
            <a:xfrm>
              <a:off x="2662301" y="4315627"/>
              <a:ext cx="940542" cy="116307"/>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33" name="Straight Connector 420"/>
            <p:cNvCxnSpPr>
              <a:cxnSpLocks noChangeShapeType="1"/>
            </p:cNvCxnSpPr>
            <p:nvPr/>
          </p:nvCxnSpPr>
          <p:spPr bwMode="auto">
            <a:xfrm>
              <a:off x="3112420" y="4624312"/>
              <a:ext cx="116433" cy="71038"/>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34" name="Straight Connector 421"/>
            <p:cNvCxnSpPr>
              <a:cxnSpLocks noChangeShapeType="1"/>
            </p:cNvCxnSpPr>
            <p:nvPr/>
          </p:nvCxnSpPr>
          <p:spPr bwMode="auto">
            <a:xfrm flipV="1">
              <a:off x="2920421" y="4797923"/>
              <a:ext cx="234667" cy="38865"/>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35" name="Straight Connector 422"/>
            <p:cNvCxnSpPr>
              <a:cxnSpLocks noChangeShapeType="1"/>
            </p:cNvCxnSpPr>
            <p:nvPr/>
          </p:nvCxnSpPr>
          <p:spPr bwMode="auto">
            <a:xfrm flipV="1">
              <a:off x="2636021" y="4648552"/>
              <a:ext cx="185893" cy="93349"/>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36" name="Straight Connector 423"/>
            <p:cNvCxnSpPr>
              <a:cxnSpLocks noChangeShapeType="1"/>
            </p:cNvCxnSpPr>
            <p:nvPr/>
          </p:nvCxnSpPr>
          <p:spPr bwMode="auto">
            <a:xfrm flipV="1">
              <a:off x="2348386" y="4902261"/>
              <a:ext cx="185893" cy="93349"/>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37" name="Straight Connector 424"/>
            <p:cNvCxnSpPr>
              <a:cxnSpLocks noChangeShapeType="1"/>
            </p:cNvCxnSpPr>
            <p:nvPr/>
          </p:nvCxnSpPr>
          <p:spPr bwMode="auto">
            <a:xfrm flipV="1">
              <a:off x="3127556" y="4839861"/>
              <a:ext cx="243934" cy="215469"/>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38" name="Straight Connector 425"/>
            <p:cNvCxnSpPr>
              <a:cxnSpLocks noChangeShapeType="1"/>
            </p:cNvCxnSpPr>
            <p:nvPr/>
          </p:nvCxnSpPr>
          <p:spPr bwMode="auto">
            <a:xfrm flipH="1" flipV="1">
              <a:off x="3601475" y="4827802"/>
              <a:ext cx="342282" cy="10596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39" name="Straight Connector 426"/>
            <p:cNvCxnSpPr>
              <a:cxnSpLocks noChangeShapeType="1"/>
            </p:cNvCxnSpPr>
            <p:nvPr/>
          </p:nvCxnSpPr>
          <p:spPr bwMode="auto">
            <a:xfrm flipV="1">
              <a:off x="3587812" y="4532358"/>
              <a:ext cx="273243" cy="166677"/>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40" name="Straight Connector 427"/>
            <p:cNvCxnSpPr>
              <a:cxnSpLocks noChangeShapeType="1"/>
              <a:endCxn id="212434" idx="4"/>
            </p:cNvCxnSpPr>
            <p:nvPr/>
          </p:nvCxnSpPr>
          <p:spPr bwMode="auto">
            <a:xfrm flipH="1" flipV="1">
              <a:off x="2408213" y="4421934"/>
              <a:ext cx="396306" cy="74264"/>
            </a:xfrm>
            <a:prstGeom prst="line">
              <a:avLst/>
            </a:prstGeom>
            <a:noFill/>
            <a:ln w="3175">
              <a:solidFill>
                <a:schemeClr val="tx1"/>
              </a:solidFill>
              <a:round/>
            </a:ln>
            <a:extLst>
              <a:ext uri="{909E8E84-426E-40DD-AFC4-6F175D3DCCD1}">
                <a14:hiddenFill xmlns:a14="http://schemas.microsoft.com/office/drawing/2010/main">
                  <a:noFill/>
                </a14:hiddenFill>
              </a:ext>
            </a:extLst>
          </p:spPr>
        </p:cxnSp>
        <p:grpSp>
          <p:nvGrpSpPr>
            <p:cNvPr id="212341" name="Group 133"/>
            <p:cNvGrpSpPr/>
            <p:nvPr/>
          </p:nvGrpSpPr>
          <p:grpSpPr bwMode="auto">
            <a:xfrm>
              <a:off x="3144256" y="4681760"/>
              <a:ext cx="513732" cy="157430"/>
              <a:chOff x="2356" y="1300"/>
              <a:chExt cx="555" cy="194"/>
            </a:xfrm>
          </p:grpSpPr>
          <p:sp>
            <p:nvSpPr>
              <p:cNvPr id="212426"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27"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28"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429" name="Group 137"/>
              <p:cNvGrpSpPr/>
              <p:nvPr/>
            </p:nvGrpSpPr>
            <p:grpSpPr bwMode="auto">
              <a:xfrm>
                <a:off x="2468" y="1332"/>
                <a:ext cx="310" cy="60"/>
                <a:chOff x="2468" y="1332"/>
                <a:chExt cx="310" cy="60"/>
              </a:xfrm>
            </p:grpSpPr>
            <p:sp>
              <p:nvSpPr>
                <p:cNvPr id="212432"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33"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430" name="Line 140"/>
              <p:cNvSpPr>
                <a:spLocks noChangeShapeType="1"/>
              </p:cNvSpPr>
              <p:nvPr/>
            </p:nvSpPr>
            <p:spPr bwMode="auto">
              <a:xfrm>
                <a:off x="2358" y="1360"/>
                <a:ext cx="0" cy="80"/>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31" name="Line 141"/>
              <p:cNvSpPr>
                <a:spLocks noChangeShapeType="1"/>
              </p:cNvSpPr>
              <p:nvPr/>
            </p:nvSpPr>
            <p:spPr bwMode="auto">
              <a:xfrm>
                <a:off x="2907" y="1362"/>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342" name="Group 133"/>
            <p:cNvGrpSpPr/>
            <p:nvPr/>
          </p:nvGrpSpPr>
          <p:grpSpPr bwMode="auto">
            <a:xfrm>
              <a:off x="2389607" y="4745634"/>
              <a:ext cx="513732" cy="157430"/>
              <a:chOff x="2356" y="1300"/>
              <a:chExt cx="555" cy="194"/>
            </a:xfrm>
          </p:grpSpPr>
          <p:sp>
            <p:nvSpPr>
              <p:cNvPr id="212418"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19"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20"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421" name="Group 137"/>
              <p:cNvGrpSpPr/>
              <p:nvPr/>
            </p:nvGrpSpPr>
            <p:grpSpPr bwMode="auto">
              <a:xfrm>
                <a:off x="2468" y="1332"/>
                <a:ext cx="310" cy="60"/>
                <a:chOff x="2468" y="1332"/>
                <a:chExt cx="310" cy="60"/>
              </a:xfrm>
            </p:grpSpPr>
            <p:sp>
              <p:nvSpPr>
                <p:cNvPr id="212424"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25"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422" name="Line 140"/>
              <p:cNvSpPr>
                <a:spLocks noChangeShapeType="1"/>
              </p:cNvSpPr>
              <p:nvPr/>
            </p:nvSpPr>
            <p:spPr bwMode="auto">
              <a:xfrm>
                <a:off x="2357" y="1360"/>
                <a:ext cx="0" cy="86"/>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23" name="Line 141"/>
              <p:cNvSpPr>
                <a:spLocks noChangeShapeType="1"/>
              </p:cNvSpPr>
              <p:nvPr/>
            </p:nvSpPr>
            <p:spPr bwMode="auto">
              <a:xfrm>
                <a:off x="2908" y="1362"/>
                <a:ext cx="0" cy="86"/>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343" name="Group 133"/>
            <p:cNvGrpSpPr/>
            <p:nvPr/>
          </p:nvGrpSpPr>
          <p:grpSpPr bwMode="auto">
            <a:xfrm>
              <a:off x="2667612" y="4492209"/>
              <a:ext cx="513732" cy="157430"/>
              <a:chOff x="2356" y="1300"/>
              <a:chExt cx="555" cy="194"/>
            </a:xfrm>
          </p:grpSpPr>
          <p:sp>
            <p:nvSpPr>
              <p:cNvPr id="212410"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11"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12"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413" name="Group 137"/>
              <p:cNvGrpSpPr/>
              <p:nvPr/>
            </p:nvGrpSpPr>
            <p:grpSpPr bwMode="auto">
              <a:xfrm>
                <a:off x="2468" y="1332"/>
                <a:ext cx="310" cy="60"/>
                <a:chOff x="2468" y="1332"/>
                <a:chExt cx="310" cy="60"/>
              </a:xfrm>
            </p:grpSpPr>
            <p:sp>
              <p:nvSpPr>
                <p:cNvPr id="212416"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17"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414" name="Line 140"/>
              <p:cNvSpPr>
                <a:spLocks noChangeShapeType="1"/>
              </p:cNvSpPr>
              <p:nvPr/>
            </p:nvSpPr>
            <p:spPr bwMode="auto">
              <a:xfrm>
                <a:off x="2357"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15"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344" name="Group 133"/>
            <p:cNvGrpSpPr/>
            <p:nvPr/>
          </p:nvGrpSpPr>
          <p:grpSpPr bwMode="auto">
            <a:xfrm>
              <a:off x="3578257" y="4374518"/>
              <a:ext cx="513732" cy="157430"/>
              <a:chOff x="2356" y="1300"/>
              <a:chExt cx="555" cy="194"/>
            </a:xfrm>
          </p:grpSpPr>
          <p:sp>
            <p:nvSpPr>
              <p:cNvPr id="212402"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03"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404"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405" name="Group 137"/>
              <p:cNvGrpSpPr/>
              <p:nvPr/>
            </p:nvGrpSpPr>
            <p:grpSpPr bwMode="auto">
              <a:xfrm>
                <a:off x="2468" y="1332"/>
                <a:ext cx="310" cy="60"/>
                <a:chOff x="2468" y="1332"/>
                <a:chExt cx="310" cy="60"/>
              </a:xfrm>
            </p:grpSpPr>
            <p:sp>
              <p:nvSpPr>
                <p:cNvPr id="212408"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09"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406" name="Line 140"/>
              <p:cNvSpPr>
                <a:spLocks noChangeShapeType="1"/>
              </p:cNvSpPr>
              <p:nvPr/>
            </p:nvSpPr>
            <p:spPr bwMode="auto">
              <a:xfrm>
                <a:off x="2358"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07"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345" name="Group 133"/>
            <p:cNvGrpSpPr/>
            <p:nvPr/>
          </p:nvGrpSpPr>
          <p:grpSpPr bwMode="auto">
            <a:xfrm>
              <a:off x="3797517" y="4879602"/>
              <a:ext cx="513732" cy="157430"/>
              <a:chOff x="2356" y="1300"/>
              <a:chExt cx="555" cy="194"/>
            </a:xfrm>
          </p:grpSpPr>
          <p:sp>
            <p:nvSpPr>
              <p:cNvPr id="212394"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395"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396"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397" name="Group 137"/>
              <p:cNvGrpSpPr/>
              <p:nvPr/>
            </p:nvGrpSpPr>
            <p:grpSpPr bwMode="auto">
              <a:xfrm>
                <a:off x="2468" y="1332"/>
                <a:ext cx="310" cy="60"/>
                <a:chOff x="2468" y="1332"/>
                <a:chExt cx="310" cy="60"/>
              </a:xfrm>
            </p:grpSpPr>
            <p:sp>
              <p:nvSpPr>
                <p:cNvPr id="212400"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401"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398" name="Line 140"/>
              <p:cNvSpPr>
                <a:spLocks noChangeShapeType="1"/>
              </p:cNvSpPr>
              <p:nvPr/>
            </p:nvSpPr>
            <p:spPr bwMode="auto">
              <a:xfrm>
                <a:off x="2357"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99"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346" name="Group 133"/>
            <p:cNvGrpSpPr/>
            <p:nvPr/>
          </p:nvGrpSpPr>
          <p:grpSpPr bwMode="auto">
            <a:xfrm>
              <a:off x="2927730" y="5041361"/>
              <a:ext cx="513732" cy="157430"/>
              <a:chOff x="2356" y="1300"/>
              <a:chExt cx="555" cy="194"/>
            </a:xfrm>
          </p:grpSpPr>
          <p:sp>
            <p:nvSpPr>
              <p:cNvPr id="212386"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387"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388"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389" name="Group 137"/>
              <p:cNvGrpSpPr/>
              <p:nvPr/>
            </p:nvGrpSpPr>
            <p:grpSpPr bwMode="auto">
              <a:xfrm>
                <a:off x="2468" y="1332"/>
                <a:ext cx="310" cy="60"/>
                <a:chOff x="2468" y="1332"/>
                <a:chExt cx="310" cy="60"/>
              </a:xfrm>
            </p:grpSpPr>
            <p:sp>
              <p:nvSpPr>
                <p:cNvPr id="212392"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93"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390" name="Line 140"/>
              <p:cNvSpPr>
                <a:spLocks noChangeShapeType="1"/>
              </p:cNvSpPr>
              <p:nvPr/>
            </p:nvSpPr>
            <p:spPr bwMode="auto">
              <a:xfrm>
                <a:off x="2357"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91"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347" name="Group 133"/>
            <p:cNvGrpSpPr/>
            <p:nvPr/>
          </p:nvGrpSpPr>
          <p:grpSpPr bwMode="auto">
            <a:xfrm>
              <a:off x="2066981" y="4995528"/>
              <a:ext cx="513732" cy="157430"/>
              <a:chOff x="2356" y="1300"/>
              <a:chExt cx="555" cy="194"/>
            </a:xfrm>
          </p:grpSpPr>
          <p:sp>
            <p:nvSpPr>
              <p:cNvPr id="212378"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379"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sp>
            <p:nvSpPr>
              <p:cNvPr id="212380"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cs typeface="Arial" panose="020B0604020202020204"/>
                </a:endParaRPr>
              </a:p>
            </p:txBody>
          </p:sp>
          <p:grpSp>
            <p:nvGrpSpPr>
              <p:cNvPr id="212381" name="Group 137"/>
              <p:cNvGrpSpPr/>
              <p:nvPr/>
            </p:nvGrpSpPr>
            <p:grpSpPr bwMode="auto">
              <a:xfrm>
                <a:off x="2468" y="1332"/>
                <a:ext cx="310" cy="60"/>
                <a:chOff x="2468" y="1332"/>
                <a:chExt cx="310" cy="60"/>
              </a:xfrm>
            </p:grpSpPr>
            <p:sp>
              <p:nvSpPr>
                <p:cNvPr id="212384"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85"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382" name="Line 140"/>
              <p:cNvSpPr>
                <a:spLocks noChangeShapeType="1"/>
              </p:cNvSpPr>
              <p:nvPr/>
            </p:nvSpPr>
            <p:spPr bwMode="auto">
              <a:xfrm>
                <a:off x="2358"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383"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cxnSp>
          <p:nvCxnSpPr>
            <p:cNvPr id="212348" name="Straight Connector 12"/>
            <p:cNvCxnSpPr>
              <a:cxnSpLocks noChangeShapeType="1"/>
              <a:endCxn id="212518" idx="1"/>
            </p:cNvCxnSpPr>
            <p:nvPr/>
          </p:nvCxnSpPr>
          <p:spPr bwMode="auto">
            <a:xfrm>
              <a:off x="2382838" y="2609850"/>
              <a:ext cx="238125" cy="261938"/>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49" name="Straight Connector 500"/>
            <p:cNvCxnSpPr>
              <a:cxnSpLocks noChangeShapeType="1"/>
              <a:stCxn id="212314" idx="8"/>
              <a:endCxn id="212375" idx="2"/>
            </p:cNvCxnSpPr>
            <p:nvPr/>
          </p:nvCxnSpPr>
          <p:spPr bwMode="auto">
            <a:xfrm>
              <a:off x="1455738" y="2990850"/>
              <a:ext cx="38100" cy="309563"/>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50" name="Straight Connector 501"/>
            <p:cNvCxnSpPr>
              <a:cxnSpLocks noChangeShapeType="1"/>
              <a:endCxn id="212375" idx="3"/>
            </p:cNvCxnSpPr>
            <p:nvPr/>
          </p:nvCxnSpPr>
          <p:spPr bwMode="auto">
            <a:xfrm>
              <a:off x="1235075" y="3271838"/>
              <a:ext cx="123825" cy="212725"/>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51" name="Straight Connector 502"/>
            <p:cNvCxnSpPr>
              <a:cxnSpLocks noChangeShapeType="1"/>
              <a:endCxn id="212486" idx="1"/>
            </p:cNvCxnSpPr>
            <p:nvPr/>
          </p:nvCxnSpPr>
          <p:spPr bwMode="auto">
            <a:xfrm>
              <a:off x="3916363" y="2411413"/>
              <a:ext cx="307975" cy="573087"/>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52" name="Straight Connector 503"/>
            <p:cNvCxnSpPr>
              <a:cxnSpLocks noChangeShapeType="1"/>
              <a:endCxn id="212486" idx="0"/>
            </p:cNvCxnSpPr>
            <p:nvPr/>
          </p:nvCxnSpPr>
          <p:spPr bwMode="auto">
            <a:xfrm flipH="1">
              <a:off x="4425950" y="2389188"/>
              <a:ext cx="384175" cy="579437"/>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53" name="Straight Connector 504"/>
            <p:cNvCxnSpPr>
              <a:cxnSpLocks noChangeShapeType="1"/>
              <a:endCxn id="212568" idx="0"/>
            </p:cNvCxnSpPr>
            <p:nvPr/>
          </p:nvCxnSpPr>
          <p:spPr bwMode="auto">
            <a:xfrm>
              <a:off x="6770688" y="2900363"/>
              <a:ext cx="215900" cy="104616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54" name="Straight Connector 505"/>
            <p:cNvCxnSpPr>
              <a:cxnSpLocks noChangeShapeType="1"/>
            </p:cNvCxnSpPr>
            <p:nvPr/>
          </p:nvCxnSpPr>
          <p:spPr bwMode="auto">
            <a:xfrm flipH="1">
              <a:off x="7137400" y="3251200"/>
              <a:ext cx="241300" cy="692150"/>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55" name="Straight Connector 506"/>
            <p:cNvCxnSpPr>
              <a:cxnSpLocks noChangeShapeType="1"/>
              <a:stCxn id="212318" idx="4"/>
              <a:endCxn id="212563" idx="0"/>
            </p:cNvCxnSpPr>
            <p:nvPr/>
          </p:nvCxnSpPr>
          <p:spPr bwMode="auto">
            <a:xfrm flipH="1">
              <a:off x="7483475" y="4229100"/>
              <a:ext cx="541338" cy="249238"/>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56" name="Straight Connector 507"/>
            <p:cNvCxnSpPr>
              <a:cxnSpLocks noChangeShapeType="1"/>
            </p:cNvCxnSpPr>
            <p:nvPr/>
          </p:nvCxnSpPr>
          <p:spPr bwMode="auto">
            <a:xfrm flipH="1" flipV="1">
              <a:off x="7454900" y="4573588"/>
              <a:ext cx="796925" cy="61436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57" name="Straight Connector 508"/>
            <p:cNvCxnSpPr>
              <a:cxnSpLocks noChangeShapeType="1"/>
              <a:endCxn id="212550" idx="5"/>
            </p:cNvCxnSpPr>
            <p:nvPr/>
          </p:nvCxnSpPr>
          <p:spPr bwMode="auto">
            <a:xfrm flipH="1" flipV="1">
              <a:off x="6496050" y="4722813"/>
              <a:ext cx="1047750" cy="966787"/>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58" name="Straight Connector 509"/>
            <p:cNvCxnSpPr>
              <a:cxnSpLocks noChangeShapeType="1"/>
              <a:stCxn id="212319" idx="0"/>
              <a:endCxn id="212374" idx="5"/>
            </p:cNvCxnSpPr>
            <p:nvPr/>
          </p:nvCxnSpPr>
          <p:spPr bwMode="auto">
            <a:xfrm flipH="1" flipV="1">
              <a:off x="5084763" y="5684838"/>
              <a:ext cx="520700" cy="16986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59" name="Straight Connector 510"/>
            <p:cNvCxnSpPr>
              <a:cxnSpLocks noChangeShapeType="1"/>
            </p:cNvCxnSpPr>
            <p:nvPr/>
          </p:nvCxnSpPr>
          <p:spPr bwMode="auto">
            <a:xfrm flipH="1" flipV="1">
              <a:off x="4068763" y="5045075"/>
              <a:ext cx="371475" cy="973138"/>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60" name="Straight Connector 511"/>
            <p:cNvCxnSpPr>
              <a:cxnSpLocks noChangeShapeType="1"/>
            </p:cNvCxnSpPr>
            <p:nvPr/>
          </p:nvCxnSpPr>
          <p:spPr bwMode="auto">
            <a:xfrm flipV="1">
              <a:off x="3389313" y="5689600"/>
              <a:ext cx="306387" cy="165100"/>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61" name="Straight Connector 512"/>
            <p:cNvCxnSpPr>
              <a:cxnSpLocks noChangeShapeType="1"/>
            </p:cNvCxnSpPr>
            <p:nvPr/>
          </p:nvCxnSpPr>
          <p:spPr bwMode="auto">
            <a:xfrm flipV="1">
              <a:off x="1790700" y="5160963"/>
              <a:ext cx="401638" cy="209550"/>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62" name="Straight Connector 513"/>
            <p:cNvCxnSpPr>
              <a:cxnSpLocks noChangeShapeType="1"/>
            </p:cNvCxnSpPr>
            <p:nvPr/>
          </p:nvCxnSpPr>
          <p:spPr bwMode="auto">
            <a:xfrm flipV="1">
              <a:off x="1179513" y="4467225"/>
              <a:ext cx="227012" cy="282575"/>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63" name="Straight Connector 514"/>
            <p:cNvCxnSpPr>
              <a:cxnSpLocks noChangeShapeType="1"/>
              <a:endCxn id="212375" idx="5"/>
            </p:cNvCxnSpPr>
            <p:nvPr/>
          </p:nvCxnSpPr>
          <p:spPr bwMode="auto">
            <a:xfrm flipV="1">
              <a:off x="1155700" y="4368800"/>
              <a:ext cx="203200" cy="7938"/>
            </a:xfrm>
            <a:prstGeom prst="line">
              <a:avLst/>
            </a:prstGeom>
            <a:noFill/>
            <a:ln w="3175">
              <a:solidFill>
                <a:schemeClr val="tx1"/>
              </a:solidFill>
              <a:round/>
            </a:ln>
            <a:extLst>
              <a:ext uri="{909E8E84-426E-40DD-AFC4-6F175D3DCCD1}">
                <a14:hiddenFill xmlns:a14="http://schemas.microsoft.com/office/drawing/2010/main">
                  <a:noFill/>
                </a14:hiddenFill>
              </a:ext>
            </a:extLst>
          </p:spPr>
        </p:cxnSp>
        <p:sp>
          <p:nvSpPr>
            <p:cNvPr id="212364" name="Oval 14"/>
            <p:cNvSpPr>
              <a:spLocks noChangeArrowheads="1"/>
            </p:cNvSpPr>
            <p:nvPr/>
          </p:nvSpPr>
          <p:spPr bwMode="auto">
            <a:xfrm>
              <a:off x="5677595" y="2896842"/>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cxnSp>
          <p:nvCxnSpPr>
            <p:cNvPr id="212365" name="Straight Connector 18"/>
            <p:cNvCxnSpPr>
              <a:cxnSpLocks noChangeShapeType="1"/>
            </p:cNvCxnSpPr>
            <p:nvPr/>
          </p:nvCxnSpPr>
          <p:spPr bwMode="auto">
            <a:xfrm>
              <a:off x="4713288" y="3051291"/>
              <a:ext cx="964307" cy="26892"/>
            </a:xfrm>
            <a:prstGeom prst="line">
              <a:avLst/>
            </a:prstGeom>
            <a:noFill/>
            <a:ln w="12700">
              <a:solidFill>
                <a:srgbClr val="CC0000"/>
              </a:solidFill>
              <a:round/>
            </a:ln>
            <a:extLst>
              <a:ext uri="{909E8E84-426E-40DD-AFC4-6F175D3DCCD1}">
                <a14:hiddenFill xmlns:a14="http://schemas.microsoft.com/office/drawing/2010/main">
                  <a:noFill/>
                </a14:hiddenFill>
              </a:ext>
            </a:extLst>
          </p:spPr>
        </p:cxnSp>
        <p:cxnSp>
          <p:nvCxnSpPr>
            <p:cNvPr id="212366" name="Straight Connector 516"/>
            <p:cNvCxnSpPr>
              <a:cxnSpLocks noChangeShapeType="1"/>
            </p:cNvCxnSpPr>
            <p:nvPr/>
          </p:nvCxnSpPr>
          <p:spPr bwMode="auto">
            <a:xfrm>
              <a:off x="6139457" y="3169615"/>
              <a:ext cx="691556" cy="784846"/>
            </a:xfrm>
            <a:prstGeom prst="line">
              <a:avLst/>
            </a:prstGeom>
            <a:noFill/>
            <a:ln w="12700">
              <a:solidFill>
                <a:srgbClr val="CC0000"/>
              </a:solidFill>
              <a:round/>
            </a:ln>
            <a:extLst>
              <a:ext uri="{909E8E84-426E-40DD-AFC4-6F175D3DCCD1}">
                <a14:hiddenFill xmlns:a14="http://schemas.microsoft.com/office/drawing/2010/main">
                  <a:noFill/>
                </a14:hiddenFill>
              </a:ext>
            </a:extLst>
          </p:spPr>
        </p:cxnSp>
        <p:cxnSp>
          <p:nvCxnSpPr>
            <p:cNvPr id="212367" name="Straight Connector 515"/>
            <p:cNvCxnSpPr>
              <a:cxnSpLocks noChangeShapeType="1"/>
              <a:stCxn id="212404" idx="0"/>
            </p:cNvCxnSpPr>
            <p:nvPr/>
          </p:nvCxnSpPr>
          <p:spPr bwMode="auto">
            <a:xfrm flipV="1">
              <a:off x="3832888" y="4233720"/>
              <a:ext cx="190494" cy="141430"/>
            </a:xfrm>
            <a:prstGeom prst="line">
              <a:avLst/>
            </a:prstGeom>
            <a:noFill/>
            <a:ln w="12700">
              <a:solidFill>
                <a:srgbClr val="CC0000"/>
              </a:solidFill>
              <a:round/>
            </a:ln>
            <a:extLst>
              <a:ext uri="{909E8E84-426E-40DD-AFC4-6F175D3DCCD1}">
                <a14:hiddenFill xmlns:a14="http://schemas.microsoft.com/office/drawing/2010/main">
                  <a:noFill/>
                </a14:hiddenFill>
              </a:ext>
            </a:extLst>
          </p:spPr>
        </p:cxnSp>
        <p:sp>
          <p:nvSpPr>
            <p:cNvPr id="212368" name="Oval 521"/>
            <p:cNvSpPr>
              <a:spLocks noChangeArrowheads="1"/>
            </p:cNvSpPr>
            <p:nvPr/>
          </p:nvSpPr>
          <p:spPr bwMode="auto">
            <a:xfrm>
              <a:off x="3932543" y="3959560"/>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r>
                <a:rPr lang="en-US" altLang="en-US" sz="2400">
                  <a:solidFill>
                    <a:srgbClr val="000000"/>
                  </a:solidFill>
                  <a:cs typeface="Arial" panose="020B0604020202020204"/>
                </a:rPr>
                <a:t>   </a:t>
              </a:r>
              <a:endParaRPr lang="en-US" altLang="en-US" sz="2400">
                <a:solidFill>
                  <a:srgbClr val="000000"/>
                </a:solidFill>
                <a:cs typeface="Arial" panose="020B0604020202020204"/>
              </a:endParaRPr>
            </a:p>
          </p:txBody>
        </p:sp>
        <p:cxnSp>
          <p:nvCxnSpPr>
            <p:cNvPr id="212369" name="Straight Connector 519"/>
            <p:cNvCxnSpPr>
              <a:cxnSpLocks noChangeShapeType="1"/>
              <a:stCxn id="212368" idx="6"/>
              <a:endCxn id="212602" idx="1"/>
            </p:cNvCxnSpPr>
            <p:nvPr/>
          </p:nvCxnSpPr>
          <p:spPr bwMode="auto">
            <a:xfrm flipV="1">
              <a:off x="4460773" y="3953940"/>
              <a:ext cx="770040" cy="158145"/>
            </a:xfrm>
            <a:prstGeom prst="line">
              <a:avLst/>
            </a:prstGeom>
            <a:noFill/>
            <a:ln w="12700">
              <a:solidFill>
                <a:srgbClr val="CC0000"/>
              </a:solidFill>
              <a:round/>
            </a:ln>
            <a:extLst>
              <a:ext uri="{909E8E84-426E-40DD-AFC4-6F175D3DCCD1}">
                <a14:hiddenFill xmlns:a14="http://schemas.microsoft.com/office/drawing/2010/main">
                  <a:noFill/>
                </a14:hiddenFill>
              </a:ext>
            </a:extLst>
          </p:spPr>
        </p:cxnSp>
        <p:cxnSp>
          <p:nvCxnSpPr>
            <p:cNvPr id="212370" name="Straight Connector 520"/>
            <p:cNvCxnSpPr>
              <a:cxnSpLocks noChangeShapeType="1"/>
            </p:cNvCxnSpPr>
            <p:nvPr/>
          </p:nvCxnSpPr>
          <p:spPr bwMode="auto">
            <a:xfrm>
              <a:off x="3692525" y="3789363"/>
              <a:ext cx="342828" cy="205015"/>
            </a:xfrm>
            <a:prstGeom prst="line">
              <a:avLst/>
            </a:prstGeom>
            <a:noFill/>
            <a:ln w="12700">
              <a:solidFill>
                <a:srgbClr val="CC0000"/>
              </a:solidFill>
              <a:round/>
            </a:ln>
            <a:extLst>
              <a:ext uri="{909E8E84-426E-40DD-AFC4-6F175D3DCCD1}">
                <a14:hiddenFill xmlns:a14="http://schemas.microsoft.com/office/drawing/2010/main">
                  <a:noFill/>
                </a14:hiddenFill>
              </a:ext>
            </a:extLst>
          </p:spPr>
        </p:cxnSp>
        <p:cxnSp>
          <p:nvCxnSpPr>
            <p:cNvPr id="212371" name="Straight Connector 7"/>
            <p:cNvCxnSpPr>
              <a:cxnSpLocks noChangeShapeType="1"/>
              <a:stCxn id="212476" idx="5"/>
              <a:endCxn id="212600" idx="1"/>
            </p:cNvCxnSpPr>
            <p:nvPr/>
          </p:nvCxnSpPr>
          <p:spPr bwMode="auto">
            <a:xfrm>
              <a:off x="4876727" y="3633788"/>
              <a:ext cx="431873" cy="222379"/>
            </a:xfrm>
            <a:prstGeom prst="line">
              <a:avLst/>
            </a:prstGeom>
            <a:noFill/>
            <a:ln w="12700">
              <a:solidFill>
                <a:srgbClr val="CC0000"/>
              </a:solidFill>
              <a:round/>
            </a:ln>
            <a:extLst>
              <a:ext uri="{909E8E84-426E-40DD-AFC4-6F175D3DCCD1}">
                <a14:hiddenFill xmlns:a14="http://schemas.microsoft.com/office/drawing/2010/main">
                  <a:noFill/>
                </a14:hiddenFill>
              </a:ext>
            </a:extLst>
          </p:spPr>
        </p:cxnSp>
        <p:cxnSp>
          <p:nvCxnSpPr>
            <p:cNvPr id="212372" name="Straight Connector 415"/>
            <p:cNvCxnSpPr>
              <a:cxnSpLocks noChangeShapeType="1"/>
              <a:endCxn id="212436" idx="0"/>
            </p:cNvCxnSpPr>
            <p:nvPr/>
          </p:nvCxnSpPr>
          <p:spPr bwMode="auto">
            <a:xfrm flipH="1">
              <a:off x="2406650" y="3753813"/>
              <a:ext cx="282556" cy="511097"/>
            </a:xfrm>
            <a:prstGeom prst="line">
              <a:avLst/>
            </a:prstGeom>
            <a:noFill/>
            <a:ln w="12700">
              <a:solidFill>
                <a:srgbClr val="CC0000"/>
              </a:solidFill>
              <a:round/>
            </a:ln>
            <a:extLst>
              <a:ext uri="{909E8E84-426E-40DD-AFC4-6F175D3DCCD1}">
                <a14:hiddenFill xmlns:a14="http://schemas.microsoft.com/office/drawing/2010/main">
                  <a:noFill/>
                </a14:hiddenFill>
              </a:ext>
            </a:extLst>
          </p:spPr>
        </p:cxnSp>
        <p:cxnSp>
          <p:nvCxnSpPr>
            <p:cNvPr id="212373" name="Straight Connector 523"/>
            <p:cNvCxnSpPr>
              <a:cxnSpLocks noChangeShapeType="1"/>
              <a:stCxn id="212399" idx="0"/>
            </p:cNvCxnSpPr>
            <p:nvPr/>
          </p:nvCxnSpPr>
          <p:spPr bwMode="auto">
            <a:xfrm flipV="1">
              <a:off x="4307761" y="4626483"/>
              <a:ext cx="844015" cy="304292"/>
            </a:xfrm>
            <a:prstGeom prst="line">
              <a:avLst/>
            </a:prstGeom>
            <a:noFill/>
            <a:ln w="12700">
              <a:solidFill>
                <a:srgbClr val="CC0000"/>
              </a:solidFill>
              <a:round/>
            </a:ln>
            <a:extLst>
              <a:ext uri="{909E8E84-426E-40DD-AFC4-6F175D3DCCD1}">
                <a14:hiddenFill xmlns:a14="http://schemas.microsoft.com/office/drawing/2010/main">
                  <a:noFill/>
                </a14:hiddenFill>
              </a:ext>
            </a:extLst>
          </p:spPr>
        </p:cxnSp>
        <p:sp>
          <p:nvSpPr>
            <p:cNvPr id="212374" name="Oval 6"/>
            <p:cNvSpPr>
              <a:spLocks noChangeArrowheads="1"/>
            </p:cNvSpPr>
            <p:nvPr/>
          </p:nvSpPr>
          <p:spPr bwMode="auto">
            <a:xfrm>
              <a:off x="3340100" y="5359400"/>
              <a:ext cx="2044700"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375" name="Oval 517"/>
            <p:cNvSpPr>
              <a:spLocks noChangeArrowheads="1"/>
            </p:cNvSpPr>
            <p:nvPr/>
          </p:nvSpPr>
          <p:spPr bwMode="auto">
            <a:xfrm rot="5400000">
              <a:off x="867569" y="3736182"/>
              <a:ext cx="1252537"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cxnSp>
          <p:nvCxnSpPr>
            <p:cNvPr id="212376" name="Straight Connector 39941"/>
            <p:cNvCxnSpPr>
              <a:cxnSpLocks noChangeShapeType="1"/>
              <a:stCxn id="212375" idx="0"/>
              <a:endCxn id="212464" idx="0"/>
            </p:cNvCxnSpPr>
            <p:nvPr/>
          </p:nvCxnSpPr>
          <p:spPr bwMode="auto">
            <a:xfrm flipV="1">
              <a:off x="1684338" y="3654425"/>
              <a:ext cx="758825" cy="273050"/>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2377" name="Straight Connector 524"/>
            <p:cNvCxnSpPr>
              <a:cxnSpLocks noChangeShapeType="1"/>
              <a:endCxn id="212438" idx="1"/>
            </p:cNvCxnSpPr>
            <p:nvPr/>
          </p:nvCxnSpPr>
          <p:spPr bwMode="auto">
            <a:xfrm>
              <a:off x="1685925" y="4111625"/>
              <a:ext cx="466725" cy="269875"/>
            </a:xfrm>
            <a:prstGeom prst="line">
              <a:avLst/>
            </a:prstGeom>
            <a:noFill/>
            <a:ln w="3175">
              <a:solidFill>
                <a:schemeClr val="tx1"/>
              </a:solidFill>
              <a:round/>
            </a:ln>
            <a:extLst>
              <a:ext uri="{909E8E84-426E-40DD-AFC4-6F175D3DCCD1}">
                <a14:hiddenFill xmlns:a14="http://schemas.microsoft.com/office/drawing/2010/main">
                  <a:noFill/>
                </a14:hiddenFill>
              </a:ext>
            </a:extLst>
          </p:spPr>
        </p:cxnSp>
      </p:grpSp>
      <p:grpSp>
        <p:nvGrpSpPr>
          <p:cNvPr id="211973" name="Group 418"/>
          <p:cNvGrpSpPr/>
          <p:nvPr/>
        </p:nvGrpSpPr>
        <p:grpSpPr bwMode="auto">
          <a:xfrm>
            <a:off x="1963738" y="4827588"/>
            <a:ext cx="874712" cy="506412"/>
            <a:chOff x="2889" y="1631"/>
            <a:chExt cx="980" cy="743"/>
          </a:xfrm>
        </p:grpSpPr>
        <p:sp>
          <p:nvSpPr>
            <p:cNvPr id="212304" name="Rectangle 419"/>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35249" name="AutoShape 420"/>
            <p:cNvSpPr>
              <a:spLocks noChangeArrowheads="1"/>
            </p:cNvSpPr>
            <p:nvPr/>
          </p:nvSpPr>
          <p:spPr bwMode="auto">
            <a:xfrm>
              <a:off x="2889" y="1631"/>
              <a:ext cx="980" cy="254"/>
            </a:xfrm>
            <a:prstGeom prst="triangle">
              <a:avLst>
                <a:gd name="adj" fmla="val 50000"/>
              </a:avLst>
            </a:prstGeom>
            <a:solidFill>
              <a:schemeClr val="tx1">
                <a:lumMod val="50000"/>
                <a:lumOff val="50000"/>
              </a:schemeClr>
            </a:solidFill>
            <a:ln>
              <a:noFill/>
            </a:ln>
          </p:spPr>
          <p:txBody>
            <a:bodyPr wrap="none" anchor="ctr"/>
            <a:lstStyle/>
            <a:p>
              <a:pPr algn="ctr" eaLnBrk="0" fontAlgn="base" hangingPunct="0">
                <a:spcBef>
                  <a:spcPct val="0"/>
                </a:spcBef>
                <a:spcAft>
                  <a:spcPct val="0"/>
                </a:spcAft>
                <a:defRPr/>
              </a:pPr>
              <a:endParaRPr lang="en-US" sz="2400" dirty="0">
                <a:solidFill>
                  <a:srgbClr val="00CCFF"/>
                </a:solidFill>
                <a:latin typeface="Arial" panose="020B0604020202020204" pitchFamily="34" charset="0"/>
                <a:ea typeface="MS PGothic" panose="020B0600070205080204" pitchFamily="34" charset="-128"/>
                <a:cs typeface="MS PGothic" panose="020B0600070205080204" pitchFamily="34" charset="-128"/>
              </a:endParaRPr>
            </a:p>
          </p:txBody>
        </p:sp>
      </p:grpSp>
      <p:sp>
        <p:nvSpPr>
          <p:cNvPr id="211974" name="Line 424"/>
          <p:cNvSpPr>
            <a:spLocks noChangeShapeType="1"/>
          </p:cNvSpPr>
          <p:nvPr/>
        </p:nvSpPr>
        <p:spPr bwMode="auto">
          <a:xfrm flipV="1">
            <a:off x="2686051" y="5280026"/>
            <a:ext cx="144463"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3" name="Content Placeholder 12"/>
          <p:cNvSpPr>
            <a:spLocks noGrp="1"/>
          </p:cNvSpPr>
          <p:nvPr>
            <p:ph idx="1"/>
          </p:nvPr>
        </p:nvSpPr>
        <p:spPr>
          <a:xfrm>
            <a:off x="1157280" y="2197875"/>
            <a:ext cx="9113837" cy="1306512"/>
          </a:xfrm>
        </p:spPr>
        <p:txBody>
          <a:bodyPr/>
          <a:lstStyle/>
          <a:p>
            <a:pPr>
              <a:buSzPct val="100000"/>
              <a:buFont typeface="Wingdings" panose="05000000000000000000" pitchFamily="2" charset="2"/>
              <a:buChar char="§"/>
            </a:pPr>
            <a:r>
              <a:rPr lang="en-US" altLang="en-US">
                <a:latin typeface="Calibri" panose="020F0502020204030204" pitchFamily="34" charset="0"/>
                <a:ea typeface="MS PGothic" panose="020B0600070205080204" pitchFamily="34" charset="-128"/>
                <a:cs typeface="Calibri" panose="020F0502020204030204" pitchFamily="34" charset="0"/>
              </a:rPr>
              <a:t>subscriber requests content from CDN</a:t>
            </a:r>
            <a:endParaRPr lang="en-US" altLang="en-US">
              <a:latin typeface="Calibri" panose="020F0502020204030204" pitchFamily="34" charset="0"/>
              <a:ea typeface="MS PGothic" panose="020B0600070205080204" pitchFamily="34" charset="-128"/>
              <a:cs typeface="Calibri" panose="020F0502020204030204" pitchFamily="34" charset="0"/>
            </a:endParaRPr>
          </a:p>
        </p:txBody>
      </p:sp>
      <p:sp>
        <p:nvSpPr>
          <p:cNvPr id="673" name="Title 1"/>
          <p:cNvSpPr>
            <a:spLocks noGrp="1"/>
          </p:cNvSpPr>
          <p:nvPr>
            <p:ph type="title"/>
          </p:nvPr>
        </p:nvSpPr>
        <p:spPr>
          <a:xfrm>
            <a:off x="838200" y="451821"/>
            <a:ext cx="10515600" cy="894622"/>
          </a:xfrm>
        </p:spPr>
        <p:txBody>
          <a:bodyPr>
            <a:normAutofit/>
          </a:bodyPr>
          <a:lstStyle/>
          <a:p>
            <a:r>
              <a:rPr lang="en-US" altLang="en-US" sz="4400" dirty="0">
                <a:ea typeface="MS PGothic" panose="020B0600070205080204" pitchFamily="34" charset="-128"/>
              </a:rPr>
              <a:t>Content distribution </a:t>
            </a:r>
            <a:r>
              <a:rPr lang="en-US" altLang="en-US" dirty="0">
                <a:ea typeface="MS PGothic" panose="020B0600070205080204" pitchFamily="34" charset="-128"/>
              </a:rPr>
              <a:t>n</a:t>
            </a:r>
            <a:r>
              <a:rPr lang="en-US" altLang="en-US" sz="4400" dirty="0">
                <a:ea typeface="MS PGothic" panose="020B0600070205080204" pitchFamily="34" charset="-128"/>
              </a:rPr>
              <a:t>etworks (CDNs)</a:t>
            </a:r>
            <a:endParaRPr lang="en-US" altLang="en-US" sz="4400" dirty="0">
              <a:ea typeface="MS PGothic" panose="020B0600070205080204" pitchFamily="34" charset="-128"/>
            </a:endParaRPr>
          </a:p>
        </p:txBody>
      </p:sp>
      <p:grpSp>
        <p:nvGrpSpPr>
          <p:cNvPr id="793" name="Group 792"/>
          <p:cNvGrpSpPr/>
          <p:nvPr/>
        </p:nvGrpSpPr>
        <p:grpSpPr bwMode="auto">
          <a:xfrm>
            <a:off x="4745038" y="5776913"/>
            <a:ext cx="349250" cy="679450"/>
            <a:chOff x="7923189" y="2486664"/>
            <a:chExt cx="360377" cy="884585"/>
          </a:xfrm>
        </p:grpSpPr>
        <p:pic>
          <p:nvPicPr>
            <p:cNvPr id="212270"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71" name="Group 950"/>
            <p:cNvGrpSpPr/>
            <p:nvPr/>
          </p:nvGrpSpPr>
          <p:grpSpPr bwMode="auto">
            <a:xfrm>
              <a:off x="7923189" y="2890236"/>
              <a:ext cx="227012" cy="481013"/>
              <a:chOff x="4140" y="429"/>
              <a:chExt cx="1425" cy="2396"/>
            </a:xfrm>
          </p:grpSpPr>
          <p:sp>
            <p:nvSpPr>
              <p:cNvPr id="212272"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73"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74"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75"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76"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277" name="Group 956"/>
              <p:cNvGrpSpPr/>
              <p:nvPr/>
            </p:nvGrpSpPr>
            <p:grpSpPr bwMode="auto">
              <a:xfrm>
                <a:off x="4749" y="668"/>
                <a:ext cx="581" cy="145"/>
                <a:chOff x="614" y="2568"/>
                <a:chExt cx="725" cy="139"/>
              </a:xfrm>
            </p:grpSpPr>
            <p:sp>
              <p:nvSpPr>
                <p:cNvPr id="212302"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303"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278"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279" name="Group 960"/>
              <p:cNvGrpSpPr/>
              <p:nvPr/>
            </p:nvGrpSpPr>
            <p:grpSpPr bwMode="auto">
              <a:xfrm>
                <a:off x="4747" y="994"/>
                <a:ext cx="581" cy="134"/>
                <a:chOff x="614" y="2568"/>
                <a:chExt cx="725" cy="139"/>
              </a:xfrm>
            </p:grpSpPr>
            <p:sp>
              <p:nvSpPr>
                <p:cNvPr id="212300"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301"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280"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81"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282" name="Group 965"/>
              <p:cNvGrpSpPr/>
              <p:nvPr/>
            </p:nvGrpSpPr>
            <p:grpSpPr bwMode="auto">
              <a:xfrm>
                <a:off x="4735" y="1627"/>
                <a:ext cx="582" cy="151"/>
                <a:chOff x="614" y="2568"/>
                <a:chExt cx="725" cy="139"/>
              </a:xfrm>
            </p:grpSpPr>
            <p:sp>
              <p:nvSpPr>
                <p:cNvPr id="212298"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99"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283"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284" name="Group 969"/>
              <p:cNvGrpSpPr/>
              <p:nvPr/>
            </p:nvGrpSpPr>
            <p:grpSpPr bwMode="auto">
              <a:xfrm>
                <a:off x="4739" y="1327"/>
                <a:ext cx="582" cy="139"/>
                <a:chOff x="614" y="2568"/>
                <a:chExt cx="725" cy="139"/>
              </a:xfrm>
            </p:grpSpPr>
            <p:sp>
              <p:nvSpPr>
                <p:cNvPr id="212296"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97"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285"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86"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87"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88"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89"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90"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91"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92"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93"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fontAlgn="base">
                  <a:spcBef>
                    <a:spcPct val="0"/>
                  </a:spcBef>
                  <a:spcAft>
                    <a:spcPct val="0"/>
                  </a:spcAft>
                </a:pPr>
                <a:endParaRPr lang="en-US" altLang="en-US" sz="1800">
                  <a:solidFill>
                    <a:srgbClr val="FF0000"/>
                  </a:solidFill>
                  <a:cs typeface="Arial" panose="020B0604020202020204"/>
                </a:endParaRPr>
              </a:p>
            </p:txBody>
          </p:sp>
          <p:sp>
            <p:nvSpPr>
              <p:cNvPr id="212294"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95"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grpSp>
      <p:grpSp>
        <p:nvGrpSpPr>
          <p:cNvPr id="828" name="Group 827"/>
          <p:cNvGrpSpPr/>
          <p:nvPr/>
        </p:nvGrpSpPr>
        <p:grpSpPr bwMode="auto">
          <a:xfrm>
            <a:off x="5911851" y="3556000"/>
            <a:ext cx="347663" cy="679450"/>
            <a:chOff x="7923189" y="2486664"/>
            <a:chExt cx="360377" cy="884585"/>
          </a:xfrm>
        </p:grpSpPr>
        <p:pic>
          <p:nvPicPr>
            <p:cNvPr id="212236"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37" name="Group 950"/>
            <p:cNvGrpSpPr/>
            <p:nvPr/>
          </p:nvGrpSpPr>
          <p:grpSpPr bwMode="auto">
            <a:xfrm>
              <a:off x="7923189" y="2890236"/>
              <a:ext cx="227012" cy="481013"/>
              <a:chOff x="4140" y="429"/>
              <a:chExt cx="1425" cy="2396"/>
            </a:xfrm>
          </p:grpSpPr>
          <p:sp>
            <p:nvSpPr>
              <p:cNvPr id="212238"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39"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40"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41"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42"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243" name="Group 956"/>
              <p:cNvGrpSpPr/>
              <p:nvPr/>
            </p:nvGrpSpPr>
            <p:grpSpPr bwMode="auto">
              <a:xfrm>
                <a:off x="4749" y="668"/>
                <a:ext cx="581" cy="145"/>
                <a:chOff x="614" y="2568"/>
                <a:chExt cx="725" cy="139"/>
              </a:xfrm>
            </p:grpSpPr>
            <p:sp>
              <p:nvSpPr>
                <p:cNvPr id="212268"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69"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244"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245" name="Group 960"/>
              <p:cNvGrpSpPr/>
              <p:nvPr/>
            </p:nvGrpSpPr>
            <p:grpSpPr bwMode="auto">
              <a:xfrm>
                <a:off x="4747" y="994"/>
                <a:ext cx="581" cy="134"/>
                <a:chOff x="614" y="2568"/>
                <a:chExt cx="725" cy="139"/>
              </a:xfrm>
            </p:grpSpPr>
            <p:sp>
              <p:nvSpPr>
                <p:cNvPr id="212266"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67"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246"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47"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248" name="Group 965"/>
              <p:cNvGrpSpPr/>
              <p:nvPr/>
            </p:nvGrpSpPr>
            <p:grpSpPr bwMode="auto">
              <a:xfrm>
                <a:off x="4735" y="1627"/>
                <a:ext cx="582" cy="151"/>
                <a:chOff x="614" y="2568"/>
                <a:chExt cx="725" cy="139"/>
              </a:xfrm>
            </p:grpSpPr>
            <p:sp>
              <p:nvSpPr>
                <p:cNvPr id="212264"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65"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249"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250" name="Group 969"/>
              <p:cNvGrpSpPr/>
              <p:nvPr/>
            </p:nvGrpSpPr>
            <p:grpSpPr bwMode="auto">
              <a:xfrm>
                <a:off x="4739" y="1327"/>
                <a:ext cx="582" cy="139"/>
                <a:chOff x="614" y="2568"/>
                <a:chExt cx="725" cy="139"/>
              </a:xfrm>
            </p:grpSpPr>
            <p:sp>
              <p:nvSpPr>
                <p:cNvPr id="212262"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63"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251"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52"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53"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54"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55"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56"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57"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58"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59"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fontAlgn="base">
                  <a:spcBef>
                    <a:spcPct val="0"/>
                  </a:spcBef>
                  <a:spcAft>
                    <a:spcPct val="0"/>
                  </a:spcAft>
                </a:pPr>
                <a:endParaRPr lang="en-US" altLang="en-US" sz="1800">
                  <a:solidFill>
                    <a:srgbClr val="FF0000"/>
                  </a:solidFill>
                  <a:cs typeface="Arial" panose="020B0604020202020204"/>
                </a:endParaRPr>
              </a:p>
            </p:txBody>
          </p:sp>
          <p:sp>
            <p:nvSpPr>
              <p:cNvPr id="212260"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61"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grpSp>
      <p:grpSp>
        <p:nvGrpSpPr>
          <p:cNvPr id="863" name="Group 862"/>
          <p:cNvGrpSpPr/>
          <p:nvPr/>
        </p:nvGrpSpPr>
        <p:grpSpPr bwMode="auto">
          <a:xfrm>
            <a:off x="6608763" y="5611814"/>
            <a:ext cx="347662" cy="681037"/>
            <a:chOff x="7923189" y="2486664"/>
            <a:chExt cx="360377" cy="884585"/>
          </a:xfrm>
        </p:grpSpPr>
        <p:pic>
          <p:nvPicPr>
            <p:cNvPr id="212202"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03" name="Group 950"/>
            <p:cNvGrpSpPr/>
            <p:nvPr/>
          </p:nvGrpSpPr>
          <p:grpSpPr bwMode="auto">
            <a:xfrm>
              <a:off x="7923189" y="2890236"/>
              <a:ext cx="227012" cy="481013"/>
              <a:chOff x="4140" y="429"/>
              <a:chExt cx="1425" cy="2396"/>
            </a:xfrm>
          </p:grpSpPr>
          <p:sp>
            <p:nvSpPr>
              <p:cNvPr id="212204"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05"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06"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07"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08"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209" name="Group 956"/>
              <p:cNvGrpSpPr/>
              <p:nvPr/>
            </p:nvGrpSpPr>
            <p:grpSpPr bwMode="auto">
              <a:xfrm>
                <a:off x="4749" y="668"/>
                <a:ext cx="581" cy="145"/>
                <a:chOff x="614" y="2568"/>
                <a:chExt cx="725" cy="139"/>
              </a:xfrm>
            </p:grpSpPr>
            <p:sp>
              <p:nvSpPr>
                <p:cNvPr id="212234"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35"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210"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211" name="Group 960"/>
              <p:cNvGrpSpPr/>
              <p:nvPr/>
            </p:nvGrpSpPr>
            <p:grpSpPr bwMode="auto">
              <a:xfrm>
                <a:off x="4747" y="994"/>
                <a:ext cx="581" cy="134"/>
                <a:chOff x="614" y="2568"/>
                <a:chExt cx="725" cy="139"/>
              </a:xfrm>
            </p:grpSpPr>
            <p:sp>
              <p:nvSpPr>
                <p:cNvPr id="212232"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33"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212"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13"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214" name="Group 965"/>
              <p:cNvGrpSpPr/>
              <p:nvPr/>
            </p:nvGrpSpPr>
            <p:grpSpPr bwMode="auto">
              <a:xfrm>
                <a:off x="4735" y="1627"/>
                <a:ext cx="582" cy="151"/>
                <a:chOff x="614" y="2568"/>
                <a:chExt cx="725" cy="139"/>
              </a:xfrm>
            </p:grpSpPr>
            <p:sp>
              <p:nvSpPr>
                <p:cNvPr id="212230"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31"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215"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216" name="Group 969"/>
              <p:cNvGrpSpPr/>
              <p:nvPr/>
            </p:nvGrpSpPr>
            <p:grpSpPr bwMode="auto">
              <a:xfrm>
                <a:off x="4739" y="1327"/>
                <a:ext cx="582" cy="139"/>
                <a:chOff x="614" y="2568"/>
                <a:chExt cx="725" cy="139"/>
              </a:xfrm>
            </p:grpSpPr>
            <p:sp>
              <p:nvSpPr>
                <p:cNvPr id="212228"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29"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217"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18"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19"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20"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21"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222"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23"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24"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25"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fontAlgn="base">
                  <a:spcBef>
                    <a:spcPct val="0"/>
                  </a:spcBef>
                  <a:spcAft>
                    <a:spcPct val="0"/>
                  </a:spcAft>
                </a:pPr>
                <a:endParaRPr lang="en-US" altLang="en-US" sz="1800">
                  <a:solidFill>
                    <a:srgbClr val="FF0000"/>
                  </a:solidFill>
                  <a:cs typeface="Arial" panose="020B0604020202020204"/>
                </a:endParaRPr>
              </a:p>
            </p:txBody>
          </p:sp>
          <p:sp>
            <p:nvSpPr>
              <p:cNvPr id="212226"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27"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grpSp>
      <p:grpSp>
        <p:nvGrpSpPr>
          <p:cNvPr id="898" name="Group 897"/>
          <p:cNvGrpSpPr/>
          <p:nvPr/>
        </p:nvGrpSpPr>
        <p:grpSpPr bwMode="auto">
          <a:xfrm>
            <a:off x="7591426" y="3829050"/>
            <a:ext cx="347663" cy="681038"/>
            <a:chOff x="7923189" y="2486664"/>
            <a:chExt cx="360377" cy="884585"/>
          </a:xfrm>
        </p:grpSpPr>
        <p:pic>
          <p:nvPicPr>
            <p:cNvPr id="212168"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69" name="Group 950"/>
            <p:cNvGrpSpPr/>
            <p:nvPr/>
          </p:nvGrpSpPr>
          <p:grpSpPr bwMode="auto">
            <a:xfrm>
              <a:off x="7923189" y="2890236"/>
              <a:ext cx="227012" cy="481013"/>
              <a:chOff x="4140" y="429"/>
              <a:chExt cx="1425" cy="2396"/>
            </a:xfrm>
          </p:grpSpPr>
          <p:sp>
            <p:nvSpPr>
              <p:cNvPr id="212170"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71"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72"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73"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74"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175" name="Group 956"/>
              <p:cNvGrpSpPr/>
              <p:nvPr/>
            </p:nvGrpSpPr>
            <p:grpSpPr bwMode="auto">
              <a:xfrm>
                <a:off x="4749" y="668"/>
                <a:ext cx="581" cy="145"/>
                <a:chOff x="614" y="2568"/>
                <a:chExt cx="725" cy="139"/>
              </a:xfrm>
            </p:grpSpPr>
            <p:sp>
              <p:nvSpPr>
                <p:cNvPr id="212200"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201"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176"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177" name="Group 960"/>
              <p:cNvGrpSpPr/>
              <p:nvPr/>
            </p:nvGrpSpPr>
            <p:grpSpPr bwMode="auto">
              <a:xfrm>
                <a:off x="4747" y="994"/>
                <a:ext cx="581" cy="134"/>
                <a:chOff x="614" y="2568"/>
                <a:chExt cx="725" cy="139"/>
              </a:xfrm>
            </p:grpSpPr>
            <p:sp>
              <p:nvSpPr>
                <p:cNvPr id="212198"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99"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178"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79"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180" name="Group 965"/>
              <p:cNvGrpSpPr/>
              <p:nvPr/>
            </p:nvGrpSpPr>
            <p:grpSpPr bwMode="auto">
              <a:xfrm>
                <a:off x="4735" y="1627"/>
                <a:ext cx="582" cy="151"/>
                <a:chOff x="614" y="2568"/>
                <a:chExt cx="725" cy="139"/>
              </a:xfrm>
            </p:grpSpPr>
            <p:sp>
              <p:nvSpPr>
                <p:cNvPr id="212196"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97"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181"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182" name="Group 969"/>
              <p:cNvGrpSpPr/>
              <p:nvPr/>
            </p:nvGrpSpPr>
            <p:grpSpPr bwMode="auto">
              <a:xfrm>
                <a:off x="4739" y="1327"/>
                <a:ext cx="582" cy="139"/>
                <a:chOff x="614" y="2568"/>
                <a:chExt cx="725" cy="139"/>
              </a:xfrm>
            </p:grpSpPr>
            <p:sp>
              <p:nvSpPr>
                <p:cNvPr id="212194"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95"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183"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84"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85"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86"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87"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88"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89"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90"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91"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fontAlgn="base">
                  <a:spcBef>
                    <a:spcPct val="0"/>
                  </a:spcBef>
                  <a:spcAft>
                    <a:spcPct val="0"/>
                  </a:spcAft>
                </a:pPr>
                <a:endParaRPr lang="en-US" altLang="en-US" sz="1800">
                  <a:solidFill>
                    <a:srgbClr val="FF0000"/>
                  </a:solidFill>
                  <a:cs typeface="Arial" panose="020B0604020202020204"/>
                </a:endParaRPr>
              </a:p>
            </p:txBody>
          </p:sp>
          <p:sp>
            <p:nvSpPr>
              <p:cNvPr id="212192"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93"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grpSp>
      <p:grpSp>
        <p:nvGrpSpPr>
          <p:cNvPr id="933" name="Group 932"/>
          <p:cNvGrpSpPr/>
          <p:nvPr/>
        </p:nvGrpSpPr>
        <p:grpSpPr bwMode="auto">
          <a:xfrm>
            <a:off x="3646488" y="5629275"/>
            <a:ext cx="347662" cy="681038"/>
            <a:chOff x="7923189" y="2486664"/>
            <a:chExt cx="360377" cy="884585"/>
          </a:xfrm>
        </p:grpSpPr>
        <p:pic>
          <p:nvPicPr>
            <p:cNvPr id="212134"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35" name="Group 950"/>
            <p:cNvGrpSpPr/>
            <p:nvPr/>
          </p:nvGrpSpPr>
          <p:grpSpPr bwMode="auto">
            <a:xfrm>
              <a:off x="7923189" y="2890236"/>
              <a:ext cx="227012" cy="481013"/>
              <a:chOff x="4140" y="429"/>
              <a:chExt cx="1425" cy="2396"/>
            </a:xfrm>
          </p:grpSpPr>
          <p:sp>
            <p:nvSpPr>
              <p:cNvPr id="212136"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37"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38"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39"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40"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141" name="Group 956"/>
              <p:cNvGrpSpPr/>
              <p:nvPr/>
            </p:nvGrpSpPr>
            <p:grpSpPr bwMode="auto">
              <a:xfrm>
                <a:off x="4749" y="668"/>
                <a:ext cx="581" cy="145"/>
                <a:chOff x="614" y="2568"/>
                <a:chExt cx="725" cy="139"/>
              </a:xfrm>
            </p:grpSpPr>
            <p:sp>
              <p:nvSpPr>
                <p:cNvPr id="212166"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67"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142"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143" name="Group 960"/>
              <p:cNvGrpSpPr/>
              <p:nvPr/>
            </p:nvGrpSpPr>
            <p:grpSpPr bwMode="auto">
              <a:xfrm>
                <a:off x="4747" y="994"/>
                <a:ext cx="581" cy="134"/>
                <a:chOff x="614" y="2568"/>
                <a:chExt cx="725" cy="139"/>
              </a:xfrm>
            </p:grpSpPr>
            <p:sp>
              <p:nvSpPr>
                <p:cNvPr id="212164"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65"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144"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45"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146" name="Group 965"/>
              <p:cNvGrpSpPr/>
              <p:nvPr/>
            </p:nvGrpSpPr>
            <p:grpSpPr bwMode="auto">
              <a:xfrm>
                <a:off x="4735" y="1627"/>
                <a:ext cx="582" cy="151"/>
                <a:chOff x="614" y="2568"/>
                <a:chExt cx="725" cy="139"/>
              </a:xfrm>
            </p:grpSpPr>
            <p:sp>
              <p:nvSpPr>
                <p:cNvPr id="212162"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63"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147"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148" name="Group 969"/>
              <p:cNvGrpSpPr/>
              <p:nvPr/>
            </p:nvGrpSpPr>
            <p:grpSpPr bwMode="auto">
              <a:xfrm>
                <a:off x="4739" y="1327"/>
                <a:ext cx="582" cy="139"/>
                <a:chOff x="614" y="2568"/>
                <a:chExt cx="725" cy="139"/>
              </a:xfrm>
            </p:grpSpPr>
            <p:sp>
              <p:nvSpPr>
                <p:cNvPr id="212160"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61"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149"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50"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51"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52"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53"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54"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55"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56"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57"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fontAlgn="base">
                  <a:spcBef>
                    <a:spcPct val="0"/>
                  </a:spcBef>
                  <a:spcAft>
                    <a:spcPct val="0"/>
                  </a:spcAft>
                </a:pPr>
                <a:endParaRPr lang="en-US" altLang="en-US" sz="1800">
                  <a:solidFill>
                    <a:srgbClr val="FF0000"/>
                  </a:solidFill>
                  <a:cs typeface="Arial" panose="020B0604020202020204"/>
                </a:endParaRPr>
              </a:p>
            </p:txBody>
          </p:sp>
          <p:sp>
            <p:nvSpPr>
              <p:cNvPr id="212158"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159"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grpSp>
      <p:grpSp>
        <p:nvGrpSpPr>
          <p:cNvPr id="211981" name="Group 15"/>
          <p:cNvGrpSpPr/>
          <p:nvPr/>
        </p:nvGrpSpPr>
        <p:grpSpPr bwMode="auto">
          <a:xfrm>
            <a:off x="9231313" y="4368800"/>
            <a:ext cx="990600" cy="731838"/>
            <a:chOff x="7707615" y="4368892"/>
            <a:chExt cx="990551" cy="731635"/>
          </a:xfrm>
        </p:grpSpPr>
        <p:pic>
          <p:nvPicPr>
            <p:cNvPr id="212034" name="Picture 1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2035" name="Group 249"/>
            <p:cNvGrpSpPr/>
            <p:nvPr/>
          </p:nvGrpSpPr>
          <p:grpSpPr bwMode="auto">
            <a:xfrm flipH="1">
              <a:off x="7707615" y="4368892"/>
              <a:ext cx="225953" cy="395900"/>
              <a:chOff x="4140" y="429"/>
              <a:chExt cx="1425" cy="2396"/>
            </a:xfrm>
          </p:grpSpPr>
          <p:sp>
            <p:nvSpPr>
              <p:cNvPr id="212102" name="Freeform 250"/>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971" name="Rectangle 251"/>
              <p:cNvSpPr>
                <a:spLocks noChangeArrowheads="1"/>
              </p:cNvSpPr>
              <p:nvPr/>
            </p:nvSpPr>
            <p:spPr bwMode="auto">
              <a:xfrm>
                <a:off x="4203" y="429"/>
                <a:ext cx="1051" cy="2276"/>
              </a:xfrm>
              <a:prstGeom prst="rect">
                <a:avLst/>
              </a:prstGeom>
              <a:gradFill rotWithShape="1">
                <a:gsLst>
                  <a:gs pos="0">
                    <a:srgbClr val="292929"/>
                  </a:gs>
                  <a:gs pos="100000">
                    <a:srgbClr val="808080"/>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04" name="Freeform 252"/>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05" name="Freeform 253"/>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974" name="Rectangle 254"/>
              <p:cNvSpPr>
                <a:spLocks noChangeArrowheads="1"/>
              </p:cNvSpPr>
              <p:nvPr/>
            </p:nvSpPr>
            <p:spPr bwMode="auto">
              <a:xfrm>
                <a:off x="4213" y="688"/>
                <a:ext cx="601" cy="48"/>
              </a:xfrm>
              <a:prstGeom prst="rect">
                <a:avLst/>
              </a:prstGeom>
              <a:solidFill>
                <a:schemeClr val="tx1"/>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107" name="Group 255"/>
              <p:cNvGrpSpPr/>
              <p:nvPr/>
            </p:nvGrpSpPr>
            <p:grpSpPr bwMode="auto">
              <a:xfrm>
                <a:off x="4749" y="668"/>
                <a:ext cx="581" cy="145"/>
                <a:chOff x="614" y="2568"/>
                <a:chExt cx="725" cy="139"/>
              </a:xfrm>
            </p:grpSpPr>
            <p:sp>
              <p:nvSpPr>
                <p:cNvPr id="1000" name="AutoShape 256"/>
                <p:cNvSpPr>
                  <a:spLocks noChangeArrowheads="1"/>
                </p:cNvSpPr>
                <p:nvPr/>
              </p:nvSpPr>
              <p:spPr bwMode="auto">
                <a:xfrm>
                  <a:off x="620" y="2569"/>
                  <a:ext cx="725" cy="138"/>
                </a:xfrm>
                <a:prstGeom prst="roundRect">
                  <a:avLst>
                    <a:gd name="adj" fmla="val 50000"/>
                  </a:avLst>
                </a:prstGeom>
                <a:solidFill>
                  <a:schemeClr val="tx1"/>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01" name="AutoShape 257"/>
                <p:cNvSpPr>
                  <a:spLocks noChangeArrowheads="1"/>
                </p:cNvSpPr>
                <p:nvPr/>
              </p:nvSpPr>
              <p:spPr bwMode="auto">
                <a:xfrm>
                  <a:off x="645" y="2587"/>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976" name="Rectangle 258"/>
              <p:cNvSpPr>
                <a:spLocks noChangeArrowheads="1"/>
              </p:cNvSpPr>
              <p:nvPr/>
            </p:nvSpPr>
            <p:spPr bwMode="auto">
              <a:xfrm>
                <a:off x="4223" y="1015"/>
                <a:ext cx="601" cy="48"/>
              </a:xfrm>
              <a:prstGeom prst="rect">
                <a:avLst/>
              </a:prstGeom>
              <a:solidFill>
                <a:schemeClr val="tx1"/>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109" name="Group 259"/>
              <p:cNvGrpSpPr/>
              <p:nvPr/>
            </p:nvGrpSpPr>
            <p:grpSpPr bwMode="auto">
              <a:xfrm>
                <a:off x="4747" y="994"/>
                <a:ext cx="581" cy="134"/>
                <a:chOff x="614" y="2568"/>
                <a:chExt cx="725" cy="139"/>
              </a:xfrm>
            </p:grpSpPr>
            <p:sp>
              <p:nvSpPr>
                <p:cNvPr id="998" name="AutoShape 260"/>
                <p:cNvSpPr>
                  <a:spLocks noChangeArrowheads="1"/>
                </p:cNvSpPr>
                <p:nvPr/>
              </p:nvSpPr>
              <p:spPr bwMode="auto">
                <a:xfrm>
                  <a:off x="610" y="2570"/>
                  <a:ext cx="725" cy="139"/>
                </a:xfrm>
                <a:prstGeom prst="roundRect">
                  <a:avLst>
                    <a:gd name="adj" fmla="val 50000"/>
                  </a:avLst>
                </a:prstGeom>
                <a:solidFill>
                  <a:schemeClr val="tx1"/>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999" name="AutoShape 261"/>
                <p:cNvSpPr>
                  <a:spLocks noChangeArrowheads="1"/>
                </p:cNvSpPr>
                <p:nvPr/>
              </p:nvSpPr>
              <p:spPr bwMode="auto">
                <a:xfrm>
                  <a:off x="623" y="2590"/>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978" name="Rectangle 262"/>
              <p:cNvSpPr>
                <a:spLocks noChangeArrowheads="1"/>
              </p:cNvSpPr>
              <p:nvPr/>
            </p:nvSpPr>
            <p:spPr bwMode="auto">
              <a:xfrm>
                <a:off x="4223" y="1361"/>
                <a:ext cx="591" cy="38"/>
              </a:xfrm>
              <a:prstGeom prst="rect">
                <a:avLst/>
              </a:prstGeom>
              <a:solidFill>
                <a:schemeClr val="tx1"/>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979" name="Rectangle 263"/>
              <p:cNvSpPr>
                <a:spLocks noChangeArrowheads="1"/>
              </p:cNvSpPr>
              <p:nvPr/>
            </p:nvSpPr>
            <p:spPr bwMode="auto">
              <a:xfrm>
                <a:off x="4234" y="1649"/>
                <a:ext cx="591" cy="48"/>
              </a:xfrm>
              <a:prstGeom prst="rect">
                <a:avLst/>
              </a:prstGeom>
              <a:solidFill>
                <a:schemeClr val="tx1"/>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112" name="Group 264"/>
              <p:cNvGrpSpPr/>
              <p:nvPr/>
            </p:nvGrpSpPr>
            <p:grpSpPr bwMode="auto">
              <a:xfrm>
                <a:off x="4735" y="1627"/>
                <a:ext cx="582" cy="151"/>
                <a:chOff x="614" y="2568"/>
                <a:chExt cx="725" cy="139"/>
              </a:xfrm>
            </p:grpSpPr>
            <p:sp>
              <p:nvSpPr>
                <p:cNvPr id="996" name="AutoShape 265"/>
                <p:cNvSpPr>
                  <a:spLocks noChangeArrowheads="1"/>
                </p:cNvSpPr>
                <p:nvPr/>
              </p:nvSpPr>
              <p:spPr bwMode="auto">
                <a:xfrm>
                  <a:off x="613" y="2570"/>
                  <a:ext cx="711" cy="133"/>
                </a:xfrm>
                <a:prstGeom prst="roundRect">
                  <a:avLst>
                    <a:gd name="adj" fmla="val 50000"/>
                  </a:avLst>
                </a:prstGeom>
                <a:solidFill>
                  <a:schemeClr val="tx1"/>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997" name="AutoShape 266"/>
                <p:cNvSpPr>
                  <a:spLocks noChangeArrowheads="1"/>
                </p:cNvSpPr>
                <p:nvPr/>
              </p:nvSpPr>
              <p:spPr bwMode="auto">
                <a:xfrm>
                  <a:off x="625" y="2588"/>
                  <a:ext cx="673"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113" name="Freeform 267"/>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114" name="Group 268"/>
              <p:cNvGrpSpPr/>
              <p:nvPr/>
            </p:nvGrpSpPr>
            <p:grpSpPr bwMode="auto">
              <a:xfrm>
                <a:off x="4739" y="1327"/>
                <a:ext cx="582" cy="139"/>
                <a:chOff x="614" y="2568"/>
                <a:chExt cx="725" cy="139"/>
              </a:xfrm>
            </p:grpSpPr>
            <p:sp>
              <p:nvSpPr>
                <p:cNvPr id="994" name="AutoShape 269"/>
                <p:cNvSpPr>
                  <a:spLocks noChangeArrowheads="1"/>
                </p:cNvSpPr>
                <p:nvPr/>
              </p:nvSpPr>
              <p:spPr bwMode="auto">
                <a:xfrm>
                  <a:off x="620" y="2544"/>
                  <a:ext cx="723" cy="163"/>
                </a:xfrm>
                <a:prstGeom prst="roundRect">
                  <a:avLst>
                    <a:gd name="adj" fmla="val 50000"/>
                  </a:avLst>
                </a:prstGeom>
                <a:solidFill>
                  <a:schemeClr val="tx1"/>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995" name="AutoShape 270"/>
                <p:cNvSpPr>
                  <a:spLocks noChangeArrowheads="1"/>
                </p:cNvSpPr>
                <p:nvPr/>
              </p:nvSpPr>
              <p:spPr bwMode="auto">
                <a:xfrm>
                  <a:off x="645" y="2582"/>
                  <a:ext cx="673"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983" name="Rectangle 271"/>
              <p:cNvSpPr>
                <a:spLocks noChangeArrowheads="1"/>
              </p:cNvSpPr>
              <p:nvPr/>
            </p:nvSpPr>
            <p:spPr bwMode="auto">
              <a:xfrm>
                <a:off x="5255" y="429"/>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16" name="Freeform 272"/>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17" name="Freeform 273"/>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986" name="Oval 274"/>
              <p:cNvSpPr>
                <a:spLocks noChangeArrowheads="1"/>
              </p:cNvSpPr>
              <p:nvPr/>
            </p:nvSpPr>
            <p:spPr bwMode="auto">
              <a:xfrm>
                <a:off x="5515" y="2609"/>
                <a:ext cx="50" cy="96"/>
              </a:xfrm>
              <a:prstGeom prst="ellipse">
                <a:avLst/>
              </a:prstGeom>
              <a:solidFill>
                <a:srgbClr val="333333"/>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119" name="Freeform 275"/>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988" name="AutoShape 276"/>
              <p:cNvSpPr>
                <a:spLocks noChangeArrowheads="1"/>
              </p:cNvSpPr>
              <p:nvPr/>
            </p:nvSpPr>
            <p:spPr bwMode="auto">
              <a:xfrm>
                <a:off x="4143" y="2677"/>
                <a:ext cx="1201" cy="144"/>
              </a:xfrm>
              <a:prstGeom prst="roundRect">
                <a:avLst>
                  <a:gd name="adj" fmla="val 50000"/>
                </a:avLst>
              </a:prstGeom>
              <a:solidFill>
                <a:srgbClr val="DDDDDD"/>
              </a:solidFill>
              <a:ln w="9525">
                <a:solidFill>
                  <a:schemeClr val="tx1"/>
                </a:solidFill>
                <a:round/>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989" name="AutoShape 277"/>
              <p:cNvSpPr>
                <a:spLocks noChangeArrowheads="1"/>
              </p:cNvSpPr>
              <p:nvPr/>
            </p:nvSpPr>
            <p:spPr bwMode="auto">
              <a:xfrm>
                <a:off x="4203"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990" name="Oval 278"/>
              <p:cNvSpPr>
                <a:spLocks noChangeArrowheads="1"/>
              </p:cNvSpPr>
              <p:nvPr/>
            </p:nvSpPr>
            <p:spPr bwMode="auto">
              <a:xfrm>
                <a:off x="4314" y="2379"/>
                <a:ext cx="160" cy="144"/>
              </a:xfrm>
              <a:prstGeom prst="ellipse">
                <a:avLst/>
              </a:prstGeom>
              <a:solidFill>
                <a:srgbClr val="33CC33"/>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991" name="Oval 279"/>
              <p:cNvSpPr>
                <a:spLocks noChangeArrowheads="1"/>
              </p:cNvSpPr>
              <p:nvPr/>
            </p:nvSpPr>
            <p:spPr bwMode="auto">
              <a:xfrm>
                <a:off x="4484" y="2379"/>
                <a:ext cx="160" cy="144"/>
              </a:xfrm>
              <a:prstGeom prst="ellipse">
                <a:avLst/>
              </a:prstGeom>
              <a:solidFill>
                <a:srgbClr val="FF0000"/>
              </a:solidFill>
              <a:ln>
                <a:noFill/>
              </a:ln>
              <a:effectLst/>
            </p:spPr>
            <p:txBody>
              <a:bodyPr wrap="none" anchor="ctr"/>
              <a:lstStyle/>
              <a:p>
                <a:pPr algn="ctr" eaLnBrk="0" fontAlgn="base" hangingPunct="0">
                  <a:spcBef>
                    <a:spcPct val="0"/>
                  </a:spcBef>
                  <a:spcAft>
                    <a:spcPct val="0"/>
                  </a:spcAft>
                  <a:defRPr/>
                </a:pPr>
                <a:endParaRPr lang="en-US" sz="2400" dirty="0">
                  <a:solidFill>
                    <a:srgbClr val="FF0000"/>
                  </a:solidFill>
                  <a:latin typeface="Arial" panose="020B0604020202020204" pitchFamily="34" charset="0"/>
                  <a:ea typeface="MS PGothic" panose="020B0600070205080204" pitchFamily="34" charset="-128"/>
                  <a:cs typeface="Arial" panose="020B0604020202020204"/>
                </a:endParaRPr>
              </a:p>
            </p:txBody>
          </p:sp>
          <p:sp>
            <p:nvSpPr>
              <p:cNvPr id="992" name="Oval 280"/>
              <p:cNvSpPr>
                <a:spLocks noChangeArrowheads="1"/>
              </p:cNvSpPr>
              <p:nvPr/>
            </p:nvSpPr>
            <p:spPr bwMode="auto">
              <a:xfrm>
                <a:off x="4664" y="2379"/>
                <a:ext cx="160" cy="134"/>
              </a:xfrm>
              <a:prstGeom prst="ellipse">
                <a:avLst/>
              </a:prstGeom>
              <a:solidFill>
                <a:srgbClr val="33CC33"/>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993" name="Rectangle 281"/>
              <p:cNvSpPr>
                <a:spLocks noChangeArrowheads="1"/>
              </p:cNvSpPr>
              <p:nvPr/>
            </p:nvSpPr>
            <p:spPr bwMode="auto">
              <a:xfrm>
                <a:off x="5064" y="1831"/>
                <a:ext cx="80" cy="759"/>
              </a:xfrm>
              <a:prstGeom prst="rect">
                <a:avLst/>
              </a:prstGeom>
              <a:solidFill>
                <a:srgbClr val="292929"/>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036" name="Group 249"/>
            <p:cNvGrpSpPr/>
            <p:nvPr/>
          </p:nvGrpSpPr>
          <p:grpSpPr bwMode="auto">
            <a:xfrm flipH="1">
              <a:off x="7939866" y="4369199"/>
              <a:ext cx="225953" cy="395900"/>
              <a:chOff x="4140" y="429"/>
              <a:chExt cx="1425" cy="2396"/>
            </a:xfrm>
          </p:grpSpPr>
          <p:sp>
            <p:nvSpPr>
              <p:cNvPr id="212070" name="Freeform 250"/>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04" name="Rectangle 251"/>
              <p:cNvSpPr>
                <a:spLocks noChangeArrowheads="1"/>
              </p:cNvSpPr>
              <p:nvPr/>
            </p:nvSpPr>
            <p:spPr bwMode="auto">
              <a:xfrm>
                <a:off x="4207" y="427"/>
                <a:ext cx="1051" cy="2286"/>
              </a:xfrm>
              <a:prstGeom prst="rect">
                <a:avLst/>
              </a:prstGeom>
              <a:gradFill rotWithShape="1">
                <a:gsLst>
                  <a:gs pos="0">
                    <a:srgbClr val="292929"/>
                  </a:gs>
                  <a:gs pos="100000">
                    <a:srgbClr val="808080"/>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72" name="Freeform 252"/>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73" name="Freeform 253"/>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07" name="Rectangle 254"/>
              <p:cNvSpPr>
                <a:spLocks noChangeArrowheads="1"/>
              </p:cNvSpPr>
              <p:nvPr/>
            </p:nvSpPr>
            <p:spPr bwMode="auto">
              <a:xfrm>
                <a:off x="4207" y="696"/>
                <a:ext cx="601" cy="38"/>
              </a:xfrm>
              <a:prstGeom prst="rect">
                <a:avLst/>
              </a:prstGeom>
              <a:solidFill>
                <a:schemeClr val="tx1"/>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075" name="Group 255"/>
              <p:cNvGrpSpPr/>
              <p:nvPr/>
            </p:nvGrpSpPr>
            <p:grpSpPr bwMode="auto">
              <a:xfrm>
                <a:off x="4749" y="668"/>
                <a:ext cx="581" cy="145"/>
                <a:chOff x="614" y="2568"/>
                <a:chExt cx="725" cy="139"/>
              </a:xfrm>
            </p:grpSpPr>
            <p:sp>
              <p:nvSpPr>
                <p:cNvPr id="1033" name="AutoShape 256"/>
                <p:cNvSpPr>
                  <a:spLocks noChangeArrowheads="1"/>
                </p:cNvSpPr>
                <p:nvPr/>
              </p:nvSpPr>
              <p:spPr bwMode="auto">
                <a:xfrm>
                  <a:off x="612" y="2567"/>
                  <a:ext cx="725" cy="138"/>
                </a:xfrm>
                <a:prstGeom prst="roundRect">
                  <a:avLst>
                    <a:gd name="adj" fmla="val 50000"/>
                  </a:avLst>
                </a:prstGeom>
                <a:solidFill>
                  <a:schemeClr val="tx1"/>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34" name="AutoShape 257"/>
                <p:cNvSpPr>
                  <a:spLocks noChangeArrowheads="1"/>
                </p:cNvSpPr>
                <p:nvPr/>
              </p:nvSpPr>
              <p:spPr bwMode="auto">
                <a:xfrm>
                  <a:off x="624"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1009" name="Rectangle 258"/>
              <p:cNvSpPr>
                <a:spLocks noChangeArrowheads="1"/>
              </p:cNvSpPr>
              <p:nvPr/>
            </p:nvSpPr>
            <p:spPr bwMode="auto">
              <a:xfrm>
                <a:off x="4227" y="1023"/>
                <a:ext cx="591" cy="38"/>
              </a:xfrm>
              <a:prstGeom prst="rect">
                <a:avLst/>
              </a:prstGeom>
              <a:solidFill>
                <a:schemeClr val="tx1"/>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077" name="Group 259"/>
              <p:cNvGrpSpPr/>
              <p:nvPr/>
            </p:nvGrpSpPr>
            <p:grpSpPr bwMode="auto">
              <a:xfrm>
                <a:off x="4747" y="994"/>
                <a:ext cx="581" cy="134"/>
                <a:chOff x="614" y="2568"/>
                <a:chExt cx="725" cy="139"/>
              </a:xfrm>
            </p:grpSpPr>
            <p:sp>
              <p:nvSpPr>
                <p:cNvPr id="1031" name="AutoShape 260"/>
                <p:cNvSpPr>
                  <a:spLocks noChangeArrowheads="1"/>
                </p:cNvSpPr>
                <p:nvPr/>
              </p:nvSpPr>
              <p:spPr bwMode="auto">
                <a:xfrm>
                  <a:off x="614" y="2568"/>
                  <a:ext cx="725" cy="139"/>
                </a:xfrm>
                <a:prstGeom prst="roundRect">
                  <a:avLst>
                    <a:gd name="adj" fmla="val 50000"/>
                  </a:avLst>
                </a:prstGeom>
                <a:solidFill>
                  <a:schemeClr val="tx1"/>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32" name="AutoShape 261"/>
                <p:cNvSpPr>
                  <a:spLocks noChangeArrowheads="1"/>
                </p:cNvSpPr>
                <p:nvPr/>
              </p:nvSpPr>
              <p:spPr bwMode="auto">
                <a:xfrm>
                  <a:off x="627" y="2588"/>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1011" name="Rectangle 262"/>
              <p:cNvSpPr>
                <a:spLocks noChangeArrowheads="1"/>
              </p:cNvSpPr>
              <p:nvPr/>
            </p:nvSpPr>
            <p:spPr bwMode="auto">
              <a:xfrm>
                <a:off x="4217" y="1359"/>
                <a:ext cx="591" cy="48"/>
              </a:xfrm>
              <a:prstGeom prst="rect">
                <a:avLst/>
              </a:prstGeom>
              <a:solidFill>
                <a:schemeClr val="tx1"/>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12" name="Rectangle 263"/>
              <p:cNvSpPr>
                <a:spLocks noChangeArrowheads="1"/>
              </p:cNvSpPr>
              <p:nvPr/>
            </p:nvSpPr>
            <p:spPr bwMode="auto">
              <a:xfrm>
                <a:off x="4227" y="1657"/>
                <a:ext cx="601" cy="48"/>
              </a:xfrm>
              <a:prstGeom prst="rect">
                <a:avLst/>
              </a:prstGeom>
              <a:solidFill>
                <a:schemeClr val="tx1"/>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080" name="Group 264"/>
              <p:cNvGrpSpPr/>
              <p:nvPr/>
            </p:nvGrpSpPr>
            <p:grpSpPr bwMode="auto">
              <a:xfrm>
                <a:off x="4735" y="1627"/>
                <a:ext cx="582" cy="151"/>
                <a:chOff x="614" y="2568"/>
                <a:chExt cx="725" cy="139"/>
              </a:xfrm>
            </p:grpSpPr>
            <p:sp>
              <p:nvSpPr>
                <p:cNvPr id="1029" name="AutoShape 265"/>
                <p:cNvSpPr>
                  <a:spLocks noChangeArrowheads="1"/>
                </p:cNvSpPr>
                <p:nvPr/>
              </p:nvSpPr>
              <p:spPr bwMode="auto">
                <a:xfrm>
                  <a:off x="617" y="2569"/>
                  <a:ext cx="711" cy="141"/>
                </a:xfrm>
                <a:prstGeom prst="roundRect">
                  <a:avLst>
                    <a:gd name="adj" fmla="val 50000"/>
                  </a:avLst>
                </a:prstGeom>
                <a:solidFill>
                  <a:schemeClr val="tx1"/>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30" name="AutoShape 266"/>
                <p:cNvSpPr>
                  <a:spLocks noChangeArrowheads="1"/>
                </p:cNvSpPr>
                <p:nvPr/>
              </p:nvSpPr>
              <p:spPr bwMode="auto">
                <a:xfrm>
                  <a:off x="629" y="2586"/>
                  <a:ext cx="67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081" name="Freeform 267"/>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082" name="Group 268"/>
              <p:cNvGrpSpPr/>
              <p:nvPr/>
            </p:nvGrpSpPr>
            <p:grpSpPr bwMode="auto">
              <a:xfrm>
                <a:off x="4739" y="1327"/>
                <a:ext cx="582" cy="139"/>
                <a:chOff x="614" y="2568"/>
                <a:chExt cx="725" cy="139"/>
              </a:xfrm>
            </p:grpSpPr>
            <p:sp>
              <p:nvSpPr>
                <p:cNvPr id="1027" name="AutoShape 269"/>
                <p:cNvSpPr>
                  <a:spLocks noChangeArrowheads="1"/>
                </p:cNvSpPr>
                <p:nvPr/>
              </p:nvSpPr>
              <p:spPr bwMode="auto">
                <a:xfrm>
                  <a:off x="612" y="2571"/>
                  <a:ext cx="761" cy="134"/>
                </a:xfrm>
                <a:prstGeom prst="roundRect">
                  <a:avLst>
                    <a:gd name="adj" fmla="val 50000"/>
                  </a:avLst>
                </a:prstGeom>
                <a:solidFill>
                  <a:schemeClr val="tx1"/>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28" name="AutoShape 270"/>
                <p:cNvSpPr>
                  <a:spLocks noChangeArrowheads="1"/>
                </p:cNvSpPr>
                <p:nvPr/>
              </p:nvSpPr>
              <p:spPr bwMode="auto">
                <a:xfrm>
                  <a:off x="624" y="2590"/>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1016" name="Rectangle 271"/>
              <p:cNvSpPr>
                <a:spLocks noChangeArrowheads="1"/>
              </p:cNvSpPr>
              <p:nvPr/>
            </p:nvSpPr>
            <p:spPr bwMode="auto">
              <a:xfrm>
                <a:off x="5248" y="427"/>
                <a:ext cx="70" cy="229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84" name="Freeform 272"/>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85" name="Freeform 273"/>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19" name="Oval 274"/>
              <p:cNvSpPr>
                <a:spLocks noChangeArrowheads="1"/>
              </p:cNvSpPr>
              <p:nvPr/>
            </p:nvSpPr>
            <p:spPr bwMode="auto">
              <a:xfrm>
                <a:off x="5518" y="2617"/>
                <a:ext cx="50" cy="96"/>
              </a:xfrm>
              <a:prstGeom prst="ellipse">
                <a:avLst/>
              </a:prstGeom>
              <a:solidFill>
                <a:srgbClr val="333333"/>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87" name="Freeform 275"/>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21" name="AutoShape 276"/>
              <p:cNvSpPr>
                <a:spLocks noChangeArrowheads="1"/>
              </p:cNvSpPr>
              <p:nvPr/>
            </p:nvSpPr>
            <p:spPr bwMode="auto">
              <a:xfrm>
                <a:off x="4136" y="2684"/>
                <a:ext cx="1201" cy="144"/>
              </a:xfrm>
              <a:prstGeom prst="roundRect">
                <a:avLst>
                  <a:gd name="adj" fmla="val 50000"/>
                </a:avLst>
              </a:prstGeom>
              <a:solidFill>
                <a:srgbClr val="DDDDDD"/>
              </a:solidFill>
              <a:ln w="9525">
                <a:solidFill>
                  <a:schemeClr val="tx1"/>
                </a:solidFill>
                <a:round/>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22" name="AutoShape 277"/>
              <p:cNvSpPr>
                <a:spLocks noChangeArrowheads="1"/>
              </p:cNvSpPr>
              <p:nvPr/>
            </p:nvSpPr>
            <p:spPr bwMode="auto">
              <a:xfrm>
                <a:off x="4207" y="2713"/>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23" name="Oval 278"/>
              <p:cNvSpPr>
                <a:spLocks noChangeArrowheads="1"/>
              </p:cNvSpPr>
              <p:nvPr/>
            </p:nvSpPr>
            <p:spPr bwMode="auto">
              <a:xfrm>
                <a:off x="4307" y="2387"/>
                <a:ext cx="160" cy="144"/>
              </a:xfrm>
              <a:prstGeom prst="ellipse">
                <a:avLst/>
              </a:prstGeom>
              <a:solidFill>
                <a:srgbClr val="33CC33"/>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24" name="Oval 279"/>
              <p:cNvSpPr>
                <a:spLocks noChangeArrowheads="1"/>
              </p:cNvSpPr>
              <p:nvPr/>
            </p:nvSpPr>
            <p:spPr bwMode="auto">
              <a:xfrm>
                <a:off x="4487" y="2387"/>
                <a:ext cx="160" cy="144"/>
              </a:xfrm>
              <a:prstGeom prst="ellipse">
                <a:avLst/>
              </a:prstGeom>
              <a:solidFill>
                <a:srgbClr val="FF0000"/>
              </a:solidFill>
              <a:ln>
                <a:noFill/>
              </a:ln>
              <a:effectLst/>
            </p:spPr>
            <p:txBody>
              <a:bodyPr wrap="none" anchor="ctr"/>
              <a:lstStyle/>
              <a:p>
                <a:pPr algn="ctr" eaLnBrk="0" fontAlgn="base" hangingPunct="0">
                  <a:spcBef>
                    <a:spcPct val="0"/>
                  </a:spcBef>
                  <a:spcAft>
                    <a:spcPct val="0"/>
                  </a:spcAft>
                  <a:defRPr/>
                </a:pPr>
                <a:endParaRPr lang="en-US" sz="2400" dirty="0">
                  <a:solidFill>
                    <a:srgbClr val="FF0000"/>
                  </a:solidFill>
                  <a:latin typeface="Arial" panose="020B0604020202020204" pitchFamily="34" charset="0"/>
                  <a:ea typeface="MS PGothic" panose="020B0600070205080204" pitchFamily="34" charset="-128"/>
                  <a:cs typeface="Arial" panose="020B0604020202020204"/>
                </a:endParaRPr>
              </a:p>
            </p:txBody>
          </p:sp>
          <p:sp>
            <p:nvSpPr>
              <p:cNvPr id="1025" name="Oval 280"/>
              <p:cNvSpPr>
                <a:spLocks noChangeArrowheads="1"/>
              </p:cNvSpPr>
              <p:nvPr/>
            </p:nvSpPr>
            <p:spPr bwMode="auto">
              <a:xfrm>
                <a:off x="4657" y="2387"/>
                <a:ext cx="160" cy="134"/>
              </a:xfrm>
              <a:prstGeom prst="ellipse">
                <a:avLst/>
              </a:prstGeom>
              <a:solidFill>
                <a:srgbClr val="33CC33"/>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26" name="Rectangle 281"/>
              <p:cNvSpPr>
                <a:spLocks noChangeArrowheads="1"/>
              </p:cNvSpPr>
              <p:nvPr/>
            </p:nvSpPr>
            <p:spPr bwMode="auto">
              <a:xfrm>
                <a:off x="5068" y="1839"/>
                <a:ext cx="80" cy="759"/>
              </a:xfrm>
              <a:prstGeom prst="rect">
                <a:avLst/>
              </a:prstGeom>
              <a:solidFill>
                <a:srgbClr val="292929"/>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grpSp>
          <p:nvGrpSpPr>
            <p:cNvPr id="212037" name="Group 249"/>
            <p:cNvGrpSpPr/>
            <p:nvPr/>
          </p:nvGrpSpPr>
          <p:grpSpPr bwMode="auto">
            <a:xfrm flipH="1">
              <a:off x="8472213" y="4384408"/>
              <a:ext cx="225953" cy="395900"/>
              <a:chOff x="4140" y="429"/>
              <a:chExt cx="1425" cy="2396"/>
            </a:xfrm>
          </p:grpSpPr>
          <p:sp>
            <p:nvSpPr>
              <p:cNvPr id="212038" name="Freeform 250"/>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37" name="Rectangle 251"/>
              <p:cNvSpPr>
                <a:spLocks noChangeArrowheads="1"/>
              </p:cNvSpPr>
              <p:nvPr/>
            </p:nvSpPr>
            <p:spPr bwMode="auto">
              <a:xfrm>
                <a:off x="4200" y="431"/>
                <a:ext cx="1051" cy="2276"/>
              </a:xfrm>
              <a:prstGeom prst="rect">
                <a:avLst/>
              </a:prstGeom>
              <a:gradFill rotWithShape="1">
                <a:gsLst>
                  <a:gs pos="0">
                    <a:srgbClr val="292929"/>
                  </a:gs>
                  <a:gs pos="100000">
                    <a:srgbClr val="808080"/>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40" name="Freeform 252"/>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41" name="Freeform 253"/>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40" name="Rectangle 254"/>
              <p:cNvSpPr>
                <a:spLocks noChangeArrowheads="1"/>
              </p:cNvSpPr>
              <p:nvPr/>
            </p:nvSpPr>
            <p:spPr bwMode="auto">
              <a:xfrm>
                <a:off x="4210" y="690"/>
                <a:ext cx="601" cy="48"/>
              </a:xfrm>
              <a:prstGeom prst="rect">
                <a:avLst/>
              </a:prstGeom>
              <a:solidFill>
                <a:schemeClr val="tx1"/>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043" name="Group 255"/>
              <p:cNvGrpSpPr/>
              <p:nvPr/>
            </p:nvGrpSpPr>
            <p:grpSpPr bwMode="auto">
              <a:xfrm>
                <a:off x="4749" y="668"/>
                <a:ext cx="581" cy="145"/>
                <a:chOff x="614" y="2568"/>
                <a:chExt cx="725" cy="139"/>
              </a:xfrm>
            </p:grpSpPr>
            <p:sp>
              <p:nvSpPr>
                <p:cNvPr id="1066" name="AutoShape 256"/>
                <p:cNvSpPr>
                  <a:spLocks noChangeArrowheads="1"/>
                </p:cNvSpPr>
                <p:nvPr/>
              </p:nvSpPr>
              <p:spPr bwMode="auto">
                <a:xfrm>
                  <a:off x="616" y="2571"/>
                  <a:ext cx="725" cy="138"/>
                </a:xfrm>
                <a:prstGeom prst="roundRect">
                  <a:avLst>
                    <a:gd name="adj" fmla="val 50000"/>
                  </a:avLst>
                </a:prstGeom>
                <a:solidFill>
                  <a:schemeClr val="tx1"/>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67" name="AutoShape 257"/>
                <p:cNvSpPr>
                  <a:spLocks noChangeArrowheads="1"/>
                </p:cNvSpPr>
                <p:nvPr/>
              </p:nvSpPr>
              <p:spPr bwMode="auto">
                <a:xfrm>
                  <a:off x="629"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1042" name="Rectangle 258"/>
              <p:cNvSpPr>
                <a:spLocks noChangeArrowheads="1"/>
              </p:cNvSpPr>
              <p:nvPr/>
            </p:nvSpPr>
            <p:spPr bwMode="auto">
              <a:xfrm>
                <a:off x="4220" y="1017"/>
                <a:ext cx="601" cy="48"/>
              </a:xfrm>
              <a:prstGeom prst="rect">
                <a:avLst/>
              </a:prstGeom>
              <a:solidFill>
                <a:schemeClr val="tx1"/>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045" name="Group 259"/>
              <p:cNvGrpSpPr/>
              <p:nvPr/>
            </p:nvGrpSpPr>
            <p:grpSpPr bwMode="auto">
              <a:xfrm>
                <a:off x="4747" y="994"/>
                <a:ext cx="581" cy="134"/>
                <a:chOff x="614" y="2568"/>
                <a:chExt cx="725" cy="139"/>
              </a:xfrm>
            </p:grpSpPr>
            <p:sp>
              <p:nvSpPr>
                <p:cNvPr id="1064" name="AutoShape 260"/>
                <p:cNvSpPr>
                  <a:spLocks noChangeArrowheads="1"/>
                </p:cNvSpPr>
                <p:nvPr/>
              </p:nvSpPr>
              <p:spPr bwMode="auto">
                <a:xfrm>
                  <a:off x="581" y="2572"/>
                  <a:ext cx="725" cy="139"/>
                </a:xfrm>
                <a:prstGeom prst="roundRect">
                  <a:avLst>
                    <a:gd name="adj" fmla="val 50000"/>
                  </a:avLst>
                </a:prstGeom>
                <a:solidFill>
                  <a:schemeClr val="tx1"/>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65" name="AutoShape 261"/>
                <p:cNvSpPr>
                  <a:spLocks noChangeArrowheads="1"/>
                </p:cNvSpPr>
                <p:nvPr/>
              </p:nvSpPr>
              <p:spPr bwMode="auto">
                <a:xfrm>
                  <a:off x="594"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1044" name="Rectangle 262"/>
              <p:cNvSpPr>
                <a:spLocks noChangeArrowheads="1"/>
              </p:cNvSpPr>
              <p:nvPr/>
            </p:nvSpPr>
            <p:spPr bwMode="auto">
              <a:xfrm>
                <a:off x="4220" y="1363"/>
                <a:ext cx="591" cy="38"/>
              </a:xfrm>
              <a:prstGeom prst="rect">
                <a:avLst/>
              </a:prstGeom>
              <a:solidFill>
                <a:schemeClr val="tx1"/>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45" name="Rectangle 263"/>
              <p:cNvSpPr>
                <a:spLocks noChangeArrowheads="1"/>
              </p:cNvSpPr>
              <p:nvPr/>
            </p:nvSpPr>
            <p:spPr bwMode="auto">
              <a:xfrm>
                <a:off x="4230" y="1651"/>
                <a:ext cx="591" cy="48"/>
              </a:xfrm>
              <a:prstGeom prst="rect">
                <a:avLst/>
              </a:prstGeom>
              <a:solidFill>
                <a:schemeClr val="tx1"/>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048" name="Group 264"/>
              <p:cNvGrpSpPr/>
              <p:nvPr/>
            </p:nvGrpSpPr>
            <p:grpSpPr bwMode="auto">
              <a:xfrm>
                <a:off x="4735" y="1627"/>
                <a:ext cx="582" cy="151"/>
                <a:chOff x="614" y="2568"/>
                <a:chExt cx="725" cy="139"/>
              </a:xfrm>
            </p:grpSpPr>
            <p:sp>
              <p:nvSpPr>
                <p:cNvPr id="1062" name="AutoShape 265"/>
                <p:cNvSpPr>
                  <a:spLocks noChangeArrowheads="1"/>
                </p:cNvSpPr>
                <p:nvPr/>
              </p:nvSpPr>
              <p:spPr bwMode="auto">
                <a:xfrm>
                  <a:off x="609" y="2572"/>
                  <a:ext cx="686" cy="133"/>
                </a:xfrm>
                <a:prstGeom prst="roundRect">
                  <a:avLst>
                    <a:gd name="adj" fmla="val 50000"/>
                  </a:avLst>
                </a:prstGeom>
                <a:solidFill>
                  <a:schemeClr val="tx1"/>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63" name="AutoShape 266"/>
                <p:cNvSpPr>
                  <a:spLocks noChangeArrowheads="1"/>
                </p:cNvSpPr>
                <p:nvPr/>
              </p:nvSpPr>
              <p:spPr bwMode="auto">
                <a:xfrm>
                  <a:off x="621" y="2590"/>
                  <a:ext cx="648"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212049" name="Freeform 267"/>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050" name="Group 268"/>
              <p:cNvGrpSpPr/>
              <p:nvPr/>
            </p:nvGrpSpPr>
            <p:grpSpPr bwMode="auto">
              <a:xfrm>
                <a:off x="4739" y="1327"/>
                <a:ext cx="582" cy="139"/>
                <a:chOff x="614" y="2568"/>
                <a:chExt cx="725" cy="139"/>
              </a:xfrm>
            </p:grpSpPr>
            <p:sp>
              <p:nvSpPr>
                <p:cNvPr id="1060" name="AutoShape 269"/>
                <p:cNvSpPr>
                  <a:spLocks noChangeArrowheads="1"/>
                </p:cNvSpPr>
                <p:nvPr/>
              </p:nvSpPr>
              <p:spPr bwMode="auto">
                <a:xfrm>
                  <a:off x="616" y="2565"/>
                  <a:ext cx="723" cy="144"/>
                </a:xfrm>
                <a:prstGeom prst="roundRect">
                  <a:avLst>
                    <a:gd name="adj" fmla="val 50000"/>
                  </a:avLst>
                </a:prstGeom>
                <a:solidFill>
                  <a:schemeClr val="tx1"/>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61" name="AutoShape 270"/>
                <p:cNvSpPr>
                  <a:spLocks noChangeArrowheads="1"/>
                </p:cNvSpPr>
                <p:nvPr/>
              </p:nvSpPr>
              <p:spPr bwMode="auto">
                <a:xfrm>
                  <a:off x="629" y="2585"/>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sp>
            <p:nvSpPr>
              <p:cNvPr id="1049" name="Rectangle 271"/>
              <p:cNvSpPr>
                <a:spLocks noChangeArrowheads="1"/>
              </p:cNvSpPr>
              <p:nvPr/>
            </p:nvSpPr>
            <p:spPr bwMode="auto">
              <a:xfrm>
                <a:off x="5251" y="431"/>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52" name="Freeform 272"/>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53" name="Freeform 273"/>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52" name="Oval 274"/>
              <p:cNvSpPr>
                <a:spLocks noChangeArrowheads="1"/>
              </p:cNvSpPr>
              <p:nvPr/>
            </p:nvSpPr>
            <p:spPr bwMode="auto">
              <a:xfrm>
                <a:off x="5512" y="2611"/>
                <a:ext cx="50" cy="96"/>
              </a:xfrm>
              <a:prstGeom prst="ellipse">
                <a:avLst/>
              </a:prstGeom>
              <a:solidFill>
                <a:srgbClr val="333333"/>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55" name="Freeform 275"/>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54" name="AutoShape 276"/>
              <p:cNvSpPr>
                <a:spLocks noChangeArrowheads="1"/>
              </p:cNvSpPr>
              <p:nvPr/>
            </p:nvSpPr>
            <p:spPr bwMode="auto">
              <a:xfrm>
                <a:off x="4140" y="2679"/>
                <a:ext cx="1201" cy="144"/>
              </a:xfrm>
              <a:prstGeom prst="roundRect">
                <a:avLst>
                  <a:gd name="adj" fmla="val 50000"/>
                </a:avLst>
              </a:prstGeom>
              <a:solidFill>
                <a:srgbClr val="DDDDDD"/>
              </a:solidFill>
              <a:ln w="9525">
                <a:solidFill>
                  <a:schemeClr val="tx1"/>
                </a:solidFill>
                <a:round/>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55" name="AutoShape 277"/>
              <p:cNvSpPr>
                <a:spLocks noChangeArrowheads="1"/>
              </p:cNvSpPr>
              <p:nvPr/>
            </p:nvSpPr>
            <p:spPr bwMode="auto">
              <a:xfrm>
                <a:off x="4200" y="2708"/>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56" name="Oval 278"/>
              <p:cNvSpPr>
                <a:spLocks noChangeArrowheads="1"/>
              </p:cNvSpPr>
              <p:nvPr/>
            </p:nvSpPr>
            <p:spPr bwMode="auto">
              <a:xfrm>
                <a:off x="4310" y="2381"/>
                <a:ext cx="160" cy="144"/>
              </a:xfrm>
              <a:prstGeom prst="ellipse">
                <a:avLst/>
              </a:prstGeom>
              <a:solidFill>
                <a:srgbClr val="33CC33"/>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57" name="Oval 279"/>
              <p:cNvSpPr>
                <a:spLocks noChangeArrowheads="1"/>
              </p:cNvSpPr>
              <p:nvPr/>
            </p:nvSpPr>
            <p:spPr bwMode="auto">
              <a:xfrm>
                <a:off x="4480" y="2381"/>
                <a:ext cx="160" cy="144"/>
              </a:xfrm>
              <a:prstGeom prst="ellipse">
                <a:avLst/>
              </a:prstGeom>
              <a:solidFill>
                <a:srgbClr val="FF0000"/>
              </a:solidFill>
              <a:ln>
                <a:noFill/>
              </a:ln>
              <a:effectLst/>
            </p:spPr>
            <p:txBody>
              <a:bodyPr wrap="none" anchor="ctr"/>
              <a:lstStyle/>
              <a:p>
                <a:pPr algn="ctr" eaLnBrk="0" fontAlgn="base" hangingPunct="0">
                  <a:spcBef>
                    <a:spcPct val="0"/>
                  </a:spcBef>
                  <a:spcAft>
                    <a:spcPct val="0"/>
                  </a:spcAft>
                  <a:defRPr/>
                </a:pPr>
                <a:endParaRPr lang="en-US" sz="2400" dirty="0">
                  <a:solidFill>
                    <a:srgbClr val="FF0000"/>
                  </a:solidFill>
                  <a:latin typeface="Arial" panose="020B0604020202020204" pitchFamily="34" charset="0"/>
                  <a:ea typeface="MS PGothic" panose="020B0600070205080204" pitchFamily="34" charset="-128"/>
                  <a:cs typeface="Arial" panose="020B0604020202020204"/>
                </a:endParaRPr>
              </a:p>
            </p:txBody>
          </p:sp>
          <p:sp>
            <p:nvSpPr>
              <p:cNvPr id="1058" name="Oval 280"/>
              <p:cNvSpPr>
                <a:spLocks noChangeArrowheads="1"/>
              </p:cNvSpPr>
              <p:nvPr/>
            </p:nvSpPr>
            <p:spPr bwMode="auto">
              <a:xfrm>
                <a:off x="4661" y="2381"/>
                <a:ext cx="160" cy="134"/>
              </a:xfrm>
              <a:prstGeom prst="ellipse">
                <a:avLst/>
              </a:prstGeom>
              <a:solidFill>
                <a:srgbClr val="33CC33"/>
              </a:solidFill>
              <a:ln>
                <a:noFill/>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059" name="Rectangle 281"/>
              <p:cNvSpPr>
                <a:spLocks noChangeArrowheads="1"/>
              </p:cNvSpPr>
              <p:nvPr/>
            </p:nvSpPr>
            <p:spPr bwMode="auto">
              <a:xfrm>
                <a:off x="5061" y="1833"/>
                <a:ext cx="80" cy="759"/>
              </a:xfrm>
              <a:prstGeom prst="rect">
                <a:avLst/>
              </a:prstGeom>
              <a:solidFill>
                <a:srgbClr val="292929"/>
              </a:solidFill>
              <a:ln w="9525">
                <a:solidFill>
                  <a:schemeClr val="tx1"/>
                </a:solidFill>
                <a:miter lim="800000"/>
              </a:ln>
              <a:effectLst/>
            </p:spPr>
            <p:txBody>
              <a:bodyPr wrap="none" anchor="ctr"/>
              <a:lstStyle/>
              <a:p>
                <a:pPr eaLnBrk="0" fontAlgn="base" hangingPunct="0">
                  <a:spcBef>
                    <a:spcPct val="0"/>
                  </a:spcBef>
                  <a:spcAft>
                    <a:spcPct val="0"/>
                  </a:spcAft>
                  <a:defRPr/>
                </a:pPr>
                <a:endParaRPr lang="en-US" sz="2400" dirty="0">
                  <a:solidFill>
                    <a:srgbClr val="000000"/>
                  </a:solidFill>
                  <a:latin typeface="Arial" panose="020B0604020202020204" pitchFamily="34" charset="0"/>
                  <a:ea typeface="MS PGothic" panose="020B0600070205080204" pitchFamily="34" charset="-128"/>
                  <a:cs typeface="Arial" panose="020B0604020202020204"/>
                </a:endParaRPr>
              </a:p>
            </p:txBody>
          </p:sp>
        </p:grpSp>
      </p:grpSp>
      <p:grpSp>
        <p:nvGrpSpPr>
          <p:cNvPr id="1069" name="Group 1068"/>
          <p:cNvGrpSpPr/>
          <p:nvPr/>
        </p:nvGrpSpPr>
        <p:grpSpPr bwMode="auto">
          <a:xfrm>
            <a:off x="8710613" y="5734050"/>
            <a:ext cx="347662" cy="681038"/>
            <a:chOff x="7923189" y="2486664"/>
            <a:chExt cx="360377" cy="884585"/>
          </a:xfrm>
        </p:grpSpPr>
        <p:pic>
          <p:nvPicPr>
            <p:cNvPr id="212000"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001" name="Group 950"/>
            <p:cNvGrpSpPr/>
            <p:nvPr/>
          </p:nvGrpSpPr>
          <p:grpSpPr bwMode="auto">
            <a:xfrm>
              <a:off x="7923189" y="2890236"/>
              <a:ext cx="227012" cy="481013"/>
              <a:chOff x="4140" y="429"/>
              <a:chExt cx="1425" cy="2396"/>
            </a:xfrm>
          </p:grpSpPr>
          <p:sp>
            <p:nvSpPr>
              <p:cNvPr id="212002"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03"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004"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05"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06"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007" name="Group 956"/>
              <p:cNvGrpSpPr/>
              <p:nvPr/>
            </p:nvGrpSpPr>
            <p:grpSpPr bwMode="auto">
              <a:xfrm>
                <a:off x="4749" y="668"/>
                <a:ext cx="581" cy="145"/>
                <a:chOff x="614" y="2568"/>
                <a:chExt cx="725" cy="139"/>
              </a:xfrm>
            </p:grpSpPr>
            <p:sp>
              <p:nvSpPr>
                <p:cNvPr id="212032"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033"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008"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009" name="Group 960"/>
              <p:cNvGrpSpPr/>
              <p:nvPr/>
            </p:nvGrpSpPr>
            <p:grpSpPr bwMode="auto">
              <a:xfrm>
                <a:off x="4747" y="994"/>
                <a:ext cx="581" cy="134"/>
                <a:chOff x="614" y="2568"/>
                <a:chExt cx="725" cy="139"/>
              </a:xfrm>
            </p:grpSpPr>
            <p:sp>
              <p:nvSpPr>
                <p:cNvPr id="212030"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031"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010"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011"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nvGrpSpPr>
              <p:cNvPr id="212012" name="Group 965"/>
              <p:cNvGrpSpPr/>
              <p:nvPr/>
            </p:nvGrpSpPr>
            <p:grpSpPr bwMode="auto">
              <a:xfrm>
                <a:off x="4735" y="1627"/>
                <a:ext cx="582" cy="151"/>
                <a:chOff x="614" y="2568"/>
                <a:chExt cx="725" cy="139"/>
              </a:xfrm>
            </p:grpSpPr>
            <p:sp>
              <p:nvSpPr>
                <p:cNvPr id="212028"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029"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013"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2014" name="Group 969"/>
              <p:cNvGrpSpPr/>
              <p:nvPr/>
            </p:nvGrpSpPr>
            <p:grpSpPr bwMode="auto">
              <a:xfrm>
                <a:off x="4739" y="1327"/>
                <a:ext cx="582" cy="139"/>
                <a:chOff x="614" y="2568"/>
                <a:chExt cx="725" cy="139"/>
              </a:xfrm>
            </p:grpSpPr>
            <p:sp>
              <p:nvSpPr>
                <p:cNvPr id="212026"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027"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sp>
            <p:nvSpPr>
              <p:cNvPr id="212015"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016"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17"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18"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019"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2020"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021"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022"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023"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fontAlgn="base">
                  <a:spcBef>
                    <a:spcPct val="0"/>
                  </a:spcBef>
                  <a:spcAft>
                    <a:spcPct val="0"/>
                  </a:spcAft>
                </a:pPr>
                <a:endParaRPr lang="en-US" altLang="en-US" sz="1800">
                  <a:solidFill>
                    <a:srgbClr val="FF0000"/>
                  </a:solidFill>
                  <a:cs typeface="Arial" panose="020B0604020202020204"/>
                </a:endParaRPr>
              </a:p>
            </p:txBody>
          </p:sp>
          <p:sp>
            <p:nvSpPr>
              <p:cNvPr id="212024"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sp>
            <p:nvSpPr>
              <p:cNvPr id="212025"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cs typeface="Arial" panose="020B0604020202020204"/>
                </a:endParaRPr>
              </a:p>
            </p:txBody>
          </p:sp>
        </p:grpSp>
      </p:grpSp>
      <p:grpSp>
        <p:nvGrpSpPr>
          <p:cNvPr id="20" name="Group 19"/>
          <p:cNvGrpSpPr/>
          <p:nvPr/>
        </p:nvGrpSpPr>
        <p:grpSpPr bwMode="auto">
          <a:xfrm>
            <a:off x="1751013" y="3719513"/>
            <a:ext cx="982662" cy="1585912"/>
            <a:chOff x="226804" y="3719080"/>
            <a:chExt cx="982820" cy="1586234"/>
          </a:xfrm>
        </p:grpSpPr>
        <p:pic>
          <p:nvPicPr>
            <p:cNvPr id="211997" name="Picture 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98" name="Cloud Callout 16"/>
            <p:cNvSpPr>
              <a:spLocks noChangeArrowheads="1"/>
            </p:cNvSpPr>
            <p:nvPr/>
          </p:nvSpPr>
          <p:spPr bwMode="auto">
            <a:xfrm flipH="1">
              <a:off x="226804" y="3719080"/>
              <a:ext cx="982820" cy="514019"/>
            </a:xfrm>
            <a:prstGeom prst="cloudCallout">
              <a:avLst>
                <a:gd name="adj1" fmla="val -7606"/>
                <a:gd name="adj2" fmla="val 147866"/>
              </a:avLst>
            </a:prstGeom>
            <a:noFill/>
            <a:ln w="9525">
              <a:solidFill>
                <a:schemeClr val="bg2"/>
              </a:solidFill>
              <a:round/>
            </a:ln>
            <a:extLst>
              <a:ext uri="{909E8E84-426E-40DD-AFC4-6F175D3DCCD1}">
                <a14:hiddenFill xmlns:a14="http://schemas.microsoft.com/office/drawing/2010/main">
                  <a:solidFill>
                    <a:srgbClr val="FFFFFF"/>
                  </a:solidFill>
                </a14:hiddenFill>
              </a:ext>
            </a:extLst>
          </p:spPr>
          <p:txBody>
            <a:bodyPr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cs typeface="Arial" panose="020B0604020202020204"/>
              </a:endParaRPr>
            </a:p>
          </p:txBody>
        </p:sp>
        <p:pic>
          <p:nvPicPr>
            <p:cNvPr id="211999" name="Picture 18" descr="madman.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47767" y="3870258"/>
              <a:ext cx="767350" cy="211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1984" name="Content Placeholder 12"/>
          <p:cNvSpPr txBox="1"/>
          <p:nvPr/>
        </p:nvSpPr>
        <p:spPr bwMode="auto">
          <a:xfrm>
            <a:off x="1112830" y="1397775"/>
            <a:ext cx="9113837" cy="80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655" indent="-287655">
              <a:defRPr sz="2000">
                <a:solidFill>
                  <a:schemeClr val="tx1"/>
                </a:solidFill>
                <a:latin typeface="Arial" panose="020B0604020202020204" pitchFamily="34" charset="0"/>
                <a:ea typeface="MS PGothic" panose="020B0600070205080204" pitchFamily="34" charset="-128"/>
              </a:defRPr>
            </a:lvl1pPr>
            <a:lvl2pPr marL="681355" indent="-224155">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lnSpc>
                <a:spcPct val="85000"/>
              </a:lnSpc>
              <a:spcBef>
                <a:spcPct val="20000"/>
              </a:spcBef>
              <a:spcAft>
                <a:spcPct val="0"/>
              </a:spcAft>
              <a:buClr>
                <a:srgbClr val="000099"/>
              </a:buClr>
              <a:buSzPct val="100000"/>
              <a:buFont typeface="Wingdings" panose="05000000000000000000" pitchFamily="2" charset="2"/>
              <a:buChar char="§"/>
            </a:pPr>
            <a:r>
              <a:rPr lang="en-US" altLang="en-US" sz="2800" dirty="0">
                <a:solidFill>
                  <a:srgbClr val="000000"/>
                </a:solidFill>
                <a:latin typeface="Calibri" panose="020F0502020204030204" pitchFamily="34" charset="0"/>
                <a:cs typeface="Calibri" panose="020F0502020204030204" pitchFamily="34" charset="0"/>
              </a:rPr>
              <a:t>CDN: stores copies of content at CDN nodes </a:t>
            </a:r>
            <a:endParaRPr lang="en-US" altLang="en-US" sz="2800" dirty="0">
              <a:solidFill>
                <a:srgbClr val="000000"/>
              </a:solidFill>
              <a:latin typeface="Calibri" panose="020F0502020204030204" pitchFamily="34" charset="0"/>
              <a:cs typeface="Calibri" panose="020F0502020204030204" pitchFamily="34" charset="0"/>
            </a:endParaRPr>
          </a:p>
          <a:p>
            <a:pPr lvl="1" eaLnBrk="0" fontAlgn="base" hangingPunct="0">
              <a:lnSpc>
                <a:spcPct val="85000"/>
              </a:lnSpc>
              <a:spcBef>
                <a:spcPct val="20000"/>
              </a:spcBef>
              <a:spcAft>
                <a:spcPct val="0"/>
              </a:spcAft>
              <a:buClr>
                <a:srgbClr val="000099"/>
              </a:buClr>
              <a:buFont typeface="Arial" panose="020B0604020202020204" pitchFamily="34" charset="0"/>
              <a:buChar char="•"/>
            </a:pPr>
            <a:r>
              <a:rPr lang="en-US" altLang="en-US" sz="2400" dirty="0">
                <a:solidFill>
                  <a:srgbClr val="000000"/>
                </a:solidFill>
                <a:latin typeface="Calibri" panose="020F0502020204030204" pitchFamily="34" charset="0"/>
                <a:cs typeface="Calibri" panose="020F0502020204030204" pitchFamily="34" charset="0"/>
              </a:rPr>
              <a:t>e.g. Netflix stores copies of </a:t>
            </a:r>
            <a:r>
              <a:rPr lang="en-US" altLang="en-US" sz="2400" dirty="0" err="1">
                <a:solidFill>
                  <a:srgbClr val="000000"/>
                </a:solidFill>
                <a:latin typeface="Calibri" panose="020F0502020204030204" pitchFamily="34" charset="0"/>
                <a:cs typeface="Calibri" panose="020F0502020204030204" pitchFamily="34" charset="0"/>
              </a:rPr>
              <a:t>MadMen</a:t>
            </a:r>
            <a:endParaRPr lang="en-US" altLang="en-US" sz="2400" dirty="0">
              <a:solidFill>
                <a:srgbClr val="000000"/>
              </a:solidFill>
              <a:latin typeface="Calibri" panose="020F0502020204030204" pitchFamily="34" charset="0"/>
              <a:cs typeface="Calibri" panose="020F0502020204030204" pitchFamily="34" charset="0"/>
            </a:endParaRPr>
          </a:p>
        </p:txBody>
      </p:sp>
      <p:grpSp>
        <p:nvGrpSpPr>
          <p:cNvPr id="23" name="Group 22"/>
          <p:cNvGrpSpPr/>
          <p:nvPr/>
        </p:nvGrpSpPr>
        <p:grpSpPr bwMode="auto">
          <a:xfrm>
            <a:off x="1558926" y="5030789"/>
            <a:ext cx="1857375" cy="338137"/>
            <a:chOff x="5957397" y="-30236"/>
            <a:chExt cx="1857399" cy="338554"/>
          </a:xfrm>
        </p:grpSpPr>
        <p:sp>
          <p:nvSpPr>
            <p:cNvPr id="211995" name="Rectangle 20"/>
            <p:cNvSpPr>
              <a:spLocks noChangeArrowheads="1"/>
            </p:cNvSpPr>
            <p:nvPr/>
          </p:nvSpPr>
          <p:spPr bwMode="auto">
            <a:xfrm>
              <a:off x="5957398" y="0"/>
              <a:ext cx="1829556" cy="272128"/>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cs typeface="Arial" panose="020B0604020202020204"/>
              </a:endParaRPr>
            </a:p>
          </p:txBody>
        </p:sp>
        <p:sp>
          <p:nvSpPr>
            <p:cNvPr id="211996" name="TextBox 21"/>
            <p:cNvSpPr txBox="1">
              <a:spLocks noChangeArrowheads="1"/>
            </p:cNvSpPr>
            <p:nvPr/>
          </p:nvSpPr>
          <p:spPr bwMode="auto">
            <a:xfrm>
              <a:off x="5957397" y="-30236"/>
              <a:ext cx="18573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r>
                <a:rPr lang="en-US" altLang="en-US" sz="1600">
                  <a:solidFill>
                    <a:srgbClr val="FFFFFF"/>
                  </a:solidFill>
                  <a:cs typeface="Arial" panose="020B0604020202020204"/>
                </a:rPr>
                <a:t>where’s Madmen?</a:t>
              </a:r>
              <a:endParaRPr lang="en-US" altLang="en-US" sz="1600">
                <a:solidFill>
                  <a:srgbClr val="FFFFFF"/>
                </a:solidFill>
                <a:cs typeface="Arial" panose="020B0604020202020204"/>
              </a:endParaRPr>
            </a:p>
          </p:txBody>
        </p:sp>
      </p:grpSp>
      <p:grpSp>
        <p:nvGrpSpPr>
          <p:cNvPr id="1113" name="Group 1112"/>
          <p:cNvGrpSpPr/>
          <p:nvPr/>
        </p:nvGrpSpPr>
        <p:grpSpPr bwMode="auto">
          <a:xfrm>
            <a:off x="8785226" y="4778375"/>
            <a:ext cx="1279525" cy="338138"/>
            <a:chOff x="5931471" y="-30236"/>
            <a:chExt cx="1279747" cy="338971"/>
          </a:xfrm>
        </p:grpSpPr>
        <p:sp>
          <p:nvSpPr>
            <p:cNvPr id="211993" name="Rectangle 1113"/>
            <p:cNvSpPr>
              <a:spLocks noChangeArrowheads="1"/>
            </p:cNvSpPr>
            <p:nvPr/>
          </p:nvSpPr>
          <p:spPr bwMode="auto">
            <a:xfrm>
              <a:off x="5957398" y="13898"/>
              <a:ext cx="1225865" cy="25822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pPr>
              <a:endParaRPr lang="en-US" altLang="en-US" sz="2400">
                <a:solidFill>
                  <a:srgbClr val="000000"/>
                </a:solidFill>
                <a:cs typeface="Arial" panose="020B0604020202020204"/>
              </a:endParaRPr>
            </a:p>
          </p:txBody>
        </p:sp>
        <p:sp>
          <p:nvSpPr>
            <p:cNvPr id="211994" name="TextBox 1114"/>
            <p:cNvSpPr txBox="1">
              <a:spLocks noChangeArrowheads="1"/>
            </p:cNvSpPr>
            <p:nvPr/>
          </p:nvSpPr>
          <p:spPr bwMode="auto">
            <a:xfrm>
              <a:off x="5931471" y="-30236"/>
              <a:ext cx="1279747" cy="338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r>
                <a:rPr lang="en-US" altLang="en-US" sz="1600">
                  <a:solidFill>
                    <a:srgbClr val="FFFFFF"/>
                  </a:solidFill>
                  <a:cs typeface="Arial" panose="020B0604020202020204"/>
                </a:rPr>
                <a:t>manifest file</a:t>
              </a:r>
              <a:endParaRPr lang="en-US" altLang="en-US" sz="1600">
                <a:solidFill>
                  <a:srgbClr val="FFFFFF"/>
                </a:solidFill>
                <a:cs typeface="Arial" panose="020B0604020202020204"/>
              </a:endParaRPr>
            </a:p>
          </p:txBody>
        </p:sp>
      </p:grpSp>
      <p:sp>
        <p:nvSpPr>
          <p:cNvPr id="28" name="Freeform 27"/>
          <p:cNvSpPr/>
          <p:nvPr/>
        </p:nvSpPr>
        <p:spPr bwMode="auto">
          <a:xfrm>
            <a:off x="2598738" y="4243388"/>
            <a:ext cx="1008062" cy="881062"/>
          </a:xfrm>
          <a:custGeom>
            <a:avLst/>
            <a:gdLst>
              <a:gd name="T0" fmla="*/ 542251 w 1284637"/>
              <a:gd name="T1" fmla="*/ 0 h 1108430"/>
              <a:gd name="T2" fmla="*/ 620508 w 1284637"/>
              <a:gd name="T3" fmla="*/ 556152 h 1108430"/>
              <a:gd name="T4" fmla="*/ 0 w 1284637"/>
              <a:gd name="T5" fmla="*/ 555512 h 1108430"/>
              <a:gd name="T6" fmla="*/ 0 60000 65536"/>
              <a:gd name="T7" fmla="*/ 0 60000 65536"/>
              <a:gd name="T8" fmla="*/ 0 60000 65536"/>
            </a:gdLst>
            <a:ahLst/>
            <a:cxnLst>
              <a:cxn ang="T6">
                <a:pos x="T0" y="T1"/>
              </a:cxn>
              <a:cxn ang="T7">
                <a:pos x="T2" y="T3"/>
              </a:cxn>
              <a:cxn ang="T8">
                <a:pos x="T4" y="T5"/>
              </a:cxn>
            </a:cxnLst>
            <a:rect l="0" t="0" r="r" b="b"/>
            <a:pathLst>
              <a:path w="1284637" h="1108430">
                <a:moveTo>
                  <a:pt x="1122624" y="0"/>
                </a:moveTo>
                <a:lnTo>
                  <a:pt x="1284637" y="1108430"/>
                </a:lnTo>
                <a:lnTo>
                  <a:pt x="0" y="1107156"/>
                </a:lnTo>
              </a:path>
            </a:pathLst>
          </a:custGeom>
          <a:noFill/>
          <a:ln w="57150">
            <a:solidFill>
              <a:srgbClr val="FF0000"/>
            </a:solidFill>
            <a:round/>
            <a:tailEnd type="triangle" w="med" len="med"/>
          </a:ln>
          <a:extLst>
            <a:ext uri="{909E8E84-426E-40DD-AFC4-6F175D3DCCD1}">
              <a14:hiddenFill xmlns:a14="http://schemas.microsoft.com/office/drawing/2010/main">
                <a:solidFill>
                  <a:srgbClr val="FFFFFF"/>
                </a:solidFill>
              </a14:hiddenFill>
            </a:ext>
          </a:extLst>
        </p:spPr>
        <p:txBody>
          <a:bodyPr anchor="ct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121" name="Freeform 1120"/>
          <p:cNvSpPr/>
          <p:nvPr/>
        </p:nvSpPr>
        <p:spPr bwMode="auto">
          <a:xfrm flipV="1">
            <a:off x="2624139" y="5127626"/>
            <a:ext cx="2166937" cy="709613"/>
          </a:xfrm>
          <a:custGeom>
            <a:avLst/>
            <a:gdLst>
              <a:gd name="T0" fmla="*/ 1752991 w 1898925"/>
              <a:gd name="T1" fmla="*/ 0 h 980345"/>
              <a:gd name="T2" fmla="*/ 2822161 w 1898925"/>
              <a:gd name="T3" fmla="*/ 227646 h 980345"/>
              <a:gd name="T4" fmla="*/ 2173683 w 1898925"/>
              <a:gd name="T5" fmla="*/ 258645 h 980345"/>
              <a:gd name="T6" fmla="*/ 1262389 w 1898925"/>
              <a:gd name="T7" fmla="*/ 362755 h 980345"/>
              <a:gd name="T8" fmla="*/ 0 w 1898925"/>
              <a:gd name="T9" fmla="*/ 371335 h 9803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8925" h="980345">
                <a:moveTo>
                  <a:pt x="1179521" y="0"/>
                </a:moveTo>
                <a:lnTo>
                  <a:pt x="1898925" y="600997"/>
                </a:lnTo>
                <a:lnTo>
                  <a:pt x="1462589" y="682836"/>
                </a:lnTo>
                <a:cubicBezTo>
                  <a:pt x="1258197" y="730637"/>
                  <a:pt x="1110581" y="844165"/>
                  <a:pt x="849414" y="957692"/>
                </a:cubicBezTo>
                <a:lnTo>
                  <a:pt x="0" y="980345"/>
                </a:lnTo>
              </a:path>
            </a:pathLst>
          </a:custGeom>
          <a:noFill/>
          <a:ln w="57150">
            <a:solidFill>
              <a:srgbClr val="FF0000"/>
            </a:solidFill>
            <a:round/>
            <a:tailEnd type="triangle" w="med" len="med"/>
          </a:ln>
          <a:extLst>
            <a:ext uri="{909E8E84-426E-40DD-AFC4-6F175D3DCCD1}">
              <a14:hiddenFill xmlns:a14="http://schemas.microsoft.com/office/drawing/2010/main">
                <a:solidFill>
                  <a:srgbClr val="FFFFFF"/>
                </a:solidFill>
              </a14:hiddenFill>
            </a:ext>
          </a:extLst>
        </p:spPr>
        <p:txBody>
          <a:bodyPr anchor="ctr"/>
          <a:lstStyle/>
          <a:p>
            <a:pPr eaLnBrk="0" fontAlgn="base" hangingPunct="0">
              <a:spcBef>
                <a:spcPct val="20000"/>
              </a:spcBef>
              <a:spcAft>
                <a:spcPct val="0"/>
              </a:spcAft>
              <a:buClr>
                <a:srgbClr val="3333CC"/>
              </a:buClr>
              <a:buSzPct val="85000"/>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1122" name="Content Placeholder 12"/>
          <p:cNvSpPr txBox="1"/>
          <p:nvPr/>
        </p:nvSpPr>
        <p:spPr bwMode="auto">
          <a:xfrm>
            <a:off x="1168394" y="2637612"/>
            <a:ext cx="8970503" cy="458788"/>
          </a:xfrm>
          <a:prstGeom prst="rect">
            <a:avLst/>
          </a:prstGeom>
          <a:noFill/>
          <a:ln>
            <a:noFill/>
          </a:ln>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charset="0"/>
              <a:buChar char="v"/>
              <a:defRPr sz="2800">
                <a:solidFill>
                  <a:schemeClr val="tx1"/>
                </a:solidFill>
                <a:latin typeface="+mn-lt"/>
                <a:ea typeface="MS PGothic" panose="020B0600070205080204" pitchFamily="34" charset="-128"/>
                <a:cs typeface="+mn-cs"/>
              </a:defRPr>
            </a:lvl1pPr>
            <a:lvl2pPr marL="742950" indent="-285750" algn="l" rtl="0" eaLnBrk="0" fontAlgn="base" hangingPunct="0">
              <a:lnSpc>
                <a:spcPct val="85000"/>
              </a:lnSpc>
              <a:spcBef>
                <a:spcPct val="20000"/>
              </a:spcBef>
              <a:spcAft>
                <a:spcPct val="0"/>
              </a:spcAft>
              <a:buClr>
                <a:srgbClr val="000099"/>
              </a:buClr>
              <a:buFont typeface="Wingdings" panose="05000000000000000000" charset="0"/>
              <a:buChar char="§"/>
              <a:defRPr sz="2400">
                <a:solidFill>
                  <a:schemeClr val="tx1"/>
                </a:solidFill>
                <a:latin typeface="+mn-lt"/>
                <a:ea typeface="Arial" panose="020B0604020202020204" pitchFamily="34"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anose="030F0702030302020204" pitchFamily="66" charset="0"/>
                <a:ea typeface="Arial" panose="020B0604020202020204" pitchFamily="34"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mn-cs"/>
              </a:defRPr>
            </a:lvl5pPr>
            <a:lvl6pPr marL="2514600" indent="-228600" algn="l" rtl="0" fontAlgn="base">
              <a:spcBef>
                <a:spcPct val="20000"/>
              </a:spcBef>
              <a:spcAft>
                <a:spcPct val="0"/>
              </a:spcAft>
              <a:buChar char="»"/>
              <a:defRPr sz="2000">
                <a:solidFill>
                  <a:schemeClr val="tx1"/>
                </a:solidFill>
                <a:latin typeface="Times New Roman" panose="02020603050405020304" pitchFamily="18" charset="0"/>
                <a:cs typeface="+mn-cs"/>
              </a:defRPr>
            </a:lvl6pPr>
            <a:lvl7pPr marL="2971800" indent="-228600" algn="l" rtl="0" fontAlgn="base">
              <a:spcBef>
                <a:spcPct val="20000"/>
              </a:spcBef>
              <a:spcAft>
                <a:spcPct val="0"/>
              </a:spcAft>
              <a:buChar char="»"/>
              <a:defRPr sz="2000">
                <a:solidFill>
                  <a:schemeClr val="tx1"/>
                </a:solidFill>
                <a:latin typeface="Times New Roman" panose="02020603050405020304" pitchFamily="18" charset="0"/>
                <a:cs typeface="+mn-cs"/>
              </a:defRPr>
            </a:lvl7pPr>
            <a:lvl8pPr marL="3429000" indent="-228600" algn="l" rtl="0" fontAlgn="base">
              <a:spcBef>
                <a:spcPct val="20000"/>
              </a:spcBef>
              <a:spcAft>
                <a:spcPct val="0"/>
              </a:spcAft>
              <a:buChar char="»"/>
              <a:defRPr sz="2000">
                <a:solidFill>
                  <a:schemeClr val="tx1"/>
                </a:solidFill>
                <a:latin typeface="Times New Roman" panose="02020603050405020304" pitchFamily="18" charset="0"/>
                <a:cs typeface="+mn-cs"/>
              </a:defRPr>
            </a:lvl8pPr>
            <a:lvl9pPr marL="3886200" indent="-228600" algn="l" rtl="0" fontAlgn="base">
              <a:spcBef>
                <a:spcPct val="20000"/>
              </a:spcBef>
              <a:spcAft>
                <a:spcPct val="0"/>
              </a:spcAft>
              <a:buChar char="»"/>
              <a:defRPr sz="2000">
                <a:solidFill>
                  <a:schemeClr val="tx1"/>
                </a:solidFill>
                <a:latin typeface="Times New Roman" panose="02020603050405020304" pitchFamily="18" charset="0"/>
                <a:cs typeface="+mn-cs"/>
              </a:defRPr>
            </a:lvl9pPr>
          </a:lstStyle>
          <a:p>
            <a:pPr marL="681355" lvl="1" indent="-224155">
              <a:buFont typeface="Arial" panose="020B0604020202020204"/>
              <a:buChar char="•"/>
              <a:defRPr/>
            </a:pPr>
            <a:r>
              <a:rPr lang="en-US" dirty="0">
                <a:solidFill>
                  <a:srgbClr val="000000"/>
                </a:solidFill>
                <a:latin typeface="Calibri" panose="020F0502020204030204" pitchFamily="34" charset="0"/>
                <a:cs typeface="Calibri" panose="020F0502020204030204" pitchFamily="34" charset="0"/>
              </a:rPr>
              <a:t>directed to nearby copy, retrieves content</a:t>
            </a:r>
            <a:endParaRPr lang="en-US" dirty="0">
              <a:solidFill>
                <a:srgbClr val="000000"/>
              </a:solidFill>
              <a:latin typeface="Calibri" panose="020F0502020204030204" pitchFamily="34" charset="0"/>
              <a:cs typeface="Calibri" panose="020F0502020204030204" pitchFamily="34" charset="0"/>
            </a:endParaRPr>
          </a:p>
          <a:p>
            <a:pPr marL="457200" lvl="1" indent="0">
              <a:buNone/>
              <a:defRPr/>
            </a:pPr>
            <a:endParaRPr lang="en-US" dirty="0">
              <a:solidFill>
                <a:srgbClr val="000000"/>
              </a:solidFill>
              <a:latin typeface="Calibri" panose="020F0502020204030204" pitchFamily="34" charset="0"/>
              <a:cs typeface="Calibri" panose="020F0502020204030204" pitchFamily="34" charset="0"/>
            </a:endParaRPr>
          </a:p>
        </p:txBody>
      </p:sp>
      <p:sp>
        <p:nvSpPr>
          <p:cNvPr id="1123" name="Content Placeholder 12"/>
          <p:cNvSpPr txBox="1"/>
          <p:nvPr/>
        </p:nvSpPr>
        <p:spPr bwMode="auto">
          <a:xfrm>
            <a:off x="1184267" y="2985276"/>
            <a:ext cx="9113837" cy="503237"/>
          </a:xfrm>
          <a:prstGeom prst="rect">
            <a:avLst/>
          </a:prstGeom>
          <a:noFill/>
          <a:ln>
            <a:noFill/>
          </a:ln>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charset="0"/>
              <a:buChar char="v"/>
              <a:defRPr sz="2800">
                <a:solidFill>
                  <a:schemeClr val="tx1"/>
                </a:solidFill>
                <a:latin typeface="+mn-lt"/>
                <a:ea typeface="MS PGothic" panose="020B0600070205080204" pitchFamily="34" charset="-128"/>
                <a:cs typeface="+mn-cs"/>
              </a:defRPr>
            </a:lvl1pPr>
            <a:lvl2pPr marL="742950" indent="-285750" algn="l" rtl="0" eaLnBrk="0" fontAlgn="base" hangingPunct="0">
              <a:lnSpc>
                <a:spcPct val="85000"/>
              </a:lnSpc>
              <a:spcBef>
                <a:spcPct val="20000"/>
              </a:spcBef>
              <a:spcAft>
                <a:spcPct val="0"/>
              </a:spcAft>
              <a:buClr>
                <a:srgbClr val="000099"/>
              </a:buClr>
              <a:buFont typeface="Wingdings" panose="05000000000000000000" charset="0"/>
              <a:buChar char="§"/>
              <a:defRPr sz="2400">
                <a:solidFill>
                  <a:schemeClr val="tx1"/>
                </a:solidFill>
                <a:latin typeface="+mn-lt"/>
                <a:ea typeface="Arial" panose="020B0604020202020204" pitchFamily="34"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anose="030F0702030302020204" pitchFamily="66" charset="0"/>
                <a:ea typeface="Arial" panose="020B0604020202020204" pitchFamily="34"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mn-cs"/>
              </a:defRPr>
            </a:lvl5pPr>
            <a:lvl6pPr marL="2514600" indent="-228600" algn="l" rtl="0" fontAlgn="base">
              <a:spcBef>
                <a:spcPct val="20000"/>
              </a:spcBef>
              <a:spcAft>
                <a:spcPct val="0"/>
              </a:spcAft>
              <a:buChar char="»"/>
              <a:defRPr sz="2000">
                <a:solidFill>
                  <a:schemeClr val="tx1"/>
                </a:solidFill>
                <a:latin typeface="Times New Roman" panose="02020603050405020304" pitchFamily="18" charset="0"/>
                <a:cs typeface="+mn-cs"/>
              </a:defRPr>
            </a:lvl6pPr>
            <a:lvl7pPr marL="2971800" indent="-228600" algn="l" rtl="0" fontAlgn="base">
              <a:spcBef>
                <a:spcPct val="20000"/>
              </a:spcBef>
              <a:spcAft>
                <a:spcPct val="0"/>
              </a:spcAft>
              <a:buChar char="»"/>
              <a:defRPr sz="2000">
                <a:solidFill>
                  <a:schemeClr val="tx1"/>
                </a:solidFill>
                <a:latin typeface="Times New Roman" panose="02020603050405020304" pitchFamily="18" charset="0"/>
                <a:cs typeface="+mn-cs"/>
              </a:defRPr>
            </a:lvl7pPr>
            <a:lvl8pPr marL="3429000" indent="-228600" algn="l" rtl="0" fontAlgn="base">
              <a:spcBef>
                <a:spcPct val="20000"/>
              </a:spcBef>
              <a:spcAft>
                <a:spcPct val="0"/>
              </a:spcAft>
              <a:buChar char="»"/>
              <a:defRPr sz="2000">
                <a:solidFill>
                  <a:schemeClr val="tx1"/>
                </a:solidFill>
                <a:latin typeface="Times New Roman" panose="02020603050405020304" pitchFamily="18" charset="0"/>
                <a:cs typeface="+mn-cs"/>
              </a:defRPr>
            </a:lvl8pPr>
            <a:lvl9pPr marL="3886200" indent="-228600" algn="l" rtl="0" fontAlgn="base">
              <a:spcBef>
                <a:spcPct val="20000"/>
              </a:spcBef>
              <a:spcAft>
                <a:spcPct val="0"/>
              </a:spcAft>
              <a:buChar char="»"/>
              <a:defRPr sz="2000">
                <a:solidFill>
                  <a:schemeClr val="tx1"/>
                </a:solidFill>
                <a:latin typeface="Times New Roman" panose="02020603050405020304" pitchFamily="18" charset="0"/>
                <a:cs typeface="+mn-cs"/>
              </a:defRPr>
            </a:lvl9pPr>
          </a:lstStyle>
          <a:p>
            <a:pPr marL="681355" lvl="1" indent="-224155">
              <a:buFont typeface="Arial" panose="020B0604020202020204"/>
              <a:buChar char="•"/>
              <a:defRPr/>
            </a:pPr>
            <a:r>
              <a:rPr lang="en-US" dirty="0">
                <a:solidFill>
                  <a:srgbClr val="000000"/>
                </a:solidFill>
                <a:latin typeface="Calibri" panose="020F0502020204030204" pitchFamily="34" charset="0"/>
                <a:cs typeface="Calibri" panose="020F0502020204030204" pitchFamily="34" charset="0"/>
              </a:rPr>
              <a:t>may choose different copy if network path congested</a:t>
            </a:r>
            <a:endParaRPr lang="en-US" dirty="0">
              <a:solidFill>
                <a:srgbClr val="000000"/>
              </a:solidFill>
              <a:latin typeface="Calibri" panose="020F0502020204030204" pitchFamily="34" charset="0"/>
              <a:cs typeface="Calibri" panose="020F0502020204030204" pitchFamily="34" charset="0"/>
            </a:endParaRPr>
          </a:p>
          <a:p>
            <a:pPr marL="457200" lvl="1" indent="0">
              <a:buNone/>
              <a:defRPr/>
            </a:pPr>
            <a:endParaRPr lang="en-US" dirty="0">
              <a:solidFill>
                <a:srgbClr val="000000"/>
              </a:solidFill>
              <a:latin typeface="Calibri" panose="020F0502020204030204" pitchFamily="34" charset="0"/>
              <a:cs typeface="Calibri" panose="020F0502020204030204" pitchFamily="34" charset="0"/>
            </a:endParaRPr>
          </a:p>
        </p:txBody>
      </p:sp>
      <p:sp>
        <p:nvSpPr>
          <p:cNvPr id="671"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98"/>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5" name="Whoosh"/>
                                        </p:tgtEl>
                                      </p:cMediaNode>
                                    </p:audio>
                                  </p:subTnLst>
                                </p:cTn>
                              </p:par>
                            </p:childTnLst>
                          </p:cTn>
                        </p:par>
                        <p:par>
                          <p:cTn id="7" fill="hold">
                            <p:stCondLst>
                              <p:cond delay="0"/>
                            </p:stCondLst>
                            <p:childTnLst>
                              <p:par>
                                <p:cTn id="8" presetID="1" presetClass="entr" presetSubtype="0" fill="hold" nodeType="afterEffect">
                                  <p:stCondLst>
                                    <p:cond delay="250"/>
                                  </p:stCondLst>
                                  <p:childTnLst>
                                    <p:set>
                                      <p:cBhvr>
                                        <p:cTn id="9" dur="1" fill="hold">
                                          <p:stCondLst>
                                            <p:cond delay="0"/>
                                          </p:stCondLst>
                                        </p:cTn>
                                        <p:tgtEl>
                                          <p:spTgt spid="828"/>
                                        </p:tgtEl>
                                        <p:attrNameLst>
                                          <p:attrName>style.visibility</p:attrName>
                                        </p:attrNameLst>
                                      </p:cBhvr>
                                      <p:to>
                                        <p:strVal val="visible"/>
                                      </p:to>
                                    </p:set>
                                  </p:childTnLst>
                                  <p:subTnLst>
                                    <p:audio>
                                      <p:cMediaNode>
                                        <p:cTn display="0" masterRel="sameClick">
                                          <p:stCondLst>
                                            <p:cond evt="begin" delay="0">
                                              <p:tn val="8"/>
                                            </p:cond>
                                          </p:stCondLst>
                                          <p:endCondLst>
                                            <p:cond evt="onStopAudio" delay="0">
                                              <p:tgtEl>
                                                <p:sldTgt/>
                                              </p:tgtEl>
                                            </p:cond>
                                          </p:endCondLst>
                                        </p:cTn>
                                        <p:tgtEl>
                                          <p:sndTgt r:embed="rId5" name="Whoosh"/>
                                        </p:tgtEl>
                                      </p:cMediaNode>
                                    </p:audio>
                                  </p:subTnLst>
                                </p:cTn>
                              </p:par>
                            </p:childTnLst>
                          </p:cTn>
                        </p:par>
                        <p:par>
                          <p:cTn id="10" fill="hold">
                            <p:stCondLst>
                              <p:cond delay="250"/>
                            </p:stCondLst>
                            <p:childTnLst>
                              <p:par>
                                <p:cTn id="11" presetID="1" presetClass="entr" presetSubtype="0" fill="hold" nodeType="afterEffect">
                                  <p:stCondLst>
                                    <p:cond delay="250"/>
                                  </p:stCondLst>
                                  <p:childTnLst>
                                    <p:set>
                                      <p:cBhvr>
                                        <p:cTn id="12" dur="1" fill="hold">
                                          <p:stCondLst>
                                            <p:cond delay="0"/>
                                          </p:stCondLst>
                                        </p:cTn>
                                        <p:tgtEl>
                                          <p:spTgt spid="14"/>
                                        </p:tgtEl>
                                        <p:attrNameLst>
                                          <p:attrName>style.visibility</p:attrName>
                                        </p:attrNameLst>
                                      </p:cBhvr>
                                      <p:to>
                                        <p:strVal val="visible"/>
                                      </p:to>
                                    </p:set>
                                  </p:childTnLst>
                                  <p:subTnLst>
                                    <p:audio>
                                      <p:cMediaNode>
                                        <p:cTn display="0" masterRel="sameClick">
                                          <p:stCondLst>
                                            <p:cond evt="begin" delay="0">
                                              <p:tn val="11"/>
                                            </p:cond>
                                          </p:stCondLst>
                                          <p:endCondLst>
                                            <p:cond evt="onStopAudio" delay="0">
                                              <p:tgtEl>
                                                <p:sldTgt/>
                                              </p:tgtEl>
                                            </p:cond>
                                          </p:endCondLst>
                                        </p:cTn>
                                        <p:tgtEl>
                                          <p:sndTgt r:embed="rId5" name="Whoosh"/>
                                        </p:tgtEl>
                                      </p:cMediaNode>
                                    </p:audio>
                                  </p:subTnLst>
                                </p:cTn>
                              </p:par>
                            </p:childTnLst>
                          </p:cTn>
                        </p:par>
                        <p:par>
                          <p:cTn id="13" fill="hold">
                            <p:stCondLst>
                              <p:cond delay="500"/>
                            </p:stCondLst>
                            <p:childTnLst>
                              <p:par>
                                <p:cTn id="14" presetID="1" presetClass="entr" presetSubtype="0" fill="hold" nodeType="afterEffect">
                                  <p:stCondLst>
                                    <p:cond delay="250"/>
                                  </p:stCondLst>
                                  <p:childTnLst>
                                    <p:set>
                                      <p:cBhvr>
                                        <p:cTn id="15" dur="1" fill="hold">
                                          <p:stCondLst>
                                            <p:cond delay="0"/>
                                          </p:stCondLst>
                                        </p:cTn>
                                        <p:tgtEl>
                                          <p:spTgt spid="933"/>
                                        </p:tgtEl>
                                        <p:attrNameLst>
                                          <p:attrName>style.visibility</p:attrName>
                                        </p:attrNameLst>
                                      </p:cBhvr>
                                      <p:to>
                                        <p:strVal val="visible"/>
                                      </p:to>
                                    </p:set>
                                  </p:childTnLst>
                                  <p:subTnLst>
                                    <p:audio>
                                      <p:cMediaNode>
                                        <p:cTn display="0" masterRel="sameClick">
                                          <p:stCondLst>
                                            <p:cond evt="begin" delay="0">
                                              <p:tn val="14"/>
                                            </p:cond>
                                          </p:stCondLst>
                                          <p:endCondLst>
                                            <p:cond evt="onStopAudio" delay="0">
                                              <p:tgtEl>
                                                <p:sldTgt/>
                                              </p:tgtEl>
                                            </p:cond>
                                          </p:endCondLst>
                                        </p:cTn>
                                        <p:tgtEl>
                                          <p:sndTgt r:embed="rId5" name="Whoosh"/>
                                        </p:tgtEl>
                                      </p:cMediaNode>
                                    </p:audio>
                                  </p:subTnLst>
                                </p:cTn>
                              </p:par>
                            </p:childTnLst>
                          </p:cTn>
                        </p:par>
                        <p:par>
                          <p:cTn id="16" fill="hold">
                            <p:stCondLst>
                              <p:cond delay="750"/>
                            </p:stCondLst>
                            <p:childTnLst>
                              <p:par>
                                <p:cTn id="17" presetID="1" presetClass="entr" presetSubtype="0" fill="hold" nodeType="afterEffect">
                                  <p:stCondLst>
                                    <p:cond delay="250"/>
                                  </p:stCondLst>
                                  <p:childTnLst>
                                    <p:set>
                                      <p:cBhvr>
                                        <p:cTn id="18" dur="1" fill="hold">
                                          <p:stCondLst>
                                            <p:cond delay="0"/>
                                          </p:stCondLst>
                                        </p:cTn>
                                        <p:tgtEl>
                                          <p:spTgt spid="793"/>
                                        </p:tgtEl>
                                        <p:attrNameLst>
                                          <p:attrName>style.visibility</p:attrName>
                                        </p:attrNameLst>
                                      </p:cBhvr>
                                      <p:to>
                                        <p:strVal val="visible"/>
                                      </p:to>
                                    </p:set>
                                  </p:childTnLst>
                                  <p:subTnLst>
                                    <p:audio>
                                      <p:cMediaNode>
                                        <p:cTn display="0" masterRel="sameClick">
                                          <p:stCondLst>
                                            <p:cond evt="begin" delay="0">
                                              <p:tn val="17"/>
                                            </p:cond>
                                          </p:stCondLst>
                                          <p:endCondLst>
                                            <p:cond evt="onStopAudio" delay="0">
                                              <p:tgtEl>
                                                <p:sldTgt/>
                                              </p:tgtEl>
                                            </p:cond>
                                          </p:endCondLst>
                                        </p:cTn>
                                        <p:tgtEl>
                                          <p:sndTgt r:embed="rId5" name="Whoosh"/>
                                        </p:tgtEl>
                                      </p:cMediaNode>
                                    </p:audio>
                                  </p:subTnLst>
                                </p:cTn>
                              </p:par>
                            </p:childTnLst>
                          </p:cTn>
                        </p:par>
                        <p:par>
                          <p:cTn id="19" fill="hold">
                            <p:stCondLst>
                              <p:cond delay="1000"/>
                            </p:stCondLst>
                            <p:childTnLst>
                              <p:par>
                                <p:cTn id="20" presetID="1" presetClass="entr" presetSubtype="0" fill="hold" nodeType="afterEffect">
                                  <p:stCondLst>
                                    <p:cond delay="250"/>
                                  </p:stCondLst>
                                  <p:childTnLst>
                                    <p:set>
                                      <p:cBhvr>
                                        <p:cTn id="21" dur="1" fill="hold">
                                          <p:stCondLst>
                                            <p:cond delay="0"/>
                                          </p:stCondLst>
                                        </p:cTn>
                                        <p:tgtEl>
                                          <p:spTgt spid="863"/>
                                        </p:tgtEl>
                                        <p:attrNameLst>
                                          <p:attrName>style.visibility</p:attrName>
                                        </p:attrNameLst>
                                      </p:cBhvr>
                                      <p:to>
                                        <p:strVal val="visible"/>
                                      </p:to>
                                    </p:set>
                                  </p:childTnLst>
                                  <p:subTnLst>
                                    <p:audio>
                                      <p:cMediaNode>
                                        <p:cTn display="0" masterRel="sameClick">
                                          <p:stCondLst>
                                            <p:cond evt="begin" delay="0">
                                              <p:tn val="20"/>
                                            </p:cond>
                                          </p:stCondLst>
                                          <p:endCondLst>
                                            <p:cond evt="onStopAudio" delay="0">
                                              <p:tgtEl>
                                                <p:sldTgt/>
                                              </p:tgtEl>
                                            </p:cond>
                                          </p:endCondLst>
                                        </p:cTn>
                                        <p:tgtEl>
                                          <p:sndTgt r:embed="rId5" name="Whoosh"/>
                                        </p:tgtEl>
                                      </p:cMediaNode>
                                    </p:audio>
                                  </p:subTnLst>
                                </p:cTn>
                              </p:par>
                            </p:childTnLst>
                          </p:cTn>
                        </p:par>
                        <p:par>
                          <p:cTn id="22" fill="hold">
                            <p:stCondLst>
                              <p:cond delay="1250"/>
                            </p:stCondLst>
                            <p:childTnLst>
                              <p:par>
                                <p:cTn id="23" presetID="1" presetClass="entr" presetSubtype="0" fill="hold" nodeType="afterEffect">
                                  <p:stCondLst>
                                    <p:cond delay="250"/>
                                  </p:stCondLst>
                                  <p:childTnLst>
                                    <p:set>
                                      <p:cBhvr>
                                        <p:cTn id="24" dur="1" fill="hold">
                                          <p:stCondLst>
                                            <p:cond delay="0"/>
                                          </p:stCondLst>
                                        </p:cTn>
                                        <p:tgtEl>
                                          <p:spTgt spid="1069"/>
                                        </p:tgtEl>
                                        <p:attrNameLst>
                                          <p:attrName>style.visibility</p:attrName>
                                        </p:attrNameLst>
                                      </p:cBhvr>
                                      <p:to>
                                        <p:strVal val="visible"/>
                                      </p:to>
                                    </p:set>
                                  </p:childTnLst>
                                  <p:subTnLst>
                                    <p:audio>
                                      <p:cMediaNode>
                                        <p:cTn display="0" masterRel="sameClick">
                                          <p:stCondLst>
                                            <p:cond evt="begin" delay="0">
                                              <p:tn val="23"/>
                                            </p:cond>
                                          </p:stCondLst>
                                          <p:endCondLst>
                                            <p:cond evt="onStopAudio" delay="0">
                                              <p:tgtEl>
                                                <p:sldTgt/>
                                              </p:tgtEl>
                                            </p:cond>
                                          </p:endCondLst>
                                        </p:cTn>
                                        <p:tgtEl>
                                          <p:sndTgt r:embed="rId5" name="Whoosh"/>
                                        </p:tgtEl>
                                      </p:cMediaNode>
                                    </p:audio>
                                  </p:subTnLst>
                                </p:cTn>
                              </p:par>
                            </p:childTnLst>
                          </p:cTn>
                        </p:par>
                      </p:childTnLst>
                    </p:cTn>
                  </p:par>
                  <p:par>
                    <p:cTn id="25" fill="hold">
                      <p:stCondLst>
                        <p:cond delay="indefinite"/>
                      </p:stCondLst>
                      <p:childTnLst>
                        <p:par>
                          <p:cTn id="26" fill="hold">
                            <p:stCondLst>
                              <p:cond delay="0"/>
                            </p:stCondLst>
                            <p:childTnLst>
                              <p:par>
                                <p:cTn id="27" presetID="22" presetClass="entr" presetSubtype="4" fill="hold" nodeType="click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wipe(down)">
                                      <p:cBhvr>
                                        <p:cTn id="29" dur="500"/>
                                        <p:tgtEl>
                                          <p:spTgt spid="20"/>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3">
                                            <p:txEl>
                                              <p:pRg st="0" end="0"/>
                                            </p:txEl>
                                          </p:spTgt>
                                        </p:tgtEl>
                                        <p:attrNameLst>
                                          <p:attrName>style.visibility</p:attrName>
                                        </p:attrNameLst>
                                      </p:cBhvr>
                                      <p:to>
                                        <p:strVal val="visible"/>
                                      </p:to>
                                    </p:set>
                                    <p:animEffect transition="in" filter="dissolve">
                                      <p:cBhvr>
                                        <p:cTn id="34" dur="500"/>
                                        <p:tgtEl>
                                          <p:spTgt spid="13">
                                            <p:txEl>
                                              <p:pRg st="0" end="0"/>
                                            </p:txEl>
                                          </p:spTgt>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1122"/>
                                        </p:tgtEl>
                                        <p:attrNameLst>
                                          <p:attrName>style.visibility</p:attrName>
                                        </p:attrNameLst>
                                      </p:cBhvr>
                                      <p:to>
                                        <p:strVal val="visible"/>
                                      </p:to>
                                    </p:set>
                                    <p:animEffect transition="in" filter="dissolve">
                                      <p:cBhvr>
                                        <p:cTn id="37" dur="500"/>
                                        <p:tgtEl>
                                          <p:spTgt spid="1122"/>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dissolve">
                                      <p:cBhvr>
                                        <p:cTn id="42" dur="500"/>
                                        <p:tgtEl>
                                          <p:spTgt spid="23"/>
                                        </p:tgtEl>
                                      </p:cBhvr>
                                    </p:animEffect>
                                  </p:childTnLst>
                                </p:cTn>
                              </p:par>
                            </p:childTnLst>
                          </p:cTn>
                        </p:par>
                        <p:par>
                          <p:cTn id="43" fill="hold">
                            <p:stCondLst>
                              <p:cond delay="500"/>
                            </p:stCondLst>
                            <p:childTnLst>
                              <p:par>
                                <p:cTn id="44" presetID="0" presetClass="path" presetSubtype="0" accel="50000" decel="50000" fill="hold" nodeType="afterEffect">
                                  <p:stCondLst>
                                    <p:cond delay="0"/>
                                  </p:stCondLst>
                                  <p:childTnLst>
                                    <p:animMotion origin="layout" path="M 3.54167E-6 -1.85185E-6 L 0.08763 -0.02916 L 0.11106 -0.02685 L 0.24635 0.00185 L 0.3569 -0.03079 L 0.42682 -0.00486 L 0.48242 0.01551 L 0.56041 -0.01088 L 0.60026 -0.05509 " pathEditMode="relative" rAng="0" ptsTypes="AAAAAAAAA">
                                      <p:cBhvr>
                                        <p:cTn id="45" dur="2000" fill="hold"/>
                                        <p:tgtEl>
                                          <p:spTgt spid="23"/>
                                        </p:tgtEl>
                                        <p:attrNameLst>
                                          <p:attrName>ppt_x</p:attrName>
                                          <p:attrName>ppt_y</p:attrName>
                                        </p:attrNameLst>
                                      </p:cBhvr>
                                      <p:rCtr x="30013" y="-1991"/>
                                    </p:animMotion>
                                  </p:childTnLst>
                                </p:cTn>
                              </p:par>
                            </p:childTnLst>
                          </p:cTn>
                        </p:par>
                        <p:par>
                          <p:cTn id="46" fill="hold">
                            <p:stCondLst>
                              <p:cond delay="2500"/>
                            </p:stCondLst>
                            <p:childTnLst>
                              <p:par>
                                <p:cTn id="47" presetID="9" presetClass="exit" presetSubtype="0" fill="hold" nodeType="afterEffect">
                                  <p:stCondLst>
                                    <p:cond delay="0"/>
                                  </p:stCondLst>
                                  <p:childTnLst>
                                    <p:animEffect transition="out" filter="dissolve">
                                      <p:cBhvr>
                                        <p:cTn id="48" dur="500"/>
                                        <p:tgtEl>
                                          <p:spTgt spid="23"/>
                                        </p:tgtEl>
                                      </p:cBhvr>
                                    </p:animEffect>
                                    <p:set>
                                      <p:cBhvr>
                                        <p:cTn id="49" dur="1" fill="hold">
                                          <p:stCondLst>
                                            <p:cond delay="499"/>
                                          </p:stCondLst>
                                        </p:cTn>
                                        <p:tgtEl>
                                          <p:spTgt spid="23"/>
                                        </p:tgtEl>
                                        <p:attrNameLst>
                                          <p:attrName>style.visibility</p:attrName>
                                        </p:attrNameLst>
                                      </p:cBhvr>
                                      <p:to>
                                        <p:strVal val="hidden"/>
                                      </p:to>
                                    </p:set>
                                  </p:childTnLst>
                                </p:cTn>
                              </p:par>
                            </p:childTnLst>
                          </p:cTn>
                        </p:par>
                        <p:par>
                          <p:cTn id="50" fill="hold">
                            <p:stCondLst>
                              <p:cond delay="3000"/>
                            </p:stCondLst>
                            <p:childTnLst>
                              <p:par>
                                <p:cTn id="51" presetID="9" presetClass="entr" presetSubtype="0" fill="hold" nodeType="afterEffect">
                                  <p:stCondLst>
                                    <p:cond delay="0"/>
                                  </p:stCondLst>
                                  <p:childTnLst>
                                    <p:set>
                                      <p:cBhvr>
                                        <p:cTn id="52" dur="1" fill="hold">
                                          <p:stCondLst>
                                            <p:cond delay="0"/>
                                          </p:stCondLst>
                                        </p:cTn>
                                        <p:tgtEl>
                                          <p:spTgt spid="1113"/>
                                        </p:tgtEl>
                                        <p:attrNameLst>
                                          <p:attrName>style.visibility</p:attrName>
                                        </p:attrNameLst>
                                      </p:cBhvr>
                                      <p:to>
                                        <p:strVal val="visible"/>
                                      </p:to>
                                    </p:set>
                                    <p:animEffect transition="in" filter="dissolve">
                                      <p:cBhvr>
                                        <p:cTn id="53" dur="500"/>
                                        <p:tgtEl>
                                          <p:spTgt spid="1113"/>
                                        </p:tgtEl>
                                      </p:cBhvr>
                                    </p:animEffect>
                                  </p:childTnLst>
                                </p:cTn>
                              </p:par>
                            </p:childTnLst>
                          </p:cTn>
                        </p:par>
                        <p:par>
                          <p:cTn id="54" fill="hold">
                            <p:stCondLst>
                              <p:cond delay="3500"/>
                            </p:stCondLst>
                            <p:childTnLst>
                              <p:par>
                                <p:cTn id="55" presetID="0" presetClass="path" presetSubtype="0" accel="50000" decel="50000" fill="hold" nodeType="afterEffect">
                                  <p:stCondLst>
                                    <p:cond delay="0"/>
                                  </p:stCondLst>
                                  <p:childTnLst>
                                    <p:animMotion origin="layout" path="M 0.07735 -0.01829 L -0.02942 0.05208 L -0.16276 0.0037 L -0.28893 0.03449 L -0.46106 0.01018 L -0.56901 0.0368 " pathEditMode="relative" rAng="0" ptsTypes="AAAAAA">
                                      <p:cBhvr>
                                        <p:cTn id="56" dur="2000" fill="hold"/>
                                        <p:tgtEl>
                                          <p:spTgt spid="1113"/>
                                        </p:tgtEl>
                                        <p:attrNameLst>
                                          <p:attrName>ppt_x</p:attrName>
                                          <p:attrName>ppt_y</p:attrName>
                                        </p:attrNameLst>
                                      </p:cBhvr>
                                      <p:rCtr x="-32318" y="3519"/>
                                    </p:animMotion>
                                  </p:childTnLst>
                                </p:cTn>
                              </p:par>
                            </p:childTnLst>
                          </p:cTn>
                        </p:par>
                        <p:par>
                          <p:cTn id="57" fill="hold">
                            <p:stCondLst>
                              <p:cond delay="5500"/>
                            </p:stCondLst>
                            <p:childTnLst>
                              <p:par>
                                <p:cTn id="58" presetID="9" presetClass="exit" presetSubtype="0" fill="hold" nodeType="afterEffect">
                                  <p:stCondLst>
                                    <p:cond delay="0"/>
                                  </p:stCondLst>
                                  <p:childTnLst>
                                    <p:animEffect transition="out" filter="dissolve">
                                      <p:cBhvr>
                                        <p:cTn id="59" dur="500"/>
                                        <p:tgtEl>
                                          <p:spTgt spid="1113"/>
                                        </p:tgtEl>
                                      </p:cBhvr>
                                    </p:animEffect>
                                    <p:set>
                                      <p:cBhvr>
                                        <p:cTn id="60" dur="1" fill="hold">
                                          <p:stCondLst>
                                            <p:cond delay="499"/>
                                          </p:stCondLst>
                                        </p:cTn>
                                        <p:tgtEl>
                                          <p:spTgt spid="1113"/>
                                        </p:tgtEl>
                                        <p:attrNameLst>
                                          <p:attrName>style.visibility</p:attrName>
                                        </p:attrNameLst>
                                      </p:cBhvr>
                                      <p:to>
                                        <p:strVal val="hidden"/>
                                      </p:to>
                                    </p:set>
                                  </p:childTnLst>
                                </p:cTn>
                              </p:par>
                            </p:childTnLst>
                          </p:cTn>
                        </p:par>
                        <p:par>
                          <p:cTn id="61" fill="hold">
                            <p:stCondLst>
                              <p:cond delay="6000"/>
                            </p:stCondLst>
                            <p:childTnLst>
                              <p:par>
                                <p:cTn id="62" presetID="9" presetClass="entr" presetSubtype="0" fill="hold" nodeType="afterEffect">
                                  <p:stCondLst>
                                    <p:cond delay="0"/>
                                  </p:stCondLst>
                                  <p:childTnLst>
                                    <p:set>
                                      <p:cBhvr>
                                        <p:cTn id="63" dur="1" fill="hold">
                                          <p:stCondLst>
                                            <p:cond delay="0"/>
                                          </p:stCondLst>
                                        </p:cTn>
                                        <p:tgtEl>
                                          <p:spTgt spid="28"/>
                                        </p:tgtEl>
                                        <p:attrNameLst>
                                          <p:attrName>style.visibility</p:attrName>
                                        </p:attrNameLst>
                                      </p:cBhvr>
                                      <p:to>
                                        <p:strVal val="visible"/>
                                      </p:to>
                                    </p:set>
                                    <p:animEffect transition="in" filter="dissolve">
                                      <p:cBhvr>
                                        <p:cTn id="64" dur="500"/>
                                        <p:tgtEl>
                                          <p:spTgt spid="28"/>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123"/>
                                        </p:tgtEl>
                                        <p:attrNameLst>
                                          <p:attrName>style.visibility</p:attrName>
                                        </p:attrNameLst>
                                      </p:cBhvr>
                                      <p:to>
                                        <p:strVal val="visible"/>
                                      </p:to>
                                    </p:set>
                                    <p:animEffect transition="in" filter="dissolve">
                                      <p:cBhvr>
                                        <p:cTn id="69" dur="500"/>
                                        <p:tgtEl>
                                          <p:spTgt spid="1123"/>
                                        </p:tgtEl>
                                      </p:cBhvr>
                                    </p:animEffect>
                                  </p:childTnLst>
                                </p:cTn>
                              </p:par>
                            </p:childTnLst>
                          </p:cTn>
                        </p:par>
                        <p:par>
                          <p:cTn id="70" fill="hold">
                            <p:stCondLst>
                              <p:cond delay="500"/>
                            </p:stCondLst>
                            <p:childTnLst>
                              <p:par>
                                <p:cTn id="71" presetID="9" presetClass="exit" presetSubtype="0" fill="hold" nodeType="afterEffect">
                                  <p:stCondLst>
                                    <p:cond delay="0"/>
                                  </p:stCondLst>
                                  <p:childTnLst>
                                    <p:animEffect transition="out" filter="dissolve">
                                      <p:cBhvr>
                                        <p:cTn id="72" dur="500"/>
                                        <p:tgtEl>
                                          <p:spTgt spid="28"/>
                                        </p:tgtEl>
                                      </p:cBhvr>
                                    </p:animEffect>
                                    <p:set>
                                      <p:cBhvr>
                                        <p:cTn id="73" dur="1" fill="hold">
                                          <p:stCondLst>
                                            <p:cond delay="499"/>
                                          </p:stCondLst>
                                        </p:cTn>
                                        <p:tgtEl>
                                          <p:spTgt spid="28"/>
                                        </p:tgtEl>
                                        <p:attrNameLst>
                                          <p:attrName>style.visibility</p:attrName>
                                        </p:attrNameLst>
                                      </p:cBhvr>
                                      <p:to>
                                        <p:strVal val="hidden"/>
                                      </p:to>
                                    </p:set>
                                  </p:childTnLst>
                                </p:cTn>
                              </p:par>
                            </p:childTnLst>
                          </p:cTn>
                        </p:par>
                        <p:par>
                          <p:cTn id="74" fill="hold">
                            <p:stCondLst>
                              <p:cond delay="1000"/>
                            </p:stCondLst>
                            <p:childTnLst>
                              <p:par>
                                <p:cTn id="75" presetID="9" presetClass="entr" presetSubtype="0" fill="hold" nodeType="afterEffect">
                                  <p:stCondLst>
                                    <p:cond delay="0"/>
                                  </p:stCondLst>
                                  <p:childTnLst>
                                    <p:set>
                                      <p:cBhvr>
                                        <p:cTn id="76" dur="1" fill="hold">
                                          <p:stCondLst>
                                            <p:cond delay="0"/>
                                          </p:stCondLst>
                                        </p:cTn>
                                        <p:tgtEl>
                                          <p:spTgt spid="1121"/>
                                        </p:tgtEl>
                                        <p:attrNameLst>
                                          <p:attrName>style.visibility</p:attrName>
                                        </p:attrNameLst>
                                      </p:cBhvr>
                                      <p:to>
                                        <p:strVal val="visible"/>
                                      </p:to>
                                    </p:set>
                                    <p:animEffect transition="in" filter="dissolve">
                                      <p:cBhvr>
                                        <p:cTn id="77" dur="500"/>
                                        <p:tgtEl>
                                          <p:spTgt spid="1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bldP spid="1122" grpId="0"/>
      <p:bldP spid="1123"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178" name="Group 485"/>
          <p:cNvGrpSpPr/>
          <p:nvPr/>
        </p:nvGrpSpPr>
        <p:grpSpPr bwMode="auto">
          <a:xfrm>
            <a:off x="2644455" y="3770050"/>
            <a:ext cx="7044059" cy="2764362"/>
            <a:chOff x="399122" y="1433580"/>
            <a:chExt cx="8437848" cy="5258263"/>
          </a:xfrm>
        </p:grpSpPr>
        <p:sp>
          <p:nvSpPr>
            <p:cNvPr id="214743" name="Freeform 84"/>
            <p:cNvSpPr/>
            <p:nvPr/>
          </p:nvSpPr>
          <p:spPr bwMode="auto">
            <a:xfrm>
              <a:off x="1825540" y="224137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44" name="Freeform 84"/>
            <p:cNvSpPr/>
            <p:nvPr/>
          </p:nvSpPr>
          <p:spPr bwMode="auto">
            <a:xfrm>
              <a:off x="669684" y="304141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45" name="Freeform 84"/>
            <p:cNvSpPr/>
            <p:nvPr/>
          </p:nvSpPr>
          <p:spPr bwMode="auto">
            <a:xfrm>
              <a:off x="6334646" y="249535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46" name="Freeform 84"/>
            <p:cNvSpPr/>
            <p:nvPr/>
          </p:nvSpPr>
          <p:spPr bwMode="auto">
            <a:xfrm>
              <a:off x="1241261" y="535263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47" name="Freeform 84"/>
            <p:cNvSpPr/>
            <p:nvPr/>
          </p:nvSpPr>
          <p:spPr bwMode="auto">
            <a:xfrm>
              <a:off x="822105" y="4730385"/>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48" name="Freeform 84"/>
            <p:cNvSpPr/>
            <p:nvPr/>
          </p:nvSpPr>
          <p:spPr bwMode="auto">
            <a:xfrm>
              <a:off x="593474" y="407003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49" name="Freeform 84"/>
            <p:cNvSpPr/>
            <p:nvPr/>
          </p:nvSpPr>
          <p:spPr bwMode="auto">
            <a:xfrm>
              <a:off x="7084047" y="292712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50" name="Freeform 84"/>
            <p:cNvSpPr/>
            <p:nvPr/>
          </p:nvSpPr>
          <p:spPr bwMode="auto">
            <a:xfrm>
              <a:off x="3425955" y="200009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51" name="Freeform 84"/>
            <p:cNvSpPr/>
            <p:nvPr/>
          </p:nvSpPr>
          <p:spPr bwMode="auto">
            <a:xfrm>
              <a:off x="1050735" y="264774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52" name="Freeform 84"/>
            <p:cNvSpPr/>
            <p:nvPr/>
          </p:nvSpPr>
          <p:spPr bwMode="auto">
            <a:xfrm>
              <a:off x="4340478" y="19746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53" name="Freeform 84"/>
            <p:cNvSpPr/>
            <p:nvPr/>
          </p:nvSpPr>
          <p:spPr bwMode="auto">
            <a:xfrm>
              <a:off x="7401589" y="560661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54" name="Freeform 84"/>
            <p:cNvSpPr/>
            <p:nvPr/>
          </p:nvSpPr>
          <p:spPr bwMode="auto">
            <a:xfrm>
              <a:off x="8239902" y="495896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55" name="Freeform 84"/>
            <p:cNvSpPr/>
            <p:nvPr/>
          </p:nvSpPr>
          <p:spPr bwMode="auto">
            <a:xfrm>
              <a:off x="8011271" y="404463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56" name="Freeform 84"/>
            <p:cNvSpPr/>
            <p:nvPr/>
          </p:nvSpPr>
          <p:spPr bwMode="auto">
            <a:xfrm>
              <a:off x="5166088" y="58478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57" name="Freeform 84"/>
            <p:cNvSpPr/>
            <p:nvPr/>
          </p:nvSpPr>
          <p:spPr bwMode="auto">
            <a:xfrm>
              <a:off x="4251565" y="598758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58" name="Freeform 84"/>
            <p:cNvSpPr/>
            <p:nvPr/>
          </p:nvSpPr>
          <p:spPr bwMode="auto">
            <a:xfrm>
              <a:off x="3032203" y="58351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59" name="TextBox 4"/>
            <p:cNvSpPr txBox="1">
              <a:spLocks noChangeArrowheads="1"/>
            </p:cNvSpPr>
            <p:nvPr/>
          </p:nvSpPr>
          <p:spPr bwMode="auto">
            <a:xfrm rot="307360">
              <a:off x="5241476" y="1433580"/>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800">
                  <a:solidFill>
                    <a:srgbClr val="0000FF"/>
                  </a:solidFill>
                </a:rPr>
                <a:t>…</a:t>
              </a:r>
              <a:endParaRPr lang="en-US" altLang="en-US" sz="2800">
                <a:solidFill>
                  <a:srgbClr val="0000FF"/>
                </a:solidFill>
              </a:endParaRPr>
            </a:p>
          </p:txBody>
        </p:sp>
        <p:sp>
          <p:nvSpPr>
            <p:cNvPr id="214760" name="TextBox 179"/>
            <p:cNvSpPr txBox="1">
              <a:spLocks noChangeArrowheads="1"/>
            </p:cNvSpPr>
            <p:nvPr/>
          </p:nvSpPr>
          <p:spPr bwMode="auto">
            <a:xfrm rot="2829263">
              <a:off x="7390643" y="3033432"/>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800">
                  <a:solidFill>
                    <a:srgbClr val="0000FF"/>
                  </a:solidFill>
                </a:rPr>
                <a:t>…</a:t>
              </a:r>
              <a:endParaRPr lang="en-US" altLang="en-US" sz="2800">
                <a:solidFill>
                  <a:srgbClr val="0000FF"/>
                </a:solidFill>
              </a:endParaRPr>
            </a:p>
          </p:txBody>
        </p:sp>
        <p:sp>
          <p:nvSpPr>
            <p:cNvPr id="214761" name="TextBox 180"/>
            <p:cNvSpPr txBox="1">
              <a:spLocks noChangeArrowheads="1"/>
            </p:cNvSpPr>
            <p:nvPr/>
          </p:nvSpPr>
          <p:spPr bwMode="auto">
            <a:xfrm rot="9845918">
              <a:off x="6341242" y="5649517"/>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800">
                  <a:solidFill>
                    <a:srgbClr val="0000FF"/>
                  </a:solidFill>
                </a:rPr>
                <a:t>…</a:t>
              </a:r>
              <a:endParaRPr lang="en-US" altLang="en-US" sz="2800">
                <a:solidFill>
                  <a:srgbClr val="0000FF"/>
                </a:solidFill>
              </a:endParaRPr>
            </a:p>
          </p:txBody>
        </p:sp>
        <p:sp>
          <p:nvSpPr>
            <p:cNvPr id="214762" name="TextBox 181"/>
            <p:cNvSpPr txBox="1">
              <a:spLocks noChangeArrowheads="1"/>
            </p:cNvSpPr>
            <p:nvPr/>
          </p:nvSpPr>
          <p:spPr bwMode="auto">
            <a:xfrm rot="11651262">
              <a:off x="2063761" y="5696594"/>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800">
                  <a:solidFill>
                    <a:srgbClr val="0000FF"/>
                  </a:solidFill>
                </a:rPr>
                <a:t>…</a:t>
              </a:r>
              <a:endParaRPr lang="en-US" altLang="en-US" sz="2800">
                <a:solidFill>
                  <a:srgbClr val="0000FF"/>
                </a:solidFill>
              </a:endParaRPr>
            </a:p>
          </p:txBody>
        </p:sp>
        <p:sp>
          <p:nvSpPr>
            <p:cNvPr id="214763" name="TextBox 182"/>
            <p:cNvSpPr txBox="1">
              <a:spLocks noChangeArrowheads="1"/>
            </p:cNvSpPr>
            <p:nvPr/>
          </p:nvSpPr>
          <p:spPr bwMode="auto">
            <a:xfrm rot="16607303">
              <a:off x="195356" y="3660805"/>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800">
                  <a:solidFill>
                    <a:srgbClr val="0000FF"/>
                  </a:solidFill>
                </a:rPr>
                <a:t>…</a:t>
              </a:r>
              <a:endParaRPr lang="en-US" altLang="en-US" sz="2800">
                <a:solidFill>
                  <a:srgbClr val="0000FF"/>
                </a:solidFill>
              </a:endParaRPr>
            </a:p>
          </p:txBody>
        </p:sp>
        <p:sp>
          <p:nvSpPr>
            <p:cNvPr id="214764" name="TextBox 183"/>
            <p:cNvSpPr txBox="1">
              <a:spLocks noChangeArrowheads="1"/>
            </p:cNvSpPr>
            <p:nvPr/>
          </p:nvSpPr>
          <p:spPr bwMode="auto">
            <a:xfrm rot="21079349">
              <a:off x="2482310" y="1498432"/>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800">
                  <a:solidFill>
                    <a:srgbClr val="0000FF"/>
                  </a:solidFill>
                </a:rPr>
                <a:t>…</a:t>
              </a:r>
              <a:endParaRPr lang="en-US" altLang="en-US" sz="2800">
                <a:solidFill>
                  <a:srgbClr val="0000FF"/>
                </a:solidFill>
              </a:endParaRPr>
            </a:p>
          </p:txBody>
        </p:sp>
        <p:grpSp>
          <p:nvGrpSpPr>
            <p:cNvPr id="214765" name="Group 8"/>
            <p:cNvGrpSpPr/>
            <p:nvPr/>
          </p:nvGrpSpPr>
          <p:grpSpPr bwMode="auto">
            <a:xfrm>
              <a:off x="4546600" y="3746496"/>
              <a:ext cx="3225799" cy="1117598"/>
              <a:chOff x="7848600" y="2044700"/>
              <a:chExt cx="3200399" cy="1371600"/>
            </a:xfrm>
          </p:grpSpPr>
          <p:sp>
            <p:nvSpPr>
              <p:cNvPr id="214961" name="Oval 3"/>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962" name="Group 133"/>
              <p:cNvGrpSpPr/>
              <p:nvPr/>
            </p:nvGrpSpPr>
            <p:grpSpPr bwMode="auto">
              <a:xfrm>
                <a:off x="8526482" y="2160804"/>
                <a:ext cx="532759" cy="184809"/>
                <a:chOff x="2356" y="1300"/>
                <a:chExt cx="555" cy="194"/>
              </a:xfrm>
            </p:grpSpPr>
            <p:sp>
              <p:nvSpPr>
                <p:cNvPr id="215035"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5036"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5037"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5038" name="Group 137"/>
                <p:cNvGrpSpPr/>
                <p:nvPr/>
              </p:nvGrpSpPr>
              <p:grpSpPr bwMode="auto">
                <a:xfrm>
                  <a:off x="2468" y="1332"/>
                  <a:ext cx="310" cy="60"/>
                  <a:chOff x="2468" y="1332"/>
                  <a:chExt cx="310" cy="60"/>
                </a:xfrm>
              </p:grpSpPr>
              <p:sp>
                <p:nvSpPr>
                  <p:cNvPr id="246785"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786"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5039" name="Line 140"/>
                <p:cNvSpPr>
                  <a:spLocks noChangeShapeType="1"/>
                </p:cNvSpPr>
                <p:nvPr/>
              </p:nvSpPr>
              <p:spPr bwMode="auto">
                <a:xfrm>
                  <a:off x="2357" y="1362"/>
                  <a:ext cx="0" cy="82"/>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46784" name="Line 141"/>
                <p:cNvSpPr>
                  <a:spLocks noChangeShapeType="1"/>
                </p:cNvSpPr>
                <p:nvPr/>
              </p:nvSpPr>
              <p:spPr bwMode="auto">
                <a:xfrm>
                  <a:off x="2908" y="1364"/>
                  <a:ext cx="0" cy="82"/>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cxnSp>
            <p:nvCxnSpPr>
              <p:cNvPr id="214963" name="Straight Connector 10"/>
              <p:cNvCxnSpPr>
                <a:cxnSpLocks noChangeShapeType="1"/>
                <a:stCxn id="246784" idx="0"/>
              </p:cNvCxnSpPr>
              <p:nvPr/>
            </p:nvCxnSpPr>
            <p:spPr bwMode="auto">
              <a:xfrm>
                <a:off x="9055401" y="2220819"/>
                <a:ext cx="975377" cy="13653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964" name="Straight Connector 297"/>
              <p:cNvCxnSpPr>
                <a:cxnSpLocks noChangeShapeType="1"/>
              </p:cNvCxnSpPr>
              <p:nvPr/>
            </p:nvCxnSpPr>
            <p:spPr bwMode="auto">
              <a:xfrm>
                <a:off x="9522191" y="2583188"/>
                <a:ext cx="120745" cy="8339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965" name="Straight Connector 298"/>
              <p:cNvCxnSpPr>
                <a:cxnSpLocks noChangeShapeType="1"/>
              </p:cNvCxnSpPr>
              <p:nvPr/>
            </p:nvCxnSpPr>
            <p:spPr bwMode="auto">
              <a:xfrm flipV="1">
                <a:off x="9323081" y="2786992"/>
                <a:ext cx="243358" cy="4562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966" name="Straight Connector 299"/>
              <p:cNvCxnSpPr>
                <a:cxnSpLocks noChangeShapeType="1"/>
              </p:cNvCxnSpPr>
              <p:nvPr/>
            </p:nvCxnSpPr>
            <p:spPr bwMode="auto">
              <a:xfrm flipV="1">
                <a:off x="9028147" y="2611644"/>
                <a:ext cx="192778" cy="10958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967" name="Straight Connector 300"/>
              <p:cNvCxnSpPr>
                <a:cxnSpLocks noChangeShapeType="1"/>
              </p:cNvCxnSpPr>
              <p:nvPr/>
            </p:nvCxnSpPr>
            <p:spPr bwMode="auto">
              <a:xfrm flipV="1">
                <a:off x="8729859" y="2909476"/>
                <a:ext cx="192778" cy="10958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968" name="Straight Connector 301"/>
              <p:cNvCxnSpPr>
                <a:cxnSpLocks noChangeShapeType="1"/>
              </p:cNvCxnSpPr>
              <p:nvPr/>
            </p:nvCxnSpPr>
            <p:spPr bwMode="auto">
              <a:xfrm flipV="1">
                <a:off x="9537887" y="2836224"/>
                <a:ext cx="252969" cy="25294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969" name="Straight Connector 302"/>
              <p:cNvCxnSpPr>
                <a:cxnSpLocks noChangeShapeType="1"/>
              </p:cNvCxnSpPr>
              <p:nvPr/>
            </p:nvCxnSpPr>
            <p:spPr bwMode="auto">
              <a:xfrm flipH="1" flipV="1">
                <a:off x="10029359" y="2822067"/>
                <a:ext cx="354959" cy="124390"/>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970" name="Straight Connector 303"/>
              <p:cNvCxnSpPr>
                <a:cxnSpLocks noChangeShapeType="1"/>
              </p:cNvCxnSpPr>
              <p:nvPr/>
            </p:nvCxnSpPr>
            <p:spPr bwMode="auto">
              <a:xfrm flipV="1">
                <a:off x="10015190" y="2475242"/>
                <a:ext cx="283363" cy="19566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971" name="Straight Connector 304"/>
              <p:cNvCxnSpPr>
                <a:cxnSpLocks noChangeShapeType="1"/>
                <a:endCxn id="215035" idx="4"/>
              </p:cNvCxnSpPr>
              <p:nvPr/>
            </p:nvCxnSpPr>
            <p:spPr bwMode="auto">
              <a:xfrm flipH="1" flipV="1">
                <a:off x="8791902" y="2345614"/>
                <a:ext cx="410984" cy="87180"/>
              </a:xfrm>
              <a:prstGeom prst="line">
                <a:avLst/>
              </a:prstGeom>
              <a:noFill/>
              <a:ln w="3175">
                <a:solidFill>
                  <a:schemeClr val="tx1"/>
                </a:solidFill>
                <a:round/>
              </a:ln>
              <a:extLst>
                <a:ext uri="{909E8E84-426E-40DD-AFC4-6F175D3DCCD1}">
                  <a14:hiddenFill xmlns:a14="http://schemas.microsoft.com/office/drawing/2010/main">
                    <a:noFill/>
                  </a14:hiddenFill>
                </a:ext>
              </a:extLst>
            </p:spPr>
          </p:cxnSp>
          <p:grpSp>
            <p:nvGrpSpPr>
              <p:cNvPr id="214972" name="Group 133"/>
              <p:cNvGrpSpPr/>
              <p:nvPr/>
            </p:nvGrpSpPr>
            <p:grpSpPr bwMode="auto">
              <a:xfrm>
                <a:off x="9555206" y="2650627"/>
                <a:ext cx="532759" cy="184809"/>
                <a:chOff x="2356" y="1300"/>
                <a:chExt cx="555" cy="194"/>
              </a:xfrm>
            </p:grpSpPr>
            <p:sp>
              <p:nvSpPr>
                <p:cNvPr id="215027"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5028"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5029"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5030" name="Group 137"/>
                <p:cNvGrpSpPr/>
                <p:nvPr/>
              </p:nvGrpSpPr>
              <p:grpSpPr bwMode="auto">
                <a:xfrm>
                  <a:off x="2468" y="1332"/>
                  <a:ext cx="310" cy="60"/>
                  <a:chOff x="2468" y="1332"/>
                  <a:chExt cx="310" cy="60"/>
                </a:xfrm>
              </p:grpSpPr>
              <p:sp>
                <p:nvSpPr>
                  <p:cNvPr id="215033"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34"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5031" name="Line 140"/>
                <p:cNvSpPr>
                  <a:spLocks noChangeShapeType="1"/>
                </p:cNvSpPr>
                <p:nvPr/>
              </p:nvSpPr>
              <p:spPr bwMode="auto">
                <a:xfrm>
                  <a:off x="2358"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5032"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973" name="Group 133"/>
              <p:cNvGrpSpPr/>
              <p:nvPr/>
            </p:nvGrpSpPr>
            <p:grpSpPr bwMode="auto">
              <a:xfrm>
                <a:off x="8772607" y="2725609"/>
                <a:ext cx="532759" cy="184809"/>
                <a:chOff x="2356" y="1300"/>
                <a:chExt cx="555" cy="194"/>
              </a:xfrm>
            </p:grpSpPr>
            <p:sp>
              <p:nvSpPr>
                <p:cNvPr id="215019"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5020"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5021"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5022" name="Group 137"/>
                <p:cNvGrpSpPr/>
                <p:nvPr/>
              </p:nvGrpSpPr>
              <p:grpSpPr bwMode="auto">
                <a:xfrm>
                  <a:off x="2468" y="1332"/>
                  <a:ext cx="310" cy="60"/>
                  <a:chOff x="2468" y="1332"/>
                  <a:chExt cx="310" cy="60"/>
                </a:xfrm>
              </p:grpSpPr>
              <p:sp>
                <p:nvSpPr>
                  <p:cNvPr id="215025"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26"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5023" name="Line 140"/>
                <p:cNvSpPr>
                  <a:spLocks noChangeShapeType="1"/>
                </p:cNvSpPr>
                <p:nvPr/>
              </p:nvSpPr>
              <p:spPr bwMode="auto">
                <a:xfrm>
                  <a:off x="2358" y="1356"/>
                  <a:ext cx="0" cy="88"/>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5024" name="Line 141"/>
                <p:cNvSpPr>
                  <a:spLocks noChangeShapeType="1"/>
                </p:cNvSpPr>
                <p:nvPr/>
              </p:nvSpPr>
              <p:spPr bwMode="auto">
                <a:xfrm>
                  <a:off x="2908" y="1358"/>
                  <a:ext cx="0" cy="86"/>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974" name="Group 133"/>
              <p:cNvGrpSpPr/>
              <p:nvPr/>
            </p:nvGrpSpPr>
            <p:grpSpPr bwMode="auto">
              <a:xfrm>
                <a:off x="9060908" y="2428111"/>
                <a:ext cx="532759" cy="184809"/>
                <a:chOff x="2356" y="1300"/>
                <a:chExt cx="555" cy="194"/>
              </a:xfrm>
            </p:grpSpPr>
            <p:sp>
              <p:nvSpPr>
                <p:cNvPr id="215011"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5012"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5013"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5014" name="Group 137"/>
                <p:cNvGrpSpPr/>
                <p:nvPr/>
              </p:nvGrpSpPr>
              <p:grpSpPr bwMode="auto">
                <a:xfrm>
                  <a:off x="2468" y="1332"/>
                  <a:ext cx="310" cy="60"/>
                  <a:chOff x="2468" y="1332"/>
                  <a:chExt cx="310" cy="60"/>
                </a:xfrm>
              </p:grpSpPr>
              <p:sp>
                <p:nvSpPr>
                  <p:cNvPr id="215017"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18"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5015" name="Line 140"/>
                <p:cNvSpPr>
                  <a:spLocks noChangeShapeType="1"/>
                </p:cNvSpPr>
                <p:nvPr/>
              </p:nvSpPr>
              <p:spPr bwMode="auto">
                <a:xfrm>
                  <a:off x="2358" y="1362"/>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5016" name="Line 141"/>
                <p:cNvSpPr>
                  <a:spLocks noChangeShapeType="1"/>
                </p:cNvSpPr>
                <p:nvPr/>
              </p:nvSpPr>
              <p:spPr bwMode="auto">
                <a:xfrm>
                  <a:off x="2908" y="1364"/>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975" name="Group 133"/>
              <p:cNvGrpSpPr/>
              <p:nvPr/>
            </p:nvGrpSpPr>
            <p:grpSpPr bwMode="auto">
              <a:xfrm>
                <a:off x="10005281" y="2289952"/>
                <a:ext cx="532759" cy="184809"/>
                <a:chOff x="2356" y="1300"/>
                <a:chExt cx="555" cy="194"/>
              </a:xfrm>
            </p:grpSpPr>
            <p:sp>
              <p:nvSpPr>
                <p:cNvPr id="215003"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5004"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5005"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5006" name="Group 137"/>
                <p:cNvGrpSpPr/>
                <p:nvPr/>
              </p:nvGrpSpPr>
              <p:grpSpPr bwMode="auto">
                <a:xfrm>
                  <a:off x="2468" y="1332"/>
                  <a:ext cx="310" cy="60"/>
                  <a:chOff x="2468" y="1332"/>
                  <a:chExt cx="310" cy="60"/>
                </a:xfrm>
              </p:grpSpPr>
              <p:sp>
                <p:nvSpPr>
                  <p:cNvPr id="215009"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10"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5007" name="Line 140"/>
                <p:cNvSpPr>
                  <a:spLocks noChangeShapeType="1"/>
                </p:cNvSpPr>
                <p:nvPr/>
              </p:nvSpPr>
              <p:spPr bwMode="auto">
                <a:xfrm>
                  <a:off x="2357" y="1362"/>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5008" name="Line 141"/>
                <p:cNvSpPr>
                  <a:spLocks noChangeShapeType="1"/>
                </p:cNvSpPr>
                <p:nvPr/>
              </p:nvSpPr>
              <p:spPr bwMode="auto">
                <a:xfrm>
                  <a:off x="2908" y="1364"/>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976" name="Group 133"/>
              <p:cNvGrpSpPr/>
              <p:nvPr/>
            </p:nvGrpSpPr>
            <p:grpSpPr bwMode="auto">
              <a:xfrm>
                <a:off x="10232661" y="2882876"/>
                <a:ext cx="532759" cy="184809"/>
                <a:chOff x="2356" y="1300"/>
                <a:chExt cx="555" cy="194"/>
              </a:xfrm>
            </p:grpSpPr>
            <p:sp>
              <p:nvSpPr>
                <p:cNvPr id="214995"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96"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97"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998" name="Group 137"/>
                <p:cNvGrpSpPr/>
                <p:nvPr/>
              </p:nvGrpSpPr>
              <p:grpSpPr bwMode="auto">
                <a:xfrm>
                  <a:off x="2468" y="1332"/>
                  <a:ext cx="310" cy="60"/>
                  <a:chOff x="2468" y="1332"/>
                  <a:chExt cx="310" cy="60"/>
                </a:xfrm>
              </p:grpSpPr>
              <p:sp>
                <p:nvSpPr>
                  <p:cNvPr id="215001"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02"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999" name="Line 140"/>
                <p:cNvSpPr>
                  <a:spLocks noChangeShapeType="1"/>
                </p:cNvSpPr>
                <p:nvPr/>
              </p:nvSpPr>
              <p:spPr bwMode="auto">
                <a:xfrm>
                  <a:off x="2358"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5000"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977" name="Group 133"/>
              <p:cNvGrpSpPr/>
              <p:nvPr/>
            </p:nvGrpSpPr>
            <p:grpSpPr bwMode="auto">
              <a:xfrm>
                <a:off x="9330660" y="3072767"/>
                <a:ext cx="532759" cy="184809"/>
                <a:chOff x="2356" y="1300"/>
                <a:chExt cx="555" cy="194"/>
              </a:xfrm>
            </p:grpSpPr>
            <p:sp>
              <p:nvSpPr>
                <p:cNvPr id="214987"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88"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89"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990" name="Group 137"/>
                <p:cNvGrpSpPr/>
                <p:nvPr/>
              </p:nvGrpSpPr>
              <p:grpSpPr bwMode="auto">
                <a:xfrm>
                  <a:off x="2468" y="1332"/>
                  <a:ext cx="310" cy="60"/>
                  <a:chOff x="2468" y="1332"/>
                  <a:chExt cx="310" cy="60"/>
                </a:xfrm>
              </p:grpSpPr>
              <p:sp>
                <p:nvSpPr>
                  <p:cNvPr id="214993"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994"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991" name="Line 140"/>
                <p:cNvSpPr>
                  <a:spLocks noChangeShapeType="1"/>
                </p:cNvSpPr>
                <p:nvPr/>
              </p:nvSpPr>
              <p:spPr bwMode="auto">
                <a:xfrm>
                  <a:off x="2358" y="1362"/>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992" name="Line 141"/>
                <p:cNvSpPr>
                  <a:spLocks noChangeShapeType="1"/>
                </p:cNvSpPr>
                <p:nvPr/>
              </p:nvSpPr>
              <p:spPr bwMode="auto">
                <a:xfrm>
                  <a:off x="2907" y="1364"/>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978" name="Group 133"/>
              <p:cNvGrpSpPr/>
              <p:nvPr/>
            </p:nvGrpSpPr>
            <p:grpSpPr bwMode="auto">
              <a:xfrm>
                <a:off x="8438032" y="3018963"/>
                <a:ext cx="532759" cy="184809"/>
                <a:chOff x="2356" y="1300"/>
                <a:chExt cx="555" cy="194"/>
              </a:xfrm>
            </p:grpSpPr>
            <p:sp>
              <p:nvSpPr>
                <p:cNvPr id="214979"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80"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81"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982" name="Group 137"/>
                <p:cNvGrpSpPr/>
                <p:nvPr/>
              </p:nvGrpSpPr>
              <p:grpSpPr bwMode="auto">
                <a:xfrm>
                  <a:off x="2468" y="1332"/>
                  <a:ext cx="310" cy="60"/>
                  <a:chOff x="2468" y="1332"/>
                  <a:chExt cx="310" cy="60"/>
                </a:xfrm>
              </p:grpSpPr>
              <p:sp>
                <p:nvSpPr>
                  <p:cNvPr id="214985"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986"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983" name="Line 140"/>
                <p:cNvSpPr>
                  <a:spLocks noChangeShapeType="1"/>
                </p:cNvSpPr>
                <p:nvPr/>
              </p:nvSpPr>
              <p:spPr bwMode="auto">
                <a:xfrm>
                  <a:off x="2357"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984" name="Line 141"/>
                <p:cNvSpPr>
                  <a:spLocks noChangeShapeType="1"/>
                </p:cNvSpPr>
                <p:nvPr/>
              </p:nvSpPr>
              <p:spPr bwMode="auto">
                <a:xfrm>
                  <a:off x="2910"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grpSp>
          <p:nvGrpSpPr>
            <p:cNvPr id="214766" name="Group 331"/>
            <p:cNvGrpSpPr/>
            <p:nvPr/>
          </p:nvGrpSpPr>
          <p:grpSpPr bwMode="auto">
            <a:xfrm>
              <a:off x="1803401" y="2755897"/>
              <a:ext cx="3467099" cy="1193800"/>
              <a:chOff x="7848600" y="2044700"/>
              <a:chExt cx="3200399" cy="1371600"/>
            </a:xfrm>
          </p:grpSpPr>
          <p:sp>
            <p:nvSpPr>
              <p:cNvPr id="214879" name="Oval 332"/>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880" name="Group 133"/>
              <p:cNvGrpSpPr/>
              <p:nvPr/>
            </p:nvGrpSpPr>
            <p:grpSpPr bwMode="auto">
              <a:xfrm>
                <a:off x="8526482" y="2160804"/>
                <a:ext cx="532759" cy="184809"/>
                <a:chOff x="2356" y="1300"/>
                <a:chExt cx="555" cy="194"/>
              </a:xfrm>
            </p:grpSpPr>
            <p:sp>
              <p:nvSpPr>
                <p:cNvPr id="214953"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54"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55"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956" name="Group 137"/>
                <p:cNvGrpSpPr/>
                <p:nvPr/>
              </p:nvGrpSpPr>
              <p:grpSpPr bwMode="auto">
                <a:xfrm>
                  <a:off x="2468" y="1332"/>
                  <a:ext cx="310" cy="60"/>
                  <a:chOff x="2468" y="1332"/>
                  <a:chExt cx="310" cy="60"/>
                </a:xfrm>
              </p:grpSpPr>
              <p:sp>
                <p:nvSpPr>
                  <p:cNvPr id="214959"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960"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957" name="Line 140"/>
                <p:cNvSpPr>
                  <a:spLocks noChangeShapeType="1"/>
                </p:cNvSpPr>
                <p:nvPr/>
              </p:nvSpPr>
              <p:spPr bwMode="auto">
                <a:xfrm>
                  <a:off x="2358" y="1362"/>
                  <a:ext cx="0" cy="82"/>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958" name="Line 141"/>
                <p:cNvSpPr>
                  <a:spLocks noChangeShapeType="1"/>
                </p:cNvSpPr>
                <p:nvPr/>
              </p:nvSpPr>
              <p:spPr bwMode="auto">
                <a:xfrm>
                  <a:off x="2906" y="1364"/>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cxnSp>
            <p:nvCxnSpPr>
              <p:cNvPr id="214881" name="Straight Connector 334"/>
              <p:cNvCxnSpPr>
                <a:cxnSpLocks noChangeShapeType="1"/>
                <a:stCxn id="214958" idx="0"/>
              </p:cNvCxnSpPr>
              <p:nvPr/>
            </p:nvCxnSpPr>
            <p:spPr bwMode="auto">
              <a:xfrm>
                <a:off x="9055401" y="2220819"/>
                <a:ext cx="975377" cy="13653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882" name="Straight Connector 335"/>
              <p:cNvCxnSpPr>
                <a:cxnSpLocks noChangeShapeType="1"/>
              </p:cNvCxnSpPr>
              <p:nvPr/>
            </p:nvCxnSpPr>
            <p:spPr bwMode="auto">
              <a:xfrm>
                <a:off x="9522191" y="2583188"/>
                <a:ext cx="120745" cy="8339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883" name="Straight Connector 336"/>
              <p:cNvCxnSpPr>
                <a:cxnSpLocks noChangeShapeType="1"/>
              </p:cNvCxnSpPr>
              <p:nvPr/>
            </p:nvCxnSpPr>
            <p:spPr bwMode="auto">
              <a:xfrm flipV="1">
                <a:off x="9323081" y="2786992"/>
                <a:ext cx="243358" cy="4562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884" name="Straight Connector 337"/>
              <p:cNvCxnSpPr>
                <a:cxnSpLocks noChangeShapeType="1"/>
              </p:cNvCxnSpPr>
              <p:nvPr/>
            </p:nvCxnSpPr>
            <p:spPr bwMode="auto">
              <a:xfrm flipV="1">
                <a:off x="9028147" y="2611644"/>
                <a:ext cx="192778" cy="10958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885" name="Straight Connector 338"/>
              <p:cNvCxnSpPr>
                <a:cxnSpLocks noChangeShapeType="1"/>
              </p:cNvCxnSpPr>
              <p:nvPr/>
            </p:nvCxnSpPr>
            <p:spPr bwMode="auto">
              <a:xfrm flipV="1">
                <a:off x="8729859" y="2909476"/>
                <a:ext cx="192778" cy="10958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886" name="Straight Connector 339"/>
              <p:cNvCxnSpPr>
                <a:cxnSpLocks noChangeShapeType="1"/>
              </p:cNvCxnSpPr>
              <p:nvPr/>
            </p:nvCxnSpPr>
            <p:spPr bwMode="auto">
              <a:xfrm flipV="1">
                <a:off x="9537887" y="2836224"/>
                <a:ext cx="252969" cy="25294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887" name="Straight Connector 340"/>
              <p:cNvCxnSpPr>
                <a:cxnSpLocks noChangeShapeType="1"/>
              </p:cNvCxnSpPr>
              <p:nvPr/>
            </p:nvCxnSpPr>
            <p:spPr bwMode="auto">
              <a:xfrm flipH="1" flipV="1">
                <a:off x="10029359" y="2822067"/>
                <a:ext cx="354959" cy="124390"/>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888" name="Straight Connector 341"/>
              <p:cNvCxnSpPr>
                <a:cxnSpLocks noChangeShapeType="1"/>
              </p:cNvCxnSpPr>
              <p:nvPr/>
            </p:nvCxnSpPr>
            <p:spPr bwMode="auto">
              <a:xfrm flipV="1">
                <a:off x="10015190" y="2475242"/>
                <a:ext cx="283363" cy="19566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889" name="Straight Connector 342"/>
              <p:cNvCxnSpPr>
                <a:cxnSpLocks noChangeShapeType="1"/>
                <a:endCxn id="214953" idx="4"/>
              </p:cNvCxnSpPr>
              <p:nvPr/>
            </p:nvCxnSpPr>
            <p:spPr bwMode="auto">
              <a:xfrm flipH="1" flipV="1">
                <a:off x="8791902" y="2345614"/>
                <a:ext cx="410984" cy="87180"/>
              </a:xfrm>
              <a:prstGeom prst="line">
                <a:avLst/>
              </a:prstGeom>
              <a:noFill/>
              <a:ln w="3175">
                <a:solidFill>
                  <a:schemeClr val="tx1"/>
                </a:solidFill>
                <a:round/>
              </a:ln>
              <a:extLst>
                <a:ext uri="{909E8E84-426E-40DD-AFC4-6F175D3DCCD1}">
                  <a14:hiddenFill xmlns:a14="http://schemas.microsoft.com/office/drawing/2010/main">
                    <a:noFill/>
                  </a14:hiddenFill>
                </a:ext>
              </a:extLst>
            </p:spPr>
          </p:cxnSp>
          <p:grpSp>
            <p:nvGrpSpPr>
              <p:cNvPr id="214890" name="Group 133"/>
              <p:cNvGrpSpPr/>
              <p:nvPr/>
            </p:nvGrpSpPr>
            <p:grpSpPr bwMode="auto">
              <a:xfrm>
                <a:off x="9555206" y="2650627"/>
                <a:ext cx="532759" cy="184809"/>
                <a:chOff x="2356" y="1300"/>
                <a:chExt cx="555" cy="194"/>
              </a:xfrm>
            </p:grpSpPr>
            <p:sp>
              <p:nvSpPr>
                <p:cNvPr id="214945"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46"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47"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948" name="Group 137"/>
                <p:cNvGrpSpPr/>
                <p:nvPr/>
              </p:nvGrpSpPr>
              <p:grpSpPr bwMode="auto">
                <a:xfrm>
                  <a:off x="2468" y="1332"/>
                  <a:ext cx="310" cy="60"/>
                  <a:chOff x="2468" y="1332"/>
                  <a:chExt cx="310" cy="60"/>
                </a:xfrm>
              </p:grpSpPr>
              <p:sp>
                <p:nvSpPr>
                  <p:cNvPr id="214951"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952"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949" name="Line 140"/>
                <p:cNvSpPr>
                  <a:spLocks noChangeShapeType="1"/>
                </p:cNvSpPr>
                <p:nvPr/>
              </p:nvSpPr>
              <p:spPr bwMode="auto">
                <a:xfrm>
                  <a:off x="2358"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950" name="Line 141"/>
                <p:cNvSpPr>
                  <a:spLocks noChangeShapeType="1"/>
                </p:cNvSpPr>
                <p:nvPr/>
              </p:nvSpPr>
              <p:spPr bwMode="auto">
                <a:xfrm>
                  <a:off x="2906"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891" name="Group 133"/>
              <p:cNvGrpSpPr/>
              <p:nvPr/>
            </p:nvGrpSpPr>
            <p:grpSpPr bwMode="auto">
              <a:xfrm>
                <a:off x="8772607" y="2725609"/>
                <a:ext cx="532759" cy="184809"/>
                <a:chOff x="2356" y="1300"/>
                <a:chExt cx="555" cy="194"/>
              </a:xfrm>
            </p:grpSpPr>
            <p:sp>
              <p:nvSpPr>
                <p:cNvPr id="214937"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38"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39"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940" name="Group 137"/>
                <p:cNvGrpSpPr/>
                <p:nvPr/>
              </p:nvGrpSpPr>
              <p:grpSpPr bwMode="auto">
                <a:xfrm>
                  <a:off x="2468" y="1332"/>
                  <a:ext cx="310" cy="60"/>
                  <a:chOff x="2468" y="1332"/>
                  <a:chExt cx="310" cy="60"/>
                </a:xfrm>
              </p:grpSpPr>
              <p:sp>
                <p:nvSpPr>
                  <p:cNvPr id="214943"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944"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941" name="Line 140"/>
                <p:cNvSpPr>
                  <a:spLocks noChangeShapeType="1"/>
                </p:cNvSpPr>
                <p:nvPr/>
              </p:nvSpPr>
              <p:spPr bwMode="auto">
                <a:xfrm>
                  <a:off x="2358"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942" name="Line 141"/>
                <p:cNvSpPr>
                  <a:spLocks noChangeShapeType="1"/>
                </p:cNvSpPr>
                <p:nvPr/>
              </p:nvSpPr>
              <p:spPr bwMode="auto">
                <a:xfrm>
                  <a:off x="2906"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892" name="Group 133"/>
              <p:cNvGrpSpPr/>
              <p:nvPr/>
            </p:nvGrpSpPr>
            <p:grpSpPr bwMode="auto">
              <a:xfrm>
                <a:off x="9060908" y="2428111"/>
                <a:ext cx="532759" cy="184809"/>
                <a:chOff x="2356" y="1300"/>
                <a:chExt cx="555" cy="194"/>
              </a:xfrm>
            </p:grpSpPr>
            <p:sp>
              <p:nvSpPr>
                <p:cNvPr id="214929"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30"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31"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932" name="Group 137"/>
                <p:cNvGrpSpPr/>
                <p:nvPr/>
              </p:nvGrpSpPr>
              <p:grpSpPr bwMode="auto">
                <a:xfrm>
                  <a:off x="2468" y="1332"/>
                  <a:ext cx="310" cy="60"/>
                  <a:chOff x="2468" y="1332"/>
                  <a:chExt cx="310" cy="60"/>
                </a:xfrm>
              </p:grpSpPr>
              <p:sp>
                <p:nvSpPr>
                  <p:cNvPr id="214935"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936"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933" name="Line 140"/>
                <p:cNvSpPr>
                  <a:spLocks noChangeShapeType="1"/>
                </p:cNvSpPr>
                <p:nvPr/>
              </p:nvSpPr>
              <p:spPr bwMode="auto">
                <a:xfrm>
                  <a:off x="2357"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934" name="Line 141"/>
                <p:cNvSpPr>
                  <a:spLocks noChangeShapeType="1"/>
                </p:cNvSpPr>
                <p:nvPr/>
              </p:nvSpPr>
              <p:spPr bwMode="auto">
                <a:xfrm>
                  <a:off x="2907"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893" name="Group 133"/>
              <p:cNvGrpSpPr/>
              <p:nvPr/>
            </p:nvGrpSpPr>
            <p:grpSpPr bwMode="auto">
              <a:xfrm>
                <a:off x="10005281" y="2289952"/>
                <a:ext cx="532759" cy="184809"/>
                <a:chOff x="2356" y="1300"/>
                <a:chExt cx="555" cy="194"/>
              </a:xfrm>
            </p:grpSpPr>
            <p:sp>
              <p:nvSpPr>
                <p:cNvPr id="214921"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22"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23"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924" name="Group 137"/>
                <p:cNvGrpSpPr/>
                <p:nvPr/>
              </p:nvGrpSpPr>
              <p:grpSpPr bwMode="auto">
                <a:xfrm>
                  <a:off x="2468" y="1332"/>
                  <a:ext cx="310" cy="60"/>
                  <a:chOff x="2468" y="1332"/>
                  <a:chExt cx="310" cy="60"/>
                </a:xfrm>
              </p:grpSpPr>
              <p:sp>
                <p:nvSpPr>
                  <p:cNvPr id="214927"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928"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925" name="Line 140"/>
                <p:cNvSpPr>
                  <a:spLocks noChangeShapeType="1"/>
                </p:cNvSpPr>
                <p:nvPr/>
              </p:nvSpPr>
              <p:spPr bwMode="auto">
                <a:xfrm>
                  <a:off x="2358" y="1360"/>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926" name="Line 141"/>
                <p:cNvSpPr>
                  <a:spLocks noChangeShapeType="1"/>
                </p:cNvSpPr>
                <p:nvPr/>
              </p:nvSpPr>
              <p:spPr bwMode="auto">
                <a:xfrm>
                  <a:off x="2906" y="1362"/>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894" name="Group 133"/>
              <p:cNvGrpSpPr/>
              <p:nvPr/>
            </p:nvGrpSpPr>
            <p:grpSpPr bwMode="auto">
              <a:xfrm>
                <a:off x="10232661" y="2882876"/>
                <a:ext cx="532759" cy="184809"/>
                <a:chOff x="2356" y="1300"/>
                <a:chExt cx="555" cy="194"/>
              </a:xfrm>
            </p:grpSpPr>
            <p:sp>
              <p:nvSpPr>
                <p:cNvPr id="214913"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14"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15"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916" name="Group 137"/>
                <p:cNvGrpSpPr/>
                <p:nvPr/>
              </p:nvGrpSpPr>
              <p:grpSpPr bwMode="auto">
                <a:xfrm>
                  <a:off x="2468" y="1332"/>
                  <a:ext cx="310" cy="60"/>
                  <a:chOff x="2468" y="1332"/>
                  <a:chExt cx="310" cy="60"/>
                </a:xfrm>
              </p:grpSpPr>
              <p:sp>
                <p:nvSpPr>
                  <p:cNvPr id="214919"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920"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917" name="Line 140"/>
                <p:cNvSpPr>
                  <a:spLocks noChangeShapeType="1"/>
                </p:cNvSpPr>
                <p:nvPr/>
              </p:nvSpPr>
              <p:spPr bwMode="auto">
                <a:xfrm>
                  <a:off x="2358" y="1362"/>
                  <a:ext cx="0" cy="82"/>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918" name="Line 141"/>
                <p:cNvSpPr>
                  <a:spLocks noChangeShapeType="1"/>
                </p:cNvSpPr>
                <p:nvPr/>
              </p:nvSpPr>
              <p:spPr bwMode="auto">
                <a:xfrm>
                  <a:off x="2906" y="1364"/>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895" name="Group 133"/>
              <p:cNvGrpSpPr/>
              <p:nvPr/>
            </p:nvGrpSpPr>
            <p:grpSpPr bwMode="auto">
              <a:xfrm>
                <a:off x="9330660" y="3072767"/>
                <a:ext cx="532759" cy="184809"/>
                <a:chOff x="2356" y="1300"/>
                <a:chExt cx="555" cy="194"/>
              </a:xfrm>
            </p:grpSpPr>
            <p:sp>
              <p:nvSpPr>
                <p:cNvPr id="214905"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06"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907"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908" name="Group 137"/>
                <p:cNvGrpSpPr/>
                <p:nvPr/>
              </p:nvGrpSpPr>
              <p:grpSpPr bwMode="auto">
                <a:xfrm>
                  <a:off x="2468" y="1332"/>
                  <a:ext cx="310" cy="60"/>
                  <a:chOff x="2468" y="1332"/>
                  <a:chExt cx="310" cy="60"/>
                </a:xfrm>
              </p:grpSpPr>
              <p:sp>
                <p:nvSpPr>
                  <p:cNvPr id="214911"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912"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909" name="Line 140"/>
                <p:cNvSpPr>
                  <a:spLocks noChangeShapeType="1"/>
                </p:cNvSpPr>
                <p:nvPr/>
              </p:nvSpPr>
              <p:spPr bwMode="auto">
                <a:xfrm>
                  <a:off x="2357" y="1362"/>
                  <a:ext cx="0" cy="82"/>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910" name="Line 141"/>
                <p:cNvSpPr>
                  <a:spLocks noChangeShapeType="1"/>
                </p:cNvSpPr>
                <p:nvPr/>
              </p:nvSpPr>
              <p:spPr bwMode="auto">
                <a:xfrm>
                  <a:off x="2907" y="1364"/>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896" name="Group 133"/>
              <p:cNvGrpSpPr/>
              <p:nvPr/>
            </p:nvGrpSpPr>
            <p:grpSpPr bwMode="auto">
              <a:xfrm>
                <a:off x="8438032" y="3018963"/>
                <a:ext cx="532759" cy="184809"/>
                <a:chOff x="2356" y="1300"/>
                <a:chExt cx="555" cy="194"/>
              </a:xfrm>
            </p:grpSpPr>
            <p:sp>
              <p:nvSpPr>
                <p:cNvPr id="214897"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98"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99"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900" name="Group 137"/>
                <p:cNvGrpSpPr/>
                <p:nvPr/>
              </p:nvGrpSpPr>
              <p:grpSpPr bwMode="auto">
                <a:xfrm>
                  <a:off x="2468" y="1332"/>
                  <a:ext cx="310" cy="60"/>
                  <a:chOff x="2468" y="1332"/>
                  <a:chExt cx="310" cy="60"/>
                </a:xfrm>
              </p:grpSpPr>
              <p:sp>
                <p:nvSpPr>
                  <p:cNvPr id="214903"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904"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901" name="Line 140"/>
                <p:cNvSpPr>
                  <a:spLocks noChangeShapeType="1"/>
                </p:cNvSpPr>
                <p:nvPr/>
              </p:nvSpPr>
              <p:spPr bwMode="auto">
                <a:xfrm>
                  <a:off x="2357" y="1361"/>
                  <a:ext cx="0" cy="79"/>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902" name="Line 141"/>
                <p:cNvSpPr>
                  <a:spLocks noChangeShapeType="1"/>
                </p:cNvSpPr>
                <p:nvPr/>
              </p:nvSpPr>
              <p:spPr bwMode="auto">
                <a:xfrm>
                  <a:off x="2907"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sp>
          <p:nvSpPr>
            <p:cNvPr id="214767" name="Oval 417"/>
            <p:cNvSpPr>
              <a:spLocks noChangeArrowheads="1"/>
            </p:cNvSpPr>
            <p:nvPr/>
          </p:nvSpPr>
          <p:spPr bwMode="auto">
            <a:xfrm>
              <a:off x="1498600" y="4165596"/>
              <a:ext cx="3086099" cy="1168400"/>
            </a:xfrm>
            <a:prstGeom prst="ellipse">
              <a:avLst/>
            </a:prstGeom>
            <a:solidFill>
              <a:schemeClr val="accent1"/>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768" name="Group 133"/>
            <p:cNvGrpSpPr/>
            <p:nvPr/>
          </p:nvGrpSpPr>
          <p:grpSpPr bwMode="auto">
            <a:xfrm>
              <a:off x="2152273" y="4264500"/>
              <a:ext cx="513732" cy="157430"/>
              <a:chOff x="2356" y="1300"/>
              <a:chExt cx="555" cy="194"/>
            </a:xfrm>
          </p:grpSpPr>
          <p:sp>
            <p:nvSpPr>
              <p:cNvPr id="214871" name="Oval 492"/>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72"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73"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874" name="Group 137"/>
              <p:cNvGrpSpPr/>
              <p:nvPr/>
            </p:nvGrpSpPr>
            <p:grpSpPr bwMode="auto">
              <a:xfrm>
                <a:off x="2468" y="1332"/>
                <a:ext cx="310" cy="60"/>
                <a:chOff x="2468" y="1332"/>
                <a:chExt cx="310" cy="60"/>
              </a:xfrm>
            </p:grpSpPr>
            <p:sp>
              <p:nvSpPr>
                <p:cNvPr id="214877"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878"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875" name="Line 140"/>
              <p:cNvSpPr>
                <a:spLocks noChangeShapeType="1"/>
              </p:cNvSpPr>
              <p:nvPr/>
            </p:nvSpPr>
            <p:spPr bwMode="auto">
              <a:xfrm>
                <a:off x="2358" y="1360"/>
                <a:ext cx="0" cy="80"/>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876" name="Line 141"/>
              <p:cNvSpPr>
                <a:spLocks noChangeShapeType="1"/>
              </p:cNvSpPr>
              <p:nvPr/>
            </p:nvSpPr>
            <p:spPr bwMode="auto">
              <a:xfrm>
                <a:off x="2907" y="1362"/>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cxnSp>
          <p:nvCxnSpPr>
            <p:cNvPr id="214769" name="Straight Connector 419"/>
            <p:cNvCxnSpPr>
              <a:cxnSpLocks noChangeShapeType="1"/>
              <a:stCxn id="214876" idx="0"/>
            </p:cNvCxnSpPr>
            <p:nvPr/>
          </p:nvCxnSpPr>
          <p:spPr bwMode="auto">
            <a:xfrm>
              <a:off x="2662301" y="4315623"/>
              <a:ext cx="940541" cy="116307"/>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70" name="Straight Connector 420"/>
            <p:cNvCxnSpPr>
              <a:cxnSpLocks noChangeShapeType="1"/>
            </p:cNvCxnSpPr>
            <p:nvPr/>
          </p:nvCxnSpPr>
          <p:spPr bwMode="auto">
            <a:xfrm>
              <a:off x="3112420" y="4624308"/>
              <a:ext cx="116433" cy="71038"/>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71" name="Straight Connector 421"/>
            <p:cNvCxnSpPr>
              <a:cxnSpLocks noChangeShapeType="1"/>
            </p:cNvCxnSpPr>
            <p:nvPr/>
          </p:nvCxnSpPr>
          <p:spPr bwMode="auto">
            <a:xfrm flipV="1">
              <a:off x="2920421" y="4797919"/>
              <a:ext cx="234667" cy="3886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72" name="Straight Connector 422"/>
            <p:cNvCxnSpPr>
              <a:cxnSpLocks noChangeShapeType="1"/>
            </p:cNvCxnSpPr>
            <p:nvPr/>
          </p:nvCxnSpPr>
          <p:spPr bwMode="auto">
            <a:xfrm flipV="1">
              <a:off x="2636021" y="4648548"/>
              <a:ext cx="185893" cy="93348"/>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73" name="Straight Connector 423"/>
            <p:cNvCxnSpPr>
              <a:cxnSpLocks noChangeShapeType="1"/>
            </p:cNvCxnSpPr>
            <p:nvPr/>
          </p:nvCxnSpPr>
          <p:spPr bwMode="auto">
            <a:xfrm flipV="1">
              <a:off x="2348386" y="4902256"/>
              <a:ext cx="185893" cy="93348"/>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74" name="Straight Connector 424"/>
            <p:cNvCxnSpPr>
              <a:cxnSpLocks noChangeShapeType="1"/>
            </p:cNvCxnSpPr>
            <p:nvPr/>
          </p:nvCxnSpPr>
          <p:spPr bwMode="auto">
            <a:xfrm flipV="1">
              <a:off x="3127556" y="4839857"/>
              <a:ext cx="243934" cy="215470"/>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75" name="Straight Connector 425"/>
            <p:cNvCxnSpPr>
              <a:cxnSpLocks noChangeShapeType="1"/>
            </p:cNvCxnSpPr>
            <p:nvPr/>
          </p:nvCxnSpPr>
          <p:spPr bwMode="auto">
            <a:xfrm flipH="1" flipV="1">
              <a:off x="3601475" y="4827798"/>
              <a:ext cx="342282" cy="105961"/>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76" name="Straight Connector 426"/>
            <p:cNvCxnSpPr>
              <a:cxnSpLocks noChangeShapeType="1"/>
            </p:cNvCxnSpPr>
            <p:nvPr/>
          </p:nvCxnSpPr>
          <p:spPr bwMode="auto">
            <a:xfrm flipV="1">
              <a:off x="3587811" y="4532353"/>
              <a:ext cx="273243" cy="166677"/>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77" name="Straight Connector 427"/>
            <p:cNvCxnSpPr>
              <a:cxnSpLocks noChangeShapeType="1"/>
              <a:endCxn id="214871" idx="4"/>
            </p:cNvCxnSpPr>
            <p:nvPr/>
          </p:nvCxnSpPr>
          <p:spPr bwMode="auto">
            <a:xfrm flipH="1" flipV="1">
              <a:off x="2408213" y="4421930"/>
              <a:ext cx="396306" cy="74264"/>
            </a:xfrm>
            <a:prstGeom prst="line">
              <a:avLst/>
            </a:prstGeom>
            <a:noFill/>
            <a:ln w="3175">
              <a:solidFill>
                <a:schemeClr val="tx1"/>
              </a:solidFill>
              <a:round/>
            </a:ln>
            <a:extLst>
              <a:ext uri="{909E8E84-426E-40DD-AFC4-6F175D3DCCD1}">
                <a14:hiddenFill xmlns:a14="http://schemas.microsoft.com/office/drawing/2010/main">
                  <a:noFill/>
                </a14:hiddenFill>
              </a:ext>
            </a:extLst>
          </p:spPr>
        </p:cxnSp>
        <p:grpSp>
          <p:nvGrpSpPr>
            <p:cNvPr id="214778" name="Group 133"/>
            <p:cNvGrpSpPr/>
            <p:nvPr/>
          </p:nvGrpSpPr>
          <p:grpSpPr bwMode="auto">
            <a:xfrm>
              <a:off x="3144256" y="4681756"/>
              <a:ext cx="513732" cy="157430"/>
              <a:chOff x="2356" y="1300"/>
              <a:chExt cx="555" cy="194"/>
            </a:xfrm>
          </p:grpSpPr>
          <p:sp>
            <p:nvSpPr>
              <p:cNvPr id="214863"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64"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65"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866" name="Group 137"/>
              <p:cNvGrpSpPr/>
              <p:nvPr/>
            </p:nvGrpSpPr>
            <p:grpSpPr bwMode="auto">
              <a:xfrm>
                <a:off x="2468" y="1332"/>
                <a:ext cx="310" cy="60"/>
                <a:chOff x="2468" y="1332"/>
                <a:chExt cx="310" cy="60"/>
              </a:xfrm>
            </p:grpSpPr>
            <p:sp>
              <p:nvSpPr>
                <p:cNvPr id="214869"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870"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867" name="Line 140"/>
              <p:cNvSpPr>
                <a:spLocks noChangeShapeType="1"/>
              </p:cNvSpPr>
              <p:nvPr/>
            </p:nvSpPr>
            <p:spPr bwMode="auto">
              <a:xfrm>
                <a:off x="2358" y="1360"/>
                <a:ext cx="0" cy="80"/>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868" name="Line 141"/>
              <p:cNvSpPr>
                <a:spLocks noChangeShapeType="1"/>
              </p:cNvSpPr>
              <p:nvPr/>
            </p:nvSpPr>
            <p:spPr bwMode="auto">
              <a:xfrm>
                <a:off x="2907" y="1362"/>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779" name="Group 133"/>
            <p:cNvGrpSpPr/>
            <p:nvPr/>
          </p:nvGrpSpPr>
          <p:grpSpPr bwMode="auto">
            <a:xfrm>
              <a:off x="2389607" y="4745631"/>
              <a:ext cx="513732" cy="157430"/>
              <a:chOff x="2356" y="1300"/>
              <a:chExt cx="555" cy="194"/>
            </a:xfrm>
          </p:grpSpPr>
          <p:sp>
            <p:nvSpPr>
              <p:cNvPr id="214855"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56"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57"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858" name="Group 137"/>
              <p:cNvGrpSpPr/>
              <p:nvPr/>
            </p:nvGrpSpPr>
            <p:grpSpPr bwMode="auto">
              <a:xfrm>
                <a:off x="2468" y="1332"/>
                <a:ext cx="310" cy="60"/>
                <a:chOff x="2468" y="1332"/>
                <a:chExt cx="310" cy="60"/>
              </a:xfrm>
            </p:grpSpPr>
            <p:sp>
              <p:nvSpPr>
                <p:cNvPr id="214861"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862"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859" name="Line 140"/>
              <p:cNvSpPr>
                <a:spLocks noChangeShapeType="1"/>
              </p:cNvSpPr>
              <p:nvPr/>
            </p:nvSpPr>
            <p:spPr bwMode="auto">
              <a:xfrm>
                <a:off x="2357" y="1360"/>
                <a:ext cx="0" cy="86"/>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860" name="Line 141"/>
              <p:cNvSpPr>
                <a:spLocks noChangeShapeType="1"/>
              </p:cNvSpPr>
              <p:nvPr/>
            </p:nvSpPr>
            <p:spPr bwMode="auto">
              <a:xfrm>
                <a:off x="2908" y="1362"/>
                <a:ext cx="0" cy="86"/>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780" name="Group 133"/>
            <p:cNvGrpSpPr/>
            <p:nvPr/>
          </p:nvGrpSpPr>
          <p:grpSpPr bwMode="auto">
            <a:xfrm>
              <a:off x="2667612" y="4492206"/>
              <a:ext cx="513732" cy="157430"/>
              <a:chOff x="2356" y="1300"/>
              <a:chExt cx="555" cy="194"/>
            </a:xfrm>
          </p:grpSpPr>
          <p:sp>
            <p:nvSpPr>
              <p:cNvPr id="214847"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48"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49"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850" name="Group 137"/>
              <p:cNvGrpSpPr/>
              <p:nvPr/>
            </p:nvGrpSpPr>
            <p:grpSpPr bwMode="auto">
              <a:xfrm>
                <a:off x="2468" y="1332"/>
                <a:ext cx="310" cy="60"/>
                <a:chOff x="2468" y="1332"/>
                <a:chExt cx="310" cy="60"/>
              </a:xfrm>
            </p:grpSpPr>
            <p:sp>
              <p:nvSpPr>
                <p:cNvPr id="214853"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854"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851" name="Line 140"/>
              <p:cNvSpPr>
                <a:spLocks noChangeShapeType="1"/>
              </p:cNvSpPr>
              <p:nvPr/>
            </p:nvSpPr>
            <p:spPr bwMode="auto">
              <a:xfrm>
                <a:off x="2357"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852"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781" name="Group 133"/>
            <p:cNvGrpSpPr/>
            <p:nvPr/>
          </p:nvGrpSpPr>
          <p:grpSpPr bwMode="auto">
            <a:xfrm>
              <a:off x="3578257" y="4374514"/>
              <a:ext cx="513732" cy="157430"/>
              <a:chOff x="2356" y="1300"/>
              <a:chExt cx="555" cy="194"/>
            </a:xfrm>
          </p:grpSpPr>
          <p:sp>
            <p:nvSpPr>
              <p:cNvPr id="214839"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40"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41"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842" name="Group 137"/>
              <p:cNvGrpSpPr/>
              <p:nvPr/>
            </p:nvGrpSpPr>
            <p:grpSpPr bwMode="auto">
              <a:xfrm>
                <a:off x="2468" y="1332"/>
                <a:ext cx="310" cy="60"/>
                <a:chOff x="2468" y="1332"/>
                <a:chExt cx="310" cy="60"/>
              </a:xfrm>
            </p:grpSpPr>
            <p:sp>
              <p:nvSpPr>
                <p:cNvPr id="214845"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846"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843" name="Line 140"/>
              <p:cNvSpPr>
                <a:spLocks noChangeShapeType="1"/>
              </p:cNvSpPr>
              <p:nvPr/>
            </p:nvSpPr>
            <p:spPr bwMode="auto">
              <a:xfrm>
                <a:off x="2358"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844"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782" name="Group 133"/>
            <p:cNvGrpSpPr/>
            <p:nvPr/>
          </p:nvGrpSpPr>
          <p:grpSpPr bwMode="auto">
            <a:xfrm>
              <a:off x="3797517" y="4879598"/>
              <a:ext cx="513732" cy="157430"/>
              <a:chOff x="2356" y="1300"/>
              <a:chExt cx="555" cy="194"/>
            </a:xfrm>
          </p:grpSpPr>
          <p:sp>
            <p:nvSpPr>
              <p:cNvPr id="214831"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32"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33"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834" name="Group 137"/>
              <p:cNvGrpSpPr/>
              <p:nvPr/>
            </p:nvGrpSpPr>
            <p:grpSpPr bwMode="auto">
              <a:xfrm>
                <a:off x="2468" y="1332"/>
                <a:ext cx="310" cy="60"/>
                <a:chOff x="2468" y="1332"/>
                <a:chExt cx="310" cy="60"/>
              </a:xfrm>
            </p:grpSpPr>
            <p:sp>
              <p:nvSpPr>
                <p:cNvPr id="214837"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838"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835" name="Line 140"/>
              <p:cNvSpPr>
                <a:spLocks noChangeShapeType="1"/>
              </p:cNvSpPr>
              <p:nvPr/>
            </p:nvSpPr>
            <p:spPr bwMode="auto">
              <a:xfrm>
                <a:off x="2357"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836"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783" name="Group 133"/>
            <p:cNvGrpSpPr/>
            <p:nvPr/>
          </p:nvGrpSpPr>
          <p:grpSpPr bwMode="auto">
            <a:xfrm>
              <a:off x="2927730" y="5041357"/>
              <a:ext cx="513732" cy="157430"/>
              <a:chOff x="2356" y="1300"/>
              <a:chExt cx="555" cy="194"/>
            </a:xfrm>
          </p:grpSpPr>
          <p:sp>
            <p:nvSpPr>
              <p:cNvPr id="214823"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24"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25"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826" name="Group 137"/>
              <p:cNvGrpSpPr/>
              <p:nvPr/>
            </p:nvGrpSpPr>
            <p:grpSpPr bwMode="auto">
              <a:xfrm>
                <a:off x="2468" y="1332"/>
                <a:ext cx="310" cy="60"/>
                <a:chOff x="2468" y="1332"/>
                <a:chExt cx="310" cy="60"/>
              </a:xfrm>
            </p:grpSpPr>
            <p:sp>
              <p:nvSpPr>
                <p:cNvPr id="214829"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830"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827" name="Line 140"/>
              <p:cNvSpPr>
                <a:spLocks noChangeShapeType="1"/>
              </p:cNvSpPr>
              <p:nvPr/>
            </p:nvSpPr>
            <p:spPr bwMode="auto">
              <a:xfrm>
                <a:off x="2357"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828"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grpSp>
          <p:nvGrpSpPr>
            <p:cNvPr id="214784" name="Group 133"/>
            <p:cNvGrpSpPr/>
            <p:nvPr/>
          </p:nvGrpSpPr>
          <p:grpSpPr bwMode="auto">
            <a:xfrm>
              <a:off x="2066981" y="4995523"/>
              <a:ext cx="513732" cy="157430"/>
              <a:chOff x="2356" y="1300"/>
              <a:chExt cx="555" cy="194"/>
            </a:xfrm>
          </p:grpSpPr>
          <p:sp>
            <p:nvSpPr>
              <p:cNvPr id="214815"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16"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latin typeface="Times New Roman" panose="02020603050405020304" pitchFamily="18" charset="0"/>
                </a:endParaRPr>
              </a:p>
            </p:txBody>
          </p:sp>
          <p:sp>
            <p:nvSpPr>
              <p:cNvPr id="214817"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latin typeface="Times New Roman" panose="02020603050405020304" pitchFamily="18" charset="0"/>
                </a:endParaRPr>
              </a:p>
            </p:txBody>
          </p:sp>
          <p:grpSp>
            <p:nvGrpSpPr>
              <p:cNvPr id="214818" name="Group 137"/>
              <p:cNvGrpSpPr/>
              <p:nvPr/>
            </p:nvGrpSpPr>
            <p:grpSpPr bwMode="auto">
              <a:xfrm>
                <a:off x="2468" y="1332"/>
                <a:ext cx="310" cy="60"/>
                <a:chOff x="2468" y="1332"/>
                <a:chExt cx="310" cy="60"/>
              </a:xfrm>
            </p:grpSpPr>
            <p:sp>
              <p:nvSpPr>
                <p:cNvPr id="214821" name="Freeform 13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822" name="Freeform 13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819" name="Line 140"/>
              <p:cNvSpPr>
                <a:spLocks noChangeShapeType="1"/>
              </p:cNvSpPr>
              <p:nvPr/>
            </p:nvSpPr>
            <p:spPr bwMode="auto">
              <a:xfrm>
                <a:off x="2358" y="1361"/>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sp>
            <p:nvSpPr>
              <p:cNvPr id="214820" name="Line 141"/>
              <p:cNvSpPr>
                <a:spLocks noChangeShapeType="1"/>
              </p:cNvSpPr>
              <p:nvPr/>
            </p:nvSpPr>
            <p:spPr bwMode="auto">
              <a:xfrm>
                <a:off x="2908" y="1363"/>
                <a:ext cx="0" cy="84"/>
              </a:xfrm>
              <a:prstGeom prst="line">
                <a:avLst/>
              </a:prstGeom>
              <a:noFill/>
              <a:ln w="317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cxnSp>
          <p:nvCxnSpPr>
            <p:cNvPr id="214785" name="Straight Connector 12"/>
            <p:cNvCxnSpPr>
              <a:cxnSpLocks noChangeShapeType="1"/>
              <a:endCxn id="214955" idx="1"/>
            </p:cNvCxnSpPr>
            <p:nvPr/>
          </p:nvCxnSpPr>
          <p:spPr bwMode="auto">
            <a:xfrm>
              <a:off x="2382838" y="2609848"/>
              <a:ext cx="238125" cy="261938"/>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86" name="Straight Connector 500"/>
            <p:cNvCxnSpPr>
              <a:cxnSpLocks noChangeShapeType="1"/>
              <a:stCxn id="214751" idx="8"/>
              <a:endCxn id="214812" idx="2"/>
            </p:cNvCxnSpPr>
            <p:nvPr/>
          </p:nvCxnSpPr>
          <p:spPr bwMode="auto">
            <a:xfrm>
              <a:off x="1455738" y="2990846"/>
              <a:ext cx="38100" cy="309563"/>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87" name="Straight Connector 501"/>
            <p:cNvCxnSpPr>
              <a:cxnSpLocks noChangeShapeType="1"/>
              <a:endCxn id="214812" idx="3"/>
            </p:cNvCxnSpPr>
            <p:nvPr/>
          </p:nvCxnSpPr>
          <p:spPr bwMode="auto">
            <a:xfrm>
              <a:off x="1235076" y="3271835"/>
              <a:ext cx="123825" cy="21272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88" name="Straight Connector 502"/>
            <p:cNvCxnSpPr>
              <a:cxnSpLocks noChangeShapeType="1"/>
              <a:endCxn id="214923" idx="1"/>
            </p:cNvCxnSpPr>
            <p:nvPr/>
          </p:nvCxnSpPr>
          <p:spPr bwMode="auto">
            <a:xfrm>
              <a:off x="3916362" y="2411411"/>
              <a:ext cx="307975" cy="573086"/>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89" name="Straight Connector 503"/>
            <p:cNvCxnSpPr>
              <a:cxnSpLocks noChangeShapeType="1"/>
              <a:endCxn id="214923" idx="0"/>
            </p:cNvCxnSpPr>
            <p:nvPr/>
          </p:nvCxnSpPr>
          <p:spPr bwMode="auto">
            <a:xfrm flipH="1">
              <a:off x="4425950" y="2389186"/>
              <a:ext cx="384175" cy="579436"/>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90" name="Straight Connector 504"/>
            <p:cNvCxnSpPr>
              <a:cxnSpLocks noChangeShapeType="1"/>
              <a:endCxn id="215005" idx="0"/>
            </p:cNvCxnSpPr>
            <p:nvPr/>
          </p:nvCxnSpPr>
          <p:spPr bwMode="auto">
            <a:xfrm>
              <a:off x="6770687" y="2900361"/>
              <a:ext cx="215899" cy="1046161"/>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91" name="Straight Connector 505"/>
            <p:cNvCxnSpPr>
              <a:cxnSpLocks noChangeShapeType="1"/>
            </p:cNvCxnSpPr>
            <p:nvPr/>
          </p:nvCxnSpPr>
          <p:spPr bwMode="auto">
            <a:xfrm flipH="1">
              <a:off x="7137398" y="3251197"/>
              <a:ext cx="241300" cy="692150"/>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92" name="Straight Connector 506"/>
            <p:cNvCxnSpPr>
              <a:cxnSpLocks noChangeShapeType="1"/>
              <a:stCxn id="214755" idx="4"/>
              <a:endCxn id="215000" idx="0"/>
            </p:cNvCxnSpPr>
            <p:nvPr/>
          </p:nvCxnSpPr>
          <p:spPr bwMode="auto">
            <a:xfrm flipH="1">
              <a:off x="7483473" y="4229096"/>
              <a:ext cx="541338" cy="249239"/>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93" name="Straight Connector 507"/>
            <p:cNvCxnSpPr>
              <a:cxnSpLocks noChangeShapeType="1"/>
            </p:cNvCxnSpPr>
            <p:nvPr/>
          </p:nvCxnSpPr>
          <p:spPr bwMode="auto">
            <a:xfrm flipH="1" flipV="1">
              <a:off x="7454899" y="4573584"/>
              <a:ext cx="796925" cy="61436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94" name="Straight Connector 508"/>
            <p:cNvCxnSpPr>
              <a:cxnSpLocks noChangeShapeType="1"/>
              <a:endCxn id="214987" idx="5"/>
            </p:cNvCxnSpPr>
            <p:nvPr/>
          </p:nvCxnSpPr>
          <p:spPr bwMode="auto">
            <a:xfrm flipH="1" flipV="1">
              <a:off x="6496050" y="4722809"/>
              <a:ext cx="1047750" cy="966786"/>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95" name="Straight Connector 509"/>
            <p:cNvCxnSpPr>
              <a:cxnSpLocks noChangeShapeType="1"/>
              <a:stCxn id="214756" idx="0"/>
              <a:endCxn id="214811" idx="5"/>
            </p:cNvCxnSpPr>
            <p:nvPr/>
          </p:nvCxnSpPr>
          <p:spPr bwMode="auto">
            <a:xfrm flipH="1" flipV="1">
              <a:off x="5084763" y="5684832"/>
              <a:ext cx="520700" cy="169862"/>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96" name="Straight Connector 510"/>
            <p:cNvCxnSpPr>
              <a:cxnSpLocks noChangeShapeType="1"/>
            </p:cNvCxnSpPr>
            <p:nvPr/>
          </p:nvCxnSpPr>
          <p:spPr bwMode="auto">
            <a:xfrm flipH="1" flipV="1">
              <a:off x="4068763" y="5045070"/>
              <a:ext cx="371475" cy="973138"/>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97" name="Straight Connector 511"/>
            <p:cNvCxnSpPr>
              <a:cxnSpLocks noChangeShapeType="1"/>
            </p:cNvCxnSpPr>
            <p:nvPr/>
          </p:nvCxnSpPr>
          <p:spPr bwMode="auto">
            <a:xfrm flipV="1">
              <a:off x="3389313" y="5689595"/>
              <a:ext cx="306387" cy="165099"/>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98" name="Straight Connector 512"/>
            <p:cNvCxnSpPr>
              <a:cxnSpLocks noChangeShapeType="1"/>
            </p:cNvCxnSpPr>
            <p:nvPr/>
          </p:nvCxnSpPr>
          <p:spPr bwMode="auto">
            <a:xfrm flipV="1">
              <a:off x="1790701" y="5160959"/>
              <a:ext cx="401638" cy="209549"/>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799" name="Straight Connector 513"/>
            <p:cNvCxnSpPr>
              <a:cxnSpLocks noChangeShapeType="1"/>
            </p:cNvCxnSpPr>
            <p:nvPr/>
          </p:nvCxnSpPr>
          <p:spPr bwMode="auto">
            <a:xfrm flipV="1">
              <a:off x="1179514" y="4467220"/>
              <a:ext cx="227012" cy="282574"/>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800" name="Straight Connector 514"/>
            <p:cNvCxnSpPr>
              <a:cxnSpLocks noChangeShapeType="1"/>
              <a:endCxn id="214812" idx="5"/>
            </p:cNvCxnSpPr>
            <p:nvPr/>
          </p:nvCxnSpPr>
          <p:spPr bwMode="auto">
            <a:xfrm flipV="1">
              <a:off x="1155701" y="4368796"/>
              <a:ext cx="203199" cy="7937"/>
            </a:xfrm>
            <a:prstGeom prst="line">
              <a:avLst/>
            </a:prstGeom>
            <a:noFill/>
            <a:ln w="3175">
              <a:solidFill>
                <a:schemeClr val="tx1"/>
              </a:solidFill>
              <a:round/>
            </a:ln>
            <a:extLst>
              <a:ext uri="{909E8E84-426E-40DD-AFC4-6F175D3DCCD1}">
                <a14:hiddenFill xmlns:a14="http://schemas.microsoft.com/office/drawing/2010/main">
                  <a:noFill/>
                </a14:hiddenFill>
              </a:ext>
            </a:extLst>
          </p:spPr>
        </p:cxnSp>
        <p:sp>
          <p:nvSpPr>
            <p:cNvPr id="214801" name="Oval 14"/>
            <p:cNvSpPr>
              <a:spLocks noChangeArrowheads="1"/>
            </p:cNvSpPr>
            <p:nvPr/>
          </p:nvSpPr>
          <p:spPr bwMode="auto">
            <a:xfrm>
              <a:off x="5677594" y="2896840"/>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cxnSp>
          <p:nvCxnSpPr>
            <p:cNvPr id="214802" name="Straight Connector 18"/>
            <p:cNvCxnSpPr>
              <a:cxnSpLocks noChangeShapeType="1"/>
            </p:cNvCxnSpPr>
            <p:nvPr/>
          </p:nvCxnSpPr>
          <p:spPr bwMode="auto">
            <a:xfrm>
              <a:off x="4713288" y="3051287"/>
              <a:ext cx="964306" cy="26892"/>
            </a:xfrm>
            <a:prstGeom prst="line">
              <a:avLst/>
            </a:prstGeom>
            <a:noFill/>
            <a:ln w="12700">
              <a:solidFill>
                <a:srgbClr val="CC0000"/>
              </a:solidFill>
              <a:round/>
            </a:ln>
            <a:extLst>
              <a:ext uri="{909E8E84-426E-40DD-AFC4-6F175D3DCCD1}">
                <a14:hiddenFill xmlns:a14="http://schemas.microsoft.com/office/drawing/2010/main">
                  <a:noFill/>
                </a14:hiddenFill>
              </a:ext>
            </a:extLst>
          </p:spPr>
        </p:cxnSp>
        <p:cxnSp>
          <p:nvCxnSpPr>
            <p:cNvPr id="214803" name="Straight Connector 516"/>
            <p:cNvCxnSpPr>
              <a:cxnSpLocks noChangeShapeType="1"/>
            </p:cNvCxnSpPr>
            <p:nvPr/>
          </p:nvCxnSpPr>
          <p:spPr bwMode="auto">
            <a:xfrm>
              <a:off x="6139457" y="3169610"/>
              <a:ext cx="691556" cy="784846"/>
            </a:xfrm>
            <a:prstGeom prst="line">
              <a:avLst/>
            </a:prstGeom>
            <a:noFill/>
            <a:ln w="12700">
              <a:solidFill>
                <a:srgbClr val="CC0000"/>
              </a:solidFill>
              <a:round/>
            </a:ln>
            <a:extLst>
              <a:ext uri="{909E8E84-426E-40DD-AFC4-6F175D3DCCD1}">
                <a14:hiddenFill xmlns:a14="http://schemas.microsoft.com/office/drawing/2010/main">
                  <a:noFill/>
                </a14:hiddenFill>
              </a:ext>
            </a:extLst>
          </p:spPr>
        </p:cxnSp>
        <p:cxnSp>
          <p:nvCxnSpPr>
            <p:cNvPr id="214804" name="Straight Connector 515"/>
            <p:cNvCxnSpPr>
              <a:cxnSpLocks noChangeShapeType="1"/>
              <a:stCxn id="214841" idx="0"/>
            </p:cNvCxnSpPr>
            <p:nvPr/>
          </p:nvCxnSpPr>
          <p:spPr bwMode="auto">
            <a:xfrm flipV="1">
              <a:off x="3832888" y="4233714"/>
              <a:ext cx="190494" cy="141430"/>
            </a:xfrm>
            <a:prstGeom prst="line">
              <a:avLst/>
            </a:prstGeom>
            <a:noFill/>
            <a:ln w="12700">
              <a:solidFill>
                <a:srgbClr val="CC0000"/>
              </a:solidFill>
              <a:round/>
            </a:ln>
            <a:extLst>
              <a:ext uri="{909E8E84-426E-40DD-AFC4-6F175D3DCCD1}">
                <a14:hiddenFill xmlns:a14="http://schemas.microsoft.com/office/drawing/2010/main">
                  <a:noFill/>
                </a14:hiddenFill>
              </a:ext>
            </a:extLst>
          </p:spPr>
        </p:cxnSp>
        <p:sp>
          <p:nvSpPr>
            <p:cNvPr id="214805" name="Oval 521"/>
            <p:cNvSpPr>
              <a:spLocks noChangeArrowheads="1"/>
            </p:cNvSpPr>
            <p:nvPr/>
          </p:nvSpPr>
          <p:spPr bwMode="auto">
            <a:xfrm>
              <a:off x="3932543" y="3959555"/>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400">
                  <a:solidFill>
                    <a:srgbClr val="000000"/>
                  </a:solidFill>
                </a:rPr>
                <a:t>   </a:t>
              </a:r>
              <a:endParaRPr lang="en-US" altLang="en-US" sz="2400">
                <a:solidFill>
                  <a:srgbClr val="000000"/>
                </a:solidFill>
              </a:endParaRPr>
            </a:p>
          </p:txBody>
        </p:sp>
        <p:cxnSp>
          <p:nvCxnSpPr>
            <p:cNvPr id="214806" name="Straight Connector 519"/>
            <p:cNvCxnSpPr>
              <a:cxnSpLocks noChangeShapeType="1"/>
              <a:stCxn id="214805" idx="6"/>
              <a:endCxn id="215039" idx="1"/>
            </p:cNvCxnSpPr>
            <p:nvPr/>
          </p:nvCxnSpPr>
          <p:spPr bwMode="auto">
            <a:xfrm flipV="1">
              <a:off x="4460774" y="3953935"/>
              <a:ext cx="770040" cy="158145"/>
            </a:xfrm>
            <a:prstGeom prst="line">
              <a:avLst/>
            </a:prstGeom>
            <a:noFill/>
            <a:ln w="12700">
              <a:solidFill>
                <a:srgbClr val="CC0000"/>
              </a:solidFill>
              <a:round/>
            </a:ln>
            <a:extLst>
              <a:ext uri="{909E8E84-426E-40DD-AFC4-6F175D3DCCD1}">
                <a14:hiddenFill xmlns:a14="http://schemas.microsoft.com/office/drawing/2010/main">
                  <a:noFill/>
                </a14:hiddenFill>
              </a:ext>
            </a:extLst>
          </p:spPr>
        </p:cxnSp>
        <p:cxnSp>
          <p:nvCxnSpPr>
            <p:cNvPr id="214807" name="Straight Connector 520"/>
            <p:cNvCxnSpPr>
              <a:cxnSpLocks noChangeShapeType="1"/>
            </p:cNvCxnSpPr>
            <p:nvPr/>
          </p:nvCxnSpPr>
          <p:spPr bwMode="auto">
            <a:xfrm>
              <a:off x="3692525" y="3789358"/>
              <a:ext cx="342828" cy="205015"/>
            </a:xfrm>
            <a:prstGeom prst="line">
              <a:avLst/>
            </a:prstGeom>
            <a:noFill/>
            <a:ln w="12700">
              <a:solidFill>
                <a:srgbClr val="CC0000"/>
              </a:solidFill>
              <a:round/>
            </a:ln>
            <a:extLst>
              <a:ext uri="{909E8E84-426E-40DD-AFC4-6F175D3DCCD1}">
                <a14:hiddenFill xmlns:a14="http://schemas.microsoft.com/office/drawing/2010/main">
                  <a:noFill/>
                </a14:hiddenFill>
              </a:ext>
            </a:extLst>
          </p:spPr>
        </p:cxnSp>
        <p:cxnSp>
          <p:nvCxnSpPr>
            <p:cNvPr id="214808" name="Straight Connector 7"/>
            <p:cNvCxnSpPr>
              <a:cxnSpLocks noChangeShapeType="1"/>
              <a:stCxn id="214913" idx="5"/>
              <a:endCxn id="215037" idx="1"/>
            </p:cNvCxnSpPr>
            <p:nvPr/>
          </p:nvCxnSpPr>
          <p:spPr bwMode="auto">
            <a:xfrm>
              <a:off x="4876727" y="3633784"/>
              <a:ext cx="431873" cy="222379"/>
            </a:xfrm>
            <a:prstGeom prst="line">
              <a:avLst/>
            </a:prstGeom>
            <a:noFill/>
            <a:ln w="12700">
              <a:solidFill>
                <a:srgbClr val="CC0000"/>
              </a:solidFill>
              <a:round/>
            </a:ln>
            <a:extLst>
              <a:ext uri="{909E8E84-426E-40DD-AFC4-6F175D3DCCD1}">
                <a14:hiddenFill xmlns:a14="http://schemas.microsoft.com/office/drawing/2010/main">
                  <a:noFill/>
                </a14:hiddenFill>
              </a:ext>
            </a:extLst>
          </p:spPr>
        </p:cxnSp>
        <p:cxnSp>
          <p:nvCxnSpPr>
            <p:cNvPr id="214809" name="Straight Connector 415"/>
            <p:cNvCxnSpPr>
              <a:cxnSpLocks noChangeShapeType="1"/>
              <a:endCxn id="214873" idx="0"/>
            </p:cNvCxnSpPr>
            <p:nvPr/>
          </p:nvCxnSpPr>
          <p:spPr bwMode="auto">
            <a:xfrm flipH="1">
              <a:off x="2406650" y="3753808"/>
              <a:ext cx="282557" cy="511097"/>
            </a:xfrm>
            <a:prstGeom prst="line">
              <a:avLst/>
            </a:prstGeom>
            <a:noFill/>
            <a:ln w="12700">
              <a:solidFill>
                <a:srgbClr val="CC0000"/>
              </a:solidFill>
              <a:round/>
            </a:ln>
            <a:extLst>
              <a:ext uri="{909E8E84-426E-40DD-AFC4-6F175D3DCCD1}">
                <a14:hiddenFill xmlns:a14="http://schemas.microsoft.com/office/drawing/2010/main">
                  <a:noFill/>
                </a14:hiddenFill>
              </a:ext>
            </a:extLst>
          </p:spPr>
        </p:cxnSp>
        <p:cxnSp>
          <p:nvCxnSpPr>
            <p:cNvPr id="214810" name="Straight Connector 523"/>
            <p:cNvCxnSpPr>
              <a:cxnSpLocks noChangeShapeType="1"/>
              <a:stCxn id="214836" idx="0"/>
            </p:cNvCxnSpPr>
            <p:nvPr/>
          </p:nvCxnSpPr>
          <p:spPr bwMode="auto">
            <a:xfrm flipV="1">
              <a:off x="4307762" y="4626477"/>
              <a:ext cx="844015" cy="304291"/>
            </a:xfrm>
            <a:prstGeom prst="line">
              <a:avLst/>
            </a:prstGeom>
            <a:noFill/>
            <a:ln w="12700">
              <a:solidFill>
                <a:srgbClr val="CC0000"/>
              </a:solidFill>
              <a:round/>
            </a:ln>
            <a:extLst>
              <a:ext uri="{909E8E84-426E-40DD-AFC4-6F175D3DCCD1}">
                <a14:hiddenFill xmlns:a14="http://schemas.microsoft.com/office/drawing/2010/main">
                  <a:noFill/>
                </a14:hiddenFill>
              </a:ext>
            </a:extLst>
          </p:spPr>
        </p:cxnSp>
        <p:sp>
          <p:nvSpPr>
            <p:cNvPr id="214811" name="Oval 6"/>
            <p:cNvSpPr>
              <a:spLocks noChangeArrowheads="1"/>
            </p:cNvSpPr>
            <p:nvPr/>
          </p:nvSpPr>
          <p:spPr bwMode="auto">
            <a:xfrm>
              <a:off x="3340101" y="5359394"/>
              <a:ext cx="2044700" cy="380999"/>
            </a:xfrm>
            <a:prstGeom prst="ellipse">
              <a:avLst/>
            </a:prstGeom>
            <a:solidFill>
              <a:srgbClr val="CCCCFF"/>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812" name="Oval 517"/>
            <p:cNvSpPr>
              <a:spLocks noChangeArrowheads="1"/>
            </p:cNvSpPr>
            <p:nvPr/>
          </p:nvSpPr>
          <p:spPr bwMode="auto">
            <a:xfrm rot="5400000">
              <a:off x="867570" y="3736176"/>
              <a:ext cx="1252535"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14:hiddenLine>
              </a:ext>
            </a:extLst>
          </p:spPr>
          <p:txBody>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cxnSp>
          <p:nvCxnSpPr>
            <p:cNvPr id="214813" name="Straight Connector 39941"/>
            <p:cNvCxnSpPr>
              <a:cxnSpLocks noChangeShapeType="1"/>
              <a:stCxn id="214812" idx="0"/>
              <a:endCxn id="214901" idx="0"/>
            </p:cNvCxnSpPr>
            <p:nvPr/>
          </p:nvCxnSpPr>
          <p:spPr bwMode="auto">
            <a:xfrm flipV="1">
              <a:off x="1684339" y="3654419"/>
              <a:ext cx="758825" cy="273049"/>
            </a:xfrm>
            <a:prstGeom prst="line">
              <a:avLst/>
            </a:prstGeom>
            <a:noFill/>
            <a:ln w="3175">
              <a:solidFill>
                <a:schemeClr val="tx1"/>
              </a:solidFill>
              <a:round/>
            </a:ln>
            <a:extLst>
              <a:ext uri="{909E8E84-426E-40DD-AFC4-6F175D3DCCD1}">
                <a14:hiddenFill xmlns:a14="http://schemas.microsoft.com/office/drawing/2010/main">
                  <a:noFill/>
                </a14:hiddenFill>
              </a:ext>
            </a:extLst>
          </p:spPr>
        </p:cxnSp>
        <p:cxnSp>
          <p:nvCxnSpPr>
            <p:cNvPr id="214814" name="Straight Connector 524"/>
            <p:cNvCxnSpPr>
              <a:cxnSpLocks noChangeShapeType="1"/>
              <a:endCxn id="214875" idx="1"/>
            </p:cNvCxnSpPr>
            <p:nvPr/>
          </p:nvCxnSpPr>
          <p:spPr bwMode="auto">
            <a:xfrm>
              <a:off x="1685925" y="4111625"/>
              <a:ext cx="466725" cy="269874"/>
            </a:xfrm>
            <a:prstGeom prst="line">
              <a:avLst/>
            </a:prstGeom>
            <a:noFill/>
            <a:ln w="3175">
              <a:solidFill>
                <a:schemeClr val="tx1"/>
              </a:solidFill>
              <a:round/>
            </a:ln>
            <a:extLst>
              <a:ext uri="{909E8E84-426E-40DD-AFC4-6F175D3DCCD1}">
                <a14:hiddenFill xmlns:a14="http://schemas.microsoft.com/office/drawing/2010/main">
                  <a:noFill/>
                </a14:hiddenFill>
              </a:ext>
            </a:extLst>
          </p:spPr>
        </p:cxnSp>
      </p:grpSp>
      <p:sp>
        <p:nvSpPr>
          <p:cNvPr id="214019" name="Line 424"/>
          <p:cNvSpPr>
            <a:spLocks noChangeShapeType="1"/>
          </p:cNvSpPr>
          <p:nvPr/>
        </p:nvSpPr>
        <p:spPr bwMode="auto">
          <a:xfrm flipV="1">
            <a:off x="2686051" y="5276851"/>
            <a:ext cx="144463" cy="31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a:p>
        </p:txBody>
      </p:sp>
      <p:grpSp>
        <p:nvGrpSpPr>
          <p:cNvPr id="5" name="Group 4"/>
          <p:cNvGrpSpPr/>
          <p:nvPr/>
        </p:nvGrpSpPr>
        <p:grpSpPr bwMode="auto">
          <a:xfrm>
            <a:off x="1963739" y="3552826"/>
            <a:ext cx="8258175" cy="2900363"/>
            <a:chOff x="439215" y="3555216"/>
            <a:chExt cx="8258951" cy="2901368"/>
          </a:xfrm>
        </p:grpSpPr>
        <p:grpSp>
          <p:nvGrpSpPr>
            <p:cNvPr id="214392" name="Group 13"/>
            <p:cNvGrpSpPr/>
            <p:nvPr/>
          </p:nvGrpSpPr>
          <p:grpSpPr bwMode="auto">
            <a:xfrm>
              <a:off x="1678362" y="3855145"/>
              <a:ext cx="347753" cy="680208"/>
              <a:chOff x="7923189" y="2486663"/>
              <a:chExt cx="360362" cy="884586"/>
            </a:xfrm>
          </p:grpSpPr>
          <p:pic>
            <p:nvPicPr>
              <p:cNvPr id="214709"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710" name="Group 950"/>
              <p:cNvGrpSpPr/>
              <p:nvPr/>
            </p:nvGrpSpPr>
            <p:grpSpPr bwMode="auto">
              <a:xfrm>
                <a:off x="7923189" y="2890236"/>
                <a:ext cx="227012" cy="481013"/>
                <a:chOff x="4140" y="429"/>
                <a:chExt cx="1425" cy="2396"/>
              </a:xfrm>
            </p:grpSpPr>
            <p:sp>
              <p:nvSpPr>
                <p:cNvPr id="214711"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12"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13"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14"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15"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716" name="Group 956"/>
                <p:cNvGrpSpPr/>
                <p:nvPr/>
              </p:nvGrpSpPr>
              <p:grpSpPr bwMode="auto">
                <a:xfrm>
                  <a:off x="4749" y="668"/>
                  <a:ext cx="581" cy="145"/>
                  <a:chOff x="614" y="2568"/>
                  <a:chExt cx="725" cy="139"/>
                </a:xfrm>
              </p:grpSpPr>
              <p:sp>
                <p:nvSpPr>
                  <p:cNvPr id="214741"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42"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717"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718" name="Group 960"/>
                <p:cNvGrpSpPr/>
                <p:nvPr/>
              </p:nvGrpSpPr>
              <p:grpSpPr bwMode="auto">
                <a:xfrm>
                  <a:off x="4747" y="994"/>
                  <a:ext cx="581" cy="134"/>
                  <a:chOff x="614" y="2568"/>
                  <a:chExt cx="725" cy="139"/>
                </a:xfrm>
              </p:grpSpPr>
              <p:sp>
                <p:nvSpPr>
                  <p:cNvPr id="214739"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40"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719"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20"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721" name="Group 965"/>
                <p:cNvGrpSpPr/>
                <p:nvPr/>
              </p:nvGrpSpPr>
              <p:grpSpPr bwMode="auto">
                <a:xfrm>
                  <a:off x="4735" y="1627"/>
                  <a:ext cx="582" cy="151"/>
                  <a:chOff x="614" y="2568"/>
                  <a:chExt cx="725" cy="139"/>
                </a:xfrm>
              </p:grpSpPr>
              <p:sp>
                <p:nvSpPr>
                  <p:cNvPr id="214737"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38"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722"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723" name="Group 969"/>
                <p:cNvGrpSpPr/>
                <p:nvPr/>
              </p:nvGrpSpPr>
              <p:grpSpPr bwMode="auto">
                <a:xfrm>
                  <a:off x="4739" y="1327"/>
                  <a:ext cx="582" cy="139"/>
                  <a:chOff x="614" y="2568"/>
                  <a:chExt cx="725" cy="139"/>
                </a:xfrm>
              </p:grpSpPr>
              <p:sp>
                <p:nvSpPr>
                  <p:cNvPr id="214735"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36"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724"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25"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26"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27"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28"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729"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30"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31"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32"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733"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34"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393" name="Group 792"/>
            <p:cNvGrpSpPr/>
            <p:nvPr/>
          </p:nvGrpSpPr>
          <p:grpSpPr bwMode="auto">
            <a:xfrm>
              <a:off x="3221830" y="5776376"/>
              <a:ext cx="347753" cy="680208"/>
              <a:chOff x="7923189" y="2486663"/>
              <a:chExt cx="360362" cy="884586"/>
            </a:xfrm>
          </p:grpSpPr>
          <p:pic>
            <p:nvPicPr>
              <p:cNvPr id="214675"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76" name="Group 950"/>
              <p:cNvGrpSpPr/>
              <p:nvPr/>
            </p:nvGrpSpPr>
            <p:grpSpPr bwMode="auto">
              <a:xfrm>
                <a:off x="7923189" y="2890236"/>
                <a:ext cx="227012" cy="481013"/>
                <a:chOff x="4140" y="429"/>
                <a:chExt cx="1425" cy="2396"/>
              </a:xfrm>
            </p:grpSpPr>
            <p:sp>
              <p:nvSpPr>
                <p:cNvPr id="214677"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7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79"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80"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8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682" name="Group 956"/>
                <p:cNvGrpSpPr/>
                <p:nvPr/>
              </p:nvGrpSpPr>
              <p:grpSpPr bwMode="auto">
                <a:xfrm>
                  <a:off x="4749" y="668"/>
                  <a:ext cx="581" cy="145"/>
                  <a:chOff x="614" y="2568"/>
                  <a:chExt cx="725" cy="139"/>
                </a:xfrm>
              </p:grpSpPr>
              <p:sp>
                <p:nvSpPr>
                  <p:cNvPr id="21470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0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68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684" name="Group 960"/>
                <p:cNvGrpSpPr/>
                <p:nvPr/>
              </p:nvGrpSpPr>
              <p:grpSpPr bwMode="auto">
                <a:xfrm>
                  <a:off x="4747" y="994"/>
                  <a:ext cx="581" cy="134"/>
                  <a:chOff x="614" y="2568"/>
                  <a:chExt cx="725" cy="139"/>
                </a:xfrm>
              </p:grpSpPr>
              <p:sp>
                <p:nvSpPr>
                  <p:cNvPr id="21470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0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68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8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687" name="Group 965"/>
                <p:cNvGrpSpPr/>
                <p:nvPr/>
              </p:nvGrpSpPr>
              <p:grpSpPr bwMode="auto">
                <a:xfrm>
                  <a:off x="4735" y="1627"/>
                  <a:ext cx="582" cy="151"/>
                  <a:chOff x="614" y="2568"/>
                  <a:chExt cx="725" cy="139"/>
                </a:xfrm>
              </p:grpSpPr>
              <p:sp>
                <p:nvSpPr>
                  <p:cNvPr id="21470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0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688"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689" name="Group 969"/>
                <p:cNvGrpSpPr/>
                <p:nvPr/>
              </p:nvGrpSpPr>
              <p:grpSpPr bwMode="auto">
                <a:xfrm>
                  <a:off x="4739" y="1327"/>
                  <a:ext cx="582" cy="139"/>
                  <a:chOff x="614" y="2568"/>
                  <a:chExt cx="725" cy="139"/>
                </a:xfrm>
              </p:grpSpPr>
              <p:sp>
                <p:nvSpPr>
                  <p:cNvPr id="21470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0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69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91"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92"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9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94"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9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9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9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9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69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70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394" name="Group 827"/>
            <p:cNvGrpSpPr/>
            <p:nvPr/>
          </p:nvGrpSpPr>
          <p:grpSpPr bwMode="auto">
            <a:xfrm>
              <a:off x="4387291" y="3555216"/>
              <a:ext cx="347753" cy="680208"/>
              <a:chOff x="7923189" y="2486663"/>
              <a:chExt cx="360362" cy="884586"/>
            </a:xfrm>
          </p:grpSpPr>
          <p:pic>
            <p:nvPicPr>
              <p:cNvPr id="214641"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42" name="Group 950"/>
              <p:cNvGrpSpPr/>
              <p:nvPr/>
            </p:nvGrpSpPr>
            <p:grpSpPr bwMode="auto">
              <a:xfrm>
                <a:off x="7923189" y="2890236"/>
                <a:ext cx="227012" cy="481013"/>
                <a:chOff x="4140" y="429"/>
                <a:chExt cx="1425" cy="2396"/>
              </a:xfrm>
            </p:grpSpPr>
            <p:sp>
              <p:nvSpPr>
                <p:cNvPr id="214643"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44"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45"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46"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47"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648" name="Group 956"/>
                <p:cNvGrpSpPr/>
                <p:nvPr/>
              </p:nvGrpSpPr>
              <p:grpSpPr bwMode="auto">
                <a:xfrm>
                  <a:off x="4749" y="668"/>
                  <a:ext cx="581" cy="145"/>
                  <a:chOff x="614" y="2568"/>
                  <a:chExt cx="725" cy="139"/>
                </a:xfrm>
              </p:grpSpPr>
              <p:sp>
                <p:nvSpPr>
                  <p:cNvPr id="214673"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74"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649"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650" name="Group 960"/>
                <p:cNvGrpSpPr/>
                <p:nvPr/>
              </p:nvGrpSpPr>
              <p:grpSpPr bwMode="auto">
                <a:xfrm>
                  <a:off x="4747" y="994"/>
                  <a:ext cx="581" cy="134"/>
                  <a:chOff x="614" y="2568"/>
                  <a:chExt cx="725" cy="139"/>
                </a:xfrm>
              </p:grpSpPr>
              <p:sp>
                <p:nvSpPr>
                  <p:cNvPr id="214671"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72"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651"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52"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653" name="Group 965"/>
                <p:cNvGrpSpPr/>
                <p:nvPr/>
              </p:nvGrpSpPr>
              <p:grpSpPr bwMode="auto">
                <a:xfrm>
                  <a:off x="4735" y="1627"/>
                  <a:ext cx="582" cy="151"/>
                  <a:chOff x="614" y="2568"/>
                  <a:chExt cx="725" cy="139"/>
                </a:xfrm>
              </p:grpSpPr>
              <p:sp>
                <p:nvSpPr>
                  <p:cNvPr id="214669"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70"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654"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655" name="Group 969"/>
                <p:cNvGrpSpPr/>
                <p:nvPr/>
              </p:nvGrpSpPr>
              <p:grpSpPr bwMode="auto">
                <a:xfrm>
                  <a:off x="4739" y="1327"/>
                  <a:ext cx="582" cy="139"/>
                  <a:chOff x="614" y="2568"/>
                  <a:chExt cx="725" cy="139"/>
                </a:xfrm>
              </p:grpSpPr>
              <p:sp>
                <p:nvSpPr>
                  <p:cNvPr id="214667"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68"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656"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57"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58"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59"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60"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61"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62"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63"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64"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665"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66"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395" name="Group 862"/>
            <p:cNvGrpSpPr/>
            <p:nvPr/>
          </p:nvGrpSpPr>
          <p:grpSpPr bwMode="auto">
            <a:xfrm>
              <a:off x="5084012" y="5612511"/>
              <a:ext cx="347767" cy="680207"/>
              <a:chOff x="7923189" y="2486664"/>
              <a:chExt cx="360377" cy="884585"/>
            </a:xfrm>
          </p:grpSpPr>
          <p:pic>
            <p:nvPicPr>
              <p:cNvPr id="214607"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08" name="Group 950"/>
              <p:cNvGrpSpPr/>
              <p:nvPr/>
            </p:nvGrpSpPr>
            <p:grpSpPr bwMode="auto">
              <a:xfrm>
                <a:off x="7923189" y="2890236"/>
                <a:ext cx="227012" cy="481013"/>
                <a:chOff x="4140" y="429"/>
                <a:chExt cx="1425" cy="2396"/>
              </a:xfrm>
            </p:grpSpPr>
            <p:sp>
              <p:nvSpPr>
                <p:cNvPr id="214609"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10"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11"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12"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13"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614" name="Group 956"/>
                <p:cNvGrpSpPr/>
                <p:nvPr/>
              </p:nvGrpSpPr>
              <p:grpSpPr bwMode="auto">
                <a:xfrm>
                  <a:off x="4749" y="668"/>
                  <a:ext cx="581" cy="145"/>
                  <a:chOff x="614" y="2568"/>
                  <a:chExt cx="725" cy="139"/>
                </a:xfrm>
              </p:grpSpPr>
              <p:sp>
                <p:nvSpPr>
                  <p:cNvPr id="214639"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40"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615"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616" name="Group 960"/>
                <p:cNvGrpSpPr/>
                <p:nvPr/>
              </p:nvGrpSpPr>
              <p:grpSpPr bwMode="auto">
                <a:xfrm>
                  <a:off x="4747" y="994"/>
                  <a:ext cx="581" cy="134"/>
                  <a:chOff x="614" y="2568"/>
                  <a:chExt cx="725" cy="139"/>
                </a:xfrm>
              </p:grpSpPr>
              <p:sp>
                <p:nvSpPr>
                  <p:cNvPr id="214637"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38"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617"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18"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619" name="Group 965"/>
                <p:cNvGrpSpPr/>
                <p:nvPr/>
              </p:nvGrpSpPr>
              <p:grpSpPr bwMode="auto">
                <a:xfrm>
                  <a:off x="4735" y="1627"/>
                  <a:ext cx="582" cy="151"/>
                  <a:chOff x="614" y="2568"/>
                  <a:chExt cx="725" cy="139"/>
                </a:xfrm>
              </p:grpSpPr>
              <p:sp>
                <p:nvSpPr>
                  <p:cNvPr id="214635"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36"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620"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621" name="Group 969"/>
                <p:cNvGrpSpPr/>
                <p:nvPr/>
              </p:nvGrpSpPr>
              <p:grpSpPr bwMode="auto">
                <a:xfrm>
                  <a:off x="4739" y="1327"/>
                  <a:ext cx="582" cy="139"/>
                  <a:chOff x="614" y="2568"/>
                  <a:chExt cx="725" cy="139"/>
                </a:xfrm>
              </p:grpSpPr>
              <p:sp>
                <p:nvSpPr>
                  <p:cNvPr id="214633"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34"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622"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23"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24"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25"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26"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627"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28"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29"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30"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631"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32"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396" name="Group 897"/>
            <p:cNvGrpSpPr/>
            <p:nvPr/>
          </p:nvGrpSpPr>
          <p:grpSpPr bwMode="auto">
            <a:xfrm>
              <a:off x="6068038" y="3829780"/>
              <a:ext cx="347753" cy="680208"/>
              <a:chOff x="7923189" y="2486663"/>
              <a:chExt cx="360362" cy="884586"/>
            </a:xfrm>
          </p:grpSpPr>
          <p:pic>
            <p:nvPicPr>
              <p:cNvPr id="214573"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74" name="Group 950"/>
              <p:cNvGrpSpPr/>
              <p:nvPr/>
            </p:nvGrpSpPr>
            <p:grpSpPr bwMode="auto">
              <a:xfrm>
                <a:off x="7923189" y="2890236"/>
                <a:ext cx="227012" cy="481013"/>
                <a:chOff x="4140" y="429"/>
                <a:chExt cx="1425" cy="2396"/>
              </a:xfrm>
            </p:grpSpPr>
            <p:sp>
              <p:nvSpPr>
                <p:cNvPr id="214575"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576"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77"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578"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579"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580" name="Group 956"/>
                <p:cNvGrpSpPr/>
                <p:nvPr/>
              </p:nvGrpSpPr>
              <p:grpSpPr bwMode="auto">
                <a:xfrm>
                  <a:off x="4749" y="668"/>
                  <a:ext cx="581" cy="145"/>
                  <a:chOff x="614" y="2568"/>
                  <a:chExt cx="725" cy="139"/>
                </a:xfrm>
              </p:grpSpPr>
              <p:sp>
                <p:nvSpPr>
                  <p:cNvPr id="214605"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06"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581"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582" name="Group 960"/>
                <p:cNvGrpSpPr/>
                <p:nvPr/>
              </p:nvGrpSpPr>
              <p:grpSpPr bwMode="auto">
                <a:xfrm>
                  <a:off x="4747" y="994"/>
                  <a:ext cx="581" cy="134"/>
                  <a:chOff x="614" y="2568"/>
                  <a:chExt cx="725" cy="139"/>
                </a:xfrm>
              </p:grpSpPr>
              <p:sp>
                <p:nvSpPr>
                  <p:cNvPr id="214603"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04"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583"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84"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585" name="Group 965"/>
                <p:cNvGrpSpPr/>
                <p:nvPr/>
              </p:nvGrpSpPr>
              <p:grpSpPr bwMode="auto">
                <a:xfrm>
                  <a:off x="4735" y="1627"/>
                  <a:ext cx="582" cy="151"/>
                  <a:chOff x="614" y="2568"/>
                  <a:chExt cx="725" cy="139"/>
                </a:xfrm>
              </p:grpSpPr>
              <p:sp>
                <p:nvSpPr>
                  <p:cNvPr id="214601"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02"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586"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587" name="Group 969"/>
                <p:cNvGrpSpPr/>
                <p:nvPr/>
              </p:nvGrpSpPr>
              <p:grpSpPr bwMode="auto">
                <a:xfrm>
                  <a:off x="4739" y="1327"/>
                  <a:ext cx="582" cy="139"/>
                  <a:chOff x="614" y="2568"/>
                  <a:chExt cx="725" cy="139"/>
                </a:xfrm>
              </p:grpSpPr>
              <p:sp>
                <p:nvSpPr>
                  <p:cNvPr id="214599"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600"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588"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89"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590"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591"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92"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593"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94"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95"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96"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597"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98"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397" name="Group 932"/>
            <p:cNvGrpSpPr/>
            <p:nvPr/>
          </p:nvGrpSpPr>
          <p:grpSpPr bwMode="auto">
            <a:xfrm>
              <a:off x="2122838" y="5630065"/>
              <a:ext cx="347753" cy="680208"/>
              <a:chOff x="7923189" y="2486663"/>
              <a:chExt cx="360362" cy="884586"/>
            </a:xfrm>
          </p:grpSpPr>
          <p:pic>
            <p:nvPicPr>
              <p:cNvPr id="214539"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40" name="Group 950"/>
              <p:cNvGrpSpPr/>
              <p:nvPr/>
            </p:nvGrpSpPr>
            <p:grpSpPr bwMode="auto">
              <a:xfrm>
                <a:off x="7923189" y="2890236"/>
                <a:ext cx="227012" cy="481013"/>
                <a:chOff x="4140" y="429"/>
                <a:chExt cx="1425" cy="2396"/>
              </a:xfrm>
            </p:grpSpPr>
            <p:sp>
              <p:nvSpPr>
                <p:cNvPr id="214541"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542"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43"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544"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545"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546" name="Group 956"/>
                <p:cNvGrpSpPr/>
                <p:nvPr/>
              </p:nvGrpSpPr>
              <p:grpSpPr bwMode="auto">
                <a:xfrm>
                  <a:off x="4749" y="668"/>
                  <a:ext cx="581" cy="145"/>
                  <a:chOff x="614" y="2568"/>
                  <a:chExt cx="725" cy="139"/>
                </a:xfrm>
              </p:grpSpPr>
              <p:sp>
                <p:nvSpPr>
                  <p:cNvPr id="214571"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72"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547"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548" name="Group 960"/>
                <p:cNvGrpSpPr/>
                <p:nvPr/>
              </p:nvGrpSpPr>
              <p:grpSpPr bwMode="auto">
                <a:xfrm>
                  <a:off x="4747" y="994"/>
                  <a:ext cx="581" cy="134"/>
                  <a:chOff x="614" y="2568"/>
                  <a:chExt cx="725" cy="139"/>
                </a:xfrm>
              </p:grpSpPr>
              <p:sp>
                <p:nvSpPr>
                  <p:cNvPr id="214569"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70"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549"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50"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551" name="Group 965"/>
                <p:cNvGrpSpPr/>
                <p:nvPr/>
              </p:nvGrpSpPr>
              <p:grpSpPr bwMode="auto">
                <a:xfrm>
                  <a:off x="4735" y="1627"/>
                  <a:ext cx="582" cy="151"/>
                  <a:chOff x="614" y="2568"/>
                  <a:chExt cx="725" cy="139"/>
                </a:xfrm>
              </p:grpSpPr>
              <p:sp>
                <p:nvSpPr>
                  <p:cNvPr id="214567"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68"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552"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553" name="Group 969"/>
                <p:cNvGrpSpPr/>
                <p:nvPr/>
              </p:nvGrpSpPr>
              <p:grpSpPr bwMode="auto">
                <a:xfrm>
                  <a:off x="4739" y="1327"/>
                  <a:ext cx="582" cy="139"/>
                  <a:chOff x="614" y="2568"/>
                  <a:chExt cx="725" cy="139"/>
                </a:xfrm>
              </p:grpSpPr>
              <p:sp>
                <p:nvSpPr>
                  <p:cNvPr id="214565"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66"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554"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55"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556"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557"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58"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559"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60"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61"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62"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563"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564"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398" name="Group 15"/>
            <p:cNvGrpSpPr/>
            <p:nvPr/>
          </p:nvGrpSpPr>
          <p:grpSpPr bwMode="auto">
            <a:xfrm>
              <a:off x="7707615" y="4368892"/>
              <a:ext cx="990551" cy="731635"/>
              <a:chOff x="7707615" y="4368892"/>
              <a:chExt cx="990551" cy="731635"/>
            </a:xfrm>
          </p:grpSpPr>
          <p:pic>
            <p:nvPicPr>
              <p:cNvPr id="214439" name="Picture 1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440" name="Group 249"/>
              <p:cNvGrpSpPr/>
              <p:nvPr/>
            </p:nvGrpSpPr>
            <p:grpSpPr bwMode="auto">
              <a:xfrm flipH="1">
                <a:off x="7707615" y="4368892"/>
                <a:ext cx="225953" cy="395900"/>
                <a:chOff x="4140" y="429"/>
                <a:chExt cx="1425" cy="2396"/>
              </a:xfrm>
            </p:grpSpPr>
            <p:sp>
              <p:nvSpPr>
                <p:cNvPr id="214507" name="Freeform 250"/>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71" name="Rectangle 251"/>
                <p:cNvSpPr>
                  <a:spLocks noChangeArrowheads="1"/>
                </p:cNvSpPr>
                <p:nvPr/>
              </p:nvSpPr>
              <p:spPr bwMode="auto">
                <a:xfrm>
                  <a:off x="4204" y="425"/>
                  <a:ext cx="1051" cy="2259"/>
                </a:xfrm>
                <a:prstGeom prst="rect">
                  <a:avLst/>
                </a:prstGeom>
                <a:gradFill rotWithShape="1">
                  <a:gsLst>
                    <a:gs pos="0">
                      <a:srgbClr val="292929"/>
                    </a:gs>
                    <a:gs pos="100000">
                      <a:srgbClr val="808080"/>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509" name="Freeform 252"/>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510" name="Freeform 253"/>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74" name="Rectangle 254"/>
                <p:cNvSpPr>
                  <a:spLocks noChangeArrowheads="1"/>
                </p:cNvSpPr>
                <p:nvPr/>
              </p:nvSpPr>
              <p:spPr bwMode="auto">
                <a:xfrm>
                  <a:off x="4214" y="685"/>
                  <a:ext cx="60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512" name="Group 255"/>
                <p:cNvGrpSpPr/>
                <p:nvPr/>
              </p:nvGrpSpPr>
              <p:grpSpPr bwMode="auto">
                <a:xfrm>
                  <a:off x="4749" y="668"/>
                  <a:ext cx="581" cy="145"/>
                  <a:chOff x="614" y="2568"/>
                  <a:chExt cx="725" cy="139"/>
                </a:xfrm>
              </p:grpSpPr>
              <p:sp>
                <p:nvSpPr>
                  <p:cNvPr id="1000" name="AutoShape 256"/>
                  <p:cNvSpPr>
                    <a:spLocks noChangeArrowheads="1"/>
                  </p:cNvSpPr>
                  <p:nvPr/>
                </p:nvSpPr>
                <p:spPr bwMode="auto">
                  <a:xfrm>
                    <a:off x="646" y="2566"/>
                    <a:ext cx="725" cy="138"/>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01" name="AutoShape 257"/>
                  <p:cNvSpPr>
                    <a:spLocks noChangeArrowheads="1"/>
                  </p:cNvSpPr>
                  <p:nvPr/>
                </p:nvSpPr>
                <p:spPr bwMode="auto">
                  <a:xfrm>
                    <a:off x="659" y="2584"/>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976" name="Rectangle 258"/>
                <p:cNvSpPr>
                  <a:spLocks noChangeArrowheads="1"/>
                </p:cNvSpPr>
                <p:nvPr/>
              </p:nvSpPr>
              <p:spPr bwMode="auto">
                <a:xfrm>
                  <a:off x="4224" y="1012"/>
                  <a:ext cx="60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514" name="Group 259"/>
                <p:cNvGrpSpPr/>
                <p:nvPr/>
              </p:nvGrpSpPr>
              <p:grpSpPr bwMode="auto">
                <a:xfrm>
                  <a:off x="4747" y="994"/>
                  <a:ext cx="581" cy="134"/>
                  <a:chOff x="614" y="2568"/>
                  <a:chExt cx="725" cy="139"/>
                </a:xfrm>
              </p:grpSpPr>
              <p:sp>
                <p:nvSpPr>
                  <p:cNvPr id="998" name="AutoShape 260"/>
                  <p:cNvSpPr>
                    <a:spLocks noChangeArrowheads="1"/>
                  </p:cNvSpPr>
                  <p:nvPr/>
                </p:nvSpPr>
                <p:spPr bwMode="auto">
                  <a:xfrm>
                    <a:off x="611" y="2566"/>
                    <a:ext cx="725" cy="140"/>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999" name="AutoShape 261"/>
                  <p:cNvSpPr>
                    <a:spLocks noChangeArrowheads="1"/>
                  </p:cNvSpPr>
                  <p:nvPr/>
                </p:nvSpPr>
                <p:spPr bwMode="auto">
                  <a:xfrm>
                    <a:off x="624" y="258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978" name="Rectangle 262"/>
                <p:cNvSpPr>
                  <a:spLocks noChangeArrowheads="1"/>
                </p:cNvSpPr>
                <p:nvPr/>
              </p:nvSpPr>
              <p:spPr bwMode="auto">
                <a:xfrm>
                  <a:off x="4224" y="1358"/>
                  <a:ext cx="591" cy="29"/>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979" name="Rectangle 263"/>
                <p:cNvSpPr>
                  <a:spLocks noChangeArrowheads="1"/>
                </p:cNvSpPr>
                <p:nvPr/>
              </p:nvSpPr>
              <p:spPr bwMode="auto">
                <a:xfrm>
                  <a:off x="4234" y="1627"/>
                  <a:ext cx="59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517" name="Group 264"/>
                <p:cNvGrpSpPr/>
                <p:nvPr/>
              </p:nvGrpSpPr>
              <p:grpSpPr bwMode="auto">
                <a:xfrm>
                  <a:off x="4735" y="1627"/>
                  <a:ext cx="582" cy="151"/>
                  <a:chOff x="614" y="2568"/>
                  <a:chExt cx="725" cy="139"/>
                </a:xfrm>
              </p:grpSpPr>
              <p:sp>
                <p:nvSpPr>
                  <p:cNvPr id="996" name="AutoShape 265"/>
                  <p:cNvSpPr>
                    <a:spLocks noChangeArrowheads="1"/>
                  </p:cNvSpPr>
                  <p:nvPr/>
                </p:nvSpPr>
                <p:spPr bwMode="auto">
                  <a:xfrm>
                    <a:off x="614" y="2568"/>
                    <a:ext cx="711" cy="115"/>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997" name="AutoShape 266"/>
                  <p:cNvSpPr>
                    <a:spLocks noChangeArrowheads="1"/>
                  </p:cNvSpPr>
                  <p:nvPr/>
                </p:nvSpPr>
                <p:spPr bwMode="auto">
                  <a:xfrm>
                    <a:off x="626" y="2585"/>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214518" name="Freeform 267"/>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14519" name="Group 268"/>
                <p:cNvGrpSpPr/>
                <p:nvPr/>
              </p:nvGrpSpPr>
              <p:grpSpPr bwMode="auto">
                <a:xfrm>
                  <a:off x="4739" y="1327"/>
                  <a:ext cx="582" cy="139"/>
                  <a:chOff x="614" y="2568"/>
                  <a:chExt cx="725" cy="139"/>
                </a:xfrm>
              </p:grpSpPr>
              <p:sp>
                <p:nvSpPr>
                  <p:cNvPr id="994" name="AutoShape 269"/>
                  <p:cNvSpPr>
                    <a:spLocks noChangeArrowheads="1"/>
                  </p:cNvSpPr>
                  <p:nvPr/>
                </p:nvSpPr>
                <p:spPr bwMode="auto">
                  <a:xfrm>
                    <a:off x="646" y="2541"/>
                    <a:ext cx="698" cy="163"/>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995" name="AutoShape 270"/>
                  <p:cNvSpPr>
                    <a:spLocks noChangeArrowheads="1"/>
                  </p:cNvSpPr>
                  <p:nvPr/>
                </p:nvSpPr>
                <p:spPr bwMode="auto">
                  <a:xfrm>
                    <a:off x="659" y="2560"/>
                    <a:ext cx="661"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983" name="Rectangle 271"/>
                <p:cNvSpPr>
                  <a:spLocks noChangeArrowheads="1"/>
                </p:cNvSpPr>
                <p:nvPr/>
              </p:nvSpPr>
              <p:spPr bwMode="auto">
                <a:xfrm>
                  <a:off x="5256" y="425"/>
                  <a:ext cx="60" cy="226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521" name="Freeform 272"/>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522" name="Freeform 273"/>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6" name="Oval 274"/>
                <p:cNvSpPr>
                  <a:spLocks noChangeArrowheads="1"/>
                </p:cNvSpPr>
                <p:nvPr/>
              </p:nvSpPr>
              <p:spPr bwMode="auto">
                <a:xfrm>
                  <a:off x="5516" y="2588"/>
                  <a:ext cx="50" cy="96"/>
                </a:xfrm>
                <a:prstGeom prst="ellipse">
                  <a:avLst/>
                </a:prstGeom>
                <a:solidFill>
                  <a:srgbClr val="3333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524" name="Freeform 275"/>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8" name="AutoShape 276"/>
                <p:cNvSpPr>
                  <a:spLocks noChangeArrowheads="1"/>
                </p:cNvSpPr>
                <p:nvPr/>
              </p:nvSpPr>
              <p:spPr bwMode="auto">
                <a:xfrm>
                  <a:off x="4144" y="2655"/>
                  <a:ext cx="1202" cy="144"/>
                </a:xfrm>
                <a:prstGeom prst="roundRect">
                  <a:avLst>
                    <a:gd name="adj" fmla="val 50000"/>
                  </a:avLst>
                </a:prstGeom>
                <a:solidFill>
                  <a:srgbClr val="DDDDDD"/>
                </a:solidFill>
                <a:ln w="9525">
                  <a:solidFill>
                    <a:schemeClr val="tx1"/>
                  </a:solidFill>
                  <a:round/>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989" name="AutoShape 277"/>
                <p:cNvSpPr>
                  <a:spLocks noChangeArrowheads="1"/>
                </p:cNvSpPr>
                <p:nvPr/>
              </p:nvSpPr>
              <p:spPr bwMode="auto">
                <a:xfrm>
                  <a:off x="4204" y="2684"/>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990" name="Oval 278"/>
                <p:cNvSpPr>
                  <a:spLocks noChangeArrowheads="1"/>
                </p:cNvSpPr>
                <p:nvPr/>
              </p:nvSpPr>
              <p:spPr bwMode="auto">
                <a:xfrm>
                  <a:off x="4314" y="2357"/>
                  <a:ext cx="160" cy="144"/>
                </a:xfrm>
                <a:prstGeom prst="ellipse">
                  <a:avLst/>
                </a:prstGeom>
                <a:solidFill>
                  <a:srgbClr val="33CC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991" name="Oval 279"/>
                <p:cNvSpPr>
                  <a:spLocks noChangeArrowheads="1"/>
                </p:cNvSpPr>
                <p:nvPr/>
              </p:nvSpPr>
              <p:spPr bwMode="auto">
                <a:xfrm>
                  <a:off x="4485" y="2357"/>
                  <a:ext cx="160" cy="144"/>
                </a:xfrm>
                <a:prstGeom prst="ellipse">
                  <a:avLst/>
                </a:prstGeom>
                <a:solidFill>
                  <a:srgbClr val="FF0000"/>
                </a:solidFill>
                <a:ln>
                  <a:noFill/>
                </a:ln>
                <a:effectLst/>
              </p:spPr>
              <p:txBody>
                <a:bodyPr wrap="none" anchor="ctr"/>
                <a:lstStyle/>
                <a:p>
                  <a:pPr algn="ctr">
                    <a:spcBef>
                      <a:spcPct val="0"/>
                    </a:spcBef>
                    <a:buClrTx/>
                    <a:buSzTx/>
                    <a:buFontTx/>
                    <a:buNone/>
                    <a:defRPr/>
                  </a:pPr>
                  <a:endParaRPr lang="en-US" sz="2400" dirty="0">
                    <a:solidFill>
                      <a:srgbClr val="FF0000"/>
                    </a:solidFill>
                    <a:latin typeface="Arial" panose="020B0604020202020204" pitchFamily="34" charset="0"/>
                    <a:ea typeface="MS PGothic" panose="020B0600070205080204" pitchFamily="34" charset="-128"/>
                  </a:endParaRPr>
                </a:p>
              </p:txBody>
            </p:sp>
            <p:sp>
              <p:nvSpPr>
                <p:cNvPr id="992" name="Oval 280"/>
                <p:cNvSpPr>
                  <a:spLocks noChangeArrowheads="1"/>
                </p:cNvSpPr>
                <p:nvPr/>
              </p:nvSpPr>
              <p:spPr bwMode="auto">
                <a:xfrm>
                  <a:off x="4665" y="2357"/>
                  <a:ext cx="160" cy="135"/>
                </a:xfrm>
                <a:prstGeom prst="ellipse">
                  <a:avLst/>
                </a:prstGeom>
                <a:solidFill>
                  <a:srgbClr val="33CC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993" name="Rectangle 281"/>
                <p:cNvSpPr>
                  <a:spLocks noChangeArrowheads="1"/>
                </p:cNvSpPr>
                <p:nvPr/>
              </p:nvSpPr>
              <p:spPr bwMode="auto">
                <a:xfrm>
                  <a:off x="5065" y="1809"/>
                  <a:ext cx="80" cy="759"/>
                </a:xfrm>
                <a:prstGeom prst="rect">
                  <a:avLst/>
                </a:prstGeom>
                <a:solidFill>
                  <a:srgbClr val="292929"/>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grpSp>
            <p:nvGrpSpPr>
              <p:cNvPr id="214441" name="Group 249"/>
              <p:cNvGrpSpPr/>
              <p:nvPr/>
            </p:nvGrpSpPr>
            <p:grpSpPr bwMode="auto">
              <a:xfrm flipH="1">
                <a:off x="7939866" y="4369199"/>
                <a:ext cx="225953" cy="395900"/>
                <a:chOff x="4140" y="429"/>
                <a:chExt cx="1425" cy="2396"/>
              </a:xfrm>
            </p:grpSpPr>
            <p:sp>
              <p:nvSpPr>
                <p:cNvPr id="214475" name="Freeform 250"/>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04" name="Rectangle 251"/>
                <p:cNvSpPr>
                  <a:spLocks noChangeArrowheads="1"/>
                </p:cNvSpPr>
                <p:nvPr/>
              </p:nvSpPr>
              <p:spPr bwMode="auto">
                <a:xfrm>
                  <a:off x="4207" y="404"/>
                  <a:ext cx="1051" cy="2307"/>
                </a:xfrm>
                <a:prstGeom prst="rect">
                  <a:avLst/>
                </a:prstGeom>
                <a:gradFill rotWithShape="1">
                  <a:gsLst>
                    <a:gs pos="0">
                      <a:srgbClr val="292929"/>
                    </a:gs>
                    <a:gs pos="100000">
                      <a:srgbClr val="808080"/>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477" name="Freeform 252"/>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478" name="Freeform 253"/>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07" name="Rectangle 254"/>
                <p:cNvSpPr>
                  <a:spLocks noChangeArrowheads="1"/>
                </p:cNvSpPr>
                <p:nvPr/>
              </p:nvSpPr>
              <p:spPr bwMode="auto">
                <a:xfrm>
                  <a:off x="4207" y="693"/>
                  <a:ext cx="601" cy="3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480" name="Group 255"/>
                <p:cNvGrpSpPr/>
                <p:nvPr/>
              </p:nvGrpSpPr>
              <p:grpSpPr bwMode="auto">
                <a:xfrm>
                  <a:off x="4749" y="668"/>
                  <a:ext cx="581" cy="145"/>
                  <a:chOff x="614" y="2568"/>
                  <a:chExt cx="725" cy="139"/>
                </a:xfrm>
              </p:grpSpPr>
              <p:sp>
                <p:nvSpPr>
                  <p:cNvPr id="1033" name="AutoShape 256"/>
                  <p:cNvSpPr>
                    <a:spLocks noChangeArrowheads="1"/>
                  </p:cNvSpPr>
                  <p:nvPr/>
                </p:nvSpPr>
                <p:spPr bwMode="auto">
                  <a:xfrm>
                    <a:off x="612" y="2564"/>
                    <a:ext cx="725" cy="120"/>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34" name="AutoShape 257"/>
                  <p:cNvSpPr>
                    <a:spLocks noChangeArrowheads="1"/>
                  </p:cNvSpPr>
                  <p:nvPr/>
                </p:nvSpPr>
                <p:spPr bwMode="auto">
                  <a:xfrm>
                    <a:off x="625" y="2582"/>
                    <a:ext cx="700" cy="8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009" name="Rectangle 258"/>
                <p:cNvSpPr>
                  <a:spLocks noChangeArrowheads="1"/>
                </p:cNvSpPr>
                <p:nvPr/>
              </p:nvSpPr>
              <p:spPr bwMode="auto">
                <a:xfrm>
                  <a:off x="4227" y="1019"/>
                  <a:ext cx="591" cy="3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482" name="Group 259"/>
                <p:cNvGrpSpPr/>
                <p:nvPr/>
              </p:nvGrpSpPr>
              <p:grpSpPr bwMode="auto">
                <a:xfrm>
                  <a:off x="4747" y="994"/>
                  <a:ext cx="581" cy="134"/>
                  <a:chOff x="614" y="2568"/>
                  <a:chExt cx="725" cy="139"/>
                </a:xfrm>
              </p:grpSpPr>
              <p:sp>
                <p:nvSpPr>
                  <p:cNvPr id="1031" name="AutoShape 260"/>
                  <p:cNvSpPr>
                    <a:spLocks noChangeArrowheads="1"/>
                  </p:cNvSpPr>
                  <p:nvPr/>
                </p:nvSpPr>
                <p:spPr bwMode="auto">
                  <a:xfrm>
                    <a:off x="615" y="2564"/>
                    <a:ext cx="725" cy="140"/>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32" name="AutoShape 261"/>
                  <p:cNvSpPr>
                    <a:spLocks noChangeArrowheads="1"/>
                  </p:cNvSpPr>
                  <p:nvPr/>
                </p:nvSpPr>
                <p:spPr bwMode="auto">
                  <a:xfrm>
                    <a:off x="627" y="258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011" name="Rectangle 262"/>
                <p:cNvSpPr>
                  <a:spLocks noChangeArrowheads="1"/>
                </p:cNvSpPr>
                <p:nvPr/>
              </p:nvSpPr>
              <p:spPr bwMode="auto">
                <a:xfrm>
                  <a:off x="4217" y="1356"/>
                  <a:ext cx="59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12" name="Rectangle 263"/>
                <p:cNvSpPr>
                  <a:spLocks noChangeArrowheads="1"/>
                </p:cNvSpPr>
                <p:nvPr/>
              </p:nvSpPr>
              <p:spPr bwMode="auto">
                <a:xfrm>
                  <a:off x="4227" y="1654"/>
                  <a:ext cx="60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485" name="Group 264"/>
                <p:cNvGrpSpPr/>
                <p:nvPr/>
              </p:nvGrpSpPr>
              <p:grpSpPr bwMode="auto">
                <a:xfrm>
                  <a:off x="4735" y="1627"/>
                  <a:ext cx="582" cy="151"/>
                  <a:chOff x="614" y="2568"/>
                  <a:chExt cx="725" cy="139"/>
                </a:xfrm>
              </p:grpSpPr>
              <p:sp>
                <p:nvSpPr>
                  <p:cNvPr id="1029" name="AutoShape 265"/>
                  <p:cNvSpPr>
                    <a:spLocks noChangeArrowheads="1"/>
                  </p:cNvSpPr>
                  <p:nvPr/>
                </p:nvSpPr>
                <p:spPr bwMode="auto">
                  <a:xfrm>
                    <a:off x="617" y="2566"/>
                    <a:ext cx="711" cy="142"/>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30" name="AutoShape 266"/>
                  <p:cNvSpPr>
                    <a:spLocks noChangeArrowheads="1"/>
                  </p:cNvSpPr>
                  <p:nvPr/>
                </p:nvSpPr>
                <p:spPr bwMode="auto">
                  <a:xfrm>
                    <a:off x="630" y="2584"/>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214486" name="Freeform 267"/>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14487" name="Group 268"/>
                <p:cNvGrpSpPr/>
                <p:nvPr/>
              </p:nvGrpSpPr>
              <p:grpSpPr bwMode="auto">
                <a:xfrm>
                  <a:off x="4739" y="1327"/>
                  <a:ext cx="582" cy="139"/>
                  <a:chOff x="614" y="2568"/>
                  <a:chExt cx="725" cy="139"/>
                </a:xfrm>
              </p:grpSpPr>
              <p:sp>
                <p:nvSpPr>
                  <p:cNvPr id="1027" name="AutoShape 269"/>
                  <p:cNvSpPr>
                    <a:spLocks noChangeArrowheads="1"/>
                  </p:cNvSpPr>
                  <p:nvPr/>
                </p:nvSpPr>
                <p:spPr bwMode="auto">
                  <a:xfrm>
                    <a:off x="612" y="2568"/>
                    <a:ext cx="761" cy="135"/>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28" name="AutoShape 270"/>
                  <p:cNvSpPr>
                    <a:spLocks noChangeArrowheads="1"/>
                  </p:cNvSpPr>
                  <p:nvPr/>
                </p:nvSpPr>
                <p:spPr bwMode="auto">
                  <a:xfrm>
                    <a:off x="625" y="2587"/>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016" name="Rectangle 271"/>
                <p:cNvSpPr>
                  <a:spLocks noChangeArrowheads="1"/>
                </p:cNvSpPr>
                <p:nvPr/>
              </p:nvSpPr>
              <p:spPr bwMode="auto">
                <a:xfrm>
                  <a:off x="5248" y="404"/>
                  <a:ext cx="70" cy="231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489" name="Freeform 272"/>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490" name="Freeform 273"/>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19" name="Oval 274"/>
                <p:cNvSpPr>
                  <a:spLocks noChangeArrowheads="1"/>
                </p:cNvSpPr>
                <p:nvPr/>
              </p:nvSpPr>
              <p:spPr bwMode="auto">
                <a:xfrm>
                  <a:off x="5519" y="2615"/>
                  <a:ext cx="50" cy="96"/>
                </a:xfrm>
                <a:prstGeom prst="ellipse">
                  <a:avLst/>
                </a:prstGeom>
                <a:solidFill>
                  <a:srgbClr val="3333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492" name="Freeform 275"/>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1" name="AutoShape 276"/>
                <p:cNvSpPr>
                  <a:spLocks noChangeArrowheads="1"/>
                </p:cNvSpPr>
                <p:nvPr/>
              </p:nvSpPr>
              <p:spPr bwMode="auto">
                <a:xfrm>
                  <a:off x="4137" y="2682"/>
                  <a:ext cx="1202" cy="144"/>
                </a:xfrm>
                <a:prstGeom prst="roundRect">
                  <a:avLst>
                    <a:gd name="adj" fmla="val 50000"/>
                  </a:avLst>
                </a:prstGeom>
                <a:solidFill>
                  <a:srgbClr val="DDDDDD"/>
                </a:solidFill>
                <a:ln w="9525">
                  <a:solidFill>
                    <a:schemeClr val="tx1"/>
                  </a:solidFill>
                  <a:round/>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22" name="AutoShape 277"/>
                <p:cNvSpPr>
                  <a:spLocks noChangeArrowheads="1"/>
                </p:cNvSpPr>
                <p:nvPr/>
              </p:nvSpPr>
              <p:spPr bwMode="auto">
                <a:xfrm>
                  <a:off x="4207" y="2711"/>
                  <a:ext cx="1071" cy="87"/>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23" name="Oval 278"/>
                <p:cNvSpPr>
                  <a:spLocks noChangeArrowheads="1"/>
                </p:cNvSpPr>
                <p:nvPr/>
              </p:nvSpPr>
              <p:spPr bwMode="auto">
                <a:xfrm>
                  <a:off x="4307" y="2384"/>
                  <a:ext cx="160" cy="144"/>
                </a:xfrm>
                <a:prstGeom prst="ellipse">
                  <a:avLst/>
                </a:prstGeom>
                <a:solidFill>
                  <a:srgbClr val="33CC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24" name="Oval 279"/>
                <p:cNvSpPr>
                  <a:spLocks noChangeArrowheads="1"/>
                </p:cNvSpPr>
                <p:nvPr/>
              </p:nvSpPr>
              <p:spPr bwMode="auto">
                <a:xfrm>
                  <a:off x="4487" y="2384"/>
                  <a:ext cx="160" cy="144"/>
                </a:xfrm>
                <a:prstGeom prst="ellipse">
                  <a:avLst/>
                </a:prstGeom>
                <a:solidFill>
                  <a:srgbClr val="FF0000"/>
                </a:solidFill>
                <a:ln>
                  <a:noFill/>
                </a:ln>
                <a:effectLst/>
              </p:spPr>
              <p:txBody>
                <a:bodyPr wrap="none" anchor="ctr"/>
                <a:lstStyle/>
                <a:p>
                  <a:pPr algn="ctr">
                    <a:spcBef>
                      <a:spcPct val="0"/>
                    </a:spcBef>
                    <a:buClrTx/>
                    <a:buSzTx/>
                    <a:buFontTx/>
                    <a:buNone/>
                    <a:defRPr/>
                  </a:pPr>
                  <a:endParaRPr lang="en-US" sz="2400" dirty="0">
                    <a:solidFill>
                      <a:srgbClr val="FF0000"/>
                    </a:solidFill>
                    <a:latin typeface="Arial" panose="020B0604020202020204" pitchFamily="34" charset="0"/>
                    <a:ea typeface="MS PGothic" panose="020B0600070205080204" pitchFamily="34" charset="-128"/>
                  </a:endParaRPr>
                </a:p>
              </p:txBody>
            </p:sp>
            <p:sp>
              <p:nvSpPr>
                <p:cNvPr id="1025" name="Oval 280"/>
                <p:cNvSpPr>
                  <a:spLocks noChangeArrowheads="1"/>
                </p:cNvSpPr>
                <p:nvPr/>
              </p:nvSpPr>
              <p:spPr bwMode="auto">
                <a:xfrm>
                  <a:off x="4658" y="2384"/>
                  <a:ext cx="160" cy="135"/>
                </a:xfrm>
                <a:prstGeom prst="ellipse">
                  <a:avLst/>
                </a:prstGeom>
                <a:solidFill>
                  <a:srgbClr val="33CC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26" name="Rectangle 281"/>
                <p:cNvSpPr>
                  <a:spLocks noChangeArrowheads="1"/>
                </p:cNvSpPr>
                <p:nvPr/>
              </p:nvSpPr>
              <p:spPr bwMode="auto">
                <a:xfrm>
                  <a:off x="5068" y="1836"/>
                  <a:ext cx="80" cy="759"/>
                </a:xfrm>
                <a:prstGeom prst="rect">
                  <a:avLst/>
                </a:prstGeom>
                <a:solidFill>
                  <a:srgbClr val="292929"/>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grpSp>
            <p:nvGrpSpPr>
              <p:cNvPr id="214442" name="Group 249"/>
              <p:cNvGrpSpPr/>
              <p:nvPr/>
            </p:nvGrpSpPr>
            <p:grpSpPr bwMode="auto">
              <a:xfrm flipH="1">
                <a:off x="8472213" y="4384408"/>
                <a:ext cx="225953" cy="395900"/>
                <a:chOff x="4140" y="429"/>
                <a:chExt cx="1425" cy="2396"/>
              </a:xfrm>
            </p:grpSpPr>
            <p:sp>
              <p:nvSpPr>
                <p:cNvPr id="214443" name="Freeform 250"/>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37" name="Rectangle 251"/>
                <p:cNvSpPr>
                  <a:spLocks noChangeArrowheads="1"/>
                </p:cNvSpPr>
                <p:nvPr/>
              </p:nvSpPr>
              <p:spPr bwMode="auto">
                <a:xfrm>
                  <a:off x="4200" y="428"/>
                  <a:ext cx="1051" cy="2278"/>
                </a:xfrm>
                <a:prstGeom prst="rect">
                  <a:avLst/>
                </a:prstGeom>
                <a:gradFill rotWithShape="1">
                  <a:gsLst>
                    <a:gs pos="0">
                      <a:srgbClr val="292929"/>
                    </a:gs>
                    <a:gs pos="100000">
                      <a:srgbClr val="808080"/>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445" name="Freeform 252"/>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446" name="Freeform 253"/>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40" name="Rectangle 254"/>
                <p:cNvSpPr>
                  <a:spLocks noChangeArrowheads="1"/>
                </p:cNvSpPr>
                <p:nvPr/>
              </p:nvSpPr>
              <p:spPr bwMode="auto">
                <a:xfrm>
                  <a:off x="4210" y="687"/>
                  <a:ext cx="60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448" name="Group 255"/>
                <p:cNvGrpSpPr/>
                <p:nvPr/>
              </p:nvGrpSpPr>
              <p:grpSpPr bwMode="auto">
                <a:xfrm>
                  <a:off x="4749" y="668"/>
                  <a:ext cx="581" cy="145"/>
                  <a:chOff x="614" y="2568"/>
                  <a:chExt cx="725" cy="139"/>
                </a:xfrm>
              </p:grpSpPr>
              <p:sp>
                <p:nvSpPr>
                  <p:cNvPr id="1066" name="AutoShape 256"/>
                  <p:cNvSpPr>
                    <a:spLocks noChangeArrowheads="1"/>
                  </p:cNvSpPr>
                  <p:nvPr/>
                </p:nvSpPr>
                <p:spPr bwMode="auto">
                  <a:xfrm>
                    <a:off x="616" y="2568"/>
                    <a:ext cx="725" cy="138"/>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67" name="AutoShape 257"/>
                  <p:cNvSpPr>
                    <a:spLocks noChangeArrowheads="1"/>
                  </p:cNvSpPr>
                  <p:nvPr/>
                </p:nvSpPr>
                <p:spPr bwMode="auto">
                  <a:xfrm>
                    <a:off x="629"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042" name="Rectangle 258"/>
                <p:cNvSpPr>
                  <a:spLocks noChangeArrowheads="1"/>
                </p:cNvSpPr>
                <p:nvPr/>
              </p:nvSpPr>
              <p:spPr bwMode="auto">
                <a:xfrm>
                  <a:off x="4220" y="1014"/>
                  <a:ext cx="60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450" name="Group 259"/>
                <p:cNvGrpSpPr/>
                <p:nvPr/>
              </p:nvGrpSpPr>
              <p:grpSpPr bwMode="auto">
                <a:xfrm>
                  <a:off x="4747" y="994"/>
                  <a:ext cx="581" cy="134"/>
                  <a:chOff x="614" y="2568"/>
                  <a:chExt cx="725" cy="139"/>
                </a:xfrm>
              </p:grpSpPr>
              <p:sp>
                <p:nvSpPr>
                  <p:cNvPr id="1064" name="AutoShape 260"/>
                  <p:cNvSpPr>
                    <a:spLocks noChangeArrowheads="1"/>
                  </p:cNvSpPr>
                  <p:nvPr/>
                </p:nvSpPr>
                <p:spPr bwMode="auto">
                  <a:xfrm>
                    <a:off x="581" y="2569"/>
                    <a:ext cx="725" cy="140"/>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65" name="AutoShape 261"/>
                  <p:cNvSpPr>
                    <a:spLocks noChangeArrowheads="1"/>
                  </p:cNvSpPr>
                  <p:nvPr/>
                </p:nvSpPr>
                <p:spPr bwMode="auto">
                  <a:xfrm>
                    <a:off x="594" y="2589"/>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044" name="Rectangle 262"/>
                <p:cNvSpPr>
                  <a:spLocks noChangeArrowheads="1"/>
                </p:cNvSpPr>
                <p:nvPr/>
              </p:nvSpPr>
              <p:spPr bwMode="auto">
                <a:xfrm>
                  <a:off x="4220" y="1360"/>
                  <a:ext cx="591" cy="3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45" name="Rectangle 263"/>
                <p:cNvSpPr>
                  <a:spLocks noChangeArrowheads="1"/>
                </p:cNvSpPr>
                <p:nvPr/>
              </p:nvSpPr>
              <p:spPr bwMode="auto">
                <a:xfrm>
                  <a:off x="4230" y="1648"/>
                  <a:ext cx="59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453" name="Group 264"/>
                <p:cNvGrpSpPr/>
                <p:nvPr/>
              </p:nvGrpSpPr>
              <p:grpSpPr bwMode="auto">
                <a:xfrm>
                  <a:off x="4735" y="1627"/>
                  <a:ext cx="582" cy="151"/>
                  <a:chOff x="614" y="2568"/>
                  <a:chExt cx="725" cy="139"/>
                </a:xfrm>
              </p:grpSpPr>
              <p:sp>
                <p:nvSpPr>
                  <p:cNvPr id="1062" name="AutoShape 265"/>
                  <p:cNvSpPr>
                    <a:spLocks noChangeArrowheads="1"/>
                  </p:cNvSpPr>
                  <p:nvPr/>
                </p:nvSpPr>
                <p:spPr bwMode="auto">
                  <a:xfrm>
                    <a:off x="609" y="2570"/>
                    <a:ext cx="686" cy="133"/>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63" name="AutoShape 266"/>
                  <p:cNvSpPr>
                    <a:spLocks noChangeArrowheads="1"/>
                  </p:cNvSpPr>
                  <p:nvPr/>
                </p:nvSpPr>
                <p:spPr bwMode="auto">
                  <a:xfrm>
                    <a:off x="621" y="2588"/>
                    <a:ext cx="649"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214454" name="Freeform 267"/>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14455" name="Group 268"/>
                <p:cNvGrpSpPr/>
                <p:nvPr/>
              </p:nvGrpSpPr>
              <p:grpSpPr bwMode="auto">
                <a:xfrm>
                  <a:off x="4739" y="1327"/>
                  <a:ext cx="582" cy="139"/>
                  <a:chOff x="614" y="2568"/>
                  <a:chExt cx="725" cy="139"/>
                </a:xfrm>
              </p:grpSpPr>
              <p:sp>
                <p:nvSpPr>
                  <p:cNvPr id="1060" name="AutoShape 269"/>
                  <p:cNvSpPr>
                    <a:spLocks noChangeArrowheads="1"/>
                  </p:cNvSpPr>
                  <p:nvPr/>
                </p:nvSpPr>
                <p:spPr bwMode="auto">
                  <a:xfrm>
                    <a:off x="616" y="2543"/>
                    <a:ext cx="723" cy="163"/>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61" name="AutoShape 270"/>
                  <p:cNvSpPr>
                    <a:spLocks noChangeArrowheads="1"/>
                  </p:cNvSpPr>
                  <p:nvPr/>
                </p:nvSpPr>
                <p:spPr bwMode="auto">
                  <a:xfrm>
                    <a:off x="629" y="2582"/>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049" name="Rectangle 271"/>
                <p:cNvSpPr>
                  <a:spLocks noChangeArrowheads="1"/>
                </p:cNvSpPr>
                <p:nvPr/>
              </p:nvSpPr>
              <p:spPr bwMode="auto">
                <a:xfrm>
                  <a:off x="5251" y="428"/>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457" name="Freeform 272"/>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458" name="Freeform 273"/>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52" name="Oval 274"/>
                <p:cNvSpPr>
                  <a:spLocks noChangeArrowheads="1"/>
                </p:cNvSpPr>
                <p:nvPr/>
              </p:nvSpPr>
              <p:spPr bwMode="auto">
                <a:xfrm>
                  <a:off x="5512" y="2609"/>
                  <a:ext cx="50" cy="96"/>
                </a:xfrm>
                <a:prstGeom prst="ellipse">
                  <a:avLst/>
                </a:prstGeom>
                <a:solidFill>
                  <a:srgbClr val="3333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460" name="Freeform 275"/>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54" name="AutoShape 276"/>
                <p:cNvSpPr>
                  <a:spLocks noChangeArrowheads="1"/>
                </p:cNvSpPr>
                <p:nvPr/>
              </p:nvSpPr>
              <p:spPr bwMode="auto">
                <a:xfrm>
                  <a:off x="4140" y="2677"/>
                  <a:ext cx="1202" cy="144"/>
                </a:xfrm>
                <a:prstGeom prst="roundRect">
                  <a:avLst>
                    <a:gd name="adj" fmla="val 50000"/>
                  </a:avLst>
                </a:prstGeom>
                <a:solidFill>
                  <a:srgbClr val="DDDDDD"/>
                </a:solidFill>
                <a:ln w="9525">
                  <a:solidFill>
                    <a:schemeClr val="tx1"/>
                  </a:solidFill>
                  <a:round/>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55" name="AutoShape 277"/>
                <p:cNvSpPr>
                  <a:spLocks noChangeArrowheads="1"/>
                </p:cNvSpPr>
                <p:nvPr/>
              </p:nvSpPr>
              <p:spPr bwMode="auto">
                <a:xfrm>
                  <a:off x="4200"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56" name="Oval 278"/>
                <p:cNvSpPr>
                  <a:spLocks noChangeArrowheads="1"/>
                </p:cNvSpPr>
                <p:nvPr/>
              </p:nvSpPr>
              <p:spPr bwMode="auto">
                <a:xfrm>
                  <a:off x="4310" y="2379"/>
                  <a:ext cx="160" cy="144"/>
                </a:xfrm>
                <a:prstGeom prst="ellipse">
                  <a:avLst/>
                </a:prstGeom>
                <a:solidFill>
                  <a:srgbClr val="33CC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57" name="Oval 279"/>
                <p:cNvSpPr>
                  <a:spLocks noChangeArrowheads="1"/>
                </p:cNvSpPr>
                <p:nvPr/>
              </p:nvSpPr>
              <p:spPr bwMode="auto">
                <a:xfrm>
                  <a:off x="4480" y="2379"/>
                  <a:ext cx="160" cy="144"/>
                </a:xfrm>
                <a:prstGeom prst="ellipse">
                  <a:avLst/>
                </a:prstGeom>
                <a:solidFill>
                  <a:srgbClr val="FF0000"/>
                </a:solidFill>
                <a:ln>
                  <a:noFill/>
                </a:ln>
                <a:effectLst/>
              </p:spPr>
              <p:txBody>
                <a:bodyPr wrap="none" anchor="ctr"/>
                <a:lstStyle/>
                <a:p>
                  <a:pPr algn="ctr">
                    <a:spcBef>
                      <a:spcPct val="0"/>
                    </a:spcBef>
                    <a:buClrTx/>
                    <a:buSzTx/>
                    <a:buFontTx/>
                    <a:buNone/>
                    <a:defRPr/>
                  </a:pPr>
                  <a:endParaRPr lang="en-US" sz="2400" dirty="0">
                    <a:solidFill>
                      <a:srgbClr val="FF0000"/>
                    </a:solidFill>
                    <a:latin typeface="Arial" panose="020B0604020202020204" pitchFamily="34" charset="0"/>
                    <a:ea typeface="MS PGothic" panose="020B0600070205080204" pitchFamily="34" charset="-128"/>
                  </a:endParaRPr>
                </a:p>
              </p:txBody>
            </p:sp>
            <p:sp>
              <p:nvSpPr>
                <p:cNvPr id="1058" name="Oval 280"/>
                <p:cNvSpPr>
                  <a:spLocks noChangeArrowheads="1"/>
                </p:cNvSpPr>
                <p:nvPr/>
              </p:nvSpPr>
              <p:spPr bwMode="auto">
                <a:xfrm>
                  <a:off x="4661" y="2379"/>
                  <a:ext cx="160" cy="135"/>
                </a:xfrm>
                <a:prstGeom prst="ellipse">
                  <a:avLst/>
                </a:prstGeom>
                <a:solidFill>
                  <a:srgbClr val="33CC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059" name="Rectangle 281"/>
                <p:cNvSpPr>
                  <a:spLocks noChangeArrowheads="1"/>
                </p:cNvSpPr>
                <p:nvPr/>
              </p:nvSpPr>
              <p:spPr bwMode="auto">
                <a:xfrm>
                  <a:off x="5061" y="1831"/>
                  <a:ext cx="80" cy="759"/>
                </a:xfrm>
                <a:prstGeom prst="rect">
                  <a:avLst/>
                </a:prstGeom>
                <a:solidFill>
                  <a:srgbClr val="292929"/>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grpSp>
        <p:grpSp>
          <p:nvGrpSpPr>
            <p:cNvPr id="214399" name="Group 1068"/>
            <p:cNvGrpSpPr/>
            <p:nvPr/>
          </p:nvGrpSpPr>
          <p:grpSpPr bwMode="auto">
            <a:xfrm>
              <a:off x="7186941" y="5734675"/>
              <a:ext cx="347753" cy="680208"/>
              <a:chOff x="7923189" y="2486663"/>
              <a:chExt cx="360362" cy="884586"/>
            </a:xfrm>
          </p:grpSpPr>
          <p:pic>
            <p:nvPicPr>
              <p:cNvPr id="214405"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406" name="Group 950"/>
              <p:cNvGrpSpPr/>
              <p:nvPr/>
            </p:nvGrpSpPr>
            <p:grpSpPr bwMode="auto">
              <a:xfrm>
                <a:off x="7923189" y="2890236"/>
                <a:ext cx="227012" cy="481013"/>
                <a:chOff x="4140" y="429"/>
                <a:chExt cx="1425" cy="2396"/>
              </a:xfrm>
            </p:grpSpPr>
            <p:sp>
              <p:nvSpPr>
                <p:cNvPr id="214407"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40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409"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410"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41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412" name="Group 956"/>
                <p:cNvGrpSpPr/>
                <p:nvPr/>
              </p:nvGrpSpPr>
              <p:grpSpPr bwMode="auto">
                <a:xfrm>
                  <a:off x="4749" y="668"/>
                  <a:ext cx="581" cy="145"/>
                  <a:chOff x="614" y="2568"/>
                  <a:chExt cx="725" cy="139"/>
                </a:xfrm>
              </p:grpSpPr>
              <p:sp>
                <p:nvSpPr>
                  <p:cNvPr id="21443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43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41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414" name="Group 960"/>
                <p:cNvGrpSpPr/>
                <p:nvPr/>
              </p:nvGrpSpPr>
              <p:grpSpPr bwMode="auto">
                <a:xfrm>
                  <a:off x="4747" y="994"/>
                  <a:ext cx="581" cy="134"/>
                  <a:chOff x="614" y="2568"/>
                  <a:chExt cx="725" cy="139"/>
                </a:xfrm>
              </p:grpSpPr>
              <p:sp>
                <p:nvSpPr>
                  <p:cNvPr id="21443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43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41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41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417" name="Group 965"/>
                <p:cNvGrpSpPr/>
                <p:nvPr/>
              </p:nvGrpSpPr>
              <p:grpSpPr bwMode="auto">
                <a:xfrm>
                  <a:off x="4735" y="1627"/>
                  <a:ext cx="582" cy="151"/>
                  <a:chOff x="614" y="2568"/>
                  <a:chExt cx="725" cy="139"/>
                </a:xfrm>
              </p:grpSpPr>
              <p:sp>
                <p:nvSpPr>
                  <p:cNvPr id="21443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43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418"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419" name="Group 969"/>
                <p:cNvGrpSpPr/>
                <p:nvPr/>
              </p:nvGrpSpPr>
              <p:grpSpPr bwMode="auto">
                <a:xfrm>
                  <a:off x="4739" y="1327"/>
                  <a:ext cx="582" cy="139"/>
                  <a:chOff x="614" y="2568"/>
                  <a:chExt cx="725" cy="139"/>
                </a:xfrm>
              </p:grpSpPr>
              <p:sp>
                <p:nvSpPr>
                  <p:cNvPr id="21443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43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42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421"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422"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42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424"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42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42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42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42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42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43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400" name="Group 3"/>
            <p:cNvGrpSpPr/>
            <p:nvPr/>
          </p:nvGrpSpPr>
          <p:grpSpPr bwMode="auto">
            <a:xfrm>
              <a:off x="439215" y="4827099"/>
              <a:ext cx="875523" cy="506826"/>
              <a:chOff x="439215" y="4827099"/>
              <a:chExt cx="875523" cy="506826"/>
            </a:xfrm>
          </p:grpSpPr>
          <p:grpSp>
            <p:nvGrpSpPr>
              <p:cNvPr id="214401" name="Group 418"/>
              <p:cNvGrpSpPr/>
              <p:nvPr/>
            </p:nvGrpSpPr>
            <p:grpSpPr bwMode="auto">
              <a:xfrm>
                <a:off x="439215" y="4827099"/>
                <a:ext cx="875523" cy="506826"/>
                <a:chOff x="2889" y="1631"/>
                <a:chExt cx="980" cy="743"/>
              </a:xfrm>
            </p:grpSpPr>
            <p:sp>
              <p:nvSpPr>
                <p:cNvPr id="214403" name="Rectangle 419"/>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35249" name="AutoShape 420"/>
                <p:cNvSpPr>
                  <a:spLocks noChangeArrowheads="1"/>
                </p:cNvSpPr>
                <p:nvPr/>
              </p:nvSpPr>
              <p:spPr bwMode="auto">
                <a:xfrm>
                  <a:off x="2889" y="1631"/>
                  <a:ext cx="976" cy="254"/>
                </a:xfrm>
                <a:prstGeom prst="triangle">
                  <a:avLst>
                    <a:gd name="adj" fmla="val 50000"/>
                  </a:avLst>
                </a:prstGeom>
                <a:solidFill>
                  <a:schemeClr val="tx1">
                    <a:lumMod val="50000"/>
                    <a:lumOff val="50000"/>
                  </a:schemeClr>
                </a:solidFill>
                <a:ln>
                  <a:noFill/>
                </a:ln>
              </p:spPr>
              <p:txBody>
                <a:bodyPr wrap="none" anchor="ctr"/>
                <a:lstStyle/>
                <a:p>
                  <a:pPr algn="ctr">
                    <a:spcBef>
                      <a:spcPct val="0"/>
                    </a:spcBef>
                    <a:buClrTx/>
                    <a:buSzTx/>
                    <a:buFontTx/>
                    <a:buNone/>
                    <a:defRPr/>
                  </a:pPr>
                  <a:endParaRPr lang="en-US" sz="2400" dirty="0">
                    <a:solidFill>
                      <a:srgbClr val="00CCFF"/>
                    </a:solidFill>
                    <a:latin typeface="Arial" panose="020B0604020202020204" pitchFamily="34" charset="0"/>
                    <a:ea typeface="MS PGothic" panose="020B0600070205080204" pitchFamily="34" charset="-128"/>
                    <a:cs typeface="MS PGothic" panose="020B0600070205080204" pitchFamily="34" charset="-128"/>
                  </a:endParaRPr>
                </a:p>
              </p:txBody>
            </p:sp>
          </p:grpSp>
          <p:pic>
            <p:nvPicPr>
              <p:cNvPr id="214402" name="Picture 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 name="Group 8"/>
          <p:cNvGrpSpPr/>
          <p:nvPr/>
        </p:nvGrpSpPr>
        <p:grpSpPr bwMode="auto">
          <a:xfrm>
            <a:off x="1949451" y="1181101"/>
            <a:ext cx="8258175" cy="5427663"/>
            <a:chOff x="425291" y="1016574"/>
            <a:chExt cx="8258951" cy="5427438"/>
          </a:xfrm>
        </p:grpSpPr>
        <p:grpSp>
          <p:nvGrpSpPr>
            <p:cNvPr id="214030" name="Group 7"/>
            <p:cNvGrpSpPr/>
            <p:nvPr/>
          </p:nvGrpSpPr>
          <p:grpSpPr bwMode="auto">
            <a:xfrm>
              <a:off x="861857" y="1488950"/>
              <a:ext cx="7326607" cy="4955062"/>
              <a:chOff x="861857" y="1488950"/>
              <a:chExt cx="7326607" cy="4955062"/>
            </a:xfrm>
          </p:grpSpPr>
          <p:cxnSp>
            <p:nvCxnSpPr>
              <p:cNvPr id="214383" name="Straight Connector 6"/>
              <p:cNvCxnSpPr>
                <a:cxnSpLocks noChangeShapeType="1"/>
                <a:stCxn id="214402" idx="2"/>
              </p:cNvCxnSpPr>
              <p:nvPr/>
            </p:nvCxnSpPr>
            <p:spPr bwMode="auto">
              <a:xfrm flipH="1" flipV="1">
                <a:off x="861857" y="2766634"/>
                <a:ext cx="24132" cy="237025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4" name="Straight Connector 786"/>
              <p:cNvCxnSpPr>
                <a:cxnSpLocks noChangeShapeType="1"/>
                <a:stCxn id="214712" idx="2"/>
              </p:cNvCxnSpPr>
              <p:nvPr/>
            </p:nvCxnSpPr>
            <p:spPr bwMode="auto">
              <a:xfrm flipV="1">
                <a:off x="1769891" y="1936350"/>
                <a:ext cx="381" cy="24137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5" name="Straight Connector 787"/>
              <p:cNvCxnSpPr>
                <a:cxnSpLocks noChangeShapeType="1"/>
              </p:cNvCxnSpPr>
              <p:nvPr/>
            </p:nvCxnSpPr>
            <p:spPr bwMode="auto">
              <a:xfrm flipV="1">
                <a:off x="2209958" y="3252851"/>
                <a:ext cx="0" cy="25398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6" name="Straight Connector 788"/>
              <p:cNvCxnSpPr>
                <a:cxnSpLocks noChangeShapeType="1"/>
              </p:cNvCxnSpPr>
              <p:nvPr/>
            </p:nvCxnSpPr>
            <p:spPr bwMode="auto">
              <a:xfrm flipV="1">
                <a:off x="3314938" y="3904152"/>
                <a:ext cx="0" cy="25398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7" name="Straight Connector 789"/>
              <p:cNvCxnSpPr>
                <a:cxnSpLocks noChangeShapeType="1"/>
              </p:cNvCxnSpPr>
              <p:nvPr/>
            </p:nvCxnSpPr>
            <p:spPr bwMode="auto">
              <a:xfrm flipV="1">
                <a:off x="4465279" y="1488950"/>
                <a:ext cx="0" cy="25398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8" name="Straight Connector 791"/>
              <p:cNvCxnSpPr>
                <a:cxnSpLocks noChangeShapeType="1"/>
              </p:cNvCxnSpPr>
              <p:nvPr/>
            </p:nvCxnSpPr>
            <p:spPr bwMode="auto">
              <a:xfrm flipV="1">
                <a:off x="5162011" y="3561357"/>
                <a:ext cx="0" cy="25398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9" name="Straight Connector 967"/>
              <p:cNvCxnSpPr>
                <a:cxnSpLocks noChangeShapeType="1"/>
              </p:cNvCxnSpPr>
              <p:nvPr/>
            </p:nvCxnSpPr>
            <p:spPr bwMode="auto">
              <a:xfrm flipV="1">
                <a:off x="6130907" y="1778447"/>
                <a:ext cx="0" cy="25398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0" name="Straight Connector 1067"/>
              <p:cNvCxnSpPr>
                <a:cxnSpLocks noChangeShapeType="1"/>
              </p:cNvCxnSpPr>
              <p:nvPr/>
            </p:nvCxnSpPr>
            <p:spPr bwMode="auto">
              <a:xfrm flipV="1">
                <a:off x="8188464" y="2384037"/>
                <a:ext cx="0" cy="25398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1" name="Straight Connector 1103"/>
              <p:cNvCxnSpPr>
                <a:cxnSpLocks noChangeShapeType="1"/>
              </p:cNvCxnSpPr>
              <p:nvPr/>
            </p:nvCxnSpPr>
            <p:spPr bwMode="auto">
              <a:xfrm flipV="1">
                <a:off x="7267323" y="3880001"/>
                <a:ext cx="0" cy="25398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14031" name="Group 1104"/>
            <p:cNvGrpSpPr/>
            <p:nvPr/>
          </p:nvGrpSpPr>
          <p:grpSpPr bwMode="auto">
            <a:xfrm>
              <a:off x="425291" y="1016574"/>
              <a:ext cx="8258951" cy="2901368"/>
              <a:chOff x="439215" y="3555216"/>
              <a:chExt cx="8258951" cy="2901368"/>
            </a:xfrm>
          </p:grpSpPr>
          <p:grpSp>
            <p:nvGrpSpPr>
              <p:cNvPr id="214032" name="Group 1105"/>
              <p:cNvGrpSpPr/>
              <p:nvPr/>
            </p:nvGrpSpPr>
            <p:grpSpPr bwMode="auto">
              <a:xfrm>
                <a:off x="1678362" y="3855145"/>
                <a:ext cx="347753" cy="680208"/>
                <a:chOff x="7923189" y="2486663"/>
                <a:chExt cx="360362" cy="884586"/>
              </a:xfrm>
            </p:grpSpPr>
            <p:pic>
              <p:nvPicPr>
                <p:cNvPr id="214349"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50" name="Group 950"/>
                <p:cNvGrpSpPr/>
                <p:nvPr/>
              </p:nvGrpSpPr>
              <p:grpSpPr bwMode="auto">
                <a:xfrm>
                  <a:off x="7923189" y="2890236"/>
                  <a:ext cx="227012" cy="481013"/>
                  <a:chOff x="4140" y="429"/>
                  <a:chExt cx="1425" cy="2396"/>
                </a:xfrm>
              </p:grpSpPr>
              <p:sp>
                <p:nvSpPr>
                  <p:cNvPr id="214351"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52"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53"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54"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55"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356" name="Group 956"/>
                  <p:cNvGrpSpPr/>
                  <p:nvPr/>
                </p:nvGrpSpPr>
                <p:grpSpPr bwMode="auto">
                  <a:xfrm>
                    <a:off x="4749" y="668"/>
                    <a:ext cx="581" cy="145"/>
                    <a:chOff x="614" y="2568"/>
                    <a:chExt cx="725" cy="139"/>
                  </a:xfrm>
                </p:grpSpPr>
                <p:sp>
                  <p:nvSpPr>
                    <p:cNvPr id="214381"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82"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357"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358" name="Group 960"/>
                  <p:cNvGrpSpPr/>
                  <p:nvPr/>
                </p:nvGrpSpPr>
                <p:grpSpPr bwMode="auto">
                  <a:xfrm>
                    <a:off x="4747" y="994"/>
                    <a:ext cx="581" cy="134"/>
                    <a:chOff x="614" y="2568"/>
                    <a:chExt cx="725" cy="139"/>
                  </a:xfrm>
                </p:grpSpPr>
                <p:sp>
                  <p:nvSpPr>
                    <p:cNvPr id="214379"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80"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359"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60"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361" name="Group 965"/>
                  <p:cNvGrpSpPr/>
                  <p:nvPr/>
                </p:nvGrpSpPr>
                <p:grpSpPr bwMode="auto">
                  <a:xfrm>
                    <a:off x="4735" y="1627"/>
                    <a:ext cx="582" cy="151"/>
                    <a:chOff x="614" y="2568"/>
                    <a:chExt cx="725" cy="139"/>
                  </a:xfrm>
                </p:grpSpPr>
                <p:sp>
                  <p:nvSpPr>
                    <p:cNvPr id="214377"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78"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362"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363" name="Group 969"/>
                  <p:cNvGrpSpPr/>
                  <p:nvPr/>
                </p:nvGrpSpPr>
                <p:grpSpPr bwMode="auto">
                  <a:xfrm>
                    <a:off x="4739" y="1327"/>
                    <a:ext cx="582" cy="139"/>
                    <a:chOff x="614" y="2568"/>
                    <a:chExt cx="725" cy="139"/>
                  </a:xfrm>
                </p:grpSpPr>
                <p:sp>
                  <p:nvSpPr>
                    <p:cNvPr id="214375"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76"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364"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65"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66"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67"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68"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69"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70"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71"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72"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373"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74"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033" name="Group 1106"/>
              <p:cNvGrpSpPr/>
              <p:nvPr/>
            </p:nvGrpSpPr>
            <p:grpSpPr bwMode="auto">
              <a:xfrm>
                <a:off x="3221830" y="5776376"/>
                <a:ext cx="347753" cy="680208"/>
                <a:chOff x="7923189" y="2486663"/>
                <a:chExt cx="360362" cy="884586"/>
              </a:xfrm>
            </p:grpSpPr>
            <p:pic>
              <p:nvPicPr>
                <p:cNvPr id="214315"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16" name="Group 950"/>
                <p:cNvGrpSpPr/>
                <p:nvPr/>
              </p:nvGrpSpPr>
              <p:grpSpPr bwMode="auto">
                <a:xfrm>
                  <a:off x="7923189" y="2890236"/>
                  <a:ext cx="227012" cy="481013"/>
                  <a:chOff x="4140" y="429"/>
                  <a:chExt cx="1425" cy="2396"/>
                </a:xfrm>
              </p:grpSpPr>
              <p:sp>
                <p:nvSpPr>
                  <p:cNvPr id="214317"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1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19"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20"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2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322" name="Group 956"/>
                  <p:cNvGrpSpPr/>
                  <p:nvPr/>
                </p:nvGrpSpPr>
                <p:grpSpPr bwMode="auto">
                  <a:xfrm>
                    <a:off x="4749" y="668"/>
                    <a:ext cx="581" cy="145"/>
                    <a:chOff x="614" y="2568"/>
                    <a:chExt cx="725" cy="139"/>
                  </a:xfrm>
                </p:grpSpPr>
                <p:sp>
                  <p:nvSpPr>
                    <p:cNvPr id="21434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4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32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324" name="Group 960"/>
                  <p:cNvGrpSpPr/>
                  <p:nvPr/>
                </p:nvGrpSpPr>
                <p:grpSpPr bwMode="auto">
                  <a:xfrm>
                    <a:off x="4747" y="994"/>
                    <a:ext cx="581" cy="134"/>
                    <a:chOff x="614" y="2568"/>
                    <a:chExt cx="725" cy="139"/>
                  </a:xfrm>
                </p:grpSpPr>
                <p:sp>
                  <p:nvSpPr>
                    <p:cNvPr id="21434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4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32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2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327" name="Group 965"/>
                  <p:cNvGrpSpPr/>
                  <p:nvPr/>
                </p:nvGrpSpPr>
                <p:grpSpPr bwMode="auto">
                  <a:xfrm>
                    <a:off x="4735" y="1627"/>
                    <a:ext cx="582" cy="151"/>
                    <a:chOff x="614" y="2568"/>
                    <a:chExt cx="725" cy="139"/>
                  </a:xfrm>
                </p:grpSpPr>
                <p:sp>
                  <p:nvSpPr>
                    <p:cNvPr id="21434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4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328"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329" name="Group 969"/>
                  <p:cNvGrpSpPr/>
                  <p:nvPr/>
                </p:nvGrpSpPr>
                <p:grpSpPr bwMode="auto">
                  <a:xfrm>
                    <a:off x="4739" y="1327"/>
                    <a:ext cx="582" cy="139"/>
                    <a:chOff x="614" y="2568"/>
                    <a:chExt cx="725" cy="139"/>
                  </a:xfrm>
                </p:grpSpPr>
                <p:sp>
                  <p:nvSpPr>
                    <p:cNvPr id="21434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4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33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31"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32"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3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34"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3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3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3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3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33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4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034" name="Group 1108"/>
              <p:cNvGrpSpPr/>
              <p:nvPr/>
            </p:nvGrpSpPr>
            <p:grpSpPr bwMode="auto">
              <a:xfrm>
                <a:off x="4387291" y="3555216"/>
                <a:ext cx="347753" cy="680208"/>
                <a:chOff x="7923189" y="2486663"/>
                <a:chExt cx="360362" cy="884586"/>
              </a:xfrm>
            </p:grpSpPr>
            <p:pic>
              <p:nvPicPr>
                <p:cNvPr id="214281"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82" name="Group 950"/>
                <p:cNvGrpSpPr/>
                <p:nvPr/>
              </p:nvGrpSpPr>
              <p:grpSpPr bwMode="auto">
                <a:xfrm>
                  <a:off x="7923189" y="2890236"/>
                  <a:ext cx="227012" cy="481013"/>
                  <a:chOff x="4140" y="429"/>
                  <a:chExt cx="1425" cy="2396"/>
                </a:xfrm>
              </p:grpSpPr>
              <p:sp>
                <p:nvSpPr>
                  <p:cNvPr id="214283"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84"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85"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86"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87"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288" name="Group 956"/>
                  <p:cNvGrpSpPr/>
                  <p:nvPr/>
                </p:nvGrpSpPr>
                <p:grpSpPr bwMode="auto">
                  <a:xfrm>
                    <a:off x="4749" y="668"/>
                    <a:ext cx="581" cy="145"/>
                    <a:chOff x="614" y="2568"/>
                    <a:chExt cx="725" cy="139"/>
                  </a:xfrm>
                </p:grpSpPr>
                <p:sp>
                  <p:nvSpPr>
                    <p:cNvPr id="214313"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14"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289"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290" name="Group 960"/>
                  <p:cNvGrpSpPr/>
                  <p:nvPr/>
                </p:nvGrpSpPr>
                <p:grpSpPr bwMode="auto">
                  <a:xfrm>
                    <a:off x="4747" y="994"/>
                    <a:ext cx="581" cy="134"/>
                    <a:chOff x="614" y="2568"/>
                    <a:chExt cx="725" cy="139"/>
                  </a:xfrm>
                </p:grpSpPr>
                <p:sp>
                  <p:nvSpPr>
                    <p:cNvPr id="214311"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12"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291"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92"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293" name="Group 965"/>
                  <p:cNvGrpSpPr/>
                  <p:nvPr/>
                </p:nvGrpSpPr>
                <p:grpSpPr bwMode="auto">
                  <a:xfrm>
                    <a:off x="4735" y="1627"/>
                    <a:ext cx="582" cy="151"/>
                    <a:chOff x="614" y="2568"/>
                    <a:chExt cx="725" cy="139"/>
                  </a:xfrm>
                </p:grpSpPr>
                <p:sp>
                  <p:nvSpPr>
                    <p:cNvPr id="214309"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10"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294"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295" name="Group 969"/>
                  <p:cNvGrpSpPr/>
                  <p:nvPr/>
                </p:nvGrpSpPr>
                <p:grpSpPr bwMode="auto">
                  <a:xfrm>
                    <a:off x="4739" y="1327"/>
                    <a:ext cx="582" cy="139"/>
                    <a:chOff x="614" y="2568"/>
                    <a:chExt cx="725" cy="139"/>
                  </a:xfrm>
                </p:grpSpPr>
                <p:sp>
                  <p:nvSpPr>
                    <p:cNvPr id="214307"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08"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296"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97"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98"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99"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00"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301"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02"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03"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04"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305"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306"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035" name="Group 1109"/>
              <p:cNvGrpSpPr/>
              <p:nvPr/>
            </p:nvGrpSpPr>
            <p:grpSpPr bwMode="auto">
              <a:xfrm>
                <a:off x="5084012" y="5612511"/>
                <a:ext cx="347767" cy="680207"/>
                <a:chOff x="7923189" y="2486664"/>
                <a:chExt cx="360377" cy="884585"/>
              </a:xfrm>
            </p:grpSpPr>
            <p:pic>
              <p:nvPicPr>
                <p:cNvPr id="214247"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48" name="Group 950"/>
                <p:cNvGrpSpPr/>
                <p:nvPr/>
              </p:nvGrpSpPr>
              <p:grpSpPr bwMode="auto">
                <a:xfrm>
                  <a:off x="7923189" y="2890236"/>
                  <a:ext cx="227012" cy="481013"/>
                  <a:chOff x="4140" y="429"/>
                  <a:chExt cx="1425" cy="2396"/>
                </a:xfrm>
              </p:grpSpPr>
              <p:sp>
                <p:nvSpPr>
                  <p:cNvPr id="214249"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50"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51"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52"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53"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254" name="Group 956"/>
                  <p:cNvGrpSpPr/>
                  <p:nvPr/>
                </p:nvGrpSpPr>
                <p:grpSpPr bwMode="auto">
                  <a:xfrm>
                    <a:off x="4749" y="668"/>
                    <a:ext cx="581" cy="145"/>
                    <a:chOff x="614" y="2568"/>
                    <a:chExt cx="725" cy="139"/>
                  </a:xfrm>
                </p:grpSpPr>
                <p:sp>
                  <p:nvSpPr>
                    <p:cNvPr id="214279"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80"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255"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256" name="Group 960"/>
                  <p:cNvGrpSpPr/>
                  <p:nvPr/>
                </p:nvGrpSpPr>
                <p:grpSpPr bwMode="auto">
                  <a:xfrm>
                    <a:off x="4747" y="994"/>
                    <a:ext cx="581" cy="134"/>
                    <a:chOff x="614" y="2568"/>
                    <a:chExt cx="725" cy="139"/>
                  </a:xfrm>
                </p:grpSpPr>
                <p:sp>
                  <p:nvSpPr>
                    <p:cNvPr id="214277"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78"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257"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58"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259" name="Group 965"/>
                  <p:cNvGrpSpPr/>
                  <p:nvPr/>
                </p:nvGrpSpPr>
                <p:grpSpPr bwMode="auto">
                  <a:xfrm>
                    <a:off x="4735" y="1627"/>
                    <a:ext cx="582" cy="151"/>
                    <a:chOff x="614" y="2568"/>
                    <a:chExt cx="725" cy="139"/>
                  </a:xfrm>
                </p:grpSpPr>
                <p:sp>
                  <p:nvSpPr>
                    <p:cNvPr id="214275"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76"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260"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261" name="Group 969"/>
                  <p:cNvGrpSpPr/>
                  <p:nvPr/>
                </p:nvGrpSpPr>
                <p:grpSpPr bwMode="auto">
                  <a:xfrm>
                    <a:off x="4739" y="1327"/>
                    <a:ext cx="582" cy="139"/>
                    <a:chOff x="614" y="2568"/>
                    <a:chExt cx="725" cy="139"/>
                  </a:xfrm>
                </p:grpSpPr>
                <p:sp>
                  <p:nvSpPr>
                    <p:cNvPr id="214273"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74"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262"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63"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64"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65"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66"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67"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68"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69"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70"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271"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72"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036" name="Group 1110"/>
              <p:cNvGrpSpPr/>
              <p:nvPr/>
            </p:nvGrpSpPr>
            <p:grpSpPr bwMode="auto">
              <a:xfrm>
                <a:off x="6068038" y="3829780"/>
                <a:ext cx="347753" cy="680208"/>
                <a:chOff x="7923189" y="2486663"/>
                <a:chExt cx="360362" cy="884586"/>
              </a:xfrm>
            </p:grpSpPr>
            <p:pic>
              <p:nvPicPr>
                <p:cNvPr id="214213"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14" name="Group 950"/>
                <p:cNvGrpSpPr/>
                <p:nvPr/>
              </p:nvGrpSpPr>
              <p:grpSpPr bwMode="auto">
                <a:xfrm>
                  <a:off x="7923189" y="2890236"/>
                  <a:ext cx="227012" cy="481013"/>
                  <a:chOff x="4140" y="429"/>
                  <a:chExt cx="1425" cy="2396"/>
                </a:xfrm>
              </p:grpSpPr>
              <p:sp>
                <p:nvSpPr>
                  <p:cNvPr id="214215"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16"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17"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18"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19"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220" name="Group 956"/>
                  <p:cNvGrpSpPr/>
                  <p:nvPr/>
                </p:nvGrpSpPr>
                <p:grpSpPr bwMode="auto">
                  <a:xfrm>
                    <a:off x="4749" y="668"/>
                    <a:ext cx="581" cy="145"/>
                    <a:chOff x="614" y="2568"/>
                    <a:chExt cx="725" cy="139"/>
                  </a:xfrm>
                </p:grpSpPr>
                <p:sp>
                  <p:nvSpPr>
                    <p:cNvPr id="214245"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46"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221"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222" name="Group 960"/>
                  <p:cNvGrpSpPr/>
                  <p:nvPr/>
                </p:nvGrpSpPr>
                <p:grpSpPr bwMode="auto">
                  <a:xfrm>
                    <a:off x="4747" y="994"/>
                    <a:ext cx="581" cy="134"/>
                    <a:chOff x="614" y="2568"/>
                    <a:chExt cx="725" cy="139"/>
                  </a:xfrm>
                </p:grpSpPr>
                <p:sp>
                  <p:nvSpPr>
                    <p:cNvPr id="214243"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44"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223"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24"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225" name="Group 965"/>
                  <p:cNvGrpSpPr/>
                  <p:nvPr/>
                </p:nvGrpSpPr>
                <p:grpSpPr bwMode="auto">
                  <a:xfrm>
                    <a:off x="4735" y="1627"/>
                    <a:ext cx="582" cy="151"/>
                    <a:chOff x="614" y="2568"/>
                    <a:chExt cx="725" cy="139"/>
                  </a:xfrm>
                </p:grpSpPr>
                <p:sp>
                  <p:nvSpPr>
                    <p:cNvPr id="214241"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42"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226"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227" name="Group 969"/>
                  <p:cNvGrpSpPr/>
                  <p:nvPr/>
                </p:nvGrpSpPr>
                <p:grpSpPr bwMode="auto">
                  <a:xfrm>
                    <a:off x="4739" y="1327"/>
                    <a:ext cx="582" cy="139"/>
                    <a:chOff x="614" y="2568"/>
                    <a:chExt cx="725" cy="139"/>
                  </a:xfrm>
                </p:grpSpPr>
                <p:sp>
                  <p:nvSpPr>
                    <p:cNvPr id="214239"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40"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228"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29"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30"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31"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32"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233"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34"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35"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36"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237"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38"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037" name="Group 1111"/>
              <p:cNvGrpSpPr/>
              <p:nvPr/>
            </p:nvGrpSpPr>
            <p:grpSpPr bwMode="auto">
              <a:xfrm>
                <a:off x="2122838" y="5630065"/>
                <a:ext cx="347753" cy="680208"/>
                <a:chOff x="7923189" y="2486663"/>
                <a:chExt cx="360362" cy="884586"/>
              </a:xfrm>
            </p:grpSpPr>
            <p:pic>
              <p:nvPicPr>
                <p:cNvPr id="214179"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180" name="Group 950"/>
                <p:cNvGrpSpPr/>
                <p:nvPr/>
              </p:nvGrpSpPr>
              <p:grpSpPr bwMode="auto">
                <a:xfrm>
                  <a:off x="7923189" y="2890236"/>
                  <a:ext cx="227012" cy="481013"/>
                  <a:chOff x="4140" y="429"/>
                  <a:chExt cx="1425" cy="2396"/>
                </a:xfrm>
              </p:grpSpPr>
              <p:sp>
                <p:nvSpPr>
                  <p:cNvPr id="214181"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182"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183"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184"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185"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186" name="Group 956"/>
                  <p:cNvGrpSpPr/>
                  <p:nvPr/>
                </p:nvGrpSpPr>
                <p:grpSpPr bwMode="auto">
                  <a:xfrm>
                    <a:off x="4749" y="668"/>
                    <a:ext cx="581" cy="145"/>
                    <a:chOff x="614" y="2568"/>
                    <a:chExt cx="725" cy="139"/>
                  </a:xfrm>
                </p:grpSpPr>
                <p:sp>
                  <p:nvSpPr>
                    <p:cNvPr id="214211"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12"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187"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188" name="Group 960"/>
                  <p:cNvGrpSpPr/>
                  <p:nvPr/>
                </p:nvGrpSpPr>
                <p:grpSpPr bwMode="auto">
                  <a:xfrm>
                    <a:off x="4747" y="994"/>
                    <a:ext cx="581" cy="134"/>
                    <a:chOff x="614" y="2568"/>
                    <a:chExt cx="725" cy="139"/>
                  </a:xfrm>
                </p:grpSpPr>
                <p:sp>
                  <p:nvSpPr>
                    <p:cNvPr id="214209"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10"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189"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190"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191" name="Group 965"/>
                  <p:cNvGrpSpPr/>
                  <p:nvPr/>
                </p:nvGrpSpPr>
                <p:grpSpPr bwMode="auto">
                  <a:xfrm>
                    <a:off x="4735" y="1627"/>
                    <a:ext cx="582" cy="151"/>
                    <a:chOff x="614" y="2568"/>
                    <a:chExt cx="725" cy="139"/>
                  </a:xfrm>
                </p:grpSpPr>
                <p:sp>
                  <p:nvSpPr>
                    <p:cNvPr id="214207"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08"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192"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193" name="Group 969"/>
                  <p:cNvGrpSpPr/>
                  <p:nvPr/>
                </p:nvGrpSpPr>
                <p:grpSpPr bwMode="auto">
                  <a:xfrm>
                    <a:off x="4739" y="1327"/>
                    <a:ext cx="582" cy="139"/>
                    <a:chOff x="614" y="2568"/>
                    <a:chExt cx="725" cy="139"/>
                  </a:xfrm>
                </p:grpSpPr>
                <p:sp>
                  <p:nvSpPr>
                    <p:cNvPr id="214205"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06"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194"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195"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196"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197"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198"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199"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00"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01"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02"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203"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204"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038" name="Group 1115"/>
              <p:cNvGrpSpPr/>
              <p:nvPr/>
            </p:nvGrpSpPr>
            <p:grpSpPr bwMode="auto">
              <a:xfrm>
                <a:off x="7707615" y="4368892"/>
                <a:ext cx="990551" cy="731635"/>
                <a:chOff x="7707615" y="4368892"/>
                <a:chExt cx="990551" cy="731635"/>
              </a:xfrm>
            </p:grpSpPr>
            <p:pic>
              <p:nvPicPr>
                <p:cNvPr id="214079" name="Picture 115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080" name="Group 249"/>
                <p:cNvGrpSpPr/>
                <p:nvPr/>
              </p:nvGrpSpPr>
              <p:grpSpPr bwMode="auto">
                <a:xfrm flipH="1">
                  <a:off x="7707615" y="4368892"/>
                  <a:ext cx="225953" cy="395900"/>
                  <a:chOff x="4140" y="429"/>
                  <a:chExt cx="1425" cy="2396"/>
                </a:xfrm>
              </p:grpSpPr>
              <p:sp>
                <p:nvSpPr>
                  <p:cNvPr id="214147" name="Freeform 250"/>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 name="Rectangle 251"/>
                  <p:cNvSpPr>
                    <a:spLocks noChangeArrowheads="1"/>
                  </p:cNvSpPr>
                  <p:nvPr/>
                </p:nvSpPr>
                <p:spPr bwMode="auto">
                  <a:xfrm>
                    <a:off x="4204" y="433"/>
                    <a:ext cx="1051" cy="2277"/>
                  </a:xfrm>
                  <a:prstGeom prst="rect">
                    <a:avLst/>
                  </a:prstGeom>
                  <a:gradFill rotWithShape="1">
                    <a:gsLst>
                      <a:gs pos="0">
                        <a:srgbClr val="292929"/>
                      </a:gs>
                      <a:gs pos="100000">
                        <a:srgbClr val="808080"/>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149" name="Freeform 252"/>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150" name="Freeform 253"/>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32" name="Rectangle 254"/>
                  <p:cNvSpPr>
                    <a:spLocks noChangeArrowheads="1"/>
                  </p:cNvSpPr>
                  <p:nvPr/>
                </p:nvSpPr>
                <p:spPr bwMode="auto">
                  <a:xfrm>
                    <a:off x="4214" y="692"/>
                    <a:ext cx="60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152" name="Group 255"/>
                  <p:cNvGrpSpPr/>
                  <p:nvPr/>
                </p:nvGrpSpPr>
                <p:grpSpPr bwMode="auto">
                  <a:xfrm>
                    <a:off x="4749" y="668"/>
                    <a:ext cx="581" cy="145"/>
                    <a:chOff x="614" y="2568"/>
                    <a:chExt cx="725" cy="139"/>
                  </a:xfrm>
                </p:grpSpPr>
                <p:sp>
                  <p:nvSpPr>
                    <p:cNvPr id="1258" name="AutoShape 256"/>
                    <p:cNvSpPr>
                      <a:spLocks noChangeArrowheads="1"/>
                    </p:cNvSpPr>
                    <p:nvPr/>
                  </p:nvSpPr>
                  <p:spPr bwMode="auto">
                    <a:xfrm>
                      <a:off x="646" y="2591"/>
                      <a:ext cx="725" cy="120"/>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59" name="AutoShape 257"/>
                    <p:cNvSpPr>
                      <a:spLocks noChangeArrowheads="1"/>
                    </p:cNvSpPr>
                    <p:nvPr/>
                  </p:nvSpPr>
                  <p:spPr bwMode="auto">
                    <a:xfrm>
                      <a:off x="659" y="2591"/>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234" name="Rectangle 258"/>
                  <p:cNvSpPr>
                    <a:spLocks noChangeArrowheads="1"/>
                  </p:cNvSpPr>
                  <p:nvPr/>
                </p:nvSpPr>
                <p:spPr bwMode="auto">
                  <a:xfrm>
                    <a:off x="4224" y="1019"/>
                    <a:ext cx="60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154" name="Group 259"/>
                  <p:cNvGrpSpPr/>
                  <p:nvPr/>
                </p:nvGrpSpPr>
                <p:grpSpPr bwMode="auto">
                  <a:xfrm>
                    <a:off x="4747" y="994"/>
                    <a:ext cx="581" cy="134"/>
                    <a:chOff x="614" y="2568"/>
                    <a:chExt cx="725" cy="139"/>
                  </a:xfrm>
                </p:grpSpPr>
                <p:sp>
                  <p:nvSpPr>
                    <p:cNvPr id="1256" name="AutoShape 260"/>
                    <p:cNvSpPr>
                      <a:spLocks noChangeArrowheads="1"/>
                    </p:cNvSpPr>
                    <p:nvPr/>
                  </p:nvSpPr>
                  <p:spPr bwMode="auto">
                    <a:xfrm>
                      <a:off x="611" y="2594"/>
                      <a:ext cx="725" cy="140"/>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57" name="AutoShape 261"/>
                    <p:cNvSpPr>
                      <a:spLocks noChangeArrowheads="1"/>
                    </p:cNvSpPr>
                    <p:nvPr/>
                  </p:nvSpPr>
                  <p:spPr bwMode="auto">
                    <a:xfrm>
                      <a:off x="624" y="261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236" name="Rectangle 262"/>
                  <p:cNvSpPr>
                    <a:spLocks noChangeArrowheads="1"/>
                  </p:cNvSpPr>
                  <p:nvPr/>
                </p:nvSpPr>
                <p:spPr bwMode="auto">
                  <a:xfrm>
                    <a:off x="4224" y="1365"/>
                    <a:ext cx="591" cy="3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37" name="Rectangle 263"/>
                  <p:cNvSpPr>
                    <a:spLocks noChangeArrowheads="1"/>
                  </p:cNvSpPr>
                  <p:nvPr/>
                </p:nvSpPr>
                <p:spPr bwMode="auto">
                  <a:xfrm>
                    <a:off x="4234" y="1653"/>
                    <a:ext cx="59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157" name="Group 264"/>
                  <p:cNvGrpSpPr/>
                  <p:nvPr/>
                </p:nvGrpSpPr>
                <p:grpSpPr bwMode="auto">
                  <a:xfrm>
                    <a:off x="4735" y="1627"/>
                    <a:ext cx="582" cy="151"/>
                    <a:chOff x="614" y="2568"/>
                    <a:chExt cx="725" cy="139"/>
                  </a:xfrm>
                </p:grpSpPr>
                <p:sp>
                  <p:nvSpPr>
                    <p:cNvPr id="1254" name="AutoShape 265"/>
                    <p:cNvSpPr>
                      <a:spLocks noChangeArrowheads="1"/>
                    </p:cNvSpPr>
                    <p:nvPr/>
                  </p:nvSpPr>
                  <p:spPr bwMode="auto">
                    <a:xfrm>
                      <a:off x="614" y="2592"/>
                      <a:ext cx="711" cy="115"/>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55" name="AutoShape 266"/>
                    <p:cNvSpPr>
                      <a:spLocks noChangeArrowheads="1"/>
                    </p:cNvSpPr>
                    <p:nvPr/>
                  </p:nvSpPr>
                  <p:spPr bwMode="auto">
                    <a:xfrm>
                      <a:off x="626" y="2610"/>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214158" name="Freeform 267"/>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14159" name="Group 268"/>
                  <p:cNvGrpSpPr/>
                  <p:nvPr/>
                </p:nvGrpSpPr>
                <p:grpSpPr bwMode="auto">
                  <a:xfrm>
                    <a:off x="4739" y="1327"/>
                    <a:ext cx="582" cy="139"/>
                    <a:chOff x="614" y="2568"/>
                    <a:chExt cx="725" cy="139"/>
                  </a:xfrm>
                </p:grpSpPr>
                <p:sp>
                  <p:nvSpPr>
                    <p:cNvPr id="1252" name="AutoShape 269"/>
                    <p:cNvSpPr>
                      <a:spLocks noChangeArrowheads="1"/>
                    </p:cNvSpPr>
                    <p:nvPr/>
                  </p:nvSpPr>
                  <p:spPr bwMode="auto">
                    <a:xfrm>
                      <a:off x="646" y="2568"/>
                      <a:ext cx="698" cy="163"/>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53" name="AutoShape 270"/>
                    <p:cNvSpPr>
                      <a:spLocks noChangeArrowheads="1"/>
                    </p:cNvSpPr>
                    <p:nvPr/>
                  </p:nvSpPr>
                  <p:spPr bwMode="auto">
                    <a:xfrm>
                      <a:off x="659" y="2587"/>
                      <a:ext cx="661"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241" name="Rectangle 271"/>
                  <p:cNvSpPr>
                    <a:spLocks noChangeArrowheads="1"/>
                  </p:cNvSpPr>
                  <p:nvPr/>
                </p:nvSpPr>
                <p:spPr bwMode="auto">
                  <a:xfrm>
                    <a:off x="5255" y="433"/>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161" name="Freeform 272"/>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162" name="Freeform 273"/>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44" name="Oval 274"/>
                  <p:cNvSpPr>
                    <a:spLocks noChangeArrowheads="1"/>
                  </p:cNvSpPr>
                  <p:nvPr/>
                </p:nvSpPr>
                <p:spPr bwMode="auto">
                  <a:xfrm>
                    <a:off x="5516" y="2614"/>
                    <a:ext cx="50" cy="96"/>
                  </a:xfrm>
                  <a:prstGeom prst="ellipse">
                    <a:avLst/>
                  </a:prstGeom>
                  <a:solidFill>
                    <a:srgbClr val="3333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164" name="Freeform 275"/>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46" name="AutoShape 276"/>
                  <p:cNvSpPr>
                    <a:spLocks noChangeArrowheads="1"/>
                  </p:cNvSpPr>
                  <p:nvPr/>
                </p:nvSpPr>
                <p:spPr bwMode="auto">
                  <a:xfrm>
                    <a:off x="4144" y="2681"/>
                    <a:ext cx="1202" cy="144"/>
                  </a:xfrm>
                  <a:prstGeom prst="roundRect">
                    <a:avLst>
                      <a:gd name="adj" fmla="val 50000"/>
                    </a:avLst>
                  </a:prstGeom>
                  <a:solidFill>
                    <a:srgbClr val="DDDDDD"/>
                  </a:solidFill>
                  <a:ln w="9525">
                    <a:solidFill>
                      <a:schemeClr val="tx1"/>
                    </a:solidFill>
                    <a:round/>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47" name="AutoShape 277"/>
                  <p:cNvSpPr>
                    <a:spLocks noChangeArrowheads="1"/>
                  </p:cNvSpPr>
                  <p:nvPr/>
                </p:nvSpPr>
                <p:spPr bwMode="auto">
                  <a:xfrm>
                    <a:off x="4204" y="2710"/>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48" name="Oval 278"/>
                  <p:cNvSpPr>
                    <a:spLocks noChangeArrowheads="1"/>
                  </p:cNvSpPr>
                  <p:nvPr/>
                </p:nvSpPr>
                <p:spPr bwMode="auto">
                  <a:xfrm>
                    <a:off x="4314" y="2383"/>
                    <a:ext cx="160" cy="144"/>
                  </a:xfrm>
                  <a:prstGeom prst="ellipse">
                    <a:avLst/>
                  </a:prstGeom>
                  <a:solidFill>
                    <a:srgbClr val="33CC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49" name="Oval 279"/>
                  <p:cNvSpPr>
                    <a:spLocks noChangeArrowheads="1"/>
                  </p:cNvSpPr>
                  <p:nvPr/>
                </p:nvSpPr>
                <p:spPr bwMode="auto">
                  <a:xfrm>
                    <a:off x="4485" y="2383"/>
                    <a:ext cx="160" cy="144"/>
                  </a:xfrm>
                  <a:prstGeom prst="ellipse">
                    <a:avLst/>
                  </a:prstGeom>
                  <a:solidFill>
                    <a:srgbClr val="FF0000"/>
                  </a:solidFill>
                  <a:ln>
                    <a:noFill/>
                  </a:ln>
                  <a:effectLst/>
                </p:spPr>
                <p:txBody>
                  <a:bodyPr wrap="none" anchor="ctr"/>
                  <a:lstStyle/>
                  <a:p>
                    <a:pPr algn="ctr">
                      <a:spcBef>
                        <a:spcPct val="0"/>
                      </a:spcBef>
                      <a:buClrTx/>
                      <a:buSzTx/>
                      <a:buFontTx/>
                      <a:buNone/>
                      <a:defRPr/>
                    </a:pPr>
                    <a:endParaRPr lang="en-US" sz="2400" dirty="0">
                      <a:solidFill>
                        <a:srgbClr val="FF0000"/>
                      </a:solidFill>
                      <a:latin typeface="Arial" panose="020B0604020202020204" pitchFamily="34" charset="0"/>
                      <a:ea typeface="MS PGothic" panose="020B0600070205080204" pitchFamily="34" charset="-128"/>
                    </a:endParaRPr>
                  </a:p>
                </p:txBody>
              </p:sp>
              <p:sp>
                <p:nvSpPr>
                  <p:cNvPr id="1250" name="Oval 280"/>
                  <p:cNvSpPr>
                    <a:spLocks noChangeArrowheads="1"/>
                  </p:cNvSpPr>
                  <p:nvPr/>
                </p:nvSpPr>
                <p:spPr bwMode="auto">
                  <a:xfrm>
                    <a:off x="4665" y="2383"/>
                    <a:ext cx="160" cy="135"/>
                  </a:xfrm>
                  <a:prstGeom prst="ellipse">
                    <a:avLst/>
                  </a:prstGeom>
                  <a:solidFill>
                    <a:srgbClr val="33CC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51" name="Rectangle 281"/>
                  <p:cNvSpPr>
                    <a:spLocks noChangeArrowheads="1"/>
                  </p:cNvSpPr>
                  <p:nvPr/>
                </p:nvSpPr>
                <p:spPr bwMode="auto">
                  <a:xfrm>
                    <a:off x="5065" y="1836"/>
                    <a:ext cx="80" cy="759"/>
                  </a:xfrm>
                  <a:prstGeom prst="rect">
                    <a:avLst/>
                  </a:prstGeom>
                  <a:solidFill>
                    <a:srgbClr val="292929"/>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grpSp>
              <p:nvGrpSpPr>
                <p:cNvPr id="214081" name="Group 249"/>
                <p:cNvGrpSpPr/>
                <p:nvPr/>
              </p:nvGrpSpPr>
              <p:grpSpPr bwMode="auto">
                <a:xfrm flipH="1">
                  <a:off x="7939866" y="4369199"/>
                  <a:ext cx="225953" cy="395900"/>
                  <a:chOff x="4140" y="429"/>
                  <a:chExt cx="1425" cy="2396"/>
                </a:xfrm>
              </p:grpSpPr>
              <p:sp>
                <p:nvSpPr>
                  <p:cNvPr id="214115" name="Freeform 250"/>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7" name="Rectangle 251"/>
                  <p:cNvSpPr>
                    <a:spLocks noChangeArrowheads="1"/>
                  </p:cNvSpPr>
                  <p:nvPr/>
                </p:nvSpPr>
                <p:spPr bwMode="auto">
                  <a:xfrm>
                    <a:off x="4207" y="431"/>
                    <a:ext cx="1051" cy="2306"/>
                  </a:xfrm>
                  <a:prstGeom prst="rect">
                    <a:avLst/>
                  </a:prstGeom>
                  <a:gradFill rotWithShape="1">
                    <a:gsLst>
                      <a:gs pos="0">
                        <a:srgbClr val="292929"/>
                      </a:gs>
                      <a:gs pos="100000">
                        <a:srgbClr val="808080"/>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117" name="Freeform 252"/>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118" name="Freeform 253"/>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0" name="Rectangle 254"/>
                  <p:cNvSpPr>
                    <a:spLocks noChangeArrowheads="1"/>
                  </p:cNvSpPr>
                  <p:nvPr/>
                </p:nvSpPr>
                <p:spPr bwMode="auto">
                  <a:xfrm>
                    <a:off x="4207" y="700"/>
                    <a:ext cx="601" cy="3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120" name="Group 255"/>
                  <p:cNvGrpSpPr/>
                  <p:nvPr/>
                </p:nvGrpSpPr>
                <p:grpSpPr bwMode="auto">
                  <a:xfrm>
                    <a:off x="4749" y="668"/>
                    <a:ext cx="581" cy="145"/>
                    <a:chOff x="614" y="2568"/>
                    <a:chExt cx="725" cy="139"/>
                  </a:xfrm>
                </p:grpSpPr>
                <p:sp>
                  <p:nvSpPr>
                    <p:cNvPr id="1226" name="AutoShape 256"/>
                    <p:cNvSpPr>
                      <a:spLocks noChangeArrowheads="1"/>
                    </p:cNvSpPr>
                    <p:nvPr/>
                  </p:nvSpPr>
                  <p:spPr bwMode="auto">
                    <a:xfrm>
                      <a:off x="612" y="2571"/>
                      <a:ext cx="725" cy="138"/>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27" name="AutoShape 257"/>
                    <p:cNvSpPr>
                      <a:spLocks noChangeArrowheads="1"/>
                    </p:cNvSpPr>
                    <p:nvPr/>
                  </p:nvSpPr>
                  <p:spPr bwMode="auto">
                    <a:xfrm>
                      <a:off x="625"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202" name="Rectangle 258"/>
                  <p:cNvSpPr>
                    <a:spLocks noChangeArrowheads="1"/>
                  </p:cNvSpPr>
                  <p:nvPr/>
                </p:nvSpPr>
                <p:spPr bwMode="auto">
                  <a:xfrm>
                    <a:off x="4227" y="1027"/>
                    <a:ext cx="591" cy="3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122" name="Group 259"/>
                  <p:cNvGrpSpPr/>
                  <p:nvPr/>
                </p:nvGrpSpPr>
                <p:grpSpPr bwMode="auto">
                  <a:xfrm>
                    <a:off x="4747" y="994"/>
                    <a:ext cx="581" cy="134"/>
                    <a:chOff x="614" y="2568"/>
                    <a:chExt cx="725" cy="139"/>
                  </a:xfrm>
                </p:grpSpPr>
                <p:sp>
                  <p:nvSpPr>
                    <p:cNvPr id="1224" name="AutoShape 260"/>
                    <p:cNvSpPr>
                      <a:spLocks noChangeArrowheads="1"/>
                    </p:cNvSpPr>
                    <p:nvPr/>
                  </p:nvSpPr>
                  <p:spPr bwMode="auto">
                    <a:xfrm>
                      <a:off x="615" y="2572"/>
                      <a:ext cx="725" cy="149"/>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25" name="AutoShape 261"/>
                    <p:cNvSpPr>
                      <a:spLocks noChangeArrowheads="1"/>
                    </p:cNvSpPr>
                    <p:nvPr/>
                  </p:nvSpPr>
                  <p:spPr bwMode="auto">
                    <a:xfrm>
                      <a:off x="627"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204" name="Rectangle 262"/>
                  <p:cNvSpPr>
                    <a:spLocks noChangeArrowheads="1"/>
                  </p:cNvSpPr>
                  <p:nvPr/>
                </p:nvSpPr>
                <p:spPr bwMode="auto">
                  <a:xfrm>
                    <a:off x="4217" y="1363"/>
                    <a:ext cx="59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05" name="Rectangle 263"/>
                  <p:cNvSpPr>
                    <a:spLocks noChangeArrowheads="1"/>
                  </p:cNvSpPr>
                  <p:nvPr/>
                </p:nvSpPr>
                <p:spPr bwMode="auto">
                  <a:xfrm>
                    <a:off x="4227" y="1680"/>
                    <a:ext cx="60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125" name="Group 264"/>
                  <p:cNvGrpSpPr/>
                  <p:nvPr/>
                </p:nvGrpSpPr>
                <p:grpSpPr bwMode="auto">
                  <a:xfrm>
                    <a:off x="4735" y="1627"/>
                    <a:ext cx="582" cy="151"/>
                    <a:chOff x="614" y="2568"/>
                    <a:chExt cx="725" cy="139"/>
                  </a:xfrm>
                </p:grpSpPr>
                <p:sp>
                  <p:nvSpPr>
                    <p:cNvPr id="1222" name="AutoShape 265"/>
                    <p:cNvSpPr>
                      <a:spLocks noChangeArrowheads="1"/>
                    </p:cNvSpPr>
                    <p:nvPr/>
                  </p:nvSpPr>
                  <p:spPr bwMode="auto">
                    <a:xfrm>
                      <a:off x="617" y="2590"/>
                      <a:ext cx="711" cy="142"/>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23" name="AutoShape 266"/>
                    <p:cNvSpPr>
                      <a:spLocks noChangeArrowheads="1"/>
                    </p:cNvSpPr>
                    <p:nvPr/>
                  </p:nvSpPr>
                  <p:spPr bwMode="auto">
                    <a:xfrm>
                      <a:off x="630" y="2608"/>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214126" name="Freeform 267"/>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14127" name="Group 268"/>
                  <p:cNvGrpSpPr/>
                  <p:nvPr/>
                </p:nvGrpSpPr>
                <p:grpSpPr bwMode="auto">
                  <a:xfrm>
                    <a:off x="4739" y="1327"/>
                    <a:ext cx="582" cy="139"/>
                    <a:chOff x="614" y="2568"/>
                    <a:chExt cx="725" cy="139"/>
                  </a:xfrm>
                </p:grpSpPr>
                <p:sp>
                  <p:nvSpPr>
                    <p:cNvPr id="1220" name="AutoShape 269"/>
                    <p:cNvSpPr>
                      <a:spLocks noChangeArrowheads="1"/>
                    </p:cNvSpPr>
                    <p:nvPr/>
                  </p:nvSpPr>
                  <p:spPr bwMode="auto">
                    <a:xfrm>
                      <a:off x="612" y="2595"/>
                      <a:ext cx="761" cy="115"/>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21" name="AutoShape 270"/>
                    <p:cNvSpPr>
                      <a:spLocks noChangeArrowheads="1"/>
                    </p:cNvSpPr>
                    <p:nvPr/>
                  </p:nvSpPr>
                  <p:spPr bwMode="auto">
                    <a:xfrm>
                      <a:off x="625" y="2614"/>
                      <a:ext cx="723" cy="8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209" name="Rectangle 271"/>
                  <p:cNvSpPr>
                    <a:spLocks noChangeArrowheads="1"/>
                  </p:cNvSpPr>
                  <p:nvPr/>
                </p:nvSpPr>
                <p:spPr bwMode="auto">
                  <a:xfrm>
                    <a:off x="5248" y="431"/>
                    <a:ext cx="70" cy="231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129" name="Freeform 272"/>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130" name="Freeform 273"/>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2" name="Oval 274"/>
                  <p:cNvSpPr>
                    <a:spLocks noChangeArrowheads="1"/>
                  </p:cNvSpPr>
                  <p:nvPr/>
                </p:nvSpPr>
                <p:spPr bwMode="auto">
                  <a:xfrm>
                    <a:off x="5519" y="2641"/>
                    <a:ext cx="50" cy="96"/>
                  </a:xfrm>
                  <a:prstGeom prst="ellipse">
                    <a:avLst/>
                  </a:prstGeom>
                  <a:solidFill>
                    <a:srgbClr val="3333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132" name="Freeform 275"/>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4" name="AutoShape 276"/>
                  <p:cNvSpPr>
                    <a:spLocks noChangeArrowheads="1"/>
                  </p:cNvSpPr>
                  <p:nvPr/>
                </p:nvSpPr>
                <p:spPr bwMode="auto">
                  <a:xfrm>
                    <a:off x="4137" y="2708"/>
                    <a:ext cx="1202" cy="144"/>
                  </a:xfrm>
                  <a:prstGeom prst="roundRect">
                    <a:avLst>
                      <a:gd name="adj" fmla="val 50000"/>
                    </a:avLst>
                  </a:prstGeom>
                  <a:solidFill>
                    <a:srgbClr val="DDDDDD"/>
                  </a:solidFill>
                  <a:ln w="9525">
                    <a:solidFill>
                      <a:schemeClr val="tx1"/>
                    </a:solidFill>
                    <a:round/>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15" name="AutoShape 277"/>
                  <p:cNvSpPr>
                    <a:spLocks noChangeArrowheads="1"/>
                  </p:cNvSpPr>
                  <p:nvPr/>
                </p:nvSpPr>
                <p:spPr bwMode="auto">
                  <a:xfrm>
                    <a:off x="4207" y="2737"/>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16" name="Oval 278"/>
                  <p:cNvSpPr>
                    <a:spLocks noChangeArrowheads="1"/>
                  </p:cNvSpPr>
                  <p:nvPr/>
                </p:nvSpPr>
                <p:spPr bwMode="auto">
                  <a:xfrm>
                    <a:off x="4307" y="2410"/>
                    <a:ext cx="160" cy="144"/>
                  </a:xfrm>
                  <a:prstGeom prst="ellipse">
                    <a:avLst/>
                  </a:prstGeom>
                  <a:solidFill>
                    <a:srgbClr val="33CC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17" name="Oval 279"/>
                  <p:cNvSpPr>
                    <a:spLocks noChangeArrowheads="1"/>
                  </p:cNvSpPr>
                  <p:nvPr/>
                </p:nvSpPr>
                <p:spPr bwMode="auto">
                  <a:xfrm>
                    <a:off x="4487" y="2410"/>
                    <a:ext cx="160" cy="144"/>
                  </a:xfrm>
                  <a:prstGeom prst="ellipse">
                    <a:avLst/>
                  </a:prstGeom>
                  <a:solidFill>
                    <a:srgbClr val="FF0000"/>
                  </a:solidFill>
                  <a:ln>
                    <a:noFill/>
                  </a:ln>
                  <a:effectLst/>
                </p:spPr>
                <p:txBody>
                  <a:bodyPr wrap="none" anchor="ctr"/>
                  <a:lstStyle/>
                  <a:p>
                    <a:pPr algn="ctr">
                      <a:spcBef>
                        <a:spcPct val="0"/>
                      </a:spcBef>
                      <a:buClrTx/>
                      <a:buSzTx/>
                      <a:buFontTx/>
                      <a:buNone/>
                      <a:defRPr/>
                    </a:pPr>
                    <a:endParaRPr lang="en-US" sz="2400" dirty="0">
                      <a:solidFill>
                        <a:srgbClr val="FF0000"/>
                      </a:solidFill>
                      <a:latin typeface="Arial" panose="020B0604020202020204" pitchFamily="34" charset="0"/>
                      <a:ea typeface="MS PGothic" panose="020B0600070205080204" pitchFamily="34" charset="-128"/>
                    </a:endParaRPr>
                  </a:p>
                </p:txBody>
              </p:sp>
              <p:sp>
                <p:nvSpPr>
                  <p:cNvPr id="1218" name="Oval 280"/>
                  <p:cNvSpPr>
                    <a:spLocks noChangeArrowheads="1"/>
                  </p:cNvSpPr>
                  <p:nvPr/>
                </p:nvSpPr>
                <p:spPr bwMode="auto">
                  <a:xfrm>
                    <a:off x="4658" y="2410"/>
                    <a:ext cx="160" cy="135"/>
                  </a:xfrm>
                  <a:prstGeom prst="ellipse">
                    <a:avLst/>
                  </a:prstGeom>
                  <a:solidFill>
                    <a:srgbClr val="33CC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219" name="Rectangle 281"/>
                  <p:cNvSpPr>
                    <a:spLocks noChangeArrowheads="1"/>
                  </p:cNvSpPr>
                  <p:nvPr/>
                </p:nvSpPr>
                <p:spPr bwMode="auto">
                  <a:xfrm>
                    <a:off x="5068" y="1863"/>
                    <a:ext cx="80" cy="759"/>
                  </a:xfrm>
                  <a:prstGeom prst="rect">
                    <a:avLst/>
                  </a:prstGeom>
                  <a:solidFill>
                    <a:srgbClr val="292929"/>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grpSp>
              <p:nvGrpSpPr>
                <p:cNvPr id="214082" name="Group 249"/>
                <p:cNvGrpSpPr/>
                <p:nvPr/>
              </p:nvGrpSpPr>
              <p:grpSpPr bwMode="auto">
                <a:xfrm flipH="1">
                  <a:off x="8472213" y="4384408"/>
                  <a:ext cx="225953" cy="395900"/>
                  <a:chOff x="4140" y="429"/>
                  <a:chExt cx="1425" cy="2396"/>
                </a:xfrm>
              </p:grpSpPr>
              <p:sp>
                <p:nvSpPr>
                  <p:cNvPr id="214083" name="Freeform 250"/>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65" name="Rectangle 251"/>
                  <p:cNvSpPr>
                    <a:spLocks noChangeArrowheads="1"/>
                  </p:cNvSpPr>
                  <p:nvPr/>
                </p:nvSpPr>
                <p:spPr bwMode="auto">
                  <a:xfrm>
                    <a:off x="4200" y="454"/>
                    <a:ext cx="1051" cy="2258"/>
                  </a:xfrm>
                  <a:prstGeom prst="rect">
                    <a:avLst/>
                  </a:prstGeom>
                  <a:gradFill rotWithShape="1">
                    <a:gsLst>
                      <a:gs pos="0">
                        <a:srgbClr val="292929"/>
                      </a:gs>
                      <a:gs pos="100000">
                        <a:srgbClr val="808080"/>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085" name="Freeform 252"/>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86" name="Freeform 253"/>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68" name="Rectangle 254"/>
                  <p:cNvSpPr>
                    <a:spLocks noChangeArrowheads="1"/>
                  </p:cNvSpPr>
                  <p:nvPr/>
                </p:nvSpPr>
                <p:spPr bwMode="auto">
                  <a:xfrm>
                    <a:off x="4210" y="714"/>
                    <a:ext cx="60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088" name="Group 255"/>
                  <p:cNvGrpSpPr/>
                  <p:nvPr/>
                </p:nvGrpSpPr>
                <p:grpSpPr bwMode="auto">
                  <a:xfrm>
                    <a:off x="4749" y="668"/>
                    <a:ext cx="581" cy="145"/>
                    <a:chOff x="614" y="2568"/>
                    <a:chExt cx="725" cy="139"/>
                  </a:xfrm>
                </p:grpSpPr>
                <p:sp>
                  <p:nvSpPr>
                    <p:cNvPr id="1194" name="AutoShape 256"/>
                    <p:cNvSpPr>
                      <a:spLocks noChangeArrowheads="1"/>
                    </p:cNvSpPr>
                    <p:nvPr/>
                  </p:nvSpPr>
                  <p:spPr bwMode="auto">
                    <a:xfrm>
                      <a:off x="616" y="2594"/>
                      <a:ext cx="725" cy="138"/>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195" name="AutoShape 257"/>
                    <p:cNvSpPr>
                      <a:spLocks noChangeArrowheads="1"/>
                    </p:cNvSpPr>
                    <p:nvPr/>
                  </p:nvSpPr>
                  <p:spPr bwMode="auto">
                    <a:xfrm>
                      <a:off x="629" y="2612"/>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170" name="Rectangle 258"/>
                  <p:cNvSpPr>
                    <a:spLocks noChangeArrowheads="1"/>
                  </p:cNvSpPr>
                  <p:nvPr/>
                </p:nvSpPr>
                <p:spPr bwMode="auto">
                  <a:xfrm>
                    <a:off x="4220" y="1041"/>
                    <a:ext cx="60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090" name="Group 259"/>
                  <p:cNvGrpSpPr/>
                  <p:nvPr/>
                </p:nvGrpSpPr>
                <p:grpSpPr bwMode="auto">
                  <a:xfrm>
                    <a:off x="4747" y="994"/>
                    <a:ext cx="581" cy="134"/>
                    <a:chOff x="614" y="2568"/>
                    <a:chExt cx="725" cy="139"/>
                  </a:xfrm>
                </p:grpSpPr>
                <p:sp>
                  <p:nvSpPr>
                    <p:cNvPr id="1192" name="AutoShape 260"/>
                    <p:cNvSpPr>
                      <a:spLocks noChangeArrowheads="1"/>
                    </p:cNvSpPr>
                    <p:nvPr/>
                  </p:nvSpPr>
                  <p:spPr bwMode="auto">
                    <a:xfrm>
                      <a:off x="581" y="2596"/>
                      <a:ext cx="725" cy="140"/>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193" name="AutoShape 261"/>
                    <p:cNvSpPr>
                      <a:spLocks noChangeArrowheads="1"/>
                    </p:cNvSpPr>
                    <p:nvPr/>
                  </p:nvSpPr>
                  <p:spPr bwMode="auto">
                    <a:xfrm>
                      <a:off x="594" y="261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172" name="Rectangle 262"/>
                  <p:cNvSpPr>
                    <a:spLocks noChangeArrowheads="1"/>
                  </p:cNvSpPr>
                  <p:nvPr/>
                </p:nvSpPr>
                <p:spPr bwMode="auto">
                  <a:xfrm>
                    <a:off x="4220" y="1367"/>
                    <a:ext cx="591" cy="3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173" name="Rectangle 263"/>
                  <p:cNvSpPr>
                    <a:spLocks noChangeArrowheads="1"/>
                  </p:cNvSpPr>
                  <p:nvPr/>
                </p:nvSpPr>
                <p:spPr bwMode="auto">
                  <a:xfrm>
                    <a:off x="4230" y="1655"/>
                    <a:ext cx="591" cy="48"/>
                  </a:xfrm>
                  <a:prstGeom prst="rect">
                    <a:avLst/>
                  </a:prstGeom>
                  <a:solidFill>
                    <a:schemeClr val="tx1"/>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nvGrpSpPr>
                  <p:cNvPr id="214093" name="Group 264"/>
                  <p:cNvGrpSpPr/>
                  <p:nvPr/>
                </p:nvGrpSpPr>
                <p:grpSpPr bwMode="auto">
                  <a:xfrm>
                    <a:off x="4735" y="1627"/>
                    <a:ext cx="582" cy="151"/>
                    <a:chOff x="614" y="2568"/>
                    <a:chExt cx="725" cy="139"/>
                  </a:xfrm>
                </p:grpSpPr>
                <p:sp>
                  <p:nvSpPr>
                    <p:cNvPr id="1190" name="AutoShape 265"/>
                    <p:cNvSpPr>
                      <a:spLocks noChangeArrowheads="1"/>
                    </p:cNvSpPr>
                    <p:nvPr/>
                  </p:nvSpPr>
                  <p:spPr bwMode="auto">
                    <a:xfrm>
                      <a:off x="609" y="2594"/>
                      <a:ext cx="686" cy="115"/>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191" name="AutoShape 266"/>
                    <p:cNvSpPr>
                      <a:spLocks noChangeArrowheads="1"/>
                    </p:cNvSpPr>
                    <p:nvPr/>
                  </p:nvSpPr>
                  <p:spPr bwMode="auto">
                    <a:xfrm>
                      <a:off x="621" y="2612"/>
                      <a:ext cx="649"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214094" name="Freeform 267"/>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14095" name="Group 268"/>
                  <p:cNvGrpSpPr/>
                  <p:nvPr/>
                </p:nvGrpSpPr>
                <p:grpSpPr bwMode="auto">
                  <a:xfrm>
                    <a:off x="4739" y="1327"/>
                    <a:ext cx="582" cy="139"/>
                    <a:chOff x="614" y="2568"/>
                    <a:chExt cx="725" cy="139"/>
                  </a:xfrm>
                </p:grpSpPr>
                <p:sp>
                  <p:nvSpPr>
                    <p:cNvPr id="1188" name="AutoShape 269"/>
                    <p:cNvSpPr>
                      <a:spLocks noChangeArrowheads="1"/>
                    </p:cNvSpPr>
                    <p:nvPr/>
                  </p:nvSpPr>
                  <p:spPr bwMode="auto">
                    <a:xfrm>
                      <a:off x="616" y="2570"/>
                      <a:ext cx="723" cy="163"/>
                    </a:xfrm>
                    <a:prstGeom prst="roundRect">
                      <a:avLst>
                        <a:gd name="adj" fmla="val 50000"/>
                      </a:avLst>
                    </a:prstGeom>
                    <a:solidFill>
                      <a:schemeClr val="tx1"/>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189" name="AutoShape 270"/>
                    <p:cNvSpPr>
                      <a:spLocks noChangeArrowheads="1"/>
                    </p:cNvSpPr>
                    <p:nvPr/>
                  </p:nvSpPr>
                  <p:spPr bwMode="auto">
                    <a:xfrm>
                      <a:off x="629" y="2589"/>
                      <a:ext cx="686"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sp>
                <p:nvSpPr>
                  <p:cNvPr id="1177" name="Rectangle 271"/>
                  <p:cNvSpPr>
                    <a:spLocks noChangeArrowheads="1"/>
                  </p:cNvSpPr>
                  <p:nvPr/>
                </p:nvSpPr>
                <p:spPr bwMode="auto">
                  <a:xfrm>
                    <a:off x="5251" y="454"/>
                    <a:ext cx="60" cy="226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097" name="Freeform 272"/>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98" name="Freeform 273"/>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0" name="Oval 274"/>
                  <p:cNvSpPr>
                    <a:spLocks noChangeArrowheads="1"/>
                  </p:cNvSpPr>
                  <p:nvPr/>
                </p:nvSpPr>
                <p:spPr bwMode="auto">
                  <a:xfrm>
                    <a:off x="5512" y="2616"/>
                    <a:ext cx="50" cy="96"/>
                  </a:xfrm>
                  <a:prstGeom prst="ellipse">
                    <a:avLst/>
                  </a:prstGeom>
                  <a:solidFill>
                    <a:srgbClr val="3333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214100" name="Freeform 275"/>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2" name="AutoShape 276"/>
                  <p:cNvSpPr>
                    <a:spLocks noChangeArrowheads="1"/>
                  </p:cNvSpPr>
                  <p:nvPr/>
                </p:nvSpPr>
                <p:spPr bwMode="auto">
                  <a:xfrm>
                    <a:off x="4140" y="2683"/>
                    <a:ext cx="1202" cy="144"/>
                  </a:xfrm>
                  <a:prstGeom prst="roundRect">
                    <a:avLst>
                      <a:gd name="adj" fmla="val 50000"/>
                    </a:avLst>
                  </a:prstGeom>
                  <a:solidFill>
                    <a:srgbClr val="DDDDDD"/>
                  </a:solidFill>
                  <a:ln w="9525">
                    <a:solidFill>
                      <a:schemeClr val="tx1"/>
                    </a:solidFill>
                    <a:round/>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183" name="AutoShape 277"/>
                  <p:cNvSpPr>
                    <a:spLocks noChangeArrowheads="1"/>
                  </p:cNvSpPr>
                  <p:nvPr/>
                </p:nvSpPr>
                <p:spPr bwMode="auto">
                  <a:xfrm>
                    <a:off x="4200" y="2712"/>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184" name="Oval 278"/>
                  <p:cNvSpPr>
                    <a:spLocks noChangeArrowheads="1"/>
                  </p:cNvSpPr>
                  <p:nvPr/>
                </p:nvSpPr>
                <p:spPr bwMode="auto">
                  <a:xfrm>
                    <a:off x="4310" y="2386"/>
                    <a:ext cx="160" cy="144"/>
                  </a:xfrm>
                  <a:prstGeom prst="ellipse">
                    <a:avLst/>
                  </a:prstGeom>
                  <a:solidFill>
                    <a:srgbClr val="33CC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185" name="Oval 279"/>
                  <p:cNvSpPr>
                    <a:spLocks noChangeArrowheads="1"/>
                  </p:cNvSpPr>
                  <p:nvPr/>
                </p:nvSpPr>
                <p:spPr bwMode="auto">
                  <a:xfrm>
                    <a:off x="4480" y="2386"/>
                    <a:ext cx="160" cy="144"/>
                  </a:xfrm>
                  <a:prstGeom prst="ellipse">
                    <a:avLst/>
                  </a:prstGeom>
                  <a:solidFill>
                    <a:srgbClr val="FF0000"/>
                  </a:solidFill>
                  <a:ln>
                    <a:noFill/>
                  </a:ln>
                  <a:effectLst/>
                </p:spPr>
                <p:txBody>
                  <a:bodyPr wrap="none" anchor="ctr"/>
                  <a:lstStyle/>
                  <a:p>
                    <a:pPr algn="ctr">
                      <a:spcBef>
                        <a:spcPct val="0"/>
                      </a:spcBef>
                      <a:buClrTx/>
                      <a:buSzTx/>
                      <a:buFontTx/>
                      <a:buNone/>
                      <a:defRPr/>
                    </a:pPr>
                    <a:endParaRPr lang="en-US" sz="2400" dirty="0">
                      <a:solidFill>
                        <a:srgbClr val="FF0000"/>
                      </a:solidFill>
                      <a:latin typeface="Arial" panose="020B0604020202020204" pitchFamily="34" charset="0"/>
                      <a:ea typeface="MS PGothic" panose="020B0600070205080204" pitchFamily="34" charset="-128"/>
                    </a:endParaRPr>
                  </a:p>
                </p:txBody>
              </p:sp>
              <p:sp>
                <p:nvSpPr>
                  <p:cNvPr id="1186" name="Oval 280"/>
                  <p:cNvSpPr>
                    <a:spLocks noChangeArrowheads="1"/>
                  </p:cNvSpPr>
                  <p:nvPr/>
                </p:nvSpPr>
                <p:spPr bwMode="auto">
                  <a:xfrm>
                    <a:off x="4661" y="2386"/>
                    <a:ext cx="160" cy="135"/>
                  </a:xfrm>
                  <a:prstGeom prst="ellipse">
                    <a:avLst/>
                  </a:prstGeom>
                  <a:solidFill>
                    <a:srgbClr val="33CC33"/>
                  </a:solidFill>
                  <a:ln>
                    <a:noFill/>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sp>
                <p:nvSpPr>
                  <p:cNvPr id="1187" name="Rectangle 281"/>
                  <p:cNvSpPr>
                    <a:spLocks noChangeArrowheads="1"/>
                  </p:cNvSpPr>
                  <p:nvPr/>
                </p:nvSpPr>
                <p:spPr bwMode="auto">
                  <a:xfrm>
                    <a:off x="5061" y="1838"/>
                    <a:ext cx="80" cy="759"/>
                  </a:xfrm>
                  <a:prstGeom prst="rect">
                    <a:avLst/>
                  </a:prstGeom>
                  <a:solidFill>
                    <a:srgbClr val="292929"/>
                  </a:solidFill>
                  <a:ln w="9525">
                    <a:solidFill>
                      <a:schemeClr val="tx1"/>
                    </a:solidFill>
                    <a:miter lim="800000"/>
                  </a:ln>
                  <a:effectLst/>
                </p:spPr>
                <p:txBody>
                  <a:bodyPr wrap="none" anchor="ctr"/>
                  <a:lstStyle/>
                  <a:p>
                    <a:pP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endParaRPr>
                  </a:p>
                </p:txBody>
              </p:sp>
            </p:grpSp>
          </p:grpSp>
          <p:grpSp>
            <p:nvGrpSpPr>
              <p:cNvPr id="214039" name="Group 1116"/>
              <p:cNvGrpSpPr/>
              <p:nvPr/>
            </p:nvGrpSpPr>
            <p:grpSpPr bwMode="auto">
              <a:xfrm>
                <a:off x="7186941" y="5734675"/>
                <a:ext cx="347753" cy="680208"/>
                <a:chOff x="7923189" y="2486663"/>
                <a:chExt cx="360362" cy="884586"/>
              </a:xfrm>
            </p:grpSpPr>
            <p:pic>
              <p:nvPicPr>
                <p:cNvPr id="214045" name="Picture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046" name="Group 950"/>
                <p:cNvGrpSpPr/>
                <p:nvPr/>
              </p:nvGrpSpPr>
              <p:grpSpPr bwMode="auto">
                <a:xfrm>
                  <a:off x="7923189" y="2890236"/>
                  <a:ext cx="227012" cy="481013"/>
                  <a:chOff x="4140" y="429"/>
                  <a:chExt cx="1425" cy="2396"/>
                </a:xfrm>
              </p:grpSpPr>
              <p:sp>
                <p:nvSpPr>
                  <p:cNvPr id="214047"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04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049"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050"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05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052" name="Group 956"/>
                  <p:cNvGrpSpPr/>
                  <p:nvPr/>
                </p:nvGrpSpPr>
                <p:grpSpPr bwMode="auto">
                  <a:xfrm>
                    <a:off x="4749" y="668"/>
                    <a:ext cx="581" cy="145"/>
                    <a:chOff x="614" y="2568"/>
                    <a:chExt cx="725" cy="139"/>
                  </a:xfrm>
                </p:grpSpPr>
                <p:sp>
                  <p:nvSpPr>
                    <p:cNvPr id="21407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07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05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054" name="Group 960"/>
                  <p:cNvGrpSpPr/>
                  <p:nvPr/>
                </p:nvGrpSpPr>
                <p:grpSpPr bwMode="auto">
                  <a:xfrm>
                    <a:off x="4747" y="994"/>
                    <a:ext cx="581" cy="134"/>
                    <a:chOff x="614" y="2568"/>
                    <a:chExt cx="725" cy="139"/>
                  </a:xfrm>
                </p:grpSpPr>
                <p:sp>
                  <p:nvSpPr>
                    <p:cNvPr id="21407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07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05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05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nvGrpSpPr>
                  <p:cNvPr id="214057" name="Group 965"/>
                  <p:cNvGrpSpPr/>
                  <p:nvPr/>
                </p:nvGrpSpPr>
                <p:grpSpPr bwMode="auto">
                  <a:xfrm>
                    <a:off x="4735" y="1627"/>
                    <a:ext cx="582" cy="151"/>
                    <a:chOff x="614" y="2568"/>
                    <a:chExt cx="725" cy="139"/>
                  </a:xfrm>
                </p:grpSpPr>
                <p:sp>
                  <p:nvSpPr>
                    <p:cNvPr id="21407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07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058"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214059" name="Group 969"/>
                  <p:cNvGrpSpPr/>
                  <p:nvPr/>
                </p:nvGrpSpPr>
                <p:grpSpPr bwMode="auto">
                  <a:xfrm>
                    <a:off x="4739" y="1327"/>
                    <a:ext cx="582" cy="139"/>
                    <a:chOff x="614" y="2568"/>
                    <a:chExt cx="725" cy="139"/>
                  </a:xfrm>
                </p:grpSpPr>
                <p:sp>
                  <p:nvSpPr>
                    <p:cNvPr id="21407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07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sp>
                <p:nvSpPr>
                  <p:cNvPr id="21406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061"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062"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06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064"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21406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06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06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06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endParaRPr>
                  </a:p>
                </p:txBody>
              </p:sp>
              <p:sp>
                <p:nvSpPr>
                  <p:cNvPr id="21406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21407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grpSp>
          </p:grpSp>
          <p:grpSp>
            <p:nvGrpSpPr>
              <p:cNvPr id="214040" name="Group 1117"/>
              <p:cNvGrpSpPr/>
              <p:nvPr/>
            </p:nvGrpSpPr>
            <p:grpSpPr bwMode="auto">
              <a:xfrm>
                <a:off x="439215" y="4827099"/>
                <a:ext cx="875523" cy="506826"/>
                <a:chOff x="439215" y="4827099"/>
                <a:chExt cx="875523" cy="506826"/>
              </a:xfrm>
            </p:grpSpPr>
            <p:grpSp>
              <p:nvGrpSpPr>
                <p:cNvPr id="214041" name="Group 418"/>
                <p:cNvGrpSpPr/>
                <p:nvPr/>
              </p:nvGrpSpPr>
              <p:grpSpPr bwMode="auto">
                <a:xfrm>
                  <a:off x="439215" y="4827099"/>
                  <a:ext cx="875523" cy="506826"/>
                  <a:chOff x="2889" y="1631"/>
                  <a:chExt cx="980" cy="743"/>
                </a:xfrm>
              </p:grpSpPr>
              <p:sp>
                <p:nvSpPr>
                  <p:cNvPr id="214043" name="Rectangle 419"/>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endParaRPr lang="en-US" altLang="en-US" sz="2400">
                      <a:solidFill>
                        <a:srgbClr val="000000"/>
                      </a:solidFill>
                    </a:endParaRPr>
                  </a:p>
                </p:txBody>
              </p:sp>
              <p:sp>
                <p:nvSpPr>
                  <p:cNvPr id="1125" name="AutoShape 420"/>
                  <p:cNvSpPr>
                    <a:spLocks noChangeArrowheads="1"/>
                  </p:cNvSpPr>
                  <p:nvPr/>
                </p:nvSpPr>
                <p:spPr bwMode="auto">
                  <a:xfrm>
                    <a:off x="2889" y="1630"/>
                    <a:ext cx="976" cy="254"/>
                  </a:xfrm>
                  <a:prstGeom prst="triangle">
                    <a:avLst>
                      <a:gd name="adj" fmla="val 50000"/>
                    </a:avLst>
                  </a:prstGeom>
                  <a:solidFill>
                    <a:schemeClr val="tx1">
                      <a:lumMod val="50000"/>
                      <a:lumOff val="50000"/>
                    </a:schemeClr>
                  </a:solidFill>
                  <a:ln>
                    <a:noFill/>
                  </a:ln>
                </p:spPr>
                <p:txBody>
                  <a:bodyPr wrap="none" anchor="ctr"/>
                  <a:lstStyle/>
                  <a:p>
                    <a:pPr algn="ctr">
                      <a:spcBef>
                        <a:spcPct val="0"/>
                      </a:spcBef>
                      <a:buClrTx/>
                      <a:buSzTx/>
                      <a:buFontTx/>
                      <a:buNone/>
                      <a:defRPr/>
                    </a:pPr>
                    <a:endParaRPr lang="en-US" sz="2400" dirty="0">
                      <a:solidFill>
                        <a:srgbClr val="00CCFF"/>
                      </a:solidFill>
                      <a:latin typeface="Arial" panose="020B0604020202020204" pitchFamily="34" charset="0"/>
                      <a:ea typeface="MS PGothic" panose="020B0600070205080204" pitchFamily="34" charset="-128"/>
                      <a:cs typeface="MS PGothic" panose="020B0600070205080204" pitchFamily="34" charset="-128"/>
                    </a:endParaRPr>
                  </a:p>
                </p:txBody>
              </p:sp>
            </p:grpSp>
            <p:pic>
              <p:nvPicPr>
                <p:cNvPr id="214042" name="Picture 111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11" name="Rectangle 10"/>
          <p:cNvSpPr>
            <a:spLocks noChangeArrowheads="1"/>
          </p:cNvSpPr>
          <p:nvPr/>
        </p:nvSpPr>
        <p:spPr bwMode="auto">
          <a:xfrm>
            <a:off x="1459847" y="4108856"/>
            <a:ext cx="9037638" cy="25034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endParaRPr lang="en-US" altLang="en-US" sz="2400">
              <a:solidFill>
                <a:srgbClr val="000000"/>
              </a:solidFill>
            </a:endParaRPr>
          </a:p>
        </p:txBody>
      </p:sp>
      <p:grpSp>
        <p:nvGrpSpPr>
          <p:cNvPr id="24" name="Group 23"/>
          <p:cNvGrpSpPr/>
          <p:nvPr/>
        </p:nvGrpSpPr>
        <p:grpSpPr bwMode="auto">
          <a:xfrm>
            <a:off x="1925639" y="4171941"/>
            <a:ext cx="8074025" cy="523220"/>
            <a:chOff x="379080" y="5456397"/>
            <a:chExt cx="8074239" cy="524687"/>
          </a:xfrm>
        </p:grpSpPr>
        <p:sp>
          <p:nvSpPr>
            <p:cNvPr id="12" name="Rectangle 11"/>
            <p:cNvSpPr/>
            <p:nvPr/>
          </p:nvSpPr>
          <p:spPr>
            <a:xfrm>
              <a:off x="379080" y="5489828"/>
              <a:ext cx="8074239" cy="421866"/>
            </a:xfrm>
            <a:prstGeom prst="rect">
              <a:avLst/>
            </a:prstGeom>
            <a:ln>
              <a:solidFill>
                <a:srgbClr val="C00000"/>
              </a:solidFill>
            </a:ln>
          </p:spPr>
          <p:txBody>
            <a:bodyPr anchor="ctr"/>
            <a:lstStyle/>
            <a:p>
              <a:pPr algn="ctr">
                <a:spcBef>
                  <a:spcPct val="0"/>
                </a:spcBef>
                <a:buClrTx/>
                <a:buSzTx/>
                <a:buFontTx/>
                <a:buNone/>
                <a:defRPr/>
              </a:pPr>
              <a:endParaRPr lang="en-US" sz="2400" dirty="0">
                <a:solidFill>
                  <a:srgbClr val="000000"/>
                </a:solidFill>
                <a:latin typeface="Arial" panose="020B0604020202020204" pitchFamily="34" charset="0"/>
                <a:ea typeface="MS PGothic" panose="020B0600070205080204" pitchFamily="34" charset="-128"/>
                <a:cs typeface="MS PGothic" panose="020B0600070205080204" pitchFamily="34" charset="-128"/>
              </a:endParaRPr>
            </a:p>
          </p:txBody>
        </p:sp>
        <p:sp>
          <p:nvSpPr>
            <p:cNvPr id="214029" name="TextBox 17"/>
            <p:cNvSpPr txBox="1">
              <a:spLocks noChangeArrowheads="1"/>
            </p:cNvSpPr>
            <p:nvPr/>
          </p:nvSpPr>
          <p:spPr bwMode="auto">
            <a:xfrm>
              <a:off x="1081801" y="5456397"/>
              <a:ext cx="6920219" cy="52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2800" dirty="0">
                  <a:solidFill>
                    <a:srgbClr val="000000"/>
                  </a:solidFill>
                  <a:latin typeface="+mn-lt"/>
                </a:rPr>
                <a:t>Internet host-host communication as a service</a:t>
              </a:r>
              <a:endParaRPr lang="en-US" altLang="en-US" sz="2800" dirty="0">
                <a:solidFill>
                  <a:srgbClr val="000000"/>
                </a:solidFill>
                <a:latin typeface="+mn-lt"/>
              </a:endParaRPr>
            </a:p>
          </p:txBody>
        </p:sp>
      </p:grpSp>
      <p:sp>
        <p:nvSpPr>
          <p:cNvPr id="6" name="Content Placeholder 5"/>
          <p:cNvSpPr>
            <a:spLocks noGrp="1"/>
          </p:cNvSpPr>
          <p:nvPr>
            <p:ph idx="1"/>
          </p:nvPr>
        </p:nvSpPr>
        <p:spPr>
          <a:xfrm>
            <a:off x="2519090" y="4917973"/>
            <a:ext cx="7772400" cy="1820863"/>
          </a:xfrm>
        </p:spPr>
        <p:txBody>
          <a:bodyPr/>
          <a:lstStyle/>
          <a:p>
            <a:pPr marL="0" indent="0">
              <a:buClr>
                <a:srgbClr val="0000A8"/>
              </a:buClr>
              <a:buNone/>
            </a:pPr>
            <a:r>
              <a:rPr lang="en-US" altLang="en-US" i="1" dirty="0">
                <a:solidFill>
                  <a:srgbClr val="990000"/>
                </a:solidFill>
                <a:latin typeface="Calibri" panose="020F0502020204030204" pitchFamily="34" charset="0"/>
                <a:ea typeface="MS PGothic" panose="020B0600070205080204" pitchFamily="34" charset="-128"/>
                <a:cs typeface="Calibri" panose="020F0502020204030204" pitchFamily="34" charset="0"/>
              </a:rPr>
              <a:t>OTT challenges: </a:t>
            </a:r>
            <a:r>
              <a:rPr lang="en-US" altLang="en-US" dirty="0">
                <a:latin typeface="Calibri" panose="020F0502020204030204" pitchFamily="34" charset="0"/>
                <a:ea typeface="MS PGothic" panose="020B0600070205080204" pitchFamily="34" charset="-128"/>
                <a:cs typeface="Calibri" panose="020F0502020204030204" pitchFamily="34" charset="0"/>
              </a:rPr>
              <a:t>coping with a congested Internet</a:t>
            </a:r>
            <a:endParaRPr lang="en-US" altLang="en-US" dirty="0">
              <a:latin typeface="Calibri" panose="020F0502020204030204" pitchFamily="34" charset="0"/>
              <a:ea typeface="MS PGothic" panose="020B0600070205080204" pitchFamily="34" charset="-128"/>
              <a:cs typeface="Calibri" panose="020F0502020204030204" pitchFamily="34" charset="0"/>
            </a:endParaRPr>
          </a:p>
          <a:p>
            <a:pPr marL="466725" lvl="1" indent="-233680">
              <a:buFont typeface="Wingdings" panose="05000000000000000000"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from which CDN node to retrieve content?</a:t>
            </a:r>
            <a:endParaRPr lang="en-US" altLang="en-US" dirty="0">
              <a:latin typeface="Calibri" panose="020F0502020204030204" pitchFamily="34" charset="0"/>
              <a:ea typeface="Arial" panose="020B0604020202020204" pitchFamily="34" charset="0"/>
              <a:cs typeface="Calibri" panose="020F0502020204030204" pitchFamily="34" charset="0"/>
            </a:endParaRPr>
          </a:p>
          <a:p>
            <a:pPr marL="466725" lvl="1" indent="-233680">
              <a:buFont typeface="Wingdings" panose="05000000000000000000"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viewer behavior in presence of congestion?</a:t>
            </a:r>
            <a:endParaRPr lang="en-US" altLang="en-US" dirty="0">
              <a:latin typeface="Calibri" panose="020F0502020204030204" pitchFamily="34" charset="0"/>
              <a:ea typeface="Arial" panose="020B0604020202020204" pitchFamily="34" charset="0"/>
              <a:cs typeface="Calibri" panose="020F0502020204030204" pitchFamily="34" charset="0"/>
            </a:endParaRPr>
          </a:p>
          <a:p>
            <a:pPr marL="466725" lvl="1" indent="-233680">
              <a:buFont typeface="Wingdings" panose="05000000000000000000"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what content to place in which CDN node?</a:t>
            </a:r>
            <a:endParaRPr lang="en-US" altLang="en-US" dirty="0">
              <a:latin typeface="Calibri" panose="020F0502020204030204" pitchFamily="34" charset="0"/>
              <a:ea typeface="Arial" panose="020B0604020202020204" pitchFamily="34" charset="0"/>
              <a:cs typeface="Calibri" panose="020F0502020204030204" pitchFamily="34" charset="0"/>
            </a:endParaRPr>
          </a:p>
        </p:txBody>
      </p:sp>
      <p:sp>
        <p:nvSpPr>
          <p:cNvPr id="10" name="TextBox 9"/>
          <p:cNvSpPr txBox="1">
            <a:spLocks noChangeArrowheads="1"/>
          </p:cNvSpPr>
          <p:nvPr/>
        </p:nvSpPr>
        <p:spPr bwMode="auto">
          <a:xfrm>
            <a:off x="3409501" y="2041781"/>
            <a:ext cx="457182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4400" i="1" dirty="0">
                <a:solidFill>
                  <a:srgbClr val="000099"/>
                </a:solidFill>
                <a:latin typeface="+mn-lt"/>
              </a:rPr>
              <a:t>OTT: “over the top”</a:t>
            </a:r>
            <a:endParaRPr lang="en-US" altLang="en-US" sz="4400" i="1" dirty="0">
              <a:solidFill>
                <a:srgbClr val="000099"/>
              </a:solidFill>
              <a:latin typeface="+mn-lt"/>
            </a:endParaRPr>
          </a:p>
        </p:txBody>
      </p:sp>
      <p:sp>
        <p:nvSpPr>
          <p:cNvPr id="1036" name="Title 1"/>
          <p:cNvSpPr>
            <a:spLocks noGrp="1"/>
          </p:cNvSpPr>
          <p:nvPr>
            <p:ph type="title"/>
          </p:nvPr>
        </p:nvSpPr>
        <p:spPr>
          <a:xfrm>
            <a:off x="838200" y="451821"/>
            <a:ext cx="10515600" cy="894622"/>
          </a:xfrm>
        </p:spPr>
        <p:txBody>
          <a:bodyPr>
            <a:normAutofit/>
          </a:bodyPr>
          <a:lstStyle/>
          <a:p>
            <a:r>
              <a:rPr lang="en-US" altLang="en-US" sz="4400" dirty="0">
                <a:ea typeface="MS PGothic" panose="020B0600070205080204" pitchFamily="34" charset="-128"/>
              </a:rPr>
              <a:t>Content distribution </a:t>
            </a:r>
            <a:r>
              <a:rPr lang="en-US" altLang="en-US" dirty="0">
                <a:ea typeface="MS PGothic" panose="020B0600070205080204" pitchFamily="34" charset="-128"/>
              </a:rPr>
              <a:t>n</a:t>
            </a:r>
            <a:r>
              <a:rPr lang="en-US" altLang="en-US" sz="4400" dirty="0">
                <a:ea typeface="MS PGothic" panose="020B0600070205080204" pitchFamily="34" charset="-128"/>
              </a:rPr>
              <a:t>etworks (CDNs)</a:t>
            </a:r>
            <a:endParaRPr lang="en-US" altLang="en-US" sz="4400" dirty="0">
              <a:ea typeface="MS PGothic" panose="020B0600070205080204" pitchFamily="34" charset="-128"/>
            </a:endParaRPr>
          </a:p>
        </p:txBody>
      </p:sp>
      <p:sp>
        <p:nvSpPr>
          <p:cNvPr id="1038"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0"/>
                                        </p:tgtEl>
                                      </p:cBhvr>
                                    </p:animEffect>
                                    <p:set>
                                      <p:cBhvr>
                                        <p:cTn id="7" dur="1" fill="hold">
                                          <p:stCondLst>
                                            <p:cond delay="499"/>
                                          </p:stCondLst>
                                        </p:cTn>
                                        <p:tgtEl>
                                          <p:spTgt spid="10"/>
                                        </p:tgtEl>
                                        <p:attrNameLst>
                                          <p:attrName>style.visibility</p:attrName>
                                        </p:attrNameLst>
                                      </p:cBhvr>
                                      <p:to>
                                        <p:strVal val="hidden"/>
                                      </p:to>
                                    </p:set>
                                  </p:childTnLst>
                                </p:cTn>
                              </p:par>
                              <p:par>
                                <p:cTn id="8" presetID="22" presetClass="entr" presetSubtype="4"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1000"/>
                                        <p:tgtEl>
                                          <p:spTgt spid="9"/>
                                        </p:tgtEl>
                                      </p:cBhvr>
                                    </p:animEffect>
                                  </p:childTnLst>
                                </p:cTn>
                              </p:par>
                              <p:par>
                                <p:cTn id="11" presetID="9" presetClass="exit" presetSubtype="0" fill="hold" nodeType="withEffect">
                                  <p:stCondLst>
                                    <p:cond delay="0"/>
                                  </p:stCondLst>
                                  <p:childTnLst>
                                    <p:animEffect transition="out" filter="dissolve">
                                      <p:cBhvr>
                                        <p:cTn id="12" dur="500"/>
                                        <p:tgtEl>
                                          <p:spTgt spid="5"/>
                                        </p:tgtEl>
                                      </p:cBhvr>
                                    </p:animEffect>
                                    <p:set>
                                      <p:cBhvr>
                                        <p:cTn id="13" dur="1" fill="hold">
                                          <p:stCondLst>
                                            <p:cond delay="499"/>
                                          </p:stCondLst>
                                        </p:cTn>
                                        <p:tgtEl>
                                          <p:spTgt spid="5"/>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dissolve">
                                      <p:cBhvr>
                                        <p:cTn id="18" dur="500"/>
                                        <p:tgtEl>
                                          <p:spTgt spid="11"/>
                                        </p:tgtEl>
                                      </p:cBhvr>
                                    </p:animEffect>
                                  </p:childTnLst>
                                </p:cTn>
                              </p:par>
                              <p:par>
                                <p:cTn id="19" presetID="9"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dissolve">
                                      <p:cBhvr>
                                        <p:cTn id="21" dur="2000"/>
                                        <p:tgtEl>
                                          <p:spTgt spid="24"/>
                                        </p:tgtEl>
                                      </p:cBhvr>
                                    </p:animEffect>
                                  </p:childTnLst>
                                </p:cTn>
                              </p:par>
                              <p:par>
                                <p:cTn id="22" presetID="1" presetClass="exit" presetSubtype="0" fill="hold" nodeType="withEffect">
                                  <p:stCondLst>
                                    <p:cond delay="0"/>
                                  </p:stCondLst>
                                  <p:childTnLst>
                                    <p:set>
                                      <p:cBhvr>
                                        <p:cTn id="23" dur="1" fill="hold">
                                          <p:stCondLst>
                                            <p:cond delay="0"/>
                                          </p:stCondLst>
                                        </p:cTn>
                                        <p:tgtEl>
                                          <p:spTgt spid="50178"/>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xEl>
                                              <p:pRg st="0" end="0"/>
                                            </p:txEl>
                                          </p:spTgt>
                                        </p:tgtEl>
                                        <p:attrNameLst>
                                          <p:attrName>style.visibility</p:attrName>
                                        </p:attrNameLst>
                                      </p:cBhvr>
                                      <p:to>
                                        <p:strVal val="visible"/>
                                      </p:to>
                                    </p:set>
                                    <p:animEffect transition="in" filter="dissolve">
                                      <p:cBhvr>
                                        <p:cTn id="28" dur="500"/>
                                        <p:tgtEl>
                                          <p:spTgt spid="6">
                                            <p:txEl>
                                              <p:pRg st="0" end="0"/>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6">
                                            <p:txEl>
                                              <p:pRg st="1" end="1"/>
                                            </p:txEl>
                                          </p:spTgt>
                                        </p:tgtEl>
                                        <p:attrNameLst>
                                          <p:attrName>style.visibility</p:attrName>
                                        </p:attrNameLst>
                                      </p:cBhvr>
                                      <p:to>
                                        <p:strVal val="visible"/>
                                      </p:to>
                                    </p:set>
                                    <p:animEffect transition="in" filter="dissolve">
                                      <p:cBhvr>
                                        <p:cTn id="31" dur="500"/>
                                        <p:tgtEl>
                                          <p:spTgt spid="6">
                                            <p:txEl>
                                              <p:pRg st="1" end="1"/>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
                                            <p:txEl>
                                              <p:pRg st="2" end="2"/>
                                            </p:txEl>
                                          </p:spTgt>
                                        </p:tgtEl>
                                        <p:attrNameLst>
                                          <p:attrName>style.visibility</p:attrName>
                                        </p:attrNameLst>
                                      </p:cBhvr>
                                      <p:to>
                                        <p:strVal val="visible"/>
                                      </p:to>
                                    </p:set>
                                    <p:animEffect transition="in" filter="dissolve">
                                      <p:cBhvr>
                                        <p:cTn id="34" dur="500"/>
                                        <p:tgtEl>
                                          <p:spTgt spid="6">
                                            <p:txEl>
                                              <p:pRg st="2" end="2"/>
                                            </p:txEl>
                                          </p:spTgt>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6">
                                            <p:txEl>
                                              <p:pRg st="3" end="3"/>
                                            </p:txEl>
                                          </p:spTgt>
                                        </p:tgtEl>
                                        <p:attrNameLst>
                                          <p:attrName>style.visibility</p:attrName>
                                        </p:attrNameLst>
                                      </p:cBhvr>
                                      <p:to>
                                        <p:strVal val="visible"/>
                                      </p:to>
                                    </p:set>
                                    <p:animEffect transition="in" filter="dissolve">
                                      <p:cBhvr>
                                        <p:cTn id="37" dur="5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0" build="p"/>
      <p:bldP spid="10"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r>
              <a:rPr lang="en-US" altLang="en-US" sz="4400" dirty="0">
                <a:ea typeface="MS PGothic" panose="020B0600070205080204" pitchFamily="34" charset="-128"/>
              </a:rPr>
              <a:t>CDN content access: a closer look</a:t>
            </a:r>
            <a:endParaRPr lang="en-US" altLang="en-US" sz="4400" dirty="0">
              <a:ea typeface="MS PGothic" panose="020B0600070205080204" pitchFamily="34" charset="-128"/>
            </a:endParaRPr>
          </a:p>
        </p:txBody>
      </p:sp>
      <p:sp>
        <p:nvSpPr>
          <p:cNvPr id="213" name="Freeform 1287"/>
          <p:cNvSpPr/>
          <p:nvPr/>
        </p:nvSpPr>
        <p:spPr bwMode="auto">
          <a:xfrm rot="5400000">
            <a:off x="2597150" y="4305582"/>
            <a:ext cx="2554288"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32822051 w 10000"/>
              <a:gd name="T9" fmla="*/ 2147483647 h 10000"/>
              <a:gd name="T10" fmla="*/ 148299330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sp>
        <p:nvSpPr>
          <p:cNvPr id="214" name="Freeform 1287"/>
          <p:cNvSpPr/>
          <p:nvPr/>
        </p:nvSpPr>
        <p:spPr bwMode="auto">
          <a:xfrm>
            <a:off x="5650706" y="5181088"/>
            <a:ext cx="3467100"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cs typeface="Arial" panose="020B0604020202020204"/>
            </a:endParaRPr>
          </a:p>
        </p:txBody>
      </p:sp>
      <p:grpSp>
        <p:nvGrpSpPr>
          <p:cNvPr id="215" name="Group 249"/>
          <p:cNvGrpSpPr/>
          <p:nvPr/>
        </p:nvGrpSpPr>
        <p:grpSpPr bwMode="auto">
          <a:xfrm>
            <a:off x="3766344" y="3952363"/>
            <a:ext cx="460375" cy="638175"/>
            <a:chOff x="4140" y="429"/>
            <a:chExt cx="1425" cy="2396"/>
          </a:xfrm>
        </p:grpSpPr>
        <p:sp>
          <p:nvSpPr>
            <p:cNvPr id="216"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17" name="Rectangle 251"/>
            <p:cNvSpPr>
              <a:spLocks noChangeArrowheads="1"/>
            </p:cNvSpPr>
            <p:nvPr/>
          </p:nvSpPr>
          <p:spPr bwMode="auto">
            <a:xfrm>
              <a:off x="4204" y="429"/>
              <a:ext cx="1047" cy="2283"/>
            </a:xfrm>
            <a:prstGeom prst="rect">
              <a:avLst/>
            </a:prstGeom>
            <a:gradFill rotWithShape="1">
              <a:gsLst>
                <a:gs pos="0">
                  <a:srgbClr val="292929"/>
                </a:gs>
                <a:gs pos="100000">
                  <a:srgbClr val="808080"/>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18"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19"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20" name="Rectangle 254"/>
            <p:cNvSpPr>
              <a:spLocks noChangeArrowheads="1"/>
            </p:cNvSpPr>
            <p:nvPr/>
          </p:nvSpPr>
          <p:spPr bwMode="auto">
            <a:xfrm>
              <a:off x="4214" y="691"/>
              <a:ext cx="595"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221" name="Group 255"/>
            <p:cNvGrpSpPr/>
            <p:nvPr/>
          </p:nvGrpSpPr>
          <p:grpSpPr bwMode="auto">
            <a:xfrm>
              <a:off x="4749" y="668"/>
              <a:ext cx="581" cy="145"/>
              <a:chOff x="614" y="2568"/>
              <a:chExt cx="725" cy="139"/>
            </a:xfrm>
          </p:grpSpPr>
          <p:sp>
            <p:nvSpPr>
              <p:cNvPr id="246" name="AutoShape 256"/>
              <p:cNvSpPr>
                <a:spLocks noChangeArrowheads="1"/>
              </p:cNvSpPr>
              <p:nvPr/>
            </p:nvSpPr>
            <p:spPr bwMode="auto">
              <a:xfrm>
                <a:off x="614" y="2567"/>
                <a:ext cx="724" cy="126"/>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47" name="AutoShape 257"/>
              <p:cNvSpPr>
                <a:spLocks noChangeArrowheads="1"/>
              </p:cNvSpPr>
              <p:nvPr/>
            </p:nvSpPr>
            <p:spPr bwMode="auto">
              <a:xfrm>
                <a:off x="633"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22" name="Rectangle 258"/>
            <p:cNvSpPr>
              <a:spLocks noChangeArrowheads="1"/>
            </p:cNvSpPr>
            <p:nvPr/>
          </p:nvSpPr>
          <p:spPr bwMode="auto">
            <a:xfrm>
              <a:off x="4224" y="1019"/>
              <a:ext cx="595"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223" name="Group 259"/>
            <p:cNvGrpSpPr/>
            <p:nvPr/>
          </p:nvGrpSpPr>
          <p:grpSpPr bwMode="auto">
            <a:xfrm>
              <a:off x="4747" y="994"/>
              <a:ext cx="581" cy="134"/>
              <a:chOff x="614" y="2568"/>
              <a:chExt cx="725" cy="139"/>
            </a:xfrm>
          </p:grpSpPr>
          <p:sp>
            <p:nvSpPr>
              <p:cNvPr id="244" name="AutoShape 260"/>
              <p:cNvSpPr>
                <a:spLocks noChangeArrowheads="1"/>
              </p:cNvSpPr>
              <p:nvPr/>
            </p:nvSpPr>
            <p:spPr bwMode="auto">
              <a:xfrm>
                <a:off x="617" y="2569"/>
                <a:ext cx="724" cy="136"/>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45" name="AutoShape 261"/>
              <p:cNvSpPr>
                <a:spLocks noChangeArrowheads="1"/>
              </p:cNvSpPr>
              <p:nvPr/>
            </p:nvSpPr>
            <p:spPr bwMode="auto">
              <a:xfrm>
                <a:off x="629" y="2588"/>
                <a:ext cx="693"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24" name="Rectangle 262"/>
            <p:cNvSpPr>
              <a:spLocks noChangeArrowheads="1"/>
            </p:cNvSpPr>
            <p:nvPr/>
          </p:nvSpPr>
          <p:spPr bwMode="auto">
            <a:xfrm>
              <a:off x="4219" y="1359"/>
              <a:ext cx="595"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25" name="Rectangle 263"/>
            <p:cNvSpPr>
              <a:spLocks noChangeArrowheads="1"/>
            </p:cNvSpPr>
            <p:nvPr/>
          </p:nvSpPr>
          <p:spPr bwMode="auto">
            <a:xfrm>
              <a:off x="4228" y="1657"/>
              <a:ext cx="595" cy="42"/>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226" name="Group 264"/>
            <p:cNvGrpSpPr/>
            <p:nvPr/>
          </p:nvGrpSpPr>
          <p:grpSpPr bwMode="auto">
            <a:xfrm>
              <a:off x="4735" y="1627"/>
              <a:ext cx="582" cy="151"/>
              <a:chOff x="614" y="2568"/>
              <a:chExt cx="725" cy="139"/>
            </a:xfrm>
          </p:grpSpPr>
          <p:sp>
            <p:nvSpPr>
              <p:cNvPr id="242" name="AutoShape 265"/>
              <p:cNvSpPr>
                <a:spLocks noChangeArrowheads="1"/>
              </p:cNvSpPr>
              <p:nvPr/>
            </p:nvSpPr>
            <p:spPr bwMode="auto">
              <a:xfrm>
                <a:off x="613" y="2568"/>
                <a:ext cx="722" cy="137"/>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43" name="AutoShape 266"/>
              <p:cNvSpPr>
                <a:spLocks noChangeArrowheads="1"/>
              </p:cNvSpPr>
              <p:nvPr/>
            </p:nvSpPr>
            <p:spPr bwMode="auto">
              <a:xfrm>
                <a:off x="626" y="2584"/>
                <a:ext cx="698"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27"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228" name="Group 268"/>
            <p:cNvGrpSpPr/>
            <p:nvPr/>
          </p:nvGrpSpPr>
          <p:grpSpPr bwMode="auto">
            <a:xfrm>
              <a:off x="4739" y="1327"/>
              <a:ext cx="582" cy="139"/>
              <a:chOff x="614" y="2568"/>
              <a:chExt cx="725" cy="139"/>
            </a:xfrm>
          </p:grpSpPr>
          <p:sp>
            <p:nvSpPr>
              <p:cNvPr id="240" name="AutoShape 269"/>
              <p:cNvSpPr>
                <a:spLocks noChangeArrowheads="1"/>
              </p:cNvSpPr>
              <p:nvPr/>
            </p:nvSpPr>
            <p:spPr bwMode="auto">
              <a:xfrm>
                <a:off x="615" y="2570"/>
                <a:ext cx="722" cy="137"/>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41" name="AutoShape 270"/>
              <p:cNvSpPr>
                <a:spLocks noChangeArrowheads="1"/>
              </p:cNvSpPr>
              <p:nvPr/>
            </p:nvSpPr>
            <p:spPr bwMode="auto">
              <a:xfrm>
                <a:off x="633" y="2588"/>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29" name="Rectangle 271"/>
            <p:cNvSpPr>
              <a:spLocks noChangeArrowheads="1"/>
            </p:cNvSpPr>
            <p:nvPr/>
          </p:nvSpPr>
          <p:spPr bwMode="auto">
            <a:xfrm>
              <a:off x="5246" y="429"/>
              <a:ext cx="69"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30"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31"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32" name="Oval 274"/>
            <p:cNvSpPr>
              <a:spLocks noChangeArrowheads="1"/>
            </p:cNvSpPr>
            <p:nvPr/>
          </p:nvSpPr>
          <p:spPr bwMode="auto">
            <a:xfrm>
              <a:off x="5516" y="2610"/>
              <a:ext cx="49" cy="95"/>
            </a:xfrm>
            <a:prstGeom prst="ellipse">
              <a:avLst/>
            </a:prstGeom>
            <a:solidFill>
              <a:srgbClr val="3333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33"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34" name="AutoShape 276"/>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35" name="AutoShape 277"/>
            <p:cNvSpPr>
              <a:spLocks noChangeArrowheads="1"/>
            </p:cNvSpPr>
            <p:nvPr/>
          </p:nvSpPr>
          <p:spPr bwMode="auto">
            <a:xfrm>
              <a:off x="4204" y="2712"/>
              <a:ext cx="1071"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36" name="Oval 278"/>
            <p:cNvSpPr>
              <a:spLocks noChangeArrowheads="1"/>
            </p:cNvSpPr>
            <p:nvPr/>
          </p:nvSpPr>
          <p:spPr bwMode="auto">
            <a:xfrm>
              <a:off x="4307" y="2384"/>
              <a:ext cx="162" cy="143"/>
            </a:xfrm>
            <a:prstGeom prst="ellipse">
              <a:avLst/>
            </a:prstGeom>
            <a:solidFill>
              <a:srgbClr val="33CC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37" name="Oval 279"/>
            <p:cNvSpPr>
              <a:spLocks noChangeArrowheads="1"/>
            </p:cNvSpPr>
            <p:nvPr/>
          </p:nvSpPr>
          <p:spPr bwMode="auto">
            <a:xfrm>
              <a:off x="4484" y="2384"/>
              <a:ext cx="162" cy="143"/>
            </a:xfrm>
            <a:prstGeom prst="ellipse">
              <a:avLst/>
            </a:prstGeom>
            <a:solidFill>
              <a:srgbClr val="FF0000"/>
            </a:solidFill>
            <a:ln>
              <a:noFill/>
            </a:ln>
            <a:effec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38" name="Oval 280"/>
            <p:cNvSpPr>
              <a:spLocks noChangeArrowheads="1"/>
            </p:cNvSpPr>
            <p:nvPr/>
          </p:nvSpPr>
          <p:spPr bwMode="auto">
            <a:xfrm>
              <a:off x="4661" y="2378"/>
              <a:ext cx="157" cy="143"/>
            </a:xfrm>
            <a:prstGeom prst="ellipse">
              <a:avLst/>
            </a:prstGeom>
            <a:solidFill>
              <a:srgbClr val="33CC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39" name="Rectangle 281"/>
            <p:cNvSpPr>
              <a:spLocks noChangeArrowheads="1"/>
            </p:cNvSpPr>
            <p:nvPr/>
          </p:nvSpPr>
          <p:spPr bwMode="auto">
            <a:xfrm>
              <a:off x="5064" y="1836"/>
              <a:ext cx="84" cy="763"/>
            </a:xfrm>
            <a:prstGeom prst="rect">
              <a:avLst/>
            </a:prstGeom>
            <a:solidFill>
              <a:srgbClr val="292929"/>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48" name="TextBox 4"/>
          <p:cNvSpPr txBox="1">
            <a:spLocks noChangeArrowheads="1"/>
          </p:cNvSpPr>
          <p:nvPr/>
        </p:nvSpPr>
        <p:spPr bwMode="auto">
          <a:xfrm>
            <a:off x="2982119" y="4527038"/>
            <a:ext cx="15049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20000"/>
              </a:spcBef>
              <a:spcAft>
                <a:spcPct val="0"/>
              </a:spcAft>
              <a:buClr>
                <a:srgbClr val="3333CC"/>
              </a:buClr>
              <a:buSzPct val="85000"/>
              <a:buFont typeface="ZapfDingbats" pitchFamily="82" charset="2"/>
              <a:buNone/>
            </a:pPr>
            <a:r>
              <a:rPr lang="en-US" altLang="en-US" sz="1800">
                <a:solidFill>
                  <a:srgbClr val="000000"/>
                </a:solidFill>
                <a:latin typeface="Arial Narrow" panose="020B0606020202030204" pitchFamily="34" charset="0"/>
                <a:cs typeface="Arial" panose="020B0604020202020204"/>
              </a:rPr>
              <a:t>netcinema.com</a:t>
            </a:r>
            <a:endParaRPr lang="en-US" altLang="en-US" sz="1800" i="1">
              <a:solidFill>
                <a:srgbClr val="000000"/>
              </a:solidFill>
              <a:latin typeface="Arial Narrow" panose="020B0606020202030204" pitchFamily="34" charset="0"/>
              <a:cs typeface="Arial" panose="020B0604020202020204"/>
            </a:endParaRPr>
          </a:p>
        </p:txBody>
      </p:sp>
      <p:grpSp>
        <p:nvGrpSpPr>
          <p:cNvPr id="249" name="Group 542"/>
          <p:cNvGrpSpPr/>
          <p:nvPr/>
        </p:nvGrpSpPr>
        <p:grpSpPr bwMode="auto">
          <a:xfrm>
            <a:off x="5838031" y="2339463"/>
            <a:ext cx="963613" cy="835025"/>
            <a:chOff x="-44" y="1473"/>
            <a:chExt cx="981" cy="1105"/>
          </a:xfrm>
        </p:grpSpPr>
        <p:pic>
          <p:nvPicPr>
            <p:cNvPr id="250" name="Picture 529"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 name="Freeform 530"/>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a:solidFill>
                    <a:schemeClr val="tx1"/>
                  </a:solidFill>
                  <a:prstDash val="solid"/>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grpSp>
        <p:nvGrpSpPr>
          <p:cNvPr id="252" name="Group 249"/>
          <p:cNvGrpSpPr/>
          <p:nvPr/>
        </p:nvGrpSpPr>
        <p:grpSpPr bwMode="auto">
          <a:xfrm>
            <a:off x="6063456" y="5498588"/>
            <a:ext cx="377825" cy="636588"/>
            <a:chOff x="4140" y="429"/>
            <a:chExt cx="1425" cy="2396"/>
          </a:xfrm>
        </p:grpSpPr>
        <p:sp>
          <p:nvSpPr>
            <p:cNvPr id="253"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54" name="Rectangle 251"/>
            <p:cNvSpPr>
              <a:spLocks noChangeArrowheads="1"/>
            </p:cNvSpPr>
            <p:nvPr/>
          </p:nvSpPr>
          <p:spPr bwMode="auto">
            <a:xfrm>
              <a:off x="4206" y="429"/>
              <a:ext cx="1048" cy="2282"/>
            </a:xfrm>
            <a:prstGeom prst="rect">
              <a:avLst/>
            </a:prstGeom>
            <a:gradFill rotWithShape="1">
              <a:gsLst>
                <a:gs pos="0">
                  <a:srgbClr val="292929"/>
                </a:gs>
                <a:gs pos="100000">
                  <a:srgbClr val="808080"/>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55"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56"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57" name="Rectangle 254"/>
            <p:cNvSpPr>
              <a:spLocks noChangeArrowheads="1"/>
            </p:cNvSpPr>
            <p:nvPr/>
          </p:nvSpPr>
          <p:spPr bwMode="auto">
            <a:xfrm>
              <a:off x="4212" y="692"/>
              <a:ext cx="599"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258" name="Group 255"/>
            <p:cNvGrpSpPr/>
            <p:nvPr/>
          </p:nvGrpSpPr>
          <p:grpSpPr bwMode="auto">
            <a:xfrm>
              <a:off x="4749" y="668"/>
              <a:ext cx="581" cy="145"/>
              <a:chOff x="614" y="2568"/>
              <a:chExt cx="725" cy="139"/>
            </a:xfrm>
          </p:grpSpPr>
          <p:sp>
            <p:nvSpPr>
              <p:cNvPr id="283" name="AutoShape 256"/>
              <p:cNvSpPr>
                <a:spLocks noChangeArrowheads="1"/>
              </p:cNvSpPr>
              <p:nvPr/>
            </p:nvSpPr>
            <p:spPr bwMode="auto">
              <a:xfrm>
                <a:off x="616" y="2568"/>
                <a:ext cx="725" cy="137"/>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84" name="AutoShape 257"/>
              <p:cNvSpPr>
                <a:spLocks noChangeArrowheads="1"/>
              </p:cNvSpPr>
              <p:nvPr/>
            </p:nvSpPr>
            <p:spPr bwMode="auto">
              <a:xfrm>
                <a:off x="639"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59" name="Rectangle 258"/>
            <p:cNvSpPr>
              <a:spLocks noChangeArrowheads="1"/>
            </p:cNvSpPr>
            <p:nvPr/>
          </p:nvSpPr>
          <p:spPr bwMode="auto">
            <a:xfrm>
              <a:off x="4224" y="1021"/>
              <a:ext cx="593"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260" name="Group 259"/>
            <p:cNvGrpSpPr/>
            <p:nvPr/>
          </p:nvGrpSpPr>
          <p:grpSpPr bwMode="auto">
            <a:xfrm>
              <a:off x="4747" y="994"/>
              <a:ext cx="581" cy="134"/>
              <a:chOff x="614" y="2568"/>
              <a:chExt cx="725" cy="139"/>
            </a:xfrm>
          </p:grpSpPr>
          <p:sp>
            <p:nvSpPr>
              <p:cNvPr id="281" name="AutoShape 260"/>
              <p:cNvSpPr>
                <a:spLocks noChangeArrowheads="1"/>
              </p:cNvSpPr>
              <p:nvPr/>
            </p:nvSpPr>
            <p:spPr bwMode="auto">
              <a:xfrm>
                <a:off x="611" y="2571"/>
                <a:ext cx="725" cy="136"/>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82" name="AutoShape 261"/>
              <p:cNvSpPr>
                <a:spLocks noChangeArrowheads="1"/>
              </p:cNvSpPr>
              <p:nvPr/>
            </p:nvSpPr>
            <p:spPr bwMode="auto">
              <a:xfrm>
                <a:off x="619" y="2589"/>
                <a:ext cx="695"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61" name="Rectangle 262"/>
            <p:cNvSpPr>
              <a:spLocks noChangeArrowheads="1"/>
            </p:cNvSpPr>
            <p:nvPr/>
          </p:nvSpPr>
          <p:spPr bwMode="auto">
            <a:xfrm>
              <a:off x="4218" y="1355"/>
              <a:ext cx="593"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62" name="Rectangle 263"/>
            <p:cNvSpPr>
              <a:spLocks noChangeArrowheads="1"/>
            </p:cNvSpPr>
            <p:nvPr/>
          </p:nvSpPr>
          <p:spPr bwMode="auto">
            <a:xfrm>
              <a:off x="4230" y="1654"/>
              <a:ext cx="593"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263" name="Group 264"/>
            <p:cNvGrpSpPr/>
            <p:nvPr/>
          </p:nvGrpSpPr>
          <p:grpSpPr bwMode="auto">
            <a:xfrm>
              <a:off x="4735" y="1627"/>
              <a:ext cx="582" cy="151"/>
              <a:chOff x="614" y="2568"/>
              <a:chExt cx="725" cy="139"/>
            </a:xfrm>
          </p:grpSpPr>
          <p:sp>
            <p:nvSpPr>
              <p:cNvPr id="279" name="AutoShape 265"/>
              <p:cNvSpPr>
                <a:spLocks noChangeArrowheads="1"/>
              </p:cNvSpPr>
              <p:nvPr/>
            </p:nvSpPr>
            <p:spPr bwMode="auto">
              <a:xfrm>
                <a:off x="611" y="2576"/>
                <a:ext cx="723" cy="132"/>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80" name="AutoShape 266"/>
              <p:cNvSpPr>
                <a:spLocks noChangeArrowheads="1"/>
              </p:cNvSpPr>
              <p:nvPr/>
            </p:nvSpPr>
            <p:spPr bwMode="auto">
              <a:xfrm>
                <a:off x="626" y="2587"/>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64"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265" name="Group 268"/>
            <p:cNvGrpSpPr/>
            <p:nvPr/>
          </p:nvGrpSpPr>
          <p:grpSpPr bwMode="auto">
            <a:xfrm>
              <a:off x="4739" y="1327"/>
              <a:ext cx="582" cy="139"/>
              <a:chOff x="614" y="2568"/>
              <a:chExt cx="725" cy="139"/>
            </a:xfrm>
          </p:grpSpPr>
          <p:sp>
            <p:nvSpPr>
              <p:cNvPr id="277" name="AutoShape 269"/>
              <p:cNvSpPr>
                <a:spLocks noChangeArrowheads="1"/>
              </p:cNvSpPr>
              <p:nvPr/>
            </p:nvSpPr>
            <p:spPr bwMode="auto">
              <a:xfrm>
                <a:off x="614" y="2566"/>
                <a:ext cx="723" cy="143"/>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78" name="AutoShape 270"/>
              <p:cNvSpPr>
                <a:spLocks noChangeArrowheads="1"/>
              </p:cNvSpPr>
              <p:nvPr/>
            </p:nvSpPr>
            <p:spPr bwMode="auto">
              <a:xfrm>
                <a:off x="636" y="2584"/>
                <a:ext cx="686"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66" name="Rectangle 271"/>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67"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68"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69" name="Oval 274"/>
            <p:cNvSpPr>
              <a:spLocks noChangeArrowheads="1"/>
            </p:cNvSpPr>
            <p:nvPr/>
          </p:nvSpPr>
          <p:spPr bwMode="auto">
            <a:xfrm>
              <a:off x="5517" y="2610"/>
              <a:ext cx="48" cy="96"/>
            </a:xfrm>
            <a:prstGeom prst="ellipse">
              <a:avLst/>
            </a:prstGeom>
            <a:solidFill>
              <a:srgbClr val="3333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70"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71" name="AutoShape 276"/>
            <p:cNvSpPr>
              <a:spLocks noChangeArrowheads="1"/>
            </p:cNvSpPr>
            <p:nvPr/>
          </p:nvSpPr>
          <p:spPr bwMode="auto">
            <a:xfrm>
              <a:off x="4140" y="2682"/>
              <a:ext cx="1203" cy="143"/>
            </a:xfrm>
            <a:prstGeom prst="roundRect">
              <a:avLst>
                <a:gd name="adj" fmla="val 50000"/>
              </a:avLst>
            </a:prstGeom>
            <a:solidFill>
              <a:srgbClr val="DDDDDD"/>
            </a:solidFill>
            <a:ln w="9525">
              <a:solidFill>
                <a:srgbClr val="000000"/>
              </a:solidFill>
              <a:round/>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72" name="AutoShape 277"/>
            <p:cNvSpPr>
              <a:spLocks noChangeArrowheads="1"/>
            </p:cNvSpPr>
            <p:nvPr/>
          </p:nvSpPr>
          <p:spPr bwMode="auto">
            <a:xfrm>
              <a:off x="4206" y="2711"/>
              <a:ext cx="1072"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73" name="Oval 278"/>
            <p:cNvSpPr>
              <a:spLocks noChangeArrowheads="1"/>
            </p:cNvSpPr>
            <p:nvPr/>
          </p:nvSpPr>
          <p:spPr bwMode="auto">
            <a:xfrm>
              <a:off x="4308" y="2383"/>
              <a:ext cx="162" cy="143"/>
            </a:xfrm>
            <a:prstGeom prst="ellipse">
              <a:avLst/>
            </a:prstGeom>
            <a:solidFill>
              <a:srgbClr val="33CC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74" name="Oval 279"/>
            <p:cNvSpPr>
              <a:spLocks noChangeArrowheads="1"/>
            </p:cNvSpPr>
            <p:nvPr/>
          </p:nvSpPr>
          <p:spPr bwMode="auto">
            <a:xfrm>
              <a:off x="4487" y="2383"/>
              <a:ext cx="162" cy="143"/>
            </a:xfrm>
            <a:prstGeom prst="ellipse">
              <a:avLst/>
            </a:prstGeom>
            <a:solidFill>
              <a:srgbClr val="FF0000"/>
            </a:solidFill>
            <a:ln>
              <a:noFill/>
            </a:ln>
            <a:effec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75" name="Oval 280"/>
            <p:cNvSpPr>
              <a:spLocks noChangeArrowheads="1"/>
            </p:cNvSpPr>
            <p:nvPr/>
          </p:nvSpPr>
          <p:spPr bwMode="auto">
            <a:xfrm>
              <a:off x="4661" y="2383"/>
              <a:ext cx="156" cy="137"/>
            </a:xfrm>
            <a:prstGeom prst="ellipse">
              <a:avLst/>
            </a:prstGeom>
            <a:solidFill>
              <a:srgbClr val="33CC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76" name="Rectangle 281"/>
            <p:cNvSpPr>
              <a:spLocks noChangeArrowheads="1"/>
            </p:cNvSpPr>
            <p:nvPr/>
          </p:nvSpPr>
          <p:spPr bwMode="auto">
            <a:xfrm>
              <a:off x="5062" y="1833"/>
              <a:ext cx="84" cy="765"/>
            </a:xfrm>
            <a:prstGeom prst="rect">
              <a:avLst/>
            </a:prstGeom>
            <a:solidFill>
              <a:srgbClr val="292929"/>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grpSp>
        <p:nvGrpSpPr>
          <p:cNvPr id="285" name="Group 249"/>
          <p:cNvGrpSpPr/>
          <p:nvPr/>
        </p:nvGrpSpPr>
        <p:grpSpPr bwMode="auto">
          <a:xfrm>
            <a:off x="3871119" y="5217601"/>
            <a:ext cx="420687" cy="636587"/>
            <a:chOff x="4140" y="429"/>
            <a:chExt cx="1425" cy="2396"/>
          </a:xfrm>
        </p:grpSpPr>
        <p:sp>
          <p:nvSpPr>
            <p:cNvPr id="286"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87" name="Rectangle 251"/>
            <p:cNvSpPr>
              <a:spLocks noChangeArrowheads="1"/>
            </p:cNvSpPr>
            <p:nvPr/>
          </p:nvSpPr>
          <p:spPr bwMode="auto">
            <a:xfrm>
              <a:off x="4205" y="429"/>
              <a:ext cx="1049" cy="2282"/>
            </a:xfrm>
            <a:prstGeom prst="rect">
              <a:avLst/>
            </a:prstGeom>
            <a:gradFill rotWithShape="1">
              <a:gsLst>
                <a:gs pos="0">
                  <a:srgbClr val="292929"/>
                </a:gs>
                <a:gs pos="100000">
                  <a:srgbClr val="808080"/>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88"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89"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90" name="Rectangle 254"/>
            <p:cNvSpPr>
              <a:spLocks noChangeArrowheads="1"/>
            </p:cNvSpPr>
            <p:nvPr/>
          </p:nvSpPr>
          <p:spPr bwMode="auto">
            <a:xfrm>
              <a:off x="4215" y="692"/>
              <a:ext cx="592"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291" name="Group 255"/>
            <p:cNvGrpSpPr/>
            <p:nvPr/>
          </p:nvGrpSpPr>
          <p:grpSpPr bwMode="auto">
            <a:xfrm>
              <a:off x="4749" y="668"/>
              <a:ext cx="581" cy="145"/>
              <a:chOff x="614" y="2568"/>
              <a:chExt cx="725" cy="139"/>
            </a:xfrm>
          </p:grpSpPr>
          <p:sp>
            <p:nvSpPr>
              <p:cNvPr id="316" name="AutoShape 256"/>
              <p:cNvSpPr>
                <a:spLocks noChangeArrowheads="1"/>
              </p:cNvSpPr>
              <p:nvPr/>
            </p:nvSpPr>
            <p:spPr bwMode="auto">
              <a:xfrm>
                <a:off x="612" y="2568"/>
                <a:ext cx="725" cy="137"/>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17" name="AutoShape 257"/>
              <p:cNvSpPr>
                <a:spLocks noChangeArrowheads="1"/>
              </p:cNvSpPr>
              <p:nvPr/>
            </p:nvSpPr>
            <p:spPr bwMode="auto">
              <a:xfrm>
                <a:off x="632" y="2585"/>
                <a:ext cx="684"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92" name="Rectangle 258"/>
            <p:cNvSpPr>
              <a:spLocks noChangeArrowheads="1"/>
            </p:cNvSpPr>
            <p:nvPr/>
          </p:nvSpPr>
          <p:spPr bwMode="auto">
            <a:xfrm>
              <a:off x="4221" y="1021"/>
              <a:ext cx="597"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293" name="Group 259"/>
            <p:cNvGrpSpPr/>
            <p:nvPr/>
          </p:nvGrpSpPr>
          <p:grpSpPr bwMode="auto">
            <a:xfrm>
              <a:off x="4747" y="994"/>
              <a:ext cx="581" cy="134"/>
              <a:chOff x="614" y="2568"/>
              <a:chExt cx="725" cy="139"/>
            </a:xfrm>
          </p:grpSpPr>
          <p:sp>
            <p:nvSpPr>
              <p:cNvPr id="314" name="AutoShape 260"/>
              <p:cNvSpPr>
                <a:spLocks noChangeArrowheads="1"/>
              </p:cNvSpPr>
              <p:nvPr/>
            </p:nvSpPr>
            <p:spPr bwMode="auto">
              <a:xfrm>
                <a:off x="615" y="2571"/>
                <a:ext cx="725" cy="136"/>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15" name="AutoShape 261"/>
              <p:cNvSpPr>
                <a:spLocks noChangeArrowheads="1"/>
              </p:cNvSpPr>
              <p:nvPr/>
            </p:nvSpPr>
            <p:spPr bwMode="auto">
              <a:xfrm>
                <a:off x="622" y="2589"/>
                <a:ext cx="698"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94" name="Rectangle 262"/>
            <p:cNvSpPr>
              <a:spLocks noChangeArrowheads="1"/>
            </p:cNvSpPr>
            <p:nvPr/>
          </p:nvSpPr>
          <p:spPr bwMode="auto">
            <a:xfrm>
              <a:off x="4221" y="1355"/>
              <a:ext cx="592"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295" name="Rectangle 263"/>
            <p:cNvSpPr>
              <a:spLocks noChangeArrowheads="1"/>
            </p:cNvSpPr>
            <p:nvPr/>
          </p:nvSpPr>
          <p:spPr bwMode="auto">
            <a:xfrm>
              <a:off x="4226" y="1654"/>
              <a:ext cx="597"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296" name="Group 264"/>
            <p:cNvGrpSpPr/>
            <p:nvPr/>
          </p:nvGrpSpPr>
          <p:grpSpPr bwMode="auto">
            <a:xfrm>
              <a:off x="4735" y="1627"/>
              <a:ext cx="582" cy="151"/>
              <a:chOff x="614" y="2568"/>
              <a:chExt cx="725" cy="139"/>
            </a:xfrm>
          </p:grpSpPr>
          <p:sp>
            <p:nvSpPr>
              <p:cNvPr id="312" name="AutoShape 265"/>
              <p:cNvSpPr>
                <a:spLocks noChangeArrowheads="1"/>
              </p:cNvSpPr>
              <p:nvPr/>
            </p:nvSpPr>
            <p:spPr bwMode="auto">
              <a:xfrm>
                <a:off x="616" y="2576"/>
                <a:ext cx="717" cy="132"/>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13" name="AutoShape 266"/>
              <p:cNvSpPr>
                <a:spLocks noChangeArrowheads="1"/>
              </p:cNvSpPr>
              <p:nvPr/>
            </p:nvSpPr>
            <p:spPr bwMode="auto">
              <a:xfrm>
                <a:off x="630" y="2587"/>
                <a:ext cx="683"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97"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298" name="Group 268"/>
            <p:cNvGrpSpPr/>
            <p:nvPr/>
          </p:nvGrpSpPr>
          <p:grpSpPr bwMode="auto">
            <a:xfrm>
              <a:off x="4739" y="1327"/>
              <a:ext cx="582" cy="139"/>
              <a:chOff x="614" y="2568"/>
              <a:chExt cx="725" cy="139"/>
            </a:xfrm>
          </p:grpSpPr>
          <p:sp>
            <p:nvSpPr>
              <p:cNvPr id="310" name="AutoShape 269"/>
              <p:cNvSpPr>
                <a:spLocks noChangeArrowheads="1"/>
              </p:cNvSpPr>
              <p:nvPr/>
            </p:nvSpPr>
            <p:spPr bwMode="auto">
              <a:xfrm>
                <a:off x="611" y="2566"/>
                <a:ext cx="730" cy="143"/>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11" name="AutoShape 270"/>
              <p:cNvSpPr>
                <a:spLocks noChangeArrowheads="1"/>
              </p:cNvSpPr>
              <p:nvPr/>
            </p:nvSpPr>
            <p:spPr bwMode="auto">
              <a:xfrm>
                <a:off x="631"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299" name="Rectangle 271"/>
            <p:cNvSpPr>
              <a:spLocks noChangeArrowheads="1"/>
            </p:cNvSpPr>
            <p:nvPr/>
          </p:nvSpPr>
          <p:spPr bwMode="auto">
            <a:xfrm>
              <a:off x="5248" y="429"/>
              <a:ext cx="70"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00"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01"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02" name="Oval 274"/>
            <p:cNvSpPr>
              <a:spLocks noChangeArrowheads="1"/>
            </p:cNvSpPr>
            <p:nvPr/>
          </p:nvSpPr>
          <p:spPr bwMode="auto">
            <a:xfrm>
              <a:off x="5517" y="2610"/>
              <a:ext cx="48" cy="96"/>
            </a:xfrm>
            <a:prstGeom prst="ellipse">
              <a:avLst/>
            </a:prstGeom>
            <a:solidFill>
              <a:srgbClr val="3333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03"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04" name="AutoShape 276"/>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05" name="AutoShape 277"/>
            <p:cNvSpPr>
              <a:spLocks noChangeArrowheads="1"/>
            </p:cNvSpPr>
            <p:nvPr/>
          </p:nvSpPr>
          <p:spPr bwMode="auto">
            <a:xfrm>
              <a:off x="4205" y="2711"/>
              <a:ext cx="1070"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06" name="Oval 278"/>
            <p:cNvSpPr>
              <a:spLocks noChangeArrowheads="1"/>
            </p:cNvSpPr>
            <p:nvPr/>
          </p:nvSpPr>
          <p:spPr bwMode="auto">
            <a:xfrm>
              <a:off x="4307" y="2383"/>
              <a:ext cx="161" cy="143"/>
            </a:xfrm>
            <a:prstGeom prst="ellipse">
              <a:avLst/>
            </a:prstGeom>
            <a:solidFill>
              <a:srgbClr val="33CC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07" name="Oval 279"/>
            <p:cNvSpPr>
              <a:spLocks noChangeArrowheads="1"/>
            </p:cNvSpPr>
            <p:nvPr/>
          </p:nvSpPr>
          <p:spPr bwMode="auto">
            <a:xfrm>
              <a:off x="4484" y="2383"/>
              <a:ext cx="161" cy="143"/>
            </a:xfrm>
            <a:prstGeom prst="ellipse">
              <a:avLst/>
            </a:prstGeom>
            <a:solidFill>
              <a:srgbClr val="FF0000"/>
            </a:solidFill>
            <a:ln>
              <a:noFill/>
            </a:ln>
            <a:effec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08" name="Oval 280"/>
            <p:cNvSpPr>
              <a:spLocks noChangeArrowheads="1"/>
            </p:cNvSpPr>
            <p:nvPr/>
          </p:nvSpPr>
          <p:spPr bwMode="auto">
            <a:xfrm>
              <a:off x="4662" y="2383"/>
              <a:ext cx="156" cy="137"/>
            </a:xfrm>
            <a:prstGeom prst="ellipse">
              <a:avLst/>
            </a:prstGeom>
            <a:solidFill>
              <a:srgbClr val="33CC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09" name="Rectangle 281"/>
            <p:cNvSpPr>
              <a:spLocks noChangeArrowheads="1"/>
            </p:cNvSpPr>
            <p:nvPr/>
          </p:nvSpPr>
          <p:spPr bwMode="auto">
            <a:xfrm>
              <a:off x="5060" y="1833"/>
              <a:ext cx="86" cy="765"/>
            </a:xfrm>
            <a:prstGeom prst="rect">
              <a:avLst/>
            </a:prstGeom>
            <a:solidFill>
              <a:srgbClr val="292929"/>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grpSp>
        <p:nvGrpSpPr>
          <p:cNvPr id="318" name="Group 249"/>
          <p:cNvGrpSpPr/>
          <p:nvPr/>
        </p:nvGrpSpPr>
        <p:grpSpPr bwMode="auto">
          <a:xfrm>
            <a:off x="8281194" y="5430326"/>
            <a:ext cx="344487" cy="638175"/>
            <a:chOff x="4140" y="429"/>
            <a:chExt cx="1425" cy="2396"/>
          </a:xfrm>
        </p:grpSpPr>
        <p:sp>
          <p:nvSpPr>
            <p:cNvPr id="319"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20" name="Rectangle 251"/>
            <p:cNvSpPr>
              <a:spLocks noChangeArrowheads="1"/>
            </p:cNvSpPr>
            <p:nvPr/>
          </p:nvSpPr>
          <p:spPr bwMode="auto">
            <a:xfrm>
              <a:off x="4206" y="429"/>
              <a:ext cx="1044" cy="2283"/>
            </a:xfrm>
            <a:prstGeom prst="rect">
              <a:avLst/>
            </a:prstGeom>
            <a:gradFill rotWithShape="1">
              <a:gsLst>
                <a:gs pos="0">
                  <a:srgbClr val="292929"/>
                </a:gs>
                <a:gs pos="100000">
                  <a:srgbClr val="808080"/>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21"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22"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23" name="Rectangle 254"/>
            <p:cNvSpPr>
              <a:spLocks noChangeArrowheads="1"/>
            </p:cNvSpPr>
            <p:nvPr/>
          </p:nvSpPr>
          <p:spPr bwMode="auto">
            <a:xfrm>
              <a:off x="4212" y="691"/>
              <a:ext cx="598"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324" name="Group 255"/>
            <p:cNvGrpSpPr/>
            <p:nvPr/>
          </p:nvGrpSpPr>
          <p:grpSpPr bwMode="auto">
            <a:xfrm>
              <a:off x="4749" y="668"/>
              <a:ext cx="581" cy="145"/>
              <a:chOff x="614" y="2568"/>
              <a:chExt cx="725" cy="139"/>
            </a:xfrm>
          </p:grpSpPr>
          <p:sp>
            <p:nvSpPr>
              <p:cNvPr id="349" name="AutoShape 256"/>
              <p:cNvSpPr>
                <a:spLocks noChangeArrowheads="1"/>
              </p:cNvSpPr>
              <p:nvPr/>
            </p:nvSpPr>
            <p:spPr bwMode="auto">
              <a:xfrm>
                <a:off x="616" y="2567"/>
                <a:ext cx="721" cy="126"/>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50" name="AutoShape 257"/>
              <p:cNvSpPr>
                <a:spLocks noChangeArrowheads="1"/>
              </p:cNvSpPr>
              <p:nvPr/>
            </p:nvSpPr>
            <p:spPr bwMode="auto">
              <a:xfrm>
                <a:off x="633"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325" name="Rectangle 258"/>
            <p:cNvSpPr>
              <a:spLocks noChangeArrowheads="1"/>
            </p:cNvSpPr>
            <p:nvPr/>
          </p:nvSpPr>
          <p:spPr bwMode="auto">
            <a:xfrm>
              <a:off x="4225" y="1019"/>
              <a:ext cx="591"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326" name="Group 259"/>
            <p:cNvGrpSpPr/>
            <p:nvPr/>
          </p:nvGrpSpPr>
          <p:grpSpPr bwMode="auto">
            <a:xfrm>
              <a:off x="4747" y="994"/>
              <a:ext cx="581" cy="134"/>
              <a:chOff x="614" y="2568"/>
              <a:chExt cx="725" cy="139"/>
            </a:xfrm>
          </p:grpSpPr>
          <p:sp>
            <p:nvSpPr>
              <p:cNvPr id="347" name="AutoShape 260"/>
              <p:cNvSpPr>
                <a:spLocks noChangeArrowheads="1"/>
              </p:cNvSpPr>
              <p:nvPr/>
            </p:nvSpPr>
            <p:spPr bwMode="auto">
              <a:xfrm>
                <a:off x="610" y="2569"/>
                <a:ext cx="729" cy="136"/>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48" name="AutoShape 261"/>
              <p:cNvSpPr>
                <a:spLocks noChangeArrowheads="1"/>
              </p:cNvSpPr>
              <p:nvPr/>
            </p:nvSpPr>
            <p:spPr bwMode="auto">
              <a:xfrm>
                <a:off x="619" y="2588"/>
                <a:ext cx="69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327" name="Rectangle 262"/>
            <p:cNvSpPr>
              <a:spLocks noChangeArrowheads="1"/>
            </p:cNvSpPr>
            <p:nvPr/>
          </p:nvSpPr>
          <p:spPr bwMode="auto">
            <a:xfrm>
              <a:off x="4219" y="1359"/>
              <a:ext cx="591"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28" name="Rectangle 263"/>
            <p:cNvSpPr>
              <a:spLocks noChangeArrowheads="1"/>
            </p:cNvSpPr>
            <p:nvPr/>
          </p:nvSpPr>
          <p:spPr bwMode="auto">
            <a:xfrm>
              <a:off x="4225" y="1657"/>
              <a:ext cx="598" cy="42"/>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329" name="Group 264"/>
            <p:cNvGrpSpPr/>
            <p:nvPr/>
          </p:nvGrpSpPr>
          <p:grpSpPr bwMode="auto">
            <a:xfrm>
              <a:off x="4735" y="1627"/>
              <a:ext cx="582" cy="151"/>
              <a:chOff x="614" y="2568"/>
              <a:chExt cx="725" cy="139"/>
            </a:xfrm>
          </p:grpSpPr>
          <p:sp>
            <p:nvSpPr>
              <p:cNvPr id="345" name="AutoShape 265"/>
              <p:cNvSpPr>
                <a:spLocks noChangeArrowheads="1"/>
              </p:cNvSpPr>
              <p:nvPr/>
            </p:nvSpPr>
            <p:spPr bwMode="auto">
              <a:xfrm>
                <a:off x="617" y="2568"/>
                <a:ext cx="712" cy="137"/>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46" name="AutoShape 266"/>
              <p:cNvSpPr>
                <a:spLocks noChangeArrowheads="1"/>
              </p:cNvSpPr>
              <p:nvPr/>
            </p:nvSpPr>
            <p:spPr bwMode="auto">
              <a:xfrm>
                <a:off x="634" y="2584"/>
                <a:ext cx="679"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330"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331" name="Group 268"/>
            <p:cNvGrpSpPr/>
            <p:nvPr/>
          </p:nvGrpSpPr>
          <p:grpSpPr bwMode="auto">
            <a:xfrm>
              <a:off x="4739" y="1327"/>
              <a:ext cx="582" cy="139"/>
              <a:chOff x="614" y="2568"/>
              <a:chExt cx="725" cy="139"/>
            </a:xfrm>
          </p:grpSpPr>
          <p:sp>
            <p:nvSpPr>
              <p:cNvPr id="343" name="AutoShape 269"/>
              <p:cNvSpPr>
                <a:spLocks noChangeArrowheads="1"/>
              </p:cNvSpPr>
              <p:nvPr/>
            </p:nvSpPr>
            <p:spPr bwMode="auto">
              <a:xfrm>
                <a:off x="612" y="2570"/>
                <a:ext cx="728" cy="137"/>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44" name="AutoShape 270"/>
              <p:cNvSpPr>
                <a:spLocks noChangeArrowheads="1"/>
              </p:cNvSpPr>
              <p:nvPr/>
            </p:nvSpPr>
            <p:spPr bwMode="auto">
              <a:xfrm>
                <a:off x="629"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332" name="Rectangle 271"/>
            <p:cNvSpPr>
              <a:spLocks noChangeArrowheads="1"/>
            </p:cNvSpPr>
            <p:nvPr/>
          </p:nvSpPr>
          <p:spPr bwMode="auto">
            <a:xfrm>
              <a:off x="5250" y="429"/>
              <a:ext cx="66"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33"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34"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35" name="Oval 274"/>
            <p:cNvSpPr>
              <a:spLocks noChangeArrowheads="1"/>
            </p:cNvSpPr>
            <p:nvPr/>
          </p:nvSpPr>
          <p:spPr bwMode="auto">
            <a:xfrm>
              <a:off x="5519" y="2610"/>
              <a:ext cx="46" cy="95"/>
            </a:xfrm>
            <a:prstGeom prst="ellipse">
              <a:avLst/>
            </a:prstGeom>
            <a:solidFill>
              <a:srgbClr val="3333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36"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37" name="AutoShape 276"/>
            <p:cNvSpPr>
              <a:spLocks noChangeArrowheads="1"/>
            </p:cNvSpPr>
            <p:nvPr/>
          </p:nvSpPr>
          <p:spPr bwMode="auto">
            <a:xfrm>
              <a:off x="4140" y="2682"/>
              <a:ext cx="1202" cy="143"/>
            </a:xfrm>
            <a:prstGeom prst="roundRect">
              <a:avLst>
                <a:gd name="adj" fmla="val 50000"/>
              </a:avLst>
            </a:prstGeom>
            <a:solidFill>
              <a:srgbClr val="DDDDDD"/>
            </a:solidFill>
            <a:ln w="9525">
              <a:solidFill>
                <a:srgbClr val="000000"/>
              </a:solidFill>
              <a:round/>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38" name="AutoShape 277"/>
            <p:cNvSpPr>
              <a:spLocks noChangeArrowheads="1"/>
            </p:cNvSpPr>
            <p:nvPr/>
          </p:nvSpPr>
          <p:spPr bwMode="auto">
            <a:xfrm>
              <a:off x="4206" y="2712"/>
              <a:ext cx="1070"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39" name="Oval 278"/>
            <p:cNvSpPr>
              <a:spLocks noChangeArrowheads="1"/>
            </p:cNvSpPr>
            <p:nvPr/>
          </p:nvSpPr>
          <p:spPr bwMode="auto">
            <a:xfrm>
              <a:off x="4304" y="2384"/>
              <a:ext cx="164" cy="143"/>
            </a:xfrm>
            <a:prstGeom prst="ellipse">
              <a:avLst/>
            </a:prstGeom>
            <a:solidFill>
              <a:srgbClr val="33CC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40" name="Oval 279"/>
            <p:cNvSpPr>
              <a:spLocks noChangeArrowheads="1"/>
            </p:cNvSpPr>
            <p:nvPr/>
          </p:nvSpPr>
          <p:spPr bwMode="auto">
            <a:xfrm>
              <a:off x="4488" y="2384"/>
              <a:ext cx="158" cy="143"/>
            </a:xfrm>
            <a:prstGeom prst="ellipse">
              <a:avLst/>
            </a:prstGeom>
            <a:solidFill>
              <a:srgbClr val="FF0000"/>
            </a:solidFill>
            <a:ln>
              <a:noFill/>
            </a:ln>
            <a:effec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41" name="Oval 280"/>
            <p:cNvSpPr>
              <a:spLocks noChangeArrowheads="1"/>
            </p:cNvSpPr>
            <p:nvPr/>
          </p:nvSpPr>
          <p:spPr bwMode="auto">
            <a:xfrm>
              <a:off x="4659" y="2378"/>
              <a:ext cx="158" cy="143"/>
            </a:xfrm>
            <a:prstGeom prst="ellipse">
              <a:avLst/>
            </a:prstGeom>
            <a:solidFill>
              <a:srgbClr val="33CC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42" name="Rectangle 281"/>
            <p:cNvSpPr>
              <a:spLocks noChangeArrowheads="1"/>
            </p:cNvSpPr>
            <p:nvPr/>
          </p:nvSpPr>
          <p:spPr bwMode="auto">
            <a:xfrm>
              <a:off x="5059" y="1836"/>
              <a:ext cx="85" cy="763"/>
            </a:xfrm>
            <a:prstGeom prst="rect">
              <a:avLst/>
            </a:prstGeom>
            <a:solidFill>
              <a:srgbClr val="292929"/>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grpSp>
        <p:nvGrpSpPr>
          <p:cNvPr id="351" name="Group 249"/>
          <p:cNvGrpSpPr/>
          <p:nvPr/>
        </p:nvGrpSpPr>
        <p:grpSpPr bwMode="auto">
          <a:xfrm>
            <a:off x="7550944" y="3671376"/>
            <a:ext cx="342900" cy="636587"/>
            <a:chOff x="4140" y="429"/>
            <a:chExt cx="1425" cy="2396"/>
          </a:xfrm>
        </p:grpSpPr>
        <p:sp>
          <p:nvSpPr>
            <p:cNvPr id="352"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53" name="Rectangle 251"/>
            <p:cNvSpPr>
              <a:spLocks noChangeArrowheads="1"/>
            </p:cNvSpPr>
            <p:nvPr/>
          </p:nvSpPr>
          <p:spPr bwMode="auto">
            <a:xfrm>
              <a:off x="4206" y="429"/>
              <a:ext cx="1049" cy="2282"/>
            </a:xfrm>
            <a:prstGeom prst="rect">
              <a:avLst/>
            </a:prstGeom>
            <a:gradFill rotWithShape="1">
              <a:gsLst>
                <a:gs pos="0">
                  <a:srgbClr val="292929"/>
                </a:gs>
                <a:gs pos="100000">
                  <a:srgbClr val="808080"/>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54"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55"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56" name="Rectangle 254"/>
            <p:cNvSpPr>
              <a:spLocks noChangeArrowheads="1"/>
            </p:cNvSpPr>
            <p:nvPr/>
          </p:nvSpPr>
          <p:spPr bwMode="auto">
            <a:xfrm>
              <a:off x="4213" y="692"/>
              <a:ext cx="594"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357" name="Group 255"/>
            <p:cNvGrpSpPr/>
            <p:nvPr/>
          </p:nvGrpSpPr>
          <p:grpSpPr bwMode="auto">
            <a:xfrm>
              <a:off x="4749" y="668"/>
              <a:ext cx="581" cy="145"/>
              <a:chOff x="614" y="2568"/>
              <a:chExt cx="725" cy="139"/>
            </a:xfrm>
          </p:grpSpPr>
          <p:sp>
            <p:nvSpPr>
              <p:cNvPr id="382" name="AutoShape 256"/>
              <p:cNvSpPr>
                <a:spLocks noChangeArrowheads="1"/>
              </p:cNvSpPr>
              <p:nvPr/>
            </p:nvSpPr>
            <p:spPr bwMode="auto">
              <a:xfrm>
                <a:off x="611" y="2568"/>
                <a:ext cx="724" cy="137"/>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83" name="AutoShape 257"/>
              <p:cNvSpPr>
                <a:spLocks noChangeArrowheads="1"/>
              </p:cNvSpPr>
              <p:nvPr/>
            </p:nvSpPr>
            <p:spPr bwMode="auto">
              <a:xfrm>
                <a:off x="628" y="2585"/>
                <a:ext cx="692"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358" name="Rectangle 258"/>
            <p:cNvSpPr>
              <a:spLocks noChangeArrowheads="1"/>
            </p:cNvSpPr>
            <p:nvPr/>
          </p:nvSpPr>
          <p:spPr bwMode="auto">
            <a:xfrm>
              <a:off x="4226" y="1021"/>
              <a:ext cx="594"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359" name="Group 259"/>
            <p:cNvGrpSpPr/>
            <p:nvPr/>
          </p:nvGrpSpPr>
          <p:grpSpPr bwMode="auto">
            <a:xfrm>
              <a:off x="4747" y="994"/>
              <a:ext cx="581" cy="134"/>
              <a:chOff x="614" y="2568"/>
              <a:chExt cx="725" cy="139"/>
            </a:xfrm>
          </p:grpSpPr>
          <p:sp>
            <p:nvSpPr>
              <p:cNvPr id="380" name="AutoShape 260"/>
              <p:cNvSpPr>
                <a:spLocks noChangeArrowheads="1"/>
              </p:cNvSpPr>
              <p:nvPr/>
            </p:nvSpPr>
            <p:spPr bwMode="auto">
              <a:xfrm>
                <a:off x="614" y="2571"/>
                <a:ext cx="724" cy="136"/>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81" name="AutoShape 261"/>
              <p:cNvSpPr>
                <a:spLocks noChangeArrowheads="1"/>
              </p:cNvSpPr>
              <p:nvPr/>
            </p:nvSpPr>
            <p:spPr bwMode="auto">
              <a:xfrm>
                <a:off x="622" y="2589"/>
                <a:ext cx="692"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360" name="Rectangle 262"/>
            <p:cNvSpPr>
              <a:spLocks noChangeArrowheads="1"/>
            </p:cNvSpPr>
            <p:nvPr/>
          </p:nvSpPr>
          <p:spPr bwMode="auto">
            <a:xfrm>
              <a:off x="4219" y="1355"/>
              <a:ext cx="594"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61" name="Rectangle 263"/>
            <p:cNvSpPr>
              <a:spLocks noChangeArrowheads="1"/>
            </p:cNvSpPr>
            <p:nvPr/>
          </p:nvSpPr>
          <p:spPr bwMode="auto">
            <a:xfrm>
              <a:off x="4226" y="1654"/>
              <a:ext cx="600" cy="48"/>
            </a:xfrm>
            <a:prstGeom prst="rect">
              <a:avLst/>
            </a:prstGeom>
            <a:solidFill>
              <a:srgbClr val="000000"/>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362" name="Group 264"/>
            <p:cNvGrpSpPr/>
            <p:nvPr/>
          </p:nvGrpSpPr>
          <p:grpSpPr bwMode="auto">
            <a:xfrm>
              <a:off x="4735" y="1627"/>
              <a:ext cx="582" cy="151"/>
              <a:chOff x="614" y="2568"/>
              <a:chExt cx="725" cy="139"/>
            </a:xfrm>
          </p:grpSpPr>
          <p:sp>
            <p:nvSpPr>
              <p:cNvPr id="378" name="AutoShape 265"/>
              <p:cNvSpPr>
                <a:spLocks noChangeArrowheads="1"/>
              </p:cNvSpPr>
              <p:nvPr/>
            </p:nvSpPr>
            <p:spPr bwMode="auto">
              <a:xfrm>
                <a:off x="612" y="2576"/>
                <a:ext cx="715" cy="132"/>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79" name="AutoShape 266"/>
              <p:cNvSpPr>
                <a:spLocks noChangeArrowheads="1"/>
              </p:cNvSpPr>
              <p:nvPr/>
            </p:nvSpPr>
            <p:spPr bwMode="auto">
              <a:xfrm>
                <a:off x="629" y="2587"/>
                <a:ext cx="68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363"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nvGrpSpPr>
            <p:cNvPr id="364" name="Group 268"/>
            <p:cNvGrpSpPr/>
            <p:nvPr/>
          </p:nvGrpSpPr>
          <p:grpSpPr bwMode="auto">
            <a:xfrm>
              <a:off x="4739" y="1327"/>
              <a:ext cx="582" cy="139"/>
              <a:chOff x="614" y="2568"/>
              <a:chExt cx="725" cy="139"/>
            </a:xfrm>
          </p:grpSpPr>
          <p:sp>
            <p:nvSpPr>
              <p:cNvPr id="376" name="AutoShape 269"/>
              <p:cNvSpPr>
                <a:spLocks noChangeArrowheads="1"/>
              </p:cNvSpPr>
              <p:nvPr/>
            </p:nvSpPr>
            <p:spPr bwMode="auto">
              <a:xfrm>
                <a:off x="616" y="2566"/>
                <a:ext cx="723" cy="143"/>
              </a:xfrm>
              <a:prstGeom prst="roundRect">
                <a:avLst>
                  <a:gd name="adj" fmla="val 50000"/>
                </a:avLst>
              </a:prstGeom>
              <a:solidFill>
                <a:srgbClr val="000000"/>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77" name="AutoShape 270"/>
              <p:cNvSpPr>
                <a:spLocks noChangeArrowheads="1"/>
              </p:cNvSpPr>
              <p:nvPr/>
            </p:nvSpPr>
            <p:spPr bwMode="auto">
              <a:xfrm>
                <a:off x="632"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365" name="Rectangle 271"/>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66"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67"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68" name="Oval 274"/>
            <p:cNvSpPr>
              <a:spLocks noChangeArrowheads="1"/>
            </p:cNvSpPr>
            <p:nvPr/>
          </p:nvSpPr>
          <p:spPr bwMode="auto">
            <a:xfrm>
              <a:off x="5519" y="2610"/>
              <a:ext cx="46" cy="96"/>
            </a:xfrm>
            <a:prstGeom prst="ellipse">
              <a:avLst/>
            </a:prstGeom>
            <a:solidFill>
              <a:srgbClr val="3333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69"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70" name="AutoShape 276"/>
            <p:cNvSpPr>
              <a:spLocks noChangeArrowheads="1"/>
            </p:cNvSpPr>
            <p:nvPr/>
          </p:nvSpPr>
          <p:spPr bwMode="auto">
            <a:xfrm>
              <a:off x="4140" y="2682"/>
              <a:ext cx="1201" cy="143"/>
            </a:xfrm>
            <a:prstGeom prst="roundRect">
              <a:avLst>
                <a:gd name="adj" fmla="val 50000"/>
              </a:avLst>
            </a:prstGeom>
            <a:solidFill>
              <a:srgbClr val="DDDDDD"/>
            </a:solidFill>
            <a:ln w="9525">
              <a:solidFill>
                <a:srgbClr val="000000"/>
              </a:solidFill>
              <a:round/>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71" name="AutoShape 277"/>
            <p:cNvSpPr>
              <a:spLocks noChangeArrowheads="1"/>
            </p:cNvSpPr>
            <p:nvPr/>
          </p:nvSpPr>
          <p:spPr bwMode="auto">
            <a:xfrm>
              <a:off x="4206" y="2711"/>
              <a:ext cx="1069"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72" name="Oval 278"/>
            <p:cNvSpPr>
              <a:spLocks noChangeArrowheads="1"/>
            </p:cNvSpPr>
            <p:nvPr/>
          </p:nvSpPr>
          <p:spPr bwMode="auto">
            <a:xfrm>
              <a:off x="4305" y="2383"/>
              <a:ext cx="165" cy="143"/>
            </a:xfrm>
            <a:prstGeom prst="ellipse">
              <a:avLst/>
            </a:prstGeom>
            <a:solidFill>
              <a:srgbClr val="33CC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73" name="Oval 279"/>
            <p:cNvSpPr>
              <a:spLocks noChangeArrowheads="1"/>
            </p:cNvSpPr>
            <p:nvPr/>
          </p:nvSpPr>
          <p:spPr bwMode="auto">
            <a:xfrm>
              <a:off x="4483" y="2383"/>
              <a:ext cx="165" cy="143"/>
            </a:xfrm>
            <a:prstGeom prst="ellipse">
              <a:avLst/>
            </a:prstGeom>
            <a:solidFill>
              <a:srgbClr val="FF0000"/>
            </a:solidFill>
            <a:ln>
              <a:noFill/>
            </a:ln>
            <a:effec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74" name="Oval 280"/>
            <p:cNvSpPr>
              <a:spLocks noChangeArrowheads="1"/>
            </p:cNvSpPr>
            <p:nvPr/>
          </p:nvSpPr>
          <p:spPr bwMode="auto">
            <a:xfrm>
              <a:off x="4661" y="2383"/>
              <a:ext cx="158" cy="137"/>
            </a:xfrm>
            <a:prstGeom prst="ellipse">
              <a:avLst/>
            </a:prstGeom>
            <a:solidFill>
              <a:srgbClr val="33CC33"/>
            </a:solidFill>
            <a:ln>
              <a:noFill/>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75" name="Rectangle 281"/>
            <p:cNvSpPr>
              <a:spLocks noChangeArrowheads="1"/>
            </p:cNvSpPr>
            <p:nvPr/>
          </p:nvSpPr>
          <p:spPr bwMode="auto">
            <a:xfrm>
              <a:off x="5064" y="1833"/>
              <a:ext cx="79" cy="765"/>
            </a:xfrm>
            <a:prstGeom prst="rect">
              <a:avLst/>
            </a:prstGeom>
            <a:solidFill>
              <a:srgbClr val="292929"/>
            </a:solidFill>
            <a:ln w="9525">
              <a:solidFill>
                <a:srgbClr val="000000"/>
              </a:solidFill>
              <a:miter lim="800000"/>
            </a:ln>
            <a:effec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384" name="TextBox 182"/>
          <p:cNvSpPr txBox="1">
            <a:spLocks noChangeArrowheads="1"/>
          </p:cNvSpPr>
          <p:nvPr/>
        </p:nvSpPr>
        <p:spPr bwMode="auto">
          <a:xfrm>
            <a:off x="5607844" y="6073263"/>
            <a:ext cx="1420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20000"/>
              </a:spcBef>
              <a:spcAft>
                <a:spcPct val="0"/>
              </a:spcAft>
              <a:buClr>
                <a:srgbClr val="3333CC"/>
              </a:buClr>
              <a:buSzPct val="85000"/>
              <a:buFont typeface="ZapfDingbats" pitchFamily="82" charset="2"/>
              <a:buNone/>
            </a:pPr>
            <a:r>
              <a:rPr lang="en-US" altLang="en-US" sz="1800">
                <a:solidFill>
                  <a:srgbClr val="000000"/>
                </a:solidFill>
                <a:latin typeface="Arial Narrow" panose="020B0606020202030204" pitchFamily="34" charset="0"/>
                <a:cs typeface="Arial" panose="020B0604020202020204"/>
              </a:rPr>
              <a:t>KingCDN.com</a:t>
            </a:r>
            <a:endParaRPr lang="en-US" altLang="en-US" sz="1800" i="1">
              <a:solidFill>
                <a:srgbClr val="000000"/>
              </a:solidFill>
              <a:latin typeface="Arial Narrow" panose="020B0606020202030204" pitchFamily="34" charset="0"/>
              <a:cs typeface="Arial" panose="020B0604020202020204"/>
            </a:endParaRPr>
          </a:p>
        </p:txBody>
      </p:sp>
      <p:pic>
        <p:nvPicPr>
          <p:cNvPr id="385" name="Picture 7" descr="Bob"/>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87369" y="2274376"/>
            <a:ext cx="533400" cy="544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86" name="Group 385"/>
          <p:cNvGrpSpPr/>
          <p:nvPr/>
        </p:nvGrpSpPr>
        <p:grpSpPr bwMode="auto">
          <a:xfrm>
            <a:off x="4318794" y="2918901"/>
            <a:ext cx="1628775" cy="1063625"/>
            <a:chOff x="1490926" y="3037262"/>
            <a:chExt cx="1628976" cy="1063042"/>
          </a:xfrm>
        </p:grpSpPr>
        <p:cxnSp>
          <p:nvCxnSpPr>
            <p:cNvPr id="387" name="Straight Arrow Connector 44"/>
            <p:cNvCxnSpPr>
              <a:cxnSpLocks noChangeShapeType="1"/>
            </p:cNvCxnSpPr>
            <p:nvPr/>
          </p:nvCxnSpPr>
          <p:spPr bwMode="auto">
            <a:xfrm flipH="1">
              <a:off x="1490926" y="3037262"/>
              <a:ext cx="1628976" cy="1063042"/>
            </a:xfrm>
            <a:prstGeom prst="straightConnector1">
              <a:avLst/>
            </a:prstGeom>
            <a:noFill/>
            <a:ln w="25400">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88" name="Group 61441"/>
            <p:cNvGrpSpPr/>
            <p:nvPr/>
          </p:nvGrpSpPr>
          <p:grpSpPr bwMode="auto">
            <a:xfrm>
              <a:off x="2056927" y="3410016"/>
              <a:ext cx="317511" cy="345125"/>
              <a:chOff x="7454630" y="3313376"/>
              <a:chExt cx="317511" cy="345125"/>
            </a:xfrm>
          </p:grpSpPr>
          <p:sp>
            <p:nvSpPr>
              <p:cNvPr id="389" name="Oval 61440"/>
              <p:cNvSpPr>
                <a:spLocks noChangeArrowheads="1"/>
              </p:cNvSpPr>
              <p:nvPr/>
            </p:nvSpPr>
            <p:spPr bwMode="auto">
              <a:xfrm>
                <a:off x="7468434" y="3354794"/>
                <a:ext cx="303707" cy="303707"/>
              </a:xfrm>
              <a:prstGeom prst="ellipse">
                <a:avLst/>
              </a:prstGeom>
              <a:solidFill>
                <a:srgbClr val="FFFFFF"/>
              </a:solidFill>
              <a:ln w="15875">
                <a:solidFill>
                  <a:srgbClr val="000000"/>
                </a:solidFill>
                <a:round/>
              </a:ln>
            </p:spPr>
            <p:txBody>
              <a:bodyPr wrap="none"/>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90" name="TextBox 61439"/>
              <p:cNvSpPr txBox="1">
                <a:spLocks noChangeArrowheads="1"/>
              </p:cNvSpPr>
              <p:nvPr/>
            </p:nvSpPr>
            <p:spPr bwMode="auto">
              <a:xfrm>
                <a:off x="7454630" y="3313376"/>
                <a:ext cx="298817" cy="338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rPr>
                  <a:t>1</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grpSp>
      <p:sp>
        <p:nvSpPr>
          <p:cNvPr id="391" name="TextBox 390"/>
          <p:cNvSpPr txBox="1">
            <a:spLocks noChangeArrowheads="1"/>
          </p:cNvSpPr>
          <p:nvPr/>
        </p:nvSpPr>
        <p:spPr bwMode="auto">
          <a:xfrm>
            <a:off x="3091656" y="2344226"/>
            <a:ext cx="2862263"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ts val="200"/>
              </a:spcBef>
              <a:spcAft>
                <a:spcPct val="0"/>
              </a:spcAft>
              <a:buClr>
                <a:srgbClr val="3333CC"/>
              </a:buClr>
              <a:buSzPct val="85000"/>
              <a:buFont typeface="ZapfDingbats" pitchFamily="82" charset="2"/>
              <a:buNone/>
            </a:pPr>
            <a:r>
              <a:rPr lang="en-US" altLang="en-US" sz="1600">
                <a:solidFill>
                  <a:srgbClr val="000000"/>
                </a:solidFill>
                <a:latin typeface="Arial Narrow" panose="020B0606020202030204" pitchFamily="34" charset="0"/>
                <a:cs typeface="Arial" panose="020B0604020202020204"/>
              </a:rPr>
              <a:t>1. Bob gets URL for video http://netcinema.com/6Y7B23V</a:t>
            </a:r>
            <a:endParaRPr lang="en-US" altLang="en-US" sz="1600">
              <a:solidFill>
                <a:srgbClr val="000000"/>
              </a:solidFill>
              <a:latin typeface="Arial Narrow" panose="020B0606020202030204" pitchFamily="34" charset="0"/>
              <a:cs typeface="Arial" panose="020B0604020202020204"/>
            </a:endParaRPr>
          </a:p>
          <a:p>
            <a:pPr eaLnBrk="0" fontAlgn="base" hangingPunct="0">
              <a:spcBef>
                <a:spcPts val="200"/>
              </a:spcBef>
              <a:spcAft>
                <a:spcPct val="0"/>
              </a:spcAft>
              <a:buClr>
                <a:srgbClr val="3333CC"/>
              </a:buClr>
              <a:buSzPct val="85000"/>
              <a:buFont typeface="ZapfDingbats" pitchFamily="82" charset="2"/>
              <a:buNone/>
            </a:pPr>
            <a:r>
              <a:rPr lang="en-US" altLang="en-US" sz="1600">
                <a:solidFill>
                  <a:srgbClr val="000000"/>
                </a:solidFill>
                <a:latin typeface="Arial Narrow" panose="020B0606020202030204" pitchFamily="34" charset="0"/>
                <a:cs typeface="Arial" panose="020B0604020202020204"/>
              </a:rPr>
              <a:t>from netcinema.com web page</a:t>
            </a:r>
            <a:endParaRPr lang="en-US" altLang="en-US" sz="1600">
              <a:solidFill>
                <a:srgbClr val="000000"/>
              </a:solidFill>
              <a:latin typeface="Arial Narrow" panose="020B0606020202030204" pitchFamily="34" charset="0"/>
              <a:cs typeface="Arial" panose="020B0604020202020204"/>
            </a:endParaRPr>
          </a:p>
        </p:txBody>
      </p:sp>
      <p:grpSp>
        <p:nvGrpSpPr>
          <p:cNvPr id="392" name="Group 391"/>
          <p:cNvGrpSpPr/>
          <p:nvPr/>
        </p:nvGrpSpPr>
        <p:grpSpPr bwMode="auto">
          <a:xfrm>
            <a:off x="6747669" y="3107813"/>
            <a:ext cx="714375" cy="684213"/>
            <a:chOff x="3924463" y="3239045"/>
            <a:chExt cx="713539" cy="684908"/>
          </a:xfrm>
        </p:grpSpPr>
        <p:cxnSp>
          <p:nvCxnSpPr>
            <p:cNvPr id="393" name="Straight Arrow Connector 193"/>
            <p:cNvCxnSpPr>
              <a:cxnSpLocks noChangeShapeType="1"/>
            </p:cNvCxnSpPr>
            <p:nvPr/>
          </p:nvCxnSpPr>
          <p:spPr bwMode="auto">
            <a:xfrm>
              <a:off x="3924463" y="3239045"/>
              <a:ext cx="713539" cy="684908"/>
            </a:xfrm>
            <a:prstGeom prst="straightConnector1">
              <a:avLst/>
            </a:prstGeom>
            <a:noFill/>
            <a:ln w="25400">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94" name="Group 194"/>
            <p:cNvGrpSpPr/>
            <p:nvPr/>
          </p:nvGrpSpPr>
          <p:grpSpPr bwMode="auto">
            <a:xfrm>
              <a:off x="4061324" y="3293627"/>
              <a:ext cx="322117" cy="358925"/>
              <a:chOff x="7408615" y="3244352"/>
              <a:chExt cx="322117" cy="358925"/>
            </a:xfrm>
          </p:grpSpPr>
          <p:sp>
            <p:nvSpPr>
              <p:cNvPr id="395" name="Oval 195"/>
              <p:cNvSpPr>
                <a:spLocks noChangeArrowheads="1"/>
              </p:cNvSpPr>
              <p:nvPr/>
            </p:nvSpPr>
            <p:spPr bwMode="auto">
              <a:xfrm>
                <a:off x="7427025" y="3299570"/>
                <a:ext cx="303707" cy="303707"/>
              </a:xfrm>
              <a:prstGeom prst="ellipse">
                <a:avLst/>
              </a:prstGeom>
              <a:solidFill>
                <a:srgbClr val="FFFFFF"/>
              </a:solidFill>
              <a:ln w="15875">
                <a:solidFill>
                  <a:srgbClr val="000000"/>
                </a:solidFill>
                <a:round/>
              </a:ln>
            </p:spPr>
            <p:txBody>
              <a:bodyPr wrap="none"/>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396" name="TextBox 196"/>
              <p:cNvSpPr txBox="1">
                <a:spLocks noChangeArrowheads="1"/>
              </p:cNvSpPr>
              <p:nvPr/>
            </p:nvSpPr>
            <p:spPr bwMode="auto">
              <a:xfrm>
                <a:off x="7408615" y="3244352"/>
                <a:ext cx="298431" cy="338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rPr>
                  <a:t>2</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grpSp>
      <p:sp>
        <p:nvSpPr>
          <p:cNvPr id="397" name="TextBox 396"/>
          <p:cNvSpPr txBox="1">
            <a:spLocks noChangeArrowheads="1"/>
          </p:cNvSpPr>
          <p:nvPr/>
        </p:nvSpPr>
        <p:spPr bwMode="auto">
          <a:xfrm>
            <a:off x="7200106" y="2863338"/>
            <a:ext cx="3849688"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pitchFamily="82" charset="2"/>
              <a:buNone/>
            </a:pPr>
            <a:r>
              <a:rPr lang="en-US" altLang="en-US" sz="1600">
                <a:solidFill>
                  <a:srgbClr val="000000"/>
                </a:solidFill>
                <a:latin typeface="Arial Narrow" panose="020B0606020202030204" pitchFamily="34" charset="0"/>
                <a:cs typeface="Arial" panose="020B0604020202020204"/>
              </a:rPr>
              <a:t>2. resolve http://netcinema.com/6Y7B23V</a:t>
            </a:r>
            <a:endParaRPr lang="en-US" altLang="en-US" sz="1600">
              <a:solidFill>
                <a:srgbClr val="000000"/>
              </a:solidFill>
              <a:latin typeface="Arial Narrow" panose="020B0606020202030204" pitchFamily="34" charset="0"/>
              <a:cs typeface="Arial" panose="020B0604020202020204"/>
            </a:endParaRPr>
          </a:p>
          <a:p>
            <a:pPr eaLnBrk="0" fontAlgn="base" hangingPunct="0">
              <a:lnSpc>
                <a:spcPts val="1600"/>
              </a:lnSpc>
              <a:spcBef>
                <a:spcPct val="20000"/>
              </a:spcBef>
              <a:spcAft>
                <a:spcPct val="0"/>
              </a:spcAft>
              <a:buClr>
                <a:srgbClr val="3333CC"/>
              </a:buClr>
              <a:buSzPct val="85000"/>
              <a:buFont typeface="ZapfDingbats" pitchFamily="82" charset="2"/>
              <a:buNone/>
            </a:pPr>
            <a:r>
              <a:rPr lang="en-US" altLang="en-US" sz="1600">
                <a:solidFill>
                  <a:srgbClr val="000000"/>
                </a:solidFill>
                <a:latin typeface="Arial Narrow" panose="020B0606020202030204" pitchFamily="34" charset="0"/>
                <a:cs typeface="Arial" panose="020B0604020202020204"/>
              </a:rPr>
              <a:t>via Bob’s local DNS</a:t>
            </a:r>
            <a:endParaRPr lang="en-US" altLang="en-US" sz="1600">
              <a:solidFill>
                <a:srgbClr val="000000"/>
              </a:solidFill>
              <a:latin typeface="Arial Narrow" panose="020B0606020202030204" pitchFamily="34" charset="0"/>
              <a:cs typeface="Arial" panose="020B0604020202020204"/>
            </a:endParaRPr>
          </a:p>
        </p:txBody>
      </p:sp>
      <p:sp>
        <p:nvSpPr>
          <p:cNvPr id="398" name="TextBox 201"/>
          <p:cNvSpPr txBox="1">
            <a:spLocks noChangeArrowheads="1"/>
          </p:cNvSpPr>
          <p:nvPr/>
        </p:nvSpPr>
        <p:spPr bwMode="auto">
          <a:xfrm>
            <a:off x="3183731" y="5809738"/>
            <a:ext cx="1768475"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pitchFamily="82" charset="2"/>
              <a:buNone/>
            </a:pPr>
            <a:r>
              <a:rPr lang="en-US" altLang="en-US" sz="1800">
                <a:solidFill>
                  <a:srgbClr val="000000"/>
                </a:solidFill>
                <a:latin typeface="Arial Narrow" panose="020B0606020202030204" pitchFamily="34" charset="0"/>
                <a:cs typeface="Arial" panose="020B0604020202020204"/>
              </a:rPr>
              <a:t>netcinema’s</a:t>
            </a:r>
            <a:endParaRPr lang="en-US" altLang="en-US" sz="1800">
              <a:solidFill>
                <a:srgbClr val="000000"/>
              </a:solidFill>
              <a:latin typeface="Arial Narrow" panose="020B0606020202030204" pitchFamily="34" charset="0"/>
              <a:cs typeface="Arial" panose="020B0604020202020204"/>
            </a:endParaRPr>
          </a:p>
          <a:p>
            <a:pPr algn="ctr" eaLnBrk="0" fontAlgn="base" hangingPunct="0">
              <a:lnSpc>
                <a:spcPts val="1600"/>
              </a:lnSpc>
              <a:spcBef>
                <a:spcPct val="20000"/>
              </a:spcBef>
              <a:spcAft>
                <a:spcPct val="0"/>
              </a:spcAft>
              <a:buClr>
                <a:srgbClr val="3333CC"/>
              </a:buClr>
              <a:buSzPct val="85000"/>
              <a:buFont typeface="ZapfDingbats" pitchFamily="82" charset="2"/>
              <a:buNone/>
            </a:pPr>
            <a:r>
              <a:rPr lang="en-US" altLang="en-US" sz="1800">
                <a:solidFill>
                  <a:srgbClr val="000000"/>
                </a:solidFill>
                <a:latin typeface="Arial Narrow" panose="020B0606020202030204" pitchFamily="34" charset="0"/>
                <a:cs typeface="Arial" panose="020B0604020202020204"/>
              </a:rPr>
              <a:t>authoratative DNS</a:t>
            </a:r>
            <a:endParaRPr lang="en-US" altLang="en-US" sz="1800" i="1">
              <a:solidFill>
                <a:srgbClr val="000000"/>
              </a:solidFill>
              <a:latin typeface="Arial Narrow" panose="020B0606020202030204" pitchFamily="34" charset="0"/>
              <a:cs typeface="Arial" panose="020B0604020202020204"/>
            </a:endParaRPr>
          </a:p>
        </p:txBody>
      </p:sp>
      <p:cxnSp>
        <p:nvCxnSpPr>
          <p:cNvPr id="399" name="Straight Arrow Connector 398"/>
          <p:cNvCxnSpPr>
            <a:cxnSpLocks noChangeShapeType="1"/>
          </p:cNvCxnSpPr>
          <p:nvPr/>
        </p:nvCxnSpPr>
        <p:spPr bwMode="auto">
          <a:xfrm flipH="1">
            <a:off x="4441031" y="4041263"/>
            <a:ext cx="3100388" cy="1376363"/>
          </a:xfrm>
          <a:prstGeom prst="straightConnector1">
            <a:avLst/>
          </a:prstGeom>
          <a:noFill/>
          <a:ln w="25400">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0" name="Straight Arrow Connector 399"/>
          <p:cNvCxnSpPr>
            <a:cxnSpLocks noChangeShapeType="1"/>
          </p:cNvCxnSpPr>
          <p:nvPr/>
        </p:nvCxnSpPr>
        <p:spPr bwMode="auto">
          <a:xfrm flipH="1">
            <a:off x="4421981" y="4150801"/>
            <a:ext cx="3100388" cy="1376362"/>
          </a:xfrm>
          <a:prstGeom prst="straightConnector1">
            <a:avLst/>
          </a:prstGeom>
          <a:noFill/>
          <a:ln w="25400">
            <a:solidFill>
              <a:srgbClr val="000000"/>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1" name="Group 400"/>
          <p:cNvGrpSpPr/>
          <p:nvPr/>
        </p:nvGrpSpPr>
        <p:grpSpPr bwMode="auto">
          <a:xfrm>
            <a:off x="4666456" y="5100126"/>
            <a:ext cx="317500" cy="344487"/>
            <a:chOff x="7454630" y="3313376"/>
            <a:chExt cx="317511" cy="345125"/>
          </a:xfrm>
        </p:grpSpPr>
        <p:sp>
          <p:nvSpPr>
            <p:cNvPr id="402" name="Oval 205"/>
            <p:cNvSpPr>
              <a:spLocks noChangeArrowheads="1"/>
            </p:cNvSpPr>
            <p:nvPr/>
          </p:nvSpPr>
          <p:spPr bwMode="auto">
            <a:xfrm>
              <a:off x="7468434" y="3354794"/>
              <a:ext cx="303707" cy="303707"/>
            </a:xfrm>
            <a:prstGeom prst="ellipse">
              <a:avLst/>
            </a:prstGeom>
            <a:solidFill>
              <a:srgbClr val="FFFFFF"/>
            </a:solidFill>
            <a:ln w="15875">
              <a:solidFill>
                <a:srgbClr val="000000"/>
              </a:solidFill>
              <a:round/>
            </a:ln>
          </p:spPr>
          <p:txBody>
            <a:bodyPr wrap="none"/>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403" name="TextBox 206"/>
            <p:cNvSpPr txBox="1">
              <a:spLocks noChangeArrowheads="1"/>
            </p:cNvSpPr>
            <p:nvPr/>
          </p:nvSpPr>
          <p:spPr bwMode="auto">
            <a:xfrm>
              <a:off x="7454630" y="3313376"/>
              <a:ext cx="298790" cy="339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rPr>
                <a:t>3</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sp>
        <p:nvSpPr>
          <p:cNvPr id="404" name="TextBox 403"/>
          <p:cNvSpPr txBox="1">
            <a:spLocks noChangeArrowheads="1"/>
          </p:cNvSpPr>
          <p:nvPr/>
        </p:nvSpPr>
        <p:spPr bwMode="auto">
          <a:xfrm>
            <a:off x="4636294" y="4474651"/>
            <a:ext cx="3200400" cy="5699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dirty="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rPr>
              <a:t>3. </a:t>
            </a:r>
            <a:r>
              <a:rPr kumimoji="0" lang="en-US" altLang="en-US" sz="1600" b="0" i="0" u="none" strike="noStrike" kern="0" cap="none" spc="0" normalizeH="0" baseline="0" noProof="0" dirty="0" err="1">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rPr>
              <a:t>netcinema’s</a:t>
            </a:r>
            <a:r>
              <a:rPr kumimoji="0" lang="en-US" altLang="en-US" sz="1600" b="0" i="0" u="none" strike="noStrike" kern="0" cap="none" spc="0" normalizeH="0" baseline="0" noProof="0" dirty="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rPr>
              <a:t> DNS returns CNAME for </a:t>
            </a:r>
            <a:endParaRPr kumimoji="0" lang="en-US" altLang="en-US" sz="1600" b="0" i="0" u="none" strike="noStrike" kern="0" cap="none" spc="0" normalizeH="0" baseline="0" noProof="0" dirty="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endParaRPr>
          </a:p>
          <a:p>
            <a:pPr marL="0" marR="0" lvl="0" indent="0" defTabSz="914400" eaLnBrk="0" fontAlgn="base" latinLnBrk="0" hangingPunct="0">
              <a:lnSpc>
                <a:spcPts val="16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dirty="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rPr>
              <a:t>http://</a:t>
            </a:r>
            <a:r>
              <a:rPr kumimoji="0" lang="en-US" altLang="en-US" sz="1600" b="0" i="0" u="none" strike="noStrike" kern="0" cap="none" spc="0" normalizeH="0" baseline="0" noProof="0" dirty="0" err="1">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rPr>
              <a:t>KingCDN.com</a:t>
            </a:r>
            <a:r>
              <a:rPr kumimoji="0" lang="en-US" altLang="en-US" sz="1600" b="0" i="0" u="none" strike="noStrike" kern="0" cap="none" spc="0" normalizeH="0" baseline="0" noProof="0" dirty="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rPr>
              <a:t>/NetC6y&amp;B</a:t>
            </a:r>
            <a:r>
              <a:rPr kumimoji="0" lang="en-US" altLang="en-US" sz="1800" b="0" i="0" u="none" strike="noStrike" kern="0" cap="none" spc="0" normalizeH="0" baseline="0" noProof="0" dirty="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rPr>
              <a:t>23V</a:t>
            </a:r>
            <a:endParaRPr kumimoji="0" lang="en-US" altLang="en-US" sz="1800" b="0" i="0" u="none" strike="noStrike" kern="0" cap="none" spc="0" normalizeH="0" baseline="0" noProof="0" dirty="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endParaRPr>
          </a:p>
        </p:txBody>
      </p:sp>
      <p:cxnSp>
        <p:nvCxnSpPr>
          <p:cNvPr id="405" name="Straight Arrow Connector 404"/>
          <p:cNvCxnSpPr>
            <a:cxnSpLocks noChangeShapeType="1"/>
          </p:cNvCxnSpPr>
          <p:nvPr/>
        </p:nvCxnSpPr>
        <p:spPr bwMode="auto">
          <a:xfrm>
            <a:off x="7860506" y="4357176"/>
            <a:ext cx="447675" cy="962025"/>
          </a:xfrm>
          <a:prstGeom prst="straightConnector1">
            <a:avLst/>
          </a:prstGeom>
          <a:noFill/>
          <a:ln w="25400">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6" name="Straight Arrow Connector 405"/>
          <p:cNvCxnSpPr>
            <a:cxnSpLocks noChangeShapeType="1"/>
          </p:cNvCxnSpPr>
          <p:nvPr/>
        </p:nvCxnSpPr>
        <p:spPr bwMode="auto">
          <a:xfrm>
            <a:off x="7955756" y="4368288"/>
            <a:ext cx="447675" cy="960438"/>
          </a:xfrm>
          <a:prstGeom prst="straightConnector1">
            <a:avLst/>
          </a:prstGeom>
          <a:noFill/>
          <a:ln w="25400">
            <a:solidFill>
              <a:srgbClr val="000000"/>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7" name="Group 406"/>
          <p:cNvGrpSpPr/>
          <p:nvPr/>
        </p:nvGrpSpPr>
        <p:grpSpPr bwMode="auto">
          <a:xfrm>
            <a:off x="7944644" y="4609588"/>
            <a:ext cx="317500" cy="346075"/>
            <a:chOff x="7454630" y="3313376"/>
            <a:chExt cx="317511" cy="345125"/>
          </a:xfrm>
        </p:grpSpPr>
        <p:sp>
          <p:nvSpPr>
            <p:cNvPr id="408" name="Oval 213"/>
            <p:cNvSpPr>
              <a:spLocks noChangeArrowheads="1"/>
            </p:cNvSpPr>
            <p:nvPr/>
          </p:nvSpPr>
          <p:spPr bwMode="auto">
            <a:xfrm>
              <a:off x="7468434" y="3354794"/>
              <a:ext cx="303707" cy="303707"/>
            </a:xfrm>
            <a:prstGeom prst="ellipse">
              <a:avLst/>
            </a:prstGeom>
            <a:solidFill>
              <a:srgbClr val="FFFFFF"/>
            </a:solidFill>
            <a:ln w="15875">
              <a:solidFill>
                <a:srgbClr val="000000"/>
              </a:solidFill>
              <a:round/>
            </a:ln>
          </p:spPr>
          <p:txBody>
            <a:bodyPr wrap="none"/>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409" name="TextBox 214"/>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rPr>
                <a:t>4</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cxnSp>
        <p:nvCxnSpPr>
          <p:cNvPr id="410" name="Straight Arrow Connector 409"/>
          <p:cNvCxnSpPr>
            <a:cxnSpLocks noChangeShapeType="1"/>
          </p:cNvCxnSpPr>
          <p:nvPr/>
        </p:nvCxnSpPr>
        <p:spPr bwMode="auto">
          <a:xfrm>
            <a:off x="6611144" y="3204651"/>
            <a:ext cx="812800" cy="822325"/>
          </a:xfrm>
          <a:prstGeom prst="straightConnector1">
            <a:avLst/>
          </a:prstGeom>
          <a:noFill/>
          <a:ln w="25400">
            <a:solidFill>
              <a:srgbClr val="000000"/>
            </a:solidFill>
            <a:round/>
            <a:head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11" name="Group 410"/>
          <p:cNvGrpSpPr/>
          <p:nvPr/>
        </p:nvGrpSpPr>
        <p:grpSpPr bwMode="auto">
          <a:xfrm>
            <a:off x="6982619" y="3549138"/>
            <a:ext cx="317500" cy="346075"/>
            <a:chOff x="7454630" y="3313376"/>
            <a:chExt cx="317511" cy="345125"/>
          </a:xfrm>
        </p:grpSpPr>
        <p:sp>
          <p:nvSpPr>
            <p:cNvPr id="412" name="Oval 223"/>
            <p:cNvSpPr>
              <a:spLocks noChangeArrowheads="1"/>
            </p:cNvSpPr>
            <p:nvPr/>
          </p:nvSpPr>
          <p:spPr bwMode="auto">
            <a:xfrm>
              <a:off x="7468434" y="3354794"/>
              <a:ext cx="303707" cy="303707"/>
            </a:xfrm>
            <a:prstGeom prst="ellipse">
              <a:avLst/>
            </a:prstGeom>
            <a:solidFill>
              <a:srgbClr val="FFFFFF"/>
            </a:solidFill>
            <a:ln w="15875">
              <a:solidFill>
                <a:srgbClr val="000000"/>
              </a:solidFill>
              <a:round/>
            </a:ln>
          </p:spPr>
          <p:txBody>
            <a:bodyPr wrap="none"/>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sp>
          <p:nvSpPr>
            <p:cNvPr id="413" name="TextBox 224"/>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rPr>
                <a:t>5</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a:endParaRPr>
            </a:p>
          </p:txBody>
        </p:sp>
      </p:grpSp>
      <p:cxnSp>
        <p:nvCxnSpPr>
          <p:cNvPr id="414" name="Straight Arrow Connector 413"/>
          <p:cNvCxnSpPr>
            <a:cxnSpLocks noChangeShapeType="1"/>
          </p:cNvCxnSpPr>
          <p:nvPr/>
        </p:nvCxnSpPr>
        <p:spPr bwMode="auto">
          <a:xfrm flipH="1">
            <a:off x="6139656" y="3084001"/>
            <a:ext cx="4763" cy="2362200"/>
          </a:xfrm>
          <a:prstGeom prst="straightConnector1">
            <a:avLst/>
          </a:prstGeom>
          <a:noFill/>
          <a:ln w="25400">
            <a:solidFill>
              <a:srgbClr val="000000"/>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5" name="Up Arrow 414"/>
          <p:cNvSpPr>
            <a:spLocks noChangeArrowheads="1"/>
          </p:cNvSpPr>
          <p:nvPr/>
        </p:nvSpPr>
        <p:spPr bwMode="auto">
          <a:xfrm>
            <a:off x="6168231" y="3077651"/>
            <a:ext cx="298450" cy="2284412"/>
          </a:xfrm>
          <a:prstGeom prst="upArrow">
            <a:avLst>
              <a:gd name="adj1" fmla="val 50000"/>
              <a:gd name="adj2" fmla="val 50249"/>
            </a:avLst>
          </a:prstGeom>
          <a:gradFill rotWithShape="1">
            <a:gsLst>
              <a:gs pos="0">
                <a:srgbClr val="000090"/>
              </a:gs>
              <a:gs pos="64000">
                <a:srgbClr val="000090"/>
              </a:gs>
              <a:gs pos="100000">
                <a:srgbClr val="FFFFFF"/>
              </a:gs>
            </a:gsLst>
            <a:lin ang="5400000"/>
          </a:gra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20000"/>
              </a:spcBef>
              <a:spcAft>
                <a:spcPct val="0"/>
              </a:spcAft>
              <a:buClr>
                <a:srgbClr val="3333CC"/>
              </a:buClr>
              <a:buSzPct val="85000"/>
              <a:buFont typeface="ZapfDingbats" pitchFamily="82" charset="2"/>
              <a:buNone/>
            </a:pPr>
            <a:endParaRPr lang="en-US" altLang="en-US" sz="1800">
              <a:solidFill>
                <a:srgbClr val="000000"/>
              </a:solidFill>
              <a:cs typeface="Arial" panose="020B0604020202020204"/>
            </a:endParaRPr>
          </a:p>
        </p:txBody>
      </p:sp>
      <p:sp>
        <p:nvSpPr>
          <p:cNvPr id="416" name="TextBox 415"/>
          <p:cNvSpPr txBox="1">
            <a:spLocks noChangeArrowheads="1"/>
          </p:cNvSpPr>
          <p:nvPr/>
        </p:nvSpPr>
        <p:spPr bwMode="auto">
          <a:xfrm>
            <a:off x="5082381" y="3614226"/>
            <a:ext cx="2027238" cy="812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rPr>
              <a:t>6. request video from</a:t>
            </a:r>
            <a:endParaRPr kumimoji="0" lang="en-US" altLang="en-US" sz="1600" b="0" i="0" u="none" strike="noStrike" kern="0" cap="none" spc="0" normalizeH="0" baseline="0" noProof="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endParaRPr>
          </a:p>
          <a:p>
            <a:pPr marL="0" marR="0" lvl="0" indent="0" defTabSz="914400" eaLnBrk="0" fontAlgn="base" latinLnBrk="0" hangingPunct="0">
              <a:lnSpc>
                <a:spcPts val="16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rPr>
              <a:t>KINGCDN server,</a:t>
            </a:r>
            <a:endParaRPr kumimoji="0" lang="en-US" altLang="en-US" sz="1600" b="0" i="0" u="none" strike="noStrike" kern="0" cap="none" spc="0" normalizeH="0" baseline="0" noProof="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endParaRPr>
          </a:p>
          <a:p>
            <a:pPr marL="0" marR="0" lvl="0" indent="0" defTabSz="914400" eaLnBrk="0" fontAlgn="base" latinLnBrk="0" hangingPunct="0">
              <a:lnSpc>
                <a:spcPts val="1600"/>
              </a:lnSpc>
              <a:spcBef>
                <a:spcPct val="20000"/>
              </a:spcBef>
              <a:spcAft>
                <a:spcPct val="0"/>
              </a:spcAft>
              <a:buClr>
                <a:srgbClr val="3333CC"/>
              </a:buClr>
              <a:buSzPct val="85000"/>
              <a:buFont typeface="ZapfDingbats" pitchFamily="82" charset="2"/>
              <a:buNone/>
              <a:defRPr/>
            </a:pPr>
            <a:r>
              <a:rPr kumimoji="0" lang="en-US" altLang="en-US" sz="1600" b="0" i="0" u="none" strike="noStrike" kern="0" cap="none" spc="0" normalizeH="0" baseline="0" noProof="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rPr>
              <a:t>streamed via HTTP</a:t>
            </a:r>
            <a:endParaRPr kumimoji="0" lang="en-US" altLang="en-US" sz="1600" b="0" i="0" u="none" strike="noStrike" kern="0" cap="none" spc="0" normalizeH="0" baseline="0" noProof="0">
              <a:ln>
                <a:noFill/>
              </a:ln>
              <a:solidFill>
                <a:srgbClr val="000000"/>
              </a:solidFill>
              <a:effectLst/>
              <a:uLnTx/>
              <a:uFillTx/>
              <a:latin typeface="Arial Narrow" panose="020B0606020202030204" pitchFamily="34" charset="0"/>
              <a:ea typeface="MS PGothic" panose="020B0600070205080204" pitchFamily="34" charset="-128"/>
              <a:cs typeface="Arial" panose="020B0604020202020204"/>
            </a:endParaRPr>
          </a:p>
        </p:txBody>
      </p:sp>
      <p:sp>
        <p:nvSpPr>
          <p:cNvPr id="417" name="TextBox 232"/>
          <p:cNvSpPr txBox="1">
            <a:spLocks noChangeArrowheads="1"/>
          </p:cNvSpPr>
          <p:nvPr/>
        </p:nvSpPr>
        <p:spPr bwMode="auto">
          <a:xfrm>
            <a:off x="7631906" y="6035163"/>
            <a:ext cx="1706563"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pitchFamily="82" charset="2"/>
              <a:buNone/>
            </a:pPr>
            <a:r>
              <a:rPr lang="en-US" altLang="en-US" sz="1800">
                <a:solidFill>
                  <a:srgbClr val="000000"/>
                </a:solidFill>
                <a:latin typeface="Arial Narrow" panose="020B0606020202030204" pitchFamily="34" charset="0"/>
                <a:cs typeface="Arial" panose="020B0604020202020204"/>
              </a:rPr>
              <a:t>KingCDN</a:t>
            </a:r>
            <a:endParaRPr lang="en-US" altLang="en-US" sz="1800">
              <a:solidFill>
                <a:srgbClr val="000000"/>
              </a:solidFill>
              <a:latin typeface="Arial Narrow" panose="020B0606020202030204" pitchFamily="34" charset="0"/>
              <a:cs typeface="Arial" panose="020B0604020202020204"/>
            </a:endParaRPr>
          </a:p>
          <a:p>
            <a:pPr algn="ctr" eaLnBrk="0" fontAlgn="base" hangingPunct="0">
              <a:lnSpc>
                <a:spcPts val="1600"/>
              </a:lnSpc>
              <a:spcBef>
                <a:spcPct val="20000"/>
              </a:spcBef>
              <a:spcAft>
                <a:spcPct val="0"/>
              </a:spcAft>
              <a:buClr>
                <a:srgbClr val="3333CC"/>
              </a:buClr>
              <a:buSzPct val="85000"/>
              <a:buFont typeface="ZapfDingbats" pitchFamily="82" charset="2"/>
              <a:buNone/>
            </a:pPr>
            <a:r>
              <a:rPr lang="en-US" altLang="en-US" sz="1800">
                <a:solidFill>
                  <a:srgbClr val="000000"/>
                </a:solidFill>
                <a:latin typeface="Arial Narrow" panose="020B0606020202030204" pitchFamily="34" charset="0"/>
                <a:cs typeface="Arial" panose="020B0604020202020204"/>
              </a:rPr>
              <a:t>authoritative DNS</a:t>
            </a:r>
            <a:endParaRPr lang="en-US" altLang="en-US" sz="1800" i="1">
              <a:solidFill>
                <a:srgbClr val="000000"/>
              </a:solidFill>
              <a:latin typeface="Arial Narrow" panose="020B0606020202030204" pitchFamily="34" charset="0"/>
              <a:cs typeface="Arial" panose="020B0604020202020204"/>
            </a:endParaRPr>
          </a:p>
        </p:txBody>
      </p:sp>
      <p:sp>
        <p:nvSpPr>
          <p:cNvPr id="418" name="TextBox 182"/>
          <p:cNvSpPr txBox="1">
            <a:spLocks noChangeArrowheads="1"/>
          </p:cNvSpPr>
          <p:nvPr/>
        </p:nvSpPr>
        <p:spPr bwMode="auto">
          <a:xfrm>
            <a:off x="7862094" y="3595176"/>
            <a:ext cx="10255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pitchFamily="82" charset="2"/>
              <a:buNone/>
            </a:pPr>
            <a:r>
              <a:rPr lang="en-US" altLang="en-US" sz="1800">
                <a:solidFill>
                  <a:srgbClr val="000000"/>
                </a:solidFill>
                <a:latin typeface="Arial Narrow" panose="020B0606020202030204" pitchFamily="34" charset="0"/>
                <a:cs typeface="Arial" panose="020B0604020202020204"/>
              </a:rPr>
              <a:t>Bob’s </a:t>
            </a:r>
            <a:endParaRPr lang="en-US" altLang="en-US" sz="1800">
              <a:solidFill>
                <a:srgbClr val="000000"/>
              </a:solidFill>
              <a:latin typeface="Arial Narrow" panose="020B0606020202030204" pitchFamily="34" charset="0"/>
              <a:cs typeface="Arial" panose="020B0604020202020204"/>
            </a:endParaRPr>
          </a:p>
          <a:p>
            <a:pPr eaLnBrk="0" fontAlgn="base" hangingPunct="0">
              <a:lnSpc>
                <a:spcPts val="1600"/>
              </a:lnSpc>
              <a:spcBef>
                <a:spcPct val="20000"/>
              </a:spcBef>
              <a:spcAft>
                <a:spcPct val="0"/>
              </a:spcAft>
              <a:buClr>
                <a:srgbClr val="3333CC"/>
              </a:buClr>
              <a:buSzPct val="85000"/>
              <a:buFont typeface="ZapfDingbats" pitchFamily="82" charset="2"/>
              <a:buNone/>
            </a:pPr>
            <a:r>
              <a:rPr lang="en-US" altLang="en-US" sz="1800">
                <a:solidFill>
                  <a:srgbClr val="000000"/>
                </a:solidFill>
                <a:latin typeface="Arial Narrow" panose="020B0606020202030204" pitchFamily="34" charset="0"/>
                <a:cs typeface="Arial" panose="020B0604020202020204"/>
              </a:rPr>
              <a:t>local DNS</a:t>
            </a:r>
            <a:endParaRPr lang="en-US" altLang="en-US" sz="1800">
              <a:solidFill>
                <a:srgbClr val="000000"/>
              </a:solidFill>
              <a:latin typeface="Arial Narrow" panose="020B0606020202030204" pitchFamily="34" charset="0"/>
              <a:cs typeface="Arial" panose="020B0604020202020204"/>
            </a:endParaRPr>
          </a:p>
          <a:p>
            <a:pPr eaLnBrk="0" fontAlgn="base" hangingPunct="0">
              <a:lnSpc>
                <a:spcPts val="1600"/>
              </a:lnSpc>
              <a:spcBef>
                <a:spcPct val="20000"/>
              </a:spcBef>
              <a:spcAft>
                <a:spcPct val="0"/>
              </a:spcAft>
              <a:buClr>
                <a:srgbClr val="3333CC"/>
              </a:buClr>
              <a:buSzPct val="85000"/>
              <a:buFont typeface="ZapfDingbats" pitchFamily="82" charset="2"/>
              <a:buNone/>
            </a:pPr>
            <a:r>
              <a:rPr lang="en-US" altLang="en-US" sz="1800">
                <a:solidFill>
                  <a:srgbClr val="000000"/>
                </a:solidFill>
                <a:latin typeface="Arial Narrow" panose="020B0606020202030204" pitchFamily="34" charset="0"/>
                <a:cs typeface="Arial" panose="020B0604020202020204"/>
              </a:rPr>
              <a:t>server</a:t>
            </a:r>
            <a:endParaRPr lang="en-US" altLang="en-US" sz="1800" i="1">
              <a:solidFill>
                <a:srgbClr val="000000"/>
              </a:solidFill>
              <a:latin typeface="Arial Narrow" panose="020B0606020202030204" pitchFamily="34" charset="0"/>
              <a:cs typeface="Arial" panose="020B0604020202020204"/>
            </a:endParaRPr>
          </a:p>
        </p:txBody>
      </p:sp>
      <p:sp>
        <p:nvSpPr>
          <p:cNvPr id="419" name="TextBox 418"/>
          <p:cNvSpPr txBox="1"/>
          <p:nvPr/>
        </p:nvSpPr>
        <p:spPr>
          <a:xfrm>
            <a:off x="1143000" y="1238532"/>
            <a:ext cx="8183522" cy="800219"/>
          </a:xfrm>
          <a:prstGeom prst="rect">
            <a:avLst/>
          </a:prstGeom>
          <a:noFill/>
        </p:spPr>
        <p:txBody>
          <a:bodyPr wrap="none">
            <a:spAutoFit/>
          </a:bodyPr>
          <a:lstStyle/>
          <a:p>
            <a:pPr>
              <a:buFont typeface="ZapfDingbats" charset="0"/>
              <a:buNone/>
              <a:defRPr/>
            </a:pPr>
            <a:r>
              <a:rPr lang="en-US" sz="2800" dirty="0">
                <a:latin typeface="+mn-lt"/>
                <a:ea typeface="MS PGothic" panose="020B0600070205080204" pitchFamily="34" charset="-128"/>
              </a:rPr>
              <a:t>Bob (client) requests video </a:t>
            </a:r>
            <a:r>
              <a:rPr lang="en-US" sz="2400" dirty="0">
                <a:latin typeface="+mn-lt"/>
                <a:ea typeface="MS PGothic" panose="020B0600070205080204" pitchFamily="34" charset="-128"/>
              </a:rPr>
              <a:t>http://netcinema.com</a:t>
            </a:r>
            <a:r>
              <a:rPr lang="en-US" sz="2800" dirty="0">
                <a:latin typeface="+mn-lt"/>
                <a:ea typeface="MS PGothic" panose="020B0600070205080204" pitchFamily="34" charset="-128"/>
              </a:rPr>
              <a:t>/</a:t>
            </a:r>
            <a:r>
              <a:rPr lang="en-US" sz="2400" dirty="0">
                <a:latin typeface="+mn-lt"/>
                <a:ea typeface="MS PGothic" panose="020B0600070205080204" pitchFamily="34" charset="-128"/>
              </a:rPr>
              <a:t>6Y7B23V</a:t>
            </a:r>
            <a:endParaRPr lang="en-US" sz="2400" dirty="0">
              <a:latin typeface="+mn-lt"/>
              <a:ea typeface="MS PGothic" panose="020B0600070205080204" pitchFamily="34" charset="-128"/>
            </a:endParaRPr>
          </a:p>
          <a:p>
            <a:pPr marL="457200" indent="-230505">
              <a:buClr>
                <a:srgbClr val="0000A3"/>
              </a:buClr>
              <a:buFont typeface="Wingdings" panose="05000000000000000000" pitchFamily="2" charset="2"/>
              <a:buChar char="§"/>
              <a:defRPr/>
            </a:pPr>
            <a:r>
              <a:rPr lang="en-US" dirty="0">
                <a:latin typeface="+mn-lt"/>
                <a:ea typeface="MS PGothic" panose="020B0600070205080204" pitchFamily="34" charset="-128"/>
              </a:rPr>
              <a:t>video stored in CDN at http://KingCDN.com/NetC6y&amp;B23V</a:t>
            </a:r>
            <a:endParaRPr lang="en-US" dirty="0">
              <a:latin typeface="+mn-lt"/>
              <a:ea typeface="MS PGothic" panose="020B0600070205080204" pitchFamily="34" charset="-128"/>
            </a:endParaRPr>
          </a:p>
        </p:txBody>
      </p:sp>
      <p:sp>
        <p:nvSpPr>
          <p:cNvPr id="211"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6"/>
                                        </p:tgtEl>
                                        <p:attrNameLst>
                                          <p:attrName>style.visibility</p:attrName>
                                        </p:attrNameLst>
                                      </p:cBhvr>
                                      <p:to>
                                        <p:strVal val="visible"/>
                                      </p:to>
                                    </p:set>
                                    <p:animEffect transition="in" filter="dissolve">
                                      <p:cBhvr>
                                        <p:cTn id="7" dur="500"/>
                                        <p:tgtEl>
                                          <p:spTgt spid="38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91"/>
                                        </p:tgtEl>
                                        <p:attrNameLst>
                                          <p:attrName>style.visibility</p:attrName>
                                        </p:attrNameLst>
                                      </p:cBhvr>
                                      <p:to>
                                        <p:strVal val="visible"/>
                                      </p:to>
                                    </p:set>
                                    <p:animEffect transition="in" filter="dissolve">
                                      <p:cBhvr>
                                        <p:cTn id="10" dur="500"/>
                                        <p:tgtEl>
                                          <p:spTgt spid="39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1" nodeType="clickEffect">
                                  <p:stCondLst>
                                    <p:cond delay="0"/>
                                  </p:stCondLst>
                                  <p:childTnLst>
                                    <p:animEffect transition="out" filter="dissolve">
                                      <p:cBhvr>
                                        <p:cTn id="14" dur="500"/>
                                        <p:tgtEl>
                                          <p:spTgt spid="391"/>
                                        </p:tgtEl>
                                      </p:cBhvr>
                                    </p:animEffect>
                                    <p:set>
                                      <p:cBhvr>
                                        <p:cTn id="15" dur="1" fill="hold">
                                          <p:stCondLst>
                                            <p:cond delay="499"/>
                                          </p:stCondLst>
                                        </p:cTn>
                                        <p:tgtEl>
                                          <p:spTgt spid="391"/>
                                        </p:tgtEl>
                                        <p:attrNameLst>
                                          <p:attrName>style.visibility</p:attrName>
                                        </p:attrNameLst>
                                      </p:cBhvr>
                                      <p:to>
                                        <p:strVal val="hidden"/>
                                      </p:to>
                                    </p:set>
                                  </p:childTnLst>
                                </p:cTn>
                              </p:par>
                              <p:par>
                                <p:cTn id="16" presetID="22" presetClass="entr" presetSubtype="1" fill="hold" nodeType="withEffect">
                                  <p:stCondLst>
                                    <p:cond delay="0"/>
                                  </p:stCondLst>
                                  <p:childTnLst>
                                    <p:set>
                                      <p:cBhvr>
                                        <p:cTn id="17" dur="1" fill="hold">
                                          <p:stCondLst>
                                            <p:cond delay="0"/>
                                          </p:stCondLst>
                                        </p:cTn>
                                        <p:tgtEl>
                                          <p:spTgt spid="392"/>
                                        </p:tgtEl>
                                        <p:attrNameLst>
                                          <p:attrName>style.visibility</p:attrName>
                                        </p:attrNameLst>
                                      </p:cBhvr>
                                      <p:to>
                                        <p:strVal val="visible"/>
                                      </p:to>
                                    </p:set>
                                    <p:animEffect transition="in" filter="wipe(up)">
                                      <p:cBhvr>
                                        <p:cTn id="18" dur="500"/>
                                        <p:tgtEl>
                                          <p:spTgt spid="392"/>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97"/>
                                        </p:tgtEl>
                                        <p:attrNameLst>
                                          <p:attrName>style.visibility</p:attrName>
                                        </p:attrNameLst>
                                      </p:cBhvr>
                                      <p:to>
                                        <p:strVal val="visible"/>
                                      </p:to>
                                    </p:set>
                                    <p:animEffect transition="in" filter="dissolve">
                                      <p:cBhvr>
                                        <p:cTn id="21" dur="500"/>
                                        <p:tgtEl>
                                          <p:spTgt spid="39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xit" presetSubtype="0" fill="hold" grpId="1" nodeType="clickEffect">
                                  <p:stCondLst>
                                    <p:cond delay="0"/>
                                  </p:stCondLst>
                                  <p:childTnLst>
                                    <p:animEffect transition="out" filter="dissolve">
                                      <p:cBhvr>
                                        <p:cTn id="25" dur="500"/>
                                        <p:tgtEl>
                                          <p:spTgt spid="397"/>
                                        </p:tgtEl>
                                      </p:cBhvr>
                                    </p:animEffect>
                                    <p:set>
                                      <p:cBhvr>
                                        <p:cTn id="26" dur="1" fill="hold">
                                          <p:stCondLst>
                                            <p:cond delay="499"/>
                                          </p:stCondLst>
                                        </p:cTn>
                                        <p:tgtEl>
                                          <p:spTgt spid="397"/>
                                        </p:tgtEl>
                                        <p:attrNameLst>
                                          <p:attrName>style.visibility</p:attrName>
                                        </p:attrNameLst>
                                      </p:cBhvr>
                                      <p:to>
                                        <p:strVal val="hidden"/>
                                      </p:to>
                                    </p:set>
                                  </p:childTnLst>
                                </p:cTn>
                              </p:par>
                              <p:par>
                                <p:cTn id="27" presetID="22" presetClass="entr" presetSubtype="2" fill="hold" nodeType="withEffect">
                                  <p:stCondLst>
                                    <p:cond delay="0"/>
                                  </p:stCondLst>
                                  <p:childTnLst>
                                    <p:set>
                                      <p:cBhvr>
                                        <p:cTn id="28" dur="1" fill="hold">
                                          <p:stCondLst>
                                            <p:cond delay="0"/>
                                          </p:stCondLst>
                                        </p:cTn>
                                        <p:tgtEl>
                                          <p:spTgt spid="399"/>
                                        </p:tgtEl>
                                        <p:attrNameLst>
                                          <p:attrName>style.visibility</p:attrName>
                                        </p:attrNameLst>
                                      </p:cBhvr>
                                      <p:to>
                                        <p:strVal val="visible"/>
                                      </p:to>
                                    </p:set>
                                    <p:animEffect transition="in" filter="wipe(right)">
                                      <p:cBhvr>
                                        <p:cTn id="29" dur="500"/>
                                        <p:tgtEl>
                                          <p:spTgt spid="399"/>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400"/>
                                        </p:tgtEl>
                                        <p:attrNameLst>
                                          <p:attrName>style.visibility</p:attrName>
                                        </p:attrNameLst>
                                      </p:cBhvr>
                                      <p:to>
                                        <p:strVal val="visible"/>
                                      </p:to>
                                    </p:set>
                                    <p:animEffect transition="in" filter="wipe(left)">
                                      <p:cBhvr>
                                        <p:cTn id="33" dur="500"/>
                                        <p:tgtEl>
                                          <p:spTgt spid="400"/>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401"/>
                                        </p:tgtEl>
                                        <p:attrNameLst>
                                          <p:attrName>style.visibility</p:attrName>
                                        </p:attrNameLst>
                                      </p:cBhvr>
                                      <p:to>
                                        <p:strVal val="visible"/>
                                      </p:to>
                                    </p:set>
                                    <p:animEffect transition="in" filter="dissolve">
                                      <p:cBhvr>
                                        <p:cTn id="37" dur="500"/>
                                        <p:tgtEl>
                                          <p:spTgt spid="401"/>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404"/>
                                        </p:tgtEl>
                                        <p:attrNameLst>
                                          <p:attrName>style.visibility</p:attrName>
                                        </p:attrNameLst>
                                      </p:cBhvr>
                                      <p:to>
                                        <p:strVal val="visible"/>
                                      </p:to>
                                    </p:set>
                                    <p:animEffect transition="in" filter="dissolve">
                                      <p:cBhvr>
                                        <p:cTn id="40" dur="500"/>
                                        <p:tgtEl>
                                          <p:spTgt spid="404"/>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xit" presetSubtype="0" fill="hold" grpId="1" nodeType="clickEffect">
                                  <p:stCondLst>
                                    <p:cond delay="0"/>
                                  </p:stCondLst>
                                  <p:childTnLst>
                                    <p:animEffect transition="out" filter="dissolve">
                                      <p:cBhvr>
                                        <p:cTn id="44" dur="500"/>
                                        <p:tgtEl>
                                          <p:spTgt spid="404"/>
                                        </p:tgtEl>
                                      </p:cBhvr>
                                    </p:animEffect>
                                    <p:set>
                                      <p:cBhvr>
                                        <p:cTn id="45" dur="1" fill="hold">
                                          <p:stCondLst>
                                            <p:cond delay="499"/>
                                          </p:stCondLst>
                                        </p:cTn>
                                        <p:tgtEl>
                                          <p:spTgt spid="404"/>
                                        </p:tgtEl>
                                        <p:attrNameLst>
                                          <p:attrName>style.visibility</p:attrName>
                                        </p:attrNameLst>
                                      </p:cBhvr>
                                      <p:to>
                                        <p:strVal val="hidden"/>
                                      </p:to>
                                    </p:set>
                                  </p:childTnLst>
                                </p:cTn>
                              </p:par>
                              <p:par>
                                <p:cTn id="46" presetID="22" presetClass="entr" presetSubtype="1" fill="hold" nodeType="withEffect">
                                  <p:stCondLst>
                                    <p:cond delay="0"/>
                                  </p:stCondLst>
                                  <p:childTnLst>
                                    <p:set>
                                      <p:cBhvr>
                                        <p:cTn id="47" dur="1" fill="hold">
                                          <p:stCondLst>
                                            <p:cond delay="0"/>
                                          </p:stCondLst>
                                        </p:cTn>
                                        <p:tgtEl>
                                          <p:spTgt spid="405"/>
                                        </p:tgtEl>
                                        <p:attrNameLst>
                                          <p:attrName>style.visibility</p:attrName>
                                        </p:attrNameLst>
                                      </p:cBhvr>
                                      <p:to>
                                        <p:strVal val="visible"/>
                                      </p:to>
                                    </p:set>
                                    <p:animEffect transition="in" filter="wipe(up)">
                                      <p:cBhvr>
                                        <p:cTn id="48" dur="500"/>
                                        <p:tgtEl>
                                          <p:spTgt spid="405"/>
                                        </p:tgtEl>
                                      </p:cBhvr>
                                    </p:animEffect>
                                  </p:childTnLst>
                                </p:cTn>
                              </p:par>
                            </p:childTnLst>
                          </p:cTn>
                        </p:par>
                        <p:par>
                          <p:cTn id="49" fill="hold">
                            <p:stCondLst>
                              <p:cond delay="500"/>
                            </p:stCondLst>
                            <p:childTnLst>
                              <p:par>
                                <p:cTn id="50" presetID="22" presetClass="entr" presetSubtype="4" fill="hold" nodeType="afterEffect">
                                  <p:stCondLst>
                                    <p:cond delay="0"/>
                                  </p:stCondLst>
                                  <p:childTnLst>
                                    <p:set>
                                      <p:cBhvr>
                                        <p:cTn id="51" dur="1" fill="hold">
                                          <p:stCondLst>
                                            <p:cond delay="0"/>
                                          </p:stCondLst>
                                        </p:cTn>
                                        <p:tgtEl>
                                          <p:spTgt spid="406"/>
                                        </p:tgtEl>
                                        <p:attrNameLst>
                                          <p:attrName>style.visibility</p:attrName>
                                        </p:attrNameLst>
                                      </p:cBhvr>
                                      <p:to>
                                        <p:strVal val="visible"/>
                                      </p:to>
                                    </p:set>
                                    <p:animEffect transition="in" filter="wipe(down)">
                                      <p:cBhvr>
                                        <p:cTn id="52" dur="500"/>
                                        <p:tgtEl>
                                          <p:spTgt spid="406"/>
                                        </p:tgtEl>
                                      </p:cBhvr>
                                    </p:animEffect>
                                  </p:childTnLst>
                                </p:cTn>
                              </p:par>
                            </p:childTnLst>
                          </p:cTn>
                        </p:par>
                        <p:par>
                          <p:cTn id="53" fill="hold">
                            <p:stCondLst>
                              <p:cond delay="1000"/>
                            </p:stCondLst>
                            <p:childTnLst>
                              <p:par>
                                <p:cTn id="54" presetID="9" presetClass="entr" presetSubtype="0" fill="hold" nodeType="afterEffect">
                                  <p:stCondLst>
                                    <p:cond delay="0"/>
                                  </p:stCondLst>
                                  <p:childTnLst>
                                    <p:set>
                                      <p:cBhvr>
                                        <p:cTn id="55" dur="1" fill="hold">
                                          <p:stCondLst>
                                            <p:cond delay="0"/>
                                          </p:stCondLst>
                                        </p:cTn>
                                        <p:tgtEl>
                                          <p:spTgt spid="407"/>
                                        </p:tgtEl>
                                        <p:attrNameLst>
                                          <p:attrName>style.visibility</p:attrName>
                                        </p:attrNameLst>
                                      </p:cBhvr>
                                      <p:to>
                                        <p:strVal val="visible"/>
                                      </p:to>
                                    </p:set>
                                    <p:animEffect transition="in" filter="dissolve">
                                      <p:cBhvr>
                                        <p:cTn id="56" dur="500"/>
                                        <p:tgtEl>
                                          <p:spTgt spid="407"/>
                                        </p:tgtEl>
                                      </p:cBhvr>
                                    </p:animEffect>
                                  </p:childTnLst>
                                </p:cTn>
                              </p:par>
                            </p:childTnLst>
                          </p:cTn>
                        </p:par>
                        <p:par>
                          <p:cTn id="57" fill="hold">
                            <p:stCondLst>
                              <p:cond delay="1500"/>
                            </p:stCondLst>
                            <p:childTnLst>
                              <p:par>
                                <p:cTn id="58" presetID="22" presetClass="entr" presetSubtype="4" fill="hold" nodeType="afterEffect">
                                  <p:stCondLst>
                                    <p:cond delay="0"/>
                                  </p:stCondLst>
                                  <p:childTnLst>
                                    <p:set>
                                      <p:cBhvr>
                                        <p:cTn id="59" dur="1" fill="hold">
                                          <p:stCondLst>
                                            <p:cond delay="0"/>
                                          </p:stCondLst>
                                        </p:cTn>
                                        <p:tgtEl>
                                          <p:spTgt spid="410"/>
                                        </p:tgtEl>
                                        <p:attrNameLst>
                                          <p:attrName>style.visibility</p:attrName>
                                        </p:attrNameLst>
                                      </p:cBhvr>
                                      <p:to>
                                        <p:strVal val="visible"/>
                                      </p:to>
                                    </p:set>
                                    <p:animEffect transition="in" filter="wipe(down)">
                                      <p:cBhvr>
                                        <p:cTn id="60" dur="500"/>
                                        <p:tgtEl>
                                          <p:spTgt spid="410"/>
                                        </p:tgtEl>
                                      </p:cBhvr>
                                    </p:animEffect>
                                  </p:childTnLst>
                                </p:cTn>
                              </p:par>
                            </p:childTnLst>
                          </p:cTn>
                        </p:par>
                        <p:par>
                          <p:cTn id="61" fill="hold">
                            <p:stCondLst>
                              <p:cond delay="2000"/>
                            </p:stCondLst>
                            <p:childTnLst>
                              <p:par>
                                <p:cTn id="62" presetID="9" presetClass="entr" presetSubtype="0" fill="hold" nodeType="afterEffect">
                                  <p:stCondLst>
                                    <p:cond delay="0"/>
                                  </p:stCondLst>
                                  <p:childTnLst>
                                    <p:set>
                                      <p:cBhvr>
                                        <p:cTn id="63" dur="1" fill="hold">
                                          <p:stCondLst>
                                            <p:cond delay="0"/>
                                          </p:stCondLst>
                                        </p:cTn>
                                        <p:tgtEl>
                                          <p:spTgt spid="411"/>
                                        </p:tgtEl>
                                        <p:attrNameLst>
                                          <p:attrName>style.visibility</p:attrName>
                                        </p:attrNameLst>
                                      </p:cBhvr>
                                      <p:to>
                                        <p:strVal val="visible"/>
                                      </p:to>
                                    </p:set>
                                    <p:animEffect transition="in" filter="dissolve">
                                      <p:cBhvr>
                                        <p:cTn id="64" dur="500"/>
                                        <p:tgtEl>
                                          <p:spTgt spid="411"/>
                                        </p:tgtEl>
                                      </p:cBhvr>
                                    </p:animEffect>
                                  </p:childTnLst>
                                </p:cTn>
                              </p:par>
                            </p:childTnLst>
                          </p:cTn>
                        </p:par>
                        <p:par>
                          <p:cTn id="65" fill="hold">
                            <p:stCondLst>
                              <p:cond delay="2500"/>
                            </p:stCondLst>
                            <p:childTnLst>
                              <p:par>
                                <p:cTn id="66" presetID="22" presetClass="entr" presetSubtype="1" fill="hold" nodeType="afterEffect">
                                  <p:stCondLst>
                                    <p:cond delay="0"/>
                                  </p:stCondLst>
                                  <p:childTnLst>
                                    <p:set>
                                      <p:cBhvr>
                                        <p:cTn id="67" dur="1" fill="hold">
                                          <p:stCondLst>
                                            <p:cond delay="0"/>
                                          </p:stCondLst>
                                        </p:cTn>
                                        <p:tgtEl>
                                          <p:spTgt spid="414"/>
                                        </p:tgtEl>
                                        <p:attrNameLst>
                                          <p:attrName>style.visibility</p:attrName>
                                        </p:attrNameLst>
                                      </p:cBhvr>
                                      <p:to>
                                        <p:strVal val="visible"/>
                                      </p:to>
                                    </p:set>
                                    <p:animEffect transition="in" filter="wipe(up)">
                                      <p:cBhvr>
                                        <p:cTn id="68" dur="500"/>
                                        <p:tgtEl>
                                          <p:spTgt spid="414"/>
                                        </p:tgtEl>
                                      </p:cBhvr>
                                    </p:animEffect>
                                  </p:childTnLst>
                                </p:cTn>
                              </p:par>
                            </p:childTnLst>
                          </p:cTn>
                        </p:par>
                        <p:par>
                          <p:cTn id="69" fill="hold">
                            <p:stCondLst>
                              <p:cond delay="3000"/>
                            </p:stCondLst>
                            <p:childTnLst>
                              <p:par>
                                <p:cTn id="70" presetID="22" presetClass="entr" presetSubtype="4" fill="hold" grpId="0" nodeType="afterEffect">
                                  <p:stCondLst>
                                    <p:cond delay="0"/>
                                  </p:stCondLst>
                                  <p:childTnLst>
                                    <p:set>
                                      <p:cBhvr>
                                        <p:cTn id="71" dur="1" fill="hold">
                                          <p:stCondLst>
                                            <p:cond delay="0"/>
                                          </p:stCondLst>
                                        </p:cTn>
                                        <p:tgtEl>
                                          <p:spTgt spid="415"/>
                                        </p:tgtEl>
                                        <p:attrNameLst>
                                          <p:attrName>style.visibility</p:attrName>
                                        </p:attrNameLst>
                                      </p:cBhvr>
                                      <p:to>
                                        <p:strVal val="visible"/>
                                      </p:to>
                                    </p:set>
                                    <p:animEffect transition="in" filter="wipe(down)">
                                      <p:cBhvr>
                                        <p:cTn id="72" dur="500"/>
                                        <p:tgtEl>
                                          <p:spTgt spid="415"/>
                                        </p:tgtEl>
                                      </p:cBhvr>
                                    </p:animEffect>
                                  </p:childTnLst>
                                </p:cTn>
                              </p:par>
                              <p:par>
                                <p:cTn id="73" presetID="9" presetClass="entr" presetSubtype="0" fill="hold" grpId="0" nodeType="withEffect">
                                  <p:stCondLst>
                                    <p:cond delay="0"/>
                                  </p:stCondLst>
                                  <p:childTnLst>
                                    <p:set>
                                      <p:cBhvr>
                                        <p:cTn id="74" dur="1" fill="hold">
                                          <p:stCondLst>
                                            <p:cond delay="0"/>
                                          </p:stCondLst>
                                        </p:cTn>
                                        <p:tgtEl>
                                          <p:spTgt spid="416"/>
                                        </p:tgtEl>
                                        <p:attrNameLst>
                                          <p:attrName>style.visibility</p:attrName>
                                        </p:attrNameLst>
                                      </p:cBhvr>
                                      <p:to>
                                        <p:strVal val="visible"/>
                                      </p:to>
                                    </p:set>
                                    <p:animEffect transition="in" filter="dissolve">
                                      <p:cBhvr>
                                        <p:cTn id="75" dur="500"/>
                                        <p:tgtEl>
                                          <p:spTgt spid="4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1" grpId="0"/>
      <p:bldP spid="391" grpId="1"/>
      <p:bldP spid="397" grpId="0"/>
      <p:bldP spid="397" grpId="1"/>
      <p:bldP spid="404" grpId="0" animBg="1"/>
      <p:bldP spid="404" grpId="1" animBg="1"/>
      <p:bldP spid="415" grpId="0" animBg="1"/>
      <p:bldP spid="416"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r>
              <a:rPr lang="en-US" altLang="en-US" sz="4400" dirty="0">
                <a:ea typeface="MS PGothic" panose="020B0600070205080204" pitchFamily="34" charset="-128"/>
              </a:rPr>
              <a:t>Case study: Netflix</a:t>
            </a:r>
            <a:endParaRPr lang="en-US" altLang="en-US" sz="4400" dirty="0">
              <a:ea typeface="MS PGothic" panose="020B0600070205080204" pitchFamily="34" charset="-128"/>
            </a:endParaRPr>
          </a:p>
        </p:txBody>
      </p:sp>
      <p:grpSp>
        <p:nvGrpSpPr>
          <p:cNvPr id="211" name="Group 249"/>
          <p:cNvGrpSpPr/>
          <p:nvPr/>
        </p:nvGrpSpPr>
        <p:grpSpPr bwMode="auto">
          <a:xfrm>
            <a:off x="2638476" y="3253801"/>
            <a:ext cx="463550" cy="638175"/>
            <a:chOff x="4140" y="429"/>
            <a:chExt cx="1425" cy="2396"/>
          </a:xfrm>
        </p:grpSpPr>
        <p:sp>
          <p:nvSpPr>
            <p:cNvPr id="212"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 name="Rectangle 251"/>
            <p:cNvSpPr>
              <a:spLocks noChangeArrowheads="1"/>
            </p:cNvSpPr>
            <p:nvPr/>
          </p:nvSpPr>
          <p:spPr bwMode="auto">
            <a:xfrm>
              <a:off x="4203" y="429"/>
              <a:ext cx="1049" cy="2283"/>
            </a:xfrm>
            <a:prstGeom prst="rect">
              <a:avLst/>
            </a:prstGeom>
            <a:gradFill rotWithShape="1">
              <a:gsLst>
                <a:gs pos="0">
                  <a:srgbClr val="292929"/>
                </a:gs>
                <a:gs pos="100000">
                  <a:srgbClr val="808080"/>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21"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3" name="Rectangle 254"/>
            <p:cNvSpPr>
              <a:spLocks noChangeArrowheads="1"/>
            </p:cNvSpPr>
            <p:nvPr/>
          </p:nvSpPr>
          <p:spPr bwMode="auto">
            <a:xfrm>
              <a:off x="4213" y="691"/>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424" name="Group 255"/>
            <p:cNvGrpSpPr/>
            <p:nvPr/>
          </p:nvGrpSpPr>
          <p:grpSpPr bwMode="auto">
            <a:xfrm>
              <a:off x="4749" y="668"/>
              <a:ext cx="581" cy="145"/>
              <a:chOff x="614" y="2568"/>
              <a:chExt cx="725" cy="139"/>
            </a:xfrm>
          </p:grpSpPr>
          <p:sp>
            <p:nvSpPr>
              <p:cNvPr id="449" name="AutoShape 256"/>
              <p:cNvSpPr>
                <a:spLocks noChangeArrowheads="1"/>
              </p:cNvSpPr>
              <p:nvPr/>
            </p:nvSpPr>
            <p:spPr bwMode="auto">
              <a:xfrm>
                <a:off x="615" y="2567"/>
                <a:ext cx="725" cy="126"/>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50" name="AutoShape 257"/>
              <p:cNvSpPr>
                <a:spLocks noChangeArrowheads="1"/>
              </p:cNvSpPr>
              <p:nvPr/>
            </p:nvSpPr>
            <p:spPr bwMode="auto">
              <a:xfrm>
                <a:off x="634"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425" name="Rectangle 258"/>
            <p:cNvSpPr>
              <a:spLocks noChangeArrowheads="1"/>
            </p:cNvSpPr>
            <p:nvPr/>
          </p:nvSpPr>
          <p:spPr bwMode="auto">
            <a:xfrm>
              <a:off x="4223" y="1019"/>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426" name="Group 259"/>
            <p:cNvGrpSpPr/>
            <p:nvPr/>
          </p:nvGrpSpPr>
          <p:grpSpPr bwMode="auto">
            <a:xfrm>
              <a:off x="4747" y="994"/>
              <a:ext cx="581" cy="134"/>
              <a:chOff x="614" y="2568"/>
              <a:chExt cx="725" cy="139"/>
            </a:xfrm>
          </p:grpSpPr>
          <p:sp>
            <p:nvSpPr>
              <p:cNvPr id="447" name="AutoShape 260"/>
              <p:cNvSpPr>
                <a:spLocks noChangeArrowheads="1"/>
              </p:cNvSpPr>
              <p:nvPr/>
            </p:nvSpPr>
            <p:spPr bwMode="auto">
              <a:xfrm>
                <a:off x="612" y="2569"/>
                <a:ext cx="725" cy="136"/>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48" name="AutoShape 261"/>
              <p:cNvSpPr>
                <a:spLocks noChangeArrowheads="1"/>
              </p:cNvSpPr>
              <p:nvPr/>
            </p:nvSpPr>
            <p:spPr bwMode="auto">
              <a:xfrm>
                <a:off x="624" y="2588"/>
                <a:ext cx="694"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427" name="Rectangle 262"/>
            <p:cNvSpPr>
              <a:spLocks noChangeArrowheads="1"/>
            </p:cNvSpPr>
            <p:nvPr/>
          </p:nvSpPr>
          <p:spPr bwMode="auto">
            <a:xfrm>
              <a:off x="4218" y="1359"/>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28" name="Rectangle 263"/>
            <p:cNvSpPr>
              <a:spLocks noChangeArrowheads="1"/>
            </p:cNvSpPr>
            <p:nvPr/>
          </p:nvSpPr>
          <p:spPr bwMode="auto">
            <a:xfrm>
              <a:off x="4228" y="1657"/>
              <a:ext cx="595" cy="42"/>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429" name="Group 264"/>
            <p:cNvGrpSpPr/>
            <p:nvPr/>
          </p:nvGrpSpPr>
          <p:grpSpPr bwMode="auto">
            <a:xfrm>
              <a:off x="4735" y="1627"/>
              <a:ext cx="582" cy="151"/>
              <a:chOff x="614" y="2568"/>
              <a:chExt cx="725" cy="139"/>
            </a:xfrm>
          </p:grpSpPr>
          <p:sp>
            <p:nvSpPr>
              <p:cNvPr id="445" name="AutoShape 265"/>
              <p:cNvSpPr>
                <a:spLocks noChangeArrowheads="1"/>
              </p:cNvSpPr>
              <p:nvPr/>
            </p:nvSpPr>
            <p:spPr bwMode="auto">
              <a:xfrm>
                <a:off x="614" y="2568"/>
                <a:ext cx="717" cy="137"/>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46" name="AutoShape 266"/>
              <p:cNvSpPr>
                <a:spLocks noChangeArrowheads="1"/>
              </p:cNvSpPr>
              <p:nvPr/>
            </p:nvSpPr>
            <p:spPr bwMode="auto">
              <a:xfrm>
                <a:off x="627" y="2584"/>
                <a:ext cx="687"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430"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31" name="Group 268"/>
            <p:cNvGrpSpPr/>
            <p:nvPr/>
          </p:nvGrpSpPr>
          <p:grpSpPr bwMode="auto">
            <a:xfrm>
              <a:off x="4739" y="1327"/>
              <a:ext cx="582" cy="139"/>
              <a:chOff x="614" y="2568"/>
              <a:chExt cx="725" cy="139"/>
            </a:xfrm>
          </p:grpSpPr>
          <p:sp>
            <p:nvSpPr>
              <p:cNvPr id="443" name="AutoShape 269"/>
              <p:cNvSpPr>
                <a:spLocks noChangeArrowheads="1"/>
              </p:cNvSpPr>
              <p:nvPr/>
            </p:nvSpPr>
            <p:spPr bwMode="auto">
              <a:xfrm>
                <a:off x="616" y="2570"/>
                <a:ext cx="723" cy="137"/>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44" name="AutoShape 270"/>
              <p:cNvSpPr>
                <a:spLocks noChangeArrowheads="1"/>
              </p:cNvSpPr>
              <p:nvPr/>
            </p:nvSpPr>
            <p:spPr bwMode="auto">
              <a:xfrm>
                <a:off x="640" y="2588"/>
                <a:ext cx="681"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432" name="Rectangle 271"/>
            <p:cNvSpPr>
              <a:spLocks noChangeArrowheads="1"/>
            </p:cNvSpPr>
            <p:nvPr/>
          </p:nvSpPr>
          <p:spPr bwMode="auto">
            <a:xfrm>
              <a:off x="5248"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33"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4"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 name="Oval 274"/>
            <p:cNvSpPr>
              <a:spLocks noChangeArrowheads="1"/>
            </p:cNvSpPr>
            <p:nvPr/>
          </p:nvSpPr>
          <p:spPr bwMode="auto">
            <a:xfrm>
              <a:off x="5516" y="2610"/>
              <a:ext cx="49" cy="95"/>
            </a:xfrm>
            <a:prstGeom prst="ellipse">
              <a:avLst/>
            </a:prstGeom>
            <a:solidFill>
              <a:srgbClr val="3333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36"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7" name="AutoShape 276"/>
            <p:cNvSpPr>
              <a:spLocks noChangeArrowheads="1"/>
            </p:cNvSpPr>
            <p:nvPr/>
          </p:nvSpPr>
          <p:spPr bwMode="auto">
            <a:xfrm>
              <a:off x="4140" y="2682"/>
              <a:ext cx="1201" cy="143"/>
            </a:xfrm>
            <a:prstGeom prst="roundRect">
              <a:avLst>
                <a:gd name="adj" fmla="val 50000"/>
              </a:avLst>
            </a:prstGeom>
            <a:solidFill>
              <a:srgbClr val="DDDDDD"/>
            </a:soli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38" name="AutoShape 277"/>
            <p:cNvSpPr>
              <a:spLocks noChangeArrowheads="1"/>
            </p:cNvSpPr>
            <p:nvPr/>
          </p:nvSpPr>
          <p:spPr bwMode="auto">
            <a:xfrm>
              <a:off x="4203" y="2712"/>
              <a:ext cx="1074" cy="77"/>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39" name="Oval 278"/>
            <p:cNvSpPr>
              <a:spLocks noChangeArrowheads="1"/>
            </p:cNvSpPr>
            <p:nvPr/>
          </p:nvSpPr>
          <p:spPr bwMode="auto">
            <a:xfrm>
              <a:off x="4306" y="2384"/>
              <a:ext cx="161" cy="143"/>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40" name="Oval 279"/>
            <p:cNvSpPr>
              <a:spLocks noChangeArrowheads="1"/>
            </p:cNvSpPr>
            <p:nvPr/>
          </p:nvSpPr>
          <p:spPr bwMode="auto">
            <a:xfrm>
              <a:off x="4486" y="2384"/>
              <a:ext cx="161" cy="143"/>
            </a:xfrm>
            <a:prstGeom prst="ellipse">
              <a:avLst/>
            </a:prstGeom>
            <a:solidFill>
              <a:srgbClr val="FF0000"/>
            </a:solidFill>
            <a:ln>
              <a:noFill/>
            </a:ln>
            <a:effectLst/>
          </p:spPr>
          <p:txBody>
            <a:bodyPr wrap="none" anchor="ctr"/>
            <a:lstStyle/>
            <a:p>
              <a:pPr algn="ctr">
                <a:buFont typeface="ZapfDingbats" charset="0"/>
                <a:buNone/>
                <a:defRPr/>
              </a:pPr>
              <a:endParaRPr lang="en-US" dirty="0">
                <a:solidFill>
                  <a:srgbClr val="FF0000"/>
                </a:solidFill>
                <a:latin typeface="Arial" panose="020B0604020202020204" pitchFamily="34" charset="0"/>
                <a:ea typeface="MS PGothic" panose="020B0600070205080204" pitchFamily="34" charset="-128"/>
              </a:endParaRPr>
            </a:p>
          </p:txBody>
        </p:sp>
        <p:sp>
          <p:nvSpPr>
            <p:cNvPr id="441" name="Oval 280"/>
            <p:cNvSpPr>
              <a:spLocks noChangeArrowheads="1"/>
            </p:cNvSpPr>
            <p:nvPr/>
          </p:nvSpPr>
          <p:spPr bwMode="auto">
            <a:xfrm>
              <a:off x="4662" y="2378"/>
              <a:ext cx="156" cy="143"/>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42" name="Rectangle 281"/>
            <p:cNvSpPr>
              <a:spLocks noChangeArrowheads="1"/>
            </p:cNvSpPr>
            <p:nvPr/>
          </p:nvSpPr>
          <p:spPr bwMode="auto">
            <a:xfrm>
              <a:off x="5062" y="1836"/>
              <a:ext cx="83" cy="763"/>
            </a:xfrm>
            <a:prstGeom prst="rect">
              <a:avLst/>
            </a:prstGeom>
            <a:solidFill>
              <a:srgbClr val="292929"/>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grpSp>
        <p:nvGrpSpPr>
          <p:cNvPr id="451" name="Group 542"/>
          <p:cNvGrpSpPr/>
          <p:nvPr/>
        </p:nvGrpSpPr>
        <p:grpSpPr bwMode="auto">
          <a:xfrm>
            <a:off x="4670476" y="5093714"/>
            <a:ext cx="963612" cy="835025"/>
            <a:chOff x="-44" y="1473"/>
            <a:chExt cx="981" cy="1105"/>
          </a:xfrm>
        </p:grpSpPr>
        <p:pic>
          <p:nvPicPr>
            <p:cNvPr id="452" name="Picture 529"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3" name="Freeform 530"/>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a:solidFill>
                    <a:schemeClr val="tx1"/>
                  </a:solidFill>
                  <a:prstDash val="solid"/>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pic>
        <p:nvPicPr>
          <p:cNvPr id="454" name="Picture 7" descr="Bob"/>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34026" y="5898576"/>
            <a:ext cx="533400" cy="54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3016301" y="3906264"/>
            <a:ext cx="1804987" cy="1489075"/>
            <a:chOff x="3016301" y="3906264"/>
            <a:chExt cx="1804987" cy="1489075"/>
          </a:xfrm>
        </p:grpSpPr>
        <p:cxnSp>
          <p:nvCxnSpPr>
            <p:cNvPr id="455" name="Straight Arrow Connector 484"/>
            <p:cNvCxnSpPr>
              <a:cxnSpLocks noChangeShapeType="1"/>
            </p:cNvCxnSpPr>
            <p:nvPr/>
          </p:nvCxnSpPr>
          <p:spPr bwMode="auto">
            <a:xfrm>
              <a:off x="3016301" y="3906264"/>
              <a:ext cx="1804987" cy="1489075"/>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56" name="Group 61440"/>
            <p:cNvGrpSpPr/>
            <p:nvPr/>
          </p:nvGrpSpPr>
          <p:grpSpPr bwMode="auto">
            <a:xfrm>
              <a:off x="3403651" y="4149151"/>
              <a:ext cx="317500" cy="368300"/>
              <a:chOff x="1614533" y="4280420"/>
              <a:chExt cx="317511" cy="369332"/>
            </a:xfrm>
          </p:grpSpPr>
          <p:sp>
            <p:nvSpPr>
              <p:cNvPr id="457" name="Oval 486"/>
              <p:cNvSpPr>
                <a:spLocks noChangeArrowheads="1"/>
              </p:cNvSpPr>
              <p:nvPr/>
            </p:nvSpPr>
            <p:spPr bwMode="auto">
              <a:xfrm>
                <a:off x="1628337" y="4321838"/>
                <a:ext cx="303707" cy="303707"/>
              </a:xfrm>
              <a:prstGeom prst="ellipse">
                <a:avLst/>
              </a:prstGeom>
              <a:solidFill>
                <a:schemeClr val="bg1"/>
              </a:solidFill>
              <a:ln w="15875">
                <a:solidFill>
                  <a:schemeClr val="tx1"/>
                </a:solidFill>
                <a:round/>
              </a:ln>
            </p:spPr>
            <p:txBody>
              <a:bodyPr wrap="none"/>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458" name="TextBox 487"/>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t>1</a:t>
                </a:r>
                <a:endParaRPr lang="en-US" altLang="en-US" sz="1800"/>
              </a:p>
            </p:txBody>
          </p:sp>
        </p:grpSp>
      </p:grpSp>
      <p:sp>
        <p:nvSpPr>
          <p:cNvPr id="459" name="TextBox 488"/>
          <p:cNvSpPr txBox="1">
            <a:spLocks noChangeArrowheads="1"/>
          </p:cNvSpPr>
          <p:nvPr/>
        </p:nvSpPr>
        <p:spPr bwMode="auto">
          <a:xfrm>
            <a:off x="2317984" y="4489458"/>
            <a:ext cx="203358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pPr>
            <a:r>
              <a:rPr lang="en-US" altLang="en-US" sz="1800" dirty="0">
                <a:latin typeface="Calibri" panose="020F0502020204030204" pitchFamily="34" charset="0"/>
                <a:cs typeface="Calibri" panose="020F0502020204030204" pitchFamily="34" charset="0"/>
              </a:rPr>
              <a:t>Bob manages      Netflix account</a:t>
            </a:r>
            <a:endParaRPr lang="en-US" altLang="en-US" sz="1800" dirty="0">
              <a:latin typeface="Calibri" panose="020F0502020204030204" pitchFamily="34" charset="0"/>
              <a:cs typeface="Calibri" panose="020F0502020204030204" pitchFamily="34" charset="0"/>
            </a:endParaRPr>
          </a:p>
        </p:txBody>
      </p:sp>
      <p:sp>
        <p:nvSpPr>
          <p:cNvPr id="460" name="TextBox 490"/>
          <p:cNvSpPr txBox="1">
            <a:spLocks noChangeArrowheads="1"/>
          </p:cNvSpPr>
          <p:nvPr/>
        </p:nvSpPr>
        <p:spPr bwMode="auto">
          <a:xfrm>
            <a:off x="1932038" y="2701351"/>
            <a:ext cx="203358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lnSpc>
                <a:spcPts val="1600"/>
              </a:lnSpc>
            </a:pPr>
            <a:r>
              <a:rPr lang="en-US" altLang="en-US" sz="1800">
                <a:latin typeface="Arial Narrow" panose="020B0606020202030204" pitchFamily="34" charset="0"/>
              </a:rPr>
              <a:t>Netflix registration,</a:t>
            </a:r>
            <a:endParaRPr lang="en-US" altLang="en-US" sz="1800">
              <a:latin typeface="Arial Narrow" panose="020B0606020202030204" pitchFamily="34" charset="0"/>
            </a:endParaRPr>
          </a:p>
          <a:p>
            <a:pPr algn="ctr">
              <a:lnSpc>
                <a:spcPts val="1600"/>
              </a:lnSpc>
            </a:pPr>
            <a:r>
              <a:rPr lang="en-US" altLang="en-US" sz="1800">
                <a:latin typeface="Arial Narrow" panose="020B0606020202030204" pitchFamily="34" charset="0"/>
              </a:rPr>
              <a:t>accounting servers</a:t>
            </a:r>
            <a:endParaRPr lang="en-US" altLang="en-US" sz="1800">
              <a:latin typeface="Arial Narrow" panose="020B0606020202030204" pitchFamily="34" charset="0"/>
            </a:endParaRPr>
          </a:p>
        </p:txBody>
      </p:sp>
      <p:sp>
        <p:nvSpPr>
          <p:cNvPr id="461" name="Freeform 1287"/>
          <p:cNvSpPr/>
          <p:nvPr/>
        </p:nvSpPr>
        <p:spPr bwMode="auto">
          <a:xfrm>
            <a:off x="4197401" y="1571051"/>
            <a:ext cx="3133725" cy="1508125"/>
          </a:xfrm>
          <a:custGeom>
            <a:avLst/>
            <a:gdLst>
              <a:gd name="T0" fmla="*/ 2147483647 w 10000"/>
              <a:gd name="T1" fmla="*/ 431447115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739636681 h 10000"/>
              <a:gd name="T32" fmla="*/ 2147483647 w 10000"/>
              <a:gd name="T33" fmla="*/ 17111488 h 10000"/>
              <a:gd name="T34" fmla="*/ 2147483647 w 10000"/>
              <a:gd name="T35" fmla="*/ 431447115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p:spPr>
        <p:txBody>
          <a:bodyPr/>
          <a:lstStyle/>
          <a:p>
            <a:endParaRPr lang="en-US"/>
          </a:p>
        </p:txBody>
      </p:sp>
      <p:grpSp>
        <p:nvGrpSpPr>
          <p:cNvPr id="462" name="Group 249"/>
          <p:cNvGrpSpPr/>
          <p:nvPr/>
        </p:nvGrpSpPr>
        <p:grpSpPr bwMode="auto">
          <a:xfrm>
            <a:off x="4443463" y="1936176"/>
            <a:ext cx="365125" cy="636588"/>
            <a:chOff x="4140" y="429"/>
            <a:chExt cx="1425" cy="2396"/>
          </a:xfrm>
        </p:grpSpPr>
        <p:sp>
          <p:nvSpPr>
            <p:cNvPr id="463"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4" name="Rectangle 251"/>
            <p:cNvSpPr>
              <a:spLocks noChangeArrowheads="1"/>
            </p:cNvSpPr>
            <p:nvPr/>
          </p:nvSpPr>
          <p:spPr bwMode="auto">
            <a:xfrm>
              <a:off x="4202" y="435"/>
              <a:ext cx="1053" cy="2276"/>
            </a:xfrm>
            <a:prstGeom prst="rect">
              <a:avLst/>
            </a:prstGeom>
            <a:gradFill rotWithShape="1">
              <a:gsLst>
                <a:gs pos="0">
                  <a:srgbClr val="292929"/>
                </a:gs>
                <a:gs pos="100000">
                  <a:srgbClr val="808080"/>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65"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6"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7" name="Rectangle 254"/>
            <p:cNvSpPr>
              <a:spLocks noChangeArrowheads="1"/>
            </p:cNvSpPr>
            <p:nvPr/>
          </p:nvSpPr>
          <p:spPr bwMode="auto">
            <a:xfrm>
              <a:off x="4214" y="692"/>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468" name="Group 255"/>
            <p:cNvGrpSpPr/>
            <p:nvPr/>
          </p:nvGrpSpPr>
          <p:grpSpPr bwMode="auto">
            <a:xfrm>
              <a:off x="4749" y="668"/>
              <a:ext cx="581" cy="145"/>
              <a:chOff x="614" y="2568"/>
              <a:chExt cx="725" cy="139"/>
            </a:xfrm>
          </p:grpSpPr>
          <p:sp>
            <p:nvSpPr>
              <p:cNvPr id="493" name="AutoShape 256"/>
              <p:cNvSpPr>
                <a:spLocks noChangeArrowheads="1"/>
              </p:cNvSpPr>
              <p:nvPr/>
            </p:nvSpPr>
            <p:spPr bwMode="auto">
              <a:xfrm>
                <a:off x="612" y="2568"/>
                <a:ext cx="727" cy="137"/>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94" name="AutoShape 257"/>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469" name="Rectangle 258"/>
            <p:cNvSpPr>
              <a:spLocks noChangeArrowheads="1"/>
            </p:cNvSpPr>
            <p:nvPr/>
          </p:nvSpPr>
          <p:spPr bwMode="auto">
            <a:xfrm>
              <a:off x="4227" y="1021"/>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470" name="Group 259"/>
            <p:cNvGrpSpPr/>
            <p:nvPr/>
          </p:nvGrpSpPr>
          <p:grpSpPr bwMode="auto">
            <a:xfrm>
              <a:off x="4747" y="994"/>
              <a:ext cx="581" cy="134"/>
              <a:chOff x="614" y="2568"/>
              <a:chExt cx="725" cy="139"/>
            </a:xfrm>
          </p:grpSpPr>
          <p:sp>
            <p:nvSpPr>
              <p:cNvPr id="491" name="AutoShape 260"/>
              <p:cNvSpPr>
                <a:spLocks noChangeArrowheads="1"/>
              </p:cNvSpPr>
              <p:nvPr/>
            </p:nvSpPr>
            <p:spPr bwMode="auto">
              <a:xfrm>
                <a:off x="614" y="2577"/>
                <a:ext cx="727" cy="130"/>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92" name="AutoShape 261"/>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471" name="Rectangle 262"/>
            <p:cNvSpPr>
              <a:spLocks noChangeArrowheads="1"/>
            </p:cNvSpPr>
            <p:nvPr/>
          </p:nvSpPr>
          <p:spPr bwMode="auto">
            <a:xfrm>
              <a:off x="4214" y="1355"/>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72" name="Rectangle 263"/>
            <p:cNvSpPr>
              <a:spLocks noChangeArrowheads="1"/>
            </p:cNvSpPr>
            <p:nvPr/>
          </p:nvSpPr>
          <p:spPr bwMode="auto">
            <a:xfrm>
              <a:off x="4227" y="1654"/>
              <a:ext cx="601"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473" name="Group 264"/>
            <p:cNvGrpSpPr/>
            <p:nvPr/>
          </p:nvGrpSpPr>
          <p:grpSpPr bwMode="auto">
            <a:xfrm>
              <a:off x="4735" y="1627"/>
              <a:ext cx="582" cy="151"/>
              <a:chOff x="614" y="2568"/>
              <a:chExt cx="725" cy="139"/>
            </a:xfrm>
          </p:grpSpPr>
          <p:sp>
            <p:nvSpPr>
              <p:cNvPr id="489" name="AutoShape 265"/>
              <p:cNvSpPr>
                <a:spLocks noChangeArrowheads="1"/>
              </p:cNvSpPr>
              <p:nvPr/>
            </p:nvSpPr>
            <p:spPr bwMode="auto">
              <a:xfrm>
                <a:off x="614" y="2576"/>
                <a:ext cx="718" cy="132"/>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90" name="AutoShape 266"/>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474"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75" name="Group 268"/>
            <p:cNvGrpSpPr/>
            <p:nvPr/>
          </p:nvGrpSpPr>
          <p:grpSpPr bwMode="auto">
            <a:xfrm>
              <a:off x="4739" y="1327"/>
              <a:ext cx="582" cy="139"/>
              <a:chOff x="614" y="2568"/>
              <a:chExt cx="725" cy="139"/>
            </a:xfrm>
          </p:grpSpPr>
          <p:sp>
            <p:nvSpPr>
              <p:cNvPr id="487" name="AutoShape 269"/>
              <p:cNvSpPr>
                <a:spLocks noChangeArrowheads="1"/>
              </p:cNvSpPr>
              <p:nvPr/>
            </p:nvSpPr>
            <p:spPr bwMode="auto">
              <a:xfrm>
                <a:off x="616" y="2566"/>
                <a:ext cx="725" cy="149"/>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88" name="AutoShape 270"/>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476" name="Rectangle 271"/>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77"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9" name="Oval 274"/>
            <p:cNvSpPr>
              <a:spLocks noChangeArrowheads="1"/>
            </p:cNvSpPr>
            <p:nvPr/>
          </p:nvSpPr>
          <p:spPr bwMode="auto">
            <a:xfrm>
              <a:off x="5515" y="2610"/>
              <a:ext cx="50" cy="96"/>
            </a:xfrm>
            <a:prstGeom prst="ellipse">
              <a:avLst/>
            </a:prstGeom>
            <a:solidFill>
              <a:srgbClr val="3333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80"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1" name="AutoShape 276"/>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82" name="AutoShape 277"/>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83" name="Oval 278"/>
            <p:cNvSpPr>
              <a:spLocks noChangeArrowheads="1"/>
            </p:cNvSpPr>
            <p:nvPr/>
          </p:nvSpPr>
          <p:spPr bwMode="auto">
            <a:xfrm>
              <a:off x="4307" y="2383"/>
              <a:ext cx="161" cy="143"/>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84" name="Oval 279"/>
            <p:cNvSpPr>
              <a:spLocks noChangeArrowheads="1"/>
            </p:cNvSpPr>
            <p:nvPr/>
          </p:nvSpPr>
          <p:spPr bwMode="auto">
            <a:xfrm>
              <a:off x="4487" y="2383"/>
              <a:ext cx="161" cy="143"/>
            </a:xfrm>
            <a:prstGeom prst="ellipse">
              <a:avLst/>
            </a:prstGeom>
            <a:solidFill>
              <a:srgbClr val="FF0000"/>
            </a:solidFill>
            <a:ln>
              <a:noFill/>
            </a:ln>
            <a:effectLst/>
          </p:spPr>
          <p:txBody>
            <a:bodyPr wrap="none" anchor="ctr"/>
            <a:lstStyle/>
            <a:p>
              <a:pPr algn="ctr">
                <a:buFont typeface="ZapfDingbats" charset="0"/>
                <a:buNone/>
                <a:defRPr/>
              </a:pPr>
              <a:endParaRPr lang="en-US" dirty="0">
                <a:solidFill>
                  <a:srgbClr val="FF0000"/>
                </a:solidFill>
                <a:latin typeface="Arial" panose="020B0604020202020204" pitchFamily="34" charset="0"/>
                <a:ea typeface="MS PGothic" panose="020B0600070205080204" pitchFamily="34" charset="-128"/>
              </a:endParaRPr>
            </a:p>
          </p:txBody>
        </p:sp>
        <p:sp>
          <p:nvSpPr>
            <p:cNvPr id="485" name="Oval 280"/>
            <p:cNvSpPr>
              <a:spLocks noChangeArrowheads="1"/>
            </p:cNvSpPr>
            <p:nvPr/>
          </p:nvSpPr>
          <p:spPr bwMode="auto">
            <a:xfrm>
              <a:off x="4660" y="2383"/>
              <a:ext cx="161" cy="137"/>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86" name="Rectangle 281"/>
            <p:cNvSpPr>
              <a:spLocks noChangeArrowheads="1"/>
            </p:cNvSpPr>
            <p:nvPr/>
          </p:nvSpPr>
          <p:spPr bwMode="auto">
            <a:xfrm>
              <a:off x="5063" y="1833"/>
              <a:ext cx="87" cy="765"/>
            </a:xfrm>
            <a:prstGeom prst="rect">
              <a:avLst/>
            </a:prstGeom>
            <a:solidFill>
              <a:srgbClr val="292929"/>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grpSp>
        <p:nvGrpSpPr>
          <p:cNvPr id="495" name="Group 249"/>
          <p:cNvGrpSpPr/>
          <p:nvPr/>
        </p:nvGrpSpPr>
        <p:grpSpPr bwMode="auto">
          <a:xfrm>
            <a:off x="5880151" y="2102864"/>
            <a:ext cx="365125" cy="636587"/>
            <a:chOff x="4140" y="429"/>
            <a:chExt cx="1425" cy="2396"/>
          </a:xfrm>
        </p:grpSpPr>
        <p:sp>
          <p:nvSpPr>
            <p:cNvPr id="496"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7" name="Rectangle 251"/>
            <p:cNvSpPr>
              <a:spLocks noChangeArrowheads="1"/>
            </p:cNvSpPr>
            <p:nvPr/>
          </p:nvSpPr>
          <p:spPr bwMode="auto">
            <a:xfrm>
              <a:off x="4202" y="435"/>
              <a:ext cx="1053" cy="2277"/>
            </a:xfrm>
            <a:prstGeom prst="rect">
              <a:avLst/>
            </a:prstGeom>
            <a:gradFill rotWithShape="1">
              <a:gsLst>
                <a:gs pos="0">
                  <a:srgbClr val="292929"/>
                </a:gs>
                <a:gs pos="100000">
                  <a:srgbClr val="808080"/>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498"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9"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0" name="Rectangle 254"/>
            <p:cNvSpPr>
              <a:spLocks noChangeArrowheads="1"/>
            </p:cNvSpPr>
            <p:nvPr/>
          </p:nvSpPr>
          <p:spPr bwMode="auto">
            <a:xfrm>
              <a:off x="4214" y="692"/>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501" name="Group 255"/>
            <p:cNvGrpSpPr/>
            <p:nvPr/>
          </p:nvGrpSpPr>
          <p:grpSpPr bwMode="auto">
            <a:xfrm>
              <a:off x="4749" y="668"/>
              <a:ext cx="581" cy="145"/>
              <a:chOff x="614" y="2568"/>
              <a:chExt cx="725" cy="139"/>
            </a:xfrm>
          </p:grpSpPr>
          <p:sp>
            <p:nvSpPr>
              <p:cNvPr id="526" name="AutoShape 256"/>
              <p:cNvSpPr>
                <a:spLocks noChangeArrowheads="1"/>
              </p:cNvSpPr>
              <p:nvPr/>
            </p:nvSpPr>
            <p:spPr bwMode="auto">
              <a:xfrm>
                <a:off x="604" y="2574"/>
                <a:ext cx="734" cy="132"/>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27" name="AutoShape 257"/>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02" name="Rectangle 258"/>
            <p:cNvSpPr>
              <a:spLocks noChangeArrowheads="1"/>
            </p:cNvSpPr>
            <p:nvPr/>
          </p:nvSpPr>
          <p:spPr bwMode="auto">
            <a:xfrm>
              <a:off x="4227" y="1021"/>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503" name="Group 259"/>
            <p:cNvGrpSpPr/>
            <p:nvPr/>
          </p:nvGrpSpPr>
          <p:grpSpPr bwMode="auto">
            <a:xfrm>
              <a:off x="4747" y="994"/>
              <a:ext cx="581" cy="134"/>
              <a:chOff x="614" y="2568"/>
              <a:chExt cx="725" cy="139"/>
            </a:xfrm>
          </p:grpSpPr>
          <p:sp>
            <p:nvSpPr>
              <p:cNvPr id="524" name="AutoShape 260"/>
              <p:cNvSpPr>
                <a:spLocks noChangeArrowheads="1"/>
              </p:cNvSpPr>
              <p:nvPr/>
            </p:nvSpPr>
            <p:spPr bwMode="auto">
              <a:xfrm>
                <a:off x="614" y="2577"/>
                <a:ext cx="727" cy="130"/>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25" name="AutoShape 261"/>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04" name="Rectangle 262"/>
            <p:cNvSpPr>
              <a:spLocks noChangeArrowheads="1"/>
            </p:cNvSpPr>
            <p:nvPr/>
          </p:nvSpPr>
          <p:spPr bwMode="auto">
            <a:xfrm>
              <a:off x="4214" y="1355"/>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05" name="Rectangle 263"/>
            <p:cNvSpPr>
              <a:spLocks noChangeArrowheads="1"/>
            </p:cNvSpPr>
            <p:nvPr/>
          </p:nvSpPr>
          <p:spPr bwMode="auto">
            <a:xfrm>
              <a:off x="4227" y="1654"/>
              <a:ext cx="601"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506" name="Group 264"/>
            <p:cNvGrpSpPr/>
            <p:nvPr/>
          </p:nvGrpSpPr>
          <p:grpSpPr bwMode="auto">
            <a:xfrm>
              <a:off x="4735" y="1627"/>
              <a:ext cx="582" cy="151"/>
              <a:chOff x="614" y="2568"/>
              <a:chExt cx="725" cy="139"/>
            </a:xfrm>
          </p:grpSpPr>
          <p:sp>
            <p:nvSpPr>
              <p:cNvPr id="522" name="AutoShape 265"/>
              <p:cNvSpPr>
                <a:spLocks noChangeArrowheads="1"/>
              </p:cNvSpPr>
              <p:nvPr/>
            </p:nvSpPr>
            <p:spPr bwMode="auto">
              <a:xfrm>
                <a:off x="614" y="2576"/>
                <a:ext cx="718" cy="132"/>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23" name="AutoShape 266"/>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07"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08" name="Group 268"/>
            <p:cNvGrpSpPr/>
            <p:nvPr/>
          </p:nvGrpSpPr>
          <p:grpSpPr bwMode="auto">
            <a:xfrm>
              <a:off x="4739" y="1327"/>
              <a:ext cx="582" cy="139"/>
              <a:chOff x="614" y="2568"/>
              <a:chExt cx="725" cy="139"/>
            </a:xfrm>
          </p:grpSpPr>
          <p:sp>
            <p:nvSpPr>
              <p:cNvPr id="520" name="AutoShape 269"/>
              <p:cNvSpPr>
                <a:spLocks noChangeArrowheads="1"/>
              </p:cNvSpPr>
              <p:nvPr/>
            </p:nvSpPr>
            <p:spPr bwMode="auto">
              <a:xfrm>
                <a:off x="616" y="2566"/>
                <a:ext cx="725" cy="149"/>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21" name="AutoShape 270"/>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09" name="Rectangle 271"/>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10"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2" name="Oval 274"/>
            <p:cNvSpPr>
              <a:spLocks noChangeArrowheads="1"/>
            </p:cNvSpPr>
            <p:nvPr/>
          </p:nvSpPr>
          <p:spPr bwMode="auto">
            <a:xfrm>
              <a:off x="5515" y="2610"/>
              <a:ext cx="50" cy="96"/>
            </a:xfrm>
            <a:prstGeom prst="ellipse">
              <a:avLst/>
            </a:prstGeom>
            <a:solidFill>
              <a:srgbClr val="3333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13"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 name="AutoShape 276"/>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15" name="AutoShape 277"/>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16" name="Oval 278"/>
            <p:cNvSpPr>
              <a:spLocks noChangeArrowheads="1"/>
            </p:cNvSpPr>
            <p:nvPr/>
          </p:nvSpPr>
          <p:spPr bwMode="auto">
            <a:xfrm>
              <a:off x="4307" y="2383"/>
              <a:ext cx="161" cy="143"/>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17" name="Oval 279"/>
            <p:cNvSpPr>
              <a:spLocks noChangeArrowheads="1"/>
            </p:cNvSpPr>
            <p:nvPr/>
          </p:nvSpPr>
          <p:spPr bwMode="auto">
            <a:xfrm>
              <a:off x="4487" y="2383"/>
              <a:ext cx="161" cy="143"/>
            </a:xfrm>
            <a:prstGeom prst="ellipse">
              <a:avLst/>
            </a:prstGeom>
            <a:solidFill>
              <a:srgbClr val="FF0000"/>
            </a:solidFill>
            <a:ln>
              <a:noFill/>
            </a:ln>
            <a:effectLst/>
          </p:spPr>
          <p:txBody>
            <a:bodyPr wrap="none" anchor="ctr"/>
            <a:lstStyle/>
            <a:p>
              <a:pPr algn="ctr">
                <a:buFont typeface="ZapfDingbats" charset="0"/>
                <a:buNone/>
                <a:defRPr/>
              </a:pPr>
              <a:endParaRPr lang="en-US" dirty="0">
                <a:solidFill>
                  <a:srgbClr val="FF0000"/>
                </a:solidFill>
                <a:latin typeface="Arial" panose="020B0604020202020204" pitchFamily="34" charset="0"/>
                <a:ea typeface="MS PGothic" panose="020B0600070205080204" pitchFamily="34" charset="-128"/>
              </a:endParaRPr>
            </a:p>
          </p:txBody>
        </p:sp>
        <p:sp>
          <p:nvSpPr>
            <p:cNvPr id="518" name="Oval 280"/>
            <p:cNvSpPr>
              <a:spLocks noChangeArrowheads="1"/>
            </p:cNvSpPr>
            <p:nvPr/>
          </p:nvSpPr>
          <p:spPr bwMode="auto">
            <a:xfrm>
              <a:off x="4660" y="2383"/>
              <a:ext cx="161" cy="137"/>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19" name="Rectangle 281"/>
            <p:cNvSpPr>
              <a:spLocks noChangeArrowheads="1"/>
            </p:cNvSpPr>
            <p:nvPr/>
          </p:nvSpPr>
          <p:spPr bwMode="auto">
            <a:xfrm>
              <a:off x="5063" y="1833"/>
              <a:ext cx="87" cy="765"/>
            </a:xfrm>
            <a:prstGeom prst="rect">
              <a:avLst/>
            </a:prstGeom>
            <a:solidFill>
              <a:srgbClr val="292929"/>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grpSp>
        <p:nvGrpSpPr>
          <p:cNvPr id="528" name="Group 249"/>
          <p:cNvGrpSpPr/>
          <p:nvPr/>
        </p:nvGrpSpPr>
        <p:grpSpPr bwMode="auto">
          <a:xfrm>
            <a:off x="6418313" y="2367976"/>
            <a:ext cx="365125" cy="638175"/>
            <a:chOff x="4140" y="429"/>
            <a:chExt cx="1425" cy="2396"/>
          </a:xfrm>
        </p:grpSpPr>
        <p:sp>
          <p:nvSpPr>
            <p:cNvPr id="529"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0" name="Rectangle 251"/>
            <p:cNvSpPr>
              <a:spLocks noChangeArrowheads="1"/>
            </p:cNvSpPr>
            <p:nvPr/>
          </p:nvSpPr>
          <p:spPr bwMode="auto">
            <a:xfrm>
              <a:off x="4202" y="429"/>
              <a:ext cx="1053" cy="2283"/>
            </a:xfrm>
            <a:prstGeom prst="rect">
              <a:avLst/>
            </a:prstGeom>
            <a:gradFill rotWithShape="1">
              <a:gsLst>
                <a:gs pos="0">
                  <a:srgbClr val="292929"/>
                </a:gs>
                <a:gs pos="100000">
                  <a:srgbClr val="808080"/>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31"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2"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3" name="Rectangle 254"/>
            <p:cNvSpPr>
              <a:spLocks noChangeArrowheads="1"/>
            </p:cNvSpPr>
            <p:nvPr/>
          </p:nvSpPr>
          <p:spPr bwMode="auto">
            <a:xfrm>
              <a:off x="4214" y="691"/>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534" name="Group 255"/>
            <p:cNvGrpSpPr/>
            <p:nvPr/>
          </p:nvGrpSpPr>
          <p:grpSpPr bwMode="auto">
            <a:xfrm>
              <a:off x="4749" y="668"/>
              <a:ext cx="581" cy="145"/>
              <a:chOff x="614" y="2568"/>
              <a:chExt cx="725" cy="139"/>
            </a:xfrm>
          </p:grpSpPr>
          <p:sp>
            <p:nvSpPr>
              <p:cNvPr id="559" name="AutoShape 256"/>
              <p:cNvSpPr>
                <a:spLocks noChangeArrowheads="1"/>
              </p:cNvSpPr>
              <p:nvPr/>
            </p:nvSpPr>
            <p:spPr bwMode="auto">
              <a:xfrm>
                <a:off x="612" y="2562"/>
                <a:ext cx="727" cy="137"/>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60" name="AutoShape 257"/>
              <p:cNvSpPr>
                <a:spLocks noChangeArrowheads="1"/>
              </p:cNvSpPr>
              <p:nvPr/>
            </p:nvSpPr>
            <p:spPr bwMode="auto">
              <a:xfrm>
                <a:off x="627" y="2585"/>
                <a:ext cx="696"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35" name="Rectangle 258"/>
            <p:cNvSpPr>
              <a:spLocks noChangeArrowheads="1"/>
            </p:cNvSpPr>
            <p:nvPr/>
          </p:nvSpPr>
          <p:spPr bwMode="auto">
            <a:xfrm>
              <a:off x="4227" y="1019"/>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536" name="Group 259"/>
            <p:cNvGrpSpPr/>
            <p:nvPr/>
          </p:nvGrpSpPr>
          <p:grpSpPr bwMode="auto">
            <a:xfrm>
              <a:off x="4747" y="994"/>
              <a:ext cx="581" cy="134"/>
              <a:chOff x="614" y="2568"/>
              <a:chExt cx="725" cy="139"/>
            </a:xfrm>
          </p:grpSpPr>
          <p:sp>
            <p:nvSpPr>
              <p:cNvPr id="557" name="AutoShape 260"/>
              <p:cNvSpPr>
                <a:spLocks noChangeArrowheads="1"/>
              </p:cNvSpPr>
              <p:nvPr/>
            </p:nvSpPr>
            <p:spPr bwMode="auto">
              <a:xfrm>
                <a:off x="614" y="2569"/>
                <a:ext cx="727" cy="130"/>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58" name="AutoShape 261"/>
              <p:cNvSpPr>
                <a:spLocks noChangeArrowheads="1"/>
              </p:cNvSpPr>
              <p:nvPr/>
            </p:nvSpPr>
            <p:spPr bwMode="auto">
              <a:xfrm>
                <a:off x="630" y="2588"/>
                <a:ext cx="69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37" name="Rectangle 262"/>
            <p:cNvSpPr>
              <a:spLocks noChangeArrowheads="1"/>
            </p:cNvSpPr>
            <p:nvPr/>
          </p:nvSpPr>
          <p:spPr bwMode="auto">
            <a:xfrm>
              <a:off x="4214" y="1359"/>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38" name="Rectangle 263"/>
            <p:cNvSpPr>
              <a:spLocks noChangeArrowheads="1"/>
            </p:cNvSpPr>
            <p:nvPr/>
          </p:nvSpPr>
          <p:spPr bwMode="auto">
            <a:xfrm>
              <a:off x="4227" y="1657"/>
              <a:ext cx="601" cy="42"/>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539" name="Group 264"/>
            <p:cNvGrpSpPr/>
            <p:nvPr/>
          </p:nvGrpSpPr>
          <p:grpSpPr bwMode="auto">
            <a:xfrm>
              <a:off x="4735" y="1627"/>
              <a:ext cx="582" cy="151"/>
              <a:chOff x="614" y="2568"/>
              <a:chExt cx="725" cy="139"/>
            </a:xfrm>
          </p:grpSpPr>
          <p:sp>
            <p:nvSpPr>
              <p:cNvPr id="555" name="AutoShape 265"/>
              <p:cNvSpPr>
                <a:spLocks noChangeArrowheads="1"/>
              </p:cNvSpPr>
              <p:nvPr/>
            </p:nvSpPr>
            <p:spPr bwMode="auto">
              <a:xfrm>
                <a:off x="614" y="2568"/>
                <a:ext cx="718" cy="132"/>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56" name="AutoShape 266"/>
              <p:cNvSpPr>
                <a:spLocks noChangeArrowheads="1"/>
              </p:cNvSpPr>
              <p:nvPr/>
            </p:nvSpPr>
            <p:spPr bwMode="auto">
              <a:xfrm>
                <a:off x="629" y="2584"/>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40"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41" name="Group 268"/>
            <p:cNvGrpSpPr/>
            <p:nvPr/>
          </p:nvGrpSpPr>
          <p:grpSpPr bwMode="auto">
            <a:xfrm>
              <a:off x="4739" y="1327"/>
              <a:ext cx="582" cy="139"/>
              <a:chOff x="614" y="2568"/>
              <a:chExt cx="725" cy="139"/>
            </a:xfrm>
          </p:grpSpPr>
          <p:sp>
            <p:nvSpPr>
              <p:cNvPr id="553" name="AutoShape 269"/>
              <p:cNvSpPr>
                <a:spLocks noChangeArrowheads="1"/>
              </p:cNvSpPr>
              <p:nvPr/>
            </p:nvSpPr>
            <p:spPr bwMode="auto">
              <a:xfrm>
                <a:off x="616" y="2570"/>
                <a:ext cx="725" cy="137"/>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54" name="AutoShape 270"/>
              <p:cNvSpPr>
                <a:spLocks noChangeArrowheads="1"/>
              </p:cNvSpPr>
              <p:nvPr/>
            </p:nvSpPr>
            <p:spPr bwMode="auto">
              <a:xfrm>
                <a:off x="632"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42" name="Rectangle 271"/>
            <p:cNvSpPr>
              <a:spLocks noChangeArrowheads="1"/>
            </p:cNvSpPr>
            <p:nvPr/>
          </p:nvSpPr>
          <p:spPr bwMode="auto">
            <a:xfrm>
              <a:off x="5249"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43"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4"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 name="Oval 274"/>
            <p:cNvSpPr>
              <a:spLocks noChangeArrowheads="1"/>
            </p:cNvSpPr>
            <p:nvPr/>
          </p:nvSpPr>
          <p:spPr bwMode="auto">
            <a:xfrm>
              <a:off x="5515" y="2610"/>
              <a:ext cx="50" cy="95"/>
            </a:xfrm>
            <a:prstGeom prst="ellipse">
              <a:avLst/>
            </a:prstGeom>
            <a:solidFill>
              <a:srgbClr val="3333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46"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7" name="AutoShape 276"/>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48" name="AutoShape 277"/>
            <p:cNvSpPr>
              <a:spLocks noChangeArrowheads="1"/>
            </p:cNvSpPr>
            <p:nvPr/>
          </p:nvSpPr>
          <p:spPr bwMode="auto">
            <a:xfrm>
              <a:off x="4202" y="2712"/>
              <a:ext cx="1078" cy="77"/>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49" name="Oval 278"/>
            <p:cNvSpPr>
              <a:spLocks noChangeArrowheads="1"/>
            </p:cNvSpPr>
            <p:nvPr/>
          </p:nvSpPr>
          <p:spPr bwMode="auto">
            <a:xfrm>
              <a:off x="4307" y="2384"/>
              <a:ext cx="161" cy="143"/>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50" name="Oval 279"/>
            <p:cNvSpPr>
              <a:spLocks noChangeArrowheads="1"/>
            </p:cNvSpPr>
            <p:nvPr/>
          </p:nvSpPr>
          <p:spPr bwMode="auto">
            <a:xfrm>
              <a:off x="4487" y="2384"/>
              <a:ext cx="161" cy="143"/>
            </a:xfrm>
            <a:prstGeom prst="ellipse">
              <a:avLst/>
            </a:prstGeom>
            <a:solidFill>
              <a:srgbClr val="FF0000"/>
            </a:solidFill>
            <a:ln>
              <a:noFill/>
            </a:ln>
            <a:effectLst/>
          </p:spPr>
          <p:txBody>
            <a:bodyPr wrap="none" anchor="ctr"/>
            <a:lstStyle/>
            <a:p>
              <a:pPr algn="ctr">
                <a:buFont typeface="ZapfDingbats" charset="0"/>
                <a:buNone/>
                <a:defRPr/>
              </a:pPr>
              <a:endParaRPr lang="en-US" dirty="0">
                <a:solidFill>
                  <a:srgbClr val="FF0000"/>
                </a:solidFill>
                <a:latin typeface="Arial" panose="020B0604020202020204" pitchFamily="34" charset="0"/>
                <a:ea typeface="MS PGothic" panose="020B0600070205080204" pitchFamily="34" charset="-128"/>
              </a:endParaRPr>
            </a:p>
          </p:txBody>
        </p:sp>
        <p:sp>
          <p:nvSpPr>
            <p:cNvPr id="551" name="Oval 280"/>
            <p:cNvSpPr>
              <a:spLocks noChangeArrowheads="1"/>
            </p:cNvSpPr>
            <p:nvPr/>
          </p:nvSpPr>
          <p:spPr bwMode="auto">
            <a:xfrm>
              <a:off x="4660" y="2378"/>
              <a:ext cx="161" cy="143"/>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52" name="Rectangle 281"/>
            <p:cNvSpPr>
              <a:spLocks noChangeArrowheads="1"/>
            </p:cNvSpPr>
            <p:nvPr/>
          </p:nvSpPr>
          <p:spPr bwMode="auto">
            <a:xfrm>
              <a:off x="5063" y="1836"/>
              <a:ext cx="87" cy="763"/>
            </a:xfrm>
            <a:prstGeom prst="rect">
              <a:avLst/>
            </a:prstGeom>
            <a:solidFill>
              <a:srgbClr val="292929"/>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61" name="TextBox 491"/>
          <p:cNvSpPr txBox="1">
            <a:spLocks noChangeArrowheads="1"/>
          </p:cNvSpPr>
          <p:nvPr/>
        </p:nvSpPr>
        <p:spPr bwMode="auto">
          <a:xfrm>
            <a:off x="5026076" y="1707576"/>
            <a:ext cx="15017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latin typeface="Arial Narrow" panose="020B0606020202030204" pitchFamily="34" charset="0"/>
              </a:rPr>
              <a:t>Amazon cloud</a:t>
            </a:r>
            <a:endParaRPr lang="en-US" altLang="en-US" sz="1800">
              <a:latin typeface="Arial Narrow" panose="020B0606020202030204" pitchFamily="34" charset="0"/>
            </a:endParaRPr>
          </a:p>
        </p:txBody>
      </p:sp>
      <p:grpSp>
        <p:nvGrpSpPr>
          <p:cNvPr id="562" name="Group 1"/>
          <p:cNvGrpSpPr/>
          <p:nvPr/>
        </p:nvGrpSpPr>
        <p:grpSpPr bwMode="auto">
          <a:xfrm>
            <a:off x="8856713" y="1799651"/>
            <a:ext cx="1376363" cy="1355725"/>
            <a:chOff x="7030938" y="1184076"/>
            <a:chExt cx="1375947" cy="1355492"/>
          </a:xfrm>
        </p:grpSpPr>
        <p:sp>
          <p:nvSpPr>
            <p:cNvPr id="563" name="Freeform 1287"/>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64" name="Group 249"/>
            <p:cNvGrpSpPr/>
            <p:nvPr/>
          </p:nvGrpSpPr>
          <p:grpSpPr bwMode="auto">
            <a:xfrm>
              <a:off x="7191141" y="1665569"/>
              <a:ext cx="365533" cy="637551"/>
              <a:chOff x="4140" y="429"/>
              <a:chExt cx="1425" cy="2396"/>
            </a:xfrm>
          </p:grpSpPr>
          <p:sp>
            <p:nvSpPr>
              <p:cNvPr id="566"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7" name="Rectangle 251"/>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68"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9"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70" name="Rectangle 254"/>
              <p:cNvSpPr>
                <a:spLocks noChangeArrowheads="1"/>
              </p:cNvSpPr>
              <p:nvPr/>
            </p:nvSpPr>
            <p:spPr bwMode="auto">
              <a:xfrm>
                <a:off x="4215" y="695"/>
                <a:ext cx="594"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571" name="Group 255"/>
              <p:cNvGrpSpPr/>
              <p:nvPr/>
            </p:nvGrpSpPr>
            <p:grpSpPr bwMode="auto">
              <a:xfrm>
                <a:off x="4749" y="668"/>
                <a:ext cx="581" cy="145"/>
                <a:chOff x="614" y="2568"/>
                <a:chExt cx="725" cy="139"/>
              </a:xfrm>
            </p:grpSpPr>
            <p:sp>
              <p:nvSpPr>
                <p:cNvPr id="596" name="AutoShape 256"/>
                <p:cNvSpPr>
                  <a:spLocks noChangeArrowheads="1"/>
                </p:cNvSpPr>
                <p:nvPr/>
              </p:nvSpPr>
              <p:spPr bwMode="auto">
                <a:xfrm>
                  <a:off x="611" y="2571"/>
                  <a:ext cx="726" cy="126"/>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97" name="AutoShape 257"/>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72" name="Rectangle 258"/>
              <p:cNvSpPr>
                <a:spLocks noChangeArrowheads="1"/>
              </p:cNvSpPr>
              <p:nvPr/>
            </p:nvSpPr>
            <p:spPr bwMode="auto">
              <a:xfrm>
                <a:off x="4227" y="1023"/>
                <a:ext cx="594"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573" name="Group 259"/>
              <p:cNvGrpSpPr/>
              <p:nvPr/>
            </p:nvGrpSpPr>
            <p:grpSpPr bwMode="auto">
              <a:xfrm>
                <a:off x="4747" y="994"/>
                <a:ext cx="581" cy="134"/>
                <a:chOff x="614" y="2568"/>
                <a:chExt cx="725" cy="139"/>
              </a:xfrm>
            </p:grpSpPr>
            <p:sp>
              <p:nvSpPr>
                <p:cNvPr id="594" name="AutoShape 260"/>
                <p:cNvSpPr>
                  <a:spLocks noChangeArrowheads="1"/>
                </p:cNvSpPr>
                <p:nvPr/>
              </p:nvSpPr>
              <p:spPr bwMode="auto">
                <a:xfrm>
                  <a:off x="614" y="2574"/>
                  <a:ext cx="726" cy="130"/>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95" name="AutoShape 261"/>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74" name="Rectangle 262"/>
              <p:cNvSpPr>
                <a:spLocks noChangeArrowheads="1"/>
              </p:cNvSpPr>
              <p:nvPr/>
            </p:nvSpPr>
            <p:spPr bwMode="auto">
              <a:xfrm>
                <a:off x="4215" y="1357"/>
                <a:ext cx="594"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75" name="Rectangle 263"/>
              <p:cNvSpPr>
                <a:spLocks noChangeArrowheads="1"/>
              </p:cNvSpPr>
              <p:nvPr/>
            </p:nvSpPr>
            <p:spPr bwMode="auto">
              <a:xfrm>
                <a:off x="4227" y="1656"/>
                <a:ext cx="600"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576" name="Group 264"/>
              <p:cNvGrpSpPr/>
              <p:nvPr/>
            </p:nvGrpSpPr>
            <p:grpSpPr bwMode="auto">
              <a:xfrm>
                <a:off x="4735" y="1627"/>
                <a:ext cx="582" cy="151"/>
                <a:chOff x="614" y="2568"/>
                <a:chExt cx="725" cy="139"/>
              </a:xfrm>
            </p:grpSpPr>
            <p:sp>
              <p:nvSpPr>
                <p:cNvPr id="592" name="AutoShape 265"/>
                <p:cNvSpPr>
                  <a:spLocks noChangeArrowheads="1"/>
                </p:cNvSpPr>
                <p:nvPr/>
              </p:nvSpPr>
              <p:spPr bwMode="auto">
                <a:xfrm>
                  <a:off x="613" y="2572"/>
                  <a:ext cx="717" cy="126"/>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93" name="AutoShape 266"/>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77"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78" name="Group 268"/>
              <p:cNvGrpSpPr/>
              <p:nvPr/>
            </p:nvGrpSpPr>
            <p:grpSpPr bwMode="auto">
              <a:xfrm>
                <a:off x="4739" y="1327"/>
                <a:ext cx="582" cy="139"/>
                <a:chOff x="614" y="2568"/>
                <a:chExt cx="725" cy="139"/>
              </a:xfrm>
            </p:grpSpPr>
            <p:sp>
              <p:nvSpPr>
                <p:cNvPr id="590" name="AutoShape 269"/>
                <p:cNvSpPr>
                  <a:spLocks noChangeArrowheads="1"/>
                </p:cNvSpPr>
                <p:nvPr/>
              </p:nvSpPr>
              <p:spPr bwMode="auto">
                <a:xfrm>
                  <a:off x="616" y="2569"/>
                  <a:ext cx="724" cy="143"/>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91" name="AutoShape 270"/>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79" name="Rectangle 271"/>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80"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1"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2" name="Oval 274"/>
              <p:cNvSpPr>
                <a:spLocks noChangeArrowheads="1"/>
              </p:cNvSpPr>
              <p:nvPr/>
            </p:nvSpPr>
            <p:spPr bwMode="auto">
              <a:xfrm>
                <a:off x="5514" y="2610"/>
                <a:ext cx="49" cy="95"/>
              </a:xfrm>
              <a:prstGeom prst="ellipse">
                <a:avLst/>
              </a:prstGeom>
              <a:solidFill>
                <a:srgbClr val="3333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83"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4" name="AutoShape 276"/>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85" name="AutoShape 277"/>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86" name="Oval 278"/>
              <p:cNvSpPr>
                <a:spLocks noChangeArrowheads="1"/>
              </p:cNvSpPr>
              <p:nvPr/>
            </p:nvSpPr>
            <p:spPr bwMode="auto">
              <a:xfrm>
                <a:off x="4307" y="2383"/>
                <a:ext cx="161" cy="143"/>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87" name="Oval 279"/>
              <p:cNvSpPr>
                <a:spLocks noChangeArrowheads="1"/>
              </p:cNvSpPr>
              <p:nvPr/>
            </p:nvSpPr>
            <p:spPr bwMode="auto">
              <a:xfrm>
                <a:off x="4487" y="2383"/>
                <a:ext cx="161" cy="143"/>
              </a:xfrm>
              <a:prstGeom prst="ellipse">
                <a:avLst/>
              </a:prstGeom>
              <a:solidFill>
                <a:srgbClr val="FF0000"/>
              </a:solidFill>
              <a:ln>
                <a:noFill/>
              </a:ln>
              <a:effectLst/>
            </p:spPr>
            <p:txBody>
              <a:bodyPr wrap="none" anchor="ctr"/>
              <a:lstStyle/>
              <a:p>
                <a:pPr algn="ctr">
                  <a:buFont typeface="ZapfDingbats" charset="0"/>
                  <a:buNone/>
                  <a:defRPr/>
                </a:pPr>
                <a:endParaRPr lang="en-US" dirty="0">
                  <a:solidFill>
                    <a:srgbClr val="FF0000"/>
                  </a:solidFill>
                  <a:latin typeface="Arial" panose="020B0604020202020204" pitchFamily="34" charset="0"/>
                  <a:ea typeface="MS PGothic" panose="020B0600070205080204" pitchFamily="34" charset="-128"/>
                </a:endParaRPr>
              </a:p>
            </p:txBody>
          </p:sp>
          <p:sp>
            <p:nvSpPr>
              <p:cNvPr id="588" name="Oval 280"/>
              <p:cNvSpPr>
                <a:spLocks noChangeArrowheads="1"/>
              </p:cNvSpPr>
              <p:nvPr/>
            </p:nvSpPr>
            <p:spPr bwMode="auto">
              <a:xfrm>
                <a:off x="4660" y="2383"/>
                <a:ext cx="161" cy="137"/>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589" name="Rectangle 281"/>
              <p:cNvSpPr>
                <a:spLocks noChangeArrowheads="1"/>
              </p:cNvSpPr>
              <p:nvPr/>
            </p:nvSpPr>
            <p:spPr bwMode="auto">
              <a:xfrm>
                <a:off x="5062" y="1835"/>
                <a:ext cx="87" cy="764"/>
              </a:xfrm>
              <a:prstGeom prst="rect">
                <a:avLst/>
              </a:prstGeom>
              <a:solidFill>
                <a:srgbClr val="292929"/>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565" name="TextBox 492"/>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1800"/>
                </a:lnSpc>
              </a:pPr>
              <a:r>
                <a:rPr lang="en-US" altLang="en-US" sz="1800">
                  <a:latin typeface="Arial Narrow" panose="020B0606020202030204" pitchFamily="34" charset="0"/>
                </a:rPr>
                <a:t>CDN</a:t>
              </a:r>
              <a:endParaRPr lang="en-US" altLang="en-US" sz="1800">
                <a:latin typeface="Arial Narrow" panose="020B0606020202030204" pitchFamily="34" charset="0"/>
              </a:endParaRPr>
            </a:p>
            <a:p>
              <a:pPr>
                <a:lnSpc>
                  <a:spcPts val="1800"/>
                </a:lnSpc>
              </a:pPr>
              <a:r>
                <a:rPr lang="en-US" altLang="en-US" sz="1800">
                  <a:latin typeface="Arial Narrow" panose="020B0606020202030204" pitchFamily="34" charset="0"/>
                </a:rPr>
                <a:t>server </a:t>
              </a:r>
              <a:endParaRPr lang="en-US" altLang="en-US" sz="1800">
                <a:latin typeface="Arial Narrow" panose="020B0606020202030204" pitchFamily="34" charset="0"/>
              </a:endParaRPr>
            </a:p>
          </p:txBody>
        </p:sp>
      </p:grpSp>
      <p:cxnSp>
        <p:nvCxnSpPr>
          <p:cNvPr id="598" name="Straight Arrow Connector 495"/>
          <p:cNvCxnSpPr>
            <a:cxnSpLocks noChangeShapeType="1"/>
          </p:cNvCxnSpPr>
          <p:nvPr/>
        </p:nvCxnSpPr>
        <p:spPr bwMode="auto">
          <a:xfrm flipH="1">
            <a:off x="5170538" y="2728339"/>
            <a:ext cx="7938" cy="2376487"/>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599" name="Group 500"/>
          <p:cNvGrpSpPr/>
          <p:nvPr/>
        </p:nvGrpSpPr>
        <p:grpSpPr bwMode="auto">
          <a:xfrm>
            <a:off x="5011788" y="3701476"/>
            <a:ext cx="317500" cy="369888"/>
            <a:chOff x="1614533" y="4280420"/>
            <a:chExt cx="317511" cy="369332"/>
          </a:xfrm>
        </p:grpSpPr>
        <p:sp>
          <p:nvSpPr>
            <p:cNvPr id="600" name="Oval 501"/>
            <p:cNvSpPr>
              <a:spLocks noChangeArrowheads="1"/>
            </p:cNvSpPr>
            <p:nvPr/>
          </p:nvSpPr>
          <p:spPr bwMode="auto">
            <a:xfrm>
              <a:off x="1628337" y="4321838"/>
              <a:ext cx="303707" cy="303707"/>
            </a:xfrm>
            <a:prstGeom prst="ellipse">
              <a:avLst/>
            </a:prstGeom>
            <a:solidFill>
              <a:schemeClr val="bg1"/>
            </a:solidFill>
            <a:ln w="15875">
              <a:solidFill>
                <a:schemeClr val="tx1"/>
              </a:solidFill>
              <a:round/>
            </a:ln>
          </p:spPr>
          <p:txBody>
            <a:bodyPr wrap="none"/>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601" name="TextBox 502"/>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a:t>2</a:t>
              </a:r>
              <a:endParaRPr lang="en-US" altLang="en-US" sz="1800"/>
            </a:p>
          </p:txBody>
        </p:sp>
      </p:grpSp>
      <p:sp>
        <p:nvSpPr>
          <p:cNvPr id="602" name="TextBox 503"/>
          <p:cNvSpPr txBox="1">
            <a:spLocks noChangeArrowheads="1"/>
          </p:cNvSpPr>
          <p:nvPr/>
        </p:nvSpPr>
        <p:spPr bwMode="auto">
          <a:xfrm>
            <a:off x="3710826" y="3221785"/>
            <a:ext cx="203358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pPr>
            <a:r>
              <a:rPr lang="en-US" altLang="en-US" dirty="0">
                <a:latin typeface="Calibri" panose="020F0502020204030204" pitchFamily="34" charset="0"/>
                <a:cs typeface="Calibri" panose="020F0502020204030204" pitchFamily="34" charset="0"/>
              </a:rPr>
              <a:t>Bob browses</a:t>
            </a:r>
            <a:endParaRPr lang="en-US" altLang="en-US" dirty="0">
              <a:latin typeface="Calibri" panose="020F0502020204030204" pitchFamily="34" charset="0"/>
              <a:cs typeface="Calibri" panose="020F0502020204030204" pitchFamily="34" charset="0"/>
            </a:endParaRPr>
          </a:p>
          <a:p>
            <a:pPr>
              <a:lnSpc>
                <a:spcPct val="85000"/>
              </a:lnSpc>
            </a:pPr>
            <a:r>
              <a:rPr lang="en-US" altLang="en-US" dirty="0">
                <a:latin typeface="Calibri" panose="020F0502020204030204" pitchFamily="34" charset="0"/>
                <a:cs typeface="Calibri" panose="020F0502020204030204" pitchFamily="34" charset="0"/>
              </a:rPr>
              <a:t>Netflix video</a:t>
            </a:r>
            <a:endParaRPr lang="en-US" altLang="en-US" dirty="0">
              <a:latin typeface="Calibri" panose="020F0502020204030204" pitchFamily="34" charset="0"/>
              <a:cs typeface="Calibri" panose="020F0502020204030204" pitchFamily="34" charset="0"/>
            </a:endParaRPr>
          </a:p>
        </p:txBody>
      </p:sp>
      <p:cxnSp>
        <p:nvCxnSpPr>
          <p:cNvPr id="603" name="Straight Arrow Connector 504"/>
          <p:cNvCxnSpPr>
            <a:cxnSpLocks noChangeShapeType="1"/>
          </p:cNvCxnSpPr>
          <p:nvPr/>
        </p:nvCxnSpPr>
        <p:spPr bwMode="auto">
          <a:xfrm flipH="1">
            <a:off x="5603035" y="2752151"/>
            <a:ext cx="3175" cy="2352675"/>
          </a:xfrm>
          <a:prstGeom prst="straightConnector1">
            <a:avLst/>
          </a:prstGeom>
          <a:noFill/>
          <a:ln w="2540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7" name="TextBox 509"/>
          <p:cNvSpPr txBox="1">
            <a:spLocks noChangeArrowheads="1"/>
          </p:cNvSpPr>
          <p:nvPr/>
        </p:nvSpPr>
        <p:spPr bwMode="auto">
          <a:xfrm>
            <a:off x="5730631" y="3620486"/>
            <a:ext cx="178593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90000"/>
              </a:lnSpc>
            </a:pPr>
            <a:r>
              <a:rPr lang="en-US" altLang="en-US" dirty="0">
                <a:latin typeface="+mn-lt"/>
              </a:rPr>
              <a:t>Manifest file, requested</a:t>
            </a:r>
            <a:endParaRPr lang="en-US" altLang="en-US" dirty="0">
              <a:latin typeface="+mn-lt"/>
            </a:endParaRPr>
          </a:p>
          <a:p>
            <a:pPr>
              <a:lnSpc>
                <a:spcPct val="90000"/>
              </a:lnSpc>
            </a:pPr>
            <a:r>
              <a:rPr lang="en-US" altLang="en-US" dirty="0">
                <a:latin typeface="+mn-lt"/>
              </a:rPr>
              <a:t>returned for </a:t>
            </a:r>
            <a:endParaRPr lang="en-US" altLang="en-US" dirty="0">
              <a:latin typeface="+mn-lt"/>
            </a:endParaRPr>
          </a:p>
          <a:p>
            <a:pPr>
              <a:lnSpc>
                <a:spcPct val="90000"/>
              </a:lnSpc>
            </a:pPr>
            <a:r>
              <a:rPr lang="en-US" altLang="en-US" dirty="0">
                <a:latin typeface="+mn-lt"/>
              </a:rPr>
              <a:t>specific video</a:t>
            </a:r>
            <a:endParaRPr lang="en-US" altLang="en-US" dirty="0">
              <a:latin typeface="+mn-lt"/>
            </a:endParaRPr>
          </a:p>
        </p:txBody>
      </p:sp>
      <p:sp>
        <p:nvSpPr>
          <p:cNvPr id="608" name="Right Arrow 607"/>
          <p:cNvSpPr/>
          <p:nvPr/>
        </p:nvSpPr>
        <p:spPr bwMode="auto">
          <a:xfrm rot="10543217">
            <a:off x="5647410" y="5245456"/>
            <a:ext cx="2215511" cy="391437"/>
          </a:xfrm>
          <a:prstGeom prst="rightArrow">
            <a:avLst/>
          </a:prstGeom>
          <a:gradFill flip="none" rotWithShape="1">
            <a:gsLst>
              <a:gs pos="0">
                <a:srgbClr val="000090"/>
              </a:gs>
              <a:gs pos="100000">
                <a:srgbClr val="FFFFFF"/>
              </a:gs>
            </a:gsLst>
            <a:lin ang="10260000" scaled="0"/>
            <a:tileRect/>
          </a:gradFill>
          <a:ln w="15875">
            <a:gradFill flip="none" rotWithShape="1">
              <a:gsLst>
                <a:gs pos="0">
                  <a:srgbClr val="000090"/>
                </a:gs>
                <a:gs pos="100000">
                  <a:srgbClr val="FFFFFF"/>
                </a:gs>
              </a:gsLst>
              <a:lin ang="0" scaled="1"/>
              <a:tileRect/>
            </a:gradFill>
          </a:ln>
        </p:spPr>
        <p:txBody>
          <a:bodyPr wrap="none"/>
          <a:lstStyle/>
          <a:p>
            <a:pPr>
              <a:buFont typeface="ZapfDingbats" charset="0"/>
              <a:buNone/>
              <a:defRPr/>
            </a:pPr>
            <a:endParaRPr lang="en-US" dirty="0">
              <a:latin typeface="Comic Sans MS" panose="030F0702030302020204" pitchFamily="66" charset="0"/>
              <a:ea typeface="MS PGothic" panose="020B0600070205080204" pitchFamily="34" charset="-128"/>
              <a:cs typeface="MS PGothic" panose="020B0600070205080204" pitchFamily="34" charset="-128"/>
            </a:endParaRPr>
          </a:p>
        </p:txBody>
      </p:sp>
      <p:cxnSp>
        <p:nvCxnSpPr>
          <p:cNvPr id="609" name="Straight Arrow Connector 513"/>
          <p:cNvCxnSpPr>
            <a:cxnSpLocks noChangeShapeType="1"/>
          </p:cNvCxnSpPr>
          <p:nvPr/>
        </p:nvCxnSpPr>
        <p:spPr bwMode="auto">
          <a:xfrm flipV="1">
            <a:off x="5830938" y="5106414"/>
            <a:ext cx="1892300" cy="147637"/>
          </a:xfrm>
          <a:prstGeom prst="straightConnector1">
            <a:avLst/>
          </a:prstGeom>
          <a:noFill/>
          <a:ln w="2540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0" name="TextBox 516"/>
          <p:cNvSpPr txBox="1">
            <a:spLocks noChangeArrowheads="1"/>
          </p:cNvSpPr>
          <p:nvPr/>
        </p:nvSpPr>
        <p:spPr bwMode="auto">
          <a:xfrm>
            <a:off x="6094462" y="5619176"/>
            <a:ext cx="2354263" cy="837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0000"/>
              </a:lnSpc>
            </a:pPr>
            <a:r>
              <a:rPr lang="en-US" altLang="en-US" dirty="0">
                <a:latin typeface="+mn-lt"/>
              </a:rPr>
              <a:t>DASH server selected, contacted, streaming begins</a:t>
            </a:r>
            <a:endParaRPr lang="en-US" altLang="en-US" dirty="0">
              <a:latin typeface="+mn-lt"/>
            </a:endParaRPr>
          </a:p>
        </p:txBody>
      </p:sp>
      <p:cxnSp>
        <p:nvCxnSpPr>
          <p:cNvPr id="611" name="Straight Arrow Connector 517"/>
          <p:cNvCxnSpPr>
            <a:cxnSpLocks noChangeShapeType="1"/>
          </p:cNvCxnSpPr>
          <p:nvPr/>
        </p:nvCxnSpPr>
        <p:spPr bwMode="auto">
          <a:xfrm>
            <a:off x="6897738" y="2493389"/>
            <a:ext cx="2049463" cy="26987"/>
          </a:xfrm>
          <a:prstGeom prst="straightConnector1">
            <a:avLst/>
          </a:prstGeom>
          <a:noFill/>
          <a:ln w="25400">
            <a:solidFill>
              <a:schemeClr val="tx1"/>
            </a:solidFill>
            <a:prstDash val="dash"/>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2" name="Straight Arrow Connector 521"/>
          <p:cNvCxnSpPr>
            <a:cxnSpLocks noChangeShapeType="1"/>
          </p:cNvCxnSpPr>
          <p:nvPr/>
        </p:nvCxnSpPr>
        <p:spPr bwMode="auto">
          <a:xfrm>
            <a:off x="6907263" y="2536251"/>
            <a:ext cx="1541463" cy="1133475"/>
          </a:xfrm>
          <a:prstGeom prst="straightConnector1">
            <a:avLst/>
          </a:prstGeom>
          <a:noFill/>
          <a:ln w="25400">
            <a:solidFill>
              <a:schemeClr val="tx1"/>
            </a:solidFill>
            <a:prstDash val="dash"/>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3" name="Straight Arrow Connector 523"/>
          <p:cNvCxnSpPr>
            <a:cxnSpLocks noChangeShapeType="1"/>
          </p:cNvCxnSpPr>
          <p:nvPr/>
        </p:nvCxnSpPr>
        <p:spPr bwMode="auto">
          <a:xfrm>
            <a:off x="6897738" y="2550539"/>
            <a:ext cx="2019300" cy="2706687"/>
          </a:xfrm>
          <a:prstGeom prst="straightConnector1">
            <a:avLst/>
          </a:prstGeom>
          <a:noFill/>
          <a:ln w="25400">
            <a:solidFill>
              <a:schemeClr val="tx1"/>
            </a:solidFill>
            <a:prstDash val="dash"/>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4" name="TextBox 527"/>
          <p:cNvSpPr txBox="1">
            <a:spLocks noChangeArrowheads="1"/>
          </p:cNvSpPr>
          <p:nvPr/>
        </p:nvSpPr>
        <p:spPr bwMode="auto">
          <a:xfrm>
            <a:off x="6645326" y="1640901"/>
            <a:ext cx="2033587"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1800"/>
              </a:lnSpc>
            </a:pPr>
            <a:r>
              <a:rPr lang="en-US" altLang="en-US" sz="1800">
                <a:latin typeface="Arial Narrow" panose="020B0606020202030204" pitchFamily="34" charset="0"/>
              </a:rPr>
              <a:t>upload copies of multiple versions of video to CDN servers</a:t>
            </a:r>
            <a:endParaRPr lang="en-US" altLang="en-US" sz="1800">
              <a:latin typeface="Arial Narrow" panose="020B0606020202030204" pitchFamily="34" charset="0"/>
            </a:endParaRPr>
          </a:p>
        </p:txBody>
      </p:sp>
      <p:grpSp>
        <p:nvGrpSpPr>
          <p:cNvPr id="615" name="Group 383"/>
          <p:cNvGrpSpPr/>
          <p:nvPr/>
        </p:nvGrpSpPr>
        <p:grpSpPr bwMode="auto">
          <a:xfrm>
            <a:off x="8329663" y="3056951"/>
            <a:ext cx="1374775" cy="1354138"/>
            <a:chOff x="7030938" y="1184076"/>
            <a:chExt cx="1375947" cy="1355492"/>
          </a:xfrm>
        </p:grpSpPr>
        <p:sp>
          <p:nvSpPr>
            <p:cNvPr id="616" name="Freeform 1287"/>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17" name="Group 249"/>
            <p:cNvGrpSpPr/>
            <p:nvPr/>
          </p:nvGrpSpPr>
          <p:grpSpPr bwMode="auto">
            <a:xfrm>
              <a:off x="7191141" y="1665569"/>
              <a:ext cx="365533" cy="637551"/>
              <a:chOff x="4140" y="429"/>
              <a:chExt cx="1425" cy="2396"/>
            </a:xfrm>
          </p:grpSpPr>
          <p:sp>
            <p:nvSpPr>
              <p:cNvPr id="619"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0" name="Rectangle 251"/>
              <p:cNvSpPr>
                <a:spLocks noChangeArrowheads="1"/>
              </p:cNvSpPr>
              <p:nvPr/>
            </p:nvSpPr>
            <p:spPr bwMode="auto">
              <a:xfrm>
                <a:off x="4203" y="435"/>
                <a:ext cx="1053" cy="2275"/>
              </a:xfrm>
              <a:prstGeom prst="rect">
                <a:avLst/>
              </a:prstGeom>
              <a:gradFill rotWithShape="1">
                <a:gsLst>
                  <a:gs pos="0">
                    <a:srgbClr val="292929"/>
                  </a:gs>
                  <a:gs pos="100000">
                    <a:srgbClr val="808080"/>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21"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2"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3" name="Rectangle 254"/>
              <p:cNvSpPr>
                <a:spLocks noChangeArrowheads="1"/>
              </p:cNvSpPr>
              <p:nvPr/>
            </p:nvSpPr>
            <p:spPr bwMode="auto">
              <a:xfrm>
                <a:off x="4215" y="698"/>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624" name="Group 255"/>
              <p:cNvGrpSpPr/>
              <p:nvPr/>
            </p:nvGrpSpPr>
            <p:grpSpPr bwMode="auto">
              <a:xfrm>
                <a:off x="4749" y="668"/>
                <a:ext cx="581" cy="145"/>
                <a:chOff x="614" y="2568"/>
                <a:chExt cx="725" cy="139"/>
              </a:xfrm>
            </p:grpSpPr>
            <p:sp>
              <p:nvSpPr>
                <p:cNvPr id="649" name="AutoShape 256"/>
                <p:cNvSpPr>
                  <a:spLocks noChangeArrowheads="1"/>
                </p:cNvSpPr>
                <p:nvPr/>
              </p:nvSpPr>
              <p:spPr bwMode="auto">
                <a:xfrm>
                  <a:off x="613" y="2574"/>
                  <a:ext cx="727" cy="132"/>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50" name="AutoShape 257"/>
                <p:cNvSpPr>
                  <a:spLocks noChangeArrowheads="1"/>
                </p:cNvSpPr>
                <p:nvPr/>
              </p:nvSpPr>
              <p:spPr bwMode="auto">
                <a:xfrm>
                  <a:off x="628"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625" name="Rectangle 258"/>
              <p:cNvSpPr>
                <a:spLocks noChangeArrowheads="1"/>
              </p:cNvSpPr>
              <p:nvPr/>
            </p:nvSpPr>
            <p:spPr bwMode="auto">
              <a:xfrm>
                <a:off x="4228" y="1020"/>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626" name="Group 259"/>
              <p:cNvGrpSpPr/>
              <p:nvPr/>
            </p:nvGrpSpPr>
            <p:grpSpPr bwMode="auto">
              <a:xfrm>
                <a:off x="4747" y="994"/>
                <a:ext cx="581" cy="134"/>
                <a:chOff x="614" y="2568"/>
                <a:chExt cx="725" cy="139"/>
              </a:xfrm>
            </p:grpSpPr>
            <p:sp>
              <p:nvSpPr>
                <p:cNvPr id="647" name="AutoShape 260"/>
                <p:cNvSpPr>
                  <a:spLocks noChangeArrowheads="1"/>
                </p:cNvSpPr>
                <p:nvPr/>
              </p:nvSpPr>
              <p:spPr bwMode="auto">
                <a:xfrm>
                  <a:off x="615" y="2577"/>
                  <a:ext cx="727" cy="130"/>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48" name="AutoShape 261"/>
                <p:cNvSpPr>
                  <a:spLocks noChangeArrowheads="1"/>
                </p:cNvSpPr>
                <p:nvPr/>
              </p:nvSpPr>
              <p:spPr bwMode="auto">
                <a:xfrm>
                  <a:off x="631" y="2595"/>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627" name="Rectangle 262"/>
              <p:cNvSpPr>
                <a:spLocks noChangeArrowheads="1"/>
              </p:cNvSpPr>
              <p:nvPr/>
            </p:nvSpPr>
            <p:spPr bwMode="auto">
              <a:xfrm>
                <a:off x="4215" y="1355"/>
                <a:ext cx="595"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28" name="Rectangle 263"/>
              <p:cNvSpPr>
                <a:spLocks noChangeArrowheads="1"/>
              </p:cNvSpPr>
              <p:nvPr/>
            </p:nvSpPr>
            <p:spPr bwMode="auto">
              <a:xfrm>
                <a:off x="4228" y="1653"/>
                <a:ext cx="601"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629" name="Group 264"/>
              <p:cNvGrpSpPr/>
              <p:nvPr/>
            </p:nvGrpSpPr>
            <p:grpSpPr bwMode="auto">
              <a:xfrm>
                <a:off x="4735" y="1627"/>
                <a:ext cx="582" cy="151"/>
                <a:chOff x="614" y="2568"/>
                <a:chExt cx="725" cy="139"/>
              </a:xfrm>
            </p:grpSpPr>
            <p:sp>
              <p:nvSpPr>
                <p:cNvPr id="645" name="AutoShape 265"/>
                <p:cNvSpPr>
                  <a:spLocks noChangeArrowheads="1"/>
                </p:cNvSpPr>
                <p:nvPr/>
              </p:nvSpPr>
              <p:spPr bwMode="auto">
                <a:xfrm>
                  <a:off x="615" y="2576"/>
                  <a:ext cx="718" cy="132"/>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46" name="AutoShape 266"/>
                <p:cNvSpPr>
                  <a:spLocks noChangeArrowheads="1"/>
                </p:cNvSpPr>
                <p:nvPr/>
              </p:nvSpPr>
              <p:spPr bwMode="auto">
                <a:xfrm>
                  <a:off x="630" y="2592"/>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630"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31" name="Group 268"/>
              <p:cNvGrpSpPr/>
              <p:nvPr/>
            </p:nvGrpSpPr>
            <p:grpSpPr bwMode="auto">
              <a:xfrm>
                <a:off x="4739" y="1327"/>
                <a:ext cx="582" cy="139"/>
                <a:chOff x="614" y="2568"/>
                <a:chExt cx="725" cy="139"/>
              </a:xfrm>
            </p:grpSpPr>
            <p:sp>
              <p:nvSpPr>
                <p:cNvPr id="643" name="AutoShape 269"/>
                <p:cNvSpPr>
                  <a:spLocks noChangeArrowheads="1"/>
                </p:cNvSpPr>
                <p:nvPr/>
              </p:nvSpPr>
              <p:spPr bwMode="auto">
                <a:xfrm>
                  <a:off x="625" y="2566"/>
                  <a:ext cx="725" cy="149"/>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44" name="AutoShape 270"/>
                <p:cNvSpPr>
                  <a:spLocks noChangeArrowheads="1"/>
                </p:cNvSpPr>
                <p:nvPr/>
              </p:nvSpPr>
              <p:spPr bwMode="auto">
                <a:xfrm>
                  <a:off x="633" y="2584"/>
                  <a:ext cx="694"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632" name="Rectangle 271"/>
              <p:cNvSpPr>
                <a:spLocks noChangeArrowheads="1"/>
              </p:cNvSpPr>
              <p:nvPr/>
            </p:nvSpPr>
            <p:spPr bwMode="auto">
              <a:xfrm>
                <a:off x="5250" y="435"/>
                <a:ext cx="68" cy="228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33"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4"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5" name="Oval 274"/>
              <p:cNvSpPr>
                <a:spLocks noChangeArrowheads="1"/>
              </p:cNvSpPr>
              <p:nvPr/>
            </p:nvSpPr>
            <p:spPr bwMode="auto">
              <a:xfrm>
                <a:off x="5516" y="2609"/>
                <a:ext cx="50" cy="96"/>
              </a:xfrm>
              <a:prstGeom prst="ellipse">
                <a:avLst/>
              </a:prstGeom>
              <a:solidFill>
                <a:srgbClr val="3333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36"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7" name="AutoShape 276"/>
              <p:cNvSpPr>
                <a:spLocks noChangeArrowheads="1"/>
              </p:cNvSpPr>
              <p:nvPr/>
            </p:nvSpPr>
            <p:spPr bwMode="auto">
              <a:xfrm>
                <a:off x="4141" y="2680"/>
                <a:ext cx="1202" cy="143"/>
              </a:xfrm>
              <a:prstGeom prst="roundRect">
                <a:avLst>
                  <a:gd name="adj" fmla="val 50000"/>
                </a:avLst>
              </a:prstGeom>
              <a:solidFill>
                <a:srgbClr val="DDDDDD"/>
              </a:soli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38" name="AutoShape 277"/>
              <p:cNvSpPr>
                <a:spLocks noChangeArrowheads="1"/>
              </p:cNvSpPr>
              <p:nvPr/>
            </p:nvSpPr>
            <p:spPr bwMode="auto">
              <a:xfrm>
                <a:off x="4203" y="2710"/>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39" name="Oval 278"/>
              <p:cNvSpPr>
                <a:spLocks noChangeArrowheads="1"/>
              </p:cNvSpPr>
              <p:nvPr/>
            </p:nvSpPr>
            <p:spPr bwMode="auto">
              <a:xfrm>
                <a:off x="4308" y="2382"/>
                <a:ext cx="161" cy="143"/>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40" name="Oval 279"/>
              <p:cNvSpPr>
                <a:spLocks noChangeArrowheads="1"/>
              </p:cNvSpPr>
              <p:nvPr/>
            </p:nvSpPr>
            <p:spPr bwMode="auto">
              <a:xfrm>
                <a:off x="4488" y="2382"/>
                <a:ext cx="161" cy="143"/>
              </a:xfrm>
              <a:prstGeom prst="ellipse">
                <a:avLst/>
              </a:prstGeom>
              <a:solidFill>
                <a:srgbClr val="FF0000"/>
              </a:solidFill>
              <a:ln>
                <a:noFill/>
              </a:ln>
              <a:effectLst/>
            </p:spPr>
            <p:txBody>
              <a:bodyPr wrap="none" anchor="ctr"/>
              <a:lstStyle/>
              <a:p>
                <a:pPr algn="ctr">
                  <a:buFont typeface="ZapfDingbats" charset="0"/>
                  <a:buNone/>
                  <a:defRPr/>
                </a:pPr>
                <a:endParaRPr lang="en-US" dirty="0">
                  <a:solidFill>
                    <a:srgbClr val="FF0000"/>
                  </a:solidFill>
                  <a:latin typeface="Arial" panose="020B0604020202020204" pitchFamily="34" charset="0"/>
                  <a:ea typeface="MS PGothic" panose="020B0600070205080204" pitchFamily="34" charset="-128"/>
                </a:endParaRPr>
              </a:p>
            </p:txBody>
          </p:sp>
          <p:sp>
            <p:nvSpPr>
              <p:cNvPr id="641" name="Oval 280"/>
              <p:cNvSpPr>
                <a:spLocks noChangeArrowheads="1"/>
              </p:cNvSpPr>
              <p:nvPr/>
            </p:nvSpPr>
            <p:spPr bwMode="auto">
              <a:xfrm>
                <a:off x="4661" y="2382"/>
                <a:ext cx="161" cy="137"/>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42" name="Rectangle 281"/>
              <p:cNvSpPr>
                <a:spLocks noChangeArrowheads="1"/>
              </p:cNvSpPr>
              <p:nvPr/>
            </p:nvSpPr>
            <p:spPr bwMode="auto">
              <a:xfrm>
                <a:off x="5064" y="1832"/>
                <a:ext cx="87" cy="764"/>
              </a:xfrm>
              <a:prstGeom prst="rect">
                <a:avLst/>
              </a:prstGeom>
              <a:solidFill>
                <a:srgbClr val="292929"/>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618" name="TextBox 492"/>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1800"/>
                </a:lnSpc>
              </a:pPr>
              <a:r>
                <a:rPr lang="en-US" altLang="en-US" sz="1800">
                  <a:latin typeface="Arial Narrow" panose="020B0606020202030204" pitchFamily="34" charset="0"/>
                </a:rPr>
                <a:t>CDN</a:t>
              </a:r>
              <a:endParaRPr lang="en-US" altLang="en-US" sz="1800">
                <a:latin typeface="Arial Narrow" panose="020B0606020202030204" pitchFamily="34" charset="0"/>
              </a:endParaRPr>
            </a:p>
            <a:p>
              <a:pPr>
                <a:lnSpc>
                  <a:spcPts val="1800"/>
                </a:lnSpc>
              </a:pPr>
              <a:r>
                <a:rPr lang="en-US" altLang="en-US" sz="1800">
                  <a:latin typeface="Arial Narrow" panose="020B0606020202030204" pitchFamily="34" charset="0"/>
                </a:rPr>
                <a:t>server </a:t>
              </a:r>
              <a:endParaRPr lang="en-US" altLang="en-US" sz="1800">
                <a:latin typeface="Arial Narrow" panose="020B0606020202030204" pitchFamily="34" charset="0"/>
              </a:endParaRPr>
            </a:p>
          </p:txBody>
        </p:sp>
      </p:grpSp>
      <p:grpSp>
        <p:nvGrpSpPr>
          <p:cNvPr id="651" name="Group 468"/>
          <p:cNvGrpSpPr/>
          <p:nvPr/>
        </p:nvGrpSpPr>
        <p:grpSpPr bwMode="auto">
          <a:xfrm>
            <a:off x="7966126" y="4447601"/>
            <a:ext cx="1376362" cy="1355725"/>
            <a:chOff x="7030938" y="1184076"/>
            <a:chExt cx="1375947" cy="1355492"/>
          </a:xfrm>
        </p:grpSpPr>
        <p:sp>
          <p:nvSpPr>
            <p:cNvPr id="652" name="Freeform 1287"/>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53" name="Group 249"/>
            <p:cNvGrpSpPr/>
            <p:nvPr/>
          </p:nvGrpSpPr>
          <p:grpSpPr bwMode="auto">
            <a:xfrm>
              <a:off x="7191141" y="1665569"/>
              <a:ext cx="365533" cy="637551"/>
              <a:chOff x="4140" y="429"/>
              <a:chExt cx="1425" cy="2396"/>
            </a:xfrm>
          </p:grpSpPr>
          <p:sp>
            <p:nvSpPr>
              <p:cNvPr id="656" name="Freeform 250"/>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57" name="Rectangle 251"/>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58" name="Freeform 252"/>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59" name="Freeform 253"/>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60" name="Rectangle 254"/>
              <p:cNvSpPr>
                <a:spLocks noChangeArrowheads="1"/>
              </p:cNvSpPr>
              <p:nvPr/>
            </p:nvSpPr>
            <p:spPr bwMode="auto">
              <a:xfrm>
                <a:off x="4215" y="695"/>
                <a:ext cx="594"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661" name="Group 255"/>
              <p:cNvGrpSpPr/>
              <p:nvPr/>
            </p:nvGrpSpPr>
            <p:grpSpPr bwMode="auto">
              <a:xfrm>
                <a:off x="4749" y="668"/>
                <a:ext cx="581" cy="145"/>
                <a:chOff x="614" y="2568"/>
                <a:chExt cx="725" cy="139"/>
              </a:xfrm>
            </p:grpSpPr>
            <p:sp>
              <p:nvSpPr>
                <p:cNvPr id="686" name="AutoShape 256"/>
                <p:cNvSpPr>
                  <a:spLocks noChangeArrowheads="1"/>
                </p:cNvSpPr>
                <p:nvPr/>
              </p:nvSpPr>
              <p:spPr bwMode="auto">
                <a:xfrm>
                  <a:off x="611" y="2571"/>
                  <a:ext cx="726" cy="126"/>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87" name="AutoShape 257"/>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662" name="Rectangle 258"/>
              <p:cNvSpPr>
                <a:spLocks noChangeArrowheads="1"/>
              </p:cNvSpPr>
              <p:nvPr/>
            </p:nvSpPr>
            <p:spPr bwMode="auto">
              <a:xfrm>
                <a:off x="4227" y="1023"/>
                <a:ext cx="594"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663" name="Group 259"/>
              <p:cNvGrpSpPr/>
              <p:nvPr/>
            </p:nvGrpSpPr>
            <p:grpSpPr bwMode="auto">
              <a:xfrm>
                <a:off x="4747" y="994"/>
                <a:ext cx="581" cy="134"/>
                <a:chOff x="614" y="2568"/>
                <a:chExt cx="725" cy="139"/>
              </a:xfrm>
            </p:grpSpPr>
            <p:sp>
              <p:nvSpPr>
                <p:cNvPr id="684" name="AutoShape 260"/>
                <p:cNvSpPr>
                  <a:spLocks noChangeArrowheads="1"/>
                </p:cNvSpPr>
                <p:nvPr/>
              </p:nvSpPr>
              <p:spPr bwMode="auto">
                <a:xfrm>
                  <a:off x="614" y="2574"/>
                  <a:ext cx="726" cy="130"/>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85" name="AutoShape 261"/>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664" name="Rectangle 262"/>
              <p:cNvSpPr>
                <a:spLocks noChangeArrowheads="1"/>
              </p:cNvSpPr>
              <p:nvPr/>
            </p:nvSpPr>
            <p:spPr bwMode="auto">
              <a:xfrm>
                <a:off x="4215" y="1357"/>
                <a:ext cx="594"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65" name="Rectangle 263"/>
              <p:cNvSpPr>
                <a:spLocks noChangeArrowheads="1"/>
              </p:cNvSpPr>
              <p:nvPr/>
            </p:nvSpPr>
            <p:spPr bwMode="auto">
              <a:xfrm>
                <a:off x="4227" y="1656"/>
                <a:ext cx="600" cy="48"/>
              </a:xfrm>
              <a:prstGeom prst="rect">
                <a:avLst/>
              </a:prstGeom>
              <a:solidFill>
                <a:schemeClr val="tx1"/>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nvGrpSpPr>
              <p:cNvPr id="666" name="Group 264"/>
              <p:cNvGrpSpPr/>
              <p:nvPr/>
            </p:nvGrpSpPr>
            <p:grpSpPr bwMode="auto">
              <a:xfrm>
                <a:off x="4735" y="1627"/>
                <a:ext cx="582" cy="151"/>
                <a:chOff x="614" y="2568"/>
                <a:chExt cx="725" cy="139"/>
              </a:xfrm>
            </p:grpSpPr>
            <p:sp>
              <p:nvSpPr>
                <p:cNvPr id="682" name="AutoShape 265"/>
                <p:cNvSpPr>
                  <a:spLocks noChangeArrowheads="1"/>
                </p:cNvSpPr>
                <p:nvPr/>
              </p:nvSpPr>
              <p:spPr bwMode="auto">
                <a:xfrm>
                  <a:off x="613" y="2572"/>
                  <a:ext cx="717" cy="126"/>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83" name="AutoShape 266"/>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667" name="Freeform 267"/>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68" name="Group 268"/>
              <p:cNvGrpSpPr/>
              <p:nvPr/>
            </p:nvGrpSpPr>
            <p:grpSpPr bwMode="auto">
              <a:xfrm>
                <a:off x="4739" y="1327"/>
                <a:ext cx="582" cy="139"/>
                <a:chOff x="614" y="2568"/>
                <a:chExt cx="725" cy="139"/>
              </a:xfrm>
            </p:grpSpPr>
            <p:sp>
              <p:nvSpPr>
                <p:cNvPr id="680" name="AutoShape 269"/>
                <p:cNvSpPr>
                  <a:spLocks noChangeArrowheads="1"/>
                </p:cNvSpPr>
                <p:nvPr/>
              </p:nvSpPr>
              <p:spPr bwMode="auto">
                <a:xfrm>
                  <a:off x="616" y="2569"/>
                  <a:ext cx="724" cy="143"/>
                </a:xfrm>
                <a:prstGeom prst="roundRect">
                  <a:avLst>
                    <a:gd name="adj" fmla="val 50000"/>
                  </a:avLst>
                </a:prstGeom>
                <a:solidFill>
                  <a:schemeClr val="tx1"/>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81" name="AutoShape 270"/>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669" name="Rectangle 271"/>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70" name="Freeform 272"/>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1" name="Freeform 273"/>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2" name="Oval 274"/>
              <p:cNvSpPr>
                <a:spLocks noChangeArrowheads="1"/>
              </p:cNvSpPr>
              <p:nvPr/>
            </p:nvSpPr>
            <p:spPr bwMode="auto">
              <a:xfrm>
                <a:off x="5514" y="2610"/>
                <a:ext cx="49" cy="95"/>
              </a:xfrm>
              <a:prstGeom prst="ellipse">
                <a:avLst/>
              </a:prstGeom>
              <a:solidFill>
                <a:srgbClr val="3333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73" name="Freeform 275"/>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4" name="AutoShape 276"/>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75" name="AutoShape 277"/>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76" name="Oval 278"/>
              <p:cNvSpPr>
                <a:spLocks noChangeArrowheads="1"/>
              </p:cNvSpPr>
              <p:nvPr/>
            </p:nvSpPr>
            <p:spPr bwMode="auto">
              <a:xfrm>
                <a:off x="4307" y="2383"/>
                <a:ext cx="161" cy="143"/>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77" name="Oval 279"/>
              <p:cNvSpPr>
                <a:spLocks noChangeArrowheads="1"/>
              </p:cNvSpPr>
              <p:nvPr/>
            </p:nvSpPr>
            <p:spPr bwMode="auto">
              <a:xfrm>
                <a:off x="4487" y="2383"/>
                <a:ext cx="161" cy="143"/>
              </a:xfrm>
              <a:prstGeom prst="ellipse">
                <a:avLst/>
              </a:prstGeom>
              <a:solidFill>
                <a:srgbClr val="FF0000"/>
              </a:solidFill>
              <a:ln>
                <a:noFill/>
              </a:ln>
              <a:effectLst/>
            </p:spPr>
            <p:txBody>
              <a:bodyPr wrap="none" anchor="ctr"/>
              <a:lstStyle/>
              <a:p>
                <a:pPr algn="ctr">
                  <a:buFont typeface="ZapfDingbats" charset="0"/>
                  <a:buNone/>
                  <a:defRPr/>
                </a:pPr>
                <a:endParaRPr lang="en-US" dirty="0">
                  <a:solidFill>
                    <a:srgbClr val="FF0000"/>
                  </a:solidFill>
                  <a:latin typeface="Arial" panose="020B0604020202020204" pitchFamily="34" charset="0"/>
                  <a:ea typeface="MS PGothic" panose="020B0600070205080204" pitchFamily="34" charset="-128"/>
                </a:endParaRPr>
              </a:p>
            </p:txBody>
          </p:sp>
          <p:sp>
            <p:nvSpPr>
              <p:cNvPr id="678" name="Oval 280"/>
              <p:cNvSpPr>
                <a:spLocks noChangeArrowheads="1"/>
              </p:cNvSpPr>
              <p:nvPr/>
            </p:nvSpPr>
            <p:spPr bwMode="auto">
              <a:xfrm>
                <a:off x="4660" y="2383"/>
                <a:ext cx="161" cy="137"/>
              </a:xfrm>
              <a:prstGeom prst="ellipse">
                <a:avLst/>
              </a:prstGeom>
              <a:solidFill>
                <a:srgbClr val="33CC33"/>
              </a:solidFill>
              <a:ln>
                <a:noFill/>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sp>
            <p:nvSpPr>
              <p:cNvPr id="679" name="Rectangle 281"/>
              <p:cNvSpPr>
                <a:spLocks noChangeArrowheads="1"/>
              </p:cNvSpPr>
              <p:nvPr/>
            </p:nvSpPr>
            <p:spPr bwMode="auto">
              <a:xfrm>
                <a:off x="5062" y="1835"/>
                <a:ext cx="87" cy="764"/>
              </a:xfrm>
              <a:prstGeom prst="rect">
                <a:avLst/>
              </a:prstGeom>
              <a:solidFill>
                <a:srgbClr val="292929"/>
              </a:solidFill>
              <a:ln w="9525">
                <a:solidFill>
                  <a:schemeClr val="tx1"/>
                </a:solidFill>
                <a:miter lim="800000"/>
              </a:ln>
              <a:effectLst/>
            </p:spPr>
            <p:txBody>
              <a:bodyPr wrap="none" anchor="ctr"/>
              <a:lstStyle/>
              <a:p>
                <a:pPr>
                  <a:buFont typeface="ZapfDingbats" charset="0"/>
                  <a:buNone/>
                  <a:defRPr/>
                </a:pPr>
                <a:endParaRPr lang="en-US" dirty="0">
                  <a:latin typeface="Arial" panose="020B0604020202020204" pitchFamily="34" charset="0"/>
                  <a:ea typeface="MS PGothic" panose="020B0600070205080204" pitchFamily="34" charset="-128"/>
                </a:endParaRPr>
              </a:p>
            </p:txBody>
          </p:sp>
        </p:grpSp>
        <p:sp>
          <p:nvSpPr>
            <p:cNvPr id="655" name="TextBox 492"/>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1800"/>
                </a:lnSpc>
              </a:pPr>
              <a:r>
                <a:rPr lang="en-US" altLang="en-US" sz="1800">
                  <a:latin typeface="Arial Narrow" panose="020B0606020202030204" pitchFamily="34" charset="0"/>
                </a:rPr>
                <a:t>CDN</a:t>
              </a:r>
              <a:endParaRPr lang="en-US" altLang="en-US" sz="1800">
                <a:latin typeface="Arial Narrow" panose="020B0606020202030204" pitchFamily="34" charset="0"/>
              </a:endParaRPr>
            </a:p>
            <a:p>
              <a:pPr>
                <a:lnSpc>
                  <a:spcPts val="1800"/>
                </a:lnSpc>
              </a:pPr>
              <a:r>
                <a:rPr lang="en-US" altLang="en-US" sz="1800">
                  <a:latin typeface="Arial Narrow" panose="020B0606020202030204" pitchFamily="34" charset="0"/>
                </a:rPr>
                <a:t>server </a:t>
              </a:r>
              <a:endParaRPr lang="en-US" altLang="en-US" sz="1800">
                <a:latin typeface="Arial Narrow" panose="020B0606020202030204" pitchFamily="34" charset="0"/>
              </a:endParaRPr>
            </a:p>
          </p:txBody>
        </p:sp>
      </p:grpSp>
      <p:cxnSp>
        <p:nvCxnSpPr>
          <p:cNvPr id="274" name="Straight Arrow Connector 504"/>
          <p:cNvCxnSpPr>
            <a:cxnSpLocks noChangeShapeType="1"/>
          </p:cNvCxnSpPr>
          <p:nvPr/>
        </p:nvCxnSpPr>
        <p:spPr bwMode="auto">
          <a:xfrm flipH="1" flipV="1">
            <a:off x="5509310" y="2754538"/>
            <a:ext cx="3175" cy="2352675"/>
          </a:xfrm>
          <a:prstGeom prst="straightConnector1">
            <a:avLst/>
          </a:prstGeom>
          <a:noFill/>
          <a:ln w="2540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604" name="Group 506"/>
          <p:cNvGrpSpPr/>
          <p:nvPr/>
        </p:nvGrpSpPr>
        <p:grpSpPr bwMode="auto">
          <a:xfrm>
            <a:off x="5403711" y="4070974"/>
            <a:ext cx="313443" cy="369887"/>
            <a:chOff x="1628337" y="4280420"/>
            <a:chExt cx="313454" cy="369332"/>
          </a:xfrm>
        </p:grpSpPr>
        <p:sp>
          <p:nvSpPr>
            <p:cNvPr id="605" name="Oval 507"/>
            <p:cNvSpPr>
              <a:spLocks noChangeArrowheads="1"/>
            </p:cNvSpPr>
            <p:nvPr/>
          </p:nvSpPr>
          <p:spPr bwMode="auto">
            <a:xfrm>
              <a:off x="1628337" y="4321838"/>
              <a:ext cx="303707" cy="303707"/>
            </a:xfrm>
            <a:prstGeom prst="ellipse">
              <a:avLst/>
            </a:prstGeom>
            <a:solidFill>
              <a:schemeClr val="bg1"/>
            </a:solidFill>
            <a:ln w="15875">
              <a:solidFill>
                <a:schemeClr val="tx1"/>
              </a:solidFill>
              <a:round/>
            </a:ln>
          </p:spPr>
          <p:txBody>
            <a:bodyPr wrap="none"/>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606" name="TextBox 508"/>
            <p:cNvSpPr txBox="1">
              <a:spLocks noChangeArrowheads="1"/>
            </p:cNvSpPr>
            <p:nvPr/>
          </p:nvSpPr>
          <p:spPr bwMode="auto">
            <a:xfrm>
              <a:off x="1628747"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dirty="0"/>
                <a:t>3</a:t>
              </a:r>
              <a:endParaRPr lang="en-US" altLang="en-US" sz="1800" dirty="0"/>
            </a:p>
          </p:txBody>
        </p:sp>
      </p:grpSp>
      <p:grpSp>
        <p:nvGrpSpPr>
          <p:cNvPr id="277" name="Group 61440"/>
          <p:cNvGrpSpPr/>
          <p:nvPr/>
        </p:nvGrpSpPr>
        <p:grpSpPr bwMode="auto">
          <a:xfrm>
            <a:off x="6589730" y="5116123"/>
            <a:ext cx="313033" cy="368300"/>
            <a:chOff x="1624009" y="4280420"/>
            <a:chExt cx="313044" cy="369332"/>
          </a:xfrm>
        </p:grpSpPr>
        <p:sp>
          <p:nvSpPr>
            <p:cNvPr id="278" name="Oval 486"/>
            <p:cNvSpPr>
              <a:spLocks noChangeArrowheads="1"/>
            </p:cNvSpPr>
            <p:nvPr/>
          </p:nvSpPr>
          <p:spPr bwMode="auto">
            <a:xfrm>
              <a:off x="1628337" y="4321838"/>
              <a:ext cx="303707" cy="303707"/>
            </a:xfrm>
            <a:prstGeom prst="ellipse">
              <a:avLst/>
            </a:prstGeom>
            <a:solidFill>
              <a:schemeClr val="bg1"/>
            </a:solidFill>
            <a:ln w="15875">
              <a:solidFill>
                <a:schemeClr val="tx1"/>
              </a:solidFill>
              <a:round/>
            </a:ln>
          </p:spPr>
          <p:txBody>
            <a:bodyPr wrap="none"/>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sp>
          <p:nvSpPr>
            <p:cNvPr id="279" name="TextBox 487"/>
            <p:cNvSpPr txBox="1">
              <a:spLocks noChangeArrowheads="1"/>
            </p:cNvSpPr>
            <p:nvPr/>
          </p:nvSpPr>
          <p:spPr bwMode="auto">
            <a:xfrm>
              <a:off x="1624009"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800" dirty="0"/>
                <a:t>4</a:t>
              </a:r>
              <a:endParaRPr lang="en-US" altLang="en-US" sz="1800" dirty="0"/>
            </a:p>
          </p:txBody>
        </p:sp>
      </p:grpSp>
      <p:sp>
        <p:nvSpPr>
          <p:cNvPr id="280"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59"/>
                                        </p:tgtEl>
                                        <p:attrNameLst>
                                          <p:attrName>style.visibility</p:attrName>
                                        </p:attrNameLst>
                                      </p:cBhvr>
                                      <p:to>
                                        <p:strVal val="visible"/>
                                      </p:to>
                                    </p:set>
                                    <p:animEffect transition="in" filter="dissolve">
                                      <p:cBhvr>
                                        <p:cTn id="10" dur="500"/>
                                        <p:tgtEl>
                                          <p:spTgt spid="45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602"/>
                                        </p:tgtEl>
                                        <p:attrNameLst>
                                          <p:attrName>style.visibility</p:attrName>
                                        </p:attrNameLst>
                                      </p:cBhvr>
                                      <p:to>
                                        <p:strVal val="visible"/>
                                      </p:to>
                                    </p:set>
                                    <p:animEffect transition="in" filter="dissolve">
                                      <p:cBhvr>
                                        <p:cTn id="15" dur="500"/>
                                        <p:tgtEl>
                                          <p:spTgt spid="602"/>
                                        </p:tgtEl>
                                      </p:cBhvr>
                                    </p:animEffect>
                                  </p:childTnLst>
                                </p:cTn>
                              </p:par>
                              <p:par>
                                <p:cTn id="16" presetID="9" presetClass="entr" presetSubtype="0" fill="hold" nodeType="withEffect">
                                  <p:stCondLst>
                                    <p:cond delay="0"/>
                                  </p:stCondLst>
                                  <p:childTnLst>
                                    <p:set>
                                      <p:cBhvr>
                                        <p:cTn id="17" dur="1" fill="hold">
                                          <p:stCondLst>
                                            <p:cond delay="0"/>
                                          </p:stCondLst>
                                        </p:cTn>
                                        <p:tgtEl>
                                          <p:spTgt spid="598"/>
                                        </p:tgtEl>
                                        <p:attrNameLst>
                                          <p:attrName>style.visibility</p:attrName>
                                        </p:attrNameLst>
                                      </p:cBhvr>
                                      <p:to>
                                        <p:strVal val="visible"/>
                                      </p:to>
                                    </p:set>
                                    <p:animEffect transition="in" filter="dissolve">
                                      <p:cBhvr>
                                        <p:cTn id="18" dur="500"/>
                                        <p:tgtEl>
                                          <p:spTgt spid="598"/>
                                        </p:tgtEl>
                                      </p:cBhvr>
                                    </p:animEffect>
                                  </p:childTnLst>
                                </p:cTn>
                              </p:par>
                              <p:par>
                                <p:cTn id="19" presetID="9" presetClass="entr" presetSubtype="0" fill="hold" nodeType="withEffect">
                                  <p:stCondLst>
                                    <p:cond delay="0"/>
                                  </p:stCondLst>
                                  <p:childTnLst>
                                    <p:set>
                                      <p:cBhvr>
                                        <p:cTn id="20" dur="1" fill="hold">
                                          <p:stCondLst>
                                            <p:cond delay="0"/>
                                          </p:stCondLst>
                                        </p:cTn>
                                        <p:tgtEl>
                                          <p:spTgt spid="599"/>
                                        </p:tgtEl>
                                        <p:attrNameLst>
                                          <p:attrName>style.visibility</p:attrName>
                                        </p:attrNameLst>
                                      </p:cBhvr>
                                      <p:to>
                                        <p:strVal val="visible"/>
                                      </p:to>
                                    </p:set>
                                    <p:animEffect transition="in" filter="dissolve">
                                      <p:cBhvr>
                                        <p:cTn id="21" dur="500"/>
                                        <p:tgtEl>
                                          <p:spTgt spid="59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274"/>
                                        </p:tgtEl>
                                        <p:attrNameLst>
                                          <p:attrName>style.visibility</p:attrName>
                                        </p:attrNameLst>
                                      </p:cBhvr>
                                      <p:to>
                                        <p:strVal val="visible"/>
                                      </p:to>
                                    </p:set>
                                    <p:animEffect transition="in" filter="wipe(down)">
                                      <p:cBhvr>
                                        <p:cTn id="26" dur="500"/>
                                        <p:tgtEl>
                                          <p:spTgt spid="274"/>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603"/>
                                        </p:tgtEl>
                                        <p:attrNameLst>
                                          <p:attrName>style.visibility</p:attrName>
                                        </p:attrNameLst>
                                      </p:cBhvr>
                                      <p:to>
                                        <p:strVal val="visible"/>
                                      </p:to>
                                    </p:set>
                                    <p:animEffect transition="in" filter="wipe(up)">
                                      <p:cBhvr>
                                        <p:cTn id="30" dur="500"/>
                                        <p:tgtEl>
                                          <p:spTgt spid="603"/>
                                        </p:tgtEl>
                                      </p:cBhvr>
                                    </p:animEffect>
                                  </p:childTnLst>
                                </p:cTn>
                              </p:par>
                              <p:par>
                                <p:cTn id="31" presetID="9" presetClass="entr" presetSubtype="0" fill="hold" nodeType="withEffect">
                                  <p:stCondLst>
                                    <p:cond delay="0"/>
                                  </p:stCondLst>
                                  <p:childTnLst>
                                    <p:set>
                                      <p:cBhvr>
                                        <p:cTn id="32" dur="1" fill="hold">
                                          <p:stCondLst>
                                            <p:cond delay="0"/>
                                          </p:stCondLst>
                                        </p:cTn>
                                        <p:tgtEl>
                                          <p:spTgt spid="604"/>
                                        </p:tgtEl>
                                        <p:attrNameLst>
                                          <p:attrName>style.visibility</p:attrName>
                                        </p:attrNameLst>
                                      </p:cBhvr>
                                      <p:to>
                                        <p:strVal val="visible"/>
                                      </p:to>
                                    </p:set>
                                    <p:animEffect transition="in" filter="dissolve">
                                      <p:cBhvr>
                                        <p:cTn id="33" dur="500"/>
                                        <p:tgtEl>
                                          <p:spTgt spid="604"/>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607"/>
                                        </p:tgtEl>
                                        <p:attrNameLst>
                                          <p:attrName>style.visibility</p:attrName>
                                        </p:attrNameLst>
                                      </p:cBhvr>
                                      <p:to>
                                        <p:strVal val="visible"/>
                                      </p:to>
                                    </p:set>
                                    <p:animEffect transition="in" filter="dissolve">
                                      <p:cBhvr>
                                        <p:cTn id="36" dur="500"/>
                                        <p:tgtEl>
                                          <p:spTgt spid="607"/>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609"/>
                                        </p:tgtEl>
                                        <p:attrNameLst>
                                          <p:attrName>style.visibility</p:attrName>
                                        </p:attrNameLst>
                                      </p:cBhvr>
                                      <p:to>
                                        <p:strVal val="visible"/>
                                      </p:to>
                                    </p:set>
                                    <p:animEffect transition="in" filter="wipe(left)">
                                      <p:cBhvr>
                                        <p:cTn id="41" dur="500"/>
                                        <p:tgtEl>
                                          <p:spTgt spid="609"/>
                                        </p:tgtEl>
                                      </p:cBhvr>
                                    </p:animEffect>
                                  </p:childTnLst>
                                </p:cTn>
                              </p:par>
                            </p:childTnLst>
                          </p:cTn>
                        </p:par>
                        <p:par>
                          <p:cTn id="42" fill="hold">
                            <p:stCondLst>
                              <p:cond delay="500"/>
                            </p:stCondLst>
                            <p:childTnLst>
                              <p:par>
                                <p:cTn id="43" presetID="22" presetClass="entr" presetSubtype="2" fill="hold" grpId="0" nodeType="afterEffect">
                                  <p:stCondLst>
                                    <p:cond delay="0"/>
                                  </p:stCondLst>
                                  <p:childTnLst>
                                    <p:set>
                                      <p:cBhvr>
                                        <p:cTn id="44" dur="1" fill="hold">
                                          <p:stCondLst>
                                            <p:cond delay="0"/>
                                          </p:stCondLst>
                                        </p:cTn>
                                        <p:tgtEl>
                                          <p:spTgt spid="608"/>
                                        </p:tgtEl>
                                        <p:attrNameLst>
                                          <p:attrName>style.visibility</p:attrName>
                                        </p:attrNameLst>
                                      </p:cBhvr>
                                      <p:to>
                                        <p:strVal val="visible"/>
                                      </p:to>
                                    </p:set>
                                    <p:animEffect transition="in" filter="wipe(right)">
                                      <p:cBhvr>
                                        <p:cTn id="45" dur="500"/>
                                        <p:tgtEl>
                                          <p:spTgt spid="608"/>
                                        </p:tgtEl>
                                      </p:cBhvr>
                                    </p:animEffect>
                                  </p:childTnLst>
                                </p:cTn>
                              </p:par>
                            </p:childTnLst>
                          </p:cTn>
                        </p:par>
                        <p:par>
                          <p:cTn id="46" fill="hold">
                            <p:stCondLst>
                              <p:cond delay="1000"/>
                            </p:stCondLst>
                            <p:childTnLst>
                              <p:par>
                                <p:cTn id="47" presetID="9" presetClass="entr" presetSubtype="0" fill="hold" nodeType="afterEffect">
                                  <p:stCondLst>
                                    <p:cond delay="0"/>
                                  </p:stCondLst>
                                  <p:childTnLst>
                                    <p:set>
                                      <p:cBhvr>
                                        <p:cTn id="48" dur="1" fill="hold">
                                          <p:stCondLst>
                                            <p:cond delay="0"/>
                                          </p:stCondLst>
                                        </p:cTn>
                                        <p:tgtEl>
                                          <p:spTgt spid="277"/>
                                        </p:tgtEl>
                                        <p:attrNameLst>
                                          <p:attrName>style.visibility</p:attrName>
                                        </p:attrNameLst>
                                      </p:cBhvr>
                                      <p:to>
                                        <p:strVal val="visible"/>
                                      </p:to>
                                    </p:set>
                                    <p:animEffect transition="in" filter="dissolve">
                                      <p:cBhvr>
                                        <p:cTn id="49" dur="500"/>
                                        <p:tgtEl>
                                          <p:spTgt spid="277"/>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610"/>
                                        </p:tgtEl>
                                        <p:attrNameLst>
                                          <p:attrName>style.visibility</p:attrName>
                                        </p:attrNameLst>
                                      </p:cBhvr>
                                      <p:to>
                                        <p:strVal val="visible"/>
                                      </p:to>
                                    </p:set>
                                    <p:animEffect transition="in" filter="dissolve">
                                      <p:cBhvr>
                                        <p:cTn id="52" dur="500"/>
                                        <p:tgtEl>
                                          <p:spTgt spid="6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9" grpId="0"/>
      <p:bldP spid="602" grpId="0"/>
      <p:bldP spid="607" grpId="0"/>
      <p:bldP spid="608" grpId="0" animBg="1"/>
      <p:bldP spid="610"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p:cNvSpPr txBox="1"/>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endParaRPr lang="en-US" sz="3200" dirty="0">
              <a:solidFill>
                <a:schemeClr val="bg1">
                  <a:lumMod val="75000"/>
                </a:schemeClr>
              </a:solidFill>
              <a:latin typeface="Calibri" panose="020F0502020204030204" pitchFamily="34" charset="0"/>
              <a:cs typeface="Calibri" panose="020F0502020204030204" pitchFamily="34" charset="0"/>
            </a:endParaRPr>
          </a:p>
          <a:p>
            <a:pPr marL="401955" indent="-401955">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endParaRPr lang="en-US" sz="3200" dirty="0">
              <a:solidFill>
                <a:schemeClr val="bg1">
                  <a:lumMod val="75000"/>
                </a:schemeClr>
              </a:solidFill>
              <a:latin typeface="Calibri" panose="020F0502020204030204" pitchFamily="34" charset="0"/>
              <a:cs typeface="Calibri" panose="020F0502020204030204" pitchFamily="34" charset="0"/>
            </a:endParaRPr>
          </a:p>
          <a:p>
            <a:endParaRPr lang="en-US" dirty="0"/>
          </a:p>
        </p:txBody>
      </p:sp>
      <p:sp>
        <p:nvSpPr>
          <p:cNvPr id="11" name="Rectangle 4"/>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P2P applications</a:t>
            </a:r>
            <a:endParaRPr lang="en-US" altLang="en-US" sz="3200" dirty="0">
              <a:solidFill>
                <a:schemeClr val="bg1">
                  <a:lumMod val="75000"/>
                </a:schemeClr>
              </a:solidFill>
              <a:ea typeface="MS PGothic" panose="020B0600070205080204" pitchFamily="34" charset="-128"/>
            </a:endParaRPr>
          </a:p>
          <a:p>
            <a:pPr marL="349250" indent="-349250">
              <a:buClr>
                <a:schemeClr val="bg1">
                  <a:lumMod val="75000"/>
                </a:schemeClr>
              </a:buClr>
            </a:pPr>
            <a:r>
              <a:rPr lang="en-US" altLang="en-US" sz="3200" dirty="0">
                <a:solidFill>
                  <a:schemeClr val="bg1">
                    <a:lumMod val="75000"/>
                  </a:schemeClr>
                </a:solidFill>
                <a:ea typeface="MS PGothic" panose="020B0600070205080204" pitchFamily="34" charset="-128"/>
              </a:rPr>
              <a:t>video streaming and content distribution networks</a:t>
            </a:r>
            <a:endParaRPr lang="en-US" altLang="en-US" sz="3200" dirty="0">
              <a:solidFill>
                <a:schemeClr val="bg1">
                  <a:lumMod val="75000"/>
                </a:schemeClr>
              </a:solidFill>
              <a:ea typeface="MS PGothic" panose="020B0600070205080204" pitchFamily="34" charset="-128"/>
            </a:endParaRPr>
          </a:p>
          <a:p>
            <a:pPr marL="349250" indent="-349250">
              <a:buClr>
                <a:srgbClr val="0000A8"/>
              </a:buClr>
            </a:pPr>
            <a:r>
              <a:rPr lang="en-US" altLang="en-US" sz="3200" dirty="0">
                <a:ea typeface="MS PGothic" panose="020B0600070205080204" pitchFamily="34" charset="-128"/>
              </a:rPr>
              <a:t>socket programming with UDP and TCP</a:t>
            </a:r>
            <a:endParaRPr lang="en-US" altLang="en-US" sz="3200" dirty="0">
              <a:ea typeface="MS PGothic" panose="020B0600070205080204" pitchFamily="34" charset="-128"/>
            </a:endParaRPr>
          </a:p>
          <a:p>
            <a:pPr>
              <a:buFont typeface="Wingdings" panose="05000000000000000000" pitchFamily="2" charset="2"/>
              <a:buNone/>
            </a:pPr>
            <a:endParaRPr lang="en-US" altLang="en-US" sz="2400" dirty="0"/>
          </a:p>
        </p:txBody>
      </p:sp>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pic>
        <p:nvPicPr>
          <p:cNvPr id="7" name="Picture 6" descr="Kurose&amp;Ross 8th edition photo"/>
          <p:cNvPicPr>
            <a:picLocks noChangeAspect="1"/>
          </p:cNvPicPr>
          <p:nvPr/>
        </p:nvPicPr>
        <p:blipFill>
          <a:blip r:embed="rId1"/>
          <a:stretch>
            <a:fillRect/>
          </a:stretch>
        </p:blipFill>
        <p:spPr>
          <a:xfrm>
            <a:off x="6957391" y="4125913"/>
            <a:ext cx="3087757" cy="2315818"/>
          </a:xfrm>
          <a:prstGeom prst="rect">
            <a:avLst/>
          </a:prstGeom>
        </p:spPr>
      </p:pic>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r>
              <a:rPr lang="en-US" altLang="en-US" sz="4400" dirty="0">
                <a:ea typeface="MS PGothic" panose="020B0600070205080204" pitchFamily="34" charset="-128"/>
              </a:rPr>
              <a:t>Socket programming </a:t>
            </a:r>
            <a:endParaRPr lang="en-US" altLang="en-US" sz="4400" dirty="0">
              <a:ea typeface="MS PGothic" panose="020B0600070205080204" pitchFamily="34" charset="-128"/>
            </a:endParaRPr>
          </a:p>
        </p:txBody>
      </p:sp>
      <p:sp>
        <p:nvSpPr>
          <p:cNvPr id="62" name="Rectangle 3"/>
          <p:cNvSpPr txBox="1">
            <a:spLocks noChangeArrowheads="1"/>
          </p:cNvSpPr>
          <p:nvPr/>
        </p:nvSpPr>
        <p:spPr bwMode="auto">
          <a:xfrm>
            <a:off x="838200" y="1446842"/>
            <a:ext cx="11124616"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MS PGothic" panose="020B0600070205080204" pitchFamily="34" charset="-128"/>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anose="020B0502020104020203" pitchFamily="34" charset="0"/>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sz="2000">
                <a:solidFill>
                  <a:schemeClr val="tx1"/>
                </a:solidFill>
                <a:latin typeface="Times New Roman" panose="02020603050405020304" pitchFamily="18" charset="0"/>
                <a:ea typeface="MS PGothic" panose="020B0600070205080204" pitchFamily="34" charset="-128"/>
              </a:defRPr>
            </a:lvl4pPr>
            <a:lvl5pPr marL="2057400" indent="-228600" algn="l" rtl="0" eaLnBrk="0" fontAlgn="base" hangingPunct="0">
              <a:spcBef>
                <a:spcPct val="20000"/>
              </a:spcBef>
              <a:spcAft>
                <a:spcPct val="0"/>
              </a:spcAft>
              <a:buChar char="»"/>
              <a:defRPr sz="2000">
                <a:solidFill>
                  <a:schemeClr val="tx1"/>
                </a:solidFill>
                <a:latin typeface="Times New Roman" panose="02020603050405020304" pitchFamily="18" charset="0"/>
                <a:ea typeface="MS PGothic" panose="020B0600070205080204" pitchFamily="34" charset="-128"/>
              </a:defRPr>
            </a:lvl5pPr>
            <a:lvl6pPr marL="2514600" indent="-228600" algn="l" rtl="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buFont typeface="Wingdings" panose="05000000000000000000" pitchFamily="2" charset="2"/>
              <a:buNone/>
            </a:pPr>
            <a:r>
              <a:rPr lang="en-US" altLang="en-US" sz="3200" i="1" kern="0" dirty="0">
                <a:solidFill>
                  <a:srgbClr val="CC0000"/>
                </a:solidFill>
                <a:latin typeface="+mn-lt"/>
                <a:ea typeface="MS PGothic" panose="020B0600070205080204" pitchFamily="34" charset="-128"/>
              </a:rPr>
              <a:t>goal:</a:t>
            </a:r>
            <a:r>
              <a:rPr lang="en-US" altLang="en-US" sz="3200" kern="0" dirty="0">
                <a:solidFill>
                  <a:srgbClr val="000000"/>
                </a:solidFill>
                <a:latin typeface="+mn-lt"/>
                <a:ea typeface="MS PGothic" panose="020B0600070205080204" pitchFamily="34" charset="-128"/>
              </a:rPr>
              <a:t> learn how to build client/server applications that communicate using sockets</a:t>
            </a:r>
            <a:endParaRPr lang="en-US" altLang="en-US" sz="3200" i="1" kern="0" dirty="0">
              <a:solidFill>
                <a:srgbClr val="CC0000"/>
              </a:solidFill>
              <a:latin typeface="+mn-lt"/>
              <a:ea typeface="MS PGothic" panose="020B0600070205080204" pitchFamily="34" charset="-128"/>
            </a:endParaRPr>
          </a:p>
          <a:p>
            <a:pPr>
              <a:buFont typeface="Wingdings" panose="05000000000000000000" pitchFamily="2" charset="2"/>
              <a:buNone/>
            </a:pPr>
            <a:r>
              <a:rPr lang="en-US" altLang="en-US" sz="3200" i="1" kern="0" dirty="0">
                <a:solidFill>
                  <a:srgbClr val="CC0000"/>
                </a:solidFill>
                <a:latin typeface="+mn-lt"/>
                <a:ea typeface="MS PGothic" panose="020B0600070205080204" pitchFamily="34" charset="-128"/>
              </a:rPr>
              <a:t>socket:</a:t>
            </a:r>
            <a:r>
              <a:rPr lang="en-US" altLang="en-US" sz="3200" kern="0" dirty="0">
                <a:latin typeface="+mn-lt"/>
                <a:ea typeface="MS PGothic" panose="020B0600070205080204" pitchFamily="34" charset="-128"/>
              </a:rPr>
              <a:t> door between application process and end-end-transport protocol </a:t>
            </a:r>
            <a:endParaRPr lang="en-US" altLang="en-US" sz="3200" kern="0" dirty="0">
              <a:latin typeface="+mn-lt"/>
              <a:ea typeface="MS PGothic" panose="020B0600070205080204" pitchFamily="34" charset="-128"/>
            </a:endParaRPr>
          </a:p>
        </p:txBody>
      </p:sp>
      <p:sp>
        <p:nvSpPr>
          <p:cNvPr id="117" name="Freeform 66"/>
          <p:cNvSpPr/>
          <p:nvPr/>
        </p:nvSpPr>
        <p:spPr bwMode="auto">
          <a:xfrm>
            <a:off x="8379242" y="3598233"/>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chemeClr val="accent1">
                  <a:lumMod val="75000"/>
                </a:schemeClr>
              </a:gs>
            </a:gsLst>
            <a:lin ang="10800000" scaled="0"/>
          </a:gradFill>
          <a:ln w="9525">
            <a:solidFill>
              <a:srgbClr val="DDDDDD"/>
            </a:solidFill>
            <a:round/>
          </a:ln>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18" name="Freeform 7"/>
          <p:cNvSpPr/>
          <p:nvPr/>
        </p:nvSpPr>
        <p:spPr bwMode="auto">
          <a:xfrm>
            <a:off x="5064542" y="4895220"/>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19" name="Text Box 51"/>
          <p:cNvSpPr txBox="1">
            <a:spLocks noChangeArrowheads="1"/>
          </p:cNvSpPr>
          <p:nvPr/>
        </p:nvSpPr>
        <p:spPr bwMode="auto">
          <a:xfrm>
            <a:off x="5502692" y="5026983"/>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Internet</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20" name="Line 52"/>
          <p:cNvSpPr>
            <a:spLocks noChangeShapeType="1"/>
          </p:cNvSpPr>
          <p:nvPr/>
        </p:nvSpPr>
        <p:spPr bwMode="auto">
          <a:xfrm>
            <a:off x="4823242" y="5438145"/>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21" name="Text Box 53"/>
          <p:cNvSpPr txBox="1">
            <a:spLocks noChangeArrowheads="1"/>
          </p:cNvSpPr>
          <p:nvPr/>
        </p:nvSpPr>
        <p:spPr bwMode="auto">
          <a:xfrm>
            <a:off x="8844379" y="4663445"/>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controlled</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by OS</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endParaRPr kumimoji="0" lang="en-US" altLang="en-US" sz="1600" b="0" i="0" u="none" strike="noStrike" kern="0" cap="none" spc="0" normalizeH="0" baseline="0" noProof="0">
              <a:ln>
                <a:noFill/>
              </a:ln>
              <a:solidFill>
                <a:srgbClr val="CC0000"/>
              </a:solidFill>
              <a:effectLst/>
              <a:uLnTx/>
              <a:uFillTx/>
              <a:latin typeface="Times New Roman" panose="02020603050405020304" pitchFamily="18" charset="0"/>
              <a:ea typeface="MS PGothic" panose="020B0600070205080204" pitchFamily="34" charset="-128"/>
            </a:endParaRPr>
          </a:p>
        </p:txBody>
      </p:sp>
      <p:sp>
        <p:nvSpPr>
          <p:cNvPr id="122" name="Text Box 56"/>
          <p:cNvSpPr txBox="1">
            <a:spLocks noChangeArrowheads="1"/>
          </p:cNvSpPr>
          <p:nvPr/>
        </p:nvSpPr>
        <p:spPr bwMode="auto">
          <a:xfrm>
            <a:off x="8822154" y="3763333"/>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9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controlled by</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9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app developer</a:t>
            </a:r>
            <a:endParaRPr kumimoji="0" lang="en-US" altLang="en-US" sz="16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23" name="Freeform 45"/>
          <p:cNvSpPr/>
          <p:nvPr/>
        </p:nvSpPr>
        <p:spPr bwMode="auto">
          <a:xfrm>
            <a:off x="2638842" y="3661733"/>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chemeClr val="accent1">
                  <a:lumMod val="75000"/>
                </a:schemeClr>
              </a:gs>
            </a:gsLst>
            <a:lin ang="0" scaled="1"/>
          </a:gradFill>
          <a:ln w="9525">
            <a:solidFill>
              <a:srgbClr val="DDDDDD"/>
            </a:solidFill>
            <a:round/>
          </a:ln>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24" name="Rectangle 23"/>
          <p:cNvSpPr>
            <a:spLocks noChangeArrowheads="1"/>
          </p:cNvSpPr>
          <p:nvPr/>
        </p:nvSpPr>
        <p:spPr bwMode="auto">
          <a:xfrm>
            <a:off x="3442117" y="3617283"/>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endParaRPr>
          </a:p>
        </p:txBody>
      </p:sp>
      <p:sp>
        <p:nvSpPr>
          <p:cNvPr id="125" name="Rectangle 24"/>
          <p:cNvSpPr>
            <a:spLocks noChangeArrowheads="1"/>
          </p:cNvSpPr>
          <p:nvPr/>
        </p:nvSpPr>
        <p:spPr bwMode="auto">
          <a:xfrm>
            <a:off x="3404017" y="3671258"/>
            <a:ext cx="1273175" cy="1979612"/>
          </a:xfrm>
          <a:prstGeom prst="rect">
            <a:avLst/>
          </a:prstGeom>
          <a:solidFill>
            <a:srgbClr val="FFFFFF"/>
          </a:solidFill>
          <a:ln w="285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endParaRPr>
          </a:p>
        </p:txBody>
      </p:sp>
      <p:sp>
        <p:nvSpPr>
          <p:cNvPr id="126" name="Line 25"/>
          <p:cNvSpPr>
            <a:spLocks noChangeShapeType="1"/>
          </p:cNvSpPr>
          <p:nvPr/>
        </p:nvSpPr>
        <p:spPr bwMode="auto">
          <a:xfrm>
            <a:off x="3413542" y="4431670"/>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27" name="Text Box 26"/>
          <p:cNvSpPr txBox="1">
            <a:spLocks noChangeArrowheads="1"/>
          </p:cNvSpPr>
          <p:nvPr/>
        </p:nvSpPr>
        <p:spPr bwMode="auto">
          <a:xfrm>
            <a:off x="3370679" y="44142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transport</a:t>
            </a:r>
            <a:endParaRPr lang="en-US" altLang="en-US" sz="1400">
              <a:solidFill>
                <a:srgbClr val="969696"/>
              </a:solidFill>
              <a:latin typeface="Tahoma" panose="020B0604030504040204" pitchFamily="34" charset="0"/>
            </a:endParaRPr>
          </a:p>
        </p:txBody>
      </p:sp>
      <p:sp>
        <p:nvSpPr>
          <p:cNvPr id="128" name="Line 27"/>
          <p:cNvSpPr>
            <a:spLocks noChangeShapeType="1"/>
          </p:cNvSpPr>
          <p:nvPr/>
        </p:nvSpPr>
        <p:spPr bwMode="auto">
          <a:xfrm>
            <a:off x="3421479" y="4752345"/>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29" name="Line 28"/>
          <p:cNvSpPr>
            <a:spLocks noChangeShapeType="1"/>
          </p:cNvSpPr>
          <p:nvPr/>
        </p:nvSpPr>
        <p:spPr bwMode="auto">
          <a:xfrm>
            <a:off x="3407192" y="5061908"/>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30" name="Line 29"/>
          <p:cNvSpPr>
            <a:spLocks noChangeShapeType="1"/>
          </p:cNvSpPr>
          <p:nvPr/>
        </p:nvSpPr>
        <p:spPr bwMode="auto">
          <a:xfrm>
            <a:off x="3407192" y="5347658"/>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31" name="Text Box 26"/>
          <p:cNvSpPr txBox="1">
            <a:spLocks noChangeArrowheads="1"/>
          </p:cNvSpPr>
          <p:nvPr/>
        </p:nvSpPr>
        <p:spPr bwMode="auto">
          <a:xfrm>
            <a:off x="3405604" y="36617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000000"/>
                </a:solidFill>
                <a:latin typeface="Tahoma" panose="020B0604030504040204" pitchFamily="34" charset="0"/>
              </a:rPr>
              <a:t>application</a:t>
            </a:r>
            <a:endParaRPr lang="en-US" altLang="en-US" sz="1400">
              <a:solidFill>
                <a:srgbClr val="000000"/>
              </a:solidFill>
              <a:latin typeface="Tahoma" panose="020B0604030504040204" pitchFamily="34" charset="0"/>
            </a:endParaRPr>
          </a:p>
        </p:txBody>
      </p:sp>
      <p:sp>
        <p:nvSpPr>
          <p:cNvPr id="132" name="Text Box 26"/>
          <p:cNvSpPr txBox="1">
            <a:spLocks noChangeArrowheads="1"/>
          </p:cNvSpPr>
          <p:nvPr/>
        </p:nvSpPr>
        <p:spPr bwMode="auto">
          <a:xfrm>
            <a:off x="3361154" y="53190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physical</a:t>
            </a:r>
            <a:endParaRPr lang="en-US" altLang="en-US" sz="1400">
              <a:solidFill>
                <a:srgbClr val="969696"/>
              </a:solidFill>
              <a:latin typeface="Tahoma" panose="020B0604030504040204" pitchFamily="34" charset="0"/>
            </a:endParaRPr>
          </a:p>
        </p:txBody>
      </p:sp>
      <p:sp>
        <p:nvSpPr>
          <p:cNvPr id="133" name="Text Box 26"/>
          <p:cNvSpPr txBox="1">
            <a:spLocks noChangeArrowheads="1"/>
          </p:cNvSpPr>
          <p:nvPr/>
        </p:nvSpPr>
        <p:spPr bwMode="auto">
          <a:xfrm>
            <a:off x="3380204" y="50333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link</a:t>
            </a:r>
            <a:endParaRPr lang="en-US" altLang="en-US" sz="1400">
              <a:solidFill>
                <a:srgbClr val="969696"/>
              </a:solidFill>
              <a:latin typeface="Tahoma" panose="020B0604030504040204" pitchFamily="34" charset="0"/>
            </a:endParaRPr>
          </a:p>
        </p:txBody>
      </p:sp>
      <p:sp>
        <p:nvSpPr>
          <p:cNvPr id="134" name="Text Box 26"/>
          <p:cNvSpPr txBox="1">
            <a:spLocks noChangeArrowheads="1"/>
          </p:cNvSpPr>
          <p:nvPr/>
        </p:nvSpPr>
        <p:spPr bwMode="auto">
          <a:xfrm>
            <a:off x="3370679" y="47380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network</a:t>
            </a:r>
            <a:endParaRPr lang="en-US" altLang="en-US" sz="1400">
              <a:solidFill>
                <a:srgbClr val="969696"/>
              </a:solidFill>
              <a:latin typeface="Tahoma" panose="020B0604030504040204" pitchFamily="34" charset="0"/>
            </a:endParaRPr>
          </a:p>
        </p:txBody>
      </p:sp>
      <p:sp>
        <p:nvSpPr>
          <p:cNvPr id="135" name="Oval 57"/>
          <p:cNvSpPr>
            <a:spLocks noChangeArrowheads="1"/>
          </p:cNvSpPr>
          <p:nvPr/>
        </p:nvSpPr>
        <p:spPr bwMode="auto">
          <a:xfrm>
            <a:off x="3538954" y="3936370"/>
            <a:ext cx="990600" cy="304800"/>
          </a:xfrm>
          <a:prstGeom prst="ellipse">
            <a:avLst/>
          </a:prstGeom>
          <a:solidFill>
            <a:srgbClr val="CCFFFF"/>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process</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136" name="Group 58"/>
          <p:cNvGrpSpPr/>
          <p:nvPr/>
        </p:nvGrpSpPr>
        <p:grpSpPr bwMode="auto">
          <a:xfrm>
            <a:off x="3786604" y="4296733"/>
            <a:ext cx="546100" cy="225425"/>
            <a:chOff x="1287" y="2524"/>
            <a:chExt cx="260" cy="100"/>
          </a:xfrm>
        </p:grpSpPr>
        <p:sp>
          <p:nvSpPr>
            <p:cNvPr id="137" name="Rectangle 59"/>
            <p:cNvSpPr>
              <a:spLocks noChangeArrowheads="1"/>
            </p:cNvSpPr>
            <p:nvPr/>
          </p:nvSpPr>
          <p:spPr bwMode="auto">
            <a:xfrm>
              <a:off x="1287" y="2524"/>
              <a:ext cx="260" cy="100"/>
            </a:xfrm>
            <a:prstGeom prst="rect">
              <a:avLst/>
            </a:prstGeom>
            <a:solidFill>
              <a:srgbClr val="C96B72"/>
            </a:solidFill>
            <a:ln w="952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38" name="Rectangle 60"/>
            <p:cNvSpPr>
              <a:spLocks noChangeArrowheads="1"/>
            </p:cNvSpPr>
            <p:nvPr/>
          </p:nvSpPr>
          <p:spPr bwMode="auto">
            <a:xfrm>
              <a:off x="1338" y="2537"/>
              <a:ext cx="156" cy="76"/>
            </a:xfrm>
            <a:prstGeom prst="rect">
              <a:avLst/>
            </a:prstGeom>
            <a:solidFill>
              <a:srgbClr val="FFFFFF"/>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39" name="Rectangle 61"/>
            <p:cNvSpPr>
              <a:spLocks noChangeArrowheads="1"/>
            </p:cNvSpPr>
            <p:nvPr/>
          </p:nvSpPr>
          <p:spPr bwMode="auto">
            <a:xfrm>
              <a:off x="1503" y="2582"/>
              <a:ext cx="27" cy="27"/>
            </a:xfrm>
            <a:prstGeom prst="rect">
              <a:avLst/>
            </a:prstGeom>
            <a:solidFill>
              <a:srgbClr val="C00000"/>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40" name="Rectangle 62"/>
            <p:cNvSpPr>
              <a:spLocks noChangeArrowheads="1"/>
            </p:cNvSpPr>
            <p:nvPr/>
          </p:nvSpPr>
          <p:spPr bwMode="auto">
            <a:xfrm>
              <a:off x="1298" y="2583"/>
              <a:ext cx="26" cy="27"/>
            </a:xfrm>
            <a:prstGeom prst="rect">
              <a:avLst/>
            </a:prstGeom>
            <a:solidFill>
              <a:srgbClr val="C00000"/>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141" name="Rectangle 23"/>
          <p:cNvSpPr>
            <a:spLocks noChangeArrowheads="1"/>
          </p:cNvSpPr>
          <p:nvPr/>
        </p:nvSpPr>
        <p:spPr bwMode="auto">
          <a:xfrm>
            <a:off x="7104479" y="3588708"/>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eaLnBrk="0" fontAlgn="base" hangingPunct="0">
              <a:spcBef>
                <a:spcPct val="0"/>
              </a:spcBef>
              <a:spcAft>
                <a:spcPct val="0"/>
              </a:spcAft>
            </a:pPr>
            <a:endParaRPr lang="en-US" altLang="en-US" sz="2400">
              <a:solidFill>
                <a:srgbClr val="000000"/>
              </a:solidFill>
              <a:latin typeface="Times New Roman" panose="02020603050405020304" pitchFamily="18" charset="0"/>
            </a:endParaRPr>
          </a:p>
        </p:txBody>
      </p:sp>
      <p:sp>
        <p:nvSpPr>
          <p:cNvPr id="142" name="Rectangle 24"/>
          <p:cNvSpPr>
            <a:spLocks noChangeArrowheads="1"/>
          </p:cNvSpPr>
          <p:nvPr/>
        </p:nvSpPr>
        <p:spPr bwMode="auto">
          <a:xfrm>
            <a:off x="7066379" y="3642683"/>
            <a:ext cx="1273175" cy="1979612"/>
          </a:xfrm>
          <a:prstGeom prst="rect">
            <a:avLst/>
          </a:prstGeom>
          <a:solidFill>
            <a:srgbClr val="FFFFFF"/>
          </a:solidFill>
          <a:ln w="28575">
            <a:solidFill>
              <a:srgbClr val="000000"/>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endParaRPr>
          </a:p>
        </p:txBody>
      </p:sp>
      <p:sp>
        <p:nvSpPr>
          <p:cNvPr id="143" name="Line 25"/>
          <p:cNvSpPr>
            <a:spLocks noChangeShapeType="1"/>
          </p:cNvSpPr>
          <p:nvPr/>
        </p:nvSpPr>
        <p:spPr bwMode="auto">
          <a:xfrm>
            <a:off x="7075904" y="4403095"/>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44" name="Text Box 26"/>
          <p:cNvSpPr txBox="1">
            <a:spLocks noChangeArrowheads="1"/>
          </p:cNvSpPr>
          <p:nvPr/>
        </p:nvSpPr>
        <p:spPr bwMode="auto">
          <a:xfrm>
            <a:off x="7033042" y="43856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transport</a:t>
            </a:r>
            <a:endParaRPr lang="en-US" altLang="en-US" sz="1400">
              <a:solidFill>
                <a:srgbClr val="969696"/>
              </a:solidFill>
              <a:latin typeface="Tahoma" panose="020B0604030504040204" pitchFamily="34" charset="0"/>
            </a:endParaRPr>
          </a:p>
        </p:txBody>
      </p:sp>
      <p:sp>
        <p:nvSpPr>
          <p:cNvPr id="145" name="Line 27"/>
          <p:cNvSpPr>
            <a:spLocks noChangeShapeType="1"/>
          </p:cNvSpPr>
          <p:nvPr/>
        </p:nvSpPr>
        <p:spPr bwMode="auto">
          <a:xfrm>
            <a:off x="7083842" y="4723770"/>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46" name="Line 28"/>
          <p:cNvSpPr>
            <a:spLocks noChangeShapeType="1"/>
          </p:cNvSpPr>
          <p:nvPr/>
        </p:nvSpPr>
        <p:spPr bwMode="auto">
          <a:xfrm>
            <a:off x="7069554" y="5033333"/>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47" name="Line 29"/>
          <p:cNvSpPr>
            <a:spLocks noChangeShapeType="1"/>
          </p:cNvSpPr>
          <p:nvPr/>
        </p:nvSpPr>
        <p:spPr bwMode="auto">
          <a:xfrm>
            <a:off x="7069554" y="5319083"/>
            <a:ext cx="1263650" cy="3175"/>
          </a:xfrm>
          <a:prstGeom prst="line">
            <a:avLst/>
          </a:prstGeom>
          <a:noFill/>
          <a:ln w="28575">
            <a:solidFill>
              <a:srgbClr val="000000"/>
            </a:solidFill>
            <a:rou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48" name="Text Box 26"/>
          <p:cNvSpPr txBox="1">
            <a:spLocks noChangeArrowheads="1"/>
          </p:cNvSpPr>
          <p:nvPr/>
        </p:nvSpPr>
        <p:spPr bwMode="auto">
          <a:xfrm>
            <a:off x="7067967" y="36331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000000"/>
                </a:solidFill>
                <a:latin typeface="Tahoma" panose="020B0604030504040204" pitchFamily="34" charset="0"/>
              </a:rPr>
              <a:t>application</a:t>
            </a:r>
            <a:endParaRPr lang="en-US" altLang="en-US" sz="1400">
              <a:solidFill>
                <a:srgbClr val="000000"/>
              </a:solidFill>
              <a:latin typeface="Tahoma" panose="020B0604030504040204" pitchFamily="34" charset="0"/>
            </a:endParaRPr>
          </a:p>
        </p:txBody>
      </p:sp>
      <p:sp>
        <p:nvSpPr>
          <p:cNvPr id="149" name="Text Box 26"/>
          <p:cNvSpPr txBox="1">
            <a:spLocks noChangeArrowheads="1"/>
          </p:cNvSpPr>
          <p:nvPr/>
        </p:nvSpPr>
        <p:spPr bwMode="auto">
          <a:xfrm>
            <a:off x="7023517" y="52905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physical</a:t>
            </a:r>
            <a:endParaRPr lang="en-US" altLang="en-US" sz="1400">
              <a:solidFill>
                <a:srgbClr val="969696"/>
              </a:solidFill>
              <a:latin typeface="Tahoma" panose="020B0604030504040204" pitchFamily="34" charset="0"/>
            </a:endParaRPr>
          </a:p>
        </p:txBody>
      </p:sp>
      <p:sp>
        <p:nvSpPr>
          <p:cNvPr id="150" name="Text Box 26"/>
          <p:cNvSpPr txBox="1">
            <a:spLocks noChangeArrowheads="1"/>
          </p:cNvSpPr>
          <p:nvPr/>
        </p:nvSpPr>
        <p:spPr bwMode="auto">
          <a:xfrm>
            <a:off x="7042567" y="50047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link</a:t>
            </a:r>
            <a:endParaRPr lang="en-US" altLang="en-US" sz="1400">
              <a:solidFill>
                <a:srgbClr val="969696"/>
              </a:solidFill>
              <a:latin typeface="Tahoma" panose="020B0604030504040204" pitchFamily="34" charset="0"/>
            </a:endParaRPr>
          </a:p>
        </p:txBody>
      </p:sp>
      <p:sp>
        <p:nvSpPr>
          <p:cNvPr id="151" name="Text Box 26"/>
          <p:cNvSpPr txBox="1">
            <a:spLocks noChangeArrowheads="1"/>
          </p:cNvSpPr>
          <p:nvPr/>
        </p:nvSpPr>
        <p:spPr bwMode="auto">
          <a:xfrm>
            <a:off x="7033042" y="47094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110000"/>
              </a:lnSpc>
              <a:spcBef>
                <a:spcPct val="0"/>
              </a:spcBef>
              <a:spcAft>
                <a:spcPct val="0"/>
              </a:spcAft>
            </a:pPr>
            <a:r>
              <a:rPr lang="en-US" altLang="en-US" sz="1400">
                <a:solidFill>
                  <a:srgbClr val="969696"/>
                </a:solidFill>
                <a:latin typeface="Tahoma" panose="020B0604030504040204" pitchFamily="34" charset="0"/>
              </a:rPr>
              <a:t>network</a:t>
            </a:r>
            <a:endParaRPr lang="en-US" altLang="en-US" sz="1400">
              <a:solidFill>
                <a:srgbClr val="969696"/>
              </a:solidFill>
              <a:latin typeface="Tahoma" panose="020B0604030504040204" pitchFamily="34" charset="0"/>
            </a:endParaRPr>
          </a:p>
        </p:txBody>
      </p:sp>
      <p:sp>
        <p:nvSpPr>
          <p:cNvPr id="152" name="Oval 78"/>
          <p:cNvSpPr>
            <a:spLocks noChangeArrowheads="1"/>
          </p:cNvSpPr>
          <p:nvPr/>
        </p:nvSpPr>
        <p:spPr bwMode="auto">
          <a:xfrm>
            <a:off x="7201317" y="3907795"/>
            <a:ext cx="990600" cy="304800"/>
          </a:xfrm>
          <a:prstGeom prst="ellipse">
            <a:avLst/>
          </a:prstGeom>
          <a:solidFill>
            <a:srgbClr val="CCFFFF"/>
          </a:solidFill>
          <a:ln w="9525">
            <a:solidFill>
              <a:srgbClr val="000000"/>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process</a:t>
            </a:r>
            <a:endPar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nvGrpSpPr>
          <p:cNvPr id="153" name="Group 79"/>
          <p:cNvGrpSpPr/>
          <p:nvPr/>
        </p:nvGrpSpPr>
        <p:grpSpPr bwMode="auto">
          <a:xfrm>
            <a:off x="7448967" y="4268158"/>
            <a:ext cx="546100" cy="225425"/>
            <a:chOff x="1287" y="2524"/>
            <a:chExt cx="260" cy="100"/>
          </a:xfrm>
        </p:grpSpPr>
        <p:sp>
          <p:nvSpPr>
            <p:cNvPr id="154" name="Rectangle 80"/>
            <p:cNvSpPr>
              <a:spLocks noChangeArrowheads="1"/>
            </p:cNvSpPr>
            <p:nvPr/>
          </p:nvSpPr>
          <p:spPr bwMode="auto">
            <a:xfrm>
              <a:off x="1287" y="2524"/>
              <a:ext cx="260" cy="100"/>
            </a:xfrm>
            <a:prstGeom prst="rect">
              <a:avLst/>
            </a:prstGeom>
            <a:solidFill>
              <a:srgbClr val="C96B72"/>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55" name="Rectangle 81"/>
            <p:cNvSpPr>
              <a:spLocks noChangeArrowheads="1"/>
            </p:cNvSpPr>
            <p:nvPr/>
          </p:nvSpPr>
          <p:spPr bwMode="auto">
            <a:xfrm>
              <a:off x="1338" y="2537"/>
              <a:ext cx="156" cy="76"/>
            </a:xfrm>
            <a:prstGeom prst="rect">
              <a:avLst/>
            </a:prstGeom>
            <a:solidFill>
              <a:srgbClr val="FFFFFF"/>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56" name="Rectangle 82"/>
            <p:cNvSpPr>
              <a:spLocks noChangeArrowheads="1"/>
            </p:cNvSpPr>
            <p:nvPr/>
          </p:nvSpPr>
          <p:spPr bwMode="auto">
            <a:xfrm>
              <a:off x="1503" y="2582"/>
              <a:ext cx="27" cy="27"/>
            </a:xfrm>
            <a:prstGeom prst="rect">
              <a:avLst/>
            </a:prstGeom>
            <a:solidFill>
              <a:srgbClr val="C00000"/>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157" name="Rectangle 83"/>
            <p:cNvSpPr>
              <a:spLocks noChangeArrowheads="1"/>
            </p:cNvSpPr>
            <p:nvPr/>
          </p:nvSpPr>
          <p:spPr bwMode="auto">
            <a:xfrm>
              <a:off x="1298" y="2583"/>
              <a:ext cx="26" cy="27"/>
            </a:xfrm>
            <a:prstGeom prst="rect">
              <a:avLst/>
            </a:prstGeom>
            <a:solidFill>
              <a:srgbClr val="C00000"/>
            </a:solidFill>
            <a:ln w="9525">
              <a:no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alt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158" name="Line 88"/>
          <p:cNvSpPr>
            <a:spLocks noChangeShapeType="1"/>
          </p:cNvSpPr>
          <p:nvPr/>
        </p:nvSpPr>
        <p:spPr bwMode="auto">
          <a:xfrm flipH="1">
            <a:off x="8258592" y="4039558"/>
            <a:ext cx="609600" cy="0"/>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59" name="Line 89"/>
          <p:cNvSpPr>
            <a:spLocks noChangeShapeType="1"/>
          </p:cNvSpPr>
          <p:nvPr/>
        </p:nvSpPr>
        <p:spPr bwMode="auto">
          <a:xfrm>
            <a:off x="8484017" y="4465008"/>
            <a:ext cx="0" cy="1022350"/>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60" name="Line 90"/>
          <p:cNvSpPr>
            <a:spLocks noChangeShapeType="1"/>
          </p:cNvSpPr>
          <p:nvPr/>
        </p:nvSpPr>
        <p:spPr bwMode="auto">
          <a:xfrm flipH="1">
            <a:off x="8507829" y="4965070"/>
            <a:ext cx="609600" cy="0"/>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61" name="Text Box 56"/>
          <p:cNvSpPr txBox="1">
            <a:spLocks noChangeArrowheads="1"/>
          </p:cNvSpPr>
          <p:nvPr/>
        </p:nvSpPr>
        <p:spPr bwMode="auto">
          <a:xfrm>
            <a:off x="5421729" y="3720470"/>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90000"/>
              </a:lnSpc>
              <a:spcBef>
                <a:spcPct val="0"/>
              </a:spcBef>
              <a:spcAft>
                <a:spcPct val="0"/>
              </a:spcAft>
              <a:buClrTx/>
              <a:buSzTx/>
              <a:buFontTx/>
              <a:buNone/>
              <a:defRPr/>
            </a:pPr>
            <a:r>
              <a:rPr kumimoji="0" lang="en-US" altLang="en-US" sz="2000" b="0" i="1"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socket</a:t>
            </a:r>
            <a:endParaRPr kumimoji="0" lang="en-US" altLang="en-US" sz="2000" b="0" i="1"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p:txBody>
      </p:sp>
      <p:sp>
        <p:nvSpPr>
          <p:cNvPr id="162" name="Line 92"/>
          <p:cNvSpPr>
            <a:spLocks noChangeShapeType="1"/>
          </p:cNvSpPr>
          <p:nvPr/>
        </p:nvSpPr>
        <p:spPr bwMode="auto">
          <a:xfrm flipV="1">
            <a:off x="4424779" y="3920495"/>
            <a:ext cx="968375" cy="434975"/>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sp>
        <p:nvSpPr>
          <p:cNvPr id="163" name="Line 93"/>
          <p:cNvSpPr>
            <a:spLocks noChangeShapeType="1"/>
          </p:cNvSpPr>
          <p:nvPr/>
        </p:nvSpPr>
        <p:spPr bwMode="auto">
          <a:xfrm flipH="1" flipV="1">
            <a:off x="6359942" y="3909383"/>
            <a:ext cx="968375" cy="434975"/>
          </a:xfrm>
          <a:prstGeom prst="line">
            <a:avLst/>
          </a:prstGeom>
          <a:noFill/>
          <a:ln w="19050">
            <a:solidFill>
              <a:srgbClr val="CC0000"/>
            </a:solidFill>
            <a:rou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pitchFamily="82" charset="2"/>
              <a:buNone/>
            </a:pPr>
            <a:endParaRPr lang="en-US" sz="2000">
              <a:solidFill>
                <a:srgbClr val="000000"/>
              </a:solidFill>
              <a:latin typeface="Arial" panose="020B0604020202020204" pitchFamily="34" charset="0"/>
              <a:ea typeface="MS PGothic" panose="020B0600070205080204" pitchFamily="34" charset="-128"/>
            </a:endParaRPr>
          </a:p>
        </p:txBody>
      </p:sp>
      <p:grpSp>
        <p:nvGrpSpPr>
          <p:cNvPr id="164" name="Group 96"/>
          <p:cNvGrpSpPr/>
          <p:nvPr/>
        </p:nvGrpSpPr>
        <p:grpSpPr bwMode="auto">
          <a:xfrm>
            <a:off x="2214979" y="4974595"/>
            <a:ext cx="719138" cy="773113"/>
            <a:chOff x="-44" y="1473"/>
            <a:chExt cx="981" cy="1105"/>
          </a:xfrm>
        </p:grpSpPr>
        <p:pic>
          <p:nvPicPr>
            <p:cNvPr id="165" name="Picture 97"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Freeform 98"/>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167" name="Group 99"/>
          <p:cNvGrpSpPr/>
          <p:nvPr/>
        </p:nvGrpSpPr>
        <p:grpSpPr bwMode="auto">
          <a:xfrm flipH="1">
            <a:off x="8911054" y="5169858"/>
            <a:ext cx="719138" cy="773112"/>
            <a:chOff x="-44" y="1473"/>
            <a:chExt cx="981" cy="1105"/>
          </a:xfrm>
        </p:grpSpPr>
        <p:pic>
          <p:nvPicPr>
            <p:cNvPr id="168" name="Picture 100"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Freeform 101"/>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58"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r>
              <a:rPr lang="en-US" altLang="en-US" sz="4400" dirty="0">
                <a:ea typeface="MS PGothic" panose="020B0600070205080204" pitchFamily="34" charset="-128"/>
              </a:rPr>
              <a:t>Socket programming </a:t>
            </a:r>
            <a:endParaRPr lang="en-US" altLang="en-US" sz="4400" dirty="0">
              <a:ea typeface="MS PGothic" panose="020B0600070205080204" pitchFamily="34" charset="-128"/>
            </a:endParaRPr>
          </a:p>
        </p:txBody>
      </p:sp>
      <p:sp>
        <p:nvSpPr>
          <p:cNvPr id="58" name="Rectangle 3"/>
          <p:cNvSpPr>
            <a:spLocks noGrp="1" noChangeArrowheads="1"/>
          </p:cNvSpPr>
          <p:nvPr>
            <p:ph idx="1"/>
          </p:nvPr>
        </p:nvSpPr>
        <p:spPr>
          <a:xfrm>
            <a:off x="838199" y="1513591"/>
            <a:ext cx="10798277" cy="1742641"/>
          </a:xfrm>
        </p:spPr>
        <p:txBody>
          <a:bodyPr>
            <a:normAutofit/>
          </a:bodyPr>
          <a:lstStyle/>
          <a:p>
            <a:pPr marL="342900" lvl="1" indent="-342900">
              <a:buSzPct val="65000"/>
              <a:buFont typeface="Wingdings" panose="05000000000000000000" pitchFamily="2" charset="2"/>
              <a:buNone/>
            </a:pPr>
            <a:r>
              <a:rPr lang="en-US" altLang="en-US" sz="3200" dirty="0">
                <a:solidFill>
                  <a:srgbClr val="22228B"/>
                </a:solidFill>
                <a:ea typeface="MS PGothic" panose="020B0600070205080204" pitchFamily="34" charset="-128"/>
              </a:rPr>
              <a:t>Two socket types for two transport services:</a:t>
            </a:r>
            <a:endParaRPr lang="en-US" altLang="en-US" sz="3200" dirty="0">
              <a:solidFill>
                <a:srgbClr val="22228B"/>
              </a:solidFill>
              <a:ea typeface="MS PGothic" panose="020B0600070205080204" pitchFamily="34" charset="-128"/>
            </a:endParaRPr>
          </a:p>
          <a:p>
            <a:pPr marL="631825" lvl="1" indent="-457200">
              <a:buSzPct val="100000"/>
              <a:buFont typeface="Wingdings" panose="05000000000000000000" pitchFamily="2" charset="2"/>
              <a:buChar char="§"/>
            </a:pPr>
            <a:r>
              <a:rPr lang="en-US" altLang="en-US" sz="3200" i="1" dirty="0">
                <a:solidFill>
                  <a:srgbClr val="CC0000"/>
                </a:solidFill>
                <a:ea typeface="MS PGothic" panose="020B0600070205080204" pitchFamily="34" charset="-128"/>
              </a:rPr>
              <a:t>UDP:</a:t>
            </a:r>
            <a:r>
              <a:rPr lang="en-US" altLang="en-US" sz="3200" dirty="0">
                <a:solidFill>
                  <a:srgbClr val="000000"/>
                </a:solidFill>
                <a:ea typeface="MS PGothic" panose="020B0600070205080204" pitchFamily="34" charset="-128"/>
              </a:rPr>
              <a:t> </a:t>
            </a:r>
            <a:r>
              <a:rPr lang="en-US" altLang="en-US" sz="3200" dirty="0">
                <a:ea typeface="MS PGothic" panose="020B0600070205080204" pitchFamily="34" charset="-128"/>
              </a:rPr>
              <a:t>unreliable datagram</a:t>
            </a:r>
            <a:endParaRPr lang="en-US" altLang="en-US" sz="2800" i="1" dirty="0">
              <a:solidFill>
                <a:srgbClr val="CC0000"/>
              </a:solidFill>
              <a:ea typeface="MS PGothic" panose="020B0600070205080204" pitchFamily="34" charset="-128"/>
            </a:endParaRPr>
          </a:p>
          <a:p>
            <a:pPr marL="631825" lvl="1" indent="-457200">
              <a:buSzPct val="100000"/>
              <a:buFont typeface="Wingdings" panose="05000000000000000000" pitchFamily="2" charset="2"/>
              <a:buChar char="§"/>
            </a:pPr>
            <a:r>
              <a:rPr lang="en-US" altLang="en-US" sz="3200" i="1" dirty="0">
                <a:solidFill>
                  <a:srgbClr val="CC0000"/>
                </a:solidFill>
                <a:ea typeface="MS PGothic" panose="020B0600070205080204" pitchFamily="34" charset="-128"/>
              </a:rPr>
              <a:t>TCP:</a:t>
            </a:r>
            <a:r>
              <a:rPr lang="en-US" altLang="en-US" sz="3200" dirty="0">
                <a:ea typeface="MS PGothic" panose="020B0600070205080204" pitchFamily="34" charset="-128"/>
              </a:rPr>
              <a:t> reliable, byte stream-oriented </a:t>
            </a:r>
            <a:endParaRPr lang="en-US" altLang="en-US" sz="3200" dirty="0">
              <a:ea typeface="MS PGothic" panose="020B0600070205080204" pitchFamily="34" charset="-128"/>
            </a:endParaRPr>
          </a:p>
          <a:p>
            <a:pPr>
              <a:buFont typeface="Wingdings" panose="05000000000000000000" pitchFamily="2" charset="2"/>
              <a:buNone/>
            </a:pPr>
            <a:endParaRPr lang="en-US" altLang="en-US" dirty="0">
              <a:latin typeface="Gill Sans MT" panose="020B0502020104020203" pitchFamily="34" charset="77"/>
              <a:ea typeface="MS PGothic" panose="020B0600070205080204" pitchFamily="34" charset="-128"/>
            </a:endParaRPr>
          </a:p>
        </p:txBody>
      </p:sp>
      <p:sp>
        <p:nvSpPr>
          <p:cNvPr id="59" name="Rectangle 3"/>
          <p:cNvSpPr txBox="1">
            <a:spLocks noChangeArrowheads="1"/>
          </p:cNvSpPr>
          <p:nvPr/>
        </p:nvSpPr>
        <p:spPr bwMode="auto">
          <a:xfrm>
            <a:off x="878760" y="3291529"/>
            <a:ext cx="10798277" cy="3481388"/>
          </a:xfrm>
          <a:prstGeom prst="rect">
            <a:avLst/>
          </a:prstGeom>
          <a:noFill/>
          <a:ln w="9525">
            <a:noFill/>
            <a:miter lim="800000"/>
          </a:ln>
        </p:spPr>
        <p:txBody>
          <a:bodyPr/>
          <a:lstStyle/>
          <a:p>
            <a:pPr marL="342900" lvl="1" indent="-342900">
              <a:lnSpc>
                <a:spcPct val="85000"/>
              </a:lnSpc>
              <a:buClr>
                <a:srgbClr val="000099"/>
              </a:buClr>
              <a:buSzPct val="65000"/>
              <a:buFont typeface="Wingdings" panose="05000000000000000000" pitchFamily="2" charset="2"/>
              <a:buNone/>
              <a:defRPr/>
            </a:pPr>
            <a:r>
              <a:rPr lang="en-US" sz="3200" kern="0" dirty="0">
                <a:solidFill>
                  <a:srgbClr val="0000A3"/>
                </a:solidFill>
                <a:ea typeface="MS PGothic" panose="020B0600070205080204" pitchFamily="34" charset="-128"/>
              </a:rPr>
              <a:t>Application Example:</a:t>
            </a:r>
            <a:endParaRPr lang="en-US" sz="3200" kern="0" dirty="0">
              <a:solidFill>
                <a:srgbClr val="0000A3"/>
              </a:solidFill>
              <a:ea typeface="MS PGothic" panose="020B0600070205080204" pitchFamily="34" charset="-128"/>
            </a:endParaRPr>
          </a:p>
          <a:p>
            <a:pPr marL="514350" indent="-287655">
              <a:buClr>
                <a:srgbClr val="000099"/>
              </a:buClr>
              <a:buSzPct val="65000"/>
              <a:buFont typeface="+mj-lt"/>
              <a:buAutoNum type="arabicPeriod"/>
              <a:defRPr/>
            </a:pPr>
            <a:r>
              <a:rPr lang="en-US" sz="2800" kern="0" dirty="0">
                <a:cs typeface="MS PGothic" panose="020B0600070205080204" pitchFamily="34" charset="-128"/>
              </a:rPr>
              <a:t>client reads a line of characters (data) from its keyboard and sends data to server</a:t>
            </a:r>
            <a:endParaRPr lang="en-US" sz="2800" kern="0" dirty="0">
              <a:cs typeface="MS PGothic" panose="020B0600070205080204" pitchFamily="34" charset="-128"/>
            </a:endParaRPr>
          </a:p>
          <a:p>
            <a:pPr marL="514350" indent="-287655">
              <a:buClr>
                <a:srgbClr val="000099"/>
              </a:buClr>
              <a:buSzPct val="65000"/>
              <a:buFont typeface="+mj-lt"/>
              <a:buAutoNum type="arabicPeriod"/>
              <a:defRPr/>
            </a:pPr>
            <a:r>
              <a:rPr lang="en-US" sz="2800" kern="0" dirty="0">
                <a:cs typeface="MS PGothic" panose="020B0600070205080204" pitchFamily="34" charset="-128"/>
              </a:rPr>
              <a:t>server receives the data and converts characters to uppercase</a:t>
            </a:r>
            <a:endParaRPr lang="en-US" sz="2800" kern="0" dirty="0">
              <a:cs typeface="MS PGothic" panose="020B0600070205080204" pitchFamily="34" charset="-128"/>
            </a:endParaRPr>
          </a:p>
          <a:p>
            <a:pPr marL="514350" indent="-287655">
              <a:buClr>
                <a:srgbClr val="000099"/>
              </a:buClr>
              <a:buSzPct val="65000"/>
              <a:buFont typeface="+mj-lt"/>
              <a:buAutoNum type="arabicPeriod"/>
              <a:defRPr/>
            </a:pPr>
            <a:r>
              <a:rPr lang="en-US" sz="2800" kern="0" dirty="0">
                <a:cs typeface="MS PGothic" panose="020B0600070205080204" pitchFamily="34" charset="-128"/>
              </a:rPr>
              <a:t>server sends modified data to client</a:t>
            </a:r>
            <a:endParaRPr lang="en-US" sz="2800" kern="0" dirty="0">
              <a:cs typeface="MS PGothic" panose="020B0600070205080204" pitchFamily="34" charset="-128"/>
            </a:endParaRPr>
          </a:p>
          <a:p>
            <a:pPr marL="514350" indent="-287655">
              <a:buClr>
                <a:srgbClr val="000099"/>
              </a:buClr>
              <a:buSzPct val="65000"/>
              <a:buFont typeface="+mj-lt"/>
              <a:buAutoNum type="arabicPeriod"/>
              <a:defRPr/>
            </a:pPr>
            <a:r>
              <a:rPr lang="en-US" sz="2800" kern="0" dirty="0">
                <a:cs typeface="MS PGothic" panose="020B0600070205080204" pitchFamily="34" charset="-128"/>
              </a:rPr>
              <a:t>client receives modified data and displays line on its screen</a:t>
            </a:r>
            <a:endParaRPr lang="en-US" sz="2800" kern="0" dirty="0">
              <a:cs typeface="MS PGothic" panose="020B0600070205080204" pitchFamily="34" charset="-128"/>
            </a:endParaRPr>
          </a:p>
        </p:txBody>
      </p:sp>
      <p:sp>
        <p:nvSpPr>
          <p:cNvPr id="7"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dissolve">
                                      <p:cBhvr>
                                        <p:cTn id="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r>
              <a:rPr lang="en-US" altLang="en-US" sz="4400" dirty="0">
                <a:ea typeface="MS PGothic" panose="020B0600070205080204" pitchFamily="34" charset="-128"/>
              </a:rPr>
              <a:t>Socket programming with UDP </a:t>
            </a:r>
            <a:endParaRPr lang="en-US" altLang="en-US" sz="4400" dirty="0">
              <a:ea typeface="MS PGothic" panose="020B0600070205080204" pitchFamily="34" charset="-128"/>
            </a:endParaRPr>
          </a:p>
        </p:txBody>
      </p:sp>
      <p:sp>
        <p:nvSpPr>
          <p:cNvPr id="8" name="Rectangle 3"/>
          <p:cNvSpPr>
            <a:spLocks noGrp="1" noChangeArrowheads="1"/>
          </p:cNvSpPr>
          <p:nvPr>
            <p:ph sz="half" idx="1"/>
          </p:nvPr>
        </p:nvSpPr>
        <p:spPr>
          <a:xfrm>
            <a:off x="782536" y="1589753"/>
            <a:ext cx="10352496" cy="4853335"/>
          </a:xfrm>
        </p:spPr>
        <p:txBody>
          <a:bodyPr>
            <a:normAutofit/>
          </a:bodyPr>
          <a:lstStyle/>
          <a:p>
            <a:pPr>
              <a:buFont typeface="Wingdings" panose="05000000000000000000" pitchFamily="2" charset="2"/>
              <a:buNone/>
            </a:pPr>
            <a:r>
              <a:rPr lang="en-US" altLang="en-US" sz="3200" dirty="0">
                <a:solidFill>
                  <a:srgbClr val="CC0000"/>
                </a:solidFill>
                <a:ea typeface="MS PGothic" panose="020B0600070205080204" pitchFamily="34" charset="-128"/>
              </a:rPr>
              <a:t>UDP: </a:t>
            </a:r>
            <a:r>
              <a:rPr lang="en-US" altLang="en-US" sz="3200" dirty="0">
                <a:solidFill>
                  <a:srgbClr val="0000A3"/>
                </a:solidFill>
                <a:ea typeface="MS PGothic" panose="020B0600070205080204" pitchFamily="34" charset="-128"/>
              </a:rPr>
              <a:t>no “</a:t>
            </a:r>
            <a:r>
              <a:rPr lang="en-US" altLang="ja-JP" sz="3200" dirty="0">
                <a:solidFill>
                  <a:srgbClr val="0000A3"/>
                </a:solidFill>
                <a:ea typeface="MS PGothic" panose="020B0600070205080204" pitchFamily="34" charset="-128"/>
              </a:rPr>
              <a:t>connection” between client &amp; server</a:t>
            </a:r>
            <a:endParaRPr lang="en-US" altLang="ja-JP" sz="3200" dirty="0">
              <a:solidFill>
                <a:srgbClr val="0000A3"/>
              </a:solidFill>
              <a:ea typeface="MS PGothic" panose="020B0600070205080204" pitchFamily="34" charset="-128"/>
            </a:endParaRPr>
          </a:p>
          <a:p>
            <a:pPr marL="466725" indent="-292100">
              <a:spcBef>
                <a:spcPts val="400"/>
              </a:spcBef>
            </a:pPr>
            <a:r>
              <a:rPr lang="en-US" altLang="en-US" dirty="0">
                <a:ea typeface="MS PGothic" panose="020B0600070205080204" pitchFamily="34" charset="-128"/>
              </a:rPr>
              <a:t>no handshaking before sending data</a:t>
            </a:r>
            <a:endParaRPr lang="en-US" altLang="en-US" dirty="0">
              <a:ea typeface="MS PGothic" panose="020B0600070205080204" pitchFamily="34" charset="-128"/>
            </a:endParaRPr>
          </a:p>
          <a:p>
            <a:pPr marL="466725" indent="-292100">
              <a:spcBef>
                <a:spcPts val="400"/>
              </a:spcBef>
            </a:pPr>
            <a:r>
              <a:rPr lang="en-US" altLang="en-US" dirty="0">
                <a:ea typeface="MS PGothic" panose="020B0600070205080204" pitchFamily="34" charset="-128"/>
              </a:rPr>
              <a:t>sender explicitly attaches IP destination address and port # to each packet</a:t>
            </a:r>
            <a:endParaRPr lang="en-US" altLang="en-US" dirty="0">
              <a:ea typeface="MS PGothic" panose="020B0600070205080204" pitchFamily="34" charset="-128"/>
            </a:endParaRPr>
          </a:p>
          <a:p>
            <a:pPr marL="466725" indent="-292100">
              <a:spcBef>
                <a:spcPts val="400"/>
              </a:spcBef>
            </a:pPr>
            <a:r>
              <a:rPr lang="en-US" altLang="en-US" dirty="0">
                <a:ea typeface="MS PGothic" panose="020B0600070205080204" pitchFamily="34" charset="-128"/>
              </a:rPr>
              <a:t>receiver extracts sender IP address and port# from received packet</a:t>
            </a:r>
            <a:endParaRPr lang="en-US" altLang="en-US" dirty="0">
              <a:ea typeface="MS PGothic" panose="020B0600070205080204" pitchFamily="34" charset="-128"/>
            </a:endParaRPr>
          </a:p>
          <a:p>
            <a:pPr>
              <a:spcBef>
                <a:spcPct val="50000"/>
              </a:spcBef>
              <a:buFont typeface="Wingdings" panose="05000000000000000000" pitchFamily="2" charset="2"/>
              <a:buNone/>
            </a:pPr>
            <a:r>
              <a:rPr lang="en-US" altLang="en-US" sz="3200" dirty="0">
                <a:solidFill>
                  <a:srgbClr val="CC0000"/>
                </a:solidFill>
                <a:ea typeface="MS PGothic" panose="020B0600070205080204" pitchFamily="34" charset="-128"/>
              </a:rPr>
              <a:t>UDP: </a:t>
            </a:r>
            <a:r>
              <a:rPr lang="en-US" altLang="en-US" sz="3200" dirty="0">
                <a:solidFill>
                  <a:srgbClr val="0000A3"/>
                </a:solidFill>
                <a:ea typeface="MS PGothic" panose="020B0600070205080204" pitchFamily="34" charset="-128"/>
              </a:rPr>
              <a:t>transmitted data may be lost or received out-of-order</a:t>
            </a:r>
            <a:endParaRPr lang="en-US" altLang="en-US" sz="3200" dirty="0">
              <a:solidFill>
                <a:srgbClr val="0000A3"/>
              </a:solidFill>
              <a:ea typeface="MS PGothic" panose="020B0600070205080204" pitchFamily="34" charset="-128"/>
            </a:endParaRPr>
          </a:p>
          <a:p>
            <a:pPr>
              <a:spcBef>
                <a:spcPct val="50000"/>
              </a:spcBef>
              <a:buFont typeface="Wingdings" panose="05000000000000000000" pitchFamily="2" charset="2"/>
              <a:buNone/>
            </a:pPr>
            <a:r>
              <a:rPr lang="en-US" altLang="en-US" sz="3200" dirty="0">
                <a:solidFill>
                  <a:srgbClr val="CC0000"/>
                </a:solidFill>
                <a:ea typeface="MS PGothic" panose="020B0600070205080204" pitchFamily="34" charset="-128"/>
              </a:rPr>
              <a:t>Application viewpoint:</a:t>
            </a:r>
            <a:endParaRPr lang="en-US" altLang="en-US" sz="3200" dirty="0">
              <a:solidFill>
                <a:srgbClr val="CC0000"/>
              </a:solidFill>
              <a:ea typeface="MS PGothic" panose="020B0600070205080204" pitchFamily="34" charset="-128"/>
            </a:endParaRPr>
          </a:p>
          <a:p>
            <a:pPr marL="466725" indent="-292100">
              <a:lnSpc>
                <a:spcPct val="100000"/>
              </a:lnSpc>
              <a:spcBef>
                <a:spcPct val="0"/>
              </a:spcBef>
              <a:buClr>
                <a:srgbClr val="010086"/>
              </a:buClr>
              <a:buSzTx/>
            </a:pPr>
            <a:r>
              <a:rPr lang="en-US" altLang="en-US" dirty="0">
                <a:ea typeface="MS PGothic" panose="020B0600070205080204" pitchFamily="34" charset="-128"/>
              </a:rPr>
              <a:t>UDP provides </a:t>
            </a:r>
            <a:r>
              <a:rPr lang="en-US" altLang="en-US" i="1" dirty="0">
                <a:ea typeface="MS PGothic" panose="020B0600070205080204" pitchFamily="34" charset="-128"/>
              </a:rPr>
              <a:t>unreliable</a:t>
            </a:r>
            <a:r>
              <a:rPr lang="en-US" altLang="en-US" dirty="0">
                <a:ea typeface="MS PGothic" panose="020B0600070205080204" pitchFamily="34" charset="-128"/>
              </a:rPr>
              <a:t> transfer  of groups of bytes (“</a:t>
            </a:r>
            <a:r>
              <a:rPr lang="en-US" altLang="ja-JP" dirty="0">
                <a:ea typeface="MS PGothic" panose="020B0600070205080204" pitchFamily="34" charset="-128"/>
              </a:rPr>
              <a:t>datagrams”)  between client and server</a:t>
            </a:r>
            <a:endParaRPr lang="en-US" altLang="ja-JP" dirty="0">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a:p>
            <a:pPr>
              <a:spcBef>
                <a:spcPct val="50000"/>
              </a:spcBef>
              <a:buFont typeface="Wingdings" panose="05000000000000000000" pitchFamily="2" charset="2"/>
              <a:buNone/>
            </a:pPr>
            <a:endParaRPr lang="en-US" altLang="en-US" dirty="0">
              <a:solidFill>
                <a:srgbClr val="CC0000"/>
              </a:solidFill>
              <a:ea typeface="MS PGothic" panose="020B0600070205080204" pitchFamily="34" charset="-128"/>
            </a:endParaRPr>
          </a:p>
        </p:txBody>
      </p:sp>
      <p:sp>
        <p:nvSpPr>
          <p:cNvPr id="5"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r>
              <a:rPr lang="en-US" altLang="en-US" sz="4400" dirty="0">
                <a:ea typeface="MS PGothic" panose="020B0600070205080204" pitchFamily="34" charset="-128"/>
              </a:rPr>
              <a:t>Client/server socket interaction: UDP</a:t>
            </a:r>
            <a:endParaRPr lang="en-US" altLang="en-US" sz="4400" dirty="0">
              <a:ea typeface="MS PGothic" panose="020B0600070205080204" pitchFamily="34" charset="-128"/>
            </a:endParaRPr>
          </a:p>
        </p:txBody>
      </p:sp>
      <p:grpSp>
        <p:nvGrpSpPr>
          <p:cNvPr id="37" name="Group 4"/>
          <p:cNvGrpSpPr/>
          <p:nvPr/>
        </p:nvGrpSpPr>
        <p:grpSpPr bwMode="auto">
          <a:xfrm>
            <a:off x="7008229" y="4140035"/>
            <a:ext cx="2211387" cy="2200275"/>
            <a:chOff x="3485" y="2494"/>
            <a:chExt cx="1393" cy="1386"/>
          </a:xfrm>
        </p:grpSpPr>
        <p:grpSp>
          <p:nvGrpSpPr>
            <p:cNvPr id="38" name="Group 5"/>
            <p:cNvGrpSpPr/>
            <p:nvPr/>
          </p:nvGrpSpPr>
          <p:grpSpPr bwMode="auto">
            <a:xfrm>
              <a:off x="3485" y="2964"/>
              <a:ext cx="1393" cy="916"/>
              <a:chOff x="3485" y="2964"/>
              <a:chExt cx="1393" cy="916"/>
            </a:xfrm>
          </p:grpSpPr>
          <p:sp>
            <p:nvSpPr>
              <p:cNvPr id="40" name="Text Box 6"/>
              <p:cNvSpPr txBox="1">
                <a:spLocks noChangeArrowheads="1"/>
              </p:cNvSpPr>
              <p:nvPr/>
            </p:nvSpPr>
            <p:spPr bwMode="auto">
              <a:xfrm>
                <a:off x="3509" y="3473"/>
                <a:ext cx="90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close</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clientSocke</a:t>
                </a:r>
                <a:r>
                  <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MS PGothic" panose="020B0600070205080204" pitchFamily="34" charset="-128"/>
                  </a:rPr>
                  <a:t>t</a:t>
                </a:r>
                <a:endParaRPr kumimoji="0" lang="en-US" altLang="en-US" sz="1800" b="0" i="0" u="none" strike="noStrike" kern="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endParaRPr>
              </a:p>
            </p:txBody>
          </p:sp>
          <p:sp>
            <p:nvSpPr>
              <p:cNvPr id="41" name="Line 7"/>
              <p:cNvSpPr>
                <a:spLocks noChangeShapeType="1"/>
              </p:cNvSpPr>
              <p:nvPr/>
            </p:nvSpPr>
            <p:spPr bwMode="auto">
              <a:xfrm>
                <a:off x="3867" y="3335"/>
                <a:ext cx="0" cy="204"/>
              </a:xfrm>
              <a:prstGeom prst="line">
                <a:avLst/>
              </a:prstGeom>
              <a:noFill/>
              <a:ln w="28575">
                <a:solidFill>
                  <a:srgbClr val="000099"/>
                </a:solidFill>
                <a:rou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2" name="Text Box 8"/>
              <p:cNvSpPr txBox="1">
                <a:spLocks noChangeArrowheads="1"/>
              </p:cNvSpPr>
              <p:nvPr/>
            </p:nvSpPr>
            <p:spPr bwMode="auto">
              <a:xfrm>
                <a:off x="3485" y="296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read datagram from</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err="1">
                    <a:ln>
                      <a:noFill/>
                    </a:ln>
                    <a:solidFill>
                      <a:srgbClr val="CC0000"/>
                    </a:solidFill>
                    <a:effectLst/>
                    <a:uLnTx/>
                    <a:uFillTx/>
                    <a:latin typeface="Arial" panose="020B0604020202020204" pitchFamily="34" charset="0"/>
                    <a:ea typeface="MS PGothic" panose="020B0600070205080204" pitchFamily="34" charset="-128"/>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MS PGothic" panose="020B0600070205080204" pitchFamily="34" charset="-128"/>
                </a:endParaRPr>
              </a:p>
            </p:txBody>
          </p:sp>
        </p:grpSp>
        <p:sp>
          <p:nvSpPr>
            <p:cNvPr id="39" name="Line 9"/>
            <p:cNvSpPr>
              <a:spLocks noChangeShapeType="1"/>
            </p:cNvSpPr>
            <p:nvPr/>
          </p:nvSpPr>
          <p:spPr bwMode="auto">
            <a:xfrm>
              <a:off x="3864" y="2494"/>
              <a:ext cx="0" cy="522"/>
            </a:xfrm>
            <a:prstGeom prst="line">
              <a:avLst/>
            </a:prstGeom>
            <a:noFill/>
            <a:ln w="28575">
              <a:solidFill>
                <a:srgbClr val="000099"/>
              </a:solidFill>
              <a:rou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grpSp>
        <p:nvGrpSpPr>
          <p:cNvPr id="43" name="Group 10"/>
          <p:cNvGrpSpPr/>
          <p:nvPr/>
        </p:nvGrpSpPr>
        <p:grpSpPr bwMode="auto">
          <a:xfrm>
            <a:off x="4498391" y="1480972"/>
            <a:ext cx="6203950" cy="2690813"/>
            <a:chOff x="1890" y="840"/>
            <a:chExt cx="3908" cy="1695"/>
          </a:xfrm>
        </p:grpSpPr>
        <p:grpSp>
          <p:nvGrpSpPr>
            <p:cNvPr id="44" name="Group 11"/>
            <p:cNvGrpSpPr/>
            <p:nvPr/>
          </p:nvGrpSpPr>
          <p:grpSpPr bwMode="auto">
            <a:xfrm>
              <a:off x="3397" y="1240"/>
              <a:ext cx="2290" cy="612"/>
              <a:chOff x="3241" y="1750"/>
              <a:chExt cx="2290" cy="612"/>
            </a:xfrm>
          </p:grpSpPr>
          <p:sp>
            <p:nvSpPr>
              <p:cNvPr id="49" name="Text Box 12"/>
              <p:cNvSpPr txBox="1">
                <a:spLocks noChangeArrowheads="1"/>
              </p:cNvSpPr>
              <p:nvPr/>
            </p:nvSpPr>
            <p:spPr bwMode="auto">
              <a:xfrm>
                <a:off x="3241" y="1750"/>
                <a:ext cx="102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create socket:</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endParaRPr>
              </a:p>
            </p:txBody>
          </p:sp>
          <p:sp>
            <p:nvSpPr>
              <p:cNvPr id="50" name="Text Box 13"/>
              <p:cNvSpPr txBox="1">
                <a:spLocks noChangeArrowheads="1"/>
              </p:cNvSpPr>
              <p:nvPr/>
            </p:nvSpPr>
            <p:spPr bwMode="auto">
              <a:xfrm>
                <a:off x="3241" y="1944"/>
                <a:ext cx="2290"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ts val="2000"/>
                  </a:lnSpc>
                  <a:spcBef>
                    <a:spcPct val="20000"/>
                  </a:spcBef>
                  <a:spcAft>
                    <a:spcPct val="0"/>
                  </a:spcAft>
                  <a:buClr>
                    <a:srgbClr val="3333CC"/>
                  </a:buClr>
                  <a:buSzPct val="85000"/>
                  <a:buFont typeface="ZapfDingbats" pitchFamily="82" charset="2"/>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clientSocket =</a:t>
                </a:r>
                <a:endPar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ts val="2000"/>
                  </a:lnSpc>
                  <a:spcBef>
                    <a:spcPct val="20000"/>
                  </a:spcBef>
                  <a:spcAft>
                    <a:spcPct val="0"/>
                  </a:spcAft>
                  <a:buClr>
                    <a:srgbClr val="3333CC"/>
                  </a:buClr>
                  <a:buSzPct val="85000"/>
                  <a:buFont typeface="ZapfDingbats" pitchFamily="82" charset="2"/>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socket(AF_INET,SOCK_DGRAM)</a:t>
                </a:r>
                <a:endParaRPr kumimoji="0" lang="en-US" altLang="en-US" sz="1800" b="0" i="0" u="none" strike="noStrike" kern="0" cap="none" spc="0" normalizeH="0" baseline="0" noProof="0">
                  <a:ln>
                    <a:noFill/>
                  </a:ln>
                  <a:solidFill>
                    <a:srgbClr val="CC0000"/>
                  </a:solidFill>
                  <a:effectLst/>
                  <a:uLnTx/>
                  <a:uFillTx/>
                  <a:latin typeface="Times New Roman" panose="02020603050405020304" pitchFamily="18" charset="0"/>
                  <a:ea typeface="MS PGothic" panose="020B0600070205080204" pitchFamily="34" charset="-128"/>
                </a:endParaRPr>
              </a:p>
            </p:txBody>
          </p:sp>
        </p:grpSp>
        <p:sp>
          <p:nvSpPr>
            <p:cNvPr id="45" name="Text Box 14"/>
            <p:cNvSpPr txBox="1">
              <a:spLocks noChangeArrowheads="1"/>
            </p:cNvSpPr>
            <p:nvPr/>
          </p:nvSpPr>
          <p:spPr bwMode="auto">
            <a:xfrm>
              <a:off x="3570" y="840"/>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algn="ctr" defTabSz="914400" eaLnBrk="0" fontAlgn="base" latinLnBrk="0" hangingPunct="0">
                <a:lnSpc>
                  <a:spcPct val="100000"/>
                </a:lnSpc>
                <a:spcBef>
                  <a:spcPct val="50000"/>
                </a:spcBef>
                <a:spcAft>
                  <a:spcPct val="0"/>
                </a:spcAft>
                <a:buClrTx/>
                <a:buSzTx/>
                <a:buFontTx/>
                <a:buNone/>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endParaRPr>
            </a:p>
          </p:txBody>
        </p:sp>
        <p:sp>
          <p:nvSpPr>
            <p:cNvPr id="46" name="Text Box 15"/>
            <p:cNvSpPr txBox="1">
              <a:spLocks noChangeArrowheads="1"/>
            </p:cNvSpPr>
            <p:nvPr/>
          </p:nvSpPr>
          <p:spPr bwMode="auto">
            <a:xfrm>
              <a:off x="3389" y="1953"/>
              <a:ext cx="2409"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Create datagram with server IP and</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port=x; send datagram via</a:t>
              </a:r>
              <a:b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b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clientSocket</a:t>
              </a:r>
              <a:endParaRPr kumimoji="0" lang="en-US" altLang="en-US" sz="1800" b="0" i="0" u="none" strike="noStrike" kern="0" cap="none" spc="0" normalizeH="0" baseline="0" noProof="0">
                <a:ln>
                  <a:noFill/>
                </a:ln>
                <a:solidFill>
                  <a:srgbClr val="CC0000"/>
                </a:solidFill>
                <a:effectLst/>
                <a:uLnTx/>
                <a:uFillTx/>
                <a:latin typeface="Times New Roman" panose="02020603050405020304" pitchFamily="18" charset="0"/>
                <a:ea typeface="MS PGothic" panose="020B0600070205080204" pitchFamily="34" charset="-128"/>
              </a:endParaRPr>
            </a:p>
          </p:txBody>
        </p:sp>
        <p:sp>
          <p:nvSpPr>
            <p:cNvPr id="47" name="Line 16"/>
            <p:cNvSpPr>
              <a:spLocks noChangeShapeType="1"/>
            </p:cNvSpPr>
            <p:nvPr/>
          </p:nvSpPr>
          <p:spPr bwMode="auto">
            <a:xfrm>
              <a:off x="3828" y="1830"/>
              <a:ext cx="0" cy="204"/>
            </a:xfrm>
            <a:prstGeom prst="line">
              <a:avLst/>
            </a:prstGeom>
            <a:noFill/>
            <a:ln w="28575">
              <a:solidFill>
                <a:srgbClr val="000099"/>
              </a:solidFill>
              <a:rou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48" name="Line 17"/>
            <p:cNvSpPr>
              <a:spLocks noChangeShapeType="1"/>
            </p:cNvSpPr>
            <p:nvPr/>
          </p:nvSpPr>
          <p:spPr bwMode="auto">
            <a:xfrm flipH="1">
              <a:off x="1890" y="2208"/>
              <a:ext cx="1518" cy="252"/>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51" name="Text Box 18"/>
          <p:cNvSpPr txBox="1">
            <a:spLocks noChangeArrowheads="1"/>
          </p:cNvSpPr>
          <p:nvPr/>
        </p:nvSpPr>
        <p:spPr bwMode="auto">
          <a:xfrm>
            <a:off x="2318754" y="2335047"/>
            <a:ext cx="24622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rPr>
              <a:t>create socket, port= x:</a:t>
            </a:r>
            <a:endParaRPr kumimoji="0" lang="en-US" altLang="en-US" sz="1800" b="0" i="0" u="none" strike="noStrike" kern="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endParaRPr>
          </a:p>
        </p:txBody>
      </p:sp>
      <p:sp>
        <p:nvSpPr>
          <p:cNvPr id="52" name="Text Box 19"/>
          <p:cNvSpPr txBox="1">
            <a:spLocks noChangeArrowheads="1"/>
          </p:cNvSpPr>
          <p:nvPr/>
        </p:nvSpPr>
        <p:spPr bwMode="auto">
          <a:xfrm>
            <a:off x="2331454" y="2630322"/>
            <a:ext cx="3635375"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ts val="2000"/>
              </a:lnSpc>
              <a:spcBef>
                <a:spcPct val="20000"/>
              </a:spcBef>
              <a:spcAft>
                <a:spcPct val="0"/>
              </a:spcAft>
              <a:buClr>
                <a:srgbClr val="3333CC"/>
              </a:buClr>
              <a:buSzPct val="85000"/>
              <a:buFont typeface="ZapfDingbats" pitchFamily="82" charset="2"/>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serverSocket =</a:t>
            </a:r>
            <a:endPar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ts val="2000"/>
              </a:lnSpc>
              <a:spcBef>
                <a:spcPct val="20000"/>
              </a:spcBef>
              <a:spcAft>
                <a:spcPct val="0"/>
              </a:spcAft>
              <a:buClr>
                <a:srgbClr val="3333CC"/>
              </a:buClr>
              <a:buSzPct val="85000"/>
              <a:buFont typeface="ZapfDingbats" pitchFamily="82" charset="2"/>
              <a:buNone/>
              <a:defRPr/>
            </a:pPr>
            <a:r>
              <a:rPr kumimoji="0" lang="en-US" altLang="en-US" sz="1800" b="0" i="0" u="none" strike="noStrike" kern="0" cap="none" spc="0" normalizeH="0" baseline="0" noProof="0">
                <a:ln>
                  <a:noFill/>
                </a:ln>
                <a:solidFill>
                  <a:srgbClr val="CC0000"/>
                </a:solidFill>
                <a:effectLst/>
                <a:uLnTx/>
                <a:uFillTx/>
                <a:latin typeface="Arial" panose="020B0604020202020204" pitchFamily="34" charset="0"/>
                <a:ea typeface="MS PGothic" panose="020B0600070205080204" pitchFamily="34" charset="-128"/>
              </a:rPr>
              <a:t>socket(AF_INET,SOCK_DGRAM)</a:t>
            </a:r>
            <a:endParaRPr kumimoji="0" lang="en-US" altLang="en-US" sz="1800" b="0" i="0" u="none" strike="noStrike" kern="0" cap="none" spc="0" normalizeH="0" baseline="0" noProof="0">
              <a:ln>
                <a:noFill/>
              </a:ln>
              <a:solidFill>
                <a:srgbClr val="CC0000"/>
              </a:solidFill>
              <a:effectLst/>
              <a:uLnTx/>
              <a:uFillTx/>
              <a:latin typeface="Times New Roman" panose="02020603050405020304" pitchFamily="18" charset="0"/>
              <a:ea typeface="MS PGothic" panose="020B0600070205080204" pitchFamily="34" charset="-128"/>
            </a:endParaRPr>
          </a:p>
        </p:txBody>
      </p:sp>
      <p:grpSp>
        <p:nvGrpSpPr>
          <p:cNvPr id="53" name="Group 20"/>
          <p:cNvGrpSpPr/>
          <p:nvPr/>
        </p:nvGrpSpPr>
        <p:grpSpPr bwMode="auto">
          <a:xfrm>
            <a:off x="2344154" y="3293897"/>
            <a:ext cx="2211387" cy="1109663"/>
            <a:chOff x="589" y="1982"/>
            <a:chExt cx="1393" cy="699"/>
          </a:xfrm>
        </p:grpSpPr>
        <p:sp>
          <p:nvSpPr>
            <p:cNvPr id="54" name="Line 21"/>
            <p:cNvSpPr>
              <a:spLocks noChangeShapeType="1"/>
            </p:cNvSpPr>
            <p:nvPr/>
          </p:nvSpPr>
          <p:spPr bwMode="auto">
            <a:xfrm>
              <a:off x="1276" y="1982"/>
              <a:ext cx="0" cy="366"/>
            </a:xfrm>
            <a:prstGeom prst="line">
              <a:avLst/>
            </a:prstGeom>
            <a:noFill/>
            <a:ln w="28575">
              <a:solidFill>
                <a:srgbClr val="000099"/>
              </a:solidFill>
              <a:rou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55" name="Text Box 22"/>
            <p:cNvSpPr txBox="1">
              <a:spLocks noChangeArrowheads="1"/>
            </p:cNvSpPr>
            <p:nvPr/>
          </p:nvSpPr>
          <p:spPr bwMode="auto">
            <a:xfrm>
              <a:off x="589" y="227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read datagram from</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err="1">
                  <a:ln>
                    <a:noFill/>
                  </a:ln>
                  <a:solidFill>
                    <a:srgbClr val="CC0000"/>
                  </a:solidFill>
                  <a:effectLst/>
                  <a:uLnTx/>
                  <a:uFillTx/>
                  <a:latin typeface="Arial" panose="020B0604020202020204" pitchFamily="34" charset="0"/>
                  <a:ea typeface="MS PGothic" panose="020B0600070205080204" pitchFamily="34" charset="-128"/>
                </a:rPr>
                <a:t>serverSocke</a:t>
              </a:r>
              <a:r>
                <a:rPr kumimoji="0" lang="en-US" altLang="en-US" sz="1800" b="0" i="0" u="none" strike="noStrike" kern="0" cap="none" spc="0" normalizeH="0" baseline="0" noProof="0" dirty="0" err="1">
                  <a:ln>
                    <a:noFill/>
                  </a:ln>
                  <a:solidFill>
                    <a:srgbClr val="FF0000"/>
                  </a:solidFill>
                  <a:effectLst/>
                  <a:uLnTx/>
                  <a:uFillTx/>
                  <a:latin typeface="Arial" panose="020B0604020202020204" pitchFamily="34" charset="0"/>
                  <a:ea typeface="MS PGothic" panose="020B0600070205080204" pitchFamily="34" charset="-128"/>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endParaRPr>
            </a:p>
          </p:txBody>
        </p:sp>
      </p:grpSp>
      <p:grpSp>
        <p:nvGrpSpPr>
          <p:cNvPr id="56" name="Group 23"/>
          <p:cNvGrpSpPr/>
          <p:nvPr/>
        </p:nvGrpSpPr>
        <p:grpSpPr bwMode="auto">
          <a:xfrm>
            <a:off x="2607679" y="4405147"/>
            <a:ext cx="4202112" cy="1698625"/>
            <a:chOff x="755" y="2696"/>
            <a:chExt cx="2647" cy="1070"/>
          </a:xfrm>
        </p:grpSpPr>
        <p:sp>
          <p:nvSpPr>
            <p:cNvPr id="57" name="Text Box 24"/>
            <p:cNvSpPr txBox="1">
              <a:spLocks noChangeArrowheads="1"/>
            </p:cNvSpPr>
            <p:nvPr/>
          </p:nvSpPr>
          <p:spPr bwMode="auto">
            <a:xfrm>
              <a:off x="755" y="2835"/>
              <a:ext cx="1062" cy="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write reply to</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err="1">
                  <a:ln>
                    <a:noFill/>
                  </a:ln>
                  <a:solidFill>
                    <a:srgbClr val="CC0000"/>
                  </a:solidFill>
                  <a:effectLst/>
                  <a:uLnTx/>
                  <a:uFillTx/>
                  <a:latin typeface="Arial" panose="020B0604020202020204" pitchFamily="34" charset="0"/>
                  <a:ea typeface="MS PGothic" panose="020B0600070205080204" pitchFamily="34" charset="-128"/>
                </a:rPr>
                <a:t>serverSocket</a:t>
              </a:r>
              <a:endPar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specifying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client address,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endParaRPr>
            </a:p>
            <a:p>
              <a:pPr marL="0" marR="0" lvl="0" indent="0" defTabSz="914400" eaLnBrk="0" fontAlgn="base" latinLnBrk="0" hangingPunct="0">
                <a:lnSpc>
                  <a:spcPct val="100000"/>
                </a:lnSpc>
                <a:spcBef>
                  <a:spcPct val="0"/>
                </a:spcBef>
                <a:spcAft>
                  <a:spcPct val="0"/>
                </a:spcAft>
                <a:buClrTx/>
                <a:buSzTx/>
                <a:buFontTx/>
                <a:buNone/>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rPr>
                <a:t>port number</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endParaRPr>
            </a:p>
          </p:txBody>
        </p:sp>
        <p:sp>
          <p:nvSpPr>
            <p:cNvPr id="58" name="Line 25"/>
            <p:cNvSpPr>
              <a:spLocks noChangeShapeType="1"/>
            </p:cNvSpPr>
            <p:nvPr/>
          </p:nvSpPr>
          <p:spPr bwMode="auto">
            <a:xfrm>
              <a:off x="1278" y="2696"/>
              <a:ext cx="0" cy="198"/>
            </a:xfrm>
            <a:prstGeom prst="line">
              <a:avLst/>
            </a:prstGeom>
            <a:noFill/>
            <a:ln w="28575">
              <a:solidFill>
                <a:srgbClr val="000099"/>
              </a:solidFill>
              <a:rou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sp>
          <p:nvSpPr>
            <p:cNvPr id="59" name="Line 26"/>
            <p:cNvSpPr>
              <a:spLocks noChangeShapeType="1"/>
            </p:cNvSpPr>
            <p:nvPr/>
          </p:nvSpPr>
          <p:spPr bwMode="auto">
            <a:xfrm>
              <a:off x="1866" y="2970"/>
              <a:ext cx="1536" cy="18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pitchFamily="82" charset="2"/>
                <a:buNone/>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MS PGothic" panose="020B0600070205080204" pitchFamily="34" charset="-128"/>
              </a:endParaRPr>
            </a:p>
          </p:txBody>
        </p:sp>
      </p:grpSp>
      <p:sp>
        <p:nvSpPr>
          <p:cNvPr id="60" name="Text Box 22"/>
          <p:cNvSpPr txBox="1">
            <a:spLocks noChangeArrowheads="1"/>
          </p:cNvSpPr>
          <p:nvPr/>
        </p:nvSpPr>
        <p:spPr bwMode="auto">
          <a:xfrm>
            <a:off x="2036195" y="1465007"/>
            <a:ext cx="32860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50000"/>
              </a:spcBef>
              <a:spcAft>
                <a:spcPct val="0"/>
              </a:spcAft>
            </a:pPr>
            <a:r>
              <a:rPr lang="en-US" altLang="en-US" sz="3200" dirty="0">
                <a:solidFill>
                  <a:srgbClr val="000000"/>
                </a:solidFill>
                <a:latin typeface="+mn-lt"/>
              </a:rPr>
              <a:t>server</a:t>
            </a:r>
            <a:r>
              <a:rPr lang="en-US" altLang="en-US" sz="2800" dirty="0">
                <a:solidFill>
                  <a:srgbClr val="000000"/>
                </a:solidFill>
                <a:latin typeface="+mn-lt"/>
              </a:rPr>
              <a:t> </a:t>
            </a:r>
            <a:r>
              <a:rPr lang="en-US" altLang="en-US" sz="1800" dirty="0">
                <a:solidFill>
                  <a:srgbClr val="000000"/>
                </a:solidFill>
                <a:latin typeface="+mn-lt"/>
              </a:rPr>
              <a:t>(running on </a:t>
            </a:r>
            <a:r>
              <a:rPr lang="en-US" altLang="en-US" sz="1800" dirty="0" err="1">
                <a:solidFill>
                  <a:srgbClr val="000000"/>
                </a:solidFill>
                <a:latin typeface="+mn-lt"/>
              </a:rPr>
              <a:t>serverIP</a:t>
            </a:r>
            <a:r>
              <a:rPr lang="en-US" altLang="en-US" sz="1800" dirty="0">
                <a:solidFill>
                  <a:srgbClr val="000000"/>
                </a:solidFill>
                <a:latin typeface="+mn-lt"/>
              </a:rPr>
              <a:t>)</a:t>
            </a:r>
            <a:endParaRPr lang="en-US" altLang="en-US" sz="1800" dirty="0">
              <a:solidFill>
                <a:srgbClr val="000000"/>
              </a:solidFill>
              <a:latin typeface="+mn-lt"/>
            </a:endParaRPr>
          </a:p>
        </p:txBody>
      </p:sp>
      <p:sp>
        <p:nvSpPr>
          <p:cNvPr id="61" name="Text Box 23"/>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50000"/>
              </a:spcBef>
              <a:spcAft>
                <a:spcPct val="0"/>
              </a:spcAft>
            </a:pPr>
            <a:r>
              <a:rPr lang="en-US" altLang="en-US" sz="3200" dirty="0">
                <a:solidFill>
                  <a:srgbClr val="000000"/>
                </a:solidFill>
                <a:latin typeface="+mn-lt"/>
              </a:rPr>
              <a:t>client</a:t>
            </a:r>
            <a:endParaRPr lang="en-US" altLang="en-US" sz="3200" dirty="0">
              <a:solidFill>
                <a:srgbClr val="000000"/>
              </a:solidFill>
              <a:latin typeface="+mn-lt"/>
            </a:endParaRPr>
          </a:p>
        </p:txBody>
      </p:sp>
      <p:grpSp>
        <p:nvGrpSpPr>
          <p:cNvPr id="64" name="Group 34"/>
          <p:cNvGrpSpPr/>
          <p:nvPr/>
        </p:nvGrpSpPr>
        <p:grpSpPr bwMode="auto">
          <a:xfrm>
            <a:off x="1534349" y="1399326"/>
            <a:ext cx="422275" cy="685800"/>
            <a:chOff x="4140" y="429"/>
            <a:chExt cx="1425" cy="2396"/>
          </a:xfrm>
        </p:grpSpPr>
        <p:sp>
          <p:nvSpPr>
            <p:cNvPr id="65" name="Freeform 35"/>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 name="Rectangle 36"/>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67" name="Freeform 37"/>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8" name="Freeform 38"/>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9" name="Rectangle 39"/>
            <p:cNvSpPr>
              <a:spLocks noChangeArrowheads="1"/>
            </p:cNvSpPr>
            <p:nvPr/>
          </p:nvSpPr>
          <p:spPr bwMode="auto">
            <a:xfrm>
              <a:off x="4210" y="695"/>
              <a:ext cx="600"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70" name="Group 40"/>
            <p:cNvGrpSpPr/>
            <p:nvPr/>
          </p:nvGrpSpPr>
          <p:grpSpPr bwMode="auto">
            <a:xfrm>
              <a:off x="4749" y="668"/>
              <a:ext cx="581" cy="145"/>
              <a:chOff x="614" y="2568"/>
              <a:chExt cx="725" cy="139"/>
            </a:xfrm>
          </p:grpSpPr>
          <p:sp>
            <p:nvSpPr>
              <p:cNvPr id="95" name="AutoShape 41"/>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96" name="AutoShape 42"/>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71" name="Rectangle 43"/>
            <p:cNvSpPr>
              <a:spLocks noChangeArrowheads="1"/>
            </p:cNvSpPr>
            <p:nvPr/>
          </p:nvSpPr>
          <p:spPr bwMode="auto">
            <a:xfrm>
              <a:off x="4226" y="1017"/>
              <a:ext cx="595"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72" name="Group 44"/>
            <p:cNvGrpSpPr/>
            <p:nvPr/>
          </p:nvGrpSpPr>
          <p:grpSpPr bwMode="auto">
            <a:xfrm>
              <a:off x="4747" y="994"/>
              <a:ext cx="581" cy="134"/>
              <a:chOff x="614" y="2568"/>
              <a:chExt cx="725" cy="139"/>
            </a:xfrm>
          </p:grpSpPr>
          <p:sp>
            <p:nvSpPr>
              <p:cNvPr id="93" name="AutoShape 45"/>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94" name="AutoShape 46"/>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73" name="Rectangle 47"/>
            <p:cNvSpPr>
              <a:spLocks noChangeArrowheads="1"/>
            </p:cNvSpPr>
            <p:nvPr/>
          </p:nvSpPr>
          <p:spPr bwMode="auto">
            <a:xfrm>
              <a:off x="4215" y="1355"/>
              <a:ext cx="600"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74" name="Rectangle 48"/>
            <p:cNvSpPr>
              <a:spLocks noChangeArrowheads="1"/>
            </p:cNvSpPr>
            <p:nvPr/>
          </p:nvSpPr>
          <p:spPr bwMode="auto">
            <a:xfrm>
              <a:off x="4226" y="1655"/>
              <a:ext cx="600"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75" name="Group 49"/>
            <p:cNvGrpSpPr/>
            <p:nvPr/>
          </p:nvGrpSpPr>
          <p:grpSpPr bwMode="auto">
            <a:xfrm>
              <a:off x="4735" y="1627"/>
              <a:ext cx="582" cy="151"/>
              <a:chOff x="614" y="2568"/>
              <a:chExt cx="725" cy="139"/>
            </a:xfrm>
          </p:grpSpPr>
          <p:sp>
            <p:nvSpPr>
              <p:cNvPr id="91" name="AutoShape 50"/>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92" name="AutoShape 51"/>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76" name="Freeform 52"/>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77" name="Group 53"/>
            <p:cNvGrpSpPr/>
            <p:nvPr/>
          </p:nvGrpSpPr>
          <p:grpSpPr bwMode="auto">
            <a:xfrm>
              <a:off x="4739" y="1327"/>
              <a:ext cx="582" cy="139"/>
              <a:chOff x="614" y="2568"/>
              <a:chExt cx="725" cy="139"/>
            </a:xfrm>
          </p:grpSpPr>
          <p:sp>
            <p:nvSpPr>
              <p:cNvPr id="89" name="AutoShape 54"/>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90" name="AutoShape 55"/>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78" name="Rectangle 56"/>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79" name="Freeform 57"/>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0" name="Freeform 58"/>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1" name="Oval 59"/>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82" name="Freeform 60"/>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3" name="AutoShape 61"/>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84" name="AutoShape 62"/>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85" name="Oval 63"/>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86" name="Oval 64"/>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latin typeface="+mn-lt"/>
                <a:cs typeface="Arial" panose="020B0604020202020204" pitchFamily="34" charset="0"/>
              </a:endParaRPr>
            </a:p>
          </p:txBody>
        </p:sp>
        <p:sp>
          <p:nvSpPr>
            <p:cNvPr id="87" name="Oval 65"/>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88" name="Rectangle 66"/>
            <p:cNvSpPr>
              <a:spLocks noChangeArrowheads="1"/>
            </p:cNvSpPr>
            <p:nvPr/>
          </p:nvSpPr>
          <p:spPr bwMode="auto">
            <a:xfrm>
              <a:off x="5061" y="1838"/>
              <a:ext cx="86" cy="760"/>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grpSp>
        <p:nvGrpSpPr>
          <p:cNvPr id="97" name="Group 67"/>
          <p:cNvGrpSpPr/>
          <p:nvPr/>
        </p:nvGrpSpPr>
        <p:grpSpPr bwMode="auto">
          <a:xfrm>
            <a:off x="7841666" y="1346443"/>
            <a:ext cx="742950" cy="742950"/>
            <a:chOff x="-44" y="1473"/>
            <a:chExt cx="981" cy="1105"/>
          </a:xfrm>
        </p:grpSpPr>
        <p:pic>
          <p:nvPicPr>
            <p:cNvPr id="98" name="Picture 68"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sp>
        <p:nvSpPr>
          <p:cNvPr id="100"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dissolve">
                                      <p:cBhvr>
                                        <p:cTn id="7" dur="5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3"/>
                                        </p:tgtEl>
                                        <p:attrNameLst>
                                          <p:attrName>style.visibility</p:attrName>
                                        </p:attrNameLst>
                                      </p:cBhvr>
                                      <p:to>
                                        <p:strVal val="visible"/>
                                      </p:to>
                                    </p:set>
                                    <p:animEffect transition="in" filter="dissolve">
                                      <p:cBhvr>
                                        <p:cTn id="12" dur="500"/>
                                        <p:tgtEl>
                                          <p:spTgt spid="5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dissolve">
                                      <p:cBhvr>
                                        <p:cTn id="22"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MS PGothic" panose="020B0600070205080204" pitchFamily="34" charset="-128"/>
                <a:cs typeface="+mn-cs"/>
              </a:rPr>
              <a:t>Example app: UDP client</a:t>
            </a:r>
            <a:endParaRPr lang="en-US" altLang="en-US" sz="5400" dirty="0">
              <a:solidFill>
                <a:srgbClr val="000099"/>
              </a:solidFill>
              <a:ea typeface="MS PGothic" panose="020B0600070205080204" pitchFamily="34" charset="-128"/>
              <a:cs typeface="+mn-cs"/>
            </a:endParaRPr>
          </a:p>
        </p:txBody>
      </p:sp>
      <p:sp>
        <p:nvSpPr>
          <p:cNvPr id="100" name="TextBox 1"/>
          <p:cNvSpPr txBox="1">
            <a:spLocks noChangeArrowheads="1"/>
          </p:cNvSpPr>
          <p:nvPr/>
        </p:nvSpPr>
        <p:spPr bwMode="auto">
          <a:xfrm>
            <a:off x="5404044" y="1906313"/>
            <a:ext cx="5894388" cy="4960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2800"/>
              </a:lnSpc>
            </a:pPr>
            <a:r>
              <a:rPr lang="en-US" altLang="en-US" dirty="0"/>
              <a:t>from socket import *</a:t>
            </a:r>
            <a:endParaRPr lang="en-US" altLang="en-US" dirty="0"/>
          </a:p>
          <a:p>
            <a:pPr>
              <a:lnSpc>
                <a:spcPts val="2800"/>
              </a:lnSpc>
            </a:pPr>
            <a:r>
              <a:rPr lang="en-US" altLang="en-US" dirty="0" err="1"/>
              <a:t>serverName</a:t>
            </a:r>
            <a:r>
              <a:rPr lang="en-US" altLang="en-US" dirty="0"/>
              <a:t> = ‘hostname’</a:t>
            </a:r>
            <a:endParaRPr lang="en-US" altLang="en-US" dirty="0"/>
          </a:p>
          <a:p>
            <a:pPr>
              <a:lnSpc>
                <a:spcPts val="2800"/>
              </a:lnSpc>
            </a:pPr>
            <a:r>
              <a:rPr lang="en-US" altLang="en-US" dirty="0" err="1"/>
              <a:t>serverPort</a:t>
            </a:r>
            <a:r>
              <a:rPr lang="en-US" altLang="en-US" dirty="0"/>
              <a:t> = 12000</a:t>
            </a:r>
            <a:endParaRPr lang="en-US" altLang="en-US" dirty="0"/>
          </a:p>
          <a:p>
            <a:pPr>
              <a:lnSpc>
                <a:spcPts val="2400"/>
              </a:lnSpc>
            </a:pPr>
            <a:r>
              <a:rPr lang="en-US" altLang="en-US" dirty="0" err="1"/>
              <a:t>clientSocket</a:t>
            </a:r>
            <a:r>
              <a:rPr lang="en-US" altLang="en-US" dirty="0"/>
              <a:t> = socket(AF_INET, </a:t>
            </a:r>
            <a:endParaRPr lang="en-US" altLang="en-US" dirty="0"/>
          </a:p>
          <a:p>
            <a:pPr>
              <a:lnSpc>
                <a:spcPts val="2400"/>
              </a:lnSpc>
            </a:pPr>
            <a:r>
              <a:rPr lang="en-US" altLang="en-US" dirty="0"/>
              <a:t>                                   SOCK_DGRAM)</a:t>
            </a:r>
            <a:endParaRPr lang="en-US" altLang="en-US" dirty="0"/>
          </a:p>
          <a:p>
            <a:pPr>
              <a:lnSpc>
                <a:spcPts val="2800"/>
              </a:lnSpc>
            </a:pPr>
            <a:r>
              <a:rPr lang="en-US" altLang="en-US" dirty="0"/>
              <a:t>message = </a:t>
            </a:r>
            <a:r>
              <a:rPr lang="en-US" altLang="en-US" dirty="0" err="1"/>
              <a:t>raw_input</a:t>
            </a:r>
            <a:r>
              <a:rPr lang="en-US" altLang="en-US" dirty="0"/>
              <a:t>(’Input lowercase sentence:’)</a:t>
            </a:r>
            <a:endParaRPr lang="en-US" altLang="en-US" dirty="0"/>
          </a:p>
          <a:p>
            <a:pPr>
              <a:lnSpc>
                <a:spcPts val="2800"/>
              </a:lnSpc>
            </a:pPr>
            <a:r>
              <a:rPr lang="en-US" altLang="en-US" dirty="0" err="1"/>
              <a:t>clientSocket.sendto</a:t>
            </a:r>
            <a:r>
              <a:rPr lang="en-US" altLang="en-US" sz="1800" dirty="0"/>
              <a:t>(</a:t>
            </a:r>
            <a:r>
              <a:rPr lang="en-US" altLang="en-US" sz="1800" dirty="0" err="1"/>
              <a:t>message.encode</a:t>
            </a:r>
            <a:r>
              <a:rPr lang="en-US" altLang="en-US" sz="1800" dirty="0"/>
              <a:t>(),</a:t>
            </a:r>
            <a:endParaRPr lang="en-US" altLang="en-US" sz="1800" dirty="0"/>
          </a:p>
          <a:p>
            <a:pPr>
              <a:lnSpc>
                <a:spcPts val="2800"/>
              </a:lnSpc>
            </a:pPr>
            <a:r>
              <a:rPr lang="en-US" altLang="en-US" sz="1800" dirty="0"/>
              <a:t>                                      (</a:t>
            </a:r>
            <a:r>
              <a:rPr lang="en-US" altLang="en-US" sz="1800" dirty="0" err="1"/>
              <a:t>serverName</a:t>
            </a:r>
            <a:r>
              <a:rPr lang="en-US" altLang="en-US" sz="1800" dirty="0"/>
              <a:t>, </a:t>
            </a:r>
            <a:r>
              <a:rPr lang="en-US" altLang="en-US" sz="1800" dirty="0" err="1"/>
              <a:t>serverPort</a:t>
            </a:r>
            <a:r>
              <a:rPr lang="en-US" altLang="en-US" sz="1800" dirty="0"/>
              <a:t>))</a:t>
            </a:r>
            <a:endParaRPr lang="en-US" altLang="en-US" sz="1800" dirty="0"/>
          </a:p>
          <a:p>
            <a:pPr>
              <a:lnSpc>
                <a:spcPts val="2800"/>
              </a:lnSpc>
            </a:pPr>
            <a:r>
              <a:rPr lang="en-US" altLang="en-US" dirty="0" err="1"/>
              <a:t>modifiedMessage</a:t>
            </a:r>
            <a:r>
              <a:rPr lang="en-US" altLang="en-US" dirty="0"/>
              <a:t>, </a:t>
            </a:r>
            <a:r>
              <a:rPr lang="en-US" altLang="en-US" dirty="0" err="1"/>
              <a:t>serverAddress</a:t>
            </a:r>
            <a:r>
              <a:rPr lang="en-US" altLang="en-US" dirty="0"/>
              <a:t> = </a:t>
            </a:r>
            <a:endParaRPr lang="en-US" altLang="en-US" dirty="0"/>
          </a:p>
          <a:p>
            <a:pPr>
              <a:lnSpc>
                <a:spcPts val="2800"/>
              </a:lnSpc>
            </a:pPr>
            <a:r>
              <a:rPr lang="en-US" altLang="en-US" dirty="0"/>
              <a:t>                                   </a:t>
            </a:r>
            <a:r>
              <a:rPr lang="en-US" altLang="en-US" dirty="0" err="1"/>
              <a:t>clientSocket.recvfrom</a:t>
            </a:r>
            <a:r>
              <a:rPr lang="en-US" altLang="en-US" dirty="0"/>
              <a:t>(2048)</a:t>
            </a:r>
            <a:endParaRPr lang="en-US" altLang="en-US" dirty="0"/>
          </a:p>
          <a:p>
            <a:pPr>
              <a:lnSpc>
                <a:spcPts val="2800"/>
              </a:lnSpc>
            </a:pPr>
            <a:r>
              <a:rPr lang="en-US" altLang="en-US" dirty="0"/>
              <a:t>print </a:t>
            </a:r>
            <a:r>
              <a:rPr lang="en-US" altLang="en-US" dirty="0" err="1"/>
              <a:t>modifiedMessage.decode</a:t>
            </a:r>
            <a:r>
              <a:rPr lang="en-US" altLang="en-US" dirty="0"/>
              <a:t>()</a:t>
            </a:r>
            <a:endParaRPr lang="en-US" altLang="en-US" dirty="0"/>
          </a:p>
          <a:p>
            <a:pPr>
              <a:lnSpc>
                <a:spcPts val="2800"/>
              </a:lnSpc>
            </a:pPr>
            <a:r>
              <a:rPr lang="en-US" altLang="en-US" dirty="0" err="1"/>
              <a:t>clientSocket.close</a:t>
            </a:r>
            <a:r>
              <a:rPr lang="en-US" altLang="en-US" dirty="0"/>
              <a:t>()</a:t>
            </a:r>
            <a:endParaRPr lang="en-US" altLang="en-US" dirty="0"/>
          </a:p>
        </p:txBody>
      </p:sp>
      <p:sp>
        <p:nvSpPr>
          <p:cNvPr id="101" name="TextBox 2"/>
          <p:cNvSpPr txBox="1">
            <a:spLocks noChangeArrowheads="1"/>
          </p:cNvSpPr>
          <p:nvPr/>
        </p:nvSpPr>
        <p:spPr bwMode="auto">
          <a:xfrm>
            <a:off x="5416744" y="1423713"/>
            <a:ext cx="27416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i="1">
                <a:solidFill>
                  <a:srgbClr val="CC0000"/>
                </a:solidFill>
              </a:rPr>
              <a:t>Python UDPClient</a:t>
            </a:r>
            <a:endParaRPr lang="en-US" altLang="en-US" sz="2400" i="1">
              <a:solidFill>
                <a:srgbClr val="CC0000"/>
              </a:solidFill>
            </a:endParaRPr>
          </a:p>
        </p:txBody>
      </p:sp>
      <p:grpSp>
        <p:nvGrpSpPr>
          <p:cNvPr id="102" name="Group 46"/>
          <p:cNvGrpSpPr/>
          <p:nvPr/>
        </p:nvGrpSpPr>
        <p:grpSpPr bwMode="auto">
          <a:xfrm>
            <a:off x="2456662" y="1963666"/>
            <a:ext cx="3023734" cy="297517"/>
            <a:chOff x="-242132" y="1766968"/>
            <a:chExt cx="3023579" cy="298280"/>
          </a:xfrm>
        </p:grpSpPr>
        <p:sp>
          <p:nvSpPr>
            <p:cNvPr id="103" name="TextBox 3"/>
            <p:cNvSpPr txBox="1">
              <a:spLocks noChangeArrowheads="1"/>
            </p:cNvSpPr>
            <p:nvPr/>
          </p:nvSpPr>
          <p:spPr bwMode="auto">
            <a:xfrm>
              <a:off x="-242132" y="1766968"/>
              <a:ext cx="3023579" cy="298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1600"/>
                </a:lnSpc>
              </a:pPr>
              <a:r>
                <a:rPr lang="en-US" altLang="en-US" sz="1400" dirty="0">
                  <a:solidFill>
                    <a:srgbClr val="000099"/>
                  </a:solidFill>
                </a:rPr>
                <a:t>include Python’s socket library</a:t>
              </a:r>
              <a:endParaRPr lang="en-US" altLang="en-US" sz="1400" dirty="0">
                <a:solidFill>
                  <a:srgbClr val="000099"/>
                </a:solidFill>
              </a:endParaRPr>
            </a:p>
          </p:txBody>
        </p:sp>
        <p:cxnSp>
          <p:nvCxnSpPr>
            <p:cNvPr id="104" name="Straight Connector 10"/>
            <p:cNvCxnSpPr>
              <a:cxnSpLocks noChangeShapeType="1"/>
            </p:cNvCxnSpPr>
            <p:nvPr/>
          </p:nvCxnSpPr>
          <p:spPr bwMode="auto">
            <a:xfrm>
              <a:off x="2309371" y="1930400"/>
              <a:ext cx="370329" cy="0"/>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105" name="Group 47"/>
          <p:cNvGrpSpPr/>
          <p:nvPr/>
        </p:nvGrpSpPr>
        <p:grpSpPr bwMode="auto">
          <a:xfrm>
            <a:off x="2536716" y="2998275"/>
            <a:ext cx="2943680" cy="523875"/>
            <a:chOff x="588094" y="2905531"/>
            <a:chExt cx="2271818" cy="523220"/>
          </a:xfrm>
        </p:grpSpPr>
        <p:sp>
          <p:nvSpPr>
            <p:cNvPr id="106" name="TextBox 31"/>
            <p:cNvSpPr txBox="1">
              <a:spLocks noChangeArrowheads="1"/>
            </p:cNvSpPr>
            <p:nvPr/>
          </p:nvSpPr>
          <p:spPr bwMode="auto">
            <a:xfrm>
              <a:off x="588094" y="2905531"/>
              <a:ext cx="22718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dirty="0">
                  <a:solidFill>
                    <a:srgbClr val="000099"/>
                  </a:solidFill>
                </a:rPr>
                <a:t>create UDP socket for server</a:t>
              </a:r>
              <a:endParaRPr lang="en-US" altLang="en-US" sz="1400" dirty="0">
                <a:solidFill>
                  <a:srgbClr val="000099"/>
                </a:solidFill>
              </a:endParaRPr>
            </a:p>
          </p:txBody>
        </p:sp>
        <p:cxnSp>
          <p:nvCxnSpPr>
            <p:cNvPr id="107" name="Straight Connector 32"/>
            <p:cNvCxnSpPr>
              <a:cxnSpLocks noChangeShapeType="1"/>
            </p:cNvCxnSpPr>
            <p:nvPr/>
          </p:nvCxnSpPr>
          <p:spPr bwMode="auto">
            <a:xfrm>
              <a:off x="2488965" y="3080272"/>
              <a:ext cx="288707" cy="0"/>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108" name="Group 48"/>
          <p:cNvGrpSpPr/>
          <p:nvPr/>
        </p:nvGrpSpPr>
        <p:grpSpPr bwMode="auto">
          <a:xfrm>
            <a:off x="2988803" y="3664103"/>
            <a:ext cx="2943680" cy="297517"/>
            <a:chOff x="320502" y="3822598"/>
            <a:chExt cx="2944213" cy="297415"/>
          </a:xfrm>
        </p:grpSpPr>
        <p:sp>
          <p:nvSpPr>
            <p:cNvPr id="109" name="TextBox 34"/>
            <p:cNvSpPr txBox="1">
              <a:spLocks noChangeArrowheads="1"/>
            </p:cNvSpPr>
            <p:nvPr/>
          </p:nvSpPr>
          <p:spPr bwMode="auto">
            <a:xfrm>
              <a:off x="320502" y="3822598"/>
              <a:ext cx="2944213" cy="29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1600"/>
                </a:lnSpc>
              </a:pPr>
              <a:r>
                <a:rPr lang="en-US" altLang="en-US" sz="1400" dirty="0">
                  <a:solidFill>
                    <a:srgbClr val="000099"/>
                  </a:solidFill>
                </a:rPr>
                <a:t>get user keyboard input </a:t>
              </a:r>
              <a:endParaRPr lang="en-US" altLang="en-US" sz="1400" dirty="0">
                <a:solidFill>
                  <a:srgbClr val="000099"/>
                </a:solidFill>
              </a:endParaRPr>
            </a:p>
          </p:txBody>
        </p:sp>
        <p:cxnSp>
          <p:nvCxnSpPr>
            <p:cNvPr id="110" name="Straight Connector 35"/>
            <p:cNvCxnSpPr>
              <a:cxnSpLocks noChangeShapeType="1"/>
            </p:cNvCxnSpPr>
            <p:nvPr/>
          </p:nvCxnSpPr>
          <p:spPr bwMode="auto">
            <a:xfrm>
              <a:off x="2340360" y="3968752"/>
              <a:ext cx="381069" cy="0"/>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111" name="Group 49"/>
          <p:cNvGrpSpPr/>
          <p:nvPr/>
        </p:nvGrpSpPr>
        <p:grpSpPr bwMode="auto">
          <a:xfrm>
            <a:off x="589926" y="4010877"/>
            <a:ext cx="4778572" cy="307777"/>
            <a:chOff x="-2057015" y="4094341"/>
            <a:chExt cx="4779099" cy="307008"/>
          </a:xfrm>
        </p:grpSpPr>
        <p:sp>
          <p:nvSpPr>
            <p:cNvPr id="112" name="TextBox 36"/>
            <p:cNvSpPr txBox="1">
              <a:spLocks noChangeArrowheads="1"/>
            </p:cNvSpPr>
            <p:nvPr/>
          </p:nvSpPr>
          <p:spPr bwMode="auto">
            <a:xfrm>
              <a:off x="-2057015" y="4094341"/>
              <a:ext cx="4723287" cy="307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dirty="0">
                  <a:solidFill>
                    <a:srgbClr val="000099"/>
                  </a:solidFill>
                </a:rPr>
                <a:t>attach server name, port to message; send into socket</a:t>
              </a:r>
              <a:endParaRPr lang="en-US" altLang="en-US" sz="1400" dirty="0">
                <a:solidFill>
                  <a:srgbClr val="000099"/>
                </a:solidFill>
              </a:endParaRPr>
            </a:p>
          </p:txBody>
        </p:sp>
        <p:cxnSp>
          <p:nvCxnSpPr>
            <p:cNvPr id="113" name="Straight Connector 39"/>
            <p:cNvCxnSpPr>
              <a:cxnSpLocks noChangeShapeType="1"/>
            </p:cNvCxnSpPr>
            <p:nvPr/>
          </p:nvCxnSpPr>
          <p:spPr bwMode="auto">
            <a:xfrm flipV="1">
              <a:off x="2360668" y="4261938"/>
              <a:ext cx="361416" cy="557"/>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114" name="Group 55"/>
          <p:cNvGrpSpPr/>
          <p:nvPr/>
        </p:nvGrpSpPr>
        <p:grpSpPr bwMode="auto">
          <a:xfrm>
            <a:off x="1645918" y="5411634"/>
            <a:ext cx="3787622" cy="307776"/>
            <a:chOff x="-1061954" y="5487008"/>
            <a:chExt cx="3788048" cy="307391"/>
          </a:xfrm>
        </p:grpSpPr>
        <p:sp>
          <p:nvSpPr>
            <p:cNvPr id="115" name="TextBox 61"/>
            <p:cNvSpPr txBox="1">
              <a:spLocks noChangeArrowheads="1"/>
            </p:cNvSpPr>
            <p:nvPr/>
          </p:nvSpPr>
          <p:spPr bwMode="auto">
            <a:xfrm>
              <a:off x="-1061954" y="5487008"/>
              <a:ext cx="3684841" cy="307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dirty="0">
                  <a:solidFill>
                    <a:srgbClr val="000099"/>
                  </a:solidFill>
                </a:rPr>
                <a:t>print out received string and close socket</a:t>
              </a:r>
              <a:endParaRPr lang="en-US" altLang="en-US" sz="1400" dirty="0">
                <a:solidFill>
                  <a:srgbClr val="000099"/>
                </a:solidFill>
              </a:endParaRPr>
            </a:p>
          </p:txBody>
        </p:sp>
        <p:cxnSp>
          <p:nvCxnSpPr>
            <p:cNvPr id="116" name="Straight Connector 62"/>
            <p:cNvCxnSpPr>
              <a:cxnSpLocks noChangeShapeType="1"/>
            </p:cNvCxnSpPr>
            <p:nvPr/>
          </p:nvCxnSpPr>
          <p:spPr bwMode="auto">
            <a:xfrm>
              <a:off x="2309661" y="5657831"/>
              <a:ext cx="416433" cy="0"/>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117" name="Group 54"/>
          <p:cNvGrpSpPr/>
          <p:nvPr/>
        </p:nvGrpSpPr>
        <p:grpSpPr bwMode="auto">
          <a:xfrm>
            <a:off x="1389301" y="4571818"/>
            <a:ext cx="4091095" cy="421119"/>
            <a:chOff x="-1241909" y="4530536"/>
            <a:chExt cx="4090757" cy="421402"/>
          </a:xfrm>
        </p:grpSpPr>
        <p:sp>
          <p:nvSpPr>
            <p:cNvPr id="118" name="TextBox 56"/>
            <p:cNvSpPr txBox="1">
              <a:spLocks noChangeArrowheads="1"/>
            </p:cNvSpPr>
            <p:nvPr/>
          </p:nvSpPr>
          <p:spPr bwMode="auto">
            <a:xfrm>
              <a:off x="-1241909" y="4643955"/>
              <a:ext cx="4090757" cy="307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dirty="0">
                  <a:solidFill>
                    <a:srgbClr val="000099"/>
                  </a:solidFill>
                </a:rPr>
                <a:t>read reply characters from socket into string</a:t>
              </a:r>
              <a:endParaRPr lang="en-US" altLang="en-US" sz="1400" dirty="0">
                <a:solidFill>
                  <a:srgbClr val="000099"/>
                </a:solidFill>
              </a:endParaRPr>
            </a:p>
          </p:txBody>
        </p:sp>
        <p:cxnSp>
          <p:nvCxnSpPr>
            <p:cNvPr id="119" name="Straight Connector 59"/>
            <p:cNvCxnSpPr>
              <a:cxnSpLocks noChangeShapeType="1"/>
            </p:cNvCxnSpPr>
            <p:nvPr/>
          </p:nvCxnSpPr>
          <p:spPr bwMode="auto">
            <a:xfrm flipV="1">
              <a:off x="2415586" y="4830837"/>
              <a:ext cx="327418" cy="416"/>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sp>
          <p:nvSpPr>
            <p:cNvPr id="120" name="TextBox 53"/>
            <p:cNvSpPr txBox="1">
              <a:spLocks noChangeArrowheads="1"/>
            </p:cNvSpPr>
            <p:nvPr/>
          </p:nvSpPr>
          <p:spPr bwMode="auto">
            <a:xfrm>
              <a:off x="-157119" y="4530536"/>
              <a:ext cx="1846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p>
          </p:txBody>
        </p:sp>
      </p:grpSp>
      <p:sp>
        <p:nvSpPr>
          <p:cNvPr id="25"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02"/>
                                        </p:tgtEl>
                                      </p:cBhvr>
                                    </p:animEffect>
                                    <p:set>
                                      <p:cBhvr>
                                        <p:cTn id="12" dur="1" fill="hold">
                                          <p:stCondLst>
                                            <p:cond delay="499"/>
                                          </p:stCondLst>
                                        </p:cTn>
                                        <p:tgtEl>
                                          <p:spTgt spid="102"/>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05"/>
                                        </p:tgtEl>
                                        <p:attrNameLst>
                                          <p:attrName>style.visibility</p:attrName>
                                        </p:attrNameLst>
                                      </p:cBhvr>
                                      <p:to>
                                        <p:strVal val="visible"/>
                                      </p:to>
                                    </p:set>
                                    <p:animEffect transition="in" filter="dissolve">
                                      <p:cBhvr>
                                        <p:cTn id="15" dur="500"/>
                                        <p:tgtEl>
                                          <p:spTgt spid="10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05"/>
                                        </p:tgtEl>
                                      </p:cBhvr>
                                    </p:animEffect>
                                    <p:set>
                                      <p:cBhvr>
                                        <p:cTn id="20" dur="1" fill="hold">
                                          <p:stCondLst>
                                            <p:cond delay="499"/>
                                          </p:stCondLst>
                                        </p:cTn>
                                        <p:tgtEl>
                                          <p:spTgt spid="105"/>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108"/>
                                        </p:tgtEl>
                                      </p:cBhvr>
                                    </p:animEffect>
                                    <p:set>
                                      <p:cBhvr>
                                        <p:cTn id="28" dur="1" fill="hold">
                                          <p:stCondLst>
                                            <p:cond delay="499"/>
                                          </p:stCondLst>
                                        </p:cTn>
                                        <p:tgtEl>
                                          <p:spTgt spid="108"/>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111"/>
                                        </p:tgtEl>
                                        <p:attrNameLst>
                                          <p:attrName>style.visibility</p:attrName>
                                        </p:attrNameLst>
                                      </p:cBhvr>
                                      <p:to>
                                        <p:strVal val="visible"/>
                                      </p:to>
                                    </p:set>
                                    <p:animEffect transition="in" filter="dissolve">
                                      <p:cBhvr>
                                        <p:cTn id="31" dur="500"/>
                                        <p:tgtEl>
                                          <p:spTgt spid="11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111"/>
                                        </p:tgtEl>
                                      </p:cBhvr>
                                    </p:animEffect>
                                    <p:set>
                                      <p:cBhvr>
                                        <p:cTn id="36" dur="1" fill="hold">
                                          <p:stCondLst>
                                            <p:cond delay="499"/>
                                          </p:stCondLst>
                                        </p:cTn>
                                        <p:tgtEl>
                                          <p:spTgt spid="111"/>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17"/>
                                        </p:tgtEl>
                                        <p:attrNameLst>
                                          <p:attrName>style.visibility</p:attrName>
                                        </p:attrNameLst>
                                      </p:cBhvr>
                                      <p:to>
                                        <p:strVal val="visible"/>
                                      </p:to>
                                    </p:set>
                                    <p:animEffect transition="in" filter="dissolve">
                                      <p:cBhvr>
                                        <p:cTn id="39" dur="500"/>
                                        <p:tgtEl>
                                          <p:spTgt spid="117"/>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117"/>
                                        </p:tgtEl>
                                      </p:cBhvr>
                                    </p:animEffect>
                                    <p:set>
                                      <p:cBhvr>
                                        <p:cTn id="44" dur="1" fill="hold">
                                          <p:stCondLst>
                                            <p:cond delay="499"/>
                                          </p:stCondLst>
                                        </p:cTn>
                                        <p:tgtEl>
                                          <p:spTgt spid="117"/>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114"/>
                                        </p:tgtEl>
                                        <p:attrNameLst>
                                          <p:attrName>style.visibility</p:attrName>
                                        </p:attrNameLst>
                                      </p:cBhvr>
                                      <p:to>
                                        <p:strVal val="visible"/>
                                      </p:to>
                                    </p:set>
                                    <p:animEffect transition="in" filter="dissolve">
                                      <p:cBhvr>
                                        <p:cTn id="47"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MS PGothic" panose="020B0600070205080204" pitchFamily="34" charset="-128"/>
                <a:cs typeface="+mn-cs"/>
              </a:rPr>
              <a:t>Example app: UDP server</a:t>
            </a:r>
            <a:endParaRPr lang="en-US" altLang="en-US" sz="5400" dirty="0">
              <a:solidFill>
                <a:srgbClr val="000099"/>
              </a:solidFill>
              <a:ea typeface="MS PGothic" panose="020B0600070205080204" pitchFamily="34" charset="-128"/>
              <a:cs typeface="+mn-cs"/>
            </a:endParaRPr>
          </a:p>
        </p:txBody>
      </p:sp>
      <p:sp>
        <p:nvSpPr>
          <p:cNvPr id="101" name="TextBox 2"/>
          <p:cNvSpPr txBox="1">
            <a:spLocks noChangeArrowheads="1"/>
          </p:cNvSpPr>
          <p:nvPr/>
        </p:nvSpPr>
        <p:spPr bwMode="auto">
          <a:xfrm>
            <a:off x="5416744" y="1423713"/>
            <a:ext cx="2786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i="1" dirty="0">
                <a:solidFill>
                  <a:srgbClr val="CC0000"/>
                </a:solidFill>
              </a:rPr>
              <a:t>Python </a:t>
            </a:r>
            <a:r>
              <a:rPr lang="en-US" altLang="en-US" sz="2400" i="1" dirty="0" err="1">
                <a:solidFill>
                  <a:srgbClr val="CC0000"/>
                </a:solidFill>
              </a:rPr>
              <a:t>UDPServer</a:t>
            </a:r>
            <a:endParaRPr lang="en-US" altLang="en-US" sz="2400" i="1" dirty="0">
              <a:solidFill>
                <a:srgbClr val="CC0000"/>
              </a:solidFill>
            </a:endParaRPr>
          </a:p>
        </p:txBody>
      </p:sp>
      <p:sp>
        <p:nvSpPr>
          <p:cNvPr id="25" name="TextBox 1"/>
          <p:cNvSpPr txBox="1">
            <a:spLocks noChangeArrowheads="1"/>
          </p:cNvSpPr>
          <p:nvPr/>
        </p:nvSpPr>
        <p:spPr bwMode="auto">
          <a:xfrm>
            <a:off x="5416744" y="1962946"/>
            <a:ext cx="6143625" cy="400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2800"/>
              </a:lnSpc>
            </a:pPr>
            <a:r>
              <a:rPr lang="en-US" altLang="en-US"/>
              <a:t>from socket import *</a:t>
            </a:r>
            <a:endParaRPr lang="en-US" altLang="en-US"/>
          </a:p>
          <a:p>
            <a:pPr>
              <a:lnSpc>
                <a:spcPts val="2800"/>
              </a:lnSpc>
            </a:pPr>
            <a:r>
              <a:rPr lang="en-US" altLang="en-US"/>
              <a:t>serverPort = 12000</a:t>
            </a:r>
            <a:endParaRPr lang="en-US" altLang="en-US"/>
          </a:p>
          <a:p>
            <a:pPr>
              <a:lnSpc>
                <a:spcPts val="2800"/>
              </a:lnSpc>
            </a:pPr>
            <a:r>
              <a:rPr lang="en-US" altLang="en-US"/>
              <a:t>serverSocket = socket(AF_INET, SOCK_DGRAM)</a:t>
            </a:r>
            <a:endParaRPr lang="en-US" altLang="en-US"/>
          </a:p>
          <a:p>
            <a:pPr>
              <a:lnSpc>
                <a:spcPts val="2800"/>
              </a:lnSpc>
            </a:pPr>
            <a:r>
              <a:rPr lang="en-US" altLang="en-US"/>
              <a:t>serverSocket.bind((</a:t>
            </a:r>
            <a:r>
              <a:rPr lang="fr-FR" altLang="en-US"/>
              <a:t>''</a:t>
            </a:r>
            <a:r>
              <a:rPr lang="en-US" altLang="en-US"/>
              <a:t>, serverPort))</a:t>
            </a:r>
            <a:endParaRPr lang="en-US" altLang="en-US"/>
          </a:p>
          <a:p>
            <a:pPr>
              <a:lnSpc>
                <a:spcPts val="2800"/>
              </a:lnSpc>
            </a:pPr>
            <a:r>
              <a:rPr lang="en-US" altLang="en-US"/>
              <a:t>print (</a:t>
            </a:r>
            <a:r>
              <a:rPr lang="ja-JP" altLang="en-US"/>
              <a:t>“</a:t>
            </a:r>
            <a:r>
              <a:rPr lang="en-US" altLang="ja-JP" i="1"/>
              <a:t>The server is ready to receive</a:t>
            </a:r>
            <a:r>
              <a:rPr lang="en-US" altLang="en-US"/>
              <a:t>”</a:t>
            </a:r>
            <a:r>
              <a:rPr lang="en-US" altLang="ja-JP"/>
              <a:t>)</a:t>
            </a:r>
            <a:endParaRPr lang="en-US" altLang="ja-JP"/>
          </a:p>
          <a:p>
            <a:pPr>
              <a:lnSpc>
                <a:spcPts val="2800"/>
              </a:lnSpc>
            </a:pPr>
            <a:r>
              <a:rPr lang="en-US" altLang="en-US"/>
              <a:t>while True:</a:t>
            </a:r>
            <a:endParaRPr lang="en-US" altLang="en-US"/>
          </a:p>
          <a:p>
            <a:pPr>
              <a:lnSpc>
                <a:spcPts val="2400"/>
              </a:lnSpc>
            </a:pPr>
            <a:r>
              <a:rPr lang="en-US" altLang="en-US" sz="1800"/>
              <a:t>    message, clientAddress = serverSocket.recvfrom(2048)</a:t>
            </a:r>
            <a:endParaRPr lang="en-US" altLang="en-US" sz="1800"/>
          </a:p>
          <a:p>
            <a:pPr>
              <a:lnSpc>
                <a:spcPts val="2400"/>
              </a:lnSpc>
            </a:pPr>
            <a:r>
              <a:rPr lang="en-US" altLang="en-US" sz="1800"/>
              <a:t>    modifiedMessage = message.decode().upper()</a:t>
            </a:r>
            <a:endParaRPr lang="en-US" altLang="en-US" sz="1800"/>
          </a:p>
          <a:p>
            <a:pPr>
              <a:lnSpc>
                <a:spcPts val="2400"/>
              </a:lnSpc>
            </a:pPr>
            <a:r>
              <a:rPr lang="en-US" altLang="en-US" sz="1800"/>
              <a:t>    serverSocket.sendto(modifiedMessage.encode(),</a:t>
            </a:r>
            <a:endParaRPr lang="en-US" altLang="en-US" sz="1800"/>
          </a:p>
          <a:p>
            <a:pPr>
              <a:lnSpc>
                <a:spcPts val="2400"/>
              </a:lnSpc>
            </a:pPr>
            <a:r>
              <a:rPr lang="en-US" altLang="en-US" sz="1800"/>
              <a:t>                                      clientAddress)</a:t>
            </a:r>
            <a:endParaRPr lang="en-US" altLang="en-US" sz="1800"/>
          </a:p>
        </p:txBody>
      </p:sp>
      <p:grpSp>
        <p:nvGrpSpPr>
          <p:cNvPr id="26" name="Group 13"/>
          <p:cNvGrpSpPr/>
          <p:nvPr/>
        </p:nvGrpSpPr>
        <p:grpSpPr bwMode="auto">
          <a:xfrm>
            <a:off x="3352917" y="2744875"/>
            <a:ext cx="2558753" cy="307975"/>
            <a:chOff x="732830" y="2581901"/>
            <a:chExt cx="2559082" cy="307777"/>
          </a:xfrm>
        </p:grpSpPr>
        <p:sp>
          <p:nvSpPr>
            <p:cNvPr id="27" name="TextBox 31"/>
            <p:cNvSpPr txBox="1">
              <a:spLocks noChangeArrowheads="1"/>
            </p:cNvSpPr>
            <p:nvPr/>
          </p:nvSpPr>
          <p:spPr bwMode="auto">
            <a:xfrm>
              <a:off x="732830" y="2581901"/>
              <a:ext cx="25590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dirty="0">
                  <a:solidFill>
                    <a:srgbClr val="000099"/>
                  </a:solidFill>
                </a:rPr>
                <a:t>create UDP socket</a:t>
              </a:r>
              <a:endParaRPr lang="en-US" altLang="en-US" sz="1400" dirty="0">
                <a:solidFill>
                  <a:srgbClr val="000099"/>
                </a:solidFill>
              </a:endParaRPr>
            </a:p>
          </p:txBody>
        </p:sp>
        <p:cxnSp>
          <p:nvCxnSpPr>
            <p:cNvPr id="28" name="Straight Connector 32"/>
            <p:cNvCxnSpPr>
              <a:cxnSpLocks noChangeShapeType="1"/>
            </p:cNvCxnSpPr>
            <p:nvPr/>
          </p:nvCxnSpPr>
          <p:spPr bwMode="auto">
            <a:xfrm>
              <a:off x="2394178" y="2749550"/>
              <a:ext cx="358094" cy="0"/>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29" name="Group 14"/>
          <p:cNvGrpSpPr/>
          <p:nvPr/>
        </p:nvGrpSpPr>
        <p:grpSpPr bwMode="auto">
          <a:xfrm>
            <a:off x="1773888" y="3108924"/>
            <a:ext cx="3605785" cy="307777"/>
            <a:chOff x="-896820" y="3018353"/>
            <a:chExt cx="3607385" cy="307392"/>
          </a:xfrm>
        </p:grpSpPr>
        <p:sp>
          <p:nvSpPr>
            <p:cNvPr id="30" name="TextBox 26"/>
            <p:cNvSpPr txBox="1">
              <a:spLocks noChangeArrowheads="1"/>
            </p:cNvSpPr>
            <p:nvPr/>
          </p:nvSpPr>
          <p:spPr bwMode="auto">
            <a:xfrm>
              <a:off x="-896820" y="3018353"/>
              <a:ext cx="3607385"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dirty="0">
                  <a:solidFill>
                    <a:srgbClr val="000099"/>
                  </a:solidFill>
                </a:rPr>
                <a:t>bind socket to local port number 12000</a:t>
              </a:r>
              <a:endParaRPr lang="en-US" altLang="en-US" sz="1400" dirty="0">
                <a:solidFill>
                  <a:srgbClr val="000099"/>
                </a:solidFill>
              </a:endParaRPr>
            </a:p>
          </p:txBody>
        </p:sp>
        <p:cxnSp>
          <p:nvCxnSpPr>
            <p:cNvPr id="31" name="Straight Connector 30"/>
            <p:cNvCxnSpPr>
              <a:cxnSpLocks noChangeShapeType="1"/>
            </p:cNvCxnSpPr>
            <p:nvPr/>
          </p:nvCxnSpPr>
          <p:spPr bwMode="auto">
            <a:xfrm>
              <a:off x="2375948" y="3171825"/>
              <a:ext cx="334255" cy="0"/>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32" name="Group 15"/>
          <p:cNvGrpSpPr/>
          <p:nvPr/>
        </p:nvGrpSpPr>
        <p:grpSpPr bwMode="auto">
          <a:xfrm>
            <a:off x="3884090" y="3825856"/>
            <a:ext cx="1488056" cy="298450"/>
            <a:chOff x="1222134" y="3803733"/>
            <a:chExt cx="1488522" cy="299227"/>
          </a:xfrm>
        </p:grpSpPr>
        <p:sp>
          <p:nvSpPr>
            <p:cNvPr id="33" name="TextBox 34"/>
            <p:cNvSpPr txBox="1">
              <a:spLocks noChangeArrowheads="1"/>
            </p:cNvSpPr>
            <p:nvPr/>
          </p:nvSpPr>
          <p:spPr bwMode="auto">
            <a:xfrm>
              <a:off x="1222134" y="3803733"/>
              <a:ext cx="1194763" cy="299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1600"/>
                </a:lnSpc>
              </a:pPr>
              <a:r>
                <a:rPr lang="en-US" altLang="en-US" sz="1400" dirty="0">
                  <a:solidFill>
                    <a:srgbClr val="000099"/>
                  </a:solidFill>
                </a:rPr>
                <a:t>loop forever</a:t>
              </a:r>
              <a:endParaRPr lang="en-US" altLang="en-US" sz="1400" dirty="0">
                <a:solidFill>
                  <a:srgbClr val="000099"/>
                </a:solidFill>
              </a:endParaRPr>
            </a:p>
          </p:txBody>
        </p:sp>
        <p:cxnSp>
          <p:nvCxnSpPr>
            <p:cNvPr id="34" name="Straight Connector 35"/>
            <p:cNvCxnSpPr>
              <a:cxnSpLocks noChangeShapeType="1"/>
            </p:cNvCxnSpPr>
            <p:nvPr/>
          </p:nvCxnSpPr>
          <p:spPr bwMode="auto">
            <a:xfrm>
              <a:off x="2367604" y="3964781"/>
              <a:ext cx="343052" cy="1"/>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35" name="Group 17"/>
          <p:cNvGrpSpPr/>
          <p:nvPr/>
        </p:nvGrpSpPr>
        <p:grpSpPr bwMode="auto">
          <a:xfrm>
            <a:off x="1304089" y="4147117"/>
            <a:ext cx="4068011" cy="502702"/>
            <a:chOff x="-1394433" y="3835897"/>
            <a:chExt cx="4067973" cy="502591"/>
          </a:xfrm>
        </p:grpSpPr>
        <p:sp>
          <p:nvSpPr>
            <p:cNvPr id="36" name="TextBox 36"/>
            <p:cNvSpPr txBox="1">
              <a:spLocks noChangeArrowheads="1"/>
            </p:cNvSpPr>
            <p:nvPr/>
          </p:nvSpPr>
          <p:spPr bwMode="auto">
            <a:xfrm>
              <a:off x="-1394433" y="3835897"/>
              <a:ext cx="3841634" cy="502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1600"/>
                </a:lnSpc>
              </a:pPr>
              <a:r>
                <a:rPr lang="en-US" altLang="en-US" sz="1400" dirty="0">
                  <a:solidFill>
                    <a:srgbClr val="000099"/>
                  </a:solidFill>
                </a:rPr>
                <a:t>Read from UDP socket into message, getting client’s address (client IP and port)</a:t>
              </a:r>
              <a:endParaRPr lang="en-US" altLang="en-US" sz="1400" dirty="0">
                <a:solidFill>
                  <a:srgbClr val="000099"/>
                </a:solidFill>
              </a:endParaRPr>
            </a:p>
          </p:txBody>
        </p:sp>
        <p:cxnSp>
          <p:nvCxnSpPr>
            <p:cNvPr id="37" name="Straight Connector 39"/>
            <p:cNvCxnSpPr>
              <a:cxnSpLocks noChangeShapeType="1"/>
            </p:cNvCxnSpPr>
            <p:nvPr/>
          </p:nvCxnSpPr>
          <p:spPr bwMode="auto">
            <a:xfrm>
              <a:off x="2330643" y="3987004"/>
              <a:ext cx="342897" cy="1"/>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38" name="Group 18"/>
          <p:cNvGrpSpPr/>
          <p:nvPr/>
        </p:nvGrpSpPr>
        <p:grpSpPr bwMode="auto">
          <a:xfrm>
            <a:off x="1619318" y="4783930"/>
            <a:ext cx="3841670" cy="307777"/>
            <a:chOff x="-1179917" y="4521468"/>
            <a:chExt cx="3842964" cy="307392"/>
          </a:xfrm>
        </p:grpSpPr>
        <p:sp>
          <p:nvSpPr>
            <p:cNvPr id="39" name="TextBox 61"/>
            <p:cNvSpPr txBox="1">
              <a:spLocks noChangeArrowheads="1"/>
            </p:cNvSpPr>
            <p:nvPr/>
          </p:nvSpPr>
          <p:spPr bwMode="auto">
            <a:xfrm>
              <a:off x="-1179917" y="4521468"/>
              <a:ext cx="3842964"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dirty="0">
                  <a:solidFill>
                    <a:srgbClr val="000099"/>
                  </a:solidFill>
                </a:rPr>
                <a:t>send upper case string back to this client</a:t>
              </a:r>
              <a:endParaRPr lang="en-US" altLang="en-US" sz="1400" dirty="0">
                <a:solidFill>
                  <a:srgbClr val="000099"/>
                </a:solidFill>
              </a:endParaRPr>
            </a:p>
          </p:txBody>
        </p:sp>
        <p:cxnSp>
          <p:nvCxnSpPr>
            <p:cNvPr id="40" name="Straight Connector 62"/>
            <p:cNvCxnSpPr>
              <a:cxnSpLocks noChangeShapeType="1"/>
            </p:cNvCxnSpPr>
            <p:nvPr/>
          </p:nvCxnSpPr>
          <p:spPr bwMode="auto">
            <a:xfrm>
              <a:off x="2217617" y="4675165"/>
              <a:ext cx="356512" cy="0"/>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sp>
        <p:nvSpPr>
          <p:cNvPr id="21" name="Slide Number Placeholder 2"/>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dissolv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6"/>
                                        </p:tgtEl>
                                      </p:cBhvr>
                                    </p:animEffect>
                                    <p:set>
                                      <p:cBhvr>
                                        <p:cTn id="12" dur="1" fill="hold">
                                          <p:stCondLst>
                                            <p:cond delay="499"/>
                                          </p:stCondLst>
                                        </p:cTn>
                                        <p:tgtEl>
                                          <p:spTgt spid="26"/>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dissolve">
                                      <p:cBhvr>
                                        <p:cTn id="15" dur="500"/>
                                        <p:tgtEl>
                                          <p:spTgt spid="2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29"/>
                                        </p:tgtEl>
                                      </p:cBhvr>
                                    </p:animEffect>
                                    <p:set>
                                      <p:cBhvr>
                                        <p:cTn id="20" dur="1" fill="hold">
                                          <p:stCondLst>
                                            <p:cond delay="499"/>
                                          </p:stCondLst>
                                        </p:cTn>
                                        <p:tgtEl>
                                          <p:spTgt spid="29"/>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dissolve">
                                      <p:cBhvr>
                                        <p:cTn id="23" dur="500"/>
                                        <p:tgtEl>
                                          <p:spTgt spid="32"/>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32"/>
                                        </p:tgtEl>
                                      </p:cBhvr>
                                    </p:animEffect>
                                    <p:set>
                                      <p:cBhvr>
                                        <p:cTn id="28" dur="1" fill="hold">
                                          <p:stCondLst>
                                            <p:cond delay="499"/>
                                          </p:stCondLst>
                                        </p:cTn>
                                        <p:tgtEl>
                                          <p:spTgt spid="32"/>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dissolve">
                                      <p:cBhvr>
                                        <p:cTn id="31" dur="500"/>
                                        <p:tgtEl>
                                          <p:spTgt spid="35"/>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5"/>
                                        </p:tgtEl>
                                      </p:cBhvr>
                                    </p:animEffect>
                                    <p:set>
                                      <p:cBhvr>
                                        <p:cTn id="36" dur="1" fill="hold">
                                          <p:stCondLst>
                                            <p:cond delay="499"/>
                                          </p:stCondLst>
                                        </p:cTn>
                                        <p:tgtEl>
                                          <p:spTgt spid="35"/>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dissolve">
                                      <p:cBhvr>
                                        <p:cTn id="39"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MS PGothic" panose="020B0600070205080204" pitchFamily="34" charset="-128"/>
                <a:cs typeface="+mn-cs"/>
              </a:rPr>
              <a:t>Socket programming </a:t>
            </a:r>
            <a:r>
              <a:rPr lang="en-US" altLang="en-US" sz="4400" dirty="0">
                <a:solidFill>
                  <a:srgbClr val="C00000"/>
                </a:solidFill>
                <a:ea typeface="MS PGothic" panose="020B0600070205080204" pitchFamily="34" charset="-128"/>
                <a:cs typeface="+mn-cs"/>
              </a:rPr>
              <a:t>with TCP</a:t>
            </a:r>
            <a:endParaRPr lang="en-US" altLang="en-US" sz="5400" dirty="0">
              <a:solidFill>
                <a:srgbClr val="C00000"/>
              </a:solidFill>
              <a:ea typeface="MS PGothic" panose="020B0600070205080204" pitchFamily="34" charset="-128"/>
              <a:cs typeface="+mn-cs"/>
            </a:endParaRPr>
          </a:p>
        </p:txBody>
      </p:sp>
      <p:sp>
        <p:nvSpPr>
          <p:cNvPr id="43" name="Rectangle 3"/>
          <p:cNvSpPr>
            <a:spLocks noGrp="1" noChangeArrowheads="1"/>
          </p:cNvSpPr>
          <p:nvPr>
            <p:ph sz="half" idx="1"/>
          </p:nvPr>
        </p:nvSpPr>
        <p:spPr>
          <a:xfrm>
            <a:off x="661829" y="1455785"/>
            <a:ext cx="5074444" cy="5090539"/>
          </a:xfrm>
        </p:spPr>
        <p:txBody>
          <a:bodyPr>
            <a:normAutofit lnSpcReduction="10000"/>
          </a:bodyPr>
          <a:lstStyle/>
          <a:p>
            <a:pPr>
              <a:buFont typeface="Wingdings" panose="05000000000000000000" pitchFamily="2" charset="2"/>
              <a:buNone/>
            </a:pPr>
            <a:r>
              <a:rPr lang="en-US" altLang="en-US" dirty="0">
                <a:solidFill>
                  <a:srgbClr val="CC0000"/>
                </a:solidFill>
                <a:ea typeface="MS PGothic" panose="020B0600070205080204" pitchFamily="34" charset="-128"/>
              </a:rPr>
              <a:t>Client must contact server</a:t>
            </a:r>
            <a:endParaRPr lang="en-US" altLang="en-US" dirty="0">
              <a:solidFill>
                <a:srgbClr val="CC0000"/>
              </a:solidFill>
              <a:ea typeface="MS PGothic" panose="020B0600070205080204" pitchFamily="34" charset="-128"/>
            </a:endParaRPr>
          </a:p>
          <a:p>
            <a:pPr marL="466725" indent="-233680"/>
            <a:r>
              <a:rPr lang="en-US" altLang="en-US" sz="2400" dirty="0">
                <a:ea typeface="MS PGothic" panose="020B0600070205080204" pitchFamily="34" charset="-128"/>
              </a:rPr>
              <a:t>server process must first be running</a:t>
            </a:r>
            <a:endParaRPr lang="en-US" altLang="en-US" sz="2400" dirty="0">
              <a:ea typeface="MS PGothic" panose="020B0600070205080204" pitchFamily="34" charset="-128"/>
            </a:endParaRPr>
          </a:p>
          <a:p>
            <a:pPr marL="466725" indent="-233680"/>
            <a:r>
              <a:rPr lang="en-US" altLang="en-US" sz="2400" dirty="0">
                <a:ea typeface="MS PGothic" panose="020B0600070205080204" pitchFamily="34" charset="-128"/>
              </a:rPr>
              <a:t>server must have created socket (door) that welcomes client’</a:t>
            </a:r>
            <a:r>
              <a:rPr lang="en-US" altLang="ja-JP" sz="2400" dirty="0">
                <a:ea typeface="MS PGothic" panose="020B0600070205080204" pitchFamily="34" charset="-128"/>
              </a:rPr>
              <a:t>s contact</a:t>
            </a:r>
            <a:endParaRPr lang="en-US" altLang="ja-JP" sz="2400" dirty="0">
              <a:ea typeface="MS PGothic" panose="020B0600070205080204" pitchFamily="34" charset="-128"/>
            </a:endParaRPr>
          </a:p>
          <a:p>
            <a:pPr>
              <a:spcBef>
                <a:spcPct val="50000"/>
              </a:spcBef>
              <a:buFont typeface="Wingdings" panose="05000000000000000000" pitchFamily="2" charset="2"/>
              <a:buNone/>
            </a:pPr>
            <a:r>
              <a:rPr lang="en-US" altLang="en-US" dirty="0">
                <a:solidFill>
                  <a:srgbClr val="CC0000"/>
                </a:solidFill>
                <a:ea typeface="MS PGothic" panose="020B0600070205080204" pitchFamily="34" charset="-128"/>
              </a:rPr>
              <a:t>Client contacts server by:</a:t>
            </a:r>
            <a:endParaRPr lang="en-US" altLang="en-US" dirty="0">
              <a:solidFill>
                <a:srgbClr val="CC0000"/>
              </a:solidFill>
              <a:ea typeface="MS PGothic" panose="020B0600070205080204" pitchFamily="34" charset="-128"/>
            </a:endParaRPr>
          </a:p>
          <a:p>
            <a:pPr marL="466725" indent="-292100"/>
            <a:r>
              <a:rPr lang="en-US" altLang="en-US" sz="2400" dirty="0">
                <a:ea typeface="MS PGothic" panose="020B0600070205080204" pitchFamily="34" charset="-128"/>
              </a:rPr>
              <a:t>Creating TCP socket, specifying IP address, port number of server process</a:t>
            </a:r>
            <a:endParaRPr lang="en-US" altLang="en-US" sz="2400" dirty="0">
              <a:ea typeface="MS PGothic" panose="020B0600070205080204" pitchFamily="34" charset="-128"/>
            </a:endParaRPr>
          </a:p>
          <a:p>
            <a:pPr marL="466725" indent="-233680"/>
            <a:r>
              <a:rPr lang="en-US" altLang="en-US" sz="2400" i="1" dirty="0">
                <a:solidFill>
                  <a:srgbClr val="CC0000"/>
                </a:solidFill>
                <a:ea typeface="MS PGothic" panose="020B0600070205080204" pitchFamily="34" charset="-128"/>
              </a:rPr>
              <a:t>when client creates socket:</a:t>
            </a:r>
            <a:r>
              <a:rPr lang="en-US" altLang="en-US" sz="2400" dirty="0">
                <a:ea typeface="MS PGothic" panose="020B0600070205080204" pitchFamily="34" charset="-128"/>
              </a:rPr>
              <a:t> client TCP establishes connection to server TCP</a:t>
            </a:r>
            <a:endParaRPr lang="en-US" altLang="en-US" sz="2200" dirty="0">
              <a:ea typeface="MS PGothic" panose="020B0600070205080204" pitchFamily="34" charset="-128"/>
            </a:endParaRPr>
          </a:p>
          <a:p>
            <a:endParaRPr lang="en-US" altLang="en-US" sz="2000" dirty="0">
              <a:latin typeface="Gill Sans MT" panose="020B0502020104020203" pitchFamily="34" charset="77"/>
              <a:ea typeface="MS PGothic" panose="020B0600070205080204" pitchFamily="34" charset="-128"/>
            </a:endParaRPr>
          </a:p>
        </p:txBody>
      </p:sp>
      <p:sp>
        <p:nvSpPr>
          <p:cNvPr id="44" name="Rectangle 4"/>
          <p:cNvSpPr txBox="1">
            <a:spLocks noChangeArrowheads="1"/>
          </p:cNvSpPr>
          <p:nvPr/>
        </p:nvSpPr>
        <p:spPr>
          <a:xfrm>
            <a:off x="5735469" y="1426964"/>
            <a:ext cx="5724832" cy="3000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latin typeface="Calibri" panose="020F0502020204030204" pitchFamily="34" charset="0"/>
                <a:ea typeface="MS PGothic" panose="020B0600070205080204" pitchFamily="34" charset="-128"/>
                <a:cs typeface="Calibri" panose="020F0502020204030204" pitchFamily="34" charset="0"/>
              </a:rPr>
              <a:t>when contacted by client, </a:t>
            </a:r>
            <a:r>
              <a:rPr lang="en-US" altLang="en-US" i="1" dirty="0">
                <a:solidFill>
                  <a:srgbClr val="CC0000"/>
                </a:solidFill>
                <a:latin typeface="Calibri" panose="020F0502020204030204" pitchFamily="34" charset="0"/>
                <a:ea typeface="MS PGothic" panose="020B0600070205080204" pitchFamily="34" charset="-128"/>
                <a:cs typeface="Calibri" panose="020F0502020204030204" pitchFamily="34" charset="0"/>
              </a:rPr>
              <a:t>server TCP creates new socket</a:t>
            </a:r>
            <a:r>
              <a:rPr lang="en-US" altLang="en-US" dirty="0">
                <a:latin typeface="Calibri" panose="020F0502020204030204" pitchFamily="34" charset="0"/>
                <a:ea typeface="MS PGothic" panose="020B0600070205080204" pitchFamily="34" charset="-128"/>
                <a:cs typeface="Calibri" panose="020F0502020204030204" pitchFamily="34" charset="0"/>
              </a:rPr>
              <a:t> for server process to communicate with that particular client</a:t>
            </a:r>
            <a:endParaRPr lang="en-US" altLang="en-US" dirty="0">
              <a:latin typeface="Calibri" panose="020F0502020204030204" pitchFamily="34" charset="0"/>
              <a:ea typeface="MS PGothic" panose="020B0600070205080204" pitchFamily="34" charset="-128"/>
              <a:cs typeface="Calibri" panose="020F0502020204030204" pitchFamily="34" charset="0"/>
            </a:endParaRPr>
          </a:p>
          <a:p>
            <a:pPr lvl="1">
              <a:spcBef>
                <a:spcPts val="0"/>
              </a:spcBef>
            </a:pPr>
            <a:r>
              <a:rPr lang="en-US" altLang="en-US" dirty="0">
                <a:latin typeface="Calibri" panose="020F0502020204030204" pitchFamily="34" charset="0"/>
                <a:ea typeface="MS PGothic" panose="020B0600070205080204" pitchFamily="34" charset="-128"/>
                <a:cs typeface="Calibri" panose="020F0502020204030204" pitchFamily="34" charset="0"/>
              </a:rPr>
              <a:t>allows server to talk with multiple clients</a:t>
            </a:r>
            <a:endParaRPr lang="en-US" altLang="en-US" dirty="0">
              <a:latin typeface="Calibri" panose="020F0502020204030204" pitchFamily="34" charset="0"/>
              <a:ea typeface="MS PGothic" panose="020B0600070205080204" pitchFamily="34" charset="-128"/>
              <a:cs typeface="Calibri" panose="020F0502020204030204" pitchFamily="34" charset="0"/>
            </a:endParaRPr>
          </a:p>
          <a:p>
            <a:pPr lvl="1">
              <a:spcBef>
                <a:spcPts val="0"/>
              </a:spcBef>
            </a:pPr>
            <a:r>
              <a:rPr lang="en-US" altLang="en-US" dirty="0">
                <a:latin typeface="Calibri" panose="020F0502020204030204" pitchFamily="34" charset="0"/>
                <a:ea typeface="MS PGothic" panose="020B0600070205080204" pitchFamily="34" charset="-128"/>
                <a:cs typeface="Calibri" panose="020F0502020204030204" pitchFamily="34" charset="0"/>
              </a:rPr>
              <a:t>source port numbers used to distinguish clients (more in Chap 3)</a:t>
            </a:r>
            <a:endParaRPr lang="en-US" altLang="en-US" i="1" dirty="0">
              <a:latin typeface="Calibri" panose="020F0502020204030204" pitchFamily="34" charset="0"/>
              <a:ea typeface="MS PGothic" panose="020B0600070205080204" pitchFamily="34" charset="-128"/>
              <a:cs typeface="Calibri" panose="020F0502020204030204" pitchFamily="34" charset="0"/>
            </a:endParaRPr>
          </a:p>
        </p:txBody>
      </p:sp>
      <p:grpSp>
        <p:nvGrpSpPr>
          <p:cNvPr id="3" name="Group 2"/>
          <p:cNvGrpSpPr/>
          <p:nvPr/>
        </p:nvGrpSpPr>
        <p:grpSpPr>
          <a:xfrm>
            <a:off x="6267640" y="4602113"/>
            <a:ext cx="4660490" cy="1688916"/>
            <a:chOff x="5928853" y="4608645"/>
            <a:chExt cx="4660490" cy="1688916"/>
          </a:xfrm>
        </p:grpSpPr>
        <p:sp>
          <p:nvSpPr>
            <p:cNvPr id="2" name="Rectangle 1"/>
            <p:cNvSpPr/>
            <p:nvPr/>
          </p:nvSpPr>
          <p:spPr>
            <a:xfrm>
              <a:off x="5928853" y="4896465"/>
              <a:ext cx="4660490" cy="1401096"/>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 Box 6"/>
            <p:cNvSpPr txBox="1">
              <a:spLocks noChangeArrowheads="1"/>
            </p:cNvSpPr>
            <p:nvPr/>
          </p:nvSpPr>
          <p:spPr bwMode="auto">
            <a:xfrm>
              <a:off x="6393045" y="5134227"/>
              <a:ext cx="3953326"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ct val="85000"/>
                </a:lnSpc>
                <a:spcBef>
                  <a:spcPct val="0"/>
                </a:spcBef>
                <a:buClrTx/>
                <a:buSzTx/>
                <a:buFontTx/>
                <a:buNone/>
              </a:pPr>
              <a:r>
                <a:rPr lang="en-US" altLang="en-US" sz="2400" dirty="0">
                  <a:solidFill>
                    <a:srgbClr val="000099"/>
                  </a:solidFill>
                  <a:latin typeface="+mn-lt"/>
                </a:rPr>
                <a:t>TCP provides reliable, in-order</a:t>
              </a:r>
              <a:endParaRPr lang="en-US" altLang="en-US" sz="2400" dirty="0">
                <a:solidFill>
                  <a:srgbClr val="000099"/>
                </a:solidFill>
                <a:latin typeface="+mn-lt"/>
              </a:endParaRPr>
            </a:p>
            <a:p>
              <a:pPr>
                <a:lnSpc>
                  <a:spcPct val="85000"/>
                </a:lnSpc>
                <a:spcBef>
                  <a:spcPct val="0"/>
                </a:spcBef>
                <a:buClrTx/>
                <a:buSzTx/>
                <a:buFontTx/>
                <a:buNone/>
              </a:pPr>
              <a:r>
                <a:rPr lang="en-US" altLang="en-US" sz="2400" dirty="0">
                  <a:solidFill>
                    <a:srgbClr val="000099"/>
                  </a:solidFill>
                  <a:latin typeface="+mn-lt"/>
                </a:rPr>
                <a:t>byte-stream transfer (“</a:t>
              </a:r>
              <a:r>
                <a:rPr lang="en-US" altLang="ja-JP" sz="2400" dirty="0">
                  <a:solidFill>
                    <a:srgbClr val="000099"/>
                  </a:solidFill>
                  <a:latin typeface="+mn-lt"/>
                </a:rPr>
                <a:t>pipe”) </a:t>
              </a:r>
              <a:endParaRPr lang="en-US" altLang="ja-JP" sz="2400" dirty="0">
                <a:solidFill>
                  <a:srgbClr val="000099"/>
                </a:solidFill>
                <a:latin typeface="+mn-lt"/>
              </a:endParaRPr>
            </a:p>
            <a:p>
              <a:pPr>
                <a:lnSpc>
                  <a:spcPct val="85000"/>
                </a:lnSpc>
                <a:spcBef>
                  <a:spcPct val="0"/>
                </a:spcBef>
                <a:buClrTx/>
                <a:buSzTx/>
                <a:buFontTx/>
                <a:buNone/>
              </a:pPr>
              <a:r>
                <a:rPr lang="en-US" altLang="en-US" sz="2400" dirty="0">
                  <a:solidFill>
                    <a:srgbClr val="000099"/>
                  </a:solidFill>
                  <a:latin typeface="+mn-lt"/>
                </a:rPr>
                <a:t>between client and server</a:t>
              </a:r>
              <a:endParaRPr lang="en-US" altLang="en-US" sz="2400" dirty="0">
                <a:solidFill>
                  <a:srgbClr val="000099"/>
                </a:solidFill>
                <a:latin typeface="+mn-lt"/>
              </a:endParaRPr>
            </a:p>
          </p:txBody>
        </p:sp>
        <p:grpSp>
          <p:nvGrpSpPr>
            <p:cNvPr id="46" name="Group 8"/>
            <p:cNvGrpSpPr/>
            <p:nvPr/>
          </p:nvGrpSpPr>
          <p:grpSpPr bwMode="auto">
            <a:xfrm>
              <a:off x="6141246" y="4608645"/>
              <a:ext cx="3452811" cy="550863"/>
              <a:chOff x="-195" y="3766"/>
              <a:chExt cx="2175" cy="347"/>
            </a:xfrm>
          </p:grpSpPr>
          <p:sp>
            <p:nvSpPr>
              <p:cNvPr id="47" name="Rectangle 9"/>
              <p:cNvSpPr>
                <a:spLocks noChangeArrowheads="1"/>
              </p:cNvSpPr>
              <p:nvPr/>
            </p:nvSpPr>
            <p:spPr bwMode="auto">
              <a:xfrm>
                <a:off x="96" y="3825"/>
                <a:ext cx="116" cy="2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buClr>
                    <a:srgbClr val="3333CC"/>
                  </a:buClr>
                </a:pPr>
                <a:endParaRPr lang="en-US" altLang="en-US" sz="2400">
                  <a:solidFill>
                    <a:srgbClr val="000000"/>
                  </a:solidFill>
                  <a:latin typeface="Comic Sans MS" panose="030F0702030302020204" pitchFamily="66" charset="0"/>
                </a:endParaRPr>
              </a:p>
            </p:txBody>
          </p:sp>
          <p:sp>
            <p:nvSpPr>
              <p:cNvPr id="48" name="Text Box 10"/>
              <p:cNvSpPr txBox="1">
                <a:spLocks noChangeArrowheads="1"/>
              </p:cNvSpPr>
              <p:nvPr/>
            </p:nvSpPr>
            <p:spPr bwMode="auto">
              <a:xfrm>
                <a:off x="-195" y="3766"/>
                <a:ext cx="2175" cy="33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spcBef>
                    <a:spcPct val="0"/>
                  </a:spcBef>
                  <a:buClrTx/>
                  <a:buSzTx/>
                  <a:buFontTx/>
                  <a:buNone/>
                </a:pPr>
                <a:r>
                  <a:rPr lang="en-US" altLang="en-US" sz="2800" dirty="0">
                    <a:solidFill>
                      <a:srgbClr val="CC0000"/>
                    </a:solidFill>
                    <a:latin typeface="+mn-lt"/>
                  </a:rPr>
                  <a:t>Application viewpoint</a:t>
                </a:r>
                <a:endParaRPr lang="en-US" altLang="en-US" sz="2800" dirty="0">
                  <a:solidFill>
                    <a:srgbClr val="CC0000"/>
                  </a:solidFill>
                  <a:latin typeface="+mn-lt"/>
                </a:endParaRPr>
              </a:p>
            </p:txBody>
          </p:sp>
        </p:grpSp>
      </p:grpSp>
      <p:sp>
        <p:nvSpPr>
          <p:cNvPr id="12"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dissolve">
                                      <p:cBhvr>
                                        <p:cTn id="7" dur="5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r>
              <a:rPr lang="en-US" altLang="en-US" sz="4400" dirty="0">
                <a:ea typeface="MS PGothic" panose="020B0600070205080204" pitchFamily="34" charset="-128"/>
              </a:rPr>
              <a:t>Client/server socket interaction: TCP</a:t>
            </a:r>
            <a:endParaRPr lang="en-US" altLang="en-US" sz="4400" dirty="0">
              <a:ea typeface="MS PGothic" panose="020B0600070205080204" pitchFamily="34" charset="-128"/>
            </a:endParaRPr>
          </a:p>
        </p:txBody>
      </p:sp>
      <p:sp>
        <p:nvSpPr>
          <p:cNvPr id="60" name="Text Box 22"/>
          <p:cNvSpPr txBox="1">
            <a:spLocks noChangeArrowheads="1"/>
          </p:cNvSpPr>
          <p:nvPr/>
        </p:nvSpPr>
        <p:spPr bwMode="auto">
          <a:xfrm>
            <a:off x="2435141" y="1421154"/>
            <a:ext cx="31073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50000"/>
              </a:spcBef>
              <a:spcAft>
                <a:spcPct val="0"/>
              </a:spcAft>
            </a:pPr>
            <a:r>
              <a:rPr lang="en-US" altLang="en-US" sz="3200" dirty="0">
                <a:solidFill>
                  <a:srgbClr val="000000"/>
                </a:solidFill>
                <a:latin typeface="+mn-lt"/>
              </a:rPr>
              <a:t>server</a:t>
            </a:r>
            <a:r>
              <a:rPr lang="en-US" altLang="en-US" sz="2800" dirty="0">
                <a:solidFill>
                  <a:srgbClr val="000000"/>
                </a:solidFill>
                <a:latin typeface="+mn-lt"/>
              </a:rPr>
              <a:t> </a:t>
            </a:r>
            <a:r>
              <a:rPr lang="en-US" altLang="en-US" sz="1800" dirty="0">
                <a:solidFill>
                  <a:srgbClr val="000000"/>
                </a:solidFill>
                <a:latin typeface="+mn-lt"/>
              </a:rPr>
              <a:t>(running on </a:t>
            </a:r>
            <a:r>
              <a:rPr lang="en-US" altLang="en-US" sz="1800" dirty="0" err="1">
                <a:solidFill>
                  <a:srgbClr val="000000"/>
                </a:solidFill>
                <a:latin typeface="+mn-lt"/>
              </a:rPr>
              <a:t>hostid</a:t>
            </a:r>
            <a:r>
              <a:rPr lang="en-US" altLang="en-US" sz="1800" dirty="0">
                <a:solidFill>
                  <a:srgbClr val="000000"/>
                </a:solidFill>
                <a:latin typeface="+mn-lt"/>
              </a:rPr>
              <a:t>)</a:t>
            </a:r>
            <a:endParaRPr lang="en-US" altLang="en-US" sz="1800" dirty="0">
              <a:solidFill>
                <a:srgbClr val="000000"/>
              </a:solidFill>
              <a:latin typeface="+mn-lt"/>
            </a:endParaRPr>
          </a:p>
        </p:txBody>
      </p:sp>
      <p:sp>
        <p:nvSpPr>
          <p:cNvPr id="61" name="Text Box 23"/>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50000"/>
              </a:spcBef>
              <a:spcAft>
                <a:spcPct val="0"/>
              </a:spcAft>
            </a:pPr>
            <a:r>
              <a:rPr lang="en-US" altLang="en-US" sz="3200" dirty="0">
                <a:solidFill>
                  <a:srgbClr val="000000"/>
                </a:solidFill>
                <a:latin typeface="+mn-lt"/>
              </a:rPr>
              <a:t>client</a:t>
            </a:r>
            <a:endParaRPr lang="en-US" altLang="en-US" sz="3200" dirty="0">
              <a:solidFill>
                <a:srgbClr val="000000"/>
              </a:solidFill>
              <a:latin typeface="+mn-lt"/>
            </a:endParaRPr>
          </a:p>
        </p:txBody>
      </p:sp>
      <p:grpSp>
        <p:nvGrpSpPr>
          <p:cNvPr id="64" name="Group 34"/>
          <p:cNvGrpSpPr/>
          <p:nvPr/>
        </p:nvGrpSpPr>
        <p:grpSpPr bwMode="auto">
          <a:xfrm>
            <a:off x="1947735" y="1365879"/>
            <a:ext cx="422275" cy="685800"/>
            <a:chOff x="4140" y="429"/>
            <a:chExt cx="1425" cy="2396"/>
          </a:xfrm>
        </p:grpSpPr>
        <p:sp>
          <p:nvSpPr>
            <p:cNvPr id="65" name="Freeform 35"/>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6" name="Rectangle 36"/>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67" name="Freeform 37"/>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8" name="Freeform 38"/>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69" name="Rectangle 39"/>
            <p:cNvSpPr>
              <a:spLocks noChangeArrowheads="1"/>
            </p:cNvSpPr>
            <p:nvPr/>
          </p:nvSpPr>
          <p:spPr bwMode="auto">
            <a:xfrm>
              <a:off x="4210" y="695"/>
              <a:ext cx="600" cy="44"/>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70" name="Group 40"/>
            <p:cNvGrpSpPr/>
            <p:nvPr/>
          </p:nvGrpSpPr>
          <p:grpSpPr bwMode="auto">
            <a:xfrm>
              <a:off x="4749" y="668"/>
              <a:ext cx="581" cy="145"/>
              <a:chOff x="614" y="2568"/>
              <a:chExt cx="725" cy="139"/>
            </a:xfrm>
          </p:grpSpPr>
          <p:sp>
            <p:nvSpPr>
              <p:cNvPr id="95" name="AutoShape 41"/>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96" name="AutoShape 42"/>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71" name="Rectangle 43"/>
            <p:cNvSpPr>
              <a:spLocks noChangeArrowheads="1"/>
            </p:cNvSpPr>
            <p:nvPr/>
          </p:nvSpPr>
          <p:spPr bwMode="auto">
            <a:xfrm>
              <a:off x="4226" y="1017"/>
              <a:ext cx="595"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72" name="Group 44"/>
            <p:cNvGrpSpPr/>
            <p:nvPr/>
          </p:nvGrpSpPr>
          <p:grpSpPr bwMode="auto">
            <a:xfrm>
              <a:off x="4747" y="994"/>
              <a:ext cx="581" cy="134"/>
              <a:chOff x="614" y="2568"/>
              <a:chExt cx="725" cy="139"/>
            </a:xfrm>
          </p:grpSpPr>
          <p:sp>
            <p:nvSpPr>
              <p:cNvPr id="93" name="AutoShape 45"/>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94" name="AutoShape 46"/>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73" name="Rectangle 47"/>
            <p:cNvSpPr>
              <a:spLocks noChangeArrowheads="1"/>
            </p:cNvSpPr>
            <p:nvPr/>
          </p:nvSpPr>
          <p:spPr bwMode="auto">
            <a:xfrm>
              <a:off x="4215" y="1355"/>
              <a:ext cx="600"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74" name="Rectangle 48"/>
            <p:cNvSpPr>
              <a:spLocks noChangeArrowheads="1"/>
            </p:cNvSpPr>
            <p:nvPr/>
          </p:nvSpPr>
          <p:spPr bwMode="auto">
            <a:xfrm>
              <a:off x="4226" y="1655"/>
              <a:ext cx="600" cy="50"/>
            </a:xfrm>
            <a:prstGeom prst="rect">
              <a:avLst/>
            </a:prstGeom>
            <a:solidFill>
              <a:schemeClr val="tx1"/>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nvGrpSpPr>
            <p:cNvPr id="75" name="Group 49"/>
            <p:cNvGrpSpPr/>
            <p:nvPr/>
          </p:nvGrpSpPr>
          <p:grpSpPr bwMode="auto">
            <a:xfrm>
              <a:off x="4735" y="1627"/>
              <a:ext cx="582" cy="151"/>
              <a:chOff x="614" y="2568"/>
              <a:chExt cx="725" cy="139"/>
            </a:xfrm>
          </p:grpSpPr>
          <p:sp>
            <p:nvSpPr>
              <p:cNvPr id="91" name="AutoShape 50"/>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92" name="AutoShape 51"/>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76" name="Freeform 52"/>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grpSp>
          <p:nvGrpSpPr>
            <p:cNvPr id="77" name="Group 53"/>
            <p:cNvGrpSpPr/>
            <p:nvPr/>
          </p:nvGrpSpPr>
          <p:grpSpPr bwMode="auto">
            <a:xfrm>
              <a:off x="4739" y="1327"/>
              <a:ext cx="582" cy="139"/>
              <a:chOff x="614" y="2568"/>
              <a:chExt cx="725" cy="139"/>
            </a:xfrm>
          </p:grpSpPr>
          <p:sp>
            <p:nvSpPr>
              <p:cNvPr id="89" name="AutoShape 54"/>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90" name="AutoShape 55"/>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sp>
          <p:nvSpPr>
            <p:cNvPr id="78" name="Rectangle 56"/>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79" name="Freeform 57"/>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0" name="Freeform 58"/>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1" name="Oval 59"/>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82" name="Freeform 60"/>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a:p>
          </p:txBody>
        </p:sp>
        <p:sp>
          <p:nvSpPr>
            <p:cNvPr id="83" name="AutoShape 61"/>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84" name="AutoShape 62"/>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85" name="Oval 63"/>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86" name="Oval 64"/>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eaLnBrk="1" hangingPunct="1">
                <a:spcBef>
                  <a:spcPct val="0"/>
                </a:spcBef>
                <a:buClrTx/>
                <a:buSzTx/>
                <a:buFontTx/>
                <a:buNone/>
              </a:pPr>
              <a:endParaRPr lang="en-US" altLang="en-US" sz="1800">
                <a:solidFill>
                  <a:srgbClr val="FF0000"/>
                </a:solidFill>
                <a:latin typeface="+mn-lt"/>
                <a:cs typeface="Arial" panose="020B0604020202020204" pitchFamily="34" charset="0"/>
              </a:endParaRPr>
            </a:p>
          </p:txBody>
        </p:sp>
        <p:sp>
          <p:nvSpPr>
            <p:cNvPr id="87" name="Oval 65"/>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sp>
          <p:nvSpPr>
            <p:cNvPr id="88" name="Rectangle 66"/>
            <p:cNvSpPr>
              <a:spLocks noChangeArrowheads="1"/>
            </p:cNvSpPr>
            <p:nvPr/>
          </p:nvSpPr>
          <p:spPr bwMode="auto">
            <a:xfrm>
              <a:off x="5061" y="1838"/>
              <a:ext cx="86" cy="760"/>
            </a:xfrm>
            <a:prstGeom prst="rect">
              <a:avLst/>
            </a:prstGeom>
            <a:solidFill>
              <a:srgbClr val="292929"/>
            </a:solidFill>
            <a:ln w="9525">
              <a:solidFill>
                <a:schemeClr val="tx1"/>
              </a:solidFill>
              <a:miter lim="800000"/>
            </a:ln>
          </p:spPr>
          <p:txBody>
            <a:bodyPr wrap="none" anchor="ct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a:latin typeface="+mn-lt"/>
              </a:endParaRPr>
            </a:p>
          </p:txBody>
        </p:sp>
      </p:grpSp>
      <p:grpSp>
        <p:nvGrpSpPr>
          <p:cNvPr id="97" name="Group 67"/>
          <p:cNvGrpSpPr/>
          <p:nvPr/>
        </p:nvGrpSpPr>
        <p:grpSpPr bwMode="auto">
          <a:xfrm>
            <a:off x="7841666" y="1346443"/>
            <a:ext cx="742950" cy="742950"/>
            <a:chOff x="-44" y="1473"/>
            <a:chExt cx="981" cy="1105"/>
          </a:xfrm>
        </p:grpSpPr>
        <p:pic>
          <p:nvPicPr>
            <p:cNvPr id="98" name="Picture 68" descr="desktop_computer_stylized_medium"/>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a:solidFill>
                    <a:srgbClr val="000000"/>
                  </a:solidFill>
                  <a:prstDash val="solid"/>
                  <a:round/>
                </a14:hiddenLine>
              </a:ext>
            </a:extLst>
          </p:spPr>
          <p:txBody>
            <a:bodyPr wrap="none"/>
            <a:lstStyle/>
            <a:p>
              <a:endParaRPr lang="en-US"/>
            </a:p>
          </p:txBody>
        </p:sp>
      </p:grpSp>
      <p:grpSp>
        <p:nvGrpSpPr>
          <p:cNvPr id="100" name="Group 3"/>
          <p:cNvGrpSpPr/>
          <p:nvPr/>
        </p:nvGrpSpPr>
        <p:grpSpPr bwMode="auto">
          <a:xfrm>
            <a:off x="3761300" y="3384960"/>
            <a:ext cx="1931987" cy="930275"/>
            <a:chOff x="827" y="2027"/>
            <a:chExt cx="1217" cy="586"/>
          </a:xfrm>
        </p:grpSpPr>
        <p:sp>
          <p:nvSpPr>
            <p:cNvPr id="101" name="Text Box 4"/>
            <p:cNvSpPr txBox="1">
              <a:spLocks noChangeArrowheads="1"/>
            </p:cNvSpPr>
            <p:nvPr/>
          </p:nvSpPr>
          <p:spPr bwMode="auto">
            <a:xfrm>
              <a:off x="827" y="2027"/>
              <a:ext cx="105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400">
                  <a:solidFill>
                    <a:srgbClr val="000000"/>
                  </a:solidFill>
                </a:rPr>
                <a:t>wait for incoming</a:t>
              </a:r>
              <a:endParaRPr lang="en-US" altLang="en-US" sz="1400">
                <a:solidFill>
                  <a:srgbClr val="000000"/>
                </a:solidFill>
              </a:endParaRPr>
            </a:p>
            <a:p>
              <a:pPr>
                <a:spcBef>
                  <a:spcPct val="0"/>
                </a:spcBef>
                <a:buClrTx/>
                <a:buSzTx/>
                <a:buFontTx/>
                <a:buNone/>
              </a:pPr>
              <a:r>
                <a:rPr lang="en-US" altLang="en-US" sz="1400">
                  <a:solidFill>
                    <a:srgbClr val="000000"/>
                  </a:solidFill>
                </a:rPr>
                <a:t>connection request</a:t>
              </a:r>
              <a:endParaRPr lang="en-US" altLang="en-US" sz="2400">
                <a:solidFill>
                  <a:srgbClr val="000000"/>
                </a:solidFill>
                <a:latin typeface="Times New Roman" panose="02020603050405020304" pitchFamily="18" charset="0"/>
              </a:endParaRPr>
            </a:p>
          </p:txBody>
        </p:sp>
        <p:sp>
          <p:nvSpPr>
            <p:cNvPr id="102" name="Text Box 5"/>
            <p:cNvSpPr txBox="1">
              <a:spLocks noChangeArrowheads="1"/>
            </p:cNvSpPr>
            <p:nvPr/>
          </p:nvSpPr>
          <p:spPr bwMode="auto">
            <a:xfrm>
              <a:off x="828" y="2283"/>
              <a:ext cx="1216"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400">
                  <a:solidFill>
                    <a:srgbClr val="CC0000"/>
                  </a:solidFill>
                </a:rPr>
                <a:t>connectionSocket =</a:t>
              </a:r>
              <a:endParaRPr lang="en-US" altLang="en-US" sz="1400">
                <a:solidFill>
                  <a:srgbClr val="CC0000"/>
                </a:solidFill>
              </a:endParaRPr>
            </a:p>
            <a:p>
              <a:pPr>
                <a:spcBef>
                  <a:spcPct val="0"/>
                </a:spcBef>
                <a:buClrTx/>
                <a:buSzTx/>
                <a:buFontTx/>
                <a:buNone/>
              </a:pPr>
              <a:r>
                <a:rPr lang="en-US" altLang="en-US" sz="1400">
                  <a:solidFill>
                    <a:srgbClr val="CC0000"/>
                  </a:solidFill>
                </a:rPr>
                <a:t>serverSocket.accept()</a:t>
              </a:r>
              <a:endParaRPr lang="en-US" altLang="en-US" sz="2400">
                <a:solidFill>
                  <a:srgbClr val="CC0000"/>
                </a:solidFill>
                <a:latin typeface="Times New Roman" panose="02020603050405020304" pitchFamily="18" charset="0"/>
              </a:endParaRPr>
            </a:p>
          </p:txBody>
        </p:sp>
      </p:grpSp>
      <p:grpSp>
        <p:nvGrpSpPr>
          <p:cNvPr id="103" name="Group 6"/>
          <p:cNvGrpSpPr/>
          <p:nvPr/>
        </p:nvGrpSpPr>
        <p:grpSpPr bwMode="auto">
          <a:xfrm>
            <a:off x="3742250" y="2145123"/>
            <a:ext cx="2357437" cy="1317625"/>
            <a:chOff x="821" y="1246"/>
            <a:chExt cx="1485" cy="830"/>
          </a:xfrm>
        </p:grpSpPr>
        <p:grpSp>
          <p:nvGrpSpPr>
            <p:cNvPr id="104" name="Group 7"/>
            <p:cNvGrpSpPr/>
            <p:nvPr/>
          </p:nvGrpSpPr>
          <p:grpSpPr bwMode="auto">
            <a:xfrm>
              <a:off x="821" y="1246"/>
              <a:ext cx="1485" cy="586"/>
              <a:chOff x="329" y="1270"/>
              <a:chExt cx="1485" cy="586"/>
            </a:xfrm>
          </p:grpSpPr>
          <p:sp>
            <p:nvSpPr>
              <p:cNvPr id="106" name="Text Box 8"/>
              <p:cNvSpPr txBox="1">
                <a:spLocks noChangeArrowheads="1"/>
              </p:cNvSpPr>
              <p:nvPr/>
            </p:nvSpPr>
            <p:spPr bwMode="auto">
              <a:xfrm>
                <a:off x="329" y="1270"/>
                <a:ext cx="1213"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400">
                    <a:solidFill>
                      <a:srgbClr val="000000"/>
                    </a:solidFill>
                  </a:rPr>
                  <a:t>create socket,</a:t>
                </a:r>
                <a:endParaRPr lang="en-US" altLang="en-US" sz="1400">
                  <a:solidFill>
                    <a:srgbClr val="000000"/>
                  </a:solidFill>
                </a:endParaRPr>
              </a:p>
              <a:p>
                <a:pPr>
                  <a:spcBef>
                    <a:spcPct val="0"/>
                  </a:spcBef>
                  <a:buClrTx/>
                  <a:buSzTx/>
                  <a:buFontTx/>
                  <a:buNone/>
                </a:pPr>
                <a:r>
                  <a:rPr lang="en-US" altLang="en-US" sz="1400">
                    <a:solidFill>
                      <a:srgbClr val="000000"/>
                    </a:solidFill>
                  </a:rPr>
                  <a:t>port=</a:t>
                </a:r>
                <a:r>
                  <a:rPr lang="en-US" altLang="en-US" sz="1400" b="1">
                    <a:solidFill>
                      <a:srgbClr val="000000"/>
                    </a:solidFill>
                    <a:latin typeface="Courier New" panose="02070309020205020404" pitchFamily="49" charset="0"/>
                  </a:rPr>
                  <a:t>x</a:t>
                </a:r>
                <a:r>
                  <a:rPr lang="en-US" altLang="en-US" sz="1400">
                    <a:solidFill>
                      <a:srgbClr val="000000"/>
                    </a:solidFill>
                  </a:rPr>
                  <a:t>, for incoming request:</a:t>
                </a:r>
                <a:endParaRPr lang="en-US" altLang="en-US" sz="2400">
                  <a:solidFill>
                    <a:srgbClr val="000000"/>
                  </a:solidFill>
                  <a:latin typeface="Times New Roman" panose="02020603050405020304" pitchFamily="18" charset="0"/>
                </a:endParaRPr>
              </a:p>
            </p:txBody>
          </p:sp>
          <p:sp>
            <p:nvSpPr>
              <p:cNvPr id="107" name="Text Box 9"/>
              <p:cNvSpPr txBox="1">
                <a:spLocks noChangeArrowheads="1"/>
              </p:cNvSpPr>
              <p:nvPr/>
            </p:nvSpPr>
            <p:spPr bwMode="auto">
              <a:xfrm>
                <a:off x="333" y="1662"/>
                <a:ext cx="1481"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400">
                    <a:solidFill>
                      <a:srgbClr val="CC0000"/>
                    </a:solidFill>
                  </a:rPr>
                  <a:t>serverSocket = socket()</a:t>
                </a:r>
                <a:endParaRPr lang="en-US" altLang="en-US" sz="2400">
                  <a:solidFill>
                    <a:srgbClr val="CC0000"/>
                  </a:solidFill>
                  <a:latin typeface="Times New Roman" panose="02020603050405020304" pitchFamily="18" charset="0"/>
                </a:endParaRPr>
              </a:p>
            </p:txBody>
          </p:sp>
        </p:grpSp>
        <p:sp>
          <p:nvSpPr>
            <p:cNvPr id="105" name="Line 10"/>
            <p:cNvSpPr>
              <a:spLocks noChangeShapeType="1"/>
            </p:cNvSpPr>
            <p:nvPr/>
          </p:nvSpPr>
          <p:spPr bwMode="auto">
            <a:xfrm>
              <a:off x="1284" y="1872"/>
              <a:ext cx="0" cy="204"/>
            </a:xfrm>
            <a:prstGeom prst="line">
              <a:avLst/>
            </a:prstGeom>
            <a:noFill/>
            <a:ln w="28575">
              <a:solidFill>
                <a:srgbClr val="000099"/>
              </a:solidFill>
              <a:round/>
              <a:tailEnd type="triangle" w="med" len="med"/>
            </a:ln>
            <a:extLst>
              <a:ext uri="{909E8E84-426E-40DD-AFC4-6F175D3DCCD1}">
                <a14:hiddenFill xmlns:a14="http://schemas.microsoft.com/office/drawing/2010/main">
                  <a:noFill/>
                </a14:hiddenFill>
              </a:ext>
            </a:extLst>
          </p:spPr>
          <p:txBody>
            <a:bodyPr anchor="ctr">
              <a:spAutoFit/>
            </a:bodyPr>
            <a:lstStyle/>
            <a:p>
              <a:endParaRPr lang="en-US"/>
            </a:p>
          </p:txBody>
        </p:sp>
      </p:grpSp>
      <p:grpSp>
        <p:nvGrpSpPr>
          <p:cNvPr id="108" name="Group 11"/>
          <p:cNvGrpSpPr/>
          <p:nvPr/>
        </p:nvGrpSpPr>
        <p:grpSpPr bwMode="auto">
          <a:xfrm>
            <a:off x="7539550" y="3389723"/>
            <a:ext cx="2357437" cy="731837"/>
            <a:chOff x="3333" y="1202"/>
            <a:chExt cx="1485" cy="461"/>
          </a:xfrm>
        </p:grpSpPr>
        <p:sp>
          <p:nvSpPr>
            <p:cNvPr id="109" name="Text Box 12"/>
            <p:cNvSpPr txBox="1">
              <a:spLocks noChangeArrowheads="1"/>
            </p:cNvSpPr>
            <p:nvPr/>
          </p:nvSpPr>
          <p:spPr bwMode="auto">
            <a:xfrm>
              <a:off x="3335" y="1202"/>
              <a:ext cx="146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400">
                  <a:solidFill>
                    <a:srgbClr val="000000"/>
                  </a:solidFill>
                </a:rPr>
                <a:t>create socket,</a:t>
              </a:r>
              <a:endParaRPr lang="en-US" altLang="en-US" sz="1400">
                <a:solidFill>
                  <a:srgbClr val="000000"/>
                </a:solidFill>
              </a:endParaRPr>
            </a:p>
            <a:p>
              <a:pPr>
                <a:spcBef>
                  <a:spcPct val="0"/>
                </a:spcBef>
                <a:buClrTx/>
                <a:buSzTx/>
                <a:buFontTx/>
                <a:buNone/>
              </a:pPr>
              <a:r>
                <a:rPr lang="en-US" altLang="en-US" sz="1400">
                  <a:solidFill>
                    <a:srgbClr val="000000"/>
                  </a:solidFill>
                </a:rPr>
                <a:t>connect to </a:t>
              </a:r>
              <a:r>
                <a:rPr lang="en-US" altLang="en-US" sz="1400" b="1">
                  <a:solidFill>
                    <a:srgbClr val="000000"/>
                  </a:solidFill>
                  <a:latin typeface="Courier New" panose="02070309020205020404" pitchFamily="49" charset="0"/>
                </a:rPr>
                <a:t>hostid</a:t>
              </a:r>
              <a:r>
                <a:rPr lang="en-US" altLang="en-US" sz="1400">
                  <a:solidFill>
                    <a:srgbClr val="000000"/>
                  </a:solidFill>
                </a:rPr>
                <a:t>, port=</a:t>
              </a:r>
              <a:r>
                <a:rPr lang="en-US" altLang="en-US" sz="1400" b="1">
                  <a:solidFill>
                    <a:srgbClr val="000000"/>
                  </a:solidFill>
                  <a:latin typeface="Courier New" panose="02070309020205020404" pitchFamily="49" charset="0"/>
                </a:rPr>
                <a:t>x</a:t>
              </a:r>
              <a:endParaRPr lang="en-US" altLang="en-US" sz="2400">
                <a:solidFill>
                  <a:srgbClr val="000000"/>
                </a:solidFill>
                <a:latin typeface="Times New Roman" panose="02020603050405020304" pitchFamily="18" charset="0"/>
              </a:endParaRPr>
            </a:p>
          </p:txBody>
        </p:sp>
        <p:sp>
          <p:nvSpPr>
            <p:cNvPr id="110" name="Text Box 13"/>
            <p:cNvSpPr txBox="1">
              <a:spLocks noChangeArrowheads="1"/>
            </p:cNvSpPr>
            <p:nvPr/>
          </p:nvSpPr>
          <p:spPr bwMode="auto">
            <a:xfrm>
              <a:off x="3333" y="1469"/>
              <a:ext cx="148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400">
                  <a:solidFill>
                    <a:srgbClr val="CC0000"/>
                  </a:solidFill>
                </a:rPr>
                <a:t>clientSocket = socket()</a:t>
              </a:r>
              <a:endParaRPr lang="en-US" altLang="en-US" sz="2400">
                <a:solidFill>
                  <a:srgbClr val="CC0000"/>
                </a:solidFill>
                <a:latin typeface="Times New Roman" panose="02020603050405020304" pitchFamily="18" charset="0"/>
              </a:endParaRPr>
            </a:p>
          </p:txBody>
        </p:sp>
      </p:grpSp>
      <p:grpSp>
        <p:nvGrpSpPr>
          <p:cNvPr id="111" name="Group 24"/>
          <p:cNvGrpSpPr/>
          <p:nvPr/>
        </p:nvGrpSpPr>
        <p:grpSpPr bwMode="auto">
          <a:xfrm>
            <a:off x="5382137" y="4177123"/>
            <a:ext cx="4062413" cy="1371600"/>
            <a:chOff x="1848" y="2526"/>
            <a:chExt cx="2559" cy="864"/>
          </a:xfrm>
        </p:grpSpPr>
        <p:sp>
          <p:nvSpPr>
            <p:cNvPr id="112" name="Line 25"/>
            <p:cNvSpPr>
              <a:spLocks noChangeShapeType="1"/>
            </p:cNvSpPr>
            <p:nvPr/>
          </p:nvSpPr>
          <p:spPr bwMode="auto">
            <a:xfrm flipH="1">
              <a:off x="3792" y="2964"/>
              <a:ext cx="6" cy="426"/>
            </a:xfrm>
            <a:prstGeom prst="line">
              <a:avLst/>
            </a:prstGeom>
            <a:noFill/>
            <a:ln w="28575">
              <a:solidFill>
                <a:srgbClr val="000099"/>
              </a:solidFill>
              <a:round/>
              <a:tailEnd type="triangle" w="med" len="med"/>
            </a:ln>
            <a:extLst>
              <a:ext uri="{909E8E84-426E-40DD-AFC4-6F175D3DCCD1}">
                <a14:hiddenFill xmlns:a14="http://schemas.microsoft.com/office/drawing/2010/main">
                  <a:noFill/>
                </a14:hiddenFill>
              </a:ext>
            </a:extLst>
          </p:spPr>
          <p:txBody>
            <a:bodyPr anchor="ctr">
              <a:spAutoFit/>
            </a:bodyPr>
            <a:lstStyle/>
            <a:p>
              <a:endParaRPr lang="en-US"/>
            </a:p>
          </p:txBody>
        </p:sp>
        <p:grpSp>
          <p:nvGrpSpPr>
            <p:cNvPr id="113" name="Group 26"/>
            <p:cNvGrpSpPr/>
            <p:nvPr/>
          </p:nvGrpSpPr>
          <p:grpSpPr bwMode="auto">
            <a:xfrm>
              <a:off x="1848" y="2526"/>
              <a:ext cx="2559" cy="516"/>
              <a:chOff x="1848" y="2526"/>
              <a:chExt cx="2559" cy="516"/>
            </a:xfrm>
          </p:grpSpPr>
          <p:sp>
            <p:nvSpPr>
              <p:cNvPr id="114" name="Text Box 27"/>
              <p:cNvSpPr txBox="1">
                <a:spLocks noChangeArrowheads="1"/>
              </p:cNvSpPr>
              <p:nvPr/>
            </p:nvSpPr>
            <p:spPr bwMode="auto">
              <a:xfrm>
                <a:off x="3335" y="2673"/>
                <a:ext cx="107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400">
                    <a:solidFill>
                      <a:srgbClr val="000000"/>
                    </a:solidFill>
                  </a:rPr>
                  <a:t>send request using</a:t>
                </a:r>
                <a:endParaRPr lang="en-US" altLang="en-US" sz="1400">
                  <a:solidFill>
                    <a:srgbClr val="000000"/>
                  </a:solidFill>
                </a:endParaRPr>
              </a:p>
              <a:p>
                <a:pPr>
                  <a:spcBef>
                    <a:spcPct val="0"/>
                  </a:spcBef>
                  <a:buClrTx/>
                  <a:buSzTx/>
                  <a:buFontTx/>
                  <a:buNone/>
                </a:pPr>
                <a:r>
                  <a:rPr lang="en-US" altLang="en-US" sz="1400">
                    <a:solidFill>
                      <a:srgbClr val="CC0000"/>
                    </a:solidFill>
                  </a:rPr>
                  <a:t>clientSocket</a:t>
                </a:r>
                <a:endParaRPr lang="en-US" altLang="en-US" sz="2400">
                  <a:solidFill>
                    <a:srgbClr val="CC0000"/>
                  </a:solidFill>
                  <a:latin typeface="Times New Roman" panose="02020603050405020304" pitchFamily="18" charset="0"/>
                </a:endParaRPr>
              </a:p>
            </p:txBody>
          </p:sp>
          <p:sp>
            <p:nvSpPr>
              <p:cNvPr id="115" name="Line 28"/>
              <p:cNvSpPr>
                <a:spLocks noChangeShapeType="1"/>
              </p:cNvSpPr>
              <p:nvPr/>
            </p:nvSpPr>
            <p:spPr bwMode="auto">
              <a:xfrm>
                <a:off x="3792" y="2526"/>
                <a:ext cx="0" cy="204"/>
              </a:xfrm>
              <a:prstGeom prst="line">
                <a:avLst/>
              </a:prstGeom>
              <a:noFill/>
              <a:ln w="28575">
                <a:solidFill>
                  <a:srgbClr val="000099"/>
                </a:solidFill>
                <a:round/>
                <a:tailEnd type="triangle" w="med" len="med"/>
              </a:ln>
              <a:extLst>
                <a:ext uri="{909E8E84-426E-40DD-AFC4-6F175D3DCCD1}">
                  <a14:hiddenFill xmlns:a14="http://schemas.microsoft.com/office/drawing/2010/main">
                    <a:noFill/>
                  </a14:hiddenFill>
                </a:ext>
              </a:extLst>
            </p:spPr>
            <p:txBody>
              <a:bodyPr anchor="ctr">
                <a:spAutoFit/>
              </a:bodyPr>
              <a:lstStyle/>
              <a:p>
                <a:endParaRPr lang="en-US"/>
              </a:p>
            </p:txBody>
          </p:sp>
          <p:sp>
            <p:nvSpPr>
              <p:cNvPr id="116" name="Line 29"/>
              <p:cNvSpPr>
                <a:spLocks noChangeShapeType="1"/>
              </p:cNvSpPr>
              <p:nvPr/>
            </p:nvSpPr>
            <p:spPr bwMode="auto">
              <a:xfrm flipH="1">
                <a:off x="1848" y="2790"/>
                <a:ext cx="1518" cy="252"/>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wrap="none" anchor="ctr">
                <a:spAutoFit/>
              </a:bodyPr>
              <a:lstStyle/>
              <a:p>
                <a:endParaRPr lang="en-US"/>
              </a:p>
            </p:txBody>
          </p:sp>
        </p:grpSp>
      </p:grpSp>
      <p:grpSp>
        <p:nvGrpSpPr>
          <p:cNvPr id="117" name="Group 30"/>
          <p:cNvGrpSpPr/>
          <p:nvPr/>
        </p:nvGrpSpPr>
        <p:grpSpPr bwMode="auto">
          <a:xfrm>
            <a:off x="3751775" y="4272373"/>
            <a:ext cx="4097337" cy="1490662"/>
            <a:chOff x="821" y="2586"/>
            <a:chExt cx="2581" cy="939"/>
          </a:xfrm>
        </p:grpSpPr>
        <p:sp>
          <p:nvSpPr>
            <p:cNvPr id="118" name="Text Box 31"/>
            <p:cNvSpPr txBox="1">
              <a:spLocks noChangeArrowheads="1"/>
            </p:cNvSpPr>
            <p:nvPr/>
          </p:nvSpPr>
          <p:spPr bwMode="auto">
            <a:xfrm>
              <a:off x="821" y="2787"/>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400">
                  <a:solidFill>
                    <a:srgbClr val="000000"/>
                  </a:solidFill>
                </a:rPr>
                <a:t>read request from</a:t>
              </a:r>
              <a:endParaRPr lang="en-US" altLang="en-US" sz="1400">
                <a:solidFill>
                  <a:srgbClr val="000000"/>
                </a:solidFill>
              </a:endParaRPr>
            </a:p>
            <a:p>
              <a:pPr>
                <a:spcBef>
                  <a:spcPct val="0"/>
                </a:spcBef>
                <a:buClrTx/>
                <a:buSzTx/>
                <a:buFontTx/>
                <a:buNone/>
              </a:pPr>
              <a:r>
                <a:rPr lang="en-US" altLang="en-US" sz="1400">
                  <a:solidFill>
                    <a:srgbClr val="CC0000"/>
                  </a:solidFill>
                </a:rPr>
                <a:t>connectionSocke</a:t>
              </a:r>
              <a:r>
                <a:rPr lang="en-US" altLang="en-US" sz="1400">
                  <a:solidFill>
                    <a:srgbClr val="FF0000"/>
                  </a:solidFill>
                </a:rPr>
                <a:t>t</a:t>
              </a:r>
              <a:endParaRPr lang="en-US" altLang="en-US" sz="2400">
                <a:solidFill>
                  <a:srgbClr val="000000"/>
                </a:solidFill>
                <a:latin typeface="Times New Roman" panose="02020603050405020304" pitchFamily="18" charset="0"/>
              </a:endParaRPr>
            </a:p>
          </p:txBody>
        </p:sp>
        <p:sp>
          <p:nvSpPr>
            <p:cNvPr id="119" name="Text Box 32"/>
            <p:cNvSpPr txBox="1">
              <a:spLocks noChangeArrowheads="1"/>
            </p:cNvSpPr>
            <p:nvPr/>
          </p:nvSpPr>
          <p:spPr bwMode="auto">
            <a:xfrm>
              <a:off x="851" y="3195"/>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400">
                  <a:solidFill>
                    <a:srgbClr val="000000"/>
                  </a:solidFill>
                </a:rPr>
                <a:t>write reply to</a:t>
              </a:r>
              <a:endParaRPr lang="en-US" altLang="en-US" sz="1400">
                <a:solidFill>
                  <a:srgbClr val="000000"/>
                </a:solidFill>
              </a:endParaRPr>
            </a:p>
            <a:p>
              <a:pPr>
                <a:spcBef>
                  <a:spcPct val="0"/>
                </a:spcBef>
                <a:buClrTx/>
                <a:buSzTx/>
                <a:buFontTx/>
                <a:buNone/>
              </a:pPr>
              <a:r>
                <a:rPr lang="en-US" altLang="en-US" sz="1400">
                  <a:solidFill>
                    <a:srgbClr val="CC0000"/>
                  </a:solidFill>
                </a:rPr>
                <a:t>connectionSocket</a:t>
              </a:r>
              <a:endParaRPr lang="en-US" altLang="en-US" sz="2400">
                <a:solidFill>
                  <a:srgbClr val="CC0000"/>
                </a:solidFill>
                <a:latin typeface="Times New Roman" panose="02020603050405020304" pitchFamily="18" charset="0"/>
              </a:endParaRPr>
            </a:p>
          </p:txBody>
        </p:sp>
        <p:sp>
          <p:nvSpPr>
            <p:cNvPr id="120" name="Line 33"/>
            <p:cNvSpPr>
              <a:spLocks noChangeShapeType="1"/>
            </p:cNvSpPr>
            <p:nvPr/>
          </p:nvSpPr>
          <p:spPr bwMode="auto">
            <a:xfrm>
              <a:off x="1278" y="2586"/>
              <a:ext cx="0" cy="240"/>
            </a:xfrm>
            <a:prstGeom prst="line">
              <a:avLst/>
            </a:prstGeom>
            <a:noFill/>
            <a:ln w="28575">
              <a:solidFill>
                <a:srgbClr val="000099"/>
              </a:solidFill>
              <a:round/>
              <a:tailEnd type="triangle" w="med" len="med"/>
            </a:ln>
            <a:extLst>
              <a:ext uri="{909E8E84-426E-40DD-AFC4-6F175D3DCCD1}">
                <a14:hiddenFill xmlns:a14="http://schemas.microsoft.com/office/drawing/2010/main">
                  <a:noFill/>
                </a14:hiddenFill>
              </a:ext>
            </a:extLst>
          </p:spPr>
          <p:txBody>
            <a:bodyPr anchor="ctr">
              <a:spAutoFit/>
            </a:bodyPr>
            <a:lstStyle/>
            <a:p>
              <a:endParaRPr lang="en-US"/>
            </a:p>
          </p:txBody>
        </p:sp>
        <p:sp>
          <p:nvSpPr>
            <p:cNvPr id="121" name="Line 34"/>
            <p:cNvSpPr>
              <a:spLocks noChangeShapeType="1"/>
            </p:cNvSpPr>
            <p:nvPr/>
          </p:nvSpPr>
          <p:spPr bwMode="auto">
            <a:xfrm flipH="1">
              <a:off x="1284" y="3090"/>
              <a:ext cx="6" cy="156"/>
            </a:xfrm>
            <a:prstGeom prst="line">
              <a:avLst/>
            </a:prstGeom>
            <a:noFill/>
            <a:ln w="28575">
              <a:solidFill>
                <a:srgbClr val="000099"/>
              </a:solidFill>
              <a:round/>
              <a:tailEnd type="triangle" w="med" len="med"/>
            </a:ln>
            <a:extLst>
              <a:ext uri="{909E8E84-426E-40DD-AFC4-6F175D3DCCD1}">
                <a14:hiddenFill xmlns:a14="http://schemas.microsoft.com/office/drawing/2010/main">
                  <a:noFill/>
                </a14:hiddenFill>
              </a:ext>
            </a:extLst>
          </p:spPr>
          <p:txBody>
            <a:bodyPr anchor="ctr">
              <a:spAutoFit/>
            </a:bodyPr>
            <a:lstStyle/>
            <a:p>
              <a:endParaRPr lang="en-US"/>
            </a:p>
          </p:txBody>
        </p:sp>
        <p:sp>
          <p:nvSpPr>
            <p:cNvPr id="122" name="Line 35"/>
            <p:cNvSpPr>
              <a:spLocks noChangeShapeType="1"/>
            </p:cNvSpPr>
            <p:nvPr/>
          </p:nvSpPr>
          <p:spPr bwMode="auto">
            <a:xfrm>
              <a:off x="1866" y="3306"/>
              <a:ext cx="1536" cy="180"/>
            </a:xfrm>
            <a:prstGeom prst="line">
              <a:avLst/>
            </a:prstGeom>
            <a:noFill/>
            <a:ln w="28575">
              <a:solidFill>
                <a:srgbClr val="CC0000"/>
              </a:solidFill>
              <a:round/>
              <a:tailEnd type="triangle" w="med" len="med"/>
            </a:ln>
            <a:extLst>
              <a:ext uri="{909E8E84-426E-40DD-AFC4-6F175D3DCCD1}">
                <a14:hiddenFill xmlns:a14="http://schemas.microsoft.com/office/drawing/2010/main">
                  <a:noFill/>
                </a14:hiddenFill>
              </a:ext>
            </a:extLst>
          </p:spPr>
          <p:txBody>
            <a:bodyPr anchor="ctr">
              <a:spAutoFit/>
            </a:bodyPr>
            <a:lstStyle/>
            <a:p>
              <a:endParaRPr lang="en-US"/>
            </a:p>
          </p:txBody>
        </p:sp>
      </p:grpSp>
      <p:grpSp>
        <p:nvGrpSpPr>
          <p:cNvPr id="123" name="Group 52"/>
          <p:cNvGrpSpPr/>
          <p:nvPr/>
        </p:nvGrpSpPr>
        <p:grpSpPr bwMode="auto">
          <a:xfrm>
            <a:off x="5371025" y="3472273"/>
            <a:ext cx="2200275" cy="587375"/>
            <a:chOff x="3043" y="1189"/>
            <a:chExt cx="1386" cy="370"/>
          </a:xfrm>
        </p:grpSpPr>
        <p:sp>
          <p:nvSpPr>
            <p:cNvPr id="124" name="Line 37"/>
            <p:cNvSpPr>
              <a:spLocks noChangeShapeType="1"/>
            </p:cNvSpPr>
            <p:nvPr/>
          </p:nvSpPr>
          <p:spPr bwMode="auto">
            <a:xfrm>
              <a:off x="3043" y="1372"/>
              <a:ext cx="1386" cy="0"/>
            </a:xfrm>
            <a:prstGeom prst="line">
              <a:avLst/>
            </a:prstGeom>
            <a:noFill/>
            <a:ln w="38100">
              <a:solidFill>
                <a:srgbClr val="CC0000"/>
              </a:solidFill>
              <a:prstDash val="dash"/>
              <a:round/>
              <a:headEnd type="triangle" w="med" len="med"/>
              <a:tailEnd type="triangle" w="med" len="med"/>
            </a:ln>
            <a:extLst>
              <a:ext uri="{909E8E84-426E-40DD-AFC4-6F175D3DCCD1}">
                <a14:hiddenFill xmlns:a14="http://schemas.microsoft.com/office/drawing/2010/main">
                  <a:noFill/>
                </a14:hiddenFill>
              </a:ext>
            </a:extLst>
          </p:spPr>
          <p:txBody>
            <a:bodyPr wrap="none" anchor="ctr">
              <a:spAutoFit/>
            </a:bodyPr>
            <a:lstStyle/>
            <a:p>
              <a:endParaRPr lang="en-US"/>
            </a:p>
          </p:txBody>
        </p:sp>
        <p:sp>
          <p:nvSpPr>
            <p:cNvPr id="125" name="Text Box 38"/>
            <p:cNvSpPr txBox="1">
              <a:spLocks noChangeArrowheads="1"/>
            </p:cNvSpPr>
            <p:nvPr/>
          </p:nvSpPr>
          <p:spPr bwMode="auto">
            <a:xfrm>
              <a:off x="3106" y="1189"/>
              <a:ext cx="1204"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gn="ctr">
                <a:lnSpc>
                  <a:spcPct val="90000"/>
                </a:lnSpc>
                <a:spcBef>
                  <a:spcPct val="0"/>
                </a:spcBef>
                <a:buClrTx/>
                <a:buSzTx/>
                <a:buFontTx/>
                <a:buNone/>
              </a:pPr>
              <a:r>
                <a:rPr lang="en-US" altLang="en-US" sz="1800">
                  <a:solidFill>
                    <a:srgbClr val="CC0000"/>
                  </a:solidFill>
                </a:rPr>
                <a:t>TCP </a:t>
              </a:r>
              <a:endParaRPr lang="en-US" altLang="en-US" sz="1800">
                <a:solidFill>
                  <a:srgbClr val="CC0000"/>
                </a:solidFill>
              </a:endParaRPr>
            </a:p>
            <a:p>
              <a:pPr algn="ctr">
                <a:lnSpc>
                  <a:spcPct val="90000"/>
                </a:lnSpc>
                <a:spcBef>
                  <a:spcPct val="0"/>
                </a:spcBef>
                <a:buClrTx/>
                <a:buSzTx/>
                <a:buFontTx/>
                <a:buNone/>
              </a:pPr>
              <a:r>
                <a:rPr lang="en-US" altLang="en-US" sz="1800">
                  <a:solidFill>
                    <a:srgbClr val="CC0000"/>
                  </a:solidFill>
                </a:rPr>
                <a:t>connection setup</a:t>
              </a:r>
              <a:endParaRPr lang="en-US" altLang="en-US" sz="2400">
                <a:solidFill>
                  <a:srgbClr val="CC0000"/>
                </a:solidFill>
              </a:endParaRPr>
            </a:p>
          </p:txBody>
        </p:sp>
      </p:grpSp>
      <p:grpSp>
        <p:nvGrpSpPr>
          <p:cNvPr id="126" name="Group 53"/>
          <p:cNvGrpSpPr/>
          <p:nvPr/>
        </p:nvGrpSpPr>
        <p:grpSpPr bwMode="auto">
          <a:xfrm>
            <a:off x="3702562" y="4620035"/>
            <a:ext cx="5457825" cy="1954213"/>
            <a:chOff x="832" y="2713"/>
            <a:chExt cx="3438" cy="1231"/>
          </a:xfrm>
        </p:grpSpPr>
        <p:sp>
          <p:nvSpPr>
            <p:cNvPr id="127" name="Text Box 15"/>
            <p:cNvSpPr txBox="1">
              <a:spLocks noChangeArrowheads="1"/>
            </p:cNvSpPr>
            <p:nvPr/>
          </p:nvSpPr>
          <p:spPr bwMode="auto">
            <a:xfrm>
              <a:off x="867" y="3512"/>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400">
                  <a:solidFill>
                    <a:srgbClr val="000000"/>
                  </a:solidFill>
                </a:rPr>
                <a:t>close</a:t>
              </a:r>
              <a:endParaRPr lang="en-US" altLang="en-US" sz="1400">
                <a:solidFill>
                  <a:srgbClr val="000000"/>
                </a:solidFill>
              </a:endParaRPr>
            </a:p>
            <a:p>
              <a:pPr>
                <a:spcBef>
                  <a:spcPct val="0"/>
                </a:spcBef>
                <a:buClrTx/>
                <a:buSzTx/>
                <a:buFontTx/>
                <a:buNone/>
              </a:pPr>
              <a:r>
                <a:rPr lang="en-US" altLang="en-US" sz="1400">
                  <a:solidFill>
                    <a:srgbClr val="CC0000"/>
                  </a:solidFill>
                </a:rPr>
                <a:t>connectionSocket</a:t>
              </a:r>
              <a:endParaRPr lang="en-US" altLang="en-US" sz="2400">
                <a:solidFill>
                  <a:srgbClr val="CC0000"/>
                </a:solidFill>
                <a:latin typeface="Times New Roman" panose="02020603050405020304" pitchFamily="18" charset="0"/>
              </a:endParaRPr>
            </a:p>
          </p:txBody>
        </p:sp>
        <p:sp>
          <p:nvSpPr>
            <p:cNvPr id="128" name="Line 16"/>
            <p:cNvSpPr>
              <a:spLocks noChangeShapeType="1"/>
            </p:cNvSpPr>
            <p:nvPr/>
          </p:nvSpPr>
          <p:spPr bwMode="auto">
            <a:xfrm>
              <a:off x="1318" y="3437"/>
              <a:ext cx="0" cy="204"/>
            </a:xfrm>
            <a:prstGeom prst="line">
              <a:avLst/>
            </a:prstGeom>
            <a:noFill/>
            <a:ln w="28575">
              <a:solidFill>
                <a:srgbClr val="000099"/>
              </a:solidFill>
              <a:round/>
              <a:tailEnd type="triangle" w="med" len="med"/>
            </a:ln>
            <a:extLst>
              <a:ext uri="{909E8E84-426E-40DD-AFC4-6F175D3DCCD1}">
                <a14:hiddenFill xmlns:a14="http://schemas.microsoft.com/office/drawing/2010/main">
                  <a:noFill/>
                </a14:hiddenFill>
              </a:ext>
            </a:extLst>
          </p:spPr>
          <p:txBody>
            <a:bodyPr anchor="ctr">
              <a:spAutoFit/>
            </a:bodyPr>
            <a:lstStyle/>
            <a:p>
              <a:endParaRPr lang="en-US"/>
            </a:p>
          </p:txBody>
        </p:sp>
        <p:sp>
          <p:nvSpPr>
            <p:cNvPr id="129" name="Freeform 17"/>
            <p:cNvSpPr/>
            <p:nvPr/>
          </p:nvSpPr>
          <p:spPr bwMode="auto">
            <a:xfrm>
              <a:off x="832" y="2713"/>
              <a:ext cx="492" cy="306"/>
            </a:xfrm>
            <a:custGeom>
              <a:avLst/>
              <a:gdLst>
                <a:gd name="T0" fmla="*/ 492 w 492"/>
                <a:gd name="T1" fmla="*/ 0 h 2112"/>
                <a:gd name="T2" fmla="*/ 492 w 492"/>
                <a:gd name="T3" fmla="*/ 0 h 2112"/>
                <a:gd name="T4" fmla="*/ 0 w 492"/>
                <a:gd name="T5" fmla="*/ 0 h 2112"/>
                <a:gd name="T6" fmla="*/ 0 w 492"/>
                <a:gd name="T7" fmla="*/ 0 h 2112"/>
                <a:gd name="T8" fmla="*/ 402 w 492"/>
                <a:gd name="T9" fmla="*/ 0 h 2112"/>
                <a:gd name="T10" fmla="*/ 0 60000 65536"/>
                <a:gd name="T11" fmla="*/ 0 60000 65536"/>
                <a:gd name="T12" fmla="*/ 0 60000 65536"/>
                <a:gd name="T13" fmla="*/ 0 60000 65536"/>
                <a:gd name="T14" fmla="*/ 0 60000 65536"/>
                <a:gd name="T15" fmla="*/ 0 w 492"/>
                <a:gd name="T16" fmla="*/ 0 h 2112"/>
                <a:gd name="T17" fmla="*/ 492 w 492"/>
                <a:gd name="T18" fmla="*/ 2112 h 2112"/>
              </a:gdLst>
              <a:ahLst/>
              <a:cxnLst>
                <a:cxn ang="T10">
                  <a:pos x="T0" y="T1"/>
                </a:cxn>
                <a:cxn ang="T11">
                  <a:pos x="T2" y="T3"/>
                </a:cxn>
                <a:cxn ang="T12">
                  <a:pos x="T4" y="T5"/>
                </a:cxn>
                <a:cxn ang="T13">
                  <a:pos x="T6" y="T7"/>
                </a:cxn>
                <a:cxn ang="T14">
                  <a:pos x="T8" y="T9"/>
                </a:cxn>
              </a:cxnLst>
              <a:rect l="T15" t="T16" r="T17" b="T18"/>
              <a:pathLst>
                <a:path w="492" h="2112">
                  <a:moveTo>
                    <a:pt x="492" y="1968"/>
                  </a:moveTo>
                  <a:lnTo>
                    <a:pt x="492" y="2112"/>
                  </a:lnTo>
                  <a:lnTo>
                    <a:pt x="0" y="2112"/>
                  </a:lnTo>
                  <a:lnTo>
                    <a:pt x="0" y="0"/>
                  </a:lnTo>
                  <a:lnTo>
                    <a:pt x="402" y="0"/>
                  </a:lnTo>
                </a:path>
              </a:pathLst>
            </a:custGeom>
            <a:noFill/>
            <a:ln w="28575">
              <a:solidFill>
                <a:srgbClr val="000099"/>
              </a:solidFill>
              <a:round/>
              <a:tailEnd type="triangle" w="med" len="med"/>
            </a:ln>
            <a:extLst>
              <a:ext uri="{909E8E84-426E-40DD-AFC4-6F175D3DCCD1}">
                <a14:hiddenFill xmlns:a14="http://schemas.microsoft.com/office/drawing/2010/main">
                  <a:solidFill>
                    <a:srgbClr val="FFFFFF"/>
                  </a:solidFill>
                </a14:hiddenFill>
              </a:ext>
            </a:extLst>
          </p:spPr>
          <p:txBody>
            <a:bodyPr anchor="ctr">
              <a:spAutoFit/>
            </a:bodyPr>
            <a:lstStyle/>
            <a:p>
              <a:endParaRPr lang="en-US"/>
            </a:p>
          </p:txBody>
        </p:sp>
        <p:grpSp>
          <p:nvGrpSpPr>
            <p:cNvPr id="130" name="Group 18"/>
            <p:cNvGrpSpPr/>
            <p:nvPr/>
          </p:nvGrpSpPr>
          <p:grpSpPr bwMode="auto">
            <a:xfrm>
              <a:off x="3393" y="3248"/>
              <a:ext cx="877" cy="696"/>
              <a:chOff x="3365" y="3375"/>
              <a:chExt cx="877" cy="696"/>
            </a:xfrm>
          </p:grpSpPr>
          <p:sp>
            <p:nvSpPr>
              <p:cNvPr id="131" name="Text Box 19"/>
              <p:cNvSpPr txBox="1">
                <a:spLocks noChangeArrowheads="1"/>
              </p:cNvSpPr>
              <p:nvPr/>
            </p:nvSpPr>
            <p:spPr bwMode="auto">
              <a:xfrm>
                <a:off x="3365" y="3375"/>
                <a:ext cx="87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400">
                    <a:solidFill>
                      <a:srgbClr val="000000"/>
                    </a:solidFill>
                  </a:rPr>
                  <a:t>read reply from</a:t>
                </a:r>
                <a:endParaRPr lang="en-US" altLang="en-US" sz="1400">
                  <a:solidFill>
                    <a:srgbClr val="000000"/>
                  </a:solidFill>
                </a:endParaRPr>
              </a:p>
              <a:p>
                <a:pPr>
                  <a:spcBef>
                    <a:spcPct val="0"/>
                  </a:spcBef>
                  <a:buClrTx/>
                  <a:buSzTx/>
                  <a:buFontTx/>
                  <a:buNone/>
                </a:pPr>
                <a:r>
                  <a:rPr lang="en-US" altLang="en-US" sz="1400">
                    <a:solidFill>
                      <a:srgbClr val="CC0000"/>
                    </a:solidFill>
                  </a:rPr>
                  <a:t>clientSocket</a:t>
                </a:r>
                <a:endParaRPr lang="en-US" altLang="en-US" sz="2400">
                  <a:solidFill>
                    <a:srgbClr val="CC0000"/>
                  </a:solidFill>
                  <a:latin typeface="Times New Roman" panose="02020603050405020304" pitchFamily="18" charset="0"/>
                </a:endParaRPr>
              </a:p>
            </p:txBody>
          </p:sp>
          <p:sp>
            <p:nvSpPr>
              <p:cNvPr id="132" name="Text Box 20"/>
              <p:cNvSpPr txBox="1">
                <a:spLocks noChangeArrowheads="1"/>
              </p:cNvSpPr>
              <p:nvPr/>
            </p:nvSpPr>
            <p:spPr bwMode="auto">
              <a:xfrm>
                <a:off x="3389" y="3741"/>
                <a:ext cx="73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spcBef>
                    <a:spcPct val="0"/>
                  </a:spcBef>
                  <a:buClrTx/>
                  <a:buSzTx/>
                  <a:buFontTx/>
                  <a:buNone/>
                </a:pPr>
                <a:r>
                  <a:rPr lang="en-US" altLang="en-US" sz="1400">
                    <a:solidFill>
                      <a:srgbClr val="000000"/>
                    </a:solidFill>
                  </a:rPr>
                  <a:t>close</a:t>
                </a:r>
                <a:endParaRPr lang="en-US" altLang="en-US" sz="1400">
                  <a:solidFill>
                    <a:srgbClr val="000000"/>
                  </a:solidFill>
                </a:endParaRPr>
              </a:p>
              <a:p>
                <a:pPr>
                  <a:spcBef>
                    <a:spcPct val="0"/>
                  </a:spcBef>
                  <a:buClrTx/>
                  <a:buSzTx/>
                  <a:buFontTx/>
                  <a:buNone/>
                </a:pPr>
                <a:r>
                  <a:rPr lang="en-US" altLang="en-US" sz="1400">
                    <a:solidFill>
                      <a:srgbClr val="CC0000"/>
                    </a:solidFill>
                  </a:rPr>
                  <a:t>clientSocket</a:t>
                </a:r>
                <a:endParaRPr lang="en-US" altLang="en-US" sz="2400">
                  <a:solidFill>
                    <a:srgbClr val="CC0000"/>
                  </a:solidFill>
                  <a:latin typeface="Times New Roman" panose="02020603050405020304" pitchFamily="18" charset="0"/>
                </a:endParaRPr>
              </a:p>
            </p:txBody>
          </p:sp>
          <p:sp>
            <p:nvSpPr>
              <p:cNvPr id="133" name="Line 21"/>
              <p:cNvSpPr>
                <a:spLocks noChangeShapeType="1"/>
              </p:cNvSpPr>
              <p:nvPr/>
            </p:nvSpPr>
            <p:spPr bwMode="auto">
              <a:xfrm>
                <a:off x="3816" y="3690"/>
                <a:ext cx="0" cy="204"/>
              </a:xfrm>
              <a:prstGeom prst="line">
                <a:avLst/>
              </a:prstGeom>
              <a:noFill/>
              <a:ln w="28575">
                <a:solidFill>
                  <a:srgbClr val="000099"/>
                </a:solidFill>
                <a:round/>
                <a:tailEnd type="triangle" w="med" len="med"/>
              </a:ln>
              <a:extLst>
                <a:ext uri="{909E8E84-426E-40DD-AFC4-6F175D3DCCD1}">
                  <a14:hiddenFill xmlns:a14="http://schemas.microsoft.com/office/drawing/2010/main">
                    <a:noFill/>
                  </a14:hiddenFill>
                </a:ext>
              </a:extLst>
            </p:spPr>
            <p:txBody>
              <a:bodyPr anchor="ctr">
                <a:spAutoFit/>
              </a:bodyPr>
              <a:lstStyle/>
              <a:p>
                <a:endParaRPr lang="en-US"/>
              </a:p>
            </p:txBody>
          </p:sp>
        </p:grpSp>
      </p:grpSp>
      <p:sp>
        <p:nvSpPr>
          <p:cNvPr id="134"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dissolve">
                                      <p:cBhvr>
                                        <p:cTn id="7" dur="500"/>
                                        <p:tgtEl>
                                          <p:spTgt spid="1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0"/>
                                        </p:tgtEl>
                                        <p:attrNameLst>
                                          <p:attrName>style.visibility</p:attrName>
                                        </p:attrNameLst>
                                      </p:cBhvr>
                                      <p:to>
                                        <p:strVal val="visible"/>
                                      </p:to>
                                    </p:set>
                                    <p:animEffect transition="in" filter="dissolve">
                                      <p:cBhvr>
                                        <p:cTn id="12" dur="500"/>
                                        <p:tgtEl>
                                          <p:spTgt spid="10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8"/>
                                        </p:tgtEl>
                                        <p:attrNameLst>
                                          <p:attrName>style.visibility</p:attrName>
                                        </p:attrNameLst>
                                      </p:cBhvr>
                                      <p:to>
                                        <p:strVal val="visible"/>
                                      </p:to>
                                    </p:set>
                                    <p:animEffect transition="in" filter="dissolve">
                                      <p:cBhvr>
                                        <p:cTn id="17" dur="500"/>
                                        <p:tgtEl>
                                          <p:spTgt spid="10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3"/>
                                        </p:tgtEl>
                                        <p:attrNameLst>
                                          <p:attrName>style.visibility</p:attrName>
                                        </p:attrNameLst>
                                      </p:cBhvr>
                                      <p:to>
                                        <p:strVal val="visible"/>
                                      </p:to>
                                    </p:set>
                                    <p:animEffect transition="in" filter="dissolve">
                                      <p:cBhvr>
                                        <p:cTn id="22" dur="500"/>
                                        <p:tgtEl>
                                          <p:spTgt spid="12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123"/>
                                        </p:tgtEl>
                                      </p:cBhvr>
                                    </p:animEffect>
                                    <p:set>
                                      <p:cBhvr>
                                        <p:cTn id="27" dur="1" fill="hold">
                                          <p:stCondLst>
                                            <p:cond delay="499"/>
                                          </p:stCondLst>
                                        </p:cTn>
                                        <p:tgtEl>
                                          <p:spTgt spid="123"/>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11"/>
                                        </p:tgtEl>
                                        <p:attrNameLst>
                                          <p:attrName>style.visibility</p:attrName>
                                        </p:attrNameLst>
                                      </p:cBhvr>
                                      <p:to>
                                        <p:strVal val="visible"/>
                                      </p:to>
                                    </p:set>
                                    <p:animEffect transition="in" filter="dissolve">
                                      <p:cBhvr>
                                        <p:cTn id="30" dur="500"/>
                                        <p:tgtEl>
                                          <p:spTgt spid="11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7"/>
                                        </p:tgtEl>
                                        <p:attrNameLst>
                                          <p:attrName>style.visibility</p:attrName>
                                        </p:attrNameLst>
                                      </p:cBhvr>
                                      <p:to>
                                        <p:strVal val="visible"/>
                                      </p:to>
                                    </p:set>
                                    <p:animEffect transition="in" filter="dissolve">
                                      <p:cBhvr>
                                        <p:cTn id="35" dur="500"/>
                                        <p:tgtEl>
                                          <p:spTgt spid="117"/>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26"/>
                                        </p:tgtEl>
                                        <p:attrNameLst>
                                          <p:attrName>style.visibility</p:attrName>
                                        </p:attrNameLst>
                                      </p:cBhvr>
                                      <p:to>
                                        <p:strVal val="visible"/>
                                      </p:to>
                                    </p:set>
                                    <p:animEffect transition="in" filter="dissolve">
                                      <p:cBhvr>
                                        <p:cTn id="40"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MS PGothic" panose="020B0600070205080204" pitchFamily="34" charset="-128"/>
                <a:cs typeface="+mn-cs"/>
              </a:rPr>
              <a:t>Example app: TCP client</a:t>
            </a:r>
            <a:endParaRPr lang="en-US" altLang="en-US" sz="5400" dirty="0">
              <a:solidFill>
                <a:srgbClr val="000099"/>
              </a:solidFill>
              <a:ea typeface="MS PGothic" panose="020B0600070205080204" pitchFamily="34" charset="-128"/>
              <a:cs typeface="+mn-cs"/>
            </a:endParaRPr>
          </a:p>
        </p:txBody>
      </p:sp>
      <p:sp>
        <p:nvSpPr>
          <p:cNvPr id="25" name="TextBox 1"/>
          <p:cNvSpPr txBox="1">
            <a:spLocks noChangeArrowheads="1"/>
          </p:cNvSpPr>
          <p:nvPr/>
        </p:nvSpPr>
        <p:spPr bwMode="auto">
          <a:xfrm>
            <a:off x="5153332" y="2021516"/>
            <a:ext cx="5894388" cy="422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2800"/>
              </a:lnSpc>
            </a:pPr>
            <a:r>
              <a:rPr lang="en-US" altLang="en-US" dirty="0"/>
              <a:t>from socket import *</a:t>
            </a:r>
            <a:endParaRPr lang="en-US" altLang="en-US" dirty="0"/>
          </a:p>
          <a:p>
            <a:pPr>
              <a:lnSpc>
                <a:spcPts val="2800"/>
              </a:lnSpc>
            </a:pPr>
            <a:r>
              <a:rPr lang="en-US" altLang="en-US" dirty="0" err="1"/>
              <a:t>serverName</a:t>
            </a:r>
            <a:r>
              <a:rPr lang="en-US" altLang="en-US" dirty="0"/>
              <a:t> = ’</a:t>
            </a:r>
            <a:r>
              <a:rPr lang="en-US" altLang="ja-JP" dirty="0" err="1"/>
              <a:t>servername</a:t>
            </a:r>
            <a:r>
              <a:rPr lang="en-US" altLang="en-US" dirty="0"/>
              <a:t>’</a:t>
            </a:r>
            <a:endParaRPr lang="en-US" altLang="ja-JP" dirty="0"/>
          </a:p>
          <a:p>
            <a:pPr>
              <a:lnSpc>
                <a:spcPts val="2800"/>
              </a:lnSpc>
            </a:pPr>
            <a:r>
              <a:rPr lang="en-US" altLang="en-US" dirty="0" err="1"/>
              <a:t>serverPort</a:t>
            </a:r>
            <a:r>
              <a:rPr lang="en-US" altLang="en-US" dirty="0"/>
              <a:t> = 12000</a:t>
            </a:r>
            <a:endParaRPr lang="en-US" altLang="en-US" dirty="0"/>
          </a:p>
          <a:p>
            <a:pPr>
              <a:lnSpc>
                <a:spcPts val="2800"/>
              </a:lnSpc>
            </a:pPr>
            <a:r>
              <a:rPr lang="en-US" altLang="en-US" dirty="0" err="1"/>
              <a:t>clientSocket</a:t>
            </a:r>
            <a:r>
              <a:rPr lang="en-US" altLang="en-US" dirty="0"/>
              <a:t> = socket(AF_INET, SOCK_STREAM)</a:t>
            </a:r>
            <a:endParaRPr lang="en-US" altLang="en-US" dirty="0"/>
          </a:p>
          <a:p>
            <a:pPr>
              <a:lnSpc>
                <a:spcPts val="2800"/>
              </a:lnSpc>
            </a:pPr>
            <a:r>
              <a:rPr lang="en-US" altLang="en-US" dirty="0" err="1"/>
              <a:t>clientSocket.connect</a:t>
            </a:r>
            <a:r>
              <a:rPr lang="en-US" altLang="en-US" dirty="0"/>
              <a:t>((</a:t>
            </a:r>
            <a:r>
              <a:rPr lang="en-US" altLang="en-US" dirty="0" err="1"/>
              <a:t>serverName,serverPort</a:t>
            </a:r>
            <a:r>
              <a:rPr lang="en-US" altLang="en-US" dirty="0"/>
              <a:t>))</a:t>
            </a:r>
            <a:endParaRPr lang="en-US" altLang="en-US" dirty="0"/>
          </a:p>
          <a:p>
            <a:pPr>
              <a:lnSpc>
                <a:spcPts val="2800"/>
              </a:lnSpc>
            </a:pPr>
            <a:r>
              <a:rPr lang="en-US" altLang="en-US" dirty="0"/>
              <a:t>sentence = </a:t>
            </a:r>
            <a:r>
              <a:rPr lang="en-US" altLang="en-US" dirty="0" err="1"/>
              <a:t>raw_input</a:t>
            </a:r>
            <a:r>
              <a:rPr lang="en-US" altLang="en-US" dirty="0"/>
              <a:t>(‘Input lowercase sentence:’)</a:t>
            </a:r>
            <a:endParaRPr lang="en-US" altLang="en-US" dirty="0"/>
          </a:p>
          <a:p>
            <a:pPr>
              <a:lnSpc>
                <a:spcPts val="2800"/>
              </a:lnSpc>
            </a:pPr>
            <a:r>
              <a:rPr lang="en-US" altLang="en-US" dirty="0" err="1"/>
              <a:t>clientSocket.send</a:t>
            </a:r>
            <a:r>
              <a:rPr lang="en-US" altLang="en-US" dirty="0"/>
              <a:t>(</a:t>
            </a:r>
            <a:r>
              <a:rPr lang="en-US" altLang="en-US" dirty="0" err="1"/>
              <a:t>sentence.encode</a:t>
            </a:r>
            <a:r>
              <a:rPr lang="en-US" altLang="en-US" dirty="0"/>
              <a:t>())</a:t>
            </a:r>
            <a:endParaRPr lang="en-US" altLang="en-US" dirty="0"/>
          </a:p>
          <a:p>
            <a:pPr>
              <a:lnSpc>
                <a:spcPts val="2800"/>
              </a:lnSpc>
            </a:pPr>
            <a:r>
              <a:rPr lang="en-US" altLang="en-US" dirty="0" err="1"/>
              <a:t>modifiedSentence</a:t>
            </a:r>
            <a:r>
              <a:rPr lang="en-US" altLang="en-US" dirty="0"/>
              <a:t> = </a:t>
            </a:r>
            <a:r>
              <a:rPr lang="en-US" altLang="en-US" dirty="0" err="1"/>
              <a:t>clientSocket.recv</a:t>
            </a:r>
            <a:r>
              <a:rPr lang="en-US" altLang="en-US" dirty="0"/>
              <a:t>(1024)</a:t>
            </a:r>
            <a:endParaRPr lang="en-US" altLang="en-US" dirty="0"/>
          </a:p>
          <a:p>
            <a:pPr>
              <a:lnSpc>
                <a:spcPts val="2800"/>
              </a:lnSpc>
            </a:pPr>
            <a:r>
              <a:rPr lang="en-US" altLang="en-US" dirty="0"/>
              <a:t>print (‘From Server:’, </a:t>
            </a:r>
            <a:r>
              <a:rPr lang="en-US" altLang="en-US" dirty="0" err="1"/>
              <a:t>modifiedSentence.decode</a:t>
            </a:r>
            <a:r>
              <a:rPr lang="en-US" altLang="en-US" dirty="0"/>
              <a:t>())</a:t>
            </a:r>
            <a:endParaRPr lang="en-US" altLang="en-US" dirty="0"/>
          </a:p>
          <a:p>
            <a:pPr>
              <a:lnSpc>
                <a:spcPts val="2800"/>
              </a:lnSpc>
            </a:pPr>
            <a:r>
              <a:rPr lang="en-US" altLang="en-US" dirty="0" err="1"/>
              <a:t>clientSocket.close</a:t>
            </a:r>
            <a:r>
              <a:rPr lang="en-US" altLang="en-US" dirty="0"/>
              <a:t>()</a:t>
            </a:r>
            <a:endParaRPr lang="en-US" altLang="en-US" dirty="0"/>
          </a:p>
        </p:txBody>
      </p:sp>
      <p:sp>
        <p:nvSpPr>
          <p:cNvPr id="26" name="TextBox 2"/>
          <p:cNvSpPr txBox="1">
            <a:spLocks noChangeArrowheads="1"/>
          </p:cNvSpPr>
          <p:nvPr/>
        </p:nvSpPr>
        <p:spPr bwMode="auto">
          <a:xfrm>
            <a:off x="5166032" y="1538916"/>
            <a:ext cx="27066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i="1">
                <a:solidFill>
                  <a:srgbClr val="CC0000"/>
                </a:solidFill>
              </a:rPr>
              <a:t>Python TCPClient</a:t>
            </a:r>
            <a:endParaRPr lang="en-US" altLang="en-US" sz="2400" i="1">
              <a:solidFill>
                <a:srgbClr val="CC0000"/>
              </a:solidFill>
            </a:endParaRPr>
          </a:p>
        </p:txBody>
      </p:sp>
      <p:grpSp>
        <p:nvGrpSpPr>
          <p:cNvPr id="27" name="Group 47"/>
          <p:cNvGrpSpPr/>
          <p:nvPr/>
        </p:nvGrpSpPr>
        <p:grpSpPr bwMode="auto">
          <a:xfrm>
            <a:off x="1656643" y="3166108"/>
            <a:ext cx="3481226" cy="584775"/>
            <a:chOff x="-792500" y="2796587"/>
            <a:chExt cx="3481672" cy="584044"/>
          </a:xfrm>
        </p:grpSpPr>
        <p:sp>
          <p:nvSpPr>
            <p:cNvPr id="28" name="TextBox 31"/>
            <p:cNvSpPr txBox="1">
              <a:spLocks noChangeArrowheads="1"/>
            </p:cNvSpPr>
            <p:nvPr/>
          </p:nvSpPr>
          <p:spPr bwMode="auto">
            <a:xfrm>
              <a:off x="-792500" y="2796587"/>
              <a:ext cx="2888177"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dirty="0">
                  <a:solidFill>
                    <a:srgbClr val="000099"/>
                  </a:solidFill>
                </a:rPr>
                <a:t>create TCP socket for server, remote port 12000</a:t>
              </a:r>
              <a:endParaRPr lang="en-US" altLang="en-US" sz="1600" dirty="0">
                <a:solidFill>
                  <a:srgbClr val="000099"/>
                </a:solidFill>
              </a:endParaRPr>
            </a:p>
          </p:txBody>
        </p:sp>
        <p:cxnSp>
          <p:nvCxnSpPr>
            <p:cNvPr id="29" name="Straight Connector 32"/>
            <p:cNvCxnSpPr>
              <a:cxnSpLocks noChangeShapeType="1"/>
            </p:cNvCxnSpPr>
            <p:nvPr/>
          </p:nvCxnSpPr>
          <p:spPr bwMode="auto">
            <a:xfrm>
              <a:off x="1961643" y="2959715"/>
              <a:ext cx="727529" cy="2721"/>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sp>
        <p:nvSpPr>
          <p:cNvPr id="30" name="Oval 29"/>
          <p:cNvSpPr>
            <a:spLocks noChangeArrowheads="1"/>
          </p:cNvSpPr>
          <p:nvPr/>
        </p:nvSpPr>
        <p:spPr bwMode="auto">
          <a:xfrm>
            <a:off x="8760541" y="2993923"/>
            <a:ext cx="2133599" cy="589517"/>
          </a:xfrm>
          <a:prstGeom prst="ellipse">
            <a:avLst/>
          </a:prstGeom>
          <a:noFill/>
          <a:ln w="19050">
            <a:solidFill>
              <a:srgbClr val="000099"/>
            </a:solidFill>
            <a:rou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endParaRPr lang="en-US" altLang="en-US" sz="2400">
              <a:latin typeface="Comic Sans MS" panose="030F0702030302020204" pitchFamily="66" charset="0"/>
            </a:endParaRPr>
          </a:p>
        </p:txBody>
      </p:sp>
      <p:grpSp>
        <p:nvGrpSpPr>
          <p:cNvPr id="31" name="Group 47"/>
          <p:cNvGrpSpPr/>
          <p:nvPr/>
        </p:nvGrpSpPr>
        <p:grpSpPr bwMode="auto">
          <a:xfrm>
            <a:off x="970933" y="4616284"/>
            <a:ext cx="4182811" cy="338554"/>
            <a:chOff x="-1495096" y="3006031"/>
            <a:chExt cx="4184250" cy="337708"/>
          </a:xfrm>
        </p:grpSpPr>
        <p:sp>
          <p:nvSpPr>
            <p:cNvPr id="32" name="TextBox 31"/>
            <p:cNvSpPr txBox="1">
              <a:spLocks noChangeArrowheads="1"/>
            </p:cNvSpPr>
            <p:nvPr/>
          </p:nvSpPr>
          <p:spPr bwMode="auto">
            <a:xfrm>
              <a:off x="-1495096" y="3006031"/>
              <a:ext cx="3779615"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dirty="0">
                  <a:solidFill>
                    <a:srgbClr val="000099"/>
                  </a:solidFill>
                </a:rPr>
                <a:t>No need to attach server name, port </a:t>
              </a:r>
              <a:endParaRPr lang="en-US" altLang="en-US" sz="1600" dirty="0">
                <a:solidFill>
                  <a:srgbClr val="000099"/>
                </a:solidFill>
              </a:endParaRPr>
            </a:p>
          </p:txBody>
        </p:sp>
        <p:cxnSp>
          <p:nvCxnSpPr>
            <p:cNvPr id="33" name="Straight Connector 32"/>
            <p:cNvCxnSpPr>
              <a:cxnSpLocks noChangeShapeType="1"/>
            </p:cNvCxnSpPr>
            <p:nvPr/>
          </p:nvCxnSpPr>
          <p:spPr bwMode="auto">
            <a:xfrm>
              <a:off x="1961625" y="3165929"/>
              <a:ext cx="727529" cy="2721"/>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sp>
        <p:nvSpPr>
          <p:cNvPr id="13"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dissolve">
                                      <p:cBhvr>
                                        <p:cTn id="10" dur="500"/>
                                        <p:tgtEl>
                                          <p:spTgt spid="3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dissolve">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MS PGothic" panose="020B0600070205080204" pitchFamily="34" charset="-128"/>
                <a:cs typeface="+mn-cs"/>
              </a:rPr>
              <a:t>Example app: TCP server</a:t>
            </a:r>
            <a:endParaRPr lang="en-US" altLang="en-US" sz="5400" dirty="0">
              <a:solidFill>
                <a:srgbClr val="000099"/>
              </a:solidFill>
              <a:ea typeface="MS PGothic" panose="020B0600070205080204" pitchFamily="34" charset="-128"/>
              <a:cs typeface="+mn-cs"/>
            </a:endParaRPr>
          </a:p>
        </p:txBody>
      </p:sp>
      <p:sp>
        <p:nvSpPr>
          <p:cNvPr id="13" name="TextBox 1"/>
          <p:cNvSpPr txBox="1">
            <a:spLocks noChangeArrowheads="1"/>
          </p:cNvSpPr>
          <p:nvPr/>
        </p:nvSpPr>
        <p:spPr bwMode="auto">
          <a:xfrm>
            <a:off x="5184060" y="1922450"/>
            <a:ext cx="6292850" cy="520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dirty="0"/>
              <a:t> from socket import *</a:t>
            </a:r>
            <a:endParaRPr lang="en-US" altLang="en-US" dirty="0"/>
          </a:p>
          <a:p>
            <a:r>
              <a:rPr lang="en-US" altLang="en-US" dirty="0" err="1"/>
              <a:t>serverPort</a:t>
            </a:r>
            <a:r>
              <a:rPr lang="en-US" altLang="en-US" dirty="0"/>
              <a:t> = 12000</a:t>
            </a:r>
            <a:endParaRPr lang="en-US" altLang="en-US" dirty="0"/>
          </a:p>
          <a:p>
            <a:r>
              <a:rPr lang="en-US" altLang="en-US" dirty="0" err="1"/>
              <a:t>serverSocket</a:t>
            </a:r>
            <a:r>
              <a:rPr lang="en-US" altLang="en-US" dirty="0"/>
              <a:t> = socket(AF_INET,SOCK_STREAM)</a:t>
            </a:r>
            <a:endParaRPr lang="en-US" altLang="en-US" dirty="0"/>
          </a:p>
          <a:p>
            <a:r>
              <a:rPr lang="en-US" altLang="en-US" dirty="0" err="1"/>
              <a:t>serverSocket.bind</a:t>
            </a:r>
            <a:r>
              <a:rPr lang="en-US" altLang="en-US" dirty="0"/>
              <a:t>((‘’,</a:t>
            </a:r>
            <a:r>
              <a:rPr lang="en-US" altLang="en-US" dirty="0" err="1"/>
              <a:t>serverPort</a:t>
            </a:r>
            <a:r>
              <a:rPr lang="en-US" altLang="en-US" dirty="0"/>
              <a:t>))</a:t>
            </a:r>
            <a:endParaRPr lang="en-US" altLang="en-US" dirty="0"/>
          </a:p>
          <a:p>
            <a:r>
              <a:rPr lang="en-US" altLang="en-US" dirty="0" err="1"/>
              <a:t>serverSocket.listen</a:t>
            </a:r>
            <a:r>
              <a:rPr lang="en-US" altLang="en-US" dirty="0"/>
              <a:t>(1)</a:t>
            </a:r>
            <a:endParaRPr lang="en-US" altLang="en-US" dirty="0"/>
          </a:p>
          <a:p>
            <a:r>
              <a:rPr lang="en-US" altLang="en-US" dirty="0"/>
              <a:t>print ‘The server is ready to receive’</a:t>
            </a:r>
            <a:endParaRPr lang="en-US" altLang="en-US" dirty="0"/>
          </a:p>
          <a:p>
            <a:r>
              <a:rPr lang="en-US" altLang="en-US" dirty="0"/>
              <a:t>while True:</a:t>
            </a:r>
            <a:endParaRPr lang="en-US" altLang="en-US" dirty="0"/>
          </a:p>
          <a:p>
            <a:r>
              <a:rPr lang="en-US" altLang="en-US" dirty="0"/>
              <a:t>     </a:t>
            </a:r>
            <a:r>
              <a:rPr lang="en-US" altLang="en-US" dirty="0" err="1"/>
              <a:t>connectionSocket</a:t>
            </a:r>
            <a:r>
              <a:rPr lang="en-US" altLang="en-US" dirty="0"/>
              <a:t>, </a:t>
            </a:r>
            <a:r>
              <a:rPr lang="en-US" altLang="en-US" dirty="0" err="1"/>
              <a:t>addr</a:t>
            </a:r>
            <a:r>
              <a:rPr lang="en-US" altLang="en-US" dirty="0"/>
              <a:t> = </a:t>
            </a:r>
            <a:r>
              <a:rPr lang="en-US" altLang="en-US" dirty="0" err="1"/>
              <a:t>serverSocket.accept</a:t>
            </a:r>
            <a:r>
              <a:rPr lang="en-US" altLang="en-US" dirty="0"/>
              <a:t>()</a:t>
            </a:r>
            <a:endParaRPr lang="en-US" altLang="en-US" dirty="0"/>
          </a:p>
          <a:p>
            <a:r>
              <a:rPr lang="en-US" altLang="en-US" dirty="0"/>
              <a:t>     </a:t>
            </a:r>
            <a:endParaRPr lang="en-US" altLang="en-US" dirty="0"/>
          </a:p>
          <a:p>
            <a:r>
              <a:rPr lang="en-US" altLang="en-US" dirty="0"/>
              <a:t>     sentence = </a:t>
            </a:r>
            <a:r>
              <a:rPr lang="en-US" altLang="en-US" dirty="0" err="1"/>
              <a:t>connectionSocket.recv</a:t>
            </a:r>
            <a:r>
              <a:rPr lang="en-US" altLang="en-US" dirty="0"/>
              <a:t>(1024).decode()</a:t>
            </a:r>
            <a:endParaRPr lang="en-US" altLang="en-US" dirty="0"/>
          </a:p>
          <a:p>
            <a:r>
              <a:rPr lang="en-US" altLang="en-US" dirty="0"/>
              <a:t>     </a:t>
            </a:r>
            <a:r>
              <a:rPr lang="en-US" altLang="en-US" dirty="0" err="1"/>
              <a:t>capitalizedSentence</a:t>
            </a:r>
            <a:r>
              <a:rPr lang="en-US" altLang="en-US" dirty="0"/>
              <a:t> = </a:t>
            </a:r>
            <a:r>
              <a:rPr lang="en-US" altLang="en-US" dirty="0" err="1"/>
              <a:t>sentence.upper</a:t>
            </a:r>
            <a:r>
              <a:rPr lang="en-US" altLang="en-US" dirty="0"/>
              <a:t>()</a:t>
            </a:r>
            <a:endParaRPr lang="en-US" altLang="en-US" dirty="0"/>
          </a:p>
          <a:p>
            <a:r>
              <a:rPr lang="en-US" altLang="en-US" dirty="0"/>
              <a:t>     </a:t>
            </a:r>
            <a:r>
              <a:rPr lang="en-US" altLang="en-US" dirty="0" err="1"/>
              <a:t>connectionSocket.send</a:t>
            </a:r>
            <a:r>
              <a:rPr lang="en-US" altLang="en-US" dirty="0"/>
              <a:t>(</a:t>
            </a:r>
            <a:r>
              <a:rPr lang="en-US" altLang="en-US" dirty="0" err="1"/>
              <a:t>capitalizedSentence</a:t>
            </a:r>
            <a:r>
              <a:rPr lang="en-US" altLang="en-US" dirty="0"/>
              <a:t>.</a:t>
            </a:r>
            <a:endParaRPr lang="en-US" altLang="en-US" dirty="0"/>
          </a:p>
          <a:p>
            <a:r>
              <a:rPr lang="en-US" altLang="en-US" dirty="0"/>
              <a:t>                                                            encode())</a:t>
            </a:r>
            <a:endParaRPr lang="en-US" altLang="en-US" dirty="0"/>
          </a:p>
          <a:p>
            <a:r>
              <a:rPr lang="en-US" altLang="en-US" dirty="0"/>
              <a:t>     </a:t>
            </a:r>
            <a:r>
              <a:rPr lang="en-US" altLang="en-US" dirty="0" err="1"/>
              <a:t>connectionSocket.close</a:t>
            </a:r>
            <a:r>
              <a:rPr lang="en-US" altLang="en-US" dirty="0"/>
              <a:t>()</a:t>
            </a:r>
            <a:endParaRPr lang="en-US" altLang="en-US" sz="1800" dirty="0"/>
          </a:p>
        </p:txBody>
      </p:sp>
      <p:sp>
        <p:nvSpPr>
          <p:cNvPr id="14" name="TextBox 2"/>
          <p:cNvSpPr txBox="1">
            <a:spLocks noChangeArrowheads="1"/>
          </p:cNvSpPr>
          <p:nvPr/>
        </p:nvSpPr>
        <p:spPr bwMode="auto">
          <a:xfrm>
            <a:off x="5184060" y="1439850"/>
            <a:ext cx="28273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2400" i="1" dirty="0">
                <a:solidFill>
                  <a:srgbClr val="CC0000"/>
                </a:solidFill>
              </a:rPr>
              <a:t>Python </a:t>
            </a:r>
            <a:r>
              <a:rPr lang="en-US" altLang="en-US" sz="2400" i="1" dirty="0" err="1">
                <a:solidFill>
                  <a:srgbClr val="CC0000"/>
                </a:solidFill>
              </a:rPr>
              <a:t>TCPServer</a:t>
            </a:r>
            <a:endParaRPr lang="en-US" altLang="en-US" sz="2400" i="1" dirty="0">
              <a:solidFill>
                <a:srgbClr val="CC0000"/>
              </a:solidFill>
            </a:endParaRPr>
          </a:p>
        </p:txBody>
      </p:sp>
      <p:grpSp>
        <p:nvGrpSpPr>
          <p:cNvPr id="15" name="Group 13"/>
          <p:cNvGrpSpPr/>
          <p:nvPr/>
        </p:nvGrpSpPr>
        <p:grpSpPr bwMode="auto">
          <a:xfrm>
            <a:off x="1724351" y="2556715"/>
            <a:ext cx="3374285" cy="338554"/>
            <a:chOff x="-749058" y="2414108"/>
            <a:chExt cx="3374330" cy="338257"/>
          </a:xfrm>
        </p:grpSpPr>
        <p:sp>
          <p:nvSpPr>
            <p:cNvPr id="16" name="TextBox 31"/>
            <p:cNvSpPr txBox="1">
              <a:spLocks noChangeArrowheads="1"/>
            </p:cNvSpPr>
            <p:nvPr/>
          </p:nvSpPr>
          <p:spPr bwMode="auto">
            <a:xfrm>
              <a:off x="-749058" y="2414108"/>
              <a:ext cx="3062331" cy="338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dirty="0">
                  <a:solidFill>
                    <a:srgbClr val="000099"/>
                  </a:solidFill>
                </a:rPr>
                <a:t>create TCP welcoming socket</a:t>
              </a:r>
              <a:endParaRPr lang="en-US" altLang="en-US" sz="1600" dirty="0">
                <a:solidFill>
                  <a:srgbClr val="000099"/>
                </a:solidFill>
              </a:endParaRPr>
            </a:p>
          </p:txBody>
        </p:sp>
        <p:cxnSp>
          <p:nvCxnSpPr>
            <p:cNvPr id="17" name="Straight Connector 32"/>
            <p:cNvCxnSpPr>
              <a:cxnSpLocks noChangeShapeType="1"/>
            </p:cNvCxnSpPr>
            <p:nvPr/>
          </p:nvCxnSpPr>
          <p:spPr bwMode="auto">
            <a:xfrm>
              <a:off x="2136730" y="2597150"/>
              <a:ext cx="488542" cy="0"/>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18" name="Group 14"/>
          <p:cNvGrpSpPr/>
          <p:nvPr/>
        </p:nvGrpSpPr>
        <p:grpSpPr bwMode="auto">
          <a:xfrm>
            <a:off x="2080634" y="3063061"/>
            <a:ext cx="3036870" cy="584775"/>
            <a:chOff x="-1667664" y="2908339"/>
            <a:chExt cx="4371910" cy="584044"/>
          </a:xfrm>
        </p:grpSpPr>
        <p:sp>
          <p:nvSpPr>
            <p:cNvPr id="19" name="TextBox 26"/>
            <p:cNvSpPr txBox="1">
              <a:spLocks noChangeArrowheads="1"/>
            </p:cNvSpPr>
            <p:nvPr/>
          </p:nvSpPr>
          <p:spPr bwMode="auto">
            <a:xfrm>
              <a:off x="-1667664" y="2908339"/>
              <a:ext cx="4139198" cy="5840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dirty="0">
                  <a:solidFill>
                    <a:srgbClr val="000099"/>
                  </a:solidFill>
                </a:rPr>
                <a:t>server begins listening for  incoming TCP requests</a:t>
              </a:r>
              <a:endParaRPr lang="en-US" altLang="en-US" sz="1600" dirty="0">
                <a:solidFill>
                  <a:srgbClr val="000099"/>
                </a:solidFill>
              </a:endParaRPr>
            </a:p>
          </p:txBody>
        </p:sp>
        <p:cxnSp>
          <p:nvCxnSpPr>
            <p:cNvPr id="20" name="Straight Connector 30"/>
            <p:cNvCxnSpPr>
              <a:cxnSpLocks noChangeShapeType="1"/>
            </p:cNvCxnSpPr>
            <p:nvPr/>
          </p:nvCxnSpPr>
          <p:spPr bwMode="auto">
            <a:xfrm>
              <a:off x="1967825" y="3217286"/>
              <a:ext cx="736421" cy="0"/>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21" name="Group 15"/>
          <p:cNvGrpSpPr/>
          <p:nvPr/>
        </p:nvGrpSpPr>
        <p:grpSpPr bwMode="auto">
          <a:xfrm>
            <a:off x="3328500" y="3824136"/>
            <a:ext cx="1858624" cy="297517"/>
            <a:chOff x="905004" y="3819988"/>
            <a:chExt cx="1859872" cy="298292"/>
          </a:xfrm>
        </p:grpSpPr>
        <p:sp>
          <p:nvSpPr>
            <p:cNvPr id="22" name="TextBox 34"/>
            <p:cNvSpPr txBox="1">
              <a:spLocks noChangeArrowheads="1"/>
            </p:cNvSpPr>
            <p:nvPr/>
          </p:nvSpPr>
          <p:spPr bwMode="auto">
            <a:xfrm>
              <a:off x="905004" y="3819988"/>
              <a:ext cx="1859872" cy="298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1600"/>
                </a:lnSpc>
              </a:pPr>
              <a:r>
                <a:rPr lang="en-US" altLang="en-US" sz="1600" dirty="0">
                  <a:solidFill>
                    <a:srgbClr val="000099"/>
                  </a:solidFill>
                </a:rPr>
                <a:t>loop forever</a:t>
              </a:r>
              <a:endParaRPr lang="en-US" altLang="en-US" sz="1600" dirty="0">
                <a:solidFill>
                  <a:srgbClr val="000099"/>
                </a:solidFill>
              </a:endParaRPr>
            </a:p>
          </p:txBody>
        </p:sp>
        <p:cxnSp>
          <p:nvCxnSpPr>
            <p:cNvPr id="23" name="Straight Connector 35"/>
            <p:cNvCxnSpPr>
              <a:cxnSpLocks noChangeShapeType="1"/>
            </p:cNvCxnSpPr>
            <p:nvPr/>
          </p:nvCxnSpPr>
          <p:spPr bwMode="auto">
            <a:xfrm>
              <a:off x="2187464" y="3964782"/>
              <a:ext cx="523192" cy="0"/>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24" name="Group 17"/>
          <p:cNvGrpSpPr/>
          <p:nvPr/>
        </p:nvGrpSpPr>
        <p:grpSpPr bwMode="auto">
          <a:xfrm>
            <a:off x="906051" y="4140995"/>
            <a:ext cx="4273089" cy="502702"/>
            <a:chOff x="-812680" y="4044670"/>
            <a:chExt cx="3634217" cy="502843"/>
          </a:xfrm>
        </p:grpSpPr>
        <p:sp>
          <p:nvSpPr>
            <p:cNvPr id="34" name="TextBox 36"/>
            <p:cNvSpPr txBox="1">
              <a:spLocks noChangeArrowheads="1"/>
            </p:cNvSpPr>
            <p:nvPr/>
          </p:nvSpPr>
          <p:spPr bwMode="auto">
            <a:xfrm>
              <a:off x="-812680" y="4044670"/>
              <a:ext cx="3634217" cy="50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lnSpc>
                  <a:spcPts val="1600"/>
                </a:lnSpc>
              </a:pPr>
              <a:r>
                <a:rPr lang="en-US" altLang="en-US" sz="1600" dirty="0">
                  <a:solidFill>
                    <a:srgbClr val="000099"/>
                  </a:solidFill>
                </a:rPr>
                <a:t>server waits on accept() for incoming requests, new socket created on return</a:t>
              </a:r>
              <a:endParaRPr lang="en-US" altLang="en-US" sz="1600" dirty="0">
                <a:solidFill>
                  <a:srgbClr val="000099"/>
                </a:solidFill>
              </a:endParaRPr>
            </a:p>
          </p:txBody>
        </p:sp>
        <p:cxnSp>
          <p:nvCxnSpPr>
            <p:cNvPr id="35" name="Straight Connector 39"/>
            <p:cNvCxnSpPr>
              <a:cxnSpLocks noChangeShapeType="1"/>
            </p:cNvCxnSpPr>
            <p:nvPr/>
          </p:nvCxnSpPr>
          <p:spPr bwMode="auto">
            <a:xfrm>
              <a:off x="2337575" y="4188416"/>
              <a:ext cx="435213" cy="1"/>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36" name="Group 18"/>
          <p:cNvGrpSpPr/>
          <p:nvPr/>
        </p:nvGrpSpPr>
        <p:grpSpPr bwMode="auto">
          <a:xfrm>
            <a:off x="1951002" y="4771416"/>
            <a:ext cx="3154397" cy="584775"/>
            <a:chOff x="-463314" y="4140337"/>
            <a:chExt cx="3153124" cy="585085"/>
          </a:xfrm>
        </p:grpSpPr>
        <p:sp>
          <p:nvSpPr>
            <p:cNvPr id="37" name="TextBox 61"/>
            <p:cNvSpPr txBox="1">
              <a:spLocks noChangeArrowheads="1"/>
            </p:cNvSpPr>
            <p:nvPr/>
          </p:nvSpPr>
          <p:spPr bwMode="auto">
            <a:xfrm>
              <a:off x="-463314" y="4140337"/>
              <a:ext cx="2746043" cy="585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dirty="0">
                  <a:solidFill>
                    <a:srgbClr val="000099"/>
                  </a:solidFill>
                </a:rPr>
                <a:t>read bytes from socket (but not address as in UDP)</a:t>
              </a:r>
              <a:endParaRPr lang="en-US" altLang="en-US" sz="1600" dirty="0">
                <a:solidFill>
                  <a:srgbClr val="000099"/>
                </a:solidFill>
              </a:endParaRPr>
            </a:p>
          </p:txBody>
        </p:sp>
        <p:cxnSp>
          <p:nvCxnSpPr>
            <p:cNvPr id="38" name="Straight Connector 62"/>
            <p:cNvCxnSpPr>
              <a:cxnSpLocks noChangeShapeType="1"/>
            </p:cNvCxnSpPr>
            <p:nvPr/>
          </p:nvCxnSpPr>
          <p:spPr bwMode="auto">
            <a:xfrm>
              <a:off x="2194710" y="4288764"/>
              <a:ext cx="495100" cy="0"/>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grpSp>
        <p:nvGrpSpPr>
          <p:cNvPr id="39" name="Group 28"/>
          <p:cNvGrpSpPr/>
          <p:nvPr/>
        </p:nvGrpSpPr>
        <p:grpSpPr bwMode="auto">
          <a:xfrm>
            <a:off x="1026276" y="5902558"/>
            <a:ext cx="4079124" cy="584775"/>
            <a:chOff x="-1411416" y="4686923"/>
            <a:chExt cx="4079374" cy="585153"/>
          </a:xfrm>
        </p:grpSpPr>
        <p:sp>
          <p:nvSpPr>
            <p:cNvPr id="40" name="TextBox 29"/>
            <p:cNvSpPr txBox="1">
              <a:spLocks noChangeArrowheads="1"/>
            </p:cNvSpPr>
            <p:nvPr/>
          </p:nvSpPr>
          <p:spPr bwMode="auto">
            <a:xfrm>
              <a:off x="-1411416" y="4686923"/>
              <a:ext cx="3902071" cy="585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MS PGothic" panose="020B0600070205080204" pitchFamily="34" charset="-128"/>
                </a:defRPr>
              </a:lvl1pPr>
              <a:lvl2pPr marL="742950" indent="-285750">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r>
                <a:rPr lang="en-US" altLang="en-US" sz="1600" dirty="0">
                  <a:solidFill>
                    <a:srgbClr val="000099"/>
                  </a:solidFill>
                </a:rPr>
                <a:t>close connection to this client (but </a:t>
              </a:r>
              <a:r>
                <a:rPr lang="en-US" altLang="en-US" sz="1600" i="1" dirty="0">
                  <a:solidFill>
                    <a:srgbClr val="000099"/>
                  </a:solidFill>
                </a:rPr>
                <a:t>not</a:t>
              </a:r>
              <a:r>
                <a:rPr lang="en-US" altLang="en-US" sz="1600" dirty="0">
                  <a:solidFill>
                    <a:srgbClr val="000099"/>
                  </a:solidFill>
                </a:rPr>
                <a:t> welcoming socket)</a:t>
              </a:r>
              <a:endParaRPr lang="en-US" altLang="en-US" sz="1600" dirty="0">
                <a:solidFill>
                  <a:srgbClr val="000099"/>
                </a:solidFill>
              </a:endParaRPr>
            </a:p>
          </p:txBody>
        </p:sp>
        <p:cxnSp>
          <p:nvCxnSpPr>
            <p:cNvPr id="41" name="Straight Connector 33"/>
            <p:cNvCxnSpPr>
              <a:cxnSpLocks noChangeShapeType="1"/>
            </p:cNvCxnSpPr>
            <p:nvPr/>
          </p:nvCxnSpPr>
          <p:spPr bwMode="auto">
            <a:xfrm>
              <a:off x="2172628" y="4843734"/>
              <a:ext cx="495330" cy="0"/>
            </a:xfrm>
            <a:prstGeom prst="line">
              <a:avLst/>
            </a:prstGeom>
            <a:noFill/>
            <a:ln w="12700">
              <a:solidFill>
                <a:srgbClr val="CC0000"/>
              </a:solidFill>
              <a:round/>
              <a:tailEnd type="triangle" w="med" len="med"/>
            </a:ln>
            <a:extLst>
              <a:ext uri="{909E8E84-426E-40DD-AFC4-6F175D3DCCD1}">
                <a14:hiddenFill xmlns:a14="http://schemas.microsoft.com/office/drawing/2010/main">
                  <a:noFill/>
                </a14:hiddenFill>
              </a:ext>
            </a:extLst>
          </p:spPr>
        </p:cxnSp>
      </p:grpSp>
      <p:sp>
        <p:nvSpPr>
          <p:cNvPr id="25"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5"/>
                                        </p:tgtEl>
                                      </p:cBhvr>
                                    </p:animEffect>
                                    <p:set>
                                      <p:cBhvr>
                                        <p:cTn id="12" dur="1" fill="hold">
                                          <p:stCondLst>
                                            <p:cond delay="499"/>
                                          </p:stCondLst>
                                        </p:cTn>
                                        <p:tgtEl>
                                          <p:spTgt spid="15"/>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dissolv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8"/>
                                        </p:tgtEl>
                                      </p:cBhvr>
                                    </p:animEffect>
                                    <p:set>
                                      <p:cBhvr>
                                        <p:cTn id="20" dur="1" fill="hold">
                                          <p:stCondLst>
                                            <p:cond delay="499"/>
                                          </p:stCondLst>
                                        </p:cTn>
                                        <p:tgtEl>
                                          <p:spTgt spid="18"/>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dissolve">
                                      <p:cBhvr>
                                        <p:cTn id="23" dur="500"/>
                                        <p:tgtEl>
                                          <p:spTgt spid="21"/>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21"/>
                                        </p:tgtEl>
                                      </p:cBhvr>
                                    </p:animEffect>
                                    <p:set>
                                      <p:cBhvr>
                                        <p:cTn id="28" dur="1" fill="hold">
                                          <p:stCondLst>
                                            <p:cond delay="499"/>
                                          </p:stCondLst>
                                        </p:cTn>
                                        <p:tgtEl>
                                          <p:spTgt spid="21"/>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dissolve">
                                      <p:cBhvr>
                                        <p:cTn id="31" dur="500"/>
                                        <p:tgtEl>
                                          <p:spTgt spid="24"/>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24"/>
                                        </p:tgtEl>
                                      </p:cBhvr>
                                    </p:animEffect>
                                    <p:set>
                                      <p:cBhvr>
                                        <p:cTn id="36" dur="1" fill="hold">
                                          <p:stCondLst>
                                            <p:cond delay="499"/>
                                          </p:stCondLst>
                                        </p:cTn>
                                        <p:tgtEl>
                                          <p:spTgt spid="24"/>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dissolve">
                                      <p:cBhvr>
                                        <p:cTn id="39" dur="500"/>
                                        <p:tgtEl>
                                          <p:spTgt spid="36"/>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36"/>
                                        </p:tgtEl>
                                      </p:cBhvr>
                                    </p:animEffect>
                                    <p:set>
                                      <p:cBhvr>
                                        <p:cTn id="44" dur="1" fill="hold">
                                          <p:stCondLst>
                                            <p:cond delay="499"/>
                                          </p:stCondLst>
                                        </p:cTn>
                                        <p:tgtEl>
                                          <p:spTgt spid="36"/>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dissolve">
                                      <p:cBhvr>
                                        <p:cTn id="4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MS PGothic" panose="020B0600070205080204" pitchFamily="34" charset="-128"/>
                <a:cs typeface="+mn-cs"/>
              </a:rPr>
              <a:t>Chapter 2: Summary</a:t>
            </a:r>
            <a:endParaRPr lang="en-US" altLang="en-US" sz="5400" dirty="0">
              <a:solidFill>
                <a:srgbClr val="000099"/>
              </a:solidFill>
              <a:ea typeface="MS PGothic" panose="020B0600070205080204" pitchFamily="34" charset="-128"/>
              <a:cs typeface="+mn-cs"/>
            </a:endParaRPr>
          </a:p>
        </p:txBody>
      </p:sp>
      <p:sp>
        <p:nvSpPr>
          <p:cNvPr id="25" name="Rectangle 3"/>
          <p:cNvSpPr>
            <a:spLocks noGrp="1" noChangeArrowheads="1"/>
          </p:cNvSpPr>
          <p:nvPr>
            <p:ph sz="half" idx="1"/>
          </p:nvPr>
        </p:nvSpPr>
        <p:spPr>
          <a:xfrm>
            <a:off x="838200" y="2094161"/>
            <a:ext cx="5710084" cy="4194034"/>
          </a:xfrm>
        </p:spPr>
        <p:txBody>
          <a:bodyPr>
            <a:normAutofit/>
          </a:bodyPr>
          <a:lstStyle/>
          <a:p>
            <a:pPr marL="287655" indent="-287655">
              <a:buFont typeface="Wingdings" panose="05000000000000000000" pitchFamily="2" charset="2"/>
              <a:buChar char="§"/>
              <a:defRPr/>
            </a:pPr>
            <a:r>
              <a:rPr lang="en-US" dirty="0"/>
              <a:t>application architectures</a:t>
            </a:r>
            <a:endParaRPr lang="en-US" dirty="0"/>
          </a:p>
          <a:p>
            <a:pPr marL="681355" lvl="1" indent="-224155">
              <a:buFont typeface="Arial" panose="020B0604020202020204"/>
              <a:buChar char="•"/>
              <a:defRPr/>
            </a:pPr>
            <a:r>
              <a:rPr lang="en-US" dirty="0"/>
              <a:t>client-server</a:t>
            </a:r>
            <a:endParaRPr lang="en-US" dirty="0"/>
          </a:p>
          <a:p>
            <a:pPr marL="681355" lvl="1" indent="-224155">
              <a:buFont typeface="Arial" panose="020B0604020202020204"/>
              <a:buChar char="•"/>
              <a:defRPr/>
            </a:pPr>
            <a:r>
              <a:rPr lang="en-US" dirty="0"/>
              <a:t>P2P</a:t>
            </a:r>
            <a:endParaRPr lang="en-US" dirty="0"/>
          </a:p>
          <a:p>
            <a:pPr marL="287655" indent="-287655">
              <a:buFont typeface="Wingdings" panose="05000000000000000000" pitchFamily="2" charset="2"/>
              <a:buChar char="§"/>
              <a:defRPr/>
            </a:pPr>
            <a:r>
              <a:rPr lang="en-US" dirty="0"/>
              <a:t>application service requirements:</a:t>
            </a:r>
            <a:endParaRPr lang="en-US" dirty="0"/>
          </a:p>
          <a:p>
            <a:pPr marL="682625" lvl="1" indent="-228600">
              <a:buFont typeface="Arial" panose="020B0604020202020204"/>
              <a:buChar char="•"/>
              <a:defRPr/>
            </a:pPr>
            <a:r>
              <a:rPr lang="en-US" dirty="0"/>
              <a:t>reliability, bandwidth, delay</a:t>
            </a:r>
            <a:endParaRPr lang="en-US" dirty="0"/>
          </a:p>
          <a:p>
            <a:pPr marL="287655" indent="-287655">
              <a:buFont typeface="Wingdings" panose="05000000000000000000" pitchFamily="2" charset="2"/>
              <a:buChar char="§"/>
              <a:defRPr/>
            </a:pPr>
            <a:r>
              <a:rPr lang="en-US" dirty="0"/>
              <a:t>Internet transport service model</a:t>
            </a:r>
            <a:endParaRPr lang="en-US" dirty="0"/>
          </a:p>
          <a:p>
            <a:pPr marL="681355" lvl="1" indent="-224155">
              <a:buFont typeface="Arial" panose="020B0604020202020204"/>
              <a:buChar char="•"/>
              <a:defRPr/>
            </a:pPr>
            <a:r>
              <a:rPr lang="en-US" dirty="0"/>
              <a:t>connection-oriented, reliable: TCP</a:t>
            </a:r>
            <a:endParaRPr lang="en-US" dirty="0"/>
          </a:p>
          <a:p>
            <a:pPr marL="681355" lvl="1" indent="-224155">
              <a:buFont typeface="Arial" panose="020B0604020202020204"/>
              <a:buChar char="•"/>
              <a:defRPr/>
            </a:pPr>
            <a:r>
              <a:rPr lang="en-US" dirty="0"/>
              <a:t>unreliable, datagrams: UDP</a:t>
            </a:r>
            <a:endParaRPr lang="en-US" sz="2000" dirty="0"/>
          </a:p>
        </p:txBody>
      </p:sp>
      <p:sp>
        <p:nvSpPr>
          <p:cNvPr id="26" name="Rectangle 4"/>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dirty="0">
                <a:solidFill>
                  <a:srgbClr val="CC0000"/>
                </a:solidFill>
                <a:ea typeface="MS PGothic" panose="020B0600070205080204" pitchFamily="34" charset="-128"/>
              </a:rPr>
              <a:t>our study of network application layer is now complete!</a:t>
            </a:r>
            <a:endParaRPr lang="en-US" altLang="en-US" sz="3200" dirty="0">
              <a:solidFill>
                <a:srgbClr val="CC0000"/>
              </a:solidFill>
              <a:ea typeface="MS PGothic" panose="020B0600070205080204" pitchFamily="34" charset="-128"/>
            </a:endParaRPr>
          </a:p>
        </p:txBody>
      </p:sp>
      <p:sp>
        <p:nvSpPr>
          <p:cNvPr id="27" name="Rectangle 5"/>
          <p:cNvSpPr>
            <a:spLocks noChangeArrowheads="1"/>
          </p:cNvSpPr>
          <p:nvPr/>
        </p:nvSpPr>
        <p:spPr bwMode="auto">
          <a:xfrm>
            <a:off x="7310006" y="2054984"/>
            <a:ext cx="4652810" cy="3676650"/>
          </a:xfrm>
          <a:prstGeom prst="rect">
            <a:avLst/>
          </a:prstGeom>
          <a:noFill/>
          <a:ln>
            <a:noFill/>
          </a:ln>
        </p:spPr>
        <p:txBody>
          <a:bodyPr/>
          <a:lstStyle/>
          <a:p>
            <a:pPr marL="287655" indent="-287655">
              <a:buClr>
                <a:srgbClr val="000099"/>
              </a:buClr>
              <a:buSzPct val="100000"/>
              <a:buFont typeface="Wingdings" panose="05000000000000000000" pitchFamily="2" charset="2"/>
              <a:buChar char="§"/>
              <a:defRPr/>
            </a:pPr>
            <a:r>
              <a:rPr lang="en-US" sz="2800" dirty="0">
                <a:solidFill>
                  <a:srgbClr val="000000"/>
                </a:solidFill>
                <a:ea typeface="MS PGothic" panose="020B0600070205080204" pitchFamily="34" charset="-128"/>
                <a:cs typeface="MS PGothic" panose="020B0600070205080204" pitchFamily="34" charset="-128"/>
              </a:rPr>
              <a:t>specific protocols:</a:t>
            </a:r>
            <a:endParaRPr lang="en-US" sz="2800" dirty="0">
              <a:solidFill>
                <a:srgbClr val="000000"/>
              </a:solidFill>
              <a:ea typeface="MS PGothic" panose="020B0600070205080204" pitchFamily="34" charset="-128"/>
              <a:cs typeface="MS PGothic" panose="020B0600070205080204" pitchFamily="34" charset="-128"/>
            </a:endParaRPr>
          </a:p>
          <a:p>
            <a:pPr marL="681355" lvl="1" indent="-224155">
              <a:buClr>
                <a:srgbClr val="000099"/>
              </a:buClr>
              <a:buSzTx/>
              <a:buFont typeface="Arial" panose="020B0604020202020204"/>
              <a:buChar char="•"/>
              <a:defRPr/>
            </a:pPr>
            <a:r>
              <a:rPr lang="en-US" sz="2400" dirty="0">
                <a:solidFill>
                  <a:srgbClr val="000000"/>
                </a:solidFill>
                <a:ea typeface="MS PGothic" panose="020B0600070205080204" pitchFamily="34" charset="-128"/>
                <a:cs typeface="MS PGothic" panose="020B0600070205080204" pitchFamily="34" charset="-128"/>
              </a:rPr>
              <a:t>HTTP</a:t>
            </a:r>
            <a:endParaRPr lang="en-US" sz="2400" dirty="0">
              <a:solidFill>
                <a:srgbClr val="000000"/>
              </a:solidFill>
              <a:ea typeface="MS PGothic" panose="020B0600070205080204" pitchFamily="34" charset="-128"/>
              <a:cs typeface="MS PGothic" panose="020B0600070205080204" pitchFamily="34" charset="-128"/>
            </a:endParaRPr>
          </a:p>
          <a:p>
            <a:pPr marL="681355" lvl="1" indent="-224155">
              <a:buClr>
                <a:srgbClr val="000099"/>
              </a:buClr>
              <a:buSzTx/>
              <a:buFont typeface="Arial" panose="020B0604020202020204"/>
              <a:buChar char="•"/>
              <a:defRPr/>
            </a:pPr>
            <a:r>
              <a:rPr lang="en-US" sz="2400" dirty="0">
                <a:solidFill>
                  <a:srgbClr val="000000"/>
                </a:solidFill>
                <a:ea typeface="MS PGothic" panose="020B0600070205080204" pitchFamily="34" charset="-128"/>
                <a:cs typeface="MS PGothic" panose="020B0600070205080204" pitchFamily="34" charset="-128"/>
              </a:rPr>
              <a:t>SMTP, IMAP</a:t>
            </a:r>
            <a:endParaRPr lang="en-US" sz="2400" dirty="0">
              <a:solidFill>
                <a:srgbClr val="000000"/>
              </a:solidFill>
              <a:ea typeface="MS PGothic" panose="020B0600070205080204" pitchFamily="34" charset="-128"/>
              <a:cs typeface="MS PGothic" panose="020B0600070205080204" pitchFamily="34" charset="-128"/>
            </a:endParaRPr>
          </a:p>
          <a:p>
            <a:pPr marL="681355" lvl="1" indent="-224155">
              <a:buClr>
                <a:srgbClr val="000099"/>
              </a:buClr>
              <a:buSzTx/>
              <a:buFont typeface="Arial" panose="020B0604020202020204"/>
              <a:buChar char="•"/>
              <a:defRPr/>
            </a:pPr>
            <a:r>
              <a:rPr lang="en-US" sz="2400" dirty="0">
                <a:solidFill>
                  <a:srgbClr val="000000"/>
                </a:solidFill>
                <a:ea typeface="MS PGothic" panose="020B0600070205080204" pitchFamily="34" charset="-128"/>
                <a:cs typeface="MS PGothic" panose="020B0600070205080204" pitchFamily="34" charset="-128"/>
              </a:rPr>
              <a:t>DNS</a:t>
            </a:r>
            <a:endParaRPr lang="en-US" sz="2400" dirty="0">
              <a:solidFill>
                <a:srgbClr val="000000"/>
              </a:solidFill>
              <a:ea typeface="MS PGothic" panose="020B0600070205080204" pitchFamily="34" charset="-128"/>
              <a:cs typeface="MS PGothic" panose="020B0600070205080204" pitchFamily="34" charset="-128"/>
            </a:endParaRPr>
          </a:p>
          <a:p>
            <a:pPr marL="681355" lvl="1" indent="-224155">
              <a:buClr>
                <a:srgbClr val="000099"/>
              </a:buClr>
              <a:buSzTx/>
              <a:buFont typeface="Arial" panose="020B0604020202020204"/>
              <a:buChar char="•"/>
              <a:defRPr/>
            </a:pPr>
            <a:r>
              <a:rPr lang="en-US" sz="2400" dirty="0">
                <a:solidFill>
                  <a:srgbClr val="000000"/>
                </a:solidFill>
                <a:ea typeface="MS PGothic" panose="020B0600070205080204" pitchFamily="34" charset="-128"/>
                <a:cs typeface="MS PGothic" panose="020B0600070205080204" pitchFamily="34" charset="-128"/>
              </a:rPr>
              <a:t>P2P: BitTorrent</a:t>
            </a:r>
            <a:endParaRPr lang="en-US" sz="2400" dirty="0">
              <a:solidFill>
                <a:srgbClr val="000000"/>
              </a:solidFill>
              <a:ea typeface="MS PGothic" panose="020B0600070205080204" pitchFamily="34" charset="-128"/>
              <a:cs typeface="MS PGothic" panose="020B0600070205080204" pitchFamily="34" charset="-128"/>
            </a:endParaRPr>
          </a:p>
          <a:p>
            <a:pPr marL="287655" indent="-287655">
              <a:buClr>
                <a:srgbClr val="000099"/>
              </a:buClr>
              <a:buSzPct val="100000"/>
              <a:buFont typeface="Wingdings" panose="05000000000000000000" pitchFamily="2" charset="2"/>
              <a:buChar char="§"/>
              <a:defRPr/>
            </a:pPr>
            <a:r>
              <a:rPr lang="en-US" sz="2800" dirty="0">
                <a:solidFill>
                  <a:srgbClr val="000000"/>
                </a:solidFill>
                <a:ea typeface="MS PGothic" panose="020B0600070205080204" pitchFamily="34" charset="-128"/>
                <a:cs typeface="MS PGothic" panose="020B0600070205080204" pitchFamily="34" charset="-128"/>
              </a:rPr>
              <a:t>video streaming, CDNs</a:t>
            </a:r>
            <a:endParaRPr lang="en-US" sz="2800" dirty="0">
              <a:solidFill>
                <a:srgbClr val="000000"/>
              </a:solidFill>
              <a:ea typeface="MS PGothic" panose="020B0600070205080204" pitchFamily="34" charset="-128"/>
              <a:cs typeface="MS PGothic" panose="020B0600070205080204" pitchFamily="34" charset="-128"/>
            </a:endParaRPr>
          </a:p>
          <a:p>
            <a:pPr marL="287655" indent="-287655">
              <a:buClr>
                <a:srgbClr val="000099"/>
              </a:buClr>
              <a:buSzPct val="100000"/>
              <a:buFont typeface="Wingdings" panose="05000000000000000000" pitchFamily="2" charset="2"/>
              <a:buChar char="§"/>
              <a:defRPr/>
            </a:pPr>
            <a:r>
              <a:rPr lang="en-US" sz="2800" dirty="0">
                <a:solidFill>
                  <a:srgbClr val="000000"/>
                </a:solidFill>
                <a:ea typeface="MS PGothic" panose="020B0600070205080204" pitchFamily="34" charset="-128"/>
                <a:cs typeface="MS PGothic" panose="020B0600070205080204" pitchFamily="34" charset="-128"/>
              </a:rPr>
              <a:t>socket programming: </a:t>
            </a:r>
            <a:endParaRPr lang="en-US" sz="2800" dirty="0">
              <a:solidFill>
                <a:srgbClr val="000000"/>
              </a:solidFill>
              <a:ea typeface="MS PGothic" panose="020B0600070205080204" pitchFamily="34" charset="-128"/>
              <a:cs typeface="MS PGothic" panose="020B0600070205080204" pitchFamily="34" charset="-128"/>
            </a:endParaRPr>
          </a:p>
          <a:p>
            <a:pPr>
              <a:buClr>
                <a:srgbClr val="000099"/>
              </a:buClr>
              <a:buSzPct val="100000"/>
              <a:buFont typeface="ZapfDingbats" charset="0"/>
              <a:buNone/>
              <a:defRPr/>
            </a:pPr>
            <a:r>
              <a:rPr lang="en-US" sz="2800" dirty="0">
                <a:solidFill>
                  <a:srgbClr val="000000"/>
                </a:solidFill>
                <a:ea typeface="MS PGothic" panose="020B0600070205080204" pitchFamily="34" charset="-128"/>
                <a:cs typeface="MS PGothic" panose="020B0600070205080204" pitchFamily="34" charset="-128"/>
              </a:rPr>
              <a:t>    TCP, UDP sockets</a:t>
            </a:r>
            <a:endParaRPr lang="en-US" sz="2800" dirty="0">
              <a:solidFill>
                <a:srgbClr val="000000"/>
              </a:solidFill>
              <a:ea typeface="MS PGothic" panose="020B0600070205080204" pitchFamily="34" charset="-128"/>
              <a:cs typeface="MS PGothic" panose="020B0600070205080204" pitchFamily="34" charset="-128"/>
            </a:endParaRPr>
          </a:p>
        </p:txBody>
      </p:sp>
      <p:sp>
        <p:nvSpPr>
          <p:cNvPr id="7"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MS PGothic" panose="020B0600070205080204" pitchFamily="34" charset="-128"/>
                <a:cs typeface="+mn-cs"/>
              </a:rPr>
              <a:t>Chapter 2: Summary</a:t>
            </a:r>
            <a:endParaRPr lang="en-US" altLang="en-US" sz="5400" dirty="0">
              <a:solidFill>
                <a:srgbClr val="000099"/>
              </a:solidFill>
              <a:ea typeface="MS PGothic" panose="020B0600070205080204" pitchFamily="34" charset="-128"/>
              <a:cs typeface="+mn-cs"/>
            </a:endParaRPr>
          </a:p>
        </p:txBody>
      </p:sp>
      <p:sp>
        <p:nvSpPr>
          <p:cNvPr id="26" name="Rectangle 4"/>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None/>
            </a:pPr>
            <a:r>
              <a:rPr lang="en-US" altLang="en-US" sz="3200" dirty="0">
                <a:solidFill>
                  <a:srgbClr val="CC0000"/>
                </a:solidFill>
                <a:ea typeface="MS PGothic" panose="020B0600070205080204" pitchFamily="34" charset="-128"/>
              </a:rPr>
              <a:t>Most importantly: learned about </a:t>
            </a:r>
            <a:r>
              <a:rPr lang="en-US" altLang="en-US" sz="3200" i="1" dirty="0">
                <a:solidFill>
                  <a:srgbClr val="CC0000"/>
                </a:solidFill>
                <a:ea typeface="MS PGothic" panose="020B0600070205080204" pitchFamily="34" charset="-128"/>
              </a:rPr>
              <a:t>protocols</a:t>
            </a:r>
            <a:r>
              <a:rPr lang="en-US" altLang="en-US" sz="3200" dirty="0">
                <a:solidFill>
                  <a:srgbClr val="CC0000"/>
                </a:solidFill>
                <a:ea typeface="MS PGothic" panose="020B0600070205080204" pitchFamily="34" charset="-128"/>
              </a:rPr>
              <a:t>!</a:t>
            </a:r>
            <a:endParaRPr lang="en-US" altLang="en-US" sz="3200" dirty="0">
              <a:solidFill>
                <a:srgbClr val="CC0000"/>
              </a:solidFill>
              <a:ea typeface="MS PGothic" panose="020B0600070205080204" pitchFamily="34" charset="-128"/>
            </a:endParaRPr>
          </a:p>
        </p:txBody>
      </p:sp>
      <p:sp>
        <p:nvSpPr>
          <p:cNvPr id="9" name="Rectangle 3"/>
          <p:cNvSpPr>
            <a:spLocks noGrp="1" noChangeArrowheads="1"/>
          </p:cNvSpPr>
          <p:nvPr>
            <p:ph idx="1"/>
          </p:nvPr>
        </p:nvSpPr>
        <p:spPr>
          <a:xfrm>
            <a:off x="838200" y="2069589"/>
            <a:ext cx="5695335" cy="4351338"/>
          </a:xfrm>
        </p:spPr>
        <p:txBody>
          <a:bodyPr>
            <a:normAutofit/>
          </a:bodyPr>
          <a:lstStyle/>
          <a:p>
            <a:pPr marL="287655" indent="-287655"/>
            <a:r>
              <a:rPr lang="en-US" altLang="en-US" dirty="0">
                <a:ea typeface="MS PGothic" panose="020B0600070205080204" pitchFamily="34" charset="-128"/>
              </a:rPr>
              <a:t>typical request/reply message exchange:</a:t>
            </a:r>
            <a:endParaRPr lang="en-US" altLang="en-US" dirty="0">
              <a:ea typeface="MS PGothic" panose="020B0600070205080204" pitchFamily="34" charset="-128"/>
            </a:endParaRPr>
          </a:p>
          <a:p>
            <a:pPr marL="681355" lvl="1" indent="-224155"/>
            <a:r>
              <a:rPr lang="en-US" altLang="en-US" dirty="0">
                <a:ea typeface="MS PGothic" panose="020B0600070205080204" pitchFamily="34" charset="-128"/>
              </a:rPr>
              <a:t>client requests info or service</a:t>
            </a:r>
            <a:endParaRPr lang="en-US" altLang="en-US" dirty="0">
              <a:ea typeface="MS PGothic" panose="020B0600070205080204" pitchFamily="34" charset="-128"/>
            </a:endParaRPr>
          </a:p>
          <a:p>
            <a:pPr marL="681355" lvl="1" indent="-224155"/>
            <a:r>
              <a:rPr lang="en-US" altLang="en-US" dirty="0">
                <a:ea typeface="MS PGothic" panose="020B0600070205080204" pitchFamily="34" charset="-128"/>
              </a:rPr>
              <a:t>server responds with data, status code</a:t>
            </a:r>
            <a:endParaRPr lang="en-US" altLang="en-US" dirty="0">
              <a:ea typeface="MS PGothic" panose="020B0600070205080204" pitchFamily="34" charset="-128"/>
            </a:endParaRPr>
          </a:p>
          <a:p>
            <a:pPr marL="287655" indent="-287655"/>
            <a:r>
              <a:rPr lang="en-US" altLang="en-US" dirty="0">
                <a:ea typeface="MS PGothic" panose="020B0600070205080204" pitchFamily="34" charset="-128"/>
              </a:rPr>
              <a:t>message formats:</a:t>
            </a:r>
            <a:endParaRPr lang="en-US" altLang="en-US" dirty="0">
              <a:ea typeface="MS PGothic" panose="020B0600070205080204" pitchFamily="34" charset="-128"/>
            </a:endParaRPr>
          </a:p>
          <a:p>
            <a:pPr marL="681355" lvl="1" indent="-224155"/>
            <a:r>
              <a:rPr lang="en-US" altLang="en-US" i="1" dirty="0">
                <a:solidFill>
                  <a:srgbClr val="000090"/>
                </a:solidFill>
                <a:ea typeface="MS PGothic" panose="020B0600070205080204" pitchFamily="34" charset="-128"/>
              </a:rPr>
              <a:t>headers</a:t>
            </a:r>
            <a:r>
              <a:rPr lang="en-US" altLang="en-US" dirty="0">
                <a:ea typeface="MS PGothic" panose="020B0600070205080204" pitchFamily="34" charset="-128"/>
              </a:rPr>
              <a:t>: fields giving info about data</a:t>
            </a:r>
            <a:endParaRPr lang="en-US" altLang="en-US" dirty="0">
              <a:ea typeface="MS PGothic" panose="020B0600070205080204" pitchFamily="34" charset="-128"/>
            </a:endParaRPr>
          </a:p>
          <a:p>
            <a:pPr marL="681355" lvl="1" indent="-224155"/>
            <a:r>
              <a:rPr lang="en-US" altLang="en-US" i="1" dirty="0">
                <a:solidFill>
                  <a:srgbClr val="000090"/>
                </a:solidFill>
                <a:ea typeface="MS PGothic" panose="020B0600070205080204" pitchFamily="34" charset="-128"/>
              </a:rPr>
              <a:t>data: </a:t>
            </a:r>
            <a:r>
              <a:rPr lang="en-US" altLang="en-US" dirty="0">
                <a:ea typeface="MS PGothic" panose="020B0600070205080204" pitchFamily="34" charset="-128"/>
              </a:rPr>
              <a:t>info(payload)  being communicated</a:t>
            </a:r>
            <a:endParaRPr lang="en-US" altLang="en-US" dirty="0">
              <a:ea typeface="MS PGothic" panose="020B0600070205080204" pitchFamily="34" charset="-128"/>
            </a:endParaRPr>
          </a:p>
        </p:txBody>
      </p:sp>
      <p:sp>
        <p:nvSpPr>
          <p:cNvPr id="10" name="Rectangle 5"/>
          <p:cNvSpPr>
            <a:spLocks noChangeArrowheads="1"/>
          </p:cNvSpPr>
          <p:nvPr/>
        </p:nvSpPr>
        <p:spPr bwMode="auto">
          <a:xfrm>
            <a:off x="6832343" y="2015039"/>
            <a:ext cx="4654808" cy="3676650"/>
          </a:xfrm>
          <a:prstGeom prst="rect">
            <a:avLst/>
          </a:prstGeom>
          <a:noFill/>
          <a:ln>
            <a:noFill/>
          </a:ln>
        </p:spPr>
        <p:txBody>
          <a:bodyPr/>
          <a:lstStyle>
            <a:lvl1pPr marL="227330" indent="-227330">
              <a:defRPr sz="2000">
                <a:solidFill>
                  <a:schemeClr val="tx1"/>
                </a:solidFill>
                <a:latin typeface="Arial" panose="020B0604020202020204" pitchFamily="34" charset="0"/>
                <a:ea typeface="MS PGothic" panose="020B0600070205080204" pitchFamily="34" charset="-128"/>
              </a:defRPr>
            </a:lvl1pPr>
            <a:lvl2pPr marL="681355" indent="-224155">
              <a:defRPr sz="2000">
                <a:solidFill>
                  <a:schemeClr val="tx1"/>
                </a:solidFill>
                <a:latin typeface="Arial" panose="020B0604020202020204" pitchFamily="34" charset="0"/>
                <a:ea typeface="MS PGothic" panose="020B0600070205080204" pitchFamily="34" charset="-128"/>
              </a:defRPr>
            </a:lvl2pPr>
            <a:lvl3pPr marL="1143000" indent="-228600">
              <a:defRPr sz="2000">
                <a:solidFill>
                  <a:schemeClr val="tx1"/>
                </a:solidFill>
                <a:latin typeface="Arial" panose="020B0604020202020204" pitchFamily="34" charset="0"/>
                <a:ea typeface="MS PGothic" panose="020B0600070205080204" pitchFamily="34" charset="-128"/>
              </a:defRPr>
            </a:lvl3pPr>
            <a:lvl4pPr marL="1600200" indent="-228600">
              <a:defRPr sz="2000">
                <a:solidFill>
                  <a:schemeClr val="tx1"/>
                </a:solidFill>
                <a:latin typeface="Arial" panose="020B0604020202020204" pitchFamily="34" charset="0"/>
                <a:ea typeface="MS PGothic" panose="020B0600070205080204" pitchFamily="34" charset="-128"/>
              </a:defRPr>
            </a:lvl4pPr>
            <a:lvl5pPr marL="2057400" indent="-228600">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MS PGothic" panose="020B0600070205080204" pitchFamily="34" charset="-128"/>
              </a:defRPr>
            </a:lvl9pPr>
          </a:lstStyle>
          <a:p>
            <a:pPr>
              <a:buClr>
                <a:srgbClr val="3333CC"/>
              </a:buClr>
            </a:pPr>
            <a:r>
              <a:rPr lang="en-US" altLang="en-US" sz="2800" dirty="0">
                <a:solidFill>
                  <a:srgbClr val="CC0000"/>
                </a:solidFill>
                <a:latin typeface="+mn-lt"/>
              </a:rPr>
              <a:t>important themes:</a:t>
            </a:r>
            <a:r>
              <a:rPr lang="en-US" altLang="en-US" sz="2400" dirty="0">
                <a:solidFill>
                  <a:srgbClr val="FF3300"/>
                </a:solidFill>
                <a:latin typeface="+mn-lt"/>
              </a:rPr>
              <a:t> </a:t>
            </a:r>
            <a:endParaRPr lang="en-US" altLang="en-US" sz="2400" dirty="0">
              <a:solidFill>
                <a:srgbClr val="FF3300"/>
              </a:solidFill>
              <a:latin typeface="+mn-lt"/>
            </a:endParaRPr>
          </a:p>
          <a:p>
            <a:pPr marL="349250" indent="-219075">
              <a:buClr>
                <a:srgbClr val="000099"/>
              </a:buClr>
              <a:buSzPct val="100000"/>
              <a:buFont typeface="Wingdings" panose="05000000000000000000" pitchFamily="2" charset="2"/>
              <a:buChar char="§"/>
            </a:pPr>
            <a:r>
              <a:rPr lang="en-US" altLang="en-US" sz="2800" dirty="0">
                <a:solidFill>
                  <a:srgbClr val="000000"/>
                </a:solidFill>
                <a:latin typeface="+mn-lt"/>
              </a:rPr>
              <a:t>centralized vs. decentralized </a:t>
            </a:r>
            <a:endParaRPr lang="en-US" altLang="en-US" sz="2800" dirty="0">
              <a:solidFill>
                <a:srgbClr val="000000"/>
              </a:solidFill>
              <a:latin typeface="+mn-lt"/>
            </a:endParaRPr>
          </a:p>
          <a:p>
            <a:pPr marL="349250" indent="-219075">
              <a:buClr>
                <a:srgbClr val="000099"/>
              </a:buClr>
              <a:buSzPct val="100000"/>
              <a:buFont typeface="Wingdings" panose="05000000000000000000" pitchFamily="2" charset="2"/>
              <a:buChar char="§"/>
            </a:pPr>
            <a:r>
              <a:rPr lang="en-US" altLang="en-US" sz="2800" dirty="0">
                <a:solidFill>
                  <a:srgbClr val="000000"/>
                </a:solidFill>
                <a:latin typeface="+mn-lt"/>
              </a:rPr>
              <a:t>stateless vs. stateful</a:t>
            </a:r>
            <a:endParaRPr lang="en-US" altLang="en-US" sz="2800" dirty="0">
              <a:solidFill>
                <a:srgbClr val="000000"/>
              </a:solidFill>
              <a:latin typeface="+mn-lt"/>
            </a:endParaRPr>
          </a:p>
          <a:p>
            <a:pPr marL="349250" indent="-219075">
              <a:buClr>
                <a:srgbClr val="000099"/>
              </a:buClr>
              <a:buSzPct val="100000"/>
              <a:buFont typeface="Wingdings" panose="05000000000000000000" pitchFamily="2" charset="2"/>
              <a:buChar char="§"/>
            </a:pPr>
            <a:r>
              <a:rPr lang="en-US" altLang="en-US" sz="2800" dirty="0">
                <a:solidFill>
                  <a:srgbClr val="000000"/>
                </a:solidFill>
                <a:latin typeface="+mn-lt"/>
              </a:rPr>
              <a:t>scalability</a:t>
            </a:r>
            <a:endParaRPr lang="en-US" altLang="en-US" sz="2800" dirty="0">
              <a:solidFill>
                <a:srgbClr val="000000"/>
              </a:solidFill>
              <a:latin typeface="+mn-lt"/>
            </a:endParaRPr>
          </a:p>
          <a:p>
            <a:pPr marL="349250" indent="-219075">
              <a:buClr>
                <a:srgbClr val="000099"/>
              </a:buClr>
              <a:buSzPct val="100000"/>
              <a:buFont typeface="Wingdings" panose="05000000000000000000" pitchFamily="2" charset="2"/>
              <a:buChar char="§"/>
            </a:pPr>
            <a:r>
              <a:rPr lang="en-US" altLang="en-US" sz="2800" dirty="0">
                <a:solidFill>
                  <a:srgbClr val="000000"/>
                </a:solidFill>
                <a:latin typeface="+mn-lt"/>
              </a:rPr>
              <a:t>reliable vs. unreliable message transfer </a:t>
            </a:r>
            <a:endParaRPr lang="en-US" altLang="en-US" sz="2800" dirty="0">
              <a:solidFill>
                <a:srgbClr val="000000"/>
              </a:solidFill>
              <a:latin typeface="+mn-lt"/>
            </a:endParaRPr>
          </a:p>
          <a:p>
            <a:pPr marL="349250" indent="-219075">
              <a:buClr>
                <a:srgbClr val="000099"/>
              </a:buClr>
              <a:buSzPct val="100000"/>
              <a:buFont typeface="Wingdings" panose="05000000000000000000" pitchFamily="2" charset="2"/>
              <a:buChar char="§"/>
            </a:pPr>
            <a:r>
              <a:rPr lang="en-US" altLang="ja-JP" sz="2800" dirty="0">
                <a:solidFill>
                  <a:srgbClr val="000000"/>
                </a:solidFill>
                <a:latin typeface="+mn-lt"/>
              </a:rPr>
              <a:t>“complexity at network edge”</a:t>
            </a:r>
            <a:endParaRPr lang="en-US" altLang="en-US" sz="2800" dirty="0">
              <a:solidFill>
                <a:srgbClr val="000000"/>
              </a:solidFill>
              <a:latin typeface="+mn-lt"/>
            </a:endParaRPr>
          </a:p>
        </p:txBody>
      </p:sp>
      <p:sp>
        <p:nvSpPr>
          <p:cNvPr id="7" name="Slide Number Placeholder 2"/>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fld>
            <a:endParaRPr lang="en-US" dirty="0"/>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4"/>
          </p:nvPr>
        </p:nvSpPr>
        <p:spPr/>
        <p:txBody>
          <a:bodyPr/>
          <a:lstStyle/>
          <a:p>
            <a:r>
              <a:rPr lang="en-US"/>
              <a:t>Application Layer: 2-</a:t>
            </a:r>
            <a:fld id="{C4204591-24BD-A542-B9D5-F8D8A88D2FEE}" type="slidenum">
              <a:rPr lang="en-US" smtClean="0"/>
            </a:fld>
            <a:endParaRPr lang="en-US" dirty="0"/>
          </a:p>
        </p:txBody>
      </p:sp>
      <p:sp>
        <p:nvSpPr>
          <p:cNvPr id="13" name="Title 1"/>
          <p:cNvSpPr>
            <a:spLocks noGrp="1"/>
          </p:cNvSpPr>
          <p:nvPr>
            <p:ph type="title"/>
          </p:nvPr>
        </p:nvSpPr>
        <p:spPr>
          <a:xfrm>
            <a:off x="838200" y="2981689"/>
            <a:ext cx="10515600" cy="894622"/>
          </a:xfrm>
        </p:spPr>
        <p:txBody>
          <a:bodyPr>
            <a:normAutofit/>
          </a:bodyPr>
          <a:lstStyle/>
          <a:p>
            <a:pPr algn="ctr"/>
            <a:r>
              <a:rPr lang="en-US" altLang="en-US" sz="4400" dirty="0">
                <a:ea typeface="MS PGothic" panose="020B0600070205080204" pitchFamily="34" charset="-128"/>
              </a:rPr>
              <a:t>Additional Chapter 2 slides</a:t>
            </a:r>
            <a:endParaRPr lang="en-US" sz="4400" dirty="0"/>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57690</Words>
  <Application>WPS Presentation</Application>
  <PresentationFormat>Widescreen</PresentationFormat>
  <Paragraphs>3286</Paragraphs>
  <Slides>119</Slides>
  <Notes>112</Notes>
  <HiddenSlides>0</HiddenSlides>
  <MMClips>0</MMClips>
  <ScaleCrop>false</ScaleCrop>
  <HeadingPairs>
    <vt:vector size="8" baseType="variant">
      <vt:variant>
        <vt:lpstr>已用的字体</vt:lpstr>
      </vt:variant>
      <vt:variant>
        <vt:i4>27</vt:i4>
      </vt:variant>
      <vt:variant>
        <vt:lpstr>主题</vt:lpstr>
      </vt:variant>
      <vt:variant>
        <vt:i4>1</vt:i4>
      </vt:variant>
      <vt:variant>
        <vt:lpstr>嵌入 OLE 服务器</vt:lpstr>
      </vt:variant>
      <vt:variant>
        <vt:i4>1</vt:i4>
      </vt:variant>
      <vt:variant>
        <vt:lpstr>幻灯片标题</vt:lpstr>
      </vt:variant>
      <vt:variant>
        <vt:i4>119</vt:i4>
      </vt:variant>
    </vt:vector>
  </HeadingPairs>
  <TitlesOfParts>
    <vt:vector size="148" baseType="lpstr">
      <vt:lpstr>Arial</vt:lpstr>
      <vt:lpstr>SimSun</vt:lpstr>
      <vt:lpstr>Wingdings</vt:lpstr>
      <vt:lpstr>MS PGothic</vt:lpstr>
      <vt:lpstr>Gill Sans MT</vt:lpstr>
      <vt:lpstr>Calibri</vt:lpstr>
      <vt:lpstr>Gill Sans MT</vt:lpstr>
      <vt:lpstr>Comic Sans MS</vt:lpstr>
      <vt:lpstr>ZapfDingbats</vt:lpstr>
      <vt:lpstr>Times New Roman</vt:lpstr>
      <vt:lpstr>Tahoma</vt:lpstr>
      <vt:lpstr>Calibri Light</vt:lpstr>
      <vt:lpstr>Microsoft YaHei</vt:lpstr>
      <vt:lpstr>Arial Unicode MS</vt:lpstr>
      <vt:lpstr>Wingdings</vt:lpstr>
      <vt:lpstr>Courier New</vt:lpstr>
      <vt:lpstr>Arial</vt:lpstr>
      <vt:lpstr>ZapfDingbats</vt:lpstr>
      <vt:lpstr>Courier</vt:lpstr>
      <vt:lpstr>Symbol</vt:lpstr>
      <vt:lpstr>Arial Narrow</vt:lpstr>
      <vt:lpstr>Gill Sans MT</vt:lpstr>
      <vt:lpstr>Segoe UI</vt:lpstr>
      <vt:lpstr>Roboto Slab</vt:lpstr>
      <vt:lpstr>Segoe Print</vt:lpstr>
      <vt:lpstr>Google Sans</vt:lpstr>
      <vt:lpstr>monospace</vt:lpstr>
      <vt:lpstr>Office Theme</vt:lpstr>
      <vt:lpstr>Excel.Chart.8</vt:lpstr>
      <vt:lpstr>PowerPoint 演示文稿</vt:lpstr>
      <vt:lpstr>Application layer: overview</vt:lpstr>
      <vt:lpstr>Application layer: overview</vt:lpstr>
      <vt:lpstr>Some network apps</vt:lpstr>
      <vt:lpstr>Creating a network app</vt:lpstr>
      <vt:lpstr>Client-server paradigm</vt:lpstr>
      <vt:lpstr>Peer-peer architecture</vt:lpstr>
      <vt:lpstr>Processes communicating</vt:lpstr>
      <vt:lpstr>Sockets</vt:lpstr>
      <vt:lpstr>Addressing processes</vt:lpstr>
      <vt:lpstr>An application-layer protocol defines:</vt:lpstr>
      <vt:lpstr>What transport service does an app need?</vt:lpstr>
      <vt:lpstr>Transport service requirements: common apps</vt:lpstr>
      <vt:lpstr>Internet transport protocols services</vt:lpstr>
      <vt:lpstr>Internet transport protocols services</vt:lpstr>
      <vt:lpstr>Securing TCP</vt:lpstr>
      <vt:lpstr>Application layer: overview</vt:lpstr>
      <vt:lpstr>Web and HTTP</vt:lpstr>
      <vt:lpstr>HTTP overview</vt:lpstr>
      <vt:lpstr>HTTP overview (continued)</vt:lpstr>
      <vt:lpstr>HTTP connections: two types</vt:lpstr>
      <vt:lpstr>Non-persistent HTTP: example</vt:lpstr>
      <vt:lpstr>Non-persistent HTTP: example (cont.)</vt:lpstr>
      <vt:lpstr>Non-persistent HTTP: response time</vt:lpstr>
      <vt:lpstr>Persistent HTTP (HTTP 1.1)</vt:lpstr>
      <vt:lpstr>HTTP request message</vt:lpstr>
      <vt:lpstr>HTTP request message: general format</vt:lpstr>
      <vt:lpstr>Other HTTP request messages</vt:lpstr>
      <vt:lpstr>HTTP response message</vt:lpstr>
      <vt:lpstr>HTTP response status codes</vt:lpstr>
      <vt:lpstr>Trying out HTTP (client side) for yourself</vt:lpstr>
      <vt:lpstr>Maintaining user/server state: cookies</vt:lpstr>
      <vt:lpstr>Maintaining user/server state: cookies</vt:lpstr>
      <vt:lpstr>Maintaining user/server state: cookies</vt:lpstr>
      <vt:lpstr>HTTP cookies: comments</vt:lpstr>
      <vt:lpstr>Web caches (proxy servers)</vt:lpstr>
      <vt:lpstr>Web caches (proxy servers)</vt:lpstr>
      <vt:lpstr>Caching example</vt:lpstr>
      <vt:lpstr>Caching example: buy a faster access link</vt:lpstr>
      <vt:lpstr>Caching example: install a web cache</vt:lpstr>
      <vt:lpstr>Caching example: install a web cache</vt:lpstr>
      <vt:lpstr>Conditional GET</vt:lpstr>
      <vt:lpstr>HTTP/2</vt:lpstr>
      <vt:lpstr>HTTP/2</vt:lpstr>
      <vt:lpstr>HTTP/2: mitigating HOL blocking</vt:lpstr>
      <vt:lpstr>HTTP/2: mitigating HOL blocking</vt:lpstr>
      <vt:lpstr>HTTP/2 to HTTP/3</vt:lpstr>
      <vt:lpstr>Application layer: overview</vt:lpstr>
      <vt:lpstr>E-mail</vt:lpstr>
      <vt:lpstr>E-mail: mail servers</vt:lpstr>
      <vt:lpstr>E-mail: the RFC (5321)</vt:lpstr>
      <vt:lpstr>Scenario: Alice sends e-mail to Bob</vt:lpstr>
      <vt:lpstr>Sample SMTP interaction</vt:lpstr>
      <vt:lpstr>Try SMTP interaction for yourself:</vt:lpstr>
      <vt:lpstr>SMTP: closing observations</vt:lpstr>
      <vt:lpstr>Mail message format</vt:lpstr>
      <vt:lpstr>Mail access protocols</vt:lpstr>
      <vt:lpstr>Application Layer: Overview</vt:lpstr>
      <vt:lpstr>PowerPoint 演示文稿</vt:lpstr>
      <vt:lpstr>PowerPoint 演示文稿</vt:lpstr>
      <vt:lpstr>PowerPoint 演示文稿</vt:lpstr>
      <vt:lpstr>PowerPoint 演示文稿</vt:lpstr>
      <vt:lpstr>PowerPoint 演示文稿</vt:lpstr>
      <vt:lpstr>PowerPoint 演示文稿</vt:lpstr>
      <vt:lpstr>DNS: Domain Name System</vt:lpstr>
      <vt:lpstr>PowerPoint 演示文稿</vt:lpstr>
      <vt:lpstr>DNS: services, structure</vt:lpstr>
      <vt:lpstr>DNS: a distributed, hierarchical database</vt:lpstr>
      <vt:lpstr>DNS: root name servers</vt:lpstr>
      <vt:lpstr>TLD: authoritative servers</vt:lpstr>
      <vt:lpstr>Local DNS name servers</vt:lpstr>
      <vt:lpstr>DNS name resolution: iterated query</vt:lpstr>
      <vt:lpstr>DNS name resolution: recursive query</vt:lpstr>
      <vt:lpstr>Caching, Updating DNS Records</vt:lpstr>
      <vt:lpstr>DNS records</vt:lpstr>
      <vt:lpstr>DNS protocol messages</vt:lpstr>
      <vt:lpstr>DNS protocol messages</vt:lpstr>
      <vt:lpstr>Inserting records into DNS</vt:lpstr>
      <vt:lpstr>DNS security</vt:lpstr>
      <vt:lpstr>Application Layer: Overview</vt:lpstr>
      <vt:lpstr>Peer-to-peer (P2P) architecture</vt:lpstr>
      <vt:lpstr>File distribution: client-server vs P2P</vt:lpstr>
      <vt:lpstr>File distribution time: client-server</vt:lpstr>
      <vt:lpstr>File distribution time: P2P</vt:lpstr>
      <vt:lpstr>Client-server vs. P2P: example</vt:lpstr>
      <vt:lpstr>P2P file distribution: BitTorrent </vt:lpstr>
      <vt:lpstr>P2P file distribution: BitTorrent </vt:lpstr>
      <vt:lpstr>BitTorrent: requesting, sending file chunks</vt:lpstr>
      <vt:lpstr>BitTorrent: tit-for-tat</vt:lpstr>
      <vt:lpstr>Application layer: overview</vt:lpstr>
      <vt:lpstr>Video Streaming and CDNs: context</vt:lpstr>
      <vt:lpstr>Multimedia: video</vt:lpstr>
      <vt:lpstr>Multimedia: video</vt:lpstr>
      <vt:lpstr>Streaming stored video</vt:lpstr>
      <vt:lpstr>Streaming stored video</vt:lpstr>
      <vt:lpstr>Streaming stored video: challenges</vt:lpstr>
      <vt:lpstr>Streaming stored video: playout buffering</vt:lpstr>
      <vt:lpstr>Streaming multimedia: DASH</vt:lpstr>
      <vt:lpstr>Streaming multimedia: DASH</vt:lpstr>
      <vt:lpstr>Content distribution networks (CDNs)</vt:lpstr>
      <vt:lpstr>Content distribution networks (CDNs)</vt:lpstr>
      <vt:lpstr>Content distribution networks (CDNs)</vt:lpstr>
      <vt:lpstr>Content distribution networks (CDNs)</vt:lpstr>
      <vt:lpstr>CDN content access: a closer look</vt:lpstr>
      <vt:lpstr>Case study: Netflix</vt:lpstr>
      <vt:lpstr>Application Layer: Overview</vt:lpstr>
      <vt:lpstr>Socket programming </vt:lpstr>
      <vt:lpstr>Socket programming </vt:lpstr>
      <vt:lpstr>Socket programming with UDP </vt:lpstr>
      <vt:lpstr>Client/server socket interaction: UDP</vt:lpstr>
      <vt:lpstr>Example app: UDP client</vt:lpstr>
      <vt:lpstr>Example app: UDP server</vt:lpstr>
      <vt:lpstr>Socket programming with TCP</vt:lpstr>
      <vt:lpstr>Client/server socket interaction: TCP</vt:lpstr>
      <vt:lpstr>Example app: TCP client</vt:lpstr>
      <vt:lpstr>Example app: TCP server</vt:lpstr>
      <vt:lpstr>Chapter 2: Summary</vt:lpstr>
      <vt:lpstr>Chapter 2: Summary</vt:lpstr>
      <vt:lpstr>Additional Chapter 2 slides</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Krutika Verma</cp:lastModifiedBy>
  <cp:revision>303</cp:revision>
  <dcterms:created xsi:type="dcterms:W3CDTF">2020-01-18T07:24:00Z</dcterms:created>
  <dcterms:modified xsi:type="dcterms:W3CDTF">2025-08-14T05:16:34Z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812662A9951440FFBF88B0D6F9419C04_12</vt:lpwstr>
  </property>
  <property fmtid="{D5CDD505-2E9C-101B-9397-08002B2CF9AE}" pid="3" name="KSOProductBuildVer">
    <vt:lpwstr>1033-12.2.0.21931</vt:lpwstr>
  </property>
</Properties>
</file>